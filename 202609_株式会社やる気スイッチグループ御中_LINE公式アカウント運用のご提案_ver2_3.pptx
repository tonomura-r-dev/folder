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53.svg" ContentType="image/svg+xml"/>
  <Override PartName="/ppt/media/image55.svg" ContentType="image/svg+xml"/>
  <Override PartName="/ppt/media/image56.svg" ContentType="image/svg+xml"/>
  <Override PartName="/ppt/media/image57.svg" ContentType="image/svg+xml"/>
  <Override PartName="/ppt/media/image5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62"/>
  </p:notesMasterIdLst>
  <p:handoutMasterIdLst>
    <p:handoutMasterId r:id="rId63"/>
  </p:handoutMasterIdLst>
  <p:sldIdLst>
    <p:sldId id="2363" r:id="rId3"/>
    <p:sldId id="2971" r:id="rId4"/>
    <p:sldId id="2993" r:id="rId5"/>
    <p:sldId id="2972" r:id="rId6"/>
    <p:sldId id="3007" r:id="rId7"/>
    <p:sldId id="2994" r:id="rId8"/>
    <p:sldId id="2995" r:id="rId9"/>
    <p:sldId id="3003" r:id="rId10"/>
    <p:sldId id="3002" r:id="rId11"/>
    <p:sldId id="3001" r:id="rId12"/>
    <p:sldId id="2999" r:id="rId13"/>
    <p:sldId id="3004" r:id="rId14"/>
    <p:sldId id="2736" r:id="rId15"/>
    <p:sldId id="2987" r:id="rId16"/>
    <p:sldId id="2997" r:id="rId17"/>
    <p:sldId id="2996" r:id="rId18"/>
    <p:sldId id="2973" r:id="rId19"/>
    <p:sldId id="2977" r:id="rId20"/>
    <p:sldId id="2979" r:id="rId21"/>
    <p:sldId id="3000" r:id="rId22"/>
    <p:sldId id="2908" r:id="rId23"/>
    <p:sldId id="2998" r:id="rId24"/>
    <p:sldId id="2990" r:id="rId25"/>
    <p:sldId id="3005" r:id="rId26"/>
    <p:sldId id="2986" r:id="rId27"/>
    <p:sldId id="3006" r:id="rId28"/>
    <p:sldId id="2991" r:id="rId29"/>
    <p:sldId id="2737" r:id="rId30"/>
    <p:sldId id="2989" r:id="rId31"/>
    <p:sldId id="2563" r:id="rId32"/>
    <p:sldId id="2959" r:id="rId33"/>
    <p:sldId id="2970" r:id="rId34"/>
    <p:sldId id="2968" r:id="rId35"/>
    <p:sldId id="2969" r:id="rId36"/>
    <p:sldId id="2639" r:id="rId37"/>
    <p:sldId id="2957" r:id="rId38"/>
    <p:sldId id="2951" r:id="rId39"/>
    <p:sldId id="2841" r:id="rId40"/>
    <p:sldId id="2734" r:id="rId41"/>
    <p:sldId id="2595" r:id="rId42"/>
    <p:sldId id="2566" r:id="rId43"/>
    <p:sldId id="2915" r:id="rId44"/>
    <p:sldId id="2619" r:id="rId45"/>
    <p:sldId id="2761" r:id="rId46"/>
    <p:sldId id="2935" r:id="rId47"/>
    <p:sldId id="2919" r:id="rId48"/>
    <p:sldId id="2519" r:id="rId49"/>
    <p:sldId id="2931" r:id="rId50"/>
    <p:sldId id="2749" r:id="rId51"/>
    <p:sldId id="2950" r:id="rId52"/>
    <p:sldId id="2961" r:id="rId53"/>
    <p:sldId id="2849" r:id="rId54"/>
    <p:sldId id="2904" r:id="rId55"/>
    <p:sldId id="2905" r:id="rId56"/>
    <p:sldId id="2906" r:id="rId57"/>
    <p:sldId id="2907" r:id="rId58"/>
    <p:sldId id="2575" r:id="rId59"/>
    <p:sldId id="2910" r:id="rId60"/>
    <p:sldId id="1169" r:id="rId61"/>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173559"/>
    <a:srgbClr val="FDFDFD"/>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157" autoAdjust="0"/>
    <p:restoredTop sz="94424" autoAdjust="0"/>
  </p:normalViewPr>
  <p:slideViewPr>
    <p:cSldViewPr snapToGrid="0">
      <p:cViewPr varScale="1">
        <p:scale>
          <a:sx n="74" d="100"/>
          <a:sy n="74" d="100"/>
        </p:scale>
        <p:origin x="784" y="44"/>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slide" Target="slides/slide46.xml"/><Relationship Id="rId49" Type="http://schemas.openxmlformats.org/officeDocument/2006/relationships/slide" Target="slides/slide47.xml"/><Relationship Id="rId50" Type="http://schemas.openxmlformats.org/officeDocument/2006/relationships/slide" Target="slides/slide48.xml"/><Relationship Id="rId51" Type="http://schemas.openxmlformats.org/officeDocument/2006/relationships/slide" Target="slides/slide49.xml"/><Relationship Id="rId52" Type="http://schemas.openxmlformats.org/officeDocument/2006/relationships/slide" Target="slides/slide50.xml"/><Relationship Id="rId53" Type="http://schemas.openxmlformats.org/officeDocument/2006/relationships/slide" Target="slides/slide51.xml"/><Relationship Id="rId54" Type="http://schemas.openxmlformats.org/officeDocument/2006/relationships/slide" Target="slides/slide52.xml"/><Relationship Id="rId55" Type="http://schemas.openxmlformats.org/officeDocument/2006/relationships/slide" Target="slides/slide53.xml"/><Relationship Id="rId56" Type="http://schemas.openxmlformats.org/officeDocument/2006/relationships/slide" Target="slides/slide54.xml"/><Relationship Id="rId57" Type="http://schemas.openxmlformats.org/officeDocument/2006/relationships/slide" Target="slides/slide55.xml"/><Relationship Id="rId58" Type="http://schemas.openxmlformats.org/officeDocument/2006/relationships/slide" Target="slides/slide56.xml"/><Relationship Id="rId59" Type="http://schemas.openxmlformats.org/officeDocument/2006/relationships/slide" Target="slides/slide57.xml"/><Relationship Id="rId60" Type="http://schemas.openxmlformats.org/officeDocument/2006/relationships/slide" Target="slides/slide58.xml"/><Relationship Id="rId61" Type="http://schemas.openxmlformats.org/officeDocument/2006/relationships/slide" Target="slides/slide59.xml"/><Relationship Id="rId62" Type="http://schemas.openxmlformats.org/officeDocument/2006/relationships/notesMaster" Target="notesMasters/notesMaster1.xml"/><Relationship Id="rId63" Type="http://schemas.openxmlformats.org/officeDocument/2006/relationships/handoutMaster" Target="handoutMasters/handout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2026/9/24</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15D0A-BA72-DE45-32FA-363803F140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D2F8A3-D4B3-B9E6-A613-A157696B87F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3FBD4A-B575-3375-091A-F6A24B5A9BD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CAEAEB9-E37C-569F-CBB7-45D65E2A0906}"/>
              </a:ext>
            </a:extLst>
          </p:cNvPr>
          <p:cNvSpPr>
            <a:spLocks noGrp="1"/>
          </p:cNvSpPr>
          <p:nvPr>
            <p:ph type="sldNum" sz="quarter" idx="10"/>
          </p:nvPr>
        </p:nvSpPr>
        <p:spPr/>
        <p:txBody>
          <a:bodyPr/>
          <a:lstStyle/>
          <a:p>
            <a:fld id="{022E43C0-6795-4B13-B37C-259C826D4B6A}" type="slidenum">
              <a:rPr kumimoji="1" lang="ja-JP" altLang="en-US" smtClean="0"/>
              <a:t>2</a:t>
            </a:fld>
            <a:endParaRPr kumimoji="1" lang="ja-JP" altLang="en-US"/>
          </a:p>
        </p:txBody>
      </p:sp>
    </p:spTree>
    <p:extLst>
      <p:ext uri="{BB962C8B-B14F-4D97-AF65-F5344CB8AC3E}">
        <p14:creationId xmlns:p14="http://schemas.microsoft.com/office/powerpoint/2010/main" val="11238476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EEE297-1C60-1B47-1371-71E9182BCB3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48E7FAC-7C31-2BF5-99A0-B567314FF81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9D9BB1D-280D-F986-C5BD-B8EA9C52BE9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845DE59-8CC7-2B95-A35B-4990F6D674F1}"/>
              </a:ext>
            </a:extLst>
          </p:cNvPr>
          <p:cNvSpPr>
            <a:spLocks noGrp="1"/>
          </p:cNvSpPr>
          <p:nvPr>
            <p:ph type="sldNum" sz="quarter" idx="10"/>
          </p:nvPr>
        </p:nvSpPr>
        <p:spPr/>
        <p:txBody>
          <a:bodyPr/>
          <a:lstStyle/>
          <a:p>
            <a:fld id="{022E43C0-6795-4B13-B37C-259C826D4B6A}" type="slidenum">
              <a:rPr kumimoji="1" lang="ja-JP" altLang="en-US" smtClean="0"/>
              <a:t>3</a:t>
            </a:fld>
            <a:endParaRPr kumimoji="1" lang="ja-JP" altLang="en-US"/>
          </a:p>
        </p:txBody>
      </p:sp>
    </p:spTree>
    <p:extLst>
      <p:ext uri="{BB962C8B-B14F-4D97-AF65-F5344CB8AC3E}">
        <p14:creationId xmlns:p14="http://schemas.microsoft.com/office/powerpoint/2010/main" val="24875882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81540-B398-8C02-E1F2-1F1C4798CC2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82C74D-328C-FB0E-E710-C92A52BEF4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75EB1E7-3A4C-2E0A-CA67-686800FA87A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173A52D-F6CC-DC20-5CFE-D4EBA25ECCBC}"/>
              </a:ext>
            </a:extLst>
          </p:cNvPr>
          <p:cNvSpPr>
            <a:spLocks noGrp="1"/>
          </p:cNvSpPr>
          <p:nvPr>
            <p:ph type="sldNum" sz="quarter" idx="10"/>
          </p:nvPr>
        </p:nvSpPr>
        <p:spPr/>
        <p:txBody>
          <a:bodyPr/>
          <a:lstStyle/>
          <a:p>
            <a:fld id="{022E43C0-6795-4B13-B37C-259C826D4B6A}" type="slidenum">
              <a:rPr kumimoji="1" lang="ja-JP" altLang="en-US" smtClean="0"/>
              <a:t>4</a:t>
            </a:fld>
            <a:endParaRPr kumimoji="1" lang="ja-JP" altLang="en-US"/>
          </a:p>
        </p:txBody>
      </p:sp>
    </p:spTree>
    <p:extLst>
      <p:ext uri="{BB962C8B-B14F-4D97-AF65-F5344CB8AC3E}">
        <p14:creationId xmlns:p14="http://schemas.microsoft.com/office/powerpoint/2010/main" val="27379868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FB00FA-BE78-95FE-0350-A4F0396FFF9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FC15E1A-F54C-3203-065A-E98A027A099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9AE28B8-9549-F5B4-6969-5885B85CCC6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2C20ED0-F80D-F8F8-F1CB-2D28DC68BCAB}"/>
              </a:ext>
            </a:extLst>
          </p:cNvPr>
          <p:cNvSpPr>
            <a:spLocks noGrp="1"/>
          </p:cNvSpPr>
          <p:nvPr>
            <p:ph type="sldNum" sz="quarter" idx="10"/>
          </p:nvPr>
        </p:nvSpPr>
        <p:spPr/>
        <p:txBody>
          <a:bodyPr/>
          <a:lstStyle/>
          <a:p>
            <a:fld id="{022E43C0-6795-4B13-B37C-259C826D4B6A}" type="slidenum">
              <a:rPr kumimoji="1" lang="ja-JP" altLang="en-US" smtClean="0"/>
              <a:t>7</a:t>
            </a:fld>
            <a:endParaRPr kumimoji="1" lang="ja-JP" altLang="en-US"/>
          </a:p>
        </p:txBody>
      </p:sp>
    </p:spTree>
    <p:extLst>
      <p:ext uri="{BB962C8B-B14F-4D97-AF65-F5344CB8AC3E}">
        <p14:creationId xmlns:p14="http://schemas.microsoft.com/office/powerpoint/2010/main" val="1918954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66E8F5-BBD3-0231-A307-D47C566A9FD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2BFD107-29C2-1C0C-2391-CF3D41D4AE5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E60E4A0-B5DF-7E8F-9287-E56FCAFE258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61D2291-B783-1AA7-A21C-3450133A3B7C}"/>
              </a:ext>
            </a:extLst>
          </p:cNvPr>
          <p:cNvSpPr>
            <a:spLocks noGrp="1"/>
          </p:cNvSpPr>
          <p:nvPr>
            <p:ph type="sldNum" sz="quarter" idx="10"/>
          </p:nvPr>
        </p:nvSpPr>
        <p:spPr/>
        <p:txBody>
          <a:bodyPr/>
          <a:lstStyle/>
          <a:p>
            <a:fld id="{022E43C0-6795-4B13-B37C-259C826D4B6A}" type="slidenum">
              <a:rPr kumimoji="1" lang="ja-JP" altLang="en-US" smtClean="0"/>
              <a:t>8</a:t>
            </a:fld>
            <a:endParaRPr kumimoji="1" lang="ja-JP" altLang="en-US"/>
          </a:p>
        </p:txBody>
      </p:sp>
    </p:spTree>
    <p:extLst>
      <p:ext uri="{BB962C8B-B14F-4D97-AF65-F5344CB8AC3E}">
        <p14:creationId xmlns:p14="http://schemas.microsoft.com/office/powerpoint/2010/main" val="77291629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D12A7A-9C17-F191-B8A5-07AB24256E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962CB65-47CA-40CE-B910-EFFA15F9EFB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5758557-6179-7BE8-A51E-51B7EB03AE8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FF1C258-C7A8-70CB-60F9-410CC6748283}"/>
              </a:ext>
            </a:extLst>
          </p:cNvPr>
          <p:cNvSpPr>
            <a:spLocks noGrp="1"/>
          </p:cNvSpPr>
          <p:nvPr>
            <p:ph type="sldNum" sz="quarter" idx="10"/>
          </p:nvPr>
        </p:nvSpPr>
        <p:spPr/>
        <p:txBody>
          <a:bodyPr/>
          <a:lstStyle/>
          <a:p>
            <a:fld id="{022E43C0-6795-4B13-B37C-259C826D4B6A}" type="slidenum">
              <a:rPr kumimoji="1" lang="ja-JP" altLang="en-US" smtClean="0"/>
              <a:t>9</a:t>
            </a:fld>
            <a:endParaRPr kumimoji="1" lang="ja-JP" altLang="en-US"/>
          </a:p>
        </p:txBody>
      </p:sp>
    </p:spTree>
    <p:extLst>
      <p:ext uri="{BB962C8B-B14F-4D97-AF65-F5344CB8AC3E}">
        <p14:creationId xmlns:p14="http://schemas.microsoft.com/office/powerpoint/2010/main" val="17588645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AD3C2E-8631-0E38-6C31-C6DED150D21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848057B-4969-D8FF-F0AC-CA210AA37C6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F70A271-6E49-37E3-A907-5C2BD567216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C12D90D-F41A-5474-D369-5759C78B843B}"/>
              </a:ext>
            </a:extLst>
          </p:cNvPr>
          <p:cNvSpPr>
            <a:spLocks noGrp="1"/>
          </p:cNvSpPr>
          <p:nvPr>
            <p:ph type="sldNum" sz="quarter" idx="10"/>
          </p:nvPr>
        </p:nvSpPr>
        <p:spPr/>
        <p:txBody>
          <a:bodyPr/>
          <a:lstStyle/>
          <a:p>
            <a:fld id="{022E43C0-6795-4B13-B37C-259C826D4B6A}" type="slidenum">
              <a:rPr kumimoji="1" lang="ja-JP" altLang="en-US" smtClean="0"/>
              <a:t>10</a:t>
            </a:fld>
            <a:endParaRPr kumimoji="1" lang="ja-JP" altLang="en-US"/>
          </a:p>
        </p:txBody>
      </p:sp>
    </p:spTree>
    <p:extLst>
      <p:ext uri="{BB962C8B-B14F-4D97-AF65-F5344CB8AC3E}">
        <p14:creationId xmlns:p14="http://schemas.microsoft.com/office/powerpoint/2010/main" val="31628179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880EF-6C8C-B780-9BB3-1B0757C006A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DAB9840-7942-E115-501A-18129D77179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2A1841C-729C-28E2-58FF-5212B200D2B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C47DBBA-098F-116B-BB87-D1F9D32E060E}"/>
              </a:ext>
            </a:extLst>
          </p:cNvPr>
          <p:cNvSpPr>
            <a:spLocks noGrp="1"/>
          </p:cNvSpPr>
          <p:nvPr>
            <p:ph type="sldNum" sz="quarter" idx="10"/>
          </p:nvPr>
        </p:nvSpPr>
        <p:spPr/>
        <p:txBody>
          <a:bodyPr/>
          <a:lstStyle/>
          <a:p>
            <a:fld id="{022E43C0-6795-4B13-B37C-259C826D4B6A}" type="slidenum">
              <a:rPr kumimoji="1" lang="ja-JP" altLang="en-US" smtClean="0"/>
              <a:t>11</a:t>
            </a:fld>
            <a:endParaRPr kumimoji="1" lang="ja-JP" altLang="en-US"/>
          </a:p>
        </p:txBody>
      </p:sp>
    </p:spTree>
    <p:extLst>
      <p:ext uri="{BB962C8B-B14F-4D97-AF65-F5344CB8AC3E}">
        <p14:creationId xmlns:p14="http://schemas.microsoft.com/office/powerpoint/2010/main" val="79081846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87BDD3-88EE-99A9-AEE2-C1F41DDABDF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50017B6-5C78-4075-2708-AC5DB83D5C7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ECFD86C-83D9-B8F9-9012-A14834B2031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02F5ACB-1F4C-FA7D-D366-8DCBB1214FD9}"/>
              </a:ext>
            </a:extLst>
          </p:cNvPr>
          <p:cNvSpPr>
            <a:spLocks noGrp="1"/>
          </p:cNvSpPr>
          <p:nvPr>
            <p:ph type="sldNum" sz="quarter" idx="10"/>
          </p:nvPr>
        </p:nvSpPr>
        <p:spPr/>
        <p:txBody>
          <a:bodyPr/>
          <a:lstStyle/>
          <a:p>
            <a:fld id="{022E43C0-6795-4B13-B37C-259C826D4B6A}" type="slidenum">
              <a:rPr kumimoji="1" lang="ja-JP" altLang="en-US" smtClean="0"/>
              <a:t>14</a:t>
            </a:fld>
            <a:endParaRPr kumimoji="1" lang="ja-JP" altLang="en-US"/>
          </a:p>
        </p:txBody>
      </p:sp>
    </p:spTree>
    <p:extLst>
      <p:ext uri="{BB962C8B-B14F-4D97-AF65-F5344CB8AC3E}">
        <p14:creationId xmlns:p14="http://schemas.microsoft.com/office/powerpoint/2010/main" val="329133521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28432E-C2C6-89CF-C006-DD360C6CBCD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B7CA1C0-54B2-C273-9EFA-4A233AA33F5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C6AE94C-3A31-DE43-5CF3-F8B06624D4B3}"/>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C92184BA-3FBD-5E23-D138-23E1190BD57E}"/>
              </a:ext>
            </a:extLst>
          </p:cNvPr>
          <p:cNvSpPr>
            <a:spLocks noGrp="1"/>
          </p:cNvSpPr>
          <p:nvPr>
            <p:ph type="sldNum" sz="quarter" idx="10"/>
          </p:nvPr>
        </p:nvSpPr>
        <p:spPr/>
        <p:txBody>
          <a:bodyPr/>
          <a:lstStyle/>
          <a:p>
            <a:fld id="{022E43C0-6795-4B13-B37C-259C826D4B6A}" type="slidenum">
              <a:rPr kumimoji="1" lang="ja-JP" altLang="en-US" smtClean="0"/>
              <a:t>15</a:t>
            </a:fld>
            <a:endParaRPr kumimoji="1" lang="ja-JP" altLang="en-US"/>
          </a:p>
        </p:txBody>
      </p:sp>
    </p:spTree>
    <p:extLst>
      <p:ext uri="{BB962C8B-B14F-4D97-AF65-F5344CB8AC3E}">
        <p14:creationId xmlns:p14="http://schemas.microsoft.com/office/powerpoint/2010/main" val="7838417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609F94-460F-5A9A-D53E-BD9AF25C600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880BBC6-A0FB-42D9-3A8A-800D9E47CF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7DCB781-2099-65DC-EA96-CC827630AFB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72154FB-F3CF-6922-2040-70A35BD97D62}"/>
              </a:ext>
            </a:extLst>
          </p:cNvPr>
          <p:cNvSpPr>
            <a:spLocks noGrp="1"/>
          </p:cNvSpPr>
          <p:nvPr>
            <p:ph type="sldNum" sz="quarter" idx="10"/>
          </p:nvPr>
        </p:nvSpPr>
        <p:spPr/>
        <p:txBody>
          <a:bodyPr/>
          <a:lstStyle/>
          <a:p>
            <a:fld id="{022E43C0-6795-4B13-B37C-259C826D4B6A}" type="slidenum">
              <a:rPr kumimoji="1" lang="ja-JP" altLang="en-US" smtClean="0"/>
              <a:t>16</a:t>
            </a:fld>
            <a:endParaRPr kumimoji="1" lang="ja-JP" altLang="en-US"/>
          </a:p>
        </p:txBody>
      </p:sp>
    </p:spTree>
    <p:extLst>
      <p:ext uri="{BB962C8B-B14F-4D97-AF65-F5344CB8AC3E}">
        <p14:creationId xmlns:p14="http://schemas.microsoft.com/office/powerpoint/2010/main" val="102359895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98DFB9-1A0E-AC56-86AB-C554ECA5907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6E74640-8F62-6E74-5A21-E69A7415BF6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566DD76-369D-9DB0-5CDC-B936C94EBB6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AB7A0C4-A336-4C2C-E97A-0E6D7798D43D}"/>
              </a:ext>
            </a:extLst>
          </p:cNvPr>
          <p:cNvSpPr>
            <a:spLocks noGrp="1"/>
          </p:cNvSpPr>
          <p:nvPr>
            <p:ph type="sldNum" sz="quarter" idx="10"/>
          </p:nvPr>
        </p:nvSpPr>
        <p:spPr/>
        <p:txBody>
          <a:bodyPr/>
          <a:lstStyle/>
          <a:p>
            <a:fld id="{022E43C0-6795-4B13-B37C-259C826D4B6A}" type="slidenum">
              <a:rPr kumimoji="1" lang="ja-JP" altLang="en-US" smtClean="0"/>
              <a:t>17</a:t>
            </a:fld>
            <a:endParaRPr kumimoji="1" lang="ja-JP" altLang="en-US"/>
          </a:p>
        </p:txBody>
      </p:sp>
    </p:spTree>
    <p:extLst>
      <p:ext uri="{BB962C8B-B14F-4D97-AF65-F5344CB8AC3E}">
        <p14:creationId xmlns:p14="http://schemas.microsoft.com/office/powerpoint/2010/main" val="294964865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2C3D0E-521D-4421-8E6F-5B072E39273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A4E99E-E573-FB69-824A-6A64B973F18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C7418EF-CD86-6501-70F8-B9DD0191527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CB86D95-C452-2BDC-5841-170929F80D7E}"/>
              </a:ext>
            </a:extLst>
          </p:cNvPr>
          <p:cNvSpPr>
            <a:spLocks noGrp="1"/>
          </p:cNvSpPr>
          <p:nvPr>
            <p:ph type="sldNum" sz="quarter" idx="10"/>
          </p:nvPr>
        </p:nvSpPr>
        <p:spPr/>
        <p:txBody>
          <a:bodyPr/>
          <a:lstStyle/>
          <a:p>
            <a:fld id="{022E43C0-6795-4B13-B37C-259C826D4B6A}" type="slidenum">
              <a:rPr kumimoji="1" lang="ja-JP" altLang="en-US" smtClean="0"/>
              <a:t>18</a:t>
            </a:fld>
            <a:endParaRPr kumimoji="1" lang="ja-JP" altLang="en-US"/>
          </a:p>
        </p:txBody>
      </p:sp>
    </p:spTree>
    <p:extLst>
      <p:ext uri="{BB962C8B-B14F-4D97-AF65-F5344CB8AC3E}">
        <p14:creationId xmlns:p14="http://schemas.microsoft.com/office/powerpoint/2010/main" val="39947864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1E9D4-0876-C25C-8529-8B74AB559B8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CF43F49-5B7A-3752-251E-82690E66FE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863D13-39F9-D392-9C29-D9EAD3D1EA4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73CE111-A992-AC9F-119C-E1210F4D3DD7}"/>
              </a:ext>
            </a:extLst>
          </p:cNvPr>
          <p:cNvSpPr>
            <a:spLocks noGrp="1"/>
          </p:cNvSpPr>
          <p:nvPr>
            <p:ph type="sldNum" sz="quarter" idx="10"/>
          </p:nvPr>
        </p:nvSpPr>
        <p:spPr/>
        <p:txBody>
          <a:bodyPr/>
          <a:lstStyle/>
          <a:p>
            <a:fld id="{022E43C0-6795-4B13-B37C-259C826D4B6A}" type="slidenum">
              <a:rPr kumimoji="1" lang="ja-JP" altLang="en-US" smtClean="0"/>
              <a:t>19</a:t>
            </a:fld>
            <a:endParaRPr kumimoji="1" lang="ja-JP" altLang="en-US"/>
          </a:p>
        </p:txBody>
      </p:sp>
    </p:spTree>
    <p:extLst>
      <p:ext uri="{BB962C8B-B14F-4D97-AF65-F5344CB8AC3E}">
        <p14:creationId xmlns:p14="http://schemas.microsoft.com/office/powerpoint/2010/main" val="115850594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A66D97-D2AE-47E8-CEF6-DF7B01DBF3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17462C0-C3A5-BB88-91F7-226AFC22447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D40E553-EB2C-9ACD-C50F-CC21DD6D00A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D59E7342-2894-A379-2FAD-61B82347D6FE}"/>
              </a:ext>
            </a:extLst>
          </p:cNvPr>
          <p:cNvSpPr>
            <a:spLocks noGrp="1"/>
          </p:cNvSpPr>
          <p:nvPr>
            <p:ph type="sldNum" sz="quarter" idx="10"/>
          </p:nvPr>
        </p:nvSpPr>
        <p:spPr/>
        <p:txBody>
          <a:bodyPr/>
          <a:lstStyle/>
          <a:p>
            <a:fld id="{022E43C0-6795-4B13-B37C-259C826D4B6A}" type="slidenum">
              <a:rPr kumimoji="1" lang="ja-JP" altLang="en-US" smtClean="0"/>
              <a:t>20</a:t>
            </a:fld>
            <a:endParaRPr kumimoji="1" lang="ja-JP" altLang="en-US"/>
          </a:p>
        </p:txBody>
      </p:sp>
    </p:spTree>
    <p:extLst>
      <p:ext uri="{BB962C8B-B14F-4D97-AF65-F5344CB8AC3E}">
        <p14:creationId xmlns:p14="http://schemas.microsoft.com/office/powerpoint/2010/main" val="28297304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FBE411-4324-1BAD-C78B-91DF91FD9CC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D549732-A76E-5601-F486-7A42B1789D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3275E6F-98B5-9B49-8F3C-8CAF75C8D6E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E553E365-D354-3F82-CA83-108FC9376A62}"/>
              </a:ext>
            </a:extLst>
          </p:cNvPr>
          <p:cNvSpPr>
            <a:spLocks noGrp="1"/>
          </p:cNvSpPr>
          <p:nvPr>
            <p:ph type="sldNum" sz="quarter" idx="10"/>
          </p:nvPr>
        </p:nvSpPr>
        <p:spPr/>
        <p:txBody>
          <a:bodyPr/>
          <a:lstStyle/>
          <a:p>
            <a:fld id="{022E43C0-6795-4B13-B37C-259C826D4B6A}" type="slidenum">
              <a:rPr kumimoji="1" lang="ja-JP" altLang="en-US" smtClean="0"/>
              <a:t>23</a:t>
            </a:fld>
            <a:endParaRPr kumimoji="1" lang="ja-JP" altLang="en-US"/>
          </a:p>
        </p:txBody>
      </p:sp>
    </p:spTree>
    <p:extLst>
      <p:ext uri="{BB962C8B-B14F-4D97-AF65-F5344CB8AC3E}">
        <p14:creationId xmlns:p14="http://schemas.microsoft.com/office/powerpoint/2010/main" val="18155914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9CAC78-50A4-F913-B3AF-274D32241D1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7EBEBB5-128F-0CAF-8FD7-D2192091613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79E3D02-55AC-2638-9F09-898F0C8E633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51B9F10-F34C-A78C-BAAF-5494CD58A784}"/>
              </a:ext>
            </a:extLst>
          </p:cNvPr>
          <p:cNvSpPr>
            <a:spLocks noGrp="1"/>
          </p:cNvSpPr>
          <p:nvPr>
            <p:ph type="sldNum" sz="quarter" idx="10"/>
          </p:nvPr>
        </p:nvSpPr>
        <p:spPr/>
        <p:txBody>
          <a:bodyPr/>
          <a:lstStyle/>
          <a:p>
            <a:fld id="{022E43C0-6795-4B13-B37C-259C826D4B6A}" type="slidenum">
              <a:rPr kumimoji="1" lang="ja-JP" altLang="en-US" smtClean="0"/>
              <a:t>25</a:t>
            </a:fld>
            <a:endParaRPr kumimoji="1" lang="ja-JP" altLang="en-US"/>
          </a:p>
        </p:txBody>
      </p:sp>
    </p:spTree>
    <p:extLst>
      <p:ext uri="{BB962C8B-B14F-4D97-AF65-F5344CB8AC3E}">
        <p14:creationId xmlns:p14="http://schemas.microsoft.com/office/powerpoint/2010/main" val="398545389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DBF5B-1845-D193-7974-D86F6501AAA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241EA19-E230-7BF9-50E1-64D71F07CF8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0FCC320-6462-2E53-372E-51E35D6A4C3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1D45867-3EDE-BF64-D973-FA5EA5D84F7E}"/>
              </a:ext>
            </a:extLst>
          </p:cNvPr>
          <p:cNvSpPr>
            <a:spLocks noGrp="1"/>
          </p:cNvSpPr>
          <p:nvPr>
            <p:ph type="sldNum" sz="quarter" idx="10"/>
          </p:nvPr>
        </p:nvSpPr>
        <p:spPr/>
        <p:txBody>
          <a:bodyPr/>
          <a:lstStyle/>
          <a:p>
            <a:fld id="{022E43C0-6795-4B13-B37C-259C826D4B6A}" type="slidenum">
              <a:rPr kumimoji="1" lang="ja-JP" altLang="en-US" smtClean="0"/>
              <a:t>27</a:t>
            </a:fld>
            <a:endParaRPr kumimoji="1" lang="ja-JP" altLang="en-US"/>
          </a:p>
        </p:txBody>
      </p:sp>
    </p:spTree>
    <p:extLst>
      <p:ext uri="{BB962C8B-B14F-4D97-AF65-F5344CB8AC3E}">
        <p14:creationId xmlns:p14="http://schemas.microsoft.com/office/powerpoint/2010/main" val="65149959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solidFill>
                <a:schemeClr val="tx1">
                  <a:lumMod val="65000"/>
                  <a:lumOff val="35000"/>
                </a:schemeClr>
              </a:solidFill>
            </a:endParaRPr>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40</a:t>
            </a:fld>
            <a:endParaRPr kumimoji="1" lang="ja-JP" altLang="en-US"/>
          </a:p>
        </p:txBody>
      </p:sp>
    </p:spTree>
    <p:extLst>
      <p:ext uri="{BB962C8B-B14F-4D97-AF65-F5344CB8AC3E}">
        <p14:creationId xmlns:p14="http://schemas.microsoft.com/office/powerpoint/2010/main" val="152232489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41</a:t>
            </a:fld>
            <a:endParaRPr kumimoji="1" lang="ja-JP" altLang="en-US"/>
          </a:p>
        </p:txBody>
      </p:sp>
    </p:spTree>
    <p:extLst>
      <p:ext uri="{BB962C8B-B14F-4D97-AF65-F5344CB8AC3E}">
        <p14:creationId xmlns:p14="http://schemas.microsoft.com/office/powerpoint/2010/main" val="183506441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B6ADA-9EE0-91AA-01F0-865797FB33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8D7824-B497-EEC9-3C27-6A309145FC0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893DCE5-B0D5-3EB2-202E-F260807F710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8AE7A32-4756-AD3E-9E41-6DB0BE31AC45}"/>
              </a:ext>
            </a:extLst>
          </p:cNvPr>
          <p:cNvSpPr>
            <a:spLocks noGrp="1"/>
          </p:cNvSpPr>
          <p:nvPr>
            <p:ph type="sldNum" sz="quarter" idx="10"/>
          </p:nvPr>
        </p:nvSpPr>
        <p:spPr/>
        <p:txBody>
          <a:bodyPr/>
          <a:lstStyle/>
          <a:p>
            <a:fld id="{022E43C0-6795-4B13-B37C-259C826D4B6A}" type="slidenum">
              <a:rPr kumimoji="1" lang="ja-JP" altLang="en-US" smtClean="0"/>
              <a:t>42</a:t>
            </a:fld>
            <a:endParaRPr kumimoji="1" lang="ja-JP" altLang="en-US"/>
          </a:p>
        </p:txBody>
      </p:sp>
    </p:spTree>
    <p:extLst>
      <p:ext uri="{BB962C8B-B14F-4D97-AF65-F5344CB8AC3E}">
        <p14:creationId xmlns:p14="http://schemas.microsoft.com/office/powerpoint/2010/main" val="322614683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43</a:t>
            </a:fld>
            <a:endParaRPr kumimoji="1" lang="ja-JP" altLang="en-US"/>
          </a:p>
        </p:txBody>
      </p:sp>
    </p:spTree>
    <p:extLst>
      <p:ext uri="{BB962C8B-B14F-4D97-AF65-F5344CB8AC3E}">
        <p14:creationId xmlns:p14="http://schemas.microsoft.com/office/powerpoint/2010/main" val="371762245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45</a:t>
            </a:fld>
            <a:endParaRPr kumimoji="1" lang="ja-JP" altLang="en-US"/>
          </a:p>
        </p:txBody>
      </p:sp>
    </p:spTree>
    <p:extLst>
      <p:ext uri="{BB962C8B-B14F-4D97-AF65-F5344CB8AC3E}">
        <p14:creationId xmlns:p14="http://schemas.microsoft.com/office/powerpoint/2010/main" val="24795380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46</a:t>
            </a:fld>
            <a:endParaRPr kumimoji="1" lang="ja-JP" altLang="en-US"/>
          </a:p>
        </p:txBody>
      </p:sp>
    </p:spTree>
    <p:extLst>
      <p:ext uri="{BB962C8B-B14F-4D97-AF65-F5344CB8AC3E}">
        <p14:creationId xmlns:p14="http://schemas.microsoft.com/office/powerpoint/2010/main" val="298542484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47</a:t>
            </a:fld>
            <a:endParaRPr kumimoji="1" lang="ja-JP" altLang="en-US"/>
          </a:p>
        </p:txBody>
      </p:sp>
    </p:spTree>
    <p:extLst>
      <p:ext uri="{BB962C8B-B14F-4D97-AF65-F5344CB8AC3E}">
        <p14:creationId xmlns:p14="http://schemas.microsoft.com/office/powerpoint/2010/main" val="237052644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BED428-D571-14FF-D396-D7175DA0FB5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271AB2A-80AE-D1AA-E70B-86CDF935054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C0C2926-5D95-6624-6AD9-E45C5528979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B6DFD87-0439-882A-B65E-9CEE51F20332}"/>
              </a:ext>
            </a:extLst>
          </p:cNvPr>
          <p:cNvSpPr>
            <a:spLocks noGrp="1"/>
          </p:cNvSpPr>
          <p:nvPr>
            <p:ph type="sldNum" sz="quarter" idx="10"/>
          </p:nvPr>
        </p:nvSpPr>
        <p:spPr/>
        <p:txBody>
          <a:bodyPr/>
          <a:lstStyle/>
          <a:p>
            <a:fld id="{022E43C0-6795-4B13-B37C-259C826D4B6A}" type="slidenum">
              <a:rPr kumimoji="1" lang="ja-JP" altLang="en-US" smtClean="0"/>
              <a:t>48</a:t>
            </a:fld>
            <a:endParaRPr kumimoji="1" lang="ja-JP" altLang="en-US"/>
          </a:p>
        </p:txBody>
      </p:sp>
    </p:spTree>
    <p:extLst>
      <p:ext uri="{BB962C8B-B14F-4D97-AF65-F5344CB8AC3E}">
        <p14:creationId xmlns:p14="http://schemas.microsoft.com/office/powerpoint/2010/main" val="110140536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50</a:t>
            </a:fld>
            <a:endParaRPr kumimoji="1" lang="ja-JP" altLang="en-US"/>
          </a:p>
        </p:txBody>
      </p:sp>
    </p:spTree>
    <p:extLst>
      <p:ext uri="{BB962C8B-B14F-4D97-AF65-F5344CB8AC3E}">
        <p14:creationId xmlns:p14="http://schemas.microsoft.com/office/powerpoint/2010/main" val="239023445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59</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png"/><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7.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jpe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0.jpeg"/><Relationship Id="rId3" Type="http://schemas.openxmlformats.org/officeDocument/2006/relationships/image" Target="../media/image31.jpe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jpe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image" Target="../media/image38.jpe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image" Target="../media/image45.png"/><Relationship Id="rId10" Type="http://schemas.openxmlformats.org/officeDocument/2006/relationships/image" Target="../media/image4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47.png"/><Relationship Id="rId4" Type="http://schemas.openxmlformats.org/officeDocument/2006/relationships/image" Target="../media/image4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svg"/><Relationship Id="rId8" Type="http://schemas.openxmlformats.org/officeDocument/2006/relationships/image" Target="../media/image5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55.svg"/><Relationship Id="rId4" Type="http://schemas.openxmlformats.org/officeDocument/2006/relationships/image" Target="../media/image56.svg"/><Relationship Id="rId5" Type="http://schemas.openxmlformats.org/officeDocument/2006/relationships/image" Target="../media/image57.svg"/><Relationship Id="rId6" Type="http://schemas.openxmlformats.org/officeDocument/2006/relationships/image" Target="../media/image58.sv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 Id="rId7" Type="http://schemas.openxmlformats.org/officeDocument/2006/relationships/image" Target="../media/image6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5.png"/><Relationship Id="rId3" Type="http://schemas.openxmlformats.org/officeDocument/2006/relationships/image" Target="../media/image66.png"/><Relationship Id="rId4" Type="http://schemas.openxmlformats.org/officeDocument/2006/relationships/image" Target="../media/image6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9.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3.emf"/><Relationship Id="rId4" Type="http://schemas.openxmlformats.org/officeDocument/2006/relationships/image" Target="../media/image74.jpeg"/><Relationship Id="rId5" Type="http://schemas.openxmlformats.org/officeDocument/2006/relationships/image" Target="../media/image75.jpeg"/><Relationship Id="rId6" Type="http://schemas.openxmlformats.org/officeDocument/2006/relationships/image" Target="../media/image76.jpeg"/><Relationship Id="rId7" Type="http://schemas.openxmlformats.org/officeDocument/2006/relationships/image" Target="../media/image77.jpeg"/><Relationship Id="rId8" Type="http://schemas.openxmlformats.org/officeDocument/2006/relationships/image" Target="../media/image78.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2533105"/>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224725"/>
            <a:ext cx="6626632" cy="338554"/>
          </a:xfrm>
          <a:prstGeom prst="rect">
            <a:avLst/>
          </a:prstGeom>
        </p:spPr>
        <p:txBody>
          <a:bodyPr wrap="square">
            <a:spAutoFit/>
          </a:bodyPr>
          <a:lstStyle/>
          <a:p>
            <a:pPr algn="ctr"/>
            <a:r>
              <a:rPr lang="ja-JP" altLang="en-US" sz="1600" dirty="0">
                <a:solidFill>
                  <a:schemeClr val="tx1">
                    <a:lumMod val="50000"/>
                    <a:lumOff val="50000"/>
                  </a:schemeClr>
                </a:solidFill>
                <a:latin typeface="Meiryo" panose="020B0604030504040204" pitchFamily="34" charset="-128"/>
                <a:ea typeface="Meiryo" panose="020B0604030504040204" pitchFamily="34" charset="-128"/>
              </a:rPr>
              <a:t>最上位パートナーの知見を活用し、獲得に強い動線を構築する</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199966"/>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7170AE42-913D-895E-A1DE-6A899FE53370}"/>
              </a:ext>
            </a:extLst>
          </p:cNvPr>
          <p:cNvSpPr txBox="1"/>
          <p:nvPr/>
        </p:nvSpPr>
        <p:spPr>
          <a:xfrm>
            <a:off x="291974" y="263665"/>
            <a:ext cx="4965824" cy="338554"/>
          </a:xfrm>
          <a:prstGeom prst="rect">
            <a:avLst/>
          </a:prstGeom>
          <a:noFill/>
        </p:spPr>
        <p:txBody>
          <a:bodyPr wrap="square">
            <a:spAutoFit/>
          </a:bodyPr>
          <a:lstStyle/>
          <a:p>
            <a:r>
              <a:rPr lang="ja-JP" altLang="en-US" sz="1600" b="1" dirty="0">
                <a:solidFill>
                  <a:schemeClr val="tx1">
                    <a:lumMod val="50000"/>
                    <a:lumOff val="50000"/>
                  </a:schemeClr>
                </a:solidFill>
                <a:latin typeface="Meiryo" panose="020B0604030504040204" pitchFamily="34" charset="-128"/>
                <a:ea typeface="Meiryo" panose="020B0604030504040204" pitchFamily="34" charset="-128"/>
              </a:rPr>
              <a:t>株式会社やる気スイッチグループ 御中</a:t>
            </a:r>
          </a:p>
        </p:txBody>
      </p:sp>
      <p:pic>
        <p:nvPicPr>
          <p:cNvPr id="16" name="図 15">
            <a:extLst>
              <a:ext uri="{FF2B5EF4-FFF2-40B4-BE49-F238E27FC236}">
                <a16:creationId xmlns:a16="http://schemas.microsoft.com/office/drawing/2014/main" id="{F5FA6CC7-CA8F-92E6-C244-18831D0C0295}"/>
              </a:ext>
            </a:extLst>
          </p:cNvPr>
          <p:cNvPicPr>
            <a:picLocks noChangeAspect="1"/>
          </p:cNvPicPr>
          <p:nvPr/>
        </p:nvPicPr>
        <p:blipFill>
          <a:blip r:embed="rId3"/>
          <a:stretch>
            <a:fillRect/>
          </a:stretch>
        </p:blipFill>
        <p:spPr>
          <a:xfrm>
            <a:off x="5297860" y="3402512"/>
            <a:ext cx="1763918" cy="511042"/>
          </a:xfrm>
          <a:prstGeom prst="rect">
            <a:avLst/>
          </a:prstGeom>
        </p:spPr>
      </p:pic>
      <p:pic>
        <p:nvPicPr>
          <p:cNvPr id="18" name="図 17">
            <a:extLst>
              <a:ext uri="{FF2B5EF4-FFF2-40B4-BE49-F238E27FC236}">
                <a16:creationId xmlns:a16="http://schemas.microsoft.com/office/drawing/2014/main" id="{A18567FA-559F-28F3-12A5-872E80F869D3}"/>
              </a:ext>
            </a:extLst>
          </p:cNvPr>
          <p:cNvPicPr>
            <a:picLocks noChangeAspect="1"/>
          </p:cNvPicPr>
          <p:nvPr/>
        </p:nvPicPr>
        <p:blipFill>
          <a:blip r:embed="rId4"/>
          <a:stretch>
            <a:fillRect/>
          </a:stretch>
        </p:blipFill>
        <p:spPr>
          <a:xfrm>
            <a:off x="3099814" y="3370502"/>
            <a:ext cx="1694693" cy="575063"/>
          </a:xfrm>
          <a:prstGeom prst="rect">
            <a:avLst/>
          </a:prstGeom>
        </p:spPr>
      </p:pic>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A8E8E-25CB-4B86-C4F6-E5A7023586F7}"/>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2750B4B-A121-360C-93EE-1C576646E63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9AF57BBF-9E24-A5DD-4EBD-626AA56926E3}"/>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2F558483-DBE8-2E46-BAD9-E7186808666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0954E864-E162-A524-FB6F-26FF53B70221}"/>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現状把握</a:t>
            </a:r>
            <a:r>
              <a:rPr lang="en-US" altLang="ja-JP" sz="1600" b="1" dirty="0">
                <a:solidFill>
                  <a:srgbClr val="002060"/>
                </a:solidFill>
                <a:latin typeface="Meiryo"/>
                <a:ea typeface="Meiryo"/>
                <a:cs typeface="Meiryo"/>
                <a:sym typeface="Meiryo"/>
              </a:rPr>
              <a:t>【</a:t>
            </a:r>
            <a:r>
              <a:rPr lang="ja-JP" altLang="en-US" sz="1600" b="1" dirty="0">
                <a:solidFill>
                  <a:srgbClr val="002060"/>
                </a:solidFill>
                <a:latin typeface="Meiryo"/>
                <a:ea typeface="Meiryo"/>
                <a:cs typeface="Meiryo"/>
                <a:sym typeface="Meiryo"/>
              </a:rPr>
              <a:t>忍者ナイン</a:t>
            </a:r>
            <a:r>
              <a:rPr lang="en-US" altLang="ja-JP"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
        <p:nvSpPr>
          <p:cNvPr id="29" name="テキスト ボックス 28">
            <a:extLst>
              <a:ext uri="{FF2B5EF4-FFF2-40B4-BE49-F238E27FC236}">
                <a16:creationId xmlns:a16="http://schemas.microsoft.com/office/drawing/2014/main" id="{89944725-A636-ECEB-0A63-635C9AC8D442}"/>
              </a:ext>
            </a:extLst>
          </p:cNvPr>
          <p:cNvSpPr txBox="1"/>
          <p:nvPr/>
        </p:nvSpPr>
        <p:spPr>
          <a:xfrm>
            <a:off x="4801044" y="1595900"/>
            <a:ext cx="4492485" cy="276999"/>
          </a:xfrm>
          <a:prstGeom prst="rect">
            <a:avLst/>
          </a:prstGeom>
          <a:solidFill>
            <a:srgbClr val="04FA0A"/>
          </a:solidFill>
        </p:spPr>
        <p:txBody>
          <a:bodyPr wrap="square">
            <a:spAutoFit/>
          </a:bodyPr>
          <a:lstStyle/>
          <a:p>
            <a:pPr algn="ctr"/>
            <a:r>
              <a:rPr lang="en-US" altLang="ja-JP" sz="1200" b="1" dirty="0">
                <a:solidFill>
                  <a:schemeClr val="bg1"/>
                </a:solidFill>
                <a:latin typeface="メイリオ" panose="020B0604030504040204" pitchFamily="50" charset="-128"/>
                <a:ea typeface="メイリオ" panose="020B0604030504040204" pitchFamily="50" charset="-128"/>
              </a:rPr>
              <a:t>LINE</a:t>
            </a:r>
            <a:r>
              <a:rPr lang="ja-JP" altLang="en-US" sz="1200" b="1" dirty="0">
                <a:solidFill>
                  <a:schemeClr val="bg1"/>
                </a:solidFill>
                <a:latin typeface="メイリオ" panose="020B0604030504040204" pitchFamily="50" charset="-128"/>
                <a:ea typeface="メイリオ" panose="020B0604030504040204" pitchFamily="50" charset="-128"/>
              </a:rPr>
              <a:t>ステータス</a:t>
            </a:r>
            <a:endParaRPr lang="ja-JP" altLang="en-US" sz="1200" b="1" dirty="0">
              <a:solidFill>
                <a:schemeClr val="bg1"/>
              </a:solidFill>
            </a:endParaRPr>
          </a:p>
        </p:txBody>
      </p:sp>
      <p:sp>
        <p:nvSpPr>
          <p:cNvPr id="31" name="テキスト ボックス 30">
            <a:extLst>
              <a:ext uri="{FF2B5EF4-FFF2-40B4-BE49-F238E27FC236}">
                <a16:creationId xmlns:a16="http://schemas.microsoft.com/office/drawing/2014/main" id="{4084F56D-F327-A822-5987-1D40EC17F819}"/>
              </a:ext>
            </a:extLst>
          </p:cNvPr>
          <p:cNvSpPr txBox="1"/>
          <p:nvPr/>
        </p:nvSpPr>
        <p:spPr>
          <a:xfrm>
            <a:off x="548883" y="1595900"/>
            <a:ext cx="4084077" cy="276999"/>
          </a:xfrm>
          <a:prstGeom prst="rect">
            <a:avLst/>
          </a:prstGeom>
          <a:solidFill>
            <a:schemeClr val="tx1"/>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WEB</a:t>
            </a:r>
            <a:r>
              <a:rPr lang="ja-JP" altLang="en-US" sz="1200" dirty="0">
                <a:solidFill>
                  <a:schemeClr val="bg1"/>
                </a:solidFill>
                <a:latin typeface="メイリオ" panose="020B0604030504040204" pitchFamily="50" charset="-128"/>
                <a:ea typeface="メイリオ" panose="020B0604030504040204" pitchFamily="50" charset="-128"/>
              </a:rPr>
              <a:t>サイトステータス</a:t>
            </a:r>
            <a:endParaRPr lang="ja-JP" altLang="en-US" sz="1200" dirty="0">
              <a:solidFill>
                <a:schemeClr val="bg1"/>
              </a:solidFill>
            </a:endParaRPr>
          </a:p>
        </p:txBody>
      </p:sp>
      <p:sp>
        <p:nvSpPr>
          <p:cNvPr id="43" name="テキスト ボックス 42">
            <a:extLst>
              <a:ext uri="{FF2B5EF4-FFF2-40B4-BE49-F238E27FC236}">
                <a16:creationId xmlns:a16="http://schemas.microsoft.com/office/drawing/2014/main" id="{DF252064-AA26-BA2E-6A97-4DB09F013416}"/>
              </a:ext>
            </a:extLst>
          </p:cNvPr>
          <p:cNvSpPr txBox="1"/>
          <p:nvPr/>
        </p:nvSpPr>
        <p:spPr>
          <a:xfrm>
            <a:off x="548882" y="5699170"/>
            <a:ext cx="4084077"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rPr>
              <a:t>サイト</a:t>
            </a:r>
            <a:r>
              <a:rPr lang="en-US" altLang="ja-JP" sz="1050" dirty="0">
                <a:latin typeface="メイリオ" panose="020B0604030504040204" pitchFamily="50" charset="-128"/>
                <a:ea typeface="メイリオ" panose="020B0604030504040204" pitchFamily="50" charset="-128"/>
              </a:rPr>
              <a:t>CV</a:t>
            </a:r>
            <a:r>
              <a:rPr lang="ja-JP" altLang="en-US" sz="1050" dirty="0">
                <a:latin typeface="メイリオ" panose="020B0604030504040204" pitchFamily="50" charset="-128"/>
                <a:ea typeface="メイリオ" panose="020B0604030504040204" pitchFamily="50" charset="-128"/>
              </a:rPr>
              <a:t>としては</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電話</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と</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無料体験</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を設置。</a:t>
            </a:r>
            <a:endParaRPr lang="en-US" altLang="ja-JP" sz="1050" dirty="0">
              <a:latin typeface="メイリオ" panose="020B0604030504040204" pitchFamily="50" charset="-128"/>
              <a:ea typeface="メイリオ" panose="020B0604030504040204" pitchFamily="50" charset="-128"/>
            </a:endParaRPr>
          </a:p>
          <a:p>
            <a:pPr algn="ctr"/>
            <a:r>
              <a:rPr lang="ja-JP" altLang="en-US" sz="1050" dirty="0">
                <a:latin typeface="メイリオ" panose="020B0604030504040204" pitchFamily="50" charset="-128"/>
                <a:ea typeface="メイリオ" panose="020B0604030504040204" pitchFamily="50" charset="-128"/>
              </a:rPr>
              <a:t>検索面</a:t>
            </a:r>
            <a:r>
              <a:rPr lang="en-US" altLang="ja-JP" sz="1050" dirty="0">
                <a:latin typeface="メイリオ" panose="020B0604030504040204" pitchFamily="50" charset="-128"/>
                <a:ea typeface="メイリオ" panose="020B0604030504040204" pitchFamily="50" charset="-128"/>
              </a:rPr>
              <a:t>(SEO,AD)</a:t>
            </a:r>
            <a:r>
              <a:rPr lang="ja-JP" altLang="en-US" sz="1050" dirty="0">
                <a:latin typeface="メイリオ" panose="020B0604030504040204" pitchFamily="50" charset="-128"/>
                <a:ea typeface="メイリオ" panose="020B0604030504040204" pitchFamily="50" charset="-128"/>
              </a:rPr>
              <a:t>とディスプレイがメイン流入元。</a:t>
            </a:r>
            <a:endParaRPr lang="en-US" altLang="ja-JP" sz="1050" dirty="0">
              <a:latin typeface="メイリオ" panose="020B0604030504040204" pitchFamily="50" charset="-128"/>
              <a:ea typeface="メイリオ" panose="020B0604030504040204" pitchFamily="50" charset="-128"/>
            </a:endParaRPr>
          </a:p>
        </p:txBody>
      </p:sp>
      <p:sp>
        <p:nvSpPr>
          <p:cNvPr id="53" name="テキスト ボックス 52">
            <a:extLst>
              <a:ext uri="{FF2B5EF4-FFF2-40B4-BE49-F238E27FC236}">
                <a16:creationId xmlns:a16="http://schemas.microsoft.com/office/drawing/2014/main" id="{A9D49B02-3153-70EA-C9DA-F1F7EE54CE44}"/>
              </a:ext>
            </a:extLst>
          </p:cNvPr>
          <p:cNvSpPr txBox="1"/>
          <p:nvPr/>
        </p:nvSpPr>
        <p:spPr>
          <a:xfrm>
            <a:off x="4801043" y="5699170"/>
            <a:ext cx="4492485" cy="253916"/>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rPr>
              <a:t>現状</a:t>
            </a:r>
            <a:r>
              <a:rPr lang="en-US" altLang="ja-JP" sz="1050" dirty="0">
                <a:latin typeface="メイリオ" panose="020B0604030504040204" pitchFamily="50" charset="-128"/>
                <a:ea typeface="メイリオ" panose="020B0604030504040204" pitchFamily="50" charset="-128"/>
              </a:rPr>
              <a:t>LINE</a:t>
            </a:r>
            <a:r>
              <a:rPr lang="ja-JP" altLang="en-US" sz="1050" dirty="0">
                <a:latin typeface="メイリオ" panose="020B0604030504040204" pitchFamily="50" charset="-128"/>
                <a:ea typeface="メイリオ" panose="020B0604030504040204" pitchFamily="50" charset="-128"/>
              </a:rPr>
              <a:t>公式アカウントの保有・運用はなし。</a:t>
            </a:r>
            <a:endParaRPr lang="en-US" altLang="ja-JP" sz="1050" dirty="0">
              <a:latin typeface="メイリオ" panose="020B0604030504040204" pitchFamily="50" charset="-128"/>
              <a:ea typeface="メイリオ" panose="020B0604030504040204" pitchFamily="50" charset="-128"/>
            </a:endParaRPr>
          </a:p>
        </p:txBody>
      </p:sp>
      <p:pic>
        <p:nvPicPr>
          <p:cNvPr id="55" name="図 54">
            <a:extLst>
              <a:ext uri="{FF2B5EF4-FFF2-40B4-BE49-F238E27FC236}">
                <a16:creationId xmlns:a16="http://schemas.microsoft.com/office/drawing/2014/main" id="{A0055F99-5527-C0F0-D670-596AA96C9DB0}"/>
              </a:ext>
            </a:extLst>
          </p:cNvPr>
          <p:cNvPicPr>
            <a:picLocks noChangeAspect="1"/>
          </p:cNvPicPr>
          <p:nvPr/>
        </p:nvPicPr>
        <p:blipFill>
          <a:blip r:embed="rId3"/>
          <a:stretch>
            <a:fillRect/>
          </a:stretch>
        </p:blipFill>
        <p:spPr>
          <a:xfrm>
            <a:off x="4801043" y="2013911"/>
            <a:ext cx="1732686" cy="3519238"/>
          </a:xfrm>
          <a:prstGeom prst="rect">
            <a:avLst/>
          </a:prstGeom>
        </p:spPr>
      </p:pic>
      <p:sp>
        <p:nvSpPr>
          <p:cNvPr id="61" name="テキスト ボックス 60">
            <a:extLst>
              <a:ext uri="{FF2B5EF4-FFF2-40B4-BE49-F238E27FC236}">
                <a16:creationId xmlns:a16="http://schemas.microsoft.com/office/drawing/2014/main" id="{B2CAE599-CD63-C0C4-6166-4C1744AE2DDD}"/>
              </a:ext>
            </a:extLst>
          </p:cNvPr>
          <p:cNvSpPr txBox="1"/>
          <p:nvPr/>
        </p:nvSpPr>
        <p:spPr>
          <a:xfrm>
            <a:off x="4891820" y="2275406"/>
            <a:ext cx="1543813" cy="2862322"/>
          </a:xfrm>
          <a:prstGeom prst="rect">
            <a:avLst/>
          </a:prstGeom>
          <a:solidFill>
            <a:schemeClr val="bg1"/>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63" name="テキスト ボックス 62">
            <a:extLst>
              <a:ext uri="{FF2B5EF4-FFF2-40B4-BE49-F238E27FC236}">
                <a16:creationId xmlns:a16="http://schemas.microsoft.com/office/drawing/2014/main" id="{EB2DD2D7-F323-5565-89B7-F197B808D898}"/>
              </a:ext>
            </a:extLst>
          </p:cNvPr>
          <p:cNvSpPr txBox="1"/>
          <p:nvPr/>
        </p:nvSpPr>
        <p:spPr>
          <a:xfrm>
            <a:off x="5052929" y="3351808"/>
            <a:ext cx="1230966" cy="253916"/>
          </a:xfrm>
          <a:prstGeom prst="rect">
            <a:avLst/>
          </a:prstGeom>
          <a:solidFill>
            <a:schemeClr val="bg1">
              <a:lumMod val="95000"/>
            </a:schemeClr>
          </a:solid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rPr>
              <a:t>未保有</a:t>
            </a:r>
            <a:endParaRPr lang="en-US" altLang="ja-JP" sz="1050" b="1" dirty="0">
              <a:solidFill>
                <a:srgbClr val="FF0000"/>
              </a:solidFill>
              <a:latin typeface="メイリオ" panose="020B0604030504040204" pitchFamily="50" charset="-128"/>
              <a:ea typeface="メイリオ" panose="020B0604030504040204" pitchFamily="50" charset="-128"/>
            </a:endParaRPr>
          </a:p>
        </p:txBody>
      </p:sp>
      <p:sp>
        <p:nvSpPr>
          <p:cNvPr id="65" name="テキスト ボックス 64">
            <a:extLst>
              <a:ext uri="{FF2B5EF4-FFF2-40B4-BE49-F238E27FC236}">
                <a16:creationId xmlns:a16="http://schemas.microsoft.com/office/drawing/2014/main" id="{C742707A-0EFE-C959-2429-B7F41C6A6533}"/>
              </a:ext>
            </a:extLst>
          </p:cNvPr>
          <p:cNvSpPr txBox="1"/>
          <p:nvPr/>
        </p:nvSpPr>
        <p:spPr>
          <a:xfrm>
            <a:off x="2134777" y="201391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サイト</a:t>
            </a:r>
            <a:r>
              <a:rPr lang="en-US" altLang="ja-JP" sz="1000" dirty="0">
                <a:solidFill>
                  <a:schemeClr val="bg1"/>
                </a:solidFill>
                <a:latin typeface="メイリオ" panose="020B0604030504040204" pitchFamily="50" charset="-128"/>
                <a:ea typeface="メイリオ" panose="020B0604030504040204" pitchFamily="50" charset="-128"/>
              </a:rPr>
              <a:t>UU</a:t>
            </a:r>
          </a:p>
        </p:txBody>
      </p:sp>
      <p:sp>
        <p:nvSpPr>
          <p:cNvPr id="67" name="テキスト ボックス 66">
            <a:extLst>
              <a:ext uri="{FF2B5EF4-FFF2-40B4-BE49-F238E27FC236}">
                <a16:creationId xmlns:a16="http://schemas.microsoft.com/office/drawing/2014/main" id="{F4B640EE-F406-8C64-40BB-99B4F8666757}"/>
              </a:ext>
            </a:extLst>
          </p:cNvPr>
          <p:cNvSpPr txBox="1"/>
          <p:nvPr/>
        </p:nvSpPr>
        <p:spPr>
          <a:xfrm>
            <a:off x="2137430" y="5174170"/>
            <a:ext cx="2183307" cy="369332"/>
          </a:xfrm>
          <a:prstGeom prst="rect">
            <a:avLst/>
          </a:prstGeom>
          <a:noFill/>
        </p:spPr>
        <p:txBody>
          <a:bodyPr wrap="square">
            <a:spAutoFit/>
          </a:bodyPr>
          <a:lstStyle/>
          <a:p>
            <a:r>
              <a:rPr lang="en-US" altLang="ja-JP" sz="900" dirty="0">
                <a:solidFill>
                  <a:schemeClr val="bg1">
                    <a:lumMod val="65000"/>
                  </a:schemeClr>
                </a:solidFill>
                <a:latin typeface="メイリオ" panose="020B0604030504040204" pitchFamily="50" charset="-128"/>
                <a:ea typeface="メイリオ" panose="020B0604030504040204" pitchFamily="50" charset="-128"/>
              </a:rPr>
              <a:t>※</a:t>
            </a:r>
            <a:r>
              <a:rPr lang="ja-JP" altLang="en-US" sz="900" dirty="0">
                <a:solidFill>
                  <a:schemeClr val="bg1">
                    <a:lumMod val="65000"/>
                  </a:schemeClr>
                </a:solidFill>
                <a:latin typeface="メイリオ" panose="020B0604030504040204" pitchFamily="50" charset="-128"/>
                <a:ea typeface="メイリオ" panose="020B0604030504040204" pitchFamily="50" charset="-128"/>
              </a:rPr>
              <a:t>いずれも貴社ヒヤリング、外部計測</a:t>
            </a:r>
            <a:endParaRPr lang="en-US" altLang="ja-JP" sz="900" dirty="0">
              <a:solidFill>
                <a:schemeClr val="bg1">
                  <a:lumMod val="65000"/>
                </a:schemeClr>
              </a:solidFill>
              <a:latin typeface="メイリオ" panose="020B0604030504040204" pitchFamily="50" charset="-128"/>
              <a:ea typeface="メイリオ" panose="020B0604030504040204" pitchFamily="50" charset="-128"/>
            </a:endParaRPr>
          </a:p>
          <a:p>
            <a:r>
              <a:rPr lang="ja-JP" altLang="en-US" sz="900" dirty="0">
                <a:solidFill>
                  <a:schemeClr val="bg1">
                    <a:lumMod val="65000"/>
                  </a:schemeClr>
                </a:solidFill>
                <a:latin typeface="メイリオ" panose="020B0604030504040204" pitchFamily="50" charset="-128"/>
                <a:ea typeface="メイリオ" panose="020B0604030504040204" pitchFamily="50" charset="-128"/>
              </a:rPr>
              <a:t>　をもとにした想定数値となります。</a:t>
            </a:r>
            <a:endParaRPr lang="ja-JP" altLang="en-US" sz="1400" dirty="0">
              <a:solidFill>
                <a:schemeClr val="bg1">
                  <a:lumMod val="65000"/>
                </a:schemeClr>
              </a:solidFill>
            </a:endParaRPr>
          </a:p>
        </p:txBody>
      </p:sp>
      <p:sp>
        <p:nvSpPr>
          <p:cNvPr id="69" name="テキスト ボックス 68">
            <a:extLst>
              <a:ext uri="{FF2B5EF4-FFF2-40B4-BE49-F238E27FC236}">
                <a16:creationId xmlns:a16="http://schemas.microsoft.com/office/drawing/2014/main" id="{005CE4EC-9DAD-614D-EF21-189AC4A54B8B}"/>
              </a:ext>
            </a:extLst>
          </p:cNvPr>
          <p:cNvSpPr txBox="1"/>
          <p:nvPr/>
        </p:nvSpPr>
        <p:spPr>
          <a:xfrm>
            <a:off x="2134777" y="232993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a:t>
            </a:r>
            <a:r>
              <a:rPr lang="en-US" altLang="ja-JP" sz="1000" dirty="0">
                <a:solidFill>
                  <a:schemeClr val="bg1"/>
                </a:solidFill>
                <a:latin typeface="メイリオ" panose="020B0604030504040204" pitchFamily="50" charset="-128"/>
                <a:ea typeface="メイリオ" panose="020B0604030504040204" pitchFamily="50" charset="-128"/>
              </a:rPr>
              <a:t>UU</a:t>
            </a:r>
          </a:p>
        </p:txBody>
      </p:sp>
      <p:sp>
        <p:nvSpPr>
          <p:cNvPr id="71" name="テキスト ボックス 70">
            <a:extLst>
              <a:ext uri="{FF2B5EF4-FFF2-40B4-BE49-F238E27FC236}">
                <a16:creationId xmlns:a16="http://schemas.microsoft.com/office/drawing/2014/main" id="{E9F2E720-D964-9A60-45CD-5C6E8BAA9807}"/>
              </a:ext>
            </a:extLst>
          </p:cNvPr>
          <p:cNvSpPr txBox="1"/>
          <p:nvPr/>
        </p:nvSpPr>
        <p:spPr>
          <a:xfrm>
            <a:off x="2134777" y="264596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広告費用</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3" name="テキスト ボックス 72">
            <a:extLst>
              <a:ext uri="{FF2B5EF4-FFF2-40B4-BE49-F238E27FC236}">
                <a16:creationId xmlns:a16="http://schemas.microsoft.com/office/drawing/2014/main" id="{C569673A-D559-A164-179E-003DC44124E7}"/>
              </a:ext>
            </a:extLst>
          </p:cNvPr>
          <p:cNvSpPr txBox="1"/>
          <p:nvPr/>
        </p:nvSpPr>
        <p:spPr>
          <a:xfrm>
            <a:off x="2134777" y="4858144"/>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メイン流入元</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5" name="テキスト ボックス 74">
            <a:extLst>
              <a:ext uri="{FF2B5EF4-FFF2-40B4-BE49-F238E27FC236}">
                <a16:creationId xmlns:a16="http://schemas.microsoft.com/office/drawing/2014/main" id="{5DF15628-8396-5390-0708-F6E808EFAAFF}"/>
              </a:ext>
            </a:extLst>
          </p:cNvPr>
          <p:cNvSpPr txBox="1"/>
          <p:nvPr/>
        </p:nvSpPr>
        <p:spPr>
          <a:xfrm>
            <a:off x="2134777" y="454211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他</a:t>
            </a:r>
            <a:r>
              <a:rPr lang="en-US" altLang="ja-JP" sz="1000" dirty="0">
                <a:solidFill>
                  <a:schemeClr val="bg1"/>
                </a:solidFill>
                <a:latin typeface="メイリオ" panose="020B0604030504040204" pitchFamily="50" charset="-128"/>
                <a:ea typeface="メイリオ" panose="020B0604030504040204" pitchFamily="50" charset="-128"/>
              </a:rPr>
              <a:t>SNS</a:t>
            </a:r>
          </a:p>
        </p:txBody>
      </p:sp>
      <p:sp>
        <p:nvSpPr>
          <p:cNvPr id="76" name="テキスト ボックス 75">
            <a:extLst>
              <a:ext uri="{FF2B5EF4-FFF2-40B4-BE49-F238E27FC236}">
                <a16:creationId xmlns:a16="http://schemas.microsoft.com/office/drawing/2014/main" id="{4C5B2CB3-9726-166D-3753-A503CCEF0A26}"/>
              </a:ext>
            </a:extLst>
          </p:cNvPr>
          <p:cNvSpPr txBox="1"/>
          <p:nvPr/>
        </p:nvSpPr>
        <p:spPr>
          <a:xfrm>
            <a:off x="2134777" y="422609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リード保有数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8" name="テキスト ボックス 77">
            <a:extLst>
              <a:ext uri="{FF2B5EF4-FFF2-40B4-BE49-F238E27FC236}">
                <a16:creationId xmlns:a16="http://schemas.microsoft.com/office/drawing/2014/main" id="{DC4812CB-3D04-2C5B-A271-41DFEDCAB4C8}"/>
              </a:ext>
            </a:extLst>
          </p:cNvPr>
          <p:cNvSpPr txBox="1"/>
          <p:nvPr/>
        </p:nvSpPr>
        <p:spPr>
          <a:xfrm>
            <a:off x="2134777" y="296198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月間</a:t>
            </a:r>
            <a:r>
              <a:rPr lang="en-US" altLang="ja-JP" sz="1000" dirty="0">
                <a:solidFill>
                  <a:schemeClr val="bg1"/>
                </a:solidFill>
                <a:latin typeface="メイリオ" panose="020B0604030504040204" pitchFamily="50" charset="-128"/>
                <a:ea typeface="メイリオ" panose="020B0604030504040204" pitchFamily="50" charset="-128"/>
              </a:rPr>
              <a:t>CV</a:t>
            </a:r>
            <a:r>
              <a:rPr lang="ja-JP" altLang="en-US" sz="1000" dirty="0">
                <a:solidFill>
                  <a:schemeClr val="bg1"/>
                </a:solidFill>
                <a:latin typeface="メイリオ" panose="020B0604030504040204" pitchFamily="50" charset="-128"/>
                <a:ea typeface="メイリオ" panose="020B0604030504040204" pitchFamily="50" charset="-128"/>
              </a:rPr>
              <a:t>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0482930D-56AE-298D-A6EB-FFBDE40ECC00}"/>
              </a:ext>
            </a:extLst>
          </p:cNvPr>
          <p:cNvSpPr txBox="1"/>
          <p:nvPr/>
        </p:nvSpPr>
        <p:spPr>
          <a:xfrm>
            <a:off x="2134777" y="3278014"/>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CV</a:t>
            </a:r>
            <a:r>
              <a:rPr lang="ja-JP" altLang="en-US" sz="1000" dirty="0">
                <a:solidFill>
                  <a:schemeClr val="bg1"/>
                </a:solidFill>
                <a:latin typeface="メイリオ" panose="020B0604030504040204" pitchFamily="50" charset="-128"/>
                <a:ea typeface="メイリオ" panose="020B0604030504040204" pitchFamily="50" charset="-128"/>
              </a:rPr>
              <a:t>地点</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2" name="テキスト ボックス 81">
            <a:extLst>
              <a:ext uri="{FF2B5EF4-FFF2-40B4-BE49-F238E27FC236}">
                <a16:creationId xmlns:a16="http://schemas.microsoft.com/office/drawing/2014/main" id="{3C4E2BA0-63A7-25D9-1A97-5C69DFD79C77}"/>
              </a:ext>
            </a:extLst>
          </p:cNvPr>
          <p:cNvSpPr txBox="1"/>
          <p:nvPr/>
        </p:nvSpPr>
        <p:spPr>
          <a:xfrm>
            <a:off x="2134777" y="3594040"/>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LINE</a:t>
            </a:r>
            <a:r>
              <a:rPr lang="ja-JP" altLang="en-US" sz="1000" dirty="0">
                <a:solidFill>
                  <a:schemeClr val="bg1"/>
                </a:solidFill>
                <a:latin typeface="メイリオ" panose="020B0604030504040204" pitchFamily="50" charset="-128"/>
                <a:ea typeface="メイリオ" panose="020B0604030504040204" pitchFamily="50" charset="-128"/>
              </a:rPr>
              <a:t>動線</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4" name="テキスト ボックス 83">
            <a:extLst>
              <a:ext uri="{FF2B5EF4-FFF2-40B4-BE49-F238E27FC236}">
                <a16:creationId xmlns:a16="http://schemas.microsoft.com/office/drawing/2014/main" id="{7302A54D-423F-C71A-CF81-E2452E967C73}"/>
              </a:ext>
            </a:extLst>
          </p:cNvPr>
          <p:cNvSpPr txBox="1"/>
          <p:nvPr/>
        </p:nvSpPr>
        <p:spPr>
          <a:xfrm>
            <a:off x="2134777" y="3910066"/>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広告余地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6" name="テキスト ボックス 85">
            <a:extLst>
              <a:ext uri="{FF2B5EF4-FFF2-40B4-BE49-F238E27FC236}">
                <a16:creationId xmlns:a16="http://schemas.microsoft.com/office/drawing/2014/main" id="{EE72F3BF-6AE9-F7CC-CE6A-1536B8F8A660}"/>
              </a:ext>
            </a:extLst>
          </p:cNvPr>
          <p:cNvSpPr txBox="1"/>
          <p:nvPr/>
        </p:nvSpPr>
        <p:spPr>
          <a:xfrm>
            <a:off x="6624506" y="2019331"/>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友だち数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8" name="テキスト ボックス 87">
            <a:extLst>
              <a:ext uri="{FF2B5EF4-FFF2-40B4-BE49-F238E27FC236}">
                <a16:creationId xmlns:a16="http://schemas.microsoft.com/office/drawing/2014/main" id="{01CD0233-3F13-52A2-0BD2-A107006D060A}"/>
              </a:ext>
            </a:extLst>
          </p:cNvPr>
          <p:cNvSpPr txBox="1"/>
          <p:nvPr/>
        </p:nvSpPr>
        <p:spPr>
          <a:xfrm>
            <a:off x="6624506" y="233535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アクティブ数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0" name="テキスト ボックス 89">
            <a:extLst>
              <a:ext uri="{FF2B5EF4-FFF2-40B4-BE49-F238E27FC236}">
                <a16:creationId xmlns:a16="http://schemas.microsoft.com/office/drawing/2014/main" id="{E7B4DAA3-597E-9850-4FC5-7AEEE3895876}"/>
              </a:ext>
            </a:extLst>
          </p:cNvPr>
          <p:cNvSpPr txBox="1"/>
          <p:nvPr/>
        </p:nvSpPr>
        <p:spPr>
          <a:xfrm>
            <a:off x="6624506" y="2651383"/>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ブロック率</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2" name="テキスト ボックス 91">
            <a:extLst>
              <a:ext uri="{FF2B5EF4-FFF2-40B4-BE49-F238E27FC236}">
                <a16:creationId xmlns:a16="http://schemas.microsoft.com/office/drawing/2014/main" id="{88937895-903D-2714-B911-64B989A6665C}"/>
              </a:ext>
            </a:extLst>
          </p:cNvPr>
          <p:cNvSpPr txBox="1"/>
          <p:nvPr/>
        </p:nvSpPr>
        <p:spPr>
          <a:xfrm>
            <a:off x="6624506" y="4863565"/>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C4822FE9-074B-EE00-9A49-F386569EF4E6}"/>
              </a:ext>
            </a:extLst>
          </p:cNvPr>
          <p:cNvSpPr txBox="1"/>
          <p:nvPr/>
        </p:nvSpPr>
        <p:spPr>
          <a:xfrm>
            <a:off x="6624506" y="4547539"/>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ツール</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6" name="テキスト ボックス 95">
            <a:extLst>
              <a:ext uri="{FF2B5EF4-FFF2-40B4-BE49-F238E27FC236}">
                <a16:creationId xmlns:a16="http://schemas.microsoft.com/office/drawing/2014/main" id="{E79733FB-6A51-DF26-D629-AE6F7073025B}"/>
              </a:ext>
            </a:extLst>
          </p:cNvPr>
          <p:cNvSpPr txBox="1"/>
          <p:nvPr/>
        </p:nvSpPr>
        <p:spPr>
          <a:xfrm>
            <a:off x="6624506" y="4231513"/>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想定コスト</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8" name="テキスト ボックス 97">
            <a:extLst>
              <a:ext uri="{FF2B5EF4-FFF2-40B4-BE49-F238E27FC236}">
                <a16:creationId xmlns:a16="http://schemas.microsoft.com/office/drawing/2014/main" id="{0B4493A0-88F0-89E9-9CBF-885AEEBFF9AC}"/>
              </a:ext>
            </a:extLst>
          </p:cNvPr>
          <p:cNvSpPr txBox="1"/>
          <p:nvPr/>
        </p:nvSpPr>
        <p:spPr>
          <a:xfrm>
            <a:off x="6624506" y="2967409"/>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月間投稿数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0" name="テキスト ボックス 99">
            <a:extLst>
              <a:ext uri="{FF2B5EF4-FFF2-40B4-BE49-F238E27FC236}">
                <a16:creationId xmlns:a16="http://schemas.microsoft.com/office/drawing/2014/main" id="{EE73B576-3B41-B994-1FCA-9ED3BC1A3172}"/>
              </a:ext>
            </a:extLst>
          </p:cNvPr>
          <p:cNvSpPr txBox="1"/>
          <p:nvPr/>
        </p:nvSpPr>
        <p:spPr>
          <a:xfrm>
            <a:off x="6624506" y="3283435"/>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ステップ実施</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2" name="テキスト ボックス 101">
            <a:extLst>
              <a:ext uri="{FF2B5EF4-FFF2-40B4-BE49-F238E27FC236}">
                <a16:creationId xmlns:a16="http://schemas.microsoft.com/office/drawing/2014/main" id="{F2C9EB15-683C-4B0A-1EE1-C4245240F17A}"/>
              </a:ext>
            </a:extLst>
          </p:cNvPr>
          <p:cNvSpPr txBox="1"/>
          <p:nvPr/>
        </p:nvSpPr>
        <p:spPr>
          <a:xfrm>
            <a:off x="6624506" y="3599461"/>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アンケート実施</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4" name="テキスト ボックス 103">
            <a:extLst>
              <a:ext uri="{FF2B5EF4-FFF2-40B4-BE49-F238E27FC236}">
                <a16:creationId xmlns:a16="http://schemas.microsoft.com/office/drawing/2014/main" id="{AABDA6DE-2BAF-ADF7-0424-50D388AC01E5}"/>
              </a:ext>
            </a:extLst>
          </p:cNvPr>
          <p:cNvSpPr txBox="1"/>
          <p:nvPr/>
        </p:nvSpPr>
        <p:spPr>
          <a:xfrm>
            <a:off x="6624506" y="391548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プロフ動線</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6" name="テキスト ボックス 105">
            <a:extLst>
              <a:ext uri="{FF2B5EF4-FFF2-40B4-BE49-F238E27FC236}">
                <a16:creationId xmlns:a16="http://schemas.microsoft.com/office/drawing/2014/main" id="{6C91CF70-D90C-4141-8B26-5B1DD07D7D1D}"/>
              </a:ext>
            </a:extLst>
          </p:cNvPr>
          <p:cNvSpPr txBox="1"/>
          <p:nvPr/>
        </p:nvSpPr>
        <p:spPr>
          <a:xfrm>
            <a:off x="3229084" y="2019331"/>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rPr>
              <a:t>17,607</a:t>
            </a:r>
          </a:p>
        </p:txBody>
      </p:sp>
      <p:sp>
        <p:nvSpPr>
          <p:cNvPr id="108" name="テキスト ボックス 107">
            <a:extLst>
              <a:ext uri="{FF2B5EF4-FFF2-40B4-BE49-F238E27FC236}">
                <a16:creationId xmlns:a16="http://schemas.microsoft.com/office/drawing/2014/main" id="{2786C9AD-9375-AA46-5333-046CCBB18FE2}"/>
              </a:ext>
            </a:extLst>
          </p:cNvPr>
          <p:cNvSpPr txBox="1"/>
          <p:nvPr/>
        </p:nvSpPr>
        <p:spPr>
          <a:xfrm>
            <a:off x="3229084" y="2339204"/>
            <a:ext cx="1360330" cy="246221"/>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rPr>
              <a:t>7,000</a:t>
            </a:r>
            <a:endParaRPr lang="en-US" altLang="ja-JP" sz="700" b="1" dirty="0">
              <a:latin typeface="メイリオ" panose="020B0604030504040204" pitchFamily="50" charset="-128"/>
              <a:ea typeface="メイリオ" panose="020B0604030504040204" pitchFamily="50" charset="-128"/>
            </a:endParaRPr>
          </a:p>
        </p:txBody>
      </p:sp>
      <p:sp>
        <p:nvSpPr>
          <p:cNvPr id="110" name="テキスト ボックス 109">
            <a:extLst>
              <a:ext uri="{FF2B5EF4-FFF2-40B4-BE49-F238E27FC236}">
                <a16:creationId xmlns:a16="http://schemas.microsoft.com/office/drawing/2014/main" id="{813069E4-69E1-66A2-90C2-822AF2276F64}"/>
              </a:ext>
            </a:extLst>
          </p:cNvPr>
          <p:cNvSpPr txBox="1"/>
          <p:nvPr/>
        </p:nvSpPr>
        <p:spPr>
          <a:xfrm>
            <a:off x="3229084" y="2651383"/>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2" name="テキスト ボックス 111">
            <a:extLst>
              <a:ext uri="{FF2B5EF4-FFF2-40B4-BE49-F238E27FC236}">
                <a16:creationId xmlns:a16="http://schemas.microsoft.com/office/drawing/2014/main" id="{9864CA39-A311-2EB8-804E-4F1BBDF74575}"/>
              </a:ext>
            </a:extLst>
          </p:cNvPr>
          <p:cNvSpPr txBox="1"/>
          <p:nvPr/>
        </p:nvSpPr>
        <p:spPr>
          <a:xfrm>
            <a:off x="3229084" y="4863565"/>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オーガニック</a:t>
            </a:r>
            <a:endParaRPr lang="en-US" altLang="ja-JP" sz="1000" b="1" dirty="0">
              <a:latin typeface="メイリオ" panose="020B0604030504040204" pitchFamily="50" charset="-128"/>
              <a:ea typeface="メイリオ" panose="020B0604030504040204" pitchFamily="50" charset="-128"/>
            </a:endParaRPr>
          </a:p>
        </p:txBody>
      </p:sp>
      <p:sp>
        <p:nvSpPr>
          <p:cNvPr id="114" name="テキスト ボックス 113">
            <a:extLst>
              <a:ext uri="{FF2B5EF4-FFF2-40B4-BE49-F238E27FC236}">
                <a16:creationId xmlns:a16="http://schemas.microsoft.com/office/drawing/2014/main" id="{EDFB7A90-75B8-B37D-145F-272542CA021E}"/>
              </a:ext>
            </a:extLst>
          </p:cNvPr>
          <p:cNvSpPr txBox="1"/>
          <p:nvPr/>
        </p:nvSpPr>
        <p:spPr>
          <a:xfrm>
            <a:off x="3229084" y="4551386"/>
            <a:ext cx="1360330" cy="246221"/>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6" name="テキスト ボックス 115">
            <a:extLst>
              <a:ext uri="{FF2B5EF4-FFF2-40B4-BE49-F238E27FC236}">
                <a16:creationId xmlns:a16="http://schemas.microsoft.com/office/drawing/2014/main" id="{EFFD1CA4-9630-0E9F-4C5E-ED52F6370CB1}"/>
              </a:ext>
            </a:extLst>
          </p:cNvPr>
          <p:cNvSpPr txBox="1"/>
          <p:nvPr/>
        </p:nvSpPr>
        <p:spPr>
          <a:xfrm>
            <a:off x="3229084" y="4231513"/>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8" name="テキスト ボックス 117">
            <a:extLst>
              <a:ext uri="{FF2B5EF4-FFF2-40B4-BE49-F238E27FC236}">
                <a16:creationId xmlns:a16="http://schemas.microsoft.com/office/drawing/2014/main" id="{550EE59A-47D1-9367-09B0-1A6F7E0AE0E3}"/>
              </a:ext>
            </a:extLst>
          </p:cNvPr>
          <p:cNvSpPr txBox="1"/>
          <p:nvPr/>
        </p:nvSpPr>
        <p:spPr>
          <a:xfrm>
            <a:off x="3229084" y="2967409"/>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20" name="テキスト ボックス 119">
            <a:extLst>
              <a:ext uri="{FF2B5EF4-FFF2-40B4-BE49-F238E27FC236}">
                <a16:creationId xmlns:a16="http://schemas.microsoft.com/office/drawing/2014/main" id="{23698D91-4F04-ED85-ACCD-AD4A9AC48A1B}"/>
              </a:ext>
            </a:extLst>
          </p:cNvPr>
          <p:cNvSpPr txBox="1"/>
          <p:nvPr/>
        </p:nvSpPr>
        <p:spPr>
          <a:xfrm>
            <a:off x="3229084" y="3283435"/>
            <a:ext cx="1360330" cy="246221"/>
          </a:xfrm>
          <a:prstGeom prst="rect">
            <a:avLst/>
          </a:prstGeom>
          <a:solidFill>
            <a:schemeClr val="bg1">
              <a:lumMod val="95000"/>
            </a:schemeClr>
          </a:solidFill>
        </p:spPr>
        <p:txBody>
          <a:bodyPr wrap="square" anchor="ctr">
            <a:spAutoFit/>
          </a:bodyPr>
          <a:lstStyle/>
          <a:p>
            <a:pPr algn="ctr"/>
            <a:r>
              <a:rPr lang="ja-JP" altLang="en-US" sz="1000" b="1" dirty="0">
                <a:solidFill>
                  <a:srgbClr val="FF0000"/>
                </a:solidFill>
                <a:latin typeface="メイリオ" panose="020B0604030504040204" pitchFamily="50" charset="-128"/>
                <a:ea typeface="メイリオ" panose="020B0604030504040204" pitchFamily="50" charset="-128"/>
              </a:rPr>
              <a:t>無料体験</a:t>
            </a:r>
            <a:endParaRPr lang="en-US" altLang="ja-JP" sz="1000" b="1" dirty="0">
              <a:solidFill>
                <a:srgbClr val="FF0000"/>
              </a:solidFill>
              <a:latin typeface="メイリオ" panose="020B0604030504040204" pitchFamily="50" charset="-128"/>
              <a:ea typeface="メイリオ" panose="020B0604030504040204" pitchFamily="50" charset="-128"/>
            </a:endParaRPr>
          </a:p>
        </p:txBody>
      </p:sp>
      <p:sp>
        <p:nvSpPr>
          <p:cNvPr id="122" name="テキスト ボックス 121">
            <a:extLst>
              <a:ext uri="{FF2B5EF4-FFF2-40B4-BE49-F238E27FC236}">
                <a16:creationId xmlns:a16="http://schemas.microsoft.com/office/drawing/2014/main" id="{5E8D7F39-4F6F-4AF2-4196-C2EA1FC38898}"/>
              </a:ext>
            </a:extLst>
          </p:cNvPr>
          <p:cNvSpPr txBox="1"/>
          <p:nvPr/>
        </p:nvSpPr>
        <p:spPr>
          <a:xfrm>
            <a:off x="3229084" y="3599461"/>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未設定</a:t>
            </a:r>
            <a:endParaRPr lang="en-US" altLang="ja-JP" sz="1000" b="1" dirty="0">
              <a:latin typeface="メイリオ" panose="020B0604030504040204" pitchFamily="50" charset="-128"/>
              <a:ea typeface="メイリオ" panose="020B0604030504040204" pitchFamily="50" charset="-128"/>
            </a:endParaRPr>
          </a:p>
        </p:txBody>
      </p:sp>
      <p:sp>
        <p:nvSpPr>
          <p:cNvPr id="124" name="テキスト ボックス 123">
            <a:extLst>
              <a:ext uri="{FF2B5EF4-FFF2-40B4-BE49-F238E27FC236}">
                <a16:creationId xmlns:a16="http://schemas.microsoft.com/office/drawing/2014/main" id="{D32F8AF1-295B-DEF7-DF39-7ADF991996BA}"/>
              </a:ext>
            </a:extLst>
          </p:cNvPr>
          <p:cNvSpPr txBox="1"/>
          <p:nvPr/>
        </p:nvSpPr>
        <p:spPr>
          <a:xfrm>
            <a:off x="3229084" y="3915487"/>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有</a:t>
            </a:r>
            <a:endParaRPr lang="en-US" altLang="ja-JP" sz="1000" b="1" dirty="0">
              <a:latin typeface="メイリオ" panose="020B0604030504040204" pitchFamily="50" charset="-128"/>
              <a:ea typeface="メイリオ" panose="020B0604030504040204" pitchFamily="50" charset="-128"/>
            </a:endParaRPr>
          </a:p>
        </p:txBody>
      </p:sp>
      <p:sp>
        <p:nvSpPr>
          <p:cNvPr id="169" name="テキスト ボックス 168">
            <a:extLst>
              <a:ext uri="{FF2B5EF4-FFF2-40B4-BE49-F238E27FC236}">
                <a16:creationId xmlns:a16="http://schemas.microsoft.com/office/drawing/2014/main" id="{7D910DD2-60FF-DE1D-244F-84DABD92D62C}"/>
              </a:ext>
            </a:extLst>
          </p:cNvPr>
          <p:cNvSpPr txBox="1"/>
          <p:nvPr/>
        </p:nvSpPr>
        <p:spPr>
          <a:xfrm>
            <a:off x="6624505" y="5184313"/>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a:t>
            </a:r>
          </a:p>
        </p:txBody>
      </p:sp>
      <p:sp>
        <p:nvSpPr>
          <p:cNvPr id="171" name="テキスト ボックス 170">
            <a:extLst>
              <a:ext uri="{FF2B5EF4-FFF2-40B4-BE49-F238E27FC236}">
                <a16:creationId xmlns:a16="http://schemas.microsoft.com/office/drawing/2014/main" id="{C08B973B-E807-9696-E35D-A7AFE85B05D4}"/>
              </a:ext>
            </a:extLst>
          </p:cNvPr>
          <p:cNvSpPr txBox="1"/>
          <p:nvPr/>
        </p:nvSpPr>
        <p:spPr>
          <a:xfrm>
            <a:off x="7754601" y="202149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3" name="テキスト ボックス 172">
            <a:extLst>
              <a:ext uri="{FF2B5EF4-FFF2-40B4-BE49-F238E27FC236}">
                <a16:creationId xmlns:a16="http://schemas.microsoft.com/office/drawing/2014/main" id="{20E8600C-74F6-D8CE-13DD-E436F6712689}"/>
              </a:ext>
            </a:extLst>
          </p:cNvPr>
          <p:cNvSpPr txBox="1"/>
          <p:nvPr/>
        </p:nvSpPr>
        <p:spPr>
          <a:xfrm>
            <a:off x="7754601" y="233751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5" name="テキスト ボックス 174">
            <a:extLst>
              <a:ext uri="{FF2B5EF4-FFF2-40B4-BE49-F238E27FC236}">
                <a16:creationId xmlns:a16="http://schemas.microsoft.com/office/drawing/2014/main" id="{A09F1BA2-66AE-1801-55BA-97DAABCF1F8A}"/>
              </a:ext>
            </a:extLst>
          </p:cNvPr>
          <p:cNvSpPr txBox="1"/>
          <p:nvPr/>
        </p:nvSpPr>
        <p:spPr>
          <a:xfrm>
            <a:off x="7754601" y="265354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7" name="テキスト ボックス 176">
            <a:extLst>
              <a:ext uri="{FF2B5EF4-FFF2-40B4-BE49-F238E27FC236}">
                <a16:creationId xmlns:a16="http://schemas.microsoft.com/office/drawing/2014/main" id="{14E58E5E-2D77-90E6-91E8-9955CA80F448}"/>
              </a:ext>
            </a:extLst>
          </p:cNvPr>
          <p:cNvSpPr txBox="1"/>
          <p:nvPr/>
        </p:nvSpPr>
        <p:spPr>
          <a:xfrm>
            <a:off x="7754601" y="4865724"/>
            <a:ext cx="1493286" cy="253916"/>
          </a:xfrm>
          <a:prstGeom prst="rect">
            <a:avLst/>
          </a:prstGeom>
          <a:solidFill>
            <a:schemeClr val="bg1">
              <a:lumMod val="95000"/>
            </a:schemeClr>
          </a:solidFill>
        </p:spPr>
        <p:txBody>
          <a:bodyPr wrap="square">
            <a:spAutoFit/>
          </a:bodyPr>
          <a:lstStyle/>
          <a:p>
            <a:pPr algn="ctr"/>
            <a:r>
              <a:rPr lang="en-US" altLang="ja-JP" sz="1000" dirty="0">
                <a:latin typeface="メイリオ" panose="020B0604030504040204" pitchFamily="50" charset="-128"/>
                <a:ea typeface="メイリオ" panose="020B0604030504040204" pitchFamily="50" charset="-128"/>
              </a:rPr>
              <a:t>※</a:t>
            </a:r>
          </a:p>
        </p:txBody>
      </p:sp>
      <p:sp>
        <p:nvSpPr>
          <p:cNvPr id="179" name="テキスト ボックス 178">
            <a:extLst>
              <a:ext uri="{FF2B5EF4-FFF2-40B4-BE49-F238E27FC236}">
                <a16:creationId xmlns:a16="http://schemas.microsoft.com/office/drawing/2014/main" id="{6C59D28E-FF8E-2297-95D2-CE45250AC0A3}"/>
              </a:ext>
            </a:extLst>
          </p:cNvPr>
          <p:cNvSpPr txBox="1"/>
          <p:nvPr/>
        </p:nvSpPr>
        <p:spPr>
          <a:xfrm>
            <a:off x="7754601" y="454969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1" name="テキスト ボックス 180">
            <a:extLst>
              <a:ext uri="{FF2B5EF4-FFF2-40B4-BE49-F238E27FC236}">
                <a16:creationId xmlns:a16="http://schemas.microsoft.com/office/drawing/2014/main" id="{47410AFA-018D-A9C2-B086-8AF69BAA4489}"/>
              </a:ext>
            </a:extLst>
          </p:cNvPr>
          <p:cNvSpPr txBox="1"/>
          <p:nvPr/>
        </p:nvSpPr>
        <p:spPr>
          <a:xfrm>
            <a:off x="7754601" y="423367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3" name="テキスト ボックス 182">
            <a:extLst>
              <a:ext uri="{FF2B5EF4-FFF2-40B4-BE49-F238E27FC236}">
                <a16:creationId xmlns:a16="http://schemas.microsoft.com/office/drawing/2014/main" id="{165EBB6B-ADB3-3E8C-14D2-AB834625C2FE}"/>
              </a:ext>
            </a:extLst>
          </p:cNvPr>
          <p:cNvSpPr txBox="1"/>
          <p:nvPr/>
        </p:nvSpPr>
        <p:spPr>
          <a:xfrm>
            <a:off x="7754601" y="296956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5" name="テキスト ボックス 184">
            <a:extLst>
              <a:ext uri="{FF2B5EF4-FFF2-40B4-BE49-F238E27FC236}">
                <a16:creationId xmlns:a16="http://schemas.microsoft.com/office/drawing/2014/main" id="{3A3BFABF-D395-60F7-F2BD-02619745DF45}"/>
              </a:ext>
            </a:extLst>
          </p:cNvPr>
          <p:cNvSpPr txBox="1"/>
          <p:nvPr/>
        </p:nvSpPr>
        <p:spPr>
          <a:xfrm>
            <a:off x="7754601" y="3285594"/>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7" name="テキスト ボックス 186">
            <a:extLst>
              <a:ext uri="{FF2B5EF4-FFF2-40B4-BE49-F238E27FC236}">
                <a16:creationId xmlns:a16="http://schemas.microsoft.com/office/drawing/2014/main" id="{231C25BF-5B10-E199-7FC9-7E0D6694588F}"/>
              </a:ext>
            </a:extLst>
          </p:cNvPr>
          <p:cNvSpPr txBox="1"/>
          <p:nvPr/>
        </p:nvSpPr>
        <p:spPr>
          <a:xfrm>
            <a:off x="7754601" y="360162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9" name="テキスト ボックス 188">
            <a:extLst>
              <a:ext uri="{FF2B5EF4-FFF2-40B4-BE49-F238E27FC236}">
                <a16:creationId xmlns:a16="http://schemas.microsoft.com/office/drawing/2014/main" id="{CDB65BA8-4992-8A6F-6949-F0D9E6297210}"/>
              </a:ext>
            </a:extLst>
          </p:cNvPr>
          <p:cNvSpPr txBox="1"/>
          <p:nvPr/>
        </p:nvSpPr>
        <p:spPr>
          <a:xfrm>
            <a:off x="7754601" y="391764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91" name="テキスト ボックス 190">
            <a:extLst>
              <a:ext uri="{FF2B5EF4-FFF2-40B4-BE49-F238E27FC236}">
                <a16:creationId xmlns:a16="http://schemas.microsoft.com/office/drawing/2014/main" id="{18879675-133C-898A-AB5B-286927352D72}"/>
              </a:ext>
            </a:extLst>
          </p:cNvPr>
          <p:cNvSpPr txBox="1"/>
          <p:nvPr/>
        </p:nvSpPr>
        <p:spPr>
          <a:xfrm>
            <a:off x="7754600" y="5186472"/>
            <a:ext cx="1493286" cy="253916"/>
          </a:xfrm>
          <a:prstGeom prst="rect">
            <a:avLst/>
          </a:prstGeom>
          <a:solidFill>
            <a:schemeClr val="bg1">
              <a:lumMod val="95000"/>
            </a:schemeClr>
          </a:solidFill>
        </p:spPr>
        <p:txBody>
          <a:bodyPr wrap="square">
            <a:spAutoFit/>
          </a:bodyPr>
          <a:lstStyle/>
          <a:p>
            <a:pPr algn="ctr"/>
            <a:r>
              <a:rPr lang="en-US" altLang="ja-JP" sz="1000" dirty="0">
                <a:latin typeface="メイリオ" panose="020B0604030504040204" pitchFamily="50" charset="-128"/>
                <a:ea typeface="メイリオ" panose="020B0604030504040204" pitchFamily="50" charset="-128"/>
              </a:rPr>
              <a:t>※</a:t>
            </a:r>
          </a:p>
        </p:txBody>
      </p:sp>
      <p:sp>
        <p:nvSpPr>
          <p:cNvPr id="13" name="テキスト ボックス 12">
            <a:extLst>
              <a:ext uri="{FF2B5EF4-FFF2-40B4-BE49-F238E27FC236}">
                <a16:creationId xmlns:a16="http://schemas.microsoft.com/office/drawing/2014/main" id="{780FE50C-6BE9-89A2-9A39-FEB38C461055}"/>
              </a:ext>
            </a:extLst>
          </p:cNvPr>
          <p:cNvSpPr txBox="1"/>
          <p:nvPr/>
        </p:nvSpPr>
        <p:spPr>
          <a:xfrm>
            <a:off x="605520" y="806419"/>
            <a:ext cx="8797260" cy="461665"/>
          </a:xfrm>
          <a:prstGeom prst="rect">
            <a:avLst/>
          </a:prstGeom>
          <a:noFill/>
        </p:spPr>
        <p:txBody>
          <a:bodyPr wrap="square">
            <a:spAutoFit/>
          </a:bodyPr>
          <a:lstStyle/>
          <a:p>
            <a:pPr algn="ct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サイト流入数は安定していそうだが、</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AD</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で</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3%</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、通常で</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0.7%</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前後の体験申込</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CVR</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が参考数値、</a:t>
            </a:r>
            <a:endParaRPr lang="en-US" altLang="ja-JP" sz="1200"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更に</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施策を導入していくことで、</a:t>
            </a:r>
            <a:r>
              <a:rPr lang="ja-JP" altLang="en-US" sz="1200" b="1" dirty="0">
                <a:solidFill>
                  <a:srgbClr val="FF0000"/>
                </a:solidFill>
                <a:latin typeface="Meiryo" panose="020B0604030504040204" pitchFamily="34" charset="-128"/>
                <a:ea typeface="Meiryo" panose="020B0604030504040204" pitchFamily="34" charset="-128"/>
              </a:rPr>
              <a:t>離脱アクションの削減 </a:t>
            </a:r>
            <a:r>
              <a:rPr lang="en-US" altLang="ja-JP" sz="1200" b="1" dirty="0">
                <a:solidFill>
                  <a:srgbClr val="FF0000"/>
                </a:solidFill>
                <a:latin typeface="Meiryo" panose="020B0604030504040204" pitchFamily="34" charset="-128"/>
                <a:ea typeface="Meiryo" panose="020B0604030504040204" pitchFamily="34" charset="-128"/>
              </a:rPr>
              <a:t>/ </a:t>
            </a:r>
            <a:r>
              <a:rPr lang="ja-JP" altLang="en-US" sz="1200" b="1" dirty="0">
                <a:solidFill>
                  <a:srgbClr val="FF0000"/>
                </a:solidFill>
                <a:latin typeface="Meiryo" panose="020B0604030504040204" pitchFamily="34" charset="-128"/>
                <a:ea typeface="Meiryo" panose="020B0604030504040204" pitchFamily="34" charset="-128"/>
              </a:rPr>
              <a:t>引上げの増加 を図って</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いく。</a:t>
            </a:r>
            <a:endParaRPr lang="ja-JP" altLang="en-US" sz="1400" dirty="0"/>
          </a:p>
        </p:txBody>
      </p:sp>
      <p:pic>
        <p:nvPicPr>
          <p:cNvPr id="11" name="図 10">
            <a:extLst>
              <a:ext uri="{FF2B5EF4-FFF2-40B4-BE49-F238E27FC236}">
                <a16:creationId xmlns:a16="http://schemas.microsoft.com/office/drawing/2014/main" id="{CF50BD48-FC75-6DA2-1A57-02F2D17728F6}"/>
              </a:ext>
            </a:extLst>
          </p:cNvPr>
          <p:cNvPicPr>
            <a:picLocks noChangeAspect="1"/>
          </p:cNvPicPr>
          <p:nvPr/>
        </p:nvPicPr>
        <p:blipFill>
          <a:blip r:embed="rId4"/>
          <a:stretch>
            <a:fillRect/>
          </a:stretch>
        </p:blipFill>
        <p:spPr>
          <a:xfrm>
            <a:off x="495219" y="2017307"/>
            <a:ext cx="1575169" cy="3199306"/>
          </a:xfrm>
          <a:prstGeom prst="rect">
            <a:avLst/>
          </a:prstGeom>
        </p:spPr>
      </p:pic>
      <p:sp>
        <p:nvSpPr>
          <p:cNvPr id="15" name="テキスト ボックス 14">
            <a:extLst>
              <a:ext uri="{FF2B5EF4-FFF2-40B4-BE49-F238E27FC236}">
                <a16:creationId xmlns:a16="http://schemas.microsoft.com/office/drawing/2014/main" id="{721AAE50-63B8-A073-1228-D24794D0EE6B}"/>
              </a:ext>
            </a:extLst>
          </p:cNvPr>
          <p:cNvSpPr txBox="1"/>
          <p:nvPr/>
        </p:nvSpPr>
        <p:spPr>
          <a:xfrm>
            <a:off x="6578863" y="196532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FD3AAEC4-2DF3-24CA-07F4-78FF480D3C0B}"/>
              </a:ext>
            </a:extLst>
          </p:cNvPr>
          <p:cNvSpPr txBox="1"/>
          <p:nvPr/>
        </p:nvSpPr>
        <p:spPr>
          <a:xfrm>
            <a:off x="6578862" y="196532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19" name="テキスト ボックス 18">
            <a:extLst>
              <a:ext uri="{FF2B5EF4-FFF2-40B4-BE49-F238E27FC236}">
                <a16:creationId xmlns:a16="http://schemas.microsoft.com/office/drawing/2014/main" id="{1D9925E0-24D6-764D-FC59-198A43FE162D}"/>
              </a:ext>
            </a:extLst>
          </p:cNvPr>
          <p:cNvSpPr txBox="1"/>
          <p:nvPr/>
        </p:nvSpPr>
        <p:spPr>
          <a:xfrm>
            <a:off x="6596742" y="194900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3784845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5850E5-D5A1-CFDF-111D-4022C3ACFF30}"/>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E31A894-E8DC-C040-E38B-038A8EF528E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AD68C335-D806-837C-26CA-E0BD169C64B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9F2C0452-B9E6-F1EE-DD53-83755CCCC880}"/>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0AD2E002-BC79-F49E-26BC-844143DB1CB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現状把握</a:t>
            </a:r>
            <a:r>
              <a:rPr lang="en-US" altLang="ja-JP" sz="1600" b="1" dirty="0">
                <a:solidFill>
                  <a:srgbClr val="002060"/>
                </a:solidFill>
                <a:latin typeface="Meiryo"/>
                <a:ea typeface="Meiryo"/>
                <a:cs typeface="Meiryo"/>
                <a:sym typeface="Meiryo"/>
              </a:rPr>
              <a:t>【</a:t>
            </a:r>
            <a:r>
              <a:rPr lang="ja-JP" altLang="en-US" sz="1600" b="1" dirty="0">
                <a:solidFill>
                  <a:srgbClr val="002060"/>
                </a:solidFill>
                <a:latin typeface="Meiryo"/>
                <a:ea typeface="Meiryo"/>
                <a:cs typeface="Meiryo"/>
                <a:sym typeface="Meiryo"/>
              </a:rPr>
              <a:t>チャイルドアイズ</a:t>
            </a:r>
            <a:r>
              <a:rPr lang="en-US" altLang="ja-JP"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
        <p:nvSpPr>
          <p:cNvPr id="29" name="テキスト ボックス 28">
            <a:extLst>
              <a:ext uri="{FF2B5EF4-FFF2-40B4-BE49-F238E27FC236}">
                <a16:creationId xmlns:a16="http://schemas.microsoft.com/office/drawing/2014/main" id="{6DA3B365-02D9-8B5B-1299-3D8406BB3D5C}"/>
              </a:ext>
            </a:extLst>
          </p:cNvPr>
          <p:cNvSpPr txBox="1"/>
          <p:nvPr/>
        </p:nvSpPr>
        <p:spPr>
          <a:xfrm>
            <a:off x="4801044" y="1595900"/>
            <a:ext cx="4492485" cy="276999"/>
          </a:xfrm>
          <a:prstGeom prst="rect">
            <a:avLst/>
          </a:prstGeom>
          <a:solidFill>
            <a:srgbClr val="04FA0A"/>
          </a:solidFill>
        </p:spPr>
        <p:txBody>
          <a:bodyPr wrap="square">
            <a:spAutoFit/>
          </a:bodyPr>
          <a:lstStyle/>
          <a:p>
            <a:pPr algn="ctr"/>
            <a:r>
              <a:rPr lang="en-US" altLang="ja-JP" sz="1200" b="1" dirty="0">
                <a:solidFill>
                  <a:schemeClr val="bg1"/>
                </a:solidFill>
                <a:latin typeface="メイリオ" panose="020B0604030504040204" pitchFamily="50" charset="-128"/>
                <a:ea typeface="メイリオ" panose="020B0604030504040204" pitchFamily="50" charset="-128"/>
              </a:rPr>
              <a:t>LINE</a:t>
            </a:r>
            <a:r>
              <a:rPr lang="ja-JP" altLang="en-US" sz="1200" b="1" dirty="0">
                <a:solidFill>
                  <a:schemeClr val="bg1"/>
                </a:solidFill>
                <a:latin typeface="メイリオ" panose="020B0604030504040204" pitchFamily="50" charset="-128"/>
                <a:ea typeface="メイリオ" panose="020B0604030504040204" pitchFamily="50" charset="-128"/>
              </a:rPr>
              <a:t>ステータス</a:t>
            </a:r>
            <a:endParaRPr lang="ja-JP" altLang="en-US" sz="1200" b="1" dirty="0">
              <a:solidFill>
                <a:schemeClr val="bg1"/>
              </a:solidFill>
            </a:endParaRPr>
          </a:p>
        </p:txBody>
      </p:sp>
      <p:sp>
        <p:nvSpPr>
          <p:cNvPr id="31" name="テキスト ボックス 30">
            <a:extLst>
              <a:ext uri="{FF2B5EF4-FFF2-40B4-BE49-F238E27FC236}">
                <a16:creationId xmlns:a16="http://schemas.microsoft.com/office/drawing/2014/main" id="{F8313A60-EA49-F9B7-6C41-949A968F0600}"/>
              </a:ext>
            </a:extLst>
          </p:cNvPr>
          <p:cNvSpPr txBox="1"/>
          <p:nvPr/>
        </p:nvSpPr>
        <p:spPr>
          <a:xfrm>
            <a:off x="548883" y="1595900"/>
            <a:ext cx="4084077" cy="276999"/>
          </a:xfrm>
          <a:prstGeom prst="rect">
            <a:avLst/>
          </a:prstGeom>
          <a:solidFill>
            <a:schemeClr val="tx1"/>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WEB</a:t>
            </a:r>
            <a:r>
              <a:rPr lang="ja-JP" altLang="en-US" sz="1200" dirty="0">
                <a:solidFill>
                  <a:schemeClr val="bg1"/>
                </a:solidFill>
                <a:latin typeface="メイリオ" panose="020B0604030504040204" pitchFamily="50" charset="-128"/>
                <a:ea typeface="メイリオ" panose="020B0604030504040204" pitchFamily="50" charset="-128"/>
              </a:rPr>
              <a:t>サイトステータス</a:t>
            </a:r>
            <a:endParaRPr lang="ja-JP" altLang="en-US" sz="1200" dirty="0">
              <a:solidFill>
                <a:schemeClr val="bg1"/>
              </a:solidFill>
            </a:endParaRPr>
          </a:p>
        </p:txBody>
      </p:sp>
      <p:sp>
        <p:nvSpPr>
          <p:cNvPr id="43" name="テキスト ボックス 42">
            <a:extLst>
              <a:ext uri="{FF2B5EF4-FFF2-40B4-BE49-F238E27FC236}">
                <a16:creationId xmlns:a16="http://schemas.microsoft.com/office/drawing/2014/main" id="{6B7452FF-3064-3C53-0009-2FF21E2A20E3}"/>
              </a:ext>
            </a:extLst>
          </p:cNvPr>
          <p:cNvSpPr txBox="1"/>
          <p:nvPr/>
        </p:nvSpPr>
        <p:spPr>
          <a:xfrm>
            <a:off x="548882" y="5699170"/>
            <a:ext cx="4084077"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rPr>
              <a:t>サイト</a:t>
            </a:r>
            <a:r>
              <a:rPr lang="en-US" altLang="ja-JP" sz="1050" dirty="0">
                <a:latin typeface="メイリオ" panose="020B0604030504040204" pitchFamily="50" charset="-128"/>
                <a:ea typeface="メイリオ" panose="020B0604030504040204" pitchFamily="50" charset="-128"/>
              </a:rPr>
              <a:t>CV</a:t>
            </a:r>
            <a:r>
              <a:rPr lang="ja-JP" altLang="en-US" sz="1050" dirty="0">
                <a:latin typeface="メイリオ" panose="020B0604030504040204" pitchFamily="50" charset="-128"/>
                <a:ea typeface="メイリオ" panose="020B0604030504040204" pitchFamily="50" charset="-128"/>
              </a:rPr>
              <a:t>としては</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電話</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と</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無料体験</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を設置。</a:t>
            </a:r>
            <a:endParaRPr lang="en-US" altLang="ja-JP" sz="1050" dirty="0">
              <a:latin typeface="メイリオ" panose="020B0604030504040204" pitchFamily="50" charset="-128"/>
              <a:ea typeface="メイリオ" panose="020B0604030504040204" pitchFamily="50" charset="-128"/>
            </a:endParaRPr>
          </a:p>
          <a:p>
            <a:pPr algn="ctr"/>
            <a:r>
              <a:rPr lang="ja-JP" altLang="en-US" sz="1050" dirty="0">
                <a:latin typeface="メイリオ" panose="020B0604030504040204" pitchFamily="50" charset="-128"/>
                <a:ea typeface="メイリオ" panose="020B0604030504040204" pitchFamily="50" charset="-128"/>
              </a:rPr>
              <a:t>検索面</a:t>
            </a:r>
            <a:r>
              <a:rPr lang="en-US" altLang="ja-JP" sz="1050" dirty="0">
                <a:latin typeface="メイリオ" panose="020B0604030504040204" pitchFamily="50" charset="-128"/>
                <a:ea typeface="メイリオ" panose="020B0604030504040204" pitchFamily="50" charset="-128"/>
              </a:rPr>
              <a:t>(SEO,AD)</a:t>
            </a:r>
            <a:r>
              <a:rPr lang="ja-JP" altLang="en-US" sz="1050" dirty="0">
                <a:latin typeface="メイリオ" panose="020B0604030504040204" pitchFamily="50" charset="-128"/>
                <a:ea typeface="メイリオ" panose="020B0604030504040204" pitchFamily="50" charset="-128"/>
              </a:rPr>
              <a:t>とディスプレイがメイン流入元。</a:t>
            </a:r>
            <a:endParaRPr lang="en-US" altLang="ja-JP" sz="1050" dirty="0">
              <a:latin typeface="メイリオ" panose="020B0604030504040204" pitchFamily="50" charset="-128"/>
              <a:ea typeface="メイリオ" panose="020B0604030504040204" pitchFamily="50" charset="-128"/>
            </a:endParaRPr>
          </a:p>
        </p:txBody>
      </p:sp>
      <p:sp>
        <p:nvSpPr>
          <p:cNvPr id="53" name="テキスト ボックス 52">
            <a:extLst>
              <a:ext uri="{FF2B5EF4-FFF2-40B4-BE49-F238E27FC236}">
                <a16:creationId xmlns:a16="http://schemas.microsoft.com/office/drawing/2014/main" id="{4DE653A3-6A01-144F-1BF8-1590962028E3}"/>
              </a:ext>
            </a:extLst>
          </p:cNvPr>
          <p:cNvSpPr txBox="1"/>
          <p:nvPr/>
        </p:nvSpPr>
        <p:spPr>
          <a:xfrm>
            <a:off x="4801043" y="5699170"/>
            <a:ext cx="4492485" cy="253916"/>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rPr>
              <a:t>現状</a:t>
            </a:r>
            <a:r>
              <a:rPr lang="en-US" altLang="ja-JP" sz="1050" dirty="0">
                <a:latin typeface="メイリオ" panose="020B0604030504040204" pitchFamily="50" charset="-128"/>
                <a:ea typeface="メイリオ" panose="020B0604030504040204" pitchFamily="50" charset="-128"/>
              </a:rPr>
              <a:t>LINE</a:t>
            </a:r>
            <a:r>
              <a:rPr lang="ja-JP" altLang="en-US" sz="1050" dirty="0">
                <a:latin typeface="メイリオ" panose="020B0604030504040204" pitchFamily="50" charset="-128"/>
                <a:ea typeface="メイリオ" panose="020B0604030504040204" pitchFamily="50" charset="-128"/>
              </a:rPr>
              <a:t>公式アカウントの保有・運用はなし。</a:t>
            </a:r>
            <a:endParaRPr lang="en-US" altLang="ja-JP" sz="1050" dirty="0">
              <a:latin typeface="メイリオ" panose="020B0604030504040204" pitchFamily="50" charset="-128"/>
              <a:ea typeface="メイリオ" panose="020B0604030504040204" pitchFamily="50" charset="-128"/>
            </a:endParaRPr>
          </a:p>
        </p:txBody>
      </p:sp>
      <p:pic>
        <p:nvPicPr>
          <p:cNvPr id="55" name="図 54">
            <a:extLst>
              <a:ext uri="{FF2B5EF4-FFF2-40B4-BE49-F238E27FC236}">
                <a16:creationId xmlns:a16="http://schemas.microsoft.com/office/drawing/2014/main" id="{4BC7545E-7F3F-B8DD-FAA4-D802246C1236}"/>
              </a:ext>
            </a:extLst>
          </p:cNvPr>
          <p:cNvPicPr>
            <a:picLocks noChangeAspect="1"/>
          </p:cNvPicPr>
          <p:nvPr/>
        </p:nvPicPr>
        <p:blipFill>
          <a:blip r:embed="rId3"/>
          <a:stretch>
            <a:fillRect/>
          </a:stretch>
        </p:blipFill>
        <p:spPr>
          <a:xfrm>
            <a:off x="4801043" y="2013911"/>
            <a:ext cx="1732686" cy="3519238"/>
          </a:xfrm>
          <a:prstGeom prst="rect">
            <a:avLst/>
          </a:prstGeom>
        </p:spPr>
      </p:pic>
      <p:sp>
        <p:nvSpPr>
          <p:cNvPr id="61" name="テキスト ボックス 60">
            <a:extLst>
              <a:ext uri="{FF2B5EF4-FFF2-40B4-BE49-F238E27FC236}">
                <a16:creationId xmlns:a16="http://schemas.microsoft.com/office/drawing/2014/main" id="{4FD3FA7D-7FF2-4236-7135-48E5D06D806B}"/>
              </a:ext>
            </a:extLst>
          </p:cNvPr>
          <p:cNvSpPr txBox="1"/>
          <p:nvPr/>
        </p:nvSpPr>
        <p:spPr>
          <a:xfrm>
            <a:off x="4891820" y="2275406"/>
            <a:ext cx="1543813" cy="2862322"/>
          </a:xfrm>
          <a:prstGeom prst="rect">
            <a:avLst/>
          </a:prstGeom>
          <a:solidFill>
            <a:schemeClr val="bg1"/>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63" name="テキスト ボックス 62">
            <a:extLst>
              <a:ext uri="{FF2B5EF4-FFF2-40B4-BE49-F238E27FC236}">
                <a16:creationId xmlns:a16="http://schemas.microsoft.com/office/drawing/2014/main" id="{641B3AFA-24D2-E56E-9A38-AC3FAFF26FEF}"/>
              </a:ext>
            </a:extLst>
          </p:cNvPr>
          <p:cNvSpPr txBox="1"/>
          <p:nvPr/>
        </p:nvSpPr>
        <p:spPr>
          <a:xfrm>
            <a:off x="5052929" y="3351808"/>
            <a:ext cx="1230966" cy="253916"/>
          </a:xfrm>
          <a:prstGeom prst="rect">
            <a:avLst/>
          </a:prstGeom>
          <a:solidFill>
            <a:schemeClr val="bg1">
              <a:lumMod val="95000"/>
            </a:schemeClr>
          </a:solid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rPr>
              <a:t>未保有</a:t>
            </a:r>
            <a:endParaRPr lang="en-US" altLang="ja-JP" sz="1050" b="1" dirty="0">
              <a:solidFill>
                <a:srgbClr val="FF0000"/>
              </a:solidFill>
              <a:latin typeface="メイリオ" panose="020B0604030504040204" pitchFamily="50" charset="-128"/>
              <a:ea typeface="メイリオ" panose="020B0604030504040204" pitchFamily="50" charset="-128"/>
            </a:endParaRPr>
          </a:p>
        </p:txBody>
      </p:sp>
      <p:sp>
        <p:nvSpPr>
          <p:cNvPr id="65" name="テキスト ボックス 64">
            <a:extLst>
              <a:ext uri="{FF2B5EF4-FFF2-40B4-BE49-F238E27FC236}">
                <a16:creationId xmlns:a16="http://schemas.microsoft.com/office/drawing/2014/main" id="{CB47911B-0E60-1A54-28E3-4822D0F71546}"/>
              </a:ext>
            </a:extLst>
          </p:cNvPr>
          <p:cNvSpPr txBox="1"/>
          <p:nvPr/>
        </p:nvSpPr>
        <p:spPr>
          <a:xfrm>
            <a:off x="2134777" y="201391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サイト</a:t>
            </a:r>
            <a:r>
              <a:rPr lang="en-US" altLang="ja-JP" sz="1000" dirty="0">
                <a:solidFill>
                  <a:schemeClr val="bg1"/>
                </a:solidFill>
                <a:latin typeface="メイリオ" panose="020B0604030504040204" pitchFamily="50" charset="-128"/>
                <a:ea typeface="メイリオ" panose="020B0604030504040204" pitchFamily="50" charset="-128"/>
              </a:rPr>
              <a:t>UU</a:t>
            </a:r>
          </a:p>
        </p:txBody>
      </p:sp>
      <p:sp>
        <p:nvSpPr>
          <p:cNvPr id="67" name="テキスト ボックス 66">
            <a:extLst>
              <a:ext uri="{FF2B5EF4-FFF2-40B4-BE49-F238E27FC236}">
                <a16:creationId xmlns:a16="http://schemas.microsoft.com/office/drawing/2014/main" id="{786D7DA7-503E-05B5-F9CB-0A21161B6913}"/>
              </a:ext>
            </a:extLst>
          </p:cNvPr>
          <p:cNvSpPr txBox="1"/>
          <p:nvPr/>
        </p:nvSpPr>
        <p:spPr>
          <a:xfrm>
            <a:off x="2137430" y="5174170"/>
            <a:ext cx="2183307" cy="369332"/>
          </a:xfrm>
          <a:prstGeom prst="rect">
            <a:avLst/>
          </a:prstGeom>
          <a:noFill/>
        </p:spPr>
        <p:txBody>
          <a:bodyPr wrap="square">
            <a:spAutoFit/>
          </a:bodyPr>
          <a:lstStyle/>
          <a:p>
            <a:r>
              <a:rPr lang="en-US" altLang="ja-JP" sz="900" dirty="0">
                <a:solidFill>
                  <a:schemeClr val="bg1">
                    <a:lumMod val="65000"/>
                  </a:schemeClr>
                </a:solidFill>
                <a:latin typeface="メイリオ" panose="020B0604030504040204" pitchFamily="50" charset="-128"/>
                <a:ea typeface="メイリオ" panose="020B0604030504040204" pitchFamily="50" charset="-128"/>
              </a:rPr>
              <a:t>※</a:t>
            </a:r>
            <a:r>
              <a:rPr lang="ja-JP" altLang="en-US" sz="900" dirty="0">
                <a:solidFill>
                  <a:schemeClr val="bg1">
                    <a:lumMod val="65000"/>
                  </a:schemeClr>
                </a:solidFill>
                <a:latin typeface="メイリオ" panose="020B0604030504040204" pitchFamily="50" charset="-128"/>
                <a:ea typeface="メイリオ" panose="020B0604030504040204" pitchFamily="50" charset="-128"/>
              </a:rPr>
              <a:t>いずれも貴社ヒヤリング、外部計測</a:t>
            </a:r>
            <a:endParaRPr lang="en-US" altLang="ja-JP" sz="900" dirty="0">
              <a:solidFill>
                <a:schemeClr val="bg1">
                  <a:lumMod val="65000"/>
                </a:schemeClr>
              </a:solidFill>
              <a:latin typeface="メイリオ" panose="020B0604030504040204" pitchFamily="50" charset="-128"/>
              <a:ea typeface="メイリオ" panose="020B0604030504040204" pitchFamily="50" charset="-128"/>
            </a:endParaRPr>
          </a:p>
          <a:p>
            <a:r>
              <a:rPr lang="ja-JP" altLang="en-US" sz="900" dirty="0">
                <a:solidFill>
                  <a:schemeClr val="bg1">
                    <a:lumMod val="65000"/>
                  </a:schemeClr>
                </a:solidFill>
                <a:latin typeface="メイリオ" panose="020B0604030504040204" pitchFamily="50" charset="-128"/>
                <a:ea typeface="メイリオ" panose="020B0604030504040204" pitchFamily="50" charset="-128"/>
              </a:rPr>
              <a:t>　をもとにした想定数値となります。</a:t>
            </a:r>
            <a:endParaRPr lang="ja-JP" altLang="en-US" sz="1400" dirty="0">
              <a:solidFill>
                <a:schemeClr val="bg1">
                  <a:lumMod val="65000"/>
                </a:schemeClr>
              </a:solidFill>
            </a:endParaRPr>
          </a:p>
        </p:txBody>
      </p:sp>
      <p:sp>
        <p:nvSpPr>
          <p:cNvPr id="69" name="テキスト ボックス 68">
            <a:extLst>
              <a:ext uri="{FF2B5EF4-FFF2-40B4-BE49-F238E27FC236}">
                <a16:creationId xmlns:a16="http://schemas.microsoft.com/office/drawing/2014/main" id="{EA788168-7029-078F-5BD8-F04485F4755A}"/>
              </a:ext>
            </a:extLst>
          </p:cNvPr>
          <p:cNvSpPr txBox="1"/>
          <p:nvPr/>
        </p:nvSpPr>
        <p:spPr>
          <a:xfrm>
            <a:off x="2134777" y="232993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a:t>
            </a:r>
            <a:r>
              <a:rPr lang="en-US" altLang="ja-JP" sz="1000" dirty="0">
                <a:solidFill>
                  <a:schemeClr val="bg1"/>
                </a:solidFill>
                <a:latin typeface="メイリオ" panose="020B0604030504040204" pitchFamily="50" charset="-128"/>
                <a:ea typeface="メイリオ" panose="020B0604030504040204" pitchFamily="50" charset="-128"/>
              </a:rPr>
              <a:t>UU</a:t>
            </a:r>
          </a:p>
        </p:txBody>
      </p:sp>
      <p:sp>
        <p:nvSpPr>
          <p:cNvPr id="71" name="テキスト ボックス 70">
            <a:extLst>
              <a:ext uri="{FF2B5EF4-FFF2-40B4-BE49-F238E27FC236}">
                <a16:creationId xmlns:a16="http://schemas.microsoft.com/office/drawing/2014/main" id="{43A76DAB-1A67-A2FA-CB9F-4E749C2AE087}"/>
              </a:ext>
            </a:extLst>
          </p:cNvPr>
          <p:cNvSpPr txBox="1"/>
          <p:nvPr/>
        </p:nvSpPr>
        <p:spPr>
          <a:xfrm>
            <a:off x="2134777" y="264596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広告費用</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3" name="テキスト ボックス 72">
            <a:extLst>
              <a:ext uri="{FF2B5EF4-FFF2-40B4-BE49-F238E27FC236}">
                <a16:creationId xmlns:a16="http://schemas.microsoft.com/office/drawing/2014/main" id="{09C9ADFA-9068-E4AF-1EEA-6AA96D14B0E4}"/>
              </a:ext>
            </a:extLst>
          </p:cNvPr>
          <p:cNvSpPr txBox="1"/>
          <p:nvPr/>
        </p:nvSpPr>
        <p:spPr>
          <a:xfrm>
            <a:off x="2134777" y="4858144"/>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メイン流入元</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5" name="テキスト ボックス 74">
            <a:extLst>
              <a:ext uri="{FF2B5EF4-FFF2-40B4-BE49-F238E27FC236}">
                <a16:creationId xmlns:a16="http://schemas.microsoft.com/office/drawing/2014/main" id="{D9941BFF-1B46-CD45-ED5A-61E32CC889F8}"/>
              </a:ext>
            </a:extLst>
          </p:cNvPr>
          <p:cNvSpPr txBox="1"/>
          <p:nvPr/>
        </p:nvSpPr>
        <p:spPr>
          <a:xfrm>
            <a:off x="2134777" y="454211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他</a:t>
            </a:r>
            <a:r>
              <a:rPr lang="en-US" altLang="ja-JP" sz="1000" dirty="0">
                <a:solidFill>
                  <a:schemeClr val="bg1"/>
                </a:solidFill>
                <a:latin typeface="メイリオ" panose="020B0604030504040204" pitchFamily="50" charset="-128"/>
                <a:ea typeface="メイリオ" panose="020B0604030504040204" pitchFamily="50" charset="-128"/>
              </a:rPr>
              <a:t>SNS</a:t>
            </a:r>
          </a:p>
        </p:txBody>
      </p:sp>
      <p:sp>
        <p:nvSpPr>
          <p:cNvPr id="76" name="テキスト ボックス 75">
            <a:extLst>
              <a:ext uri="{FF2B5EF4-FFF2-40B4-BE49-F238E27FC236}">
                <a16:creationId xmlns:a16="http://schemas.microsoft.com/office/drawing/2014/main" id="{621AF139-DB4F-043A-C841-17CB34ABE979}"/>
              </a:ext>
            </a:extLst>
          </p:cNvPr>
          <p:cNvSpPr txBox="1"/>
          <p:nvPr/>
        </p:nvSpPr>
        <p:spPr>
          <a:xfrm>
            <a:off x="2134777" y="422609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リード保有数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8" name="テキスト ボックス 77">
            <a:extLst>
              <a:ext uri="{FF2B5EF4-FFF2-40B4-BE49-F238E27FC236}">
                <a16:creationId xmlns:a16="http://schemas.microsoft.com/office/drawing/2014/main" id="{7B5121E5-ADDA-2445-CD99-AF7C9748F0F2}"/>
              </a:ext>
            </a:extLst>
          </p:cNvPr>
          <p:cNvSpPr txBox="1"/>
          <p:nvPr/>
        </p:nvSpPr>
        <p:spPr>
          <a:xfrm>
            <a:off x="2134777" y="296198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月間</a:t>
            </a:r>
            <a:r>
              <a:rPr lang="en-US" altLang="ja-JP" sz="1000" dirty="0">
                <a:solidFill>
                  <a:schemeClr val="bg1"/>
                </a:solidFill>
                <a:latin typeface="メイリオ" panose="020B0604030504040204" pitchFamily="50" charset="-128"/>
                <a:ea typeface="メイリオ" panose="020B0604030504040204" pitchFamily="50" charset="-128"/>
              </a:rPr>
              <a:t>CV</a:t>
            </a:r>
            <a:r>
              <a:rPr lang="ja-JP" altLang="en-US" sz="1000" dirty="0">
                <a:solidFill>
                  <a:schemeClr val="bg1"/>
                </a:solidFill>
                <a:latin typeface="メイリオ" panose="020B0604030504040204" pitchFamily="50" charset="-128"/>
                <a:ea typeface="メイリオ" panose="020B0604030504040204" pitchFamily="50" charset="-128"/>
              </a:rPr>
              <a:t>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9295423F-6886-C0F9-07E8-99E65DA2F185}"/>
              </a:ext>
            </a:extLst>
          </p:cNvPr>
          <p:cNvSpPr txBox="1"/>
          <p:nvPr/>
        </p:nvSpPr>
        <p:spPr>
          <a:xfrm>
            <a:off x="2134777" y="3278014"/>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CV</a:t>
            </a:r>
            <a:r>
              <a:rPr lang="ja-JP" altLang="en-US" sz="1000" dirty="0">
                <a:solidFill>
                  <a:schemeClr val="bg1"/>
                </a:solidFill>
                <a:latin typeface="メイリオ" panose="020B0604030504040204" pitchFamily="50" charset="-128"/>
                <a:ea typeface="メイリオ" panose="020B0604030504040204" pitchFamily="50" charset="-128"/>
              </a:rPr>
              <a:t>地点</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2" name="テキスト ボックス 81">
            <a:extLst>
              <a:ext uri="{FF2B5EF4-FFF2-40B4-BE49-F238E27FC236}">
                <a16:creationId xmlns:a16="http://schemas.microsoft.com/office/drawing/2014/main" id="{BC9F693C-CE4E-77C8-8651-DCFDCF1173A3}"/>
              </a:ext>
            </a:extLst>
          </p:cNvPr>
          <p:cNvSpPr txBox="1"/>
          <p:nvPr/>
        </p:nvSpPr>
        <p:spPr>
          <a:xfrm>
            <a:off x="2134777" y="3594040"/>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LINE</a:t>
            </a:r>
            <a:r>
              <a:rPr lang="ja-JP" altLang="en-US" sz="1000" dirty="0">
                <a:solidFill>
                  <a:schemeClr val="bg1"/>
                </a:solidFill>
                <a:latin typeface="メイリオ" panose="020B0604030504040204" pitchFamily="50" charset="-128"/>
                <a:ea typeface="メイリオ" panose="020B0604030504040204" pitchFamily="50" charset="-128"/>
              </a:rPr>
              <a:t>動線</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4" name="テキスト ボックス 83">
            <a:extLst>
              <a:ext uri="{FF2B5EF4-FFF2-40B4-BE49-F238E27FC236}">
                <a16:creationId xmlns:a16="http://schemas.microsoft.com/office/drawing/2014/main" id="{429EF141-B4B6-BD86-F207-AB9F39A6D6CC}"/>
              </a:ext>
            </a:extLst>
          </p:cNvPr>
          <p:cNvSpPr txBox="1"/>
          <p:nvPr/>
        </p:nvSpPr>
        <p:spPr>
          <a:xfrm>
            <a:off x="2134777" y="3910066"/>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広告余地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6" name="テキスト ボックス 85">
            <a:extLst>
              <a:ext uri="{FF2B5EF4-FFF2-40B4-BE49-F238E27FC236}">
                <a16:creationId xmlns:a16="http://schemas.microsoft.com/office/drawing/2014/main" id="{7C5532CE-88A1-7418-788B-354213D6977B}"/>
              </a:ext>
            </a:extLst>
          </p:cNvPr>
          <p:cNvSpPr txBox="1"/>
          <p:nvPr/>
        </p:nvSpPr>
        <p:spPr>
          <a:xfrm>
            <a:off x="6624506" y="2019331"/>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友だち数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8" name="テキスト ボックス 87">
            <a:extLst>
              <a:ext uri="{FF2B5EF4-FFF2-40B4-BE49-F238E27FC236}">
                <a16:creationId xmlns:a16="http://schemas.microsoft.com/office/drawing/2014/main" id="{4E2A999C-E78C-D828-F3B4-8B46E6CFAC5C}"/>
              </a:ext>
            </a:extLst>
          </p:cNvPr>
          <p:cNvSpPr txBox="1"/>
          <p:nvPr/>
        </p:nvSpPr>
        <p:spPr>
          <a:xfrm>
            <a:off x="6624506" y="233535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アクティブ数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0" name="テキスト ボックス 89">
            <a:extLst>
              <a:ext uri="{FF2B5EF4-FFF2-40B4-BE49-F238E27FC236}">
                <a16:creationId xmlns:a16="http://schemas.microsoft.com/office/drawing/2014/main" id="{50BA19F4-53F1-C97B-0713-EC49522B21E8}"/>
              </a:ext>
            </a:extLst>
          </p:cNvPr>
          <p:cNvSpPr txBox="1"/>
          <p:nvPr/>
        </p:nvSpPr>
        <p:spPr>
          <a:xfrm>
            <a:off x="6624506" y="2651383"/>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ブロック率</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2" name="テキスト ボックス 91">
            <a:extLst>
              <a:ext uri="{FF2B5EF4-FFF2-40B4-BE49-F238E27FC236}">
                <a16:creationId xmlns:a16="http://schemas.microsoft.com/office/drawing/2014/main" id="{0D3F17B7-BE54-FFAB-DA5A-705404A9C08A}"/>
              </a:ext>
            </a:extLst>
          </p:cNvPr>
          <p:cNvSpPr txBox="1"/>
          <p:nvPr/>
        </p:nvSpPr>
        <p:spPr>
          <a:xfrm>
            <a:off x="6624506" y="4863565"/>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B0DD1EFF-563A-1CD9-9989-968BFFEBCC2C}"/>
              </a:ext>
            </a:extLst>
          </p:cNvPr>
          <p:cNvSpPr txBox="1"/>
          <p:nvPr/>
        </p:nvSpPr>
        <p:spPr>
          <a:xfrm>
            <a:off x="6624506" y="4547539"/>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ツール</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6" name="テキスト ボックス 95">
            <a:extLst>
              <a:ext uri="{FF2B5EF4-FFF2-40B4-BE49-F238E27FC236}">
                <a16:creationId xmlns:a16="http://schemas.microsoft.com/office/drawing/2014/main" id="{CDF3ACE8-A29C-0869-5155-3A40D885312A}"/>
              </a:ext>
            </a:extLst>
          </p:cNvPr>
          <p:cNvSpPr txBox="1"/>
          <p:nvPr/>
        </p:nvSpPr>
        <p:spPr>
          <a:xfrm>
            <a:off x="6624506" y="4231513"/>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想定コスト</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8" name="テキスト ボックス 97">
            <a:extLst>
              <a:ext uri="{FF2B5EF4-FFF2-40B4-BE49-F238E27FC236}">
                <a16:creationId xmlns:a16="http://schemas.microsoft.com/office/drawing/2014/main" id="{052C94FD-2F48-FE18-F017-6E76C0BDD2F3}"/>
              </a:ext>
            </a:extLst>
          </p:cNvPr>
          <p:cNvSpPr txBox="1"/>
          <p:nvPr/>
        </p:nvSpPr>
        <p:spPr>
          <a:xfrm>
            <a:off x="6624506" y="2967409"/>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月間投稿数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0" name="テキスト ボックス 99">
            <a:extLst>
              <a:ext uri="{FF2B5EF4-FFF2-40B4-BE49-F238E27FC236}">
                <a16:creationId xmlns:a16="http://schemas.microsoft.com/office/drawing/2014/main" id="{FEDAB5C8-D777-7083-1B4C-F755ADE9FC2B}"/>
              </a:ext>
            </a:extLst>
          </p:cNvPr>
          <p:cNvSpPr txBox="1"/>
          <p:nvPr/>
        </p:nvSpPr>
        <p:spPr>
          <a:xfrm>
            <a:off x="6624506" y="3283435"/>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ステップ実施</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2" name="テキスト ボックス 101">
            <a:extLst>
              <a:ext uri="{FF2B5EF4-FFF2-40B4-BE49-F238E27FC236}">
                <a16:creationId xmlns:a16="http://schemas.microsoft.com/office/drawing/2014/main" id="{F4164EE0-C2B2-E301-5AC9-2CA1B7015DD6}"/>
              </a:ext>
            </a:extLst>
          </p:cNvPr>
          <p:cNvSpPr txBox="1"/>
          <p:nvPr/>
        </p:nvSpPr>
        <p:spPr>
          <a:xfrm>
            <a:off x="6624506" y="3599461"/>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アンケート実施</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4" name="テキスト ボックス 103">
            <a:extLst>
              <a:ext uri="{FF2B5EF4-FFF2-40B4-BE49-F238E27FC236}">
                <a16:creationId xmlns:a16="http://schemas.microsoft.com/office/drawing/2014/main" id="{86F2BB75-D087-3536-A5EC-03D24451492A}"/>
              </a:ext>
            </a:extLst>
          </p:cNvPr>
          <p:cNvSpPr txBox="1"/>
          <p:nvPr/>
        </p:nvSpPr>
        <p:spPr>
          <a:xfrm>
            <a:off x="6624506" y="391548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プロフ動線</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6" name="テキスト ボックス 105">
            <a:extLst>
              <a:ext uri="{FF2B5EF4-FFF2-40B4-BE49-F238E27FC236}">
                <a16:creationId xmlns:a16="http://schemas.microsoft.com/office/drawing/2014/main" id="{B6ADA316-97DB-19DE-5310-2D4AFF7C5555}"/>
              </a:ext>
            </a:extLst>
          </p:cNvPr>
          <p:cNvSpPr txBox="1"/>
          <p:nvPr/>
        </p:nvSpPr>
        <p:spPr>
          <a:xfrm>
            <a:off x="3229084" y="2019331"/>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rPr>
              <a:t>18,784</a:t>
            </a:r>
          </a:p>
        </p:txBody>
      </p:sp>
      <p:sp>
        <p:nvSpPr>
          <p:cNvPr id="108" name="テキスト ボックス 107">
            <a:extLst>
              <a:ext uri="{FF2B5EF4-FFF2-40B4-BE49-F238E27FC236}">
                <a16:creationId xmlns:a16="http://schemas.microsoft.com/office/drawing/2014/main" id="{47F3F567-C41D-6459-A492-84B20AAA216D}"/>
              </a:ext>
            </a:extLst>
          </p:cNvPr>
          <p:cNvSpPr txBox="1"/>
          <p:nvPr/>
        </p:nvSpPr>
        <p:spPr>
          <a:xfrm>
            <a:off x="3229084" y="2339204"/>
            <a:ext cx="1360330" cy="246221"/>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rPr>
              <a:t>4,500</a:t>
            </a:r>
            <a:endParaRPr lang="en-US" altLang="ja-JP" sz="700" b="1" dirty="0">
              <a:latin typeface="メイリオ" panose="020B0604030504040204" pitchFamily="50" charset="-128"/>
              <a:ea typeface="メイリオ" panose="020B0604030504040204" pitchFamily="50" charset="-128"/>
            </a:endParaRPr>
          </a:p>
        </p:txBody>
      </p:sp>
      <p:sp>
        <p:nvSpPr>
          <p:cNvPr id="110" name="テキスト ボックス 109">
            <a:extLst>
              <a:ext uri="{FF2B5EF4-FFF2-40B4-BE49-F238E27FC236}">
                <a16:creationId xmlns:a16="http://schemas.microsoft.com/office/drawing/2014/main" id="{EA12EB97-C2CF-9EF7-68AC-1F725E44C0C6}"/>
              </a:ext>
            </a:extLst>
          </p:cNvPr>
          <p:cNvSpPr txBox="1"/>
          <p:nvPr/>
        </p:nvSpPr>
        <p:spPr>
          <a:xfrm>
            <a:off x="3229084" y="2651383"/>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2" name="テキスト ボックス 111">
            <a:extLst>
              <a:ext uri="{FF2B5EF4-FFF2-40B4-BE49-F238E27FC236}">
                <a16:creationId xmlns:a16="http://schemas.microsoft.com/office/drawing/2014/main" id="{C7BA49E9-9AD1-C8F1-045C-F99303CC534D}"/>
              </a:ext>
            </a:extLst>
          </p:cNvPr>
          <p:cNvSpPr txBox="1"/>
          <p:nvPr/>
        </p:nvSpPr>
        <p:spPr>
          <a:xfrm>
            <a:off x="3229084" y="4863565"/>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オーガニック</a:t>
            </a:r>
            <a:endParaRPr lang="en-US" altLang="ja-JP" sz="1000" b="1" dirty="0">
              <a:latin typeface="メイリオ" panose="020B0604030504040204" pitchFamily="50" charset="-128"/>
              <a:ea typeface="メイリオ" panose="020B0604030504040204" pitchFamily="50" charset="-128"/>
            </a:endParaRPr>
          </a:p>
        </p:txBody>
      </p:sp>
      <p:sp>
        <p:nvSpPr>
          <p:cNvPr id="114" name="テキスト ボックス 113">
            <a:extLst>
              <a:ext uri="{FF2B5EF4-FFF2-40B4-BE49-F238E27FC236}">
                <a16:creationId xmlns:a16="http://schemas.microsoft.com/office/drawing/2014/main" id="{7BE2FF98-F2E6-8CBD-5248-49871F114542}"/>
              </a:ext>
            </a:extLst>
          </p:cNvPr>
          <p:cNvSpPr txBox="1"/>
          <p:nvPr/>
        </p:nvSpPr>
        <p:spPr>
          <a:xfrm>
            <a:off x="3229084" y="4551386"/>
            <a:ext cx="1360330" cy="246221"/>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6" name="テキスト ボックス 115">
            <a:extLst>
              <a:ext uri="{FF2B5EF4-FFF2-40B4-BE49-F238E27FC236}">
                <a16:creationId xmlns:a16="http://schemas.microsoft.com/office/drawing/2014/main" id="{914EF112-00D2-D47D-0B61-A93CBE8BB645}"/>
              </a:ext>
            </a:extLst>
          </p:cNvPr>
          <p:cNvSpPr txBox="1"/>
          <p:nvPr/>
        </p:nvSpPr>
        <p:spPr>
          <a:xfrm>
            <a:off x="3229084" y="4231513"/>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8" name="テキスト ボックス 117">
            <a:extLst>
              <a:ext uri="{FF2B5EF4-FFF2-40B4-BE49-F238E27FC236}">
                <a16:creationId xmlns:a16="http://schemas.microsoft.com/office/drawing/2014/main" id="{986694EA-BD3A-DAC6-4DEE-7D91F77FBE22}"/>
              </a:ext>
            </a:extLst>
          </p:cNvPr>
          <p:cNvSpPr txBox="1"/>
          <p:nvPr/>
        </p:nvSpPr>
        <p:spPr>
          <a:xfrm>
            <a:off x="3229084" y="2967409"/>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20" name="テキスト ボックス 119">
            <a:extLst>
              <a:ext uri="{FF2B5EF4-FFF2-40B4-BE49-F238E27FC236}">
                <a16:creationId xmlns:a16="http://schemas.microsoft.com/office/drawing/2014/main" id="{55C2042F-3220-C5D3-61DE-7D9D40613A6E}"/>
              </a:ext>
            </a:extLst>
          </p:cNvPr>
          <p:cNvSpPr txBox="1"/>
          <p:nvPr/>
        </p:nvSpPr>
        <p:spPr>
          <a:xfrm>
            <a:off x="3229084" y="3283435"/>
            <a:ext cx="1360330" cy="246221"/>
          </a:xfrm>
          <a:prstGeom prst="rect">
            <a:avLst/>
          </a:prstGeom>
          <a:solidFill>
            <a:schemeClr val="bg1">
              <a:lumMod val="95000"/>
            </a:schemeClr>
          </a:solidFill>
        </p:spPr>
        <p:txBody>
          <a:bodyPr wrap="square" anchor="ctr">
            <a:spAutoFit/>
          </a:bodyPr>
          <a:lstStyle/>
          <a:p>
            <a:pPr algn="ctr"/>
            <a:r>
              <a:rPr lang="ja-JP" altLang="en-US" sz="1000" b="1" dirty="0">
                <a:solidFill>
                  <a:srgbClr val="FF0000"/>
                </a:solidFill>
                <a:latin typeface="メイリオ" panose="020B0604030504040204" pitchFamily="50" charset="-128"/>
                <a:ea typeface="メイリオ" panose="020B0604030504040204" pitchFamily="50" charset="-128"/>
              </a:rPr>
              <a:t>無料体験</a:t>
            </a:r>
            <a:endParaRPr lang="en-US" altLang="ja-JP" sz="1000" b="1" dirty="0">
              <a:solidFill>
                <a:srgbClr val="FF0000"/>
              </a:solidFill>
              <a:latin typeface="メイリオ" panose="020B0604030504040204" pitchFamily="50" charset="-128"/>
              <a:ea typeface="メイリオ" panose="020B0604030504040204" pitchFamily="50" charset="-128"/>
            </a:endParaRPr>
          </a:p>
        </p:txBody>
      </p:sp>
      <p:sp>
        <p:nvSpPr>
          <p:cNvPr id="122" name="テキスト ボックス 121">
            <a:extLst>
              <a:ext uri="{FF2B5EF4-FFF2-40B4-BE49-F238E27FC236}">
                <a16:creationId xmlns:a16="http://schemas.microsoft.com/office/drawing/2014/main" id="{153D3F2B-14F9-70C0-50BC-B7CB286E2D8F}"/>
              </a:ext>
            </a:extLst>
          </p:cNvPr>
          <p:cNvSpPr txBox="1"/>
          <p:nvPr/>
        </p:nvSpPr>
        <p:spPr>
          <a:xfrm>
            <a:off x="3229084" y="3599461"/>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未設定</a:t>
            </a:r>
            <a:endParaRPr lang="en-US" altLang="ja-JP" sz="1000" b="1" dirty="0">
              <a:latin typeface="メイリオ" panose="020B0604030504040204" pitchFamily="50" charset="-128"/>
              <a:ea typeface="メイリオ" panose="020B0604030504040204" pitchFamily="50" charset="-128"/>
            </a:endParaRPr>
          </a:p>
        </p:txBody>
      </p:sp>
      <p:sp>
        <p:nvSpPr>
          <p:cNvPr id="124" name="テキスト ボックス 123">
            <a:extLst>
              <a:ext uri="{FF2B5EF4-FFF2-40B4-BE49-F238E27FC236}">
                <a16:creationId xmlns:a16="http://schemas.microsoft.com/office/drawing/2014/main" id="{2263D4CF-8260-F1E1-BCF7-ED72C65AF07F}"/>
              </a:ext>
            </a:extLst>
          </p:cNvPr>
          <p:cNvSpPr txBox="1"/>
          <p:nvPr/>
        </p:nvSpPr>
        <p:spPr>
          <a:xfrm>
            <a:off x="3229084" y="3915487"/>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有</a:t>
            </a:r>
            <a:endParaRPr lang="en-US" altLang="ja-JP" sz="1000" b="1" dirty="0">
              <a:latin typeface="メイリオ" panose="020B0604030504040204" pitchFamily="50" charset="-128"/>
              <a:ea typeface="メイリオ" panose="020B0604030504040204" pitchFamily="50" charset="-128"/>
            </a:endParaRPr>
          </a:p>
        </p:txBody>
      </p:sp>
      <p:sp>
        <p:nvSpPr>
          <p:cNvPr id="169" name="テキスト ボックス 168">
            <a:extLst>
              <a:ext uri="{FF2B5EF4-FFF2-40B4-BE49-F238E27FC236}">
                <a16:creationId xmlns:a16="http://schemas.microsoft.com/office/drawing/2014/main" id="{32CFABB8-ADE8-1D5B-7822-D8BF0BA34FC4}"/>
              </a:ext>
            </a:extLst>
          </p:cNvPr>
          <p:cNvSpPr txBox="1"/>
          <p:nvPr/>
        </p:nvSpPr>
        <p:spPr>
          <a:xfrm>
            <a:off x="6624505" y="5184313"/>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a:t>
            </a:r>
          </a:p>
        </p:txBody>
      </p:sp>
      <p:sp>
        <p:nvSpPr>
          <p:cNvPr id="171" name="テキスト ボックス 170">
            <a:extLst>
              <a:ext uri="{FF2B5EF4-FFF2-40B4-BE49-F238E27FC236}">
                <a16:creationId xmlns:a16="http://schemas.microsoft.com/office/drawing/2014/main" id="{CEE5E6FB-FD31-4BA0-5DD6-0E11BBB49851}"/>
              </a:ext>
            </a:extLst>
          </p:cNvPr>
          <p:cNvSpPr txBox="1"/>
          <p:nvPr/>
        </p:nvSpPr>
        <p:spPr>
          <a:xfrm>
            <a:off x="7754601" y="202149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3" name="テキスト ボックス 172">
            <a:extLst>
              <a:ext uri="{FF2B5EF4-FFF2-40B4-BE49-F238E27FC236}">
                <a16:creationId xmlns:a16="http://schemas.microsoft.com/office/drawing/2014/main" id="{E91D57C9-6375-8F5E-0D71-3230B0BA0AC3}"/>
              </a:ext>
            </a:extLst>
          </p:cNvPr>
          <p:cNvSpPr txBox="1"/>
          <p:nvPr/>
        </p:nvSpPr>
        <p:spPr>
          <a:xfrm>
            <a:off x="7754601" y="233751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5" name="テキスト ボックス 174">
            <a:extLst>
              <a:ext uri="{FF2B5EF4-FFF2-40B4-BE49-F238E27FC236}">
                <a16:creationId xmlns:a16="http://schemas.microsoft.com/office/drawing/2014/main" id="{50103491-D71F-7EB5-8BE0-3BC70A0F52D1}"/>
              </a:ext>
            </a:extLst>
          </p:cNvPr>
          <p:cNvSpPr txBox="1"/>
          <p:nvPr/>
        </p:nvSpPr>
        <p:spPr>
          <a:xfrm>
            <a:off x="7754601" y="265354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7" name="テキスト ボックス 176">
            <a:extLst>
              <a:ext uri="{FF2B5EF4-FFF2-40B4-BE49-F238E27FC236}">
                <a16:creationId xmlns:a16="http://schemas.microsoft.com/office/drawing/2014/main" id="{03486B97-EFB2-9F95-C428-B571949EB1AE}"/>
              </a:ext>
            </a:extLst>
          </p:cNvPr>
          <p:cNvSpPr txBox="1"/>
          <p:nvPr/>
        </p:nvSpPr>
        <p:spPr>
          <a:xfrm>
            <a:off x="7754601" y="4865724"/>
            <a:ext cx="1493286" cy="253916"/>
          </a:xfrm>
          <a:prstGeom prst="rect">
            <a:avLst/>
          </a:prstGeom>
          <a:solidFill>
            <a:schemeClr val="bg1">
              <a:lumMod val="95000"/>
            </a:schemeClr>
          </a:solidFill>
        </p:spPr>
        <p:txBody>
          <a:bodyPr wrap="square">
            <a:spAutoFit/>
          </a:bodyPr>
          <a:lstStyle/>
          <a:p>
            <a:pPr algn="ctr"/>
            <a:r>
              <a:rPr lang="en-US" altLang="ja-JP" sz="1000" dirty="0">
                <a:latin typeface="メイリオ" panose="020B0604030504040204" pitchFamily="50" charset="-128"/>
                <a:ea typeface="メイリオ" panose="020B0604030504040204" pitchFamily="50" charset="-128"/>
              </a:rPr>
              <a:t>※</a:t>
            </a:r>
          </a:p>
        </p:txBody>
      </p:sp>
      <p:sp>
        <p:nvSpPr>
          <p:cNvPr id="179" name="テキスト ボックス 178">
            <a:extLst>
              <a:ext uri="{FF2B5EF4-FFF2-40B4-BE49-F238E27FC236}">
                <a16:creationId xmlns:a16="http://schemas.microsoft.com/office/drawing/2014/main" id="{83060EE7-F85C-FEB9-6E07-AD89C879B907}"/>
              </a:ext>
            </a:extLst>
          </p:cNvPr>
          <p:cNvSpPr txBox="1"/>
          <p:nvPr/>
        </p:nvSpPr>
        <p:spPr>
          <a:xfrm>
            <a:off x="7754601" y="454969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1" name="テキスト ボックス 180">
            <a:extLst>
              <a:ext uri="{FF2B5EF4-FFF2-40B4-BE49-F238E27FC236}">
                <a16:creationId xmlns:a16="http://schemas.microsoft.com/office/drawing/2014/main" id="{6E50A20F-2BFB-3695-700C-44F0937245E4}"/>
              </a:ext>
            </a:extLst>
          </p:cNvPr>
          <p:cNvSpPr txBox="1"/>
          <p:nvPr/>
        </p:nvSpPr>
        <p:spPr>
          <a:xfrm>
            <a:off x="7754601" y="423367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3" name="テキスト ボックス 182">
            <a:extLst>
              <a:ext uri="{FF2B5EF4-FFF2-40B4-BE49-F238E27FC236}">
                <a16:creationId xmlns:a16="http://schemas.microsoft.com/office/drawing/2014/main" id="{343ADE76-581F-E366-449C-C73F90D92979}"/>
              </a:ext>
            </a:extLst>
          </p:cNvPr>
          <p:cNvSpPr txBox="1"/>
          <p:nvPr/>
        </p:nvSpPr>
        <p:spPr>
          <a:xfrm>
            <a:off x="7754601" y="296956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5" name="テキスト ボックス 184">
            <a:extLst>
              <a:ext uri="{FF2B5EF4-FFF2-40B4-BE49-F238E27FC236}">
                <a16:creationId xmlns:a16="http://schemas.microsoft.com/office/drawing/2014/main" id="{15C10191-5CA8-D3BE-7847-7FA57C28C1F2}"/>
              </a:ext>
            </a:extLst>
          </p:cNvPr>
          <p:cNvSpPr txBox="1"/>
          <p:nvPr/>
        </p:nvSpPr>
        <p:spPr>
          <a:xfrm>
            <a:off x="7754601" y="3285594"/>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7" name="テキスト ボックス 186">
            <a:extLst>
              <a:ext uri="{FF2B5EF4-FFF2-40B4-BE49-F238E27FC236}">
                <a16:creationId xmlns:a16="http://schemas.microsoft.com/office/drawing/2014/main" id="{51BEBC5F-1121-B8DC-54E2-DC8DC1020DB7}"/>
              </a:ext>
            </a:extLst>
          </p:cNvPr>
          <p:cNvSpPr txBox="1"/>
          <p:nvPr/>
        </p:nvSpPr>
        <p:spPr>
          <a:xfrm>
            <a:off x="7754601" y="360162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9" name="テキスト ボックス 188">
            <a:extLst>
              <a:ext uri="{FF2B5EF4-FFF2-40B4-BE49-F238E27FC236}">
                <a16:creationId xmlns:a16="http://schemas.microsoft.com/office/drawing/2014/main" id="{73338154-D562-06D1-6113-0A579EACBBE0}"/>
              </a:ext>
            </a:extLst>
          </p:cNvPr>
          <p:cNvSpPr txBox="1"/>
          <p:nvPr/>
        </p:nvSpPr>
        <p:spPr>
          <a:xfrm>
            <a:off x="7754601" y="391764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91" name="テキスト ボックス 190">
            <a:extLst>
              <a:ext uri="{FF2B5EF4-FFF2-40B4-BE49-F238E27FC236}">
                <a16:creationId xmlns:a16="http://schemas.microsoft.com/office/drawing/2014/main" id="{429FE883-F81A-EC4E-0F0F-55845FDE0805}"/>
              </a:ext>
            </a:extLst>
          </p:cNvPr>
          <p:cNvSpPr txBox="1"/>
          <p:nvPr/>
        </p:nvSpPr>
        <p:spPr>
          <a:xfrm>
            <a:off x="7754600" y="5186472"/>
            <a:ext cx="1493286" cy="253916"/>
          </a:xfrm>
          <a:prstGeom prst="rect">
            <a:avLst/>
          </a:prstGeom>
          <a:solidFill>
            <a:schemeClr val="bg1">
              <a:lumMod val="95000"/>
            </a:schemeClr>
          </a:solidFill>
        </p:spPr>
        <p:txBody>
          <a:bodyPr wrap="square">
            <a:spAutoFit/>
          </a:bodyPr>
          <a:lstStyle/>
          <a:p>
            <a:pPr algn="ctr"/>
            <a:r>
              <a:rPr lang="en-US" altLang="ja-JP" sz="1000" dirty="0">
                <a:latin typeface="メイリオ" panose="020B0604030504040204" pitchFamily="50" charset="-128"/>
                <a:ea typeface="メイリオ" panose="020B0604030504040204" pitchFamily="50" charset="-128"/>
              </a:rPr>
              <a:t>※</a:t>
            </a:r>
          </a:p>
        </p:txBody>
      </p:sp>
      <p:sp>
        <p:nvSpPr>
          <p:cNvPr id="15" name="テキスト ボックス 14">
            <a:extLst>
              <a:ext uri="{FF2B5EF4-FFF2-40B4-BE49-F238E27FC236}">
                <a16:creationId xmlns:a16="http://schemas.microsoft.com/office/drawing/2014/main" id="{D8447831-C297-CBA7-F3CA-5D43B36CC58C}"/>
              </a:ext>
            </a:extLst>
          </p:cNvPr>
          <p:cNvSpPr txBox="1"/>
          <p:nvPr/>
        </p:nvSpPr>
        <p:spPr>
          <a:xfrm>
            <a:off x="6578863" y="196532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37017496-6CD7-3CFD-646C-633B200B3E59}"/>
              </a:ext>
            </a:extLst>
          </p:cNvPr>
          <p:cNvSpPr txBox="1"/>
          <p:nvPr/>
        </p:nvSpPr>
        <p:spPr>
          <a:xfrm>
            <a:off x="6578862" y="196532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19" name="テキスト ボックス 18">
            <a:extLst>
              <a:ext uri="{FF2B5EF4-FFF2-40B4-BE49-F238E27FC236}">
                <a16:creationId xmlns:a16="http://schemas.microsoft.com/office/drawing/2014/main" id="{1D0E746B-15F9-EC55-3FD1-F7330033C14B}"/>
              </a:ext>
            </a:extLst>
          </p:cNvPr>
          <p:cNvSpPr txBox="1"/>
          <p:nvPr/>
        </p:nvSpPr>
        <p:spPr>
          <a:xfrm>
            <a:off x="6596742" y="194900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pic>
        <p:nvPicPr>
          <p:cNvPr id="6" name="図 5">
            <a:extLst>
              <a:ext uri="{FF2B5EF4-FFF2-40B4-BE49-F238E27FC236}">
                <a16:creationId xmlns:a16="http://schemas.microsoft.com/office/drawing/2014/main" id="{3446BF02-9F13-C513-57CD-571CF79F7E70}"/>
              </a:ext>
            </a:extLst>
          </p:cNvPr>
          <p:cNvPicPr>
            <a:picLocks noChangeAspect="1"/>
          </p:cNvPicPr>
          <p:nvPr/>
        </p:nvPicPr>
        <p:blipFill>
          <a:blip r:embed="rId4"/>
          <a:stretch>
            <a:fillRect/>
          </a:stretch>
        </p:blipFill>
        <p:spPr>
          <a:xfrm>
            <a:off x="495313" y="2013910"/>
            <a:ext cx="1589341" cy="3228091"/>
          </a:xfrm>
          <a:prstGeom prst="rect">
            <a:avLst/>
          </a:prstGeom>
        </p:spPr>
      </p:pic>
      <p:sp>
        <p:nvSpPr>
          <p:cNvPr id="8" name="テキスト ボックス 7">
            <a:extLst>
              <a:ext uri="{FF2B5EF4-FFF2-40B4-BE49-F238E27FC236}">
                <a16:creationId xmlns:a16="http://schemas.microsoft.com/office/drawing/2014/main" id="{BBD7CF6B-43AB-A34E-F20C-7D5A5292AEF4}"/>
              </a:ext>
            </a:extLst>
          </p:cNvPr>
          <p:cNvSpPr txBox="1"/>
          <p:nvPr/>
        </p:nvSpPr>
        <p:spPr>
          <a:xfrm>
            <a:off x="605520" y="806419"/>
            <a:ext cx="8797260" cy="461665"/>
          </a:xfrm>
          <a:prstGeom prst="rect">
            <a:avLst/>
          </a:prstGeom>
          <a:noFill/>
        </p:spPr>
        <p:txBody>
          <a:bodyPr wrap="square">
            <a:spAutoFit/>
          </a:bodyPr>
          <a:lstStyle/>
          <a:p>
            <a:pPr algn="ct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サイト流入数は安定していそうだが、</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AD</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で</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3%</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、通常で</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0.7%</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前後の体験申込</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CVR</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が参考数値、</a:t>
            </a:r>
            <a:endParaRPr lang="en-US" altLang="ja-JP" sz="1200"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更に</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施策を導入していくことで、</a:t>
            </a:r>
            <a:r>
              <a:rPr lang="ja-JP" altLang="en-US" sz="1200" b="1" dirty="0">
                <a:solidFill>
                  <a:srgbClr val="FF0000"/>
                </a:solidFill>
                <a:latin typeface="Meiryo" panose="020B0604030504040204" pitchFamily="34" charset="-128"/>
                <a:ea typeface="Meiryo" panose="020B0604030504040204" pitchFamily="34" charset="-128"/>
              </a:rPr>
              <a:t>離脱アクションの削減 </a:t>
            </a:r>
            <a:r>
              <a:rPr lang="en-US" altLang="ja-JP" sz="1200" b="1" dirty="0">
                <a:solidFill>
                  <a:srgbClr val="FF0000"/>
                </a:solidFill>
                <a:latin typeface="Meiryo" panose="020B0604030504040204" pitchFamily="34" charset="-128"/>
                <a:ea typeface="Meiryo" panose="020B0604030504040204" pitchFamily="34" charset="-128"/>
              </a:rPr>
              <a:t>/ </a:t>
            </a:r>
            <a:r>
              <a:rPr lang="ja-JP" altLang="en-US" sz="1200" b="1" dirty="0">
                <a:solidFill>
                  <a:srgbClr val="FF0000"/>
                </a:solidFill>
                <a:latin typeface="Meiryo" panose="020B0604030504040204" pitchFamily="34" charset="-128"/>
                <a:ea typeface="Meiryo" panose="020B0604030504040204" pitchFamily="34" charset="-128"/>
              </a:rPr>
              <a:t>引上げの増加 を図って</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いく。</a:t>
            </a:r>
            <a:endParaRPr lang="ja-JP" altLang="en-US" sz="1400" dirty="0"/>
          </a:p>
        </p:txBody>
      </p:sp>
    </p:spTree>
    <p:extLst>
      <p:ext uri="{BB962C8B-B14F-4D97-AF65-F5344CB8AC3E}">
        <p14:creationId xmlns:p14="http://schemas.microsoft.com/office/powerpoint/2010/main" val="33500546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E5221-666F-DE20-B9E8-FDFC607CC22D}"/>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49FC28CD-401F-CB33-EA18-1071AD4C7D12}"/>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想定動線</a:t>
            </a:r>
            <a:r>
              <a:rPr lang="en-US" altLang="ja-JP" sz="1200" b="1" dirty="0">
                <a:solidFill>
                  <a:srgbClr val="002060"/>
                </a:solidFill>
                <a:latin typeface="Meiryo"/>
                <a:ea typeface="Meiryo"/>
                <a:cs typeface="Meiryo"/>
                <a:sym typeface="Meiryo"/>
              </a:rPr>
              <a:t>【</a:t>
            </a:r>
            <a:r>
              <a:rPr lang="ja-JP" altLang="en-US" sz="1200" b="1" dirty="0">
                <a:solidFill>
                  <a:srgbClr val="002060"/>
                </a:solidFill>
                <a:latin typeface="Meiryo"/>
                <a:ea typeface="Meiryo"/>
                <a:cs typeface="Meiryo"/>
                <a:sym typeface="Meiryo"/>
              </a:rPr>
              <a:t>共通 </a:t>
            </a:r>
            <a:r>
              <a:rPr lang="en-US" altLang="ja-JP" sz="1200" b="1" dirty="0">
                <a:solidFill>
                  <a:srgbClr val="002060"/>
                </a:solidFill>
                <a:latin typeface="Meiryo"/>
                <a:ea typeface="Meiryo"/>
                <a:cs typeface="Meiryo"/>
                <a:sym typeface="Meiryo"/>
              </a:rPr>
              <a:t>-</a:t>
            </a:r>
            <a:r>
              <a:rPr lang="ja-JP" altLang="en-US" sz="1200" b="1" dirty="0">
                <a:solidFill>
                  <a:srgbClr val="002060"/>
                </a:solidFill>
                <a:latin typeface="Meiryo"/>
                <a:ea typeface="Meiryo"/>
                <a:cs typeface="Meiryo"/>
                <a:sym typeface="Meiryo"/>
              </a:rPr>
              <a:t> 忍者ナイン チャイルドアイズ</a:t>
            </a:r>
            <a:r>
              <a:rPr lang="en-US" altLang="ja-JP" sz="1200" b="1" dirty="0">
                <a:solidFill>
                  <a:srgbClr val="002060"/>
                </a:solidFill>
                <a:latin typeface="Meiryo"/>
                <a:ea typeface="Meiryo"/>
                <a:cs typeface="Meiryo"/>
                <a:sym typeface="Meiryo"/>
              </a:rPr>
              <a:t> - 】</a:t>
            </a:r>
            <a:endParaRPr lang="en-US" altLang="ja-JP"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EC0D1AEC-5D54-2359-450D-84430B2857C0}"/>
              </a:ext>
            </a:extLst>
          </p:cNvPr>
          <p:cNvSpPr txBox="1"/>
          <p:nvPr/>
        </p:nvSpPr>
        <p:spPr>
          <a:xfrm>
            <a:off x="3542139" y="2019663"/>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BE746261-2A92-C9B9-6034-451CF233AB9D}"/>
              </a:ext>
            </a:extLst>
          </p:cNvPr>
          <p:cNvSpPr txBox="1"/>
          <p:nvPr/>
        </p:nvSpPr>
        <p:spPr>
          <a:xfrm>
            <a:off x="6119413" y="2428821"/>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8" name="テキスト ボックス 7">
            <a:extLst>
              <a:ext uri="{FF2B5EF4-FFF2-40B4-BE49-F238E27FC236}">
                <a16:creationId xmlns:a16="http://schemas.microsoft.com/office/drawing/2014/main" id="{8948BAF3-ECB9-2FF9-8B0D-50EE1A62E7C4}"/>
              </a:ext>
            </a:extLst>
          </p:cNvPr>
          <p:cNvSpPr txBox="1"/>
          <p:nvPr/>
        </p:nvSpPr>
        <p:spPr>
          <a:xfrm>
            <a:off x="4830776" y="2224242"/>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9" name="テキスト ボックス 8">
            <a:extLst>
              <a:ext uri="{FF2B5EF4-FFF2-40B4-BE49-F238E27FC236}">
                <a16:creationId xmlns:a16="http://schemas.microsoft.com/office/drawing/2014/main" id="{03689A4E-877A-1305-D91C-502200DDD5CA}"/>
              </a:ext>
            </a:extLst>
          </p:cNvPr>
          <p:cNvSpPr txBox="1"/>
          <p:nvPr/>
        </p:nvSpPr>
        <p:spPr>
          <a:xfrm>
            <a:off x="7408050" y="2633400"/>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10" name="テキスト ボックス 9">
            <a:extLst>
              <a:ext uri="{FF2B5EF4-FFF2-40B4-BE49-F238E27FC236}">
                <a16:creationId xmlns:a16="http://schemas.microsoft.com/office/drawing/2014/main" id="{6B79D75E-D645-6E3E-B433-8F68BE5185B7}"/>
              </a:ext>
            </a:extLst>
          </p:cNvPr>
          <p:cNvSpPr txBox="1"/>
          <p:nvPr/>
        </p:nvSpPr>
        <p:spPr>
          <a:xfrm>
            <a:off x="334303" y="2025747"/>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11" name="テキスト ボックス 10">
            <a:extLst>
              <a:ext uri="{FF2B5EF4-FFF2-40B4-BE49-F238E27FC236}">
                <a16:creationId xmlns:a16="http://schemas.microsoft.com/office/drawing/2014/main" id="{D26B3D93-E4B8-A140-7F64-AEE99515674C}"/>
              </a:ext>
            </a:extLst>
          </p:cNvPr>
          <p:cNvSpPr txBox="1"/>
          <p:nvPr/>
        </p:nvSpPr>
        <p:spPr>
          <a:xfrm>
            <a:off x="1268358" y="2236409"/>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12" name="テキスト ボックス 11">
            <a:extLst>
              <a:ext uri="{FF2B5EF4-FFF2-40B4-BE49-F238E27FC236}">
                <a16:creationId xmlns:a16="http://schemas.microsoft.com/office/drawing/2014/main" id="{12C4F8BA-6552-4B16-FBC5-C62D2917BFE8}"/>
              </a:ext>
            </a:extLst>
          </p:cNvPr>
          <p:cNvSpPr txBox="1"/>
          <p:nvPr/>
        </p:nvSpPr>
        <p:spPr>
          <a:xfrm>
            <a:off x="2202413" y="2430519"/>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13" name="テキスト ボックス 12">
            <a:extLst>
              <a:ext uri="{FF2B5EF4-FFF2-40B4-BE49-F238E27FC236}">
                <a16:creationId xmlns:a16="http://schemas.microsoft.com/office/drawing/2014/main" id="{BD16F021-165B-ADE2-A377-D74CBC854B23}"/>
              </a:ext>
            </a:extLst>
          </p:cNvPr>
          <p:cNvSpPr txBox="1"/>
          <p:nvPr/>
        </p:nvSpPr>
        <p:spPr>
          <a:xfrm>
            <a:off x="3136468" y="2626872"/>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14" name="コネクタ: カギ線 13">
            <a:extLst>
              <a:ext uri="{FF2B5EF4-FFF2-40B4-BE49-F238E27FC236}">
                <a16:creationId xmlns:a16="http://schemas.microsoft.com/office/drawing/2014/main" id="{B116237D-8580-3F61-2B2F-766C3CCF8BF6}"/>
              </a:ext>
            </a:extLst>
          </p:cNvPr>
          <p:cNvCxnSpPr>
            <a:cxnSpLocks/>
            <a:stCxn id="13" idx="0"/>
            <a:endCxn id="6" idx="2"/>
          </p:cNvCxnSpPr>
          <p:nvPr/>
        </p:nvCxnSpPr>
        <p:spPr>
          <a:xfrm rot="5400000" flipH="1" flipV="1">
            <a:off x="4282287" y="2389919"/>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5" name="正方形/長方形 14">
            <a:extLst>
              <a:ext uri="{FF2B5EF4-FFF2-40B4-BE49-F238E27FC236}">
                <a16:creationId xmlns:a16="http://schemas.microsoft.com/office/drawing/2014/main" id="{55D1671E-E029-A7B0-F0FE-5B3AEA581FA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6" name="直線矢印コネクタ 15">
            <a:extLst>
              <a:ext uri="{FF2B5EF4-FFF2-40B4-BE49-F238E27FC236}">
                <a16:creationId xmlns:a16="http://schemas.microsoft.com/office/drawing/2014/main" id="{9C9A66C9-6F0C-720F-D33F-5A677E31CE5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E0FFD56C-A8BF-1D7F-B9F0-7A4C2CF517A7}"/>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28" name="正方形/長方形 27">
            <a:extLst>
              <a:ext uri="{FF2B5EF4-FFF2-40B4-BE49-F238E27FC236}">
                <a16:creationId xmlns:a16="http://schemas.microsoft.com/office/drawing/2014/main" id="{985D0F3D-E958-2764-0030-33A43FBBB844}"/>
              </a:ext>
            </a:extLst>
          </p:cNvPr>
          <p:cNvSpPr/>
          <p:nvPr/>
        </p:nvSpPr>
        <p:spPr>
          <a:xfrm>
            <a:off x="334303" y="3184429"/>
            <a:ext cx="9425943" cy="266492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62DFAD71-5EA4-2410-A3B7-8926C38B8C15}"/>
              </a:ext>
            </a:extLst>
          </p:cNvPr>
          <p:cNvSpPr txBox="1"/>
          <p:nvPr/>
        </p:nvSpPr>
        <p:spPr>
          <a:xfrm>
            <a:off x="3136470" y="3832206"/>
            <a:ext cx="2757865" cy="276999"/>
          </a:xfrm>
          <a:prstGeom prst="rect">
            <a:avLst/>
          </a:prstGeom>
          <a:solidFill>
            <a:srgbClr val="173559"/>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無料体験予約</a:t>
            </a:r>
            <a:endParaRPr lang="en-US" altLang="ja-JP" sz="1200" dirty="0">
              <a:solidFill>
                <a:schemeClr val="bg1"/>
              </a:solidFill>
              <a:latin typeface="メイリオ" panose="020B0604030504040204" pitchFamily="50" charset="-128"/>
              <a:ea typeface="メイリオ" panose="020B0604030504040204" pitchFamily="50" charset="-128"/>
            </a:endParaRPr>
          </a:p>
        </p:txBody>
      </p:sp>
      <p:sp>
        <p:nvSpPr>
          <p:cNvPr id="34" name="テキスト ボックス 33">
            <a:extLst>
              <a:ext uri="{FF2B5EF4-FFF2-40B4-BE49-F238E27FC236}">
                <a16:creationId xmlns:a16="http://schemas.microsoft.com/office/drawing/2014/main" id="{6EF69A8A-6EFE-81B5-27C6-31715CCA0A13}"/>
              </a:ext>
            </a:extLst>
          </p:cNvPr>
          <p:cNvSpPr txBox="1"/>
          <p:nvPr/>
        </p:nvSpPr>
        <p:spPr>
          <a:xfrm>
            <a:off x="4830777" y="4178949"/>
            <a:ext cx="2352196" cy="276999"/>
          </a:xfrm>
          <a:prstGeom prst="rect">
            <a:avLst/>
          </a:prstGeom>
          <a:solidFill>
            <a:srgbClr val="173559"/>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来場</a:t>
            </a:r>
            <a:endParaRPr lang="en-US" altLang="ja-JP" sz="1200" dirty="0">
              <a:solidFill>
                <a:schemeClr val="bg1"/>
              </a:solidFill>
              <a:latin typeface="メイリオ" panose="020B0604030504040204" pitchFamily="50" charset="-128"/>
              <a:ea typeface="メイリオ" panose="020B0604030504040204" pitchFamily="50" charset="-128"/>
            </a:endParaRPr>
          </a:p>
        </p:txBody>
      </p:sp>
      <p:sp>
        <p:nvSpPr>
          <p:cNvPr id="36" name="テキスト ボックス 35">
            <a:extLst>
              <a:ext uri="{FF2B5EF4-FFF2-40B4-BE49-F238E27FC236}">
                <a16:creationId xmlns:a16="http://schemas.microsoft.com/office/drawing/2014/main" id="{38132008-D8F9-19F3-2653-AEF9F6C09DC2}"/>
              </a:ext>
            </a:extLst>
          </p:cNvPr>
          <p:cNvSpPr txBox="1"/>
          <p:nvPr/>
        </p:nvSpPr>
        <p:spPr>
          <a:xfrm>
            <a:off x="6119417" y="4526876"/>
            <a:ext cx="2352195" cy="276999"/>
          </a:xfrm>
          <a:prstGeom prst="rect">
            <a:avLst/>
          </a:prstGeom>
          <a:solidFill>
            <a:srgbClr val="FF0000"/>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入会（有料会員化）</a:t>
            </a:r>
            <a:endParaRPr lang="en-US" altLang="ja-JP" sz="1200" dirty="0">
              <a:solidFill>
                <a:schemeClr val="bg1"/>
              </a:solidFill>
              <a:latin typeface="メイリオ" panose="020B0604030504040204" pitchFamily="50" charset="-128"/>
              <a:ea typeface="メイリオ" panose="020B0604030504040204" pitchFamily="50" charset="-128"/>
            </a:endParaRPr>
          </a:p>
        </p:txBody>
      </p:sp>
      <p:sp>
        <p:nvSpPr>
          <p:cNvPr id="38" name="テキスト ボックス 37">
            <a:extLst>
              <a:ext uri="{FF2B5EF4-FFF2-40B4-BE49-F238E27FC236}">
                <a16:creationId xmlns:a16="http://schemas.microsoft.com/office/drawing/2014/main" id="{8423A7FD-A6C6-EFD2-582C-90B8E121BC79}"/>
              </a:ext>
            </a:extLst>
          </p:cNvPr>
          <p:cNvSpPr txBox="1"/>
          <p:nvPr/>
        </p:nvSpPr>
        <p:spPr>
          <a:xfrm>
            <a:off x="330436" y="3441166"/>
            <a:ext cx="2157994" cy="253916"/>
          </a:xfrm>
          <a:prstGeom prst="rect">
            <a:avLst/>
          </a:prstGeom>
          <a:noFill/>
        </p:spPr>
        <p:txBody>
          <a:bodyPr wrap="square">
            <a:spAutoFit/>
          </a:bodyPr>
          <a:lstStyle/>
          <a:p>
            <a:pPr algn="ctr"/>
            <a:r>
              <a:rPr lang="en-US" altLang="ja-JP" sz="1050" dirty="0">
                <a:latin typeface="メイリオ" panose="020B0604030504040204" pitchFamily="50" charset="-128"/>
                <a:ea typeface="メイリオ" panose="020B0604030504040204" pitchFamily="50" charset="-128"/>
              </a:rPr>
              <a:t>&lt;</a:t>
            </a:r>
            <a:r>
              <a:rPr lang="ja-JP" altLang="en-US" sz="1050" dirty="0">
                <a:latin typeface="メイリオ" panose="020B0604030504040204" pitchFamily="50" charset="-128"/>
                <a:ea typeface="メイリオ" panose="020B0604030504040204" pitchFamily="50" charset="-128"/>
              </a:rPr>
              <a:t>貴社のユーザー動線イメージ</a:t>
            </a:r>
            <a:r>
              <a:rPr lang="en-US" altLang="ja-JP" sz="1050" dirty="0">
                <a:latin typeface="メイリオ" panose="020B0604030504040204" pitchFamily="50" charset="-128"/>
                <a:ea typeface="メイリオ" panose="020B0604030504040204" pitchFamily="50" charset="-128"/>
              </a:rPr>
              <a:t>&gt;</a:t>
            </a:r>
            <a:endParaRPr lang="ja-JP" altLang="en-US" sz="1050" dirty="0">
              <a:latin typeface="メイリオ" panose="020B0604030504040204" pitchFamily="50" charset="-128"/>
              <a:ea typeface="メイリオ" panose="020B0604030504040204" pitchFamily="50" charset="-128"/>
            </a:endParaRPr>
          </a:p>
        </p:txBody>
      </p:sp>
      <p:sp>
        <p:nvSpPr>
          <p:cNvPr id="21" name="テキスト ボックス 20">
            <a:extLst>
              <a:ext uri="{FF2B5EF4-FFF2-40B4-BE49-F238E27FC236}">
                <a16:creationId xmlns:a16="http://schemas.microsoft.com/office/drawing/2014/main" id="{5D74B0A9-936D-80CB-D756-D20982A19D5A}"/>
              </a:ext>
            </a:extLst>
          </p:cNvPr>
          <p:cNvSpPr txBox="1"/>
          <p:nvPr/>
        </p:nvSpPr>
        <p:spPr>
          <a:xfrm>
            <a:off x="605949" y="768699"/>
            <a:ext cx="8797260" cy="523220"/>
          </a:xfrm>
          <a:prstGeom prst="rect">
            <a:avLst/>
          </a:prstGeom>
          <a:noFill/>
        </p:spPr>
        <p:txBody>
          <a:bodyPr wrap="square">
            <a:spAutoFit/>
          </a:bodyPr>
          <a:lstStyle/>
          <a:p>
            <a:pPr algn="ctr"/>
            <a:r>
              <a:rPr lang="ja-JP" altLang="en-US" sz="1400" dirty="0">
                <a:solidFill>
                  <a:schemeClr val="tx1">
                    <a:lumMod val="50000"/>
                    <a:lumOff val="50000"/>
                  </a:schemeClr>
                </a:solidFill>
                <a:latin typeface="Meiryo" panose="020B0604030504040204" pitchFamily="34" charset="-128"/>
                <a:ea typeface="Meiryo" panose="020B0604030504040204" pitchFamily="34" charset="-128"/>
              </a:rPr>
              <a:t>入会数の拡大にあたっては</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①無料体験予約の最大化</a:t>
            </a:r>
            <a:r>
              <a:rPr lang="ja-JP" altLang="en-US" sz="1400" dirty="0">
                <a:solidFill>
                  <a:schemeClr val="tx1">
                    <a:lumMod val="50000"/>
                    <a:lumOff val="50000"/>
                  </a:schemeClr>
                </a:solidFill>
                <a:latin typeface="Meiryo" panose="020B0604030504040204" pitchFamily="34" charset="-128"/>
                <a:ea typeface="Meiryo" panose="020B0604030504040204" pitchFamily="34" charset="-128"/>
              </a:rPr>
              <a:t>を行う必要があり、</a:t>
            </a:r>
            <a:endParaRPr lang="en-US" altLang="ja-JP" sz="1400"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dirty="0">
                <a:solidFill>
                  <a:schemeClr val="tx1">
                    <a:lumMod val="50000"/>
                    <a:lumOff val="50000"/>
                  </a:schemeClr>
                </a:solidFill>
                <a:latin typeface="Meiryo" panose="020B0604030504040204" pitchFamily="34" charset="-128"/>
                <a:ea typeface="Meiryo" panose="020B0604030504040204" pitchFamily="34" charset="-128"/>
              </a:rPr>
              <a:t>また</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②来場及び入会への誘導強化（有効率の改善）</a:t>
            </a:r>
            <a:r>
              <a:rPr lang="ja-JP" altLang="en-US" sz="1400" dirty="0">
                <a:solidFill>
                  <a:schemeClr val="tx1">
                    <a:lumMod val="50000"/>
                    <a:lumOff val="50000"/>
                  </a:schemeClr>
                </a:solidFill>
                <a:latin typeface="Meiryo" panose="020B0604030504040204" pitchFamily="34" charset="-128"/>
                <a:ea typeface="Meiryo" panose="020B0604030504040204" pitchFamily="34" charset="-128"/>
              </a:rPr>
              <a:t>を行う必要が同時に出てくる。</a:t>
            </a:r>
            <a:endParaRPr lang="en-US" altLang="ja-JP" sz="1400" dirty="0">
              <a:solidFill>
                <a:schemeClr val="tx1">
                  <a:lumMod val="50000"/>
                  <a:lumOff val="50000"/>
                </a:schemeClr>
              </a:solidFill>
              <a:latin typeface="Meiryo" panose="020B0604030504040204" pitchFamily="34" charset="-128"/>
              <a:ea typeface="Meiryo" panose="020B0604030504040204" pitchFamily="34" charset="-128"/>
            </a:endParaRPr>
          </a:p>
        </p:txBody>
      </p:sp>
      <p:sp>
        <p:nvSpPr>
          <p:cNvPr id="23" name="テキスト ボックス 22">
            <a:extLst>
              <a:ext uri="{FF2B5EF4-FFF2-40B4-BE49-F238E27FC236}">
                <a16:creationId xmlns:a16="http://schemas.microsoft.com/office/drawing/2014/main" id="{5F1C16D1-2056-4E4E-4E76-CCFC2471EFC6}"/>
              </a:ext>
            </a:extLst>
          </p:cNvPr>
          <p:cNvSpPr txBox="1"/>
          <p:nvPr/>
        </p:nvSpPr>
        <p:spPr>
          <a:xfrm>
            <a:off x="7408051" y="4873981"/>
            <a:ext cx="2352195" cy="276999"/>
          </a:xfrm>
          <a:prstGeom prst="rect">
            <a:avLst/>
          </a:prstGeom>
          <a:solidFill>
            <a:schemeClr val="tx1">
              <a:lumMod val="50000"/>
              <a:lumOff val="50000"/>
            </a:schemeClr>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継続</a:t>
            </a:r>
            <a:endParaRPr lang="en-US" altLang="ja-JP" sz="1200" dirty="0">
              <a:solidFill>
                <a:schemeClr val="bg1"/>
              </a:solidFill>
              <a:latin typeface="メイリオ" panose="020B0604030504040204" pitchFamily="50" charset="-128"/>
              <a:ea typeface="メイリオ" panose="020B0604030504040204" pitchFamily="50" charset="-128"/>
            </a:endParaRPr>
          </a:p>
        </p:txBody>
      </p:sp>
      <p:sp>
        <p:nvSpPr>
          <p:cNvPr id="19" name="テキスト ボックス 18">
            <a:extLst>
              <a:ext uri="{FF2B5EF4-FFF2-40B4-BE49-F238E27FC236}">
                <a16:creationId xmlns:a16="http://schemas.microsoft.com/office/drawing/2014/main" id="{E0409053-B1D2-9FAA-482E-614CCD2E8297}"/>
              </a:ext>
            </a:extLst>
          </p:cNvPr>
          <p:cNvSpPr txBox="1"/>
          <p:nvPr/>
        </p:nvSpPr>
        <p:spPr>
          <a:xfrm>
            <a:off x="7408050" y="5216548"/>
            <a:ext cx="2352195" cy="276999"/>
          </a:xfrm>
          <a:prstGeom prst="rect">
            <a:avLst/>
          </a:prstGeom>
          <a:solidFill>
            <a:schemeClr val="tx1">
              <a:lumMod val="50000"/>
              <a:lumOff val="50000"/>
            </a:schemeClr>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a:t>
            </a:r>
            <a:r>
              <a:rPr lang="ja-JP" altLang="en-US" sz="1200" dirty="0">
                <a:solidFill>
                  <a:schemeClr val="bg1"/>
                </a:solidFill>
                <a:latin typeface="メイリオ" panose="020B0604030504040204" pitchFamily="50" charset="-128"/>
                <a:ea typeface="メイリオ" panose="020B0604030504040204" pitchFamily="50" charset="-128"/>
              </a:rPr>
              <a:t>他サービスの紹介</a:t>
            </a:r>
            <a:r>
              <a:rPr lang="en-US" altLang="ja-JP" sz="1200" dirty="0">
                <a:solidFill>
                  <a:schemeClr val="bg1"/>
                </a:solidFill>
                <a:latin typeface="メイリオ" panose="020B0604030504040204" pitchFamily="50" charset="-128"/>
                <a:ea typeface="メイリオ" panose="020B0604030504040204" pitchFamily="50" charset="-128"/>
              </a:rPr>
              <a:t>)</a:t>
            </a:r>
          </a:p>
        </p:txBody>
      </p:sp>
      <p:cxnSp>
        <p:nvCxnSpPr>
          <p:cNvPr id="22" name="コネクタ: カギ線 21">
            <a:extLst>
              <a:ext uri="{FF2B5EF4-FFF2-40B4-BE49-F238E27FC236}">
                <a16:creationId xmlns:a16="http://schemas.microsoft.com/office/drawing/2014/main" id="{4CF79249-8FFF-EDBE-79D1-696A739C3207}"/>
              </a:ext>
            </a:extLst>
          </p:cNvPr>
          <p:cNvCxnSpPr>
            <a:cxnSpLocks/>
            <a:stCxn id="32" idx="2"/>
            <a:endCxn id="34" idx="1"/>
          </p:cNvCxnSpPr>
          <p:nvPr/>
        </p:nvCxnSpPr>
        <p:spPr>
          <a:xfrm rot="16200000" flipH="1">
            <a:off x="4568968" y="4055640"/>
            <a:ext cx="208244" cy="315374"/>
          </a:xfrm>
          <a:prstGeom prst="bentConnector2">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9" name="コネクタ: カギ線 28">
            <a:extLst>
              <a:ext uri="{FF2B5EF4-FFF2-40B4-BE49-F238E27FC236}">
                <a16:creationId xmlns:a16="http://schemas.microsoft.com/office/drawing/2014/main" id="{CBA42435-77B9-8F10-5F69-E8B6EB26472C}"/>
              </a:ext>
            </a:extLst>
          </p:cNvPr>
          <p:cNvCxnSpPr>
            <a:cxnSpLocks/>
            <a:stCxn id="34" idx="2"/>
            <a:endCxn id="36" idx="1"/>
          </p:cNvCxnSpPr>
          <p:nvPr/>
        </p:nvCxnSpPr>
        <p:spPr>
          <a:xfrm rot="16200000" flipH="1">
            <a:off x="5958432" y="4504391"/>
            <a:ext cx="209428" cy="112542"/>
          </a:xfrm>
          <a:prstGeom prst="bentConnector2">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9" name="テキスト ボックス 38">
            <a:extLst>
              <a:ext uri="{FF2B5EF4-FFF2-40B4-BE49-F238E27FC236}">
                <a16:creationId xmlns:a16="http://schemas.microsoft.com/office/drawing/2014/main" id="{3C1D6754-7C46-5825-A516-18CBAE22FDE9}"/>
              </a:ext>
            </a:extLst>
          </p:cNvPr>
          <p:cNvSpPr txBox="1"/>
          <p:nvPr/>
        </p:nvSpPr>
        <p:spPr>
          <a:xfrm>
            <a:off x="328349" y="3827373"/>
            <a:ext cx="1868111" cy="261610"/>
          </a:xfrm>
          <a:prstGeom prst="rect">
            <a:avLst/>
          </a:prstGeom>
          <a:solidFill>
            <a:schemeClr val="bg1">
              <a:lumMod val="75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（広告・</a:t>
            </a:r>
            <a:r>
              <a:rPr lang="en-US" altLang="ja-JP" sz="1100" b="1" dirty="0">
                <a:latin typeface="メイリオ" panose="020B0604030504040204" pitchFamily="50" charset="-128"/>
                <a:ea typeface="メイリオ" panose="020B0604030504040204" pitchFamily="50" charset="-128"/>
              </a:rPr>
              <a:t>SEO</a:t>
            </a:r>
            <a:r>
              <a:rPr lang="ja-JP" altLang="en-US" sz="11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43" name="テキスト ボックス 42">
            <a:extLst>
              <a:ext uri="{FF2B5EF4-FFF2-40B4-BE49-F238E27FC236}">
                <a16:creationId xmlns:a16="http://schemas.microsoft.com/office/drawing/2014/main" id="{567FE63D-B0BB-1B5F-664B-09DD6B6984F7}"/>
              </a:ext>
            </a:extLst>
          </p:cNvPr>
          <p:cNvSpPr txBox="1"/>
          <p:nvPr/>
        </p:nvSpPr>
        <p:spPr>
          <a:xfrm>
            <a:off x="328348" y="4126943"/>
            <a:ext cx="1868111" cy="261610"/>
          </a:xfrm>
          <a:prstGeom prst="rect">
            <a:avLst/>
          </a:prstGeom>
          <a:solidFill>
            <a:schemeClr val="bg1">
              <a:lumMod val="75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貴社他サービスからの紹介</a:t>
            </a:r>
            <a:endParaRPr lang="ja-JP" altLang="ja-JP" sz="1100" b="1" dirty="0">
              <a:latin typeface="メイリオ" panose="020B0604030504040204" pitchFamily="50" charset="-128"/>
              <a:ea typeface="メイリオ" panose="020B0604030504040204" pitchFamily="50" charset="-128"/>
            </a:endParaRPr>
          </a:p>
        </p:txBody>
      </p:sp>
      <p:cxnSp>
        <p:nvCxnSpPr>
          <p:cNvPr id="44" name="コネクタ: カギ線 43">
            <a:extLst>
              <a:ext uri="{FF2B5EF4-FFF2-40B4-BE49-F238E27FC236}">
                <a16:creationId xmlns:a16="http://schemas.microsoft.com/office/drawing/2014/main" id="{49EFBAB0-BCDF-630C-31F0-B7E739627F12}"/>
              </a:ext>
            </a:extLst>
          </p:cNvPr>
          <p:cNvCxnSpPr>
            <a:cxnSpLocks/>
            <a:stCxn id="39" idx="3"/>
            <a:endCxn id="32" idx="1"/>
          </p:cNvCxnSpPr>
          <p:nvPr/>
        </p:nvCxnSpPr>
        <p:spPr>
          <a:xfrm>
            <a:off x="2196460" y="3958178"/>
            <a:ext cx="940010" cy="12528"/>
          </a:xfrm>
          <a:prstGeom prst="bentConnector3">
            <a:avLst>
              <a:gd name="adj1" fmla="val 50000"/>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コネクタ: カギ線 47">
            <a:extLst>
              <a:ext uri="{FF2B5EF4-FFF2-40B4-BE49-F238E27FC236}">
                <a16:creationId xmlns:a16="http://schemas.microsoft.com/office/drawing/2014/main" id="{8D1AA445-8212-7660-79B6-1F56575E958B}"/>
              </a:ext>
            </a:extLst>
          </p:cNvPr>
          <p:cNvCxnSpPr>
            <a:cxnSpLocks/>
            <a:stCxn id="43" idx="3"/>
            <a:endCxn id="32" idx="1"/>
          </p:cNvCxnSpPr>
          <p:nvPr/>
        </p:nvCxnSpPr>
        <p:spPr>
          <a:xfrm flipV="1">
            <a:off x="2196459" y="3970706"/>
            <a:ext cx="940011" cy="287042"/>
          </a:xfrm>
          <a:prstGeom prst="bentConnector3">
            <a:avLst>
              <a:gd name="adj1" fmla="val 50000"/>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2" name="テキスト ボックス 51">
            <a:extLst>
              <a:ext uri="{FF2B5EF4-FFF2-40B4-BE49-F238E27FC236}">
                <a16:creationId xmlns:a16="http://schemas.microsoft.com/office/drawing/2014/main" id="{3D5EBB5F-0314-5C1C-6914-43812C697BBA}"/>
              </a:ext>
            </a:extLst>
          </p:cNvPr>
          <p:cNvSpPr txBox="1"/>
          <p:nvPr/>
        </p:nvSpPr>
        <p:spPr>
          <a:xfrm>
            <a:off x="2397925" y="3832206"/>
            <a:ext cx="538152" cy="338554"/>
          </a:xfrm>
          <a:prstGeom prst="rect">
            <a:avLst/>
          </a:prstGeom>
          <a:solidFill>
            <a:schemeClr val="accent1">
              <a:lumMod val="40000"/>
              <a:lumOff val="60000"/>
            </a:schemeClr>
          </a:solidFill>
        </p:spPr>
        <p:txBody>
          <a:bodyPr wrap="square">
            <a:spAutoFit/>
          </a:bodyPr>
          <a:lstStyle/>
          <a:p>
            <a:pPr algn="ctr"/>
            <a:r>
              <a:rPr lang="ja-JP" altLang="en-US" sz="800" dirty="0">
                <a:solidFill>
                  <a:schemeClr val="bg1"/>
                </a:solidFill>
                <a:latin typeface="メイリオ" panose="020B0604030504040204" pitchFamily="50" charset="-128"/>
                <a:ea typeface="メイリオ" panose="020B0604030504040204" pitchFamily="50" charset="-128"/>
              </a:rPr>
              <a:t>電話</a:t>
            </a:r>
            <a:endParaRPr lang="en-US" altLang="ja-JP" sz="800" dirty="0">
              <a:solidFill>
                <a:schemeClr val="bg1"/>
              </a:solidFill>
              <a:latin typeface="メイリオ" panose="020B0604030504040204" pitchFamily="50" charset="-128"/>
              <a:ea typeface="メイリオ" panose="020B0604030504040204" pitchFamily="50" charset="-128"/>
            </a:endParaRPr>
          </a:p>
          <a:p>
            <a:pPr algn="ctr"/>
            <a:r>
              <a:rPr lang="en-US" altLang="ja-JP" sz="800" dirty="0">
                <a:solidFill>
                  <a:schemeClr val="bg1"/>
                </a:solidFill>
                <a:latin typeface="メイリオ" panose="020B0604030504040204" pitchFamily="50" charset="-128"/>
                <a:ea typeface="メイリオ" panose="020B0604030504040204" pitchFamily="50" charset="-128"/>
              </a:rPr>
              <a:t>WEB</a:t>
            </a:r>
          </a:p>
        </p:txBody>
      </p:sp>
    </p:spTree>
    <p:extLst>
      <p:ext uri="{BB962C8B-B14F-4D97-AF65-F5344CB8AC3E}">
        <p14:creationId xmlns:p14="http://schemas.microsoft.com/office/powerpoint/2010/main" val="17159093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137160"/>
            <a:ext cx="6858000" cy="365760"/>
          </a:xfrm>
          <a:prstGeom prst="rect">
            <a:avLst/>
          </a:prstGeom>
          <a:noFill/>
        </p:spPr>
        <p:txBody>
          <a:bodyPr wrap="square">
            <a:spAutoFit/>
          </a:bodyPr>
          <a:lstStyle/>
          <a:p>
            <a:pPr algn="l"/>
            <a:r>
              <a:rPr sz="1400" b="1">
                <a:solidFill>
                  <a:srgbClr val="002060"/>
                </a:solidFill>
                <a:latin typeface="メイリオ"/>
                <a:ea typeface="メイリオ"/>
                <a:cs typeface="メイリオ"/>
              </a:rPr>
              <a:t>本提案の考え方</a:t>
            </a:r>
          </a:p>
        </p:txBody>
      </p:sp>
      <p:sp>
        <p:nvSpPr>
          <p:cNvPr id="3" name="TextBox 2"/>
          <p:cNvSpPr txBox="1"/>
          <p:nvPr/>
        </p:nvSpPr>
        <p:spPr>
          <a:xfrm>
            <a:off x="548640" y="1234440"/>
            <a:ext cx="8805672" cy="548640"/>
          </a:xfrm>
          <a:prstGeom prst="rect">
            <a:avLst/>
          </a:prstGeom>
          <a:noFill/>
        </p:spPr>
        <p:txBody>
          <a:bodyPr wrap="square">
            <a:spAutoFit/>
          </a:bodyPr>
          <a:lstStyle/>
          <a:p>
            <a:pPr algn="ctr"/>
            <a:r>
              <a:rPr sz="2400" b="1">
                <a:solidFill>
                  <a:srgbClr val="333333"/>
                </a:solidFill>
                <a:latin typeface="メイリオ"/>
                <a:ea typeface="メイリオ"/>
                <a:cs typeface="メイリオ"/>
              </a:rPr>
              <a:t>広告は、CVの瞬間で接点が終わる。</a:t>
            </a:r>
          </a:p>
        </p:txBody>
      </p:sp>
      <p:sp>
        <p:nvSpPr>
          <p:cNvPr id="4" name="TextBox 3"/>
          <p:cNvSpPr txBox="1"/>
          <p:nvPr/>
        </p:nvSpPr>
        <p:spPr>
          <a:xfrm>
            <a:off x="548640" y="1828800"/>
            <a:ext cx="8805672" cy="640080"/>
          </a:xfrm>
          <a:prstGeom prst="rect">
            <a:avLst/>
          </a:prstGeom>
          <a:noFill/>
        </p:spPr>
        <p:txBody>
          <a:bodyPr wrap="square">
            <a:spAutoFit/>
          </a:bodyPr>
          <a:lstStyle/>
          <a:p>
            <a:pPr algn="ctr"/>
            <a:r>
              <a:rPr sz="3000" b="1">
                <a:solidFill>
                  <a:srgbClr val="BF4E0E"/>
                </a:solidFill>
                <a:latin typeface="メイリオ"/>
                <a:ea typeface="メイリオ"/>
                <a:cs typeface="メイリオ"/>
              </a:rPr>
              <a:t>LINEは、CVの先まで追いきれる。</a:t>
            </a:r>
          </a:p>
        </p:txBody>
      </p:sp>
      <p:sp>
        <p:nvSpPr>
          <p:cNvPr id="5" name="TextBox 4"/>
          <p:cNvSpPr txBox="1"/>
          <p:nvPr/>
        </p:nvSpPr>
        <p:spPr>
          <a:xfrm>
            <a:off x="548640" y="2788920"/>
            <a:ext cx="8805672" cy="822960"/>
          </a:xfrm>
          <a:prstGeom prst="rect">
            <a:avLst/>
          </a:prstGeom>
          <a:noFill/>
        </p:spPr>
        <p:txBody>
          <a:bodyPr wrap="square">
            <a:spAutoFit/>
          </a:bodyPr>
          <a:lstStyle/>
          <a:p>
            <a:pPr algn="ctr"/>
            <a:r>
              <a:rPr sz="1400" b="0" dirty="0" err="1">
                <a:solidFill>
                  <a:srgbClr val="333333"/>
                </a:solidFill>
                <a:latin typeface="メイリオ"/>
                <a:ea typeface="メイリオ"/>
                <a:cs typeface="メイリオ"/>
              </a:rPr>
              <a:t>一度つながれば、接点を持ち続けられる。情報を渡し続けられる</a:t>
            </a:r>
            <a:r>
              <a:rPr sz="1400" b="0" dirty="0">
                <a:solidFill>
                  <a:srgbClr val="333333"/>
                </a:solidFill>
                <a:latin typeface="メイリオ"/>
                <a:ea typeface="メイリオ"/>
                <a:cs typeface="メイリオ"/>
              </a:rPr>
              <a:t>。</a:t>
            </a:r>
          </a:p>
          <a:p>
            <a:pPr algn="ctr"/>
            <a:r>
              <a:rPr sz="1400" b="0" dirty="0" err="1">
                <a:solidFill>
                  <a:srgbClr val="333333"/>
                </a:solidFill>
                <a:latin typeface="メイリオ"/>
                <a:ea typeface="メイリオ"/>
                <a:cs typeface="メイリオ"/>
              </a:rPr>
              <a:t>体験予約で終わらず、来場</a:t>
            </a:r>
            <a:r>
              <a:rPr sz="1400" b="0" dirty="0">
                <a:solidFill>
                  <a:srgbClr val="333333"/>
                </a:solidFill>
                <a:latin typeface="メイリオ"/>
                <a:ea typeface="メイリオ"/>
                <a:cs typeface="メイリオ"/>
              </a:rPr>
              <a:t> → </a:t>
            </a:r>
            <a:r>
              <a:rPr sz="1400" b="0" dirty="0" err="1">
                <a:solidFill>
                  <a:srgbClr val="333333"/>
                </a:solidFill>
                <a:latin typeface="メイリオ"/>
                <a:ea typeface="メイリオ"/>
                <a:cs typeface="メイリオ"/>
              </a:rPr>
              <a:t>入会</a:t>
            </a:r>
            <a:r>
              <a:rPr sz="1400" b="0" dirty="0">
                <a:solidFill>
                  <a:srgbClr val="333333"/>
                </a:solidFill>
                <a:latin typeface="メイリオ"/>
                <a:ea typeface="メイリオ"/>
                <a:cs typeface="メイリオ"/>
              </a:rPr>
              <a:t> → </a:t>
            </a:r>
            <a:r>
              <a:rPr sz="1400" b="0" dirty="0" err="1">
                <a:solidFill>
                  <a:srgbClr val="333333"/>
                </a:solidFill>
                <a:latin typeface="メイリオ"/>
                <a:ea typeface="メイリオ"/>
                <a:cs typeface="メイリオ"/>
              </a:rPr>
              <a:t>継続まで並走できる</a:t>
            </a:r>
            <a:r>
              <a:rPr sz="1400" b="0" dirty="0">
                <a:solidFill>
                  <a:srgbClr val="333333"/>
                </a:solidFill>
                <a:latin typeface="メイリオ"/>
                <a:ea typeface="メイリオ"/>
                <a:cs typeface="メイリオ"/>
              </a:rPr>
              <a:t>——</a:t>
            </a:r>
            <a:r>
              <a:rPr sz="1400" b="0" dirty="0" err="1">
                <a:solidFill>
                  <a:srgbClr val="333333"/>
                </a:solidFill>
                <a:latin typeface="メイリオ"/>
                <a:ea typeface="メイリオ"/>
                <a:cs typeface="メイリオ"/>
              </a:rPr>
              <a:t>これがLINE最大の魅力です</a:t>
            </a:r>
            <a:r>
              <a:rPr sz="1400" b="0" dirty="0">
                <a:solidFill>
                  <a:srgbClr val="333333"/>
                </a:solidFill>
                <a:latin typeface="メイリオ"/>
                <a:ea typeface="メイリオ"/>
                <a:cs typeface="メイリオ"/>
              </a:rPr>
              <a:t>。</a:t>
            </a:r>
          </a:p>
        </p:txBody>
      </p:sp>
      <p:sp>
        <p:nvSpPr>
          <p:cNvPr id="6" name="TextBox 5"/>
          <p:cNvSpPr txBox="1"/>
          <p:nvPr/>
        </p:nvSpPr>
        <p:spPr>
          <a:xfrm>
            <a:off x="640080" y="4206240"/>
            <a:ext cx="822960" cy="365760"/>
          </a:xfrm>
          <a:prstGeom prst="rect">
            <a:avLst/>
          </a:prstGeom>
          <a:noFill/>
        </p:spPr>
        <p:txBody>
          <a:bodyPr wrap="square">
            <a:spAutoFit/>
          </a:bodyPr>
          <a:lstStyle/>
          <a:p>
            <a:pPr algn="l"/>
            <a:r>
              <a:rPr sz="1400" b="1">
                <a:solidFill>
                  <a:srgbClr val="333333"/>
                </a:solidFill>
                <a:latin typeface="メイリオ"/>
                <a:ea typeface="メイリオ"/>
                <a:cs typeface="メイリオ"/>
              </a:rPr>
              <a:t>広告</a:t>
            </a:r>
          </a:p>
        </p:txBody>
      </p:sp>
      <p:sp>
        <p:nvSpPr>
          <p:cNvPr id="7" name="Rounded Rectangle 6"/>
          <p:cNvSpPr/>
          <p:nvPr/>
        </p:nvSpPr>
        <p:spPr>
          <a:xfrm>
            <a:off x="1554480" y="4160520"/>
            <a:ext cx="1325880" cy="475488"/>
          </a:xfrm>
          <a:prstGeom prst="roundRect">
            <a:avLst>
              <a:gd name="adj" fmla="val 12000"/>
            </a:avLst>
          </a:prstGeom>
          <a:solidFill>
            <a:srgbClr val="F0F0F0"/>
          </a:solidFill>
          <a:ln w="12700">
            <a:solidFill>
              <a:srgbClr val="D9D9D9"/>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333333"/>
                </a:solidFill>
                <a:latin typeface="メイリオ"/>
                <a:ea typeface="メイリオ"/>
                <a:cs typeface="メイリオ"/>
              </a:rPr>
              <a:t>接触</a:t>
            </a:r>
          </a:p>
        </p:txBody>
      </p:sp>
      <p:sp>
        <p:nvSpPr>
          <p:cNvPr id="8" name="TextBox 7"/>
          <p:cNvSpPr txBox="1"/>
          <p:nvPr/>
        </p:nvSpPr>
        <p:spPr>
          <a:xfrm>
            <a:off x="2907792" y="4233672"/>
            <a:ext cx="274320" cy="365760"/>
          </a:xfrm>
          <a:prstGeom prst="rect">
            <a:avLst/>
          </a:prstGeom>
          <a:noFill/>
        </p:spPr>
        <p:txBody>
          <a:bodyPr wrap="square">
            <a:spAutoFit/>
          </a:bodyPr>
          <a:lstStyle/>
          <a:p>
            <a:pPr algn="ctr"/>
            <a:r>
              <a:rPr sz="1400" b="1">
                <a:solidFill>
                  <a:srgbClr val="1F285A"/>
                </a:solidFill>
                <a:latin typeface="メイリオ"/>
                <a:ea typeface="メイリオ"/>
                <a:cs typeface="メイリオ"/>
              </a:rPr>
              <a:t>→</a:t>
            </a:r>
          </a:p>
        </p:txBody>
      </p:sp>
      <p:sp>
        <p:nvSpPr>
          <p:cNvPr id="9" name="Rounded Rectangle 8"/>
          <p:cNvSpPr/>
          <p:nvPr/>
        </p:nvSpPr>
        <p:spPr>
          <a:xfrm>
            <a:off x="3218688" y="4160520"/>
            <a:ext cx="1737360" cy="475488"/>
          </a:xfrm>
          <a:prstGeom prst="roundRect">
            <a:avLst>
              <a:gd name="adj" fmla="val 12000"/>
            </a:avLst>
          </a:prstGeom>
          <a:solidFill>
            <a:srgbClr val="F0F0F0"/>
          </a:solidFill>
          <a:ln w="12700">
            <a:solidFill>
              <a:srgbClr val="D9D9D9"/>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333333"/>
                </a:solidFill>
                <a:latin typeface="メイリオ"/>
                <a:ea typeface="メイリオ"/>
                <a:cs typeface="メイリオ"/>
              </a:rPr>
              <a:t>体験予約（CV）</a:t>
            </a:r>
          </a:p>
        </p:txBody>
      </p:sp>
      <p:sp>
        <p:nvSpPr>
          <p:cNvPr id="10" name="TextBox 9"/>
          <p:cNvSpPr txBox="1"/>
          <p:nvPr/>
        </p:nvSpPr>
        <p:spPr>
          <a:xfrm>
            <a:off x="5166360" y="4224528"/>
            <a:ext cx="3108960" cy="365760"/>
          </a:xfrm>
          <a:prstGeom prst="rect">
            <a:avLst/>
          </a:prstGeom>
          <a:noFill/>
        </p:spPr>
        <p:txBody>
          <a:bodyPr wrap="square">
            <a:spAutoFit/>
          </a:bodyPr>
          <a:lstStyle/>
          <a:p>
            <a:pPr algn="l"/>
            <a:r>
              <a:rPr sz="1300" b="1">
                <a:solidFill>
                  <a:srgbClr val="C00000"/>
                </a:solidFill>
                <a:latin typeface="メイリオ"/>
                <a:ea typeface="メイリオ"/>
                <a:cs typeface="メイリオ"/>
              </a:rPr>
              <a:t>✕ ここで接点が途切れる</a:t>
            </a:r>
          </a:p>
        </p:txBody>
      </p:sp>
      <p:sp>
        <p:nvSpPr>
          <p:cNvPr id="11" name="TextBox 10"/>
          <p:cNvSpPr txBox="1"/>
          <p:nvPr/>
        </p:nvSpPr>
        <p:spPr>
          <a:xfrm>
            <a:off x="640080" y="5212080"/>
            <a:ext cx="822960" cy="365760"/>
          </a:xfrm>
          <a:prstGeom prst="rect">
            <a:avLst/>
          </a:prstGeom>
          <a:noFill/>
        </p:spPr>
        <p:txBody>
          <a:bodyPr wrap="square">
            <a:spAutoFit/>
          </a:bodyPr>
          <a:lstStyle/>
          <a:p>
            <a:pPr algn="l"/>
            <a:r>
              <a:rPr sz="1400" b="1">
                <a:solidFill>
                  <a:srgbClr val="1F285A"/>
                </a:solidFill>
                <a:latin typeface="メイリオ"/>
                <a:ea typeface="メイリオ"/>
                <a:cs typeface="メイリオ"/>
              </a:rPr>
              <a:t>LINE</a:t>
            </a:r>
          </a:p>
        </p:txBody>
      </p:sp>
      <p:sp>
        <p:nvSpPr>
          <p:cNvPr id="12" name="Rounded Rectangle 11"/>
          <p:cNvSpPr/>
          <p:nvPr/>
        </p:nvSpPr>
        <p:spPr>
          <a:xfrm>
            <a:off x="1554480" y="5166360"/>
            <a:ext cx="132588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1F285A"/>
                </a:solidFill>
                <a:latin typeface="メイリオ"/>
                <a:ea typeface="メイリオ"/>
                <a:cs typeface="メイリオ"/>
              </a:rPr>
              <a:t>接触</a:t>
            </a:r>
          </a:p>
        </p:txBody>
      </p:sp>
      <p:sp>
        <p:nvSpPr>
          <p:cNvPr id="13" name="TextBox 12"/>
          <p:cNvSpPr txBox="1"/>
          <p:nvPr/>
        </p:nvSpPr>
        <p:spPr>
          <a:xfrm>
            <a:off x="2907792" y="5239512"/>
            <a:ext cx="274320" cy="365760"/>
          </a:xfrm>
          <a:prstGeom prst="rect">
            <a:avLst/>
          </a:prstGeom>
          <a:noFill/>
        </p:spPr>
        <p:txBody>
          <a:bodyPr wrap="square">
            <a:spAutoFit/>
          </a:bodyPr>
          <a:lstStyle/>
          <a:p>
            <a:pPr algn="ctr"/>
            <a:r>
              <a:rPr sz="1400" b="1">
                <a:solidFill>
                  <a:srgbClr val="1F285A"/>
                </a:solidFill>
                <a:latin typeface="メイリオ"/>
                <a:ea typeface="メイリオ"/>
                <a:cs typeface="メイリオ"/>
              </a:rPr>
              <a:t>→</a:t>
            </a:r>
          </a:p>
        </p:txBody>
      </p:sp>
      <p:sp>
        <p:nvSpPr>
          <p:cNvPr id="14" name="Rounded Rectangle 13"/>
          <p:cNvSpPr/>
          <p:nvPr/>
        </p:nvSpPr>
        <p:spPr>
          <a:xfrm>
            <a:off x="3218688" y="5166360"/>
            <a:ext cx="173736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1F285A"/>
                </a:solidFill>
                <a:latin typeface="メイリオ"/>
                <a:ea typeface="メイリオ"/>
                <a:cs typeface="メイリオ"/>
              </a:rPr>
              <a:t>体験予約（CV）</a:t>
            </a:r>
          </a:p>
        </p:txBody>
      </p:sp>
      <p:sp>
        <p:nvSpPr>
          <p:cNvPr id="15" name="TextBox 14"/>
          <p:cNvSpPr txBox="1"/>
          <p:nvPr/>
        </p:nvSpPr>
        <p:spPr>
          <a:xfrm>
            <a:off x="4983480" y="5239512"/>
            <a:ext cx="274320" cy="365760"/>
          </a:xfrm>
          <a:prstGeom prst="rect">
            <a:avLst/>
          </a:prstGeom>
          <a:noFill/>
        </p:spPr>
        <p:txBody>
          <a:bodyPr wrap="square">
            <a:spAutoFit/>
          </a:bodyPr>
          <a:lstStyle/>
          <a:p>
            <a:pPr algn="ctr"/>
            <a:r>
              <a:rPr sz="1400" b="1">
                <a:solidFill>
                  <a:srgbClr val="1F285A"/>
                </a:solidFill>
                <a:latin typeface="メイリオ"/>
                <a:ea typeface="メイリオ"/>
                <a:cs typeface="メイリオ"/>
              </a:rPr>
              <a:t>→</a:t>
            </a:r>
          </a:p>
        </p:txBody>
      </p:sp>
      <p:sp>
        <p:nvSpPr>
          <p:cNvPr id="16" name="Rounded Rectangle 15"/>
          <p:cNvSpPr/>
          <p:nvPr/>
        </p:nvSpPr>
        <p:spPr>
          <a:xfrm>
            <a:off x="5294376" y="5166360"/>
            <a:ext cx="109728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1F285A"/>
                </a:solidFill>
                <a:latin typeface="メイリオ"/>
                <a:ea typeface="メイリオ"/>
                <a:cs typeface="メイリオ"/>
              </a:rPr>
              <a:t>来場</a:t>
            </a:r>
          </a:p>
        </p:txBody>
      </p:sp>
      <p:sp>
        <p:nvSpPr>
          <p:cNvPr id="17" name="TextBox 16"/>
          <p:cNvSpPr txBox="1"/>
          <p:nvPr/>
        </p:nvSpPr>
        <p:spPr>
          <a:xfrm>
            <a:off x="6419088" y="5239512"/>
            <a:ext cx="274320" cy="365760"/>
          </a:xfrm>
          <a:prstGeom prst="rect">
            <a:avLst/>
          </a:prstGeom>
          <a:noFill/>
        </p:spPr>
        <p:txBody>
          <a:bodyPr wrap="square">
            <a:spAutoFit/>
          </a:bodyPr>
          <a:lstStyle/>
          <a:p>
            <a:pPr algn="ctr"/>
            <a:r>
              <a:rPr sz="1400" b="1">
                <a:solidFill>
                  <a:srgbClr val="1F285A"/>
                </a:solidFill>
                <a:latin typeface="メイリオ"/>
                <a:ea typeface="メイリオ"/>
                <a:cs typeface="メイリオ"/>
              </a:rPr>
              <a:t>→</a:t>
            </a:r>
          </a:p>
        </p:txBody>
      </p:sp>
      <p:sp>
        <p:nvSpPr>
          <p:cNvPr id="18" name="Rounded Rectangle 17"/>
          <p:cNvSpPr/>
          <p:nvPr/>
        </p:nvSpPr>
        <p:spPr>
          <a:xfrm>
            <a:off x="6729984" y="5166360"/>
            <a:ext cx="1097280" cy="475488"/>
          </a:xfrm>
          <a:prstGeom prst="roundRect">
            <a:avLst>
              <a:gd name="adj" fmla="val 12000"/>
            </a:avLst>
          </a:prstGeom>
          <a:solidFill>
            <a:srgbClr val="1F285A"/>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メイリオ"/>
                <a:ea typeface="メイリオ"/>
                <a:cs typeface="メイリオ"/>
              </a:rPr>
              <a:t>入会</a:t>
            </a:r>
          </a:p>
        </p:txBody>
      </p:sp>
      <p:sp>
        <p:nvSpPr>
          <p:cNvPr id="19" name="TextBox 18"/>
          <p:cNvSpPr txBox="1"/>
          <p:nvPr/>
        </p:nvSpPr>
        <p:spPr>
          <a:xfrm>
            <a:off x="7854696" y="5239512"/>
            <a:ext cx="274320" cy="365760"/>
          </a:xfrm>
          <a:prstGeom prst="rect">
            <a:avLst/>
          </a:prstGeom>
          <a:noFill/>
        </p:spPr>
        <p:txBody>
          <a:bodyPr wrap="square">
            <a:spAutoFit/>
          </a:bodyPr>
          <a:lstStyle/>
          <a:p>
            <a:pPr algn="ctr"/>
            <a:r>
              <a:rPr sz="1400" b="1">
                <a:solidFill>
                  <a:srgbClr val="1F285A"/>
                </a:solidFill>
                <a:latin typeface="メイリオ"/>
                <a:ea typeface="メイリオ"/>
                <a:cs typeface="メイリオ"/>
              </a:rPr>
              <a:t>→</a:t>
            </a:r>
          </a:p>
        </p:txBody>
      </p:sp>
      <p:sp>
        <p:nvSpPr>
          <p:cNvPr id="20" name="Rounded Rectangle 19"/>
          <p:cNvSpPr/>
          <p:nvPr/>
        </p:nvSpPr>
        <p:spPr>
          <a:xfrm>
            <a:off x="8165592" y="5166360"/>
            <a:ext cx="123444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1F285A"/>
                </a:solidFill>
                <a:latin typeface="メイリオ"/>
                <a:ea typeface="メイリオ"/>
                <a:cs typeface="メイリオ"/>
              </a:rPr>
              <a:t>継続・紹介</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6375E-1E7D-4890-1258-5DB3117640D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DFBA01A-1ABD-808E-C272-C7AE180BC12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BEBFCB2D-6FAD-96C0-BD6C-51465F2A4A6E}"/>
              </a:ext>
            </a:extLst>
          </p:cNvPr>
          <p:cNvSpPr/>
          <p:nvPr/>
        </p:nvSpPr>
        <p:spPr>
          <a:xfrm>
            <a:off x="4039946" y="3038203"/>
            <a:ext cx="1826141"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市場分析</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8414866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01AEA3-5B74-7C38-9336-4D6A18C7CFB5}"/>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28982883-62D2-1FB6-448E-4DBFD3487BB8}"/>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市場分析（全体）</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B2A895AE-F6EA-11C0-FE80-47B95B614699}"/>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US" altLang="ja-JP" sz="1700" dirty="0">
                <a:solidFill>
                  <a:schemeClr val="tx1"/>
                </a:solidFill>
              </a:rPr>
              <a:t>LINE</a:t>
            </a:r>
            <a:r>
              <a:rPr lang="ja-JP" altLang="en-US" sz="1700" dirty="0">
                <a:solidFill>
                  <a:schemeClr val="tx1"/>
                </a:solidFill>
              </a:rPr>
              <a:t>ヤフー社提供の前後検索クエリより（クエリ：子ども 習い事）</a:t>
            </a:r>
            <a:endParaRPr lang="en-US" altLang="ja-JP" sz="1700" dirty="0">
              <a:solidFill>
                <a:schemeClr val="tx1"/>
              </a:solidFill>
            </a:endParaRPr>
          </a:p>
        </p:txBody>
      </p:sp>
      <p:sp>
        <p:nvSpPr>
          <p:cNvPr id="24" name="Rounded Rectangle 2">
            <a:extLst>
              <a:ext uri="{FF2B5EF4-FFF2-40B4-BE49-F238E27FC236}">
                <a16:creationId xmlns:a16="http://schemas.microsoft.com/office/drawing/2014/main" id="{17E8DBF9-A9D2-B706-F31D-87C825EC47BB}"/>
              </a:ext>
            </a:extLst>
          </p:cNvPr>
          <p:cNvSpPr/>
          <p:nvPr/>
        </p:nvSpPr>
        <p:spPr>
          <a:xfrm>
            <a:off x="385572" y="1638300"/>
            <a:ext cx="2148840" cy="1188720"/>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sz="2800" b="1">
                <a:solidFill>
                  <a:srgbClr val="FFFFFF"/>
                </a:solidFill>
                <a:latin typeface="メイリオ" panose="020B0604030504040204" pitchFamily="50" charset="-128"/>
                <a:ea typeface="メイリオ" panose="020B0604030504040204" pitchFamily="50" charset="-128"/>
              </a:rPr>
              <a:t>46%</a:t>
            </a:r>
          </a:p>
          <a:p>
            <a:pPr algn="ctr"/>
            <a:r>
              <a:rPr sz="1100">
                <a:solidFill>
                  <a:srgbClr val="FFFFFF"/>
                </a:solidFill>
                <a:latin typeface="メイリオ" panose="020B0604030504040204" pitchFamily="50" charset="-128"/>
                <a:ea typeface="メイリオ" panose="020B0604030504040204" pitchFamily="50" charset="-128"/>
              </a:rPr>
              <a:t>習い事の開始年齢
「3〜5歳」が最多</a:t>
            </a:r>
          </a:p>
        </p:txBody>
      </p:sp>
      <p:sp>
        <p:nvSpPr>
          <p:cNvPr id="25" name="Rounded Rectangle 3">
            <a:extLst>
              <a:ext uri="{FF2B5EF4-FFF2-40B4-BE49-F238E27FC236}">
                <a16:creationId xmlns:a16="http://schemas.microsoft.com/office/drawing/2014/main" id="{26FA1AA9-A712-DE17-BB8B-F8F64E490409}"/>
              </a:ext>
            </a:extLst>
          </p:cNvPr>
          <p:cNvSpPr/>
          <p:nvPr/>
        </p:nvSpPr>
        <p:spPr>
          <a:xfrm>
            <a:off x="2671572" y="1638300"/>
            <a:ext cx="2148840" cy="1188720"/>
          </a:xfrm>
          <a:prstGeom prst="roundRect">
            <a:avLst/>
          </a:prstGeom>
          <a:solidFill>
            <a:schemeClr val="tx2">
              <a:lumMod val="75000"/>
            </a:schemeClr>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sz="2400" b="1" dirty="0">
                <a:solidFill>
                  <a:srgbClr val="FFFFFF"/>
                </a:solidFill>
                <a:latin typeface="メイリオ" panose="020B0604030504040204" pitchFamily="50" charset="-128"/>
                <a:ea typeface="メイリオ" panose="020B0604030504040204" pitchFamily="50" charset="-128"/>
              </a:rPr>
              <a:t>10,146円</a:t>
            </a:r>
          </a:p>
          <a:p>
            <a:pPr algn="ctr"/>
            <a:r>
              <a:rPr sz="1100" dirty="0">
                <a:solidFill>
                  <a:srgbClr val="FFFFFF"/>
                </a:solidFill>
                <a:latin typeface="メイリオ" panose="020B0604030504040204" pitchFamily="50" charset="-128"/>
                <a:ea typeface="メイリオ" panose="020B0604030504040204" pitchFamily="50" charset="-128"/>
              </a:rPr>
              <a:t>4〜6歳の
</a:t>
            </a:r>
            <a:r>
              <a:rPr sz="1100" dirty="0" err="1">
                <a:solidFill>
                  <a:srgbClr val="FFFFFF"/>
                </a:solidFill>
                <a:latin typeface="メイリオ" panose="020B0604030504040204" pitchFamily="50" charset="-128"/>
                <a:ea typeface="メイリオ" panose="020B0604030504040204" pitchFamily="50" charset="-128"/>
              </a:rPr>
              <a:t>月謝合計平均</a:t>
            </a:r>
            <a:endParaRPr sz="1100" dirty="0">
              <a:solidFill>
                <a:srgbClr val="FFFFFF"/>
              </a:solidFill>
              <a:latin typeface="メイリオ" panose="020B0604030504040204" pitchFamily="50" charset="-128"/>
              <a:ea typeface="メイリオ" panose="020B0604030504040204" pitchFamily="50" charset="-128"/>
            </a:endParaRPr>
          </a:p>
        </p:txBody>
      </p:sp>
      <p:sp>
        <p:nvSpPr>
          <p:cNvPr id="26" name="Rounded Rectangle 4">
            <a:extLst>
              <a:ext uri="{FF2B5EF4-FFF2-40B4-BE49-F238E27FC236}">
                <a16:creationId xmlns:a16="http://schemas.microsoft.com/office/drawing/2014/main" id="{1902E2F6-AC7A-D576-8415-3C855D5947A9}"/>
              </a:ext>
            </a:extLst>
          </p:cNvPr>
          <p:cNvSpPr/>
          <p:nvPr/>
        </p:nvSpPr>
        <p:spPr>
          <a:xfrm>
            <a:off x="4957572" y="1638300"/>
            <a:ext cx="2148840" cy="1188720"/>
          </a:xfrm>
          <a:prstGeom prst="roundRect">
            <a:avLst/>
          </a:prstGeom>
          <a:solidFill>
            <a:schemeClr val="accent1">
              <a:lumMod val="75000"/>
            </a:schemeClr>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sz="2800" b="1">
                <a:solidFill>
                  <a:srgbClr val="FFFFFF"/>
                </a:solidFill>
                <a:latin typeface="メイリオ" panose="020B0604030504040204" pitchFamily="50" charset="-128"/>
                <a:ea typeface="メイリオ" panose="020B0604030504040204" pitchFamily="50" charset="-128"/>
              </a:rPr>
              <a:t>58%</a:t>
            </a:r>
          </a:p>
          <a:p>
            <a:pPr algn="ctr"/>
            <a:r>
              <a:rPr sz="1100">
                <a:solidFill>
                  <a:srgbClr val="FFFFFF"/>
                </a:solidFill>
                <a:latin typeface="メイリオ" panose="020B0604030504040204" pitchFamily="50" charset="-128"/>
                <a:ea typeface="メイリオ" panose="020B0604030504040204" pitchFamily="50" charset="-128"/>
              </a:rPr>
              <a:t>習い事「1つ」
のみの家庭</a:t>
            </a:r>
          </a:p>
        </p:txBody>
      </p:sp>
      <p:sp>
        <p:nvSpPr>
          <p:cNvPr id="27" name="Rounded Rectangle 5">
            <a:extLst>
              <a:ext uri="{FF2B5EF4-FFF2-40B4-BE49-F238E27FC236}">
                <a16:creationId xmlns:a16="http://schemas.microsoft.com/office/drawing/2014/main" id="{8A74C4D5-CD3A-115D-11F4-4692E83BC2E3}"/>
              </a:ext>
            </a:extLst>
          </p:cNvPr>
          <p:cNvSpPr/>
          <p:nvPr/>
        </p:nvSpPr>
        <p:spPr>
          <a:xfrm>
            <a:off x="7243572" y="1638300"/>
            <a:ext cx="2148840" cy="1188720"/>
          </a:xfrm>
          <a:prstGeom prst="round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sz="2800" b="1" dirty="0">
                <a:solidFill>
                  <a:srgbClr val="FFFFFF"/>
                </a:solidFill>
                <a:latin typeface="メイリオ" panose="020B0604030504040204" pitchFamily="50" charset="-128"/>
                <a:ea typeface="メイリオ" panose="020B0604030504040204" pitchFamily="50" charset="-128"/>
              </a:rPr>
              <a:t>87.5%</a:t>
            </a:r>
          </a:p>
          <a:p>
            <a:pPr algn="ctr"/>
            <a:r>
              <a:rPr sz="1100" dirty="0" err="1">
                <a:solidFill>
                  <a:srgbClr val="FFFFFF"/>
                </a:solidFill>
                <a:latin typeface="メイリオ" panose="020B0604030504040204" pitchFamily="50" charset="-128"/>
                <a:ea typeface="メイリオ" panose="020B0604030504040204" pitchFamily="50" charset="-128"/>
              </a:rPr>
              <a:t>未就学児の保護者で</a:t>
            </a:r>
            <a:r>
              <a:rPr sz="1100" dirty="0">
                <a:solidFill>
                  <a:srgbClr val="FFFFFF"/>
                </a:solidFill>
                <a:latin typeface="メイリオ" panose="020B0604030504040204" pitchFamily="50" charset="-128"/>
                <a:ea typeface="メイリオ" panose="020B0604030504040204" pitchFamily="50" charset="-128"/>
              </a:rPr>
              <a:t>
「</a:t>
            </a:r>
            <a:r>
              <a:rPr sz="1100" dirty="0" err="1">
                <a:solidFill>
                  <a:srgbClr val="FFFFFF"/>
                </a:solidFill>
                <a:latin typeface="メイリオ" panose="020B0604030504040204" pitchFamily="50" charset="-128"/>
                <a:ea typeface="メイリオ" panose="020B0604030504040204" pitchFamily="50" charset="-128"/>
              </a:rPr>
              <a:t>させたい」意向</a:t>
            </a:r>
            <a:endParaRPr sz="1100" dirty="0">
              <a:solidFill>
                <a:srgbClr val="FFFFFF"/>
              </a:solidFill>
              <a:latin typeface="メイリオ" panose="020B0604030504040204" pitchFamily="50" charset="-128"/>
              <a:ea typeface="メイリオ" panose="020B0604030504040204" pitchFamily="50" charset="-128"/>
            </a:endParaRPr>
          </a:p>
        </p:txBody>
      </p:sp>
      <p:sp>
        <p:nvSpPr>
          <p:cNvPr id="28" name="TextBox 6">
            <a:extLst>
              <a:ext uri="{FF2B5EF4-FFF2-40B4-BE49-F238E27FC236}">
                <a16:creationId xmlns:a16="http://schemas.microsoft.com/office/drawing/2014/main" id="{F32BB577-D373-15FE-EDE1-B4346239EA20}"/>
              </a:ext>
            </a:extLst>
          </p:cNvPr>
          <p:cNvSpPr txBox="1"/>
          <p:nvPr/>
        </p:nvSpPr>
        <p:spPr>
          <a:xfrm>
            <a:off x="385572" y="3004820"/>
            <a:ext cx="4389120" cy="292388"/>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r>
              <a:rPr sz="1300" b="1">
                <a:solidFill>
                  <a:srgbClr val="1F2A5C"/>
                </a:solidFill>
                <a:latin typeface="メイリオ" panose="020B0604030504040204" pitchFamily="50" charset="-128"/>
                <a:ea typeface="メイリオ" panose="020B0604030504040204" pitchFamily="50" charset="-128"/>
              </a:rPr>
              <a:t>習い事に感じる不安・負担（複数回答）</a:t>
            </a:r>
          </a:p>
        </p:txBody>
      </p:sp>
      <p:pic>
        <p:nvPicPr>
          <p:cNvPr id="29" name="table">
            <a:extLst>
              <a:ext uri="{FF2B5EF4-FFF2-40B4-BE49-F238E27FC236}">
                <a16:creationId xmlns:a16="http://schemas.microsoft.com/office/drawing/2014/main" id="{BD797D6C-2540-BB18-804E-B927E9995453}"/>
              </a:ext>
            </a:extLst>
          </p:cNvPr>
          <p:cNvPicPr>
            <a:picLocks noChangeAspect="1"/>
          </p:cNvPicPr>
          <p:nvPr/>
        </p:nvPicPr>
        <p:blipFill>
          <a:blip r:embed="rId3"/>
          <a:stretch>
            <a:fillRect/>
          </a:stretch>
        </p:blipFill>
        <p:spPr>
          <a:xfrm>
            <a:off x="385572" y="3294380"/>
            <a:ext cx="4389120" cy="1645920"/>
          </a:xfrm>
          <a:prstGeom prst="rect">
            <a:avLst/>
          </a:prstGeom>
        </p:spPr>
      </p:pic>
      <p:sp>
        <p:nvSpPr>
          <p:cNvPr id="30" name="TextBox 8">
            <a:extLst>
              <a:ext uri="{FF2B5EF4-FFF2-40B4-BE49-F238E27FC236}">
                <a16:creationId xmlns:a16="http://schemas.microsoft.com/office/drawing/2014/main" id="{58C905AF-32AC-8815-5B3D-86FCD1554DDB}"/>
              </a:ext>
            </a:extLst>
          </p:cNvPr>
          <p:cNvSpPr txBox="1"/>
          <p:nvPr/>
        </p:nvSpPr>
        <p:spPr>
          <a:xfrm>
            <a:off x="5049012" y="3004820"/>
            <a:ext cx="4389120" cy="292388"/>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r>
              <a:rPr sz="1300" b="1">
                <a:solidFill>
                  <a:srgbClr val="1F2A5C"/>
                </a:solidFill>
                <a:latin typeface="メイリオ" panose="020B0604030504040204" pitchFamily="50" charset="-128"/>
                <a:ea typeface="メイリオ" panose="020B0604030504040204" pitchFamily="50" charset="-128"/>
              </a:rPr>
              <a:t>人気の習い事ジャンル</a:t>
            </a:r>
          </a:p>
        </p:txBody>
      </p:sp>
      <p:pic>
        <p:nvPicPr>
          <p:cNvPr id="31" name="table">
            <a:extLst>
              <a:ext uri="{FF2B5EF4-FFF2-40B4-BE49-F238E27FC236}">
                <a16:creationId xmlns:a16="http://schemas.microsoft.com/office/drawing/2014/main" id="{C0285BDD-3E26-1AD3-3CCE-07800130DEB4}"/>
              </a:ext>
            </a:extLst>
          </p:cNvPr>
          <p:cNvPicPr>
            <a:picLocks noChangeAspect="1"/>
          </p:cNvPicPr>
          <p:nvPr/>
        </p:nvPicPr>
        <p:blipFill>
          <a:blip r:embed="rId4"/>
          <a:stretch>
            <a:fillRect/>
          </a:stretch>
        </p:blipFill>
        <p:spPr>
          <a:xfrm>
            <a:off x="5049012" y="3294380"/>
            <a:ext cx="4389120" cy="1645920"/>
          </a:xfrm>
          <a:prstGeom prst="rect">
            <a:avLst/>
          </a:prstGeom>
        </p:spPr>
      </p:pic>
      <p:sp>
        <p:nvSpPr>
          <p:cNvPr id="32" name="TextBox 10">
            <a:extLst>
              <a:ext uri="{FF2B5EF4-FFF2-40B4-BE49-F238E27FC236}">
                <a16:creationId xmlns:a16="http://schemas.microsoft.com/office/drawing/2014/main" id="{4883E9C1-EC1E-8047-ABFB-F3D3B5F83C40}"/>
              </a:ext>
            </a:extLst>
          </p:cNvPr>
          <p:cNvSpPr txBox="1"/>
          <p:nvPr/>
        </p:nvSpPr>
        <p:spPr>
          <a:xfrm>
            <a:off x="385572" y="5214620"/>
            <a:ext cx="9052560" cy="558614"/>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lnSpc>
                <a:spcPct val="130000"/>
              </a:lnSpc>
            </a:pPr>
            <a:r>
              <a:rPr sz="1200" b="0" dirty="0">
                <a:solidFill>
                  <a:srgbClr val="5A6378"/>
                </a:solidFill>
                <a:latin typeface="メイリオ" panose="020B0604030504040204" pitchFamily="50" charset="-128"/>
                <a:ea typeface="メイリオ" panose="020B0604030504040204" pitchFamily="50" charset="-128"/>
              </a:rPr>
              <a:t>※学年が上がるほど通塾頻度も増加する傾向。未就園児は「0（実施なし）」</a:t>
            </a:r>
            <a:r>
              <a:rPr sz="1200" b="0" dirty="0" err="1">
                <a:solidFill>
                  <a:srgbClr val="5A6378"/>
                </a:solidFill>
                <a:latin typeface="メイリオ" panose="020B0604030504040204" pitchFamily="50" charset="-128"/>
                <a:ea typeface="メイリオ" panose="020B0604030504040204" pitchFamily="50" charset="-128"/>
              </a:rPr>
              <a:t>が中心だが</a:t>
            </a:r>
            <a:r>
              <a:rPr sz="1200" b="0" dirty="0">
                <a:solidFill>
                  <a:srgbClr val="5A6378"/>
                </a:solidFill>
                <a:latin typeface="メイリオ" panose="020B0604030504040204" pitchFamily="50" charset="-128"/>
                <a:ea typeface="メイリオ" panose="020B0604030504040204" pitchFamily="50" charset="-128"/>
              </a:rPr>
              <a:t>、</a:t>
            </a:r>
            <a:endParaRPr lang="en-US" sz="1200" b="0" dirty="0">
              <a:solidFill>
                <a:srgbClr val="5A6378"/>
              </a:solidFill>
              <a:latin typeface="メイリオ" panose="020B0604030504040204" pitchFamily="50" charset="-128"/>
              <a:ea typeface="メイリオ" panose="020B0604030504040204" pitchFamily="50" charset="-128"/>
            </a:endParaRPr>
          </a:p>
          <a:p>
            <a:pPr algn="l">
              <a:lnSpc>
                <a:spcPct val="130000"/>
              </a:lnSpc>
            </a:pPr>
            <a:r>
              <a:rPr lang="ja-JP" altLang="en-US" sz="1200" dirty="0">
                <a:solidFill>
                  <a:srgbClr val="5A6378"/>
                </a:solidFill>
                <a:latin typeface="メイリオ" panose="020B0604030504040204" pitchFamily="50" charset="-128"/>
                <a:ea typeface="メイリオ" panose="020B0604030504040204" pitchFamily="50" charset="-128"/>
              </a:rPr>
              <a:t>　</a:t>
            </a:r>
            <a:r>
              <a:rPr sz="1200" b="0" dirty="0">
                <a:solidFill>
                  <a:srgbClr val="5A6378"/>
                </a:solidFill>
                <a:latin typeface="メイリオ" panose="020B0604030504040204" pitchFamily="50" charset="-128"/>
                <a:ea typeface="メイリオ" panose="020B0604030504040204" pitchFamily="50" charset="-128"/>
              </a:rPr>
              <a:t>小5・小6では「週6日以上」が主流となり、学年進行とともに習い事への時間投資が拡大する</a:t>
            </a:r>
          </a:p>
        </p:txBody>
      </p:sp>
      <p:sp>
        <p:nvSpPr>
          <p:cNvPr id="33" name="TextBox 11">
            <a:extLst>
              <a:ext uri="{FF2B5EF4-FFF2-40B4-BE49-F238E27FC236}">
                <a16:creationId xmlns:a16="http://schemas.microsoft.com/office/drawing/2014/main" id="{657E3036-6E38-E46C-8530-E7FFD3221E4C}"/>
              </a:ext>
            </a:extLst>
          </p:cNvPr>
          <p:cNvSpPr txBox="1"/>
          <p:nvPr/>
        </p:nvSpPr>
        <p:spPr>
          <a:xfrm>
            <a:off x="385572" y="5900420"/>
            <a:ext cx="9052560" cy="399725"/>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lnSpc>
                <a:spcPct val="120000"/>
              </a:lnSpc>
            </a:pPr>
            <a:r>
              <a:rPr sz="850" b="0" dirty="0" err="1">
                <a:solidFill>
                  <a:srgbClr val="9AA1AE"/>
                </a:solidFill>
                <a:latin typeface="メイリオ" panose="020B0604030504040204" pitchFamily="50" charset="-128"/>
                <a:ea typeface="メイリオ" panose="020B0604030504040204" pitchFamily="50" charset="-128"/>
              </a:rPr>
              <a:t>出典</a:t>
            </a:r>
            <a:r>
              <a:rPr sz="850" b="0" dirty="0">
                <a:solidFill>
                  <a:srgbClr val="9AA1AE"/>
                </a:solidFill>
                <a:latin typeface="メイリオ" panose="020B0604030504040204" pitchFamily="50" charset="-128"/>
                <a:ea typeface="メイリオ" panose="020B0604030504040204" pitchFamily="50" charset="-128"/>
              </a:rPr>
              <a:t>：①np-labo.com（2023年10月, N=300）　②統計データ（4〜6歳 回答者数103）　③マイナビウーマン（2022年8月, N=300）</a:t>
            </a:r>
          </a:p>
          <a:p>
            <a:pPr algn="l">
              <a:lnSpc>
                <a:spcPct val="120000"/>
              </a:lnSpc>
            </a:pPr>
            <a:r>
              <a:rPr sz="850" b="0" dirty="0">
                <a:solidFill>
                  <a:srgbClr val="9AA1AE"/>
                </a:solidFill>
                <a:latin typeface="メイリオ" panose="020B0604030504040204" pitchFamily="50" charset="-128"/>
                <a:ea typeface="メイリオ" panose="020B0604030504040204" pitchFamily="50" charset="-128"/>
              </a:rPr>
              <a:t>④babytech.jp「未就学児の習い事事情2025」（N=1,436）　⑤PR </a:t>
            </a:r>
            <a:r>
              <a:rPr sz="850" b="0" dirty="0" err="1">
                <a:solidFill>
                  <a:srgbClr val="9AA1AE"/>
                </a:solidFill>
                <a:latin typeface="メイリオ" panose="020B0604030504040204" pitchFamily="50" charset="-128"/>
                <a:ea typeface="メイリオ" panose="020B0604030504040204" pitchFamily="50" charset="-128"/>
              </a:rPr>
              <a:t>TIMES（学年別</a:t>
            </a:r>
            <a:r>
              <a:rPr sz="850" b="0" dirty="0">
                <a:solidFill>
                  <a:srgbClr val="9AA1AE"/>
                </a:solidFill>
                <a:latin typeface="メイリオ" panose="020B0604030504040204" pitchFamily="50" charset="-128"/>
                <a:ea typeface="メイリオ" panose="020B0604030504040204" pitchFamily="50" charset="-128"/>
              </a:rPr>
              <a:t> </a:t>
            </a:r>
            <a:r>
              <a:rPr sz="850" b="0" dirty="0" err="1">
                <a:solidFill>
                  <a:srgbClr val="9AA1AE"/>
                </a:solidFill>
                <a:latin typeface="メイリオ" panose="020B0604030504040204" pitchFamily="50" charset="-128"/>
                <a:ea typeface="メイリオ" panose="020B0604030504040204" pitchFamily="50" charset="-128"/>
              </a:rPr>
              <a:t>週あたり実施日数</a:t>
            </a:r>
            <a:r>
              <a:rPr sz="850" b="0" dirty="0">
                <a:solidFill>
                  <a:srgbClr val="9AA1AE"/>
                </a:solidFill>
                <a:latin typeface="メイリオ" panose="020B0604030504040204" pitchFamily="50" charset="-128"/>
                <a:ea typeface="メイリオ" panose="020B0604030504040204" pitchFamily="50" charset="-128"/>
              </a:rPr>
              <a:t>）</a:t>
            </a:r>
          </a:p>
        </p:txBody>
      </p:sp>
    </p:spTree>
    <p:extLst>
      <p:ext uri="{BB962C8B-B14F-4D97-AF65-F5344CB8AC3E}">
        <p14:creationId xmlns:p14="http://schemas.microsoft.com/office/powerpoint/2010/main" val="20531706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7AFCDA-60C5-9365-6004-8403C246AD9F}"/>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B2DB17C1-927F-1EC4-4371-E831F96525CB}"/>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市場分析（全体）</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2CA316B7-4505-4337-6433-44B8AC8C958C}"/>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US" altLang="ja-JP" sz="1700" dirty="0">
                <a:solidFill>
                  <a:schemeClr val="tx1"/>
                </a:solidFill>
              </a:rPr>
              <a:t>LINE</a:t>
            </a:r>
            <a:r>
              <a:rPr lang="ja-JP" altLang="en-US" sz="1700" dirty="0">
                <a:solidFill>
                  <a:schemeClr val="tx1"/>
                </a:solidFill>
              </a:rPr>
              <a:t>ヤフー社提供の前後検索クエリより（クエリ：子ども 習い事）</a:t>
            </a:r>
            <a:endParaRPr lang="en-US" altLang="ja-JP" sz="1700" dirty="0">
              <a:solidFill>
                <a:schemeClr val="tx1"/>
              </a:solidFill>
            </a:endParaRPr>
          </a:p>
        </p:txBody>
      </p:sp>
      <p:pic>
        <p:nvPicPr>
          <p:cNvPr id="4" name="図 3">
            <a:extLst>
              <a:ext uri="{FF2B5EF4-FFF2-40B4-BE49-F238E27FC236}">
                <a16:creationId xmlns:a16="http://schemas.microsoft.com/office/drawing/2014/main" id="{4511DE82-BBD2-B022-1764-353E066B0E7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3338" y="1677364"/>
            <a:ext cx="7442525" cy="4341473"/>
          </a:xfrm>
          <a:prstGeom prst="rect">
            <a:avLst/>
          </a:prstGeom>
        </p:spPr>
      </p:pic>
      <p:cxnSp>
        <p:nvCxnSpPr>
          <p:cNvPr id="8" name="直線矢印コネクタ 7">
            <a:extLst>
              <a:ext uri="{FF2B5EF4-FFF2-40B4-BE49-F238E27FC236}">
                <a16:creationId xmlns:a16="http://schemas.microsoft.com/office/drawing/2014/main" id="{FACBC0F7-0441-2179-B969-6950551697D2}"/>
              </a:ext>
            </a:extLst>
          </p:cNvPr>
          <p:cNvCxnSpPr>
            <a:cxnSpLocks/>
          </p:cNvCxnSpPr>
          <p:nvPr/>
        </p:nvCxnSpPr>
        <p:spPr>
          <a:xfrm>
            <a:off x="726833" y="5184903"/>
            <a:ext cx="5484091" cy="0"/>
          </a:xfrm>
          <a:prstGeom prst="straightConnector1">
            <a:avLst/>
          </a:prstGeom>
          <a:ln w="57150">
            <a:solidFill>
              <a:schemeClr val="tx1">
                <a:lumMod val="75000"/>
                <a:lumOff val="25000"/>
              </a:schemeClr>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9" name="直線矢印コネクタ 8">
            <a:extLst>
              <a:ext uri="{FF2B5EF4-FFF2-40B4-BE49-F238E27FC236}">
                <a16:creationId xmlns:a16="http://schemas.microsoft.com/office/drawing/2014/main" id="{BA0EB23A-0A83-01D0-64EB-40B1ED3DCA8F}"/>
              </a:ext>
            </a:extLst>
          </p:cNvPr>
          <p:cNvCxnSpPr/>
          <p:nvPr/>
        </p:nvCxnSpPr>
        <p:spPr>
          <a:xfrm>
            <a:off x="5518005" y="5692903"/>
            <a:ext cx="2114354" cy="0"/>
          </a:xfrm>
          <a:prstGeom prst="straightConnector1">
            <a:avLst/>
          </a:prstGeom>
          <a:ln w="57150">
            <a:solidFill>
              <a:srgbClr val="04FA0A"/>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 name="直線矢印コネクタ 9">
            <a:extLst>
              <a:ext uri="{FF2B5EF4-FFF2-40B4-BE49-F238E27FC236}">
                <a16:creationId xmlns:a16="http://schemas.microsoft.com/office/drawing/2014/main" id="{6238FDAF-4FF9-608B-5C45-81FE7C1A6423}"/>
              </a:ext>
            </a:extLst>
          </p:cNvPr>
          <p:cNvCxnSpPr/>
          <p:nvPr/>
        </p:nvCxnSpPr>
        <p:spPr>
          <a:xfrm>
            <a:off x="6985063" y="6251703"/>
            <a:ext cx="2533039" cy="0"/>
          </a:xfrm>
          <a:prstGeom prst="straightConnector1">
            <a:avLst/>
          </a:prstGeom>
          <a:ln w="57150">
            <a:solidFill>
              <a:srgbClr val="00B050"/>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sp>
        <p:nvSpPr>
          <p:cNvPr id="11" name="テキスト ボックス 10">
            <a:extLst>
              <a:ext uri="{FF2B5EF4-FFF2-40B4-BE49-F238E27FC236}">
                <a16:creationId xmlns:a16="http://schemas.microsoft.com/office/drawing/2014/main" id="{DA7B2989-9F56-5DD7-1256-E2B61CE5E5FC}"/>
              </a:ext>
            </a:extLst>
          </p:cNvPr>
          <p:cNvSpPr txBox="1"/>
          <p:nvPr/>
        </p:nvSpPr>
        <p:spPr>
          <a:xfrm>
            <a:off x="968756" y="4805560"/>
            <a:ext cx="4965700" cy="353943"/>
          </a:xfrm>
          <a:prstGeom prst="rect">
            <a:avLst/>
          </a:prstGeom>
          <a:noFill/>
        </p:spPr>
        <p:txBody>
          <a:bodyPr wrap="square">
            <a:spAutoFit/>
          </a:bodyPr>
          <a:lstStyle/>
          <a:p>
            <a:pPr marL="0" indent="0" algn="ctr">
              <a:buNone/>
            </a:pPr>
            <a:r>
              <a:rPr lang="ja-JP" altLang="en-US" sz="1700" b="1" dirty="0">
                <a:solidFill>
                  <a:schemeClr val="bg1">
                    <a:lumMod val="75000"/>
                  </a:schemeClr>
                </a:solidFill>
                <a:latin typeface="Meiryo" pitchFamily="34" charset="0"/>
                <a:ea typeface="Meiryo" pitchFamily="34" charset="-122"/>
                <a:cs typeface="Meiryo" pitchFamily="34" charset="-120"/>
              </a:rPr>
              <a:t>離脱防止バナーの掲載</a:t>
            </a:r>
            <a:endParaRPr lang="en-US" altLang="ja-JP" sz="1700" dirty="0">
              <a:solidFill>
                <a:schemeClr val="bg1">
                  <a:lumMod val="75000"/>
                </a:schemeClr>
              </a:solidFill>
            </a:endParaRPr>
          </a:p>
        </p:txBody>
      </p:sp>
      <p:sp>
        <p:nvSpPr>
          <p:cNvPr id="12" name="テキスト ボックス 11">
            <a:extLst>
              <a:ext uri="{FF2B5EF4-FFF2-40B4-BE49-F238E27FC236}">
                <a16:creationId xmlns:a16="http://schemas.microsoft.com/office/drawing/2014/main" id="{558A8417-6060-6DF0-8F12-53B3635C9DC0}"/>
              </a:ext>
            </a:extLst>
          </p:cNvPr>
          <p:cNvSpPr txBox="1"/>
          <p:nvPr/>
        </p:nvSpPr>
        <p:spPr>
          <a:xfrm>
            <a:off x="5172524" y="5312731"/>
            <a:ext cx="2803009" cy="353943"/>
          </a:xfrm>
          <a:prstGeom prst="rect">
            <a:avLst/>
          </a:prstGeom>
          <a:noFill/>
          <a:ln w="57150">
            <a:noFill/>
          </a:ln>
        </p:spPr>
        <p:txBody>
          <a:bodyPr wrap="square">
            <a:spAutoFit/>
          </a:bodyPr>
          <a:lstStyle/>
          <a:p>
            <a:pPr marL="0" indent="0" algn="ctr">
              <a:buNone/>
            </a:pPr>
            <a:r>
              <a:rPr lang="en-US" altLang="ja-JP" sz="1700" b="1" dirty="0">
                <a:solidFill>
                  <a:schemeClr val="bg1">
                    <a:lumMod val="75000"/>
                  </a:schemeClr>
                </a:solidFill>
                <a:latin typeface="Meiryo" pitchFamily="34" charset="0"/>
                <a:ea typeface="Meiryo" pitchFamily="34" charset="-122"/>
                <a:cs typeface="Meiryo" pitchFamily="34" charset="-120"/>
              </a:rPr>
              <a:t>LINE</a:t>
            </a:r>
            <a:r>
              <a:rPr lang="ja-JP" altLang="en-US" sz="1700" b="1" dirty="0">
                <a:solidFill>
                  <a:schemeClr val="bg1">
                    <a:lumMod val="75000"/>
                  </a:schemeClr>
                </a:solidFill>
                <a:latin typeface="Meiryo" pitchFamily="34" charset="0"/>
                <a:ea typeface="Meiryo" pitchFamily="34" charset="-122"/>
                <a:cs typeface="Meiryo" pitchFamily="34" charset="-120"/>
              </a:rPr>
              <a:t>友だち追加</a:t>
            </a:r>
            <a:endParaRPr lang="en-US" altLang="ja-JP" sz="1700" dirty="0">
              <a:solidFill>
                <a:schemeClr val="bg1">
                  <a:lumMod val="75000"/>
                </a:schemeClr>
              </a:solidFill>
            </a:endParaRPr>
          </a:p>
        </p:txBody>
      </p:sp>
      <p:sp>
        <p:nvSpPr>
          <p:cNvPr id="13" name="テキスト ボックス 12">
            <a:extLst>
              <a:ext uri="{FF2B5EF4-FFF2-40B4-BE49-F238E27FC236}">
                <a16:creationId xmlns:a16="http://schemas.microsoft.com/office/drawing/2014/main" id="{141D629D-A515-AE4F-E000-57CAEA1B1B70}"/>
              </a:ext>
            </a:extLst>
          </p:cNvPr>
          <p:cNvSpPr txBox="1"/>
          <p:nvPr/>
        </p:nvSpPr>
        <p:spPr>
          <a:xfrm>
            <a:off x="6850077" y="5871117"/>
            <a:ext cx="2803009" cy="353943"/>
          </a:xfrm>
          <a:prstGeom prst="rect">
            <a:avLst/>
          </a:prstGeom>
          <a:noFill/>
          <a:ln w="57150">
            <a:noFill/>
          </a:ln>
        </p:spPr>
        <p:txBody>
          <a:bodyPr wrap="square">
            <a:spAutoFit/>
          </a:bodyPr>
          <a:lstStyle/>
          <a:p>
            <a:pPr marL="0" indent="0" algn="ctr">
              <a:buNone/>
            </a:pPr>
            <a:r>
              <a:rPr lang="en-US" altLang="ja-JP" sz="1700" b="1" dirty="0">
                <a:solidFill>
                  <a:schemeClr val="bg1">
                    <a:lumMod val="75000"/>
                  </a:schemeClr>
                </a:solidFill>
                <a:latin typeface="Meiryo" pitchFamily="34" charset="0"/>
                <a:ea typeface="Meiryo" pitchFamily="34" charset="-122"/>
                <a:cs typeface="Meiryo" pitchFamily="34" charset="-120"/>
              </a:rPr>
              <a:t>LINE</a:t>
            </a:r>
            <a:r>
              <a:rPr lang="ja-JP" altLang="en-US" sz="1700" b="1" dirty="0">
                <a:solidFill>
                  <a:schemeClr val="bg1">
                    <a:lumMod val="75000"/>
                  </a:schemeClr>
                </a:solidFill>
                <a:latin typeface="Meiryo" pitchFamily="34" charset="0"/>
                <a:ea typeface="Meiryo" pitchFamily="34" charset="-122"/>
                <a:cs typeface="Meiryo" pitchFamily="34" charset="-120"/>
              </a:rPr>
              <a:t>施策</a:t>
            </a:r>
            <a:r>
              <a:rPr lang="en-US" altLang="ja-JP" sz="1700" b="1" dirty="0">
                <a:solidFill>
                  <a:schemeClr val="bg1">
                    <a:lumMod val="75000"/>
                  </a:schemeClr>
                </a:solidFill>
                <a:latin typeface="Meiryo" pitchFamily="34" charset="0"/>
                <a:ea typeface="Meiryo" pitchFamily="34" charset="-122"/>
                <a:cs typeface="Meiryo" pitchFamily="34" charset="-120"/>
              </a:rPr>
              <a:t>(</a:t>
            </a:r>
            <a:r>
              <a:rPr lang="ja-JP" altLang="en-US" sz="1700" b="1" dirty="0">
                <a:solidFill>
                  <a:schemeClr val="bg1">
                    <a:lumMod val="75000"/>
                  </a:schemeClr>
                </a:solidFill>
                <a:latin typeface="Meiryo" pitchFamily="34" charset="0"/>
                <a:ea typeface="Meiryo" pitchFamily="34" charset="-122"/>
                <a:cs typeface="Meiryo" pitchFamily="34" charset="-120"/>
              </a:rPr>
              <a:t>投稿</a:t>
            </a:r>
            <a:r>
              <a:rPr lang="en-US" altLang="ja-JP" sz="1700" b="1" dirty="0">
                <a:solidFill>
                  <a:schemeClr val="bg1">
                    <a:lumMod val="75000"/>
                  </a:schemeClr>
                </a:solidFill>
                <a:latin typeface="Meiryo" pitchFamily="34" charset="0"/>
                <a:ea typeface="Meiryo" pitchFamily="34" charset="-122"/>
                <a:cs typeface="Meiryo" pitchFamily="34" charset="-120"/>
              </a:rPr>
              <a:t>)</a:t>
            </a:r>
            <a:endParaRPr lang="en-US" altLang="ja-JP" sz="1700" dirty="0">
              <a:solidFill>
                <a:schemeClr val="bg1">
                  <a:lumMod val="75000"/>
                </a:schemeClr>
              </a:solidFill>
            </a:endParaRPr>
          </a:p>
        </p:txBody>
      </p:sp>
    </p:spTree>
    <p:extLst>
      <p:ext uri="{BB962C8B-B14F-4D97-AF65-F5344CB8AC3E}">
        <p14:creationId xmlns:p14="http://schemas.microsoft.com/office/powerpoint/2010/main" val="14393306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1A4403-1A8A-B352-52D7-3C459B4E9FF3}"/>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3FF53609-3AE6-15F7-F91A-8F9748838B2F}"/>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市場分析（全体）</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BD6FF840-BD2A-C9D2-6742-4C0E533AE4B4}"/>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indent="0" algn="ctr">
              <a:buNone/>
            </a:pPr>
            <a:r>
              <a:rPr lang="en-US" altLang="ja-JP" sz="1700" dirty="0">
                <a:solidFill>
                  <a:schemeClr val="tx1"/>
                </a:solidFill>
              </a:rPr>
              <a:t>LINE</a:t>
            </a:r>
            <a:r>
              <a:rPr lang="ja-JP" altLang="en-US" sz="1700" dirty="0">
                <a:solidFill>
                  <a:schemeClr val="tx1"/>
                </a:solidFill>
              </a:rPr>
              <a:t>ヤフー社提供の前後検索クエリより（クエリ：習い事）</a:t>
            </a:r>
            <a:endParaRPr lang="en-US" altLang="ja-JP" sz="1700" dirty="0">
              <a:solidFill>
                <a:schemeClr val="tx1"/>
              </a:solidFill>
            </a:endParaRPr>
          </a:p>
        </p:txBody>
      </p:sp>
      <p:pic>
        <p:nvPicPr>
          <p:cNvPr id="7" name="図 6">
            <a:extLst>
              <a:ext uri="{FF2B5EF4-FFF2-40B4-BE49-F238E27FC236}">
                <a16:creationId xmlns:a16="http://schemas.microsoft.com/office/drawing/2014/main" id="{A59C6DB9-8735-BD98-C3AA-EB4C5D2F087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3338" y="1677364"/>
            <a:ext cx="7442525" cy="4341473"/>
          </a:xfrm>
          <a:prstGeom prst="rect">
            <a:avLst/>
          </a:prstGeom>
        </p:spPr>
      </p:pic>
      <p:cxnSp>
        <p:nvCxnSpPr>
          <p:cNvPr id="8" name="直線矢印コネクタ 7">
            <a:extLst>
              <a:ext uri="{FF2B5EF4-FFF2-40B4-BE49-F238E27FC236}">
                <a16:creationId xmlns:a16="http://schemas.microsoft.com/office/drawing/2014/main" id="{49872CA8-26BB-EE48-3AD2-11D59C4D0C02}"/>
              </a:ext>
            </a:extLst>
          </p:cNvPr>
          <p:cNvCxnSpPr>
            <a:cxnSpLocks/>
          </p:cNvCxnSpPr>
          <p:nvPr/>
        </p:nvCxnSpPr>
        <p:spPr>
          <a:xfrm>
            <a:off x="726833" y="5184903"/>
            <a:ext cx="5484091" cy="0"/>
          </a:xfrm>
          <a:prstGeom prst="straightConnector1">
            <a:avLst/>
          </a:prstGeom>
          <a:ln w="57150">
            <a:solidFill>
              <a:schemeClr val="tx1">
                <a:lumMod val="75000"/>
                <a:lumOff val="25000"/>
              </a:schemeClr>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9" name="直線矢印コネクタ 8">
            <a:extLst>
              <a:ext uri="{FF2B5EF4-FFF2-40B4-BE49-F238E27FC236}">
                <a16:creationId xmlns:a16="http://schemas.microsoft.com/office/drawing/2014/main" id="{CA0DB759-B7B4-7F5D-1A6C-EA4B3D364ECD}"/>
              </a:ext>
            </a:extLst>
          </p:cNvPr>
          <p:cNvCxnSpPr/>
          <p:nvPr/>
        </p:nvCxnSpPr>
        <p:spPr>
          <a:xfrm>
            <a:off x="5518005" y="5692903"/>
            <a:ext cx="2114354" cy="0"/>
          </a:xfrm>
          <a:prstGeom prst="straightConnector1">
            <a:avLst/>
          </a:prstGeom>
          <a:ln w="57150">
            <a:solidFill>
              <a:srgbClr val="04FA0A"/>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 name="直線矢印コネクタ 9">
            <a:extLst>
              <a:ext uri="{FF2B5EF4-FFF2-40B4-BE49-F238E27FC236}">
                <a16:creationId xmlns:a16="http://schemas.microsoft.com/office/drawing/2014/main" id="{7AF1380E-3FB7-14CD-2323-DE614D5319B0}"/>
              </a:ext>
            </a:extLst>
          </p:cNvPr>
          <p:cNvCxnSpPr/>
          <p:nvPr/>
        </p:nvCxnSpPr>
        <p:spPr>
          <a:xfrm>
            <a:off x="6985063" y="6251703"/>
            <a:ext cx="2533039" cy="0"/>
          </a:xfrm>
          <a:prstGeom prst="straightConnector1">
            <a:avLst/>
          </a:prstGeom>
          <a:ln w="57150">
            <a:solidFill>
              <a:srgbClr val="00B050"/>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sp>
        <p:nvSpPr>
          <p:cNvPr id="11" name="テキスト ボックス 10">
            <a:extLst>
              <a:ext uri="{FF2B5EF4-FFF2-40B4-BE49-F238E27FC236}">
                <a16:creationId xmlns:a16="http://schemas.microsoft.com/office/drawing/2014/main" id="{16AF5040-A8C5-8998-7D9E-E6C6B73FFFDB}"/>
              </a:ext>
            </a:extLst>
          </p:cNvPr>
          <p:cNvSpPr txBox="1"/>
          <p:nvPr/>
        </p:nvSpPr>
        <p:spPr>
          <a:xfrm>
            <a:off x="968756" y="4805560"/>
            <a:ext cx="4965700" cy="353943"/>
          </a:xfrm>
          <a:prstGeom prst="rect">
            <a:avLst/>
          </a:prstGeom>
          <a:noFill/>
        </p:spPr>
        <p:txBody>
          <a:bodyPr wrap="square">
            <a:spAutoFit/>
          </a:bodyPr>
          <a:lstStyle/>
          <a:p>
            <a:pPr marL="0" indent="0" algn="ctr">
              <a:buNone/>
            </a:pPr>
            <a:r>
              <a:rPr lang="ja-JP" altLang="en-US" sz="1700" b="1" dirty="0">
                <a:solidFill>
                  <a:schemeClr val="bg1">
                    <a:lumMod val="75000"/>
                  </a:schemeClr>
                </a:solidFill>
                <a:latin typeface="Meiryo" pitchFamily="34" charset="0"/>
                <a:ea typeface="Meiryo" pitchFamily="34" charset="-122"/>
                <a:cs typeface="Meiryo" pitchFamily="34" charset="-120"/>
              </a:rPr>
              <a:t>離脱防止バナーの掲載</a:t>
            </a:r>
            <a:endParaRPr lang="en-US" altLang="ja-JP" sz="1700" dirty="0">
              <a:solidFill>
                <a:schemeClr val="bg1">
                  <a:lumMod val="75000"/>
                </a:schemeClr>
              </a:solidFill>
            </a:endParaRPr>
          </a:p>
        </p:txBody>
      </p:sp>
      <p:sp>
        <p:nvSpPr>
          <p:cNvPr id="12" name="テキスト ボックス 11">
            <a:extLst>
              <a:ext uri="{FF2B5EF4-FFF2-40B4-BE49-F238E27FC236}">
                <a16:creationId xmlns:a16="http://schemas.microsoft.com/office/drawing/2014/main" id="{F412C162-0E63-74C5-29D8-B8BA9075D080}"/>
              </a:ext>
            </a:extLst>
          </p:cNvPr>
          <p:cNvSpPr txBox="1"/>
          <p:nvPr/>
        </p:nvSpPr>
        <p:spPr>
          <a:xfrm>
            <a:off x="5172524" y="5312731"/>
            <a:ext cx="2803009" cy="353943"/>
          </a:xfrm>
          <a:prstGeom prst="rect">
            <a:avLst/>
          </a:prstGeom>
          <a:noFill/>
        </p:spPr>
        <p:txBody>
          <a:bodyPr wrap="square">
            <a:spAutoFit/>
          </a:bodyPr>
          <a:lstStyle/>
          <a:p>
            <a:pPr marL="0" indent="0" algn="ctr">
              <a:buNone/>
            </a:pPr>
            <a:r>
              <a:rPr lang="en-US" altLang="ja-JP" sz="1700" b="1" dirty="0">
                <a:solidFill>
                  <a:schemeClr val="bg1">
                    <a:lumMod val="75000"/>
                  </a:schemeClr>
                </a:solidFill>
                <a:latin typeface="Meiryo" pitchFamily="34" charset="0"/>
                <a:ea typeface="Meiryo" pitchFamily="34" charset="-122"/>
                <a:cs typeface="Meiryo" pitchFamily="34" charset="-120"/>
              </a:rPr>
              <a:t>LINE</a:t>
            </a:r>
            <a:r>
              <a:rPr lang="ja-JP" altLang="en-US" sz="1700" b="1" dirty="0">
                <a:solidFill>
                  <a:schemeClr val="bg1">
                    <a:lumMod val="75000"/>
                  </a:schemeClr>
                </a:solidFill>
                <a:latin typeface="Meiryo" pitchFamily="34" charset="0"/>
                <a:ea typeface="Meiryo" pitchFamily="34" charset="-122"/>
                <a:cs typeface="Meiryo" pitchFamily="34" charset="-120"/>
              </a:rPr>
              <a:t>友だち追加</a:t>
            </a:r>
            <a:endParaRPr lang="en-US" altLang="ja-JP" sz="1700" dirty="0">
              <a:solidFill>
                <a:schemeClr val="bg1">
                  <a:lumMod val="75000"/>
                </a:schemeClr>
              </a:solidFill>
            </a:endParaRPr>
          </a:p>
        </p:txBody>
      </p:sp>
      <p:sp>
        <p:nvSpPr>
          <p:cNvPr id="13" name="テキスト ボックス 12">
            <a:extLst>
              <a:ext uri="{FF2B5EF4-FFF2-40B4-BE49-F238E27FC236}">
                <a16:creationId xmlns:a16="http://schemas.microsoft.com/office/drawing/2014/main" id="{D32726F4-505A-F02B-9214-D435615CB4EF}"/>
              </a:ext>
            </a:extLst>
          </p:cNvPr>
          <p:cNvSpPr txBox="1"/>
          <p:nvPr/>
        </p:nvSpPr>
        <p:spPr>
          <a:xfrm>
            <a:off x="6850077" y="5871117"/>
            <a:ext cx="2803009" cy="353943"/>
          </a:xfrm>
          <a:prstGeom prst="rect">
            <a:avLst/>
          </a:prstGeom>
          <a:noFill/>
        </p:spPr>
        <p:txBody>
          <a:bodyPr wrap="square">
            <a:spAutoFit/>
          </a:bodyPr>
          <a:lstStyle/>
          <a:p>
            <a:pPr marL="0" indent="0" algn="ctr">
              <a:buNone/>
            </a:pPr>
            <a:r>
              <a:rPr lang="en-US" altLang="ja-JP" sz="1700" b="1" dirty="0">
                <a:solidFill>
                  <a:schemeClr val="bg1">
                    <a:lumMod val="75000"/>
                  </a:schemeClr>
                </a:solidFill>
                <a:latin typeface="Meiryo" pitchFamily="34" charset="0"/>
                <a:ea typeface="Meiryo" pitchFamily="34" charset="-122"/>
                <a:cs typeface="Meiryo" pitchFamily="34" charset="-120"/>
              </a:rPr>
              <a:t>LINE</a:t>
            </a:r>
            <a:r>
              <a:rPr lang="ja-JP" altLang="en-US" sz="1700" b="1" dirty="0">
                <a:solidFill>
                  <a:schemeClr val="bg1">
                    <a:lumMod val="75000"/>
                  </a:schemeClr>
                </a:solidFill>
                <a:latin typeface="Meiryo" pitchFamily="34" charset="0"/>
                <a:ea typeface="Meiryo" pitchFamily="34" charset="-122"/>
                <a:cs typeface="Meiryo" pitchFamily="34" charset="-120"/>
              </a:rPr>
              <a:t>施策</a:t>
            </a:r>
            <a:r>
              <a:rPr lang="en-US" altLang="ja-JP" sz="1700" b="1" dirty="0">
                <a:solidFill>
                  <a:schemeClr val="bg1">
                    <a:lumMod val="75000"/>
                  </a:schemeClr>
                </a:solidFill>
                <a:latin typeface="Meiryo" pitchFamily="34" charset="0"/>
                <a:ea typeface="Meiryo" pitchFamily="34" charset="-122"/>
                <a:cs typeface="Meiryo" pitchFamily="34" charset="-120"/>
              </a:rPr>
              <a:t>(</a:t>
            </a:r>
            <a:r>
              <a:rPr lang="ja-JP" altLang="en-US" sz="1700" b="1" dirty="0">
                <a:solidFill>
                  <a:schemeClr val="bg1">
                    <a:lumMod val="75000"/>
                  </a:schemeClr>
                </a:solidFill>
                <a:latin typeface="Meiryo" pitchFamily="34" charset="0"/>
                <a:ea typeface="Meiryo" pitchFamily="34" charset="-122"/>
                <a:cs typeface="Meiryo" pitchFamily="34" charset="-120"/>
              </a:rPr>
              <a:t>投稿</a:t>
            </a:r>
            <a:r>
              <a:rPr lang="en-US" altLang="ja-JP" sz="1700" b="1" dirty="0">
                <a:solidFill>
                  <a:schemeClr val="bg1">
                    <a:lumMod val="75000"/>
                  </a:schemeClr>
                </a:solidFill>
                <a:latin typeface="Meiryo" pitchFamily="34" charset="0"/>
                <a:ea typeface="Meiryo" pitchFamily="34" charset="-122"/>
                <a:cs typeface="Meiryo" pitchFamily="34" charset="-120"/>
              </a:rPr>
              <a:t>)</a:t>
            </a:r>
            <a:endParaRPr lang="en-US" altLang="ja-JP" sz="1700" dirty="0">
              <a:solidFill>
                <a:schemeClr val="bg1">
                  <a:lumMod val="75000"/>
                </a:schemeClr>
              </a:solidFill>
            </a:endParaRPr>
          </a:p>
        </p:txBody>
      </p:sp>
    </p:spTree>
    <p:extLst>
      <p:ext uri="{BB962C8B-B14F-4D97-AF65-F5344CB8AC3E}">
        <p14:creationId xmlns:p14="http://schemas.microsoft.com/office/powerpoint/2010/main" val="315413649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9E4EC-2612-49EF-3949-DD4AEE06BA6E}"/>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6C179E5F-42D4-89F9-9472-648B520C621A}"/>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市場分析（全体）</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3A699E6E-FDC6-D14D-24A9-A9C2E09A8B68}"/>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indent="0" algn="ctr">
              <a:buNone/>
            </a:pPr>
            <a:r>
              <a:rPr lang="ja-JP" altLang="en-US" sz="1700" b="1" dirty="0">
                <a:solidFill>
                  <a:schemeClr val="tx1"/>
                </a:solidFill>
                <a:latin typeface="Meiryo" pitchFamily="34" charset="0"/>
                <a:ea typeface="Meiryo" pitchFamily="34" charset="-122"/>
                <a:cs typeface="Meiryo" pitchFamily="34" charset="-120"/>
              </a:rPr>
              <a:t>自社リストとの親和性が高いため、</a:t>
            </a:r>
            <a:endParaRPr lang="en-US" altLang="ja-JP" sz="1700" b="1" dirty="0">
              <a:solidFill>
                <a:schemeClr val="tx1"/>
              </a:solidFill>
              <a:latin typeface="Meiryo" pitchFamily="34" charset="0"/>
              <a:ea typeface="Meiryo" pitchFamily="34" charset="-122"/>
              <a:cs typeface="Meiryo" pitchFamily="34" charset="-120"/>
            </a:endParaRPr>
          </a:p>
          <a:p>
            <a:pPr marL="0" indent="0" algn="ctr">
              <a:buNone/>
            </a:pPr>
            <a:r>
              <a:rPr lang="ja-JP" altLang="en-US" sz="1700" b="1" dirty="0">
                <a:solidFill>
                  <a:schemeClr val="tx1"/>
                </a:solidFill>
                <a:latin typeface="Meiryo" pitchFamily="34" charset="0"/>
                <a:ea typeface="Meiryo" pitchFamily="34" charset="-122"/>
                <a:cs typeface="Meiryo" pitchFamily="34" charset="-120"/>
              </a:rPr>
              <a:t>検索・リターゲティングを中心に、来場意向の高い層から獲得します。</a:t>
            </a:r>
            <a:endParaRPr lang="en-US" sz="1700" dirty="0">
              <a:solidFill>
                <a:schemeClr val="tx1"/>
              </a:solidFill>
            </a:endParaRPr>
          </a:p>
        </p:txBody>
      </p:sp>
      <p:sp>
        <p:nvSpPr>
          <p:cNvPr id="2" name="Card1_Num">
            <a:extLst>
              <a:ext uri="{FF2B5EF4-FFF2-40B4-BE49-F238E27FC236}">
                <a16:creationId xmlns:a16="http://schemas.microsoft.com/office/drawing/2014/main" id="{458FBD00-4511-C2DA-7A2C-8BED4B530910}"/>
              </a:ext>
            </a:extLst>
          </p:cNvPr>
          <p:cNvSpPr txBox="1"/>
          <p:nvPr/>
        </p:nvSpPr>
        <p:spPr>
          <a:xfrm>
            <a:off x="376428" y="1612900"/>
            <a:ext cx="2921000" cy="635000"/>
          </a:xfrm>
          <a:prstGeom prst="rect">
            <a:avLst/>
          </a:prstGeom>
          <a:solidFill>
            <a:srgbClr val="1F2A5C"/>
          </a:solidFill>
          <a:ln>
            <a:noFill/>
          </a:ln>
        </p:spPr>
        <p:txBody>
          <a:bodyPr wrap="square" lIns="203200" tIns="101600" rIns="2032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buNone/>
            </a:pPr>
            <a:r>
              <a:rPr lang="ja-JP" sz="2400" b="1" dirty="0">
                <a:solidFill>
                  <a:srgbClr val="FFFFFF"/>
                </a:solidFill>
                <a:latin typeface="メイリオ" panose="020B0604030504040204" pitchFamily="50" charset="-128"/>
                <a:ea typeface="メイリオ" panose="020B0604030504040204" pitchFamily="50" charset="-128"/>
              </a:rPr>
              <a:t>01</a:t>
            </a:r>
          </a:p>
        </p:txBody>
      </p:sp>
      <p:sp>
        <p:nvSpPr>
          <p:cNvPr id="3" name="Card1_Title">
            <a:extLst>
              <a:ext uri="{FF2B5EF4-FFF2-40B4-BE49-F238E27FC236}">
                <a16:creationId xmlns:a16="http://schemas.microsoft.com/office/drawing/2014/main" id="{577BC0BB-DDFC-C752-2C5E-6C6A56BFB727}"/>
              </a:ext>
            </a:extLst>
          </p:cNvPr>
          <p:cNvSpPr txBox="1"/>
          <p:nvPr/>
        </p:nvSpPr>
        <p:spPr>
          <a:xfrm>
            <a:off x="376428" y="2247900"/>
            <a:ext cx="2921000" cy="457200"/>
          </a:xfrm>
          <a:prstGeom prst="rect">
            <a:avLst/>
          </a:prstGeom>
          <a:solidFill>
            <a:srgbClr val="FFFFFF"/>
          </a:solidFill>
          <a:ln w="6350">
            <a:solidFill>
              <a:srgbClr val="1F2A5C"/>
            </a:solidFill>
          </a:ln>
        </p:spPr>
        <p:txBody>
          <a:bodyPr wrap="square" lIns="177800" tIns="101600" rIns="1778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None/>
            </a:pPr>
            <a:r>
              <a:rPr lang="ja-JP" sz="1400" b="1" dirty="0">
                <a:solidFill>
                  <a:srgbClr val="1F2A5C"/>
                </a:solidFill>
                <a:latin typeface="メイリオ" panose="020B0604030504040204" pitchFamily="50" charset="-128"/>
                <a:ea typeface="メイリオ" panose="020B0604030504040204" pitchFamily="50" charset="-128"/>
              </a:rPr>
              <a:t>検索前（-15〜-1日）</a:t>
            </a:r>
          </a:p>
        </p:txBody>
      </p:sp>
      <p:sp>
        <p:nvSpPr>
          <p:cNvPr id="4" name="Card1_Body">
            <a:extLst>
              <a:ext uri="{FF2B5EF4-FFF2-40B4-BE49-F238E27FC236}">
                <a16:creationId xmlns:a16="http://schemas.microsoft.com/office/drawing/2014/main" id="{F66C2B6C-8A62-F1D5-3789-4CFE0E0B226E}"/>
              </a:ext>
            </a:extLst>
          </p:cNvPr>
          <p:cNvSpPr txBox="1"/>
          <p:nvPr/>
        </p:nvSpPr>
        <p:spPr>
          <a:xfrm>
            <a:off x="376428" y="2705100"/>
            <a:ext cx="2921000" cy="3556000"/>
          </a:xfrm>
          <a:prstGeom prst="rect">
            <a:avLst/>
          </a:prstGeom>
          <a:solidFill>
            <a:srgbClr val="F5F7FA"/>
          </a:solidFill>
          <a:ln w="6350">
            <a:solidFill>
              <a:srgbClr val="D1D8E0"/>
            </a:solidFill>
          </a:ln>
        </p:spPr>
        <p:txBody>
          <a:bodyPr wrap="square" lIns="177800" tIns="152400" rIns="177800" bIns="15240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171450" indent="-171450">
              <a:spcBef>
                <a:spcPts val="200"/>
              </a:spcBef>
              <a:buClr>
                <a:srgbClr val="1F2A5C"/>
              </a:buClr>
              <a:buFont typeface="Arial"/>
              <a:buChar char="•"/>
            </a:pPr>
            <a:r>
              <a:rPr lang="ja-JP" sz="1200" dirty="0">
                <a:solidFill>
                  <a:srgbClr val="333333"/>
                </a:solidFill>
                <a:latin typeface="メイリオ" panose="020B0604030504040204" pitchFamily="50" charset="-128"/>
                <a:ea typeface="メイリオ" panose="020B0604030504040204" pitchFamily="50" charset="-128"/>
              </a:rPr>
              <a:t>「こどもちゃれんじ」「スマイルゼミ」「西松屋」「ランドセル」「スタジオアリス」</a:t>
            </a:r>
          </a:p>
          <a:p>
            <a:pPr marL="171450" indent="-171450">
              <a:spcBef>
                <a:spcPts val="200"/>
              </a:spcBef>
              <a:buClr>
                <a:srgbClr val="1F2A5C"/>
              </a:buClr>
              <a:buFont typeface="Arial"/>
              <a:buChar char="•"/>
            </a:pPr>
            <a:r>
              <a:rPr lang="ja-JP" sz="1200" dirty="0">
                <a:solidFill>
                  <a:srgbClr val="333333"/>
                </a:solidFill>
                <a:latin typeface="メイリオ" panose="020B0604030504040204" pitchFamily="50" charset="-128"/>
                <a:ea typeface="メイリオ" panose="020B0604030504040204" pitchFamily="50" charset="-128"/>
              </a:rPr>
              <a:t>→通信教育・育児用品・記念撮影など、育児全般への関心が先行。習い事はまだ選択肢の一つ</a:t>
            </a:r>
            <a:endParaRPr lang="en-US" alt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1F2A5C"/>
              </a:buClr>
              <a:buFont typeface="Arial"/>
              <a:buChar char="•"/>
            </a:pPr>
            <a:endParaRPr lang="en-US" alt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1F2A5C"/>
              </a:buClr>
              <a:buFont typeface="Arial"/>
              <a:buChar char="•"/>
            </a:pPr>
            <a:r>
              <a:rPr lang="ja-JP" altLang="en-US" sz="1200" dirty="0">
                <a:solidFill>
                  <a:srgbClr val="333333"/>
                </a:solidFill>
                <a:latin typeface="メイリオ" panose="020B0604030504040204" pitchFamily="50" charset="-128"/>
                <a:ea typeface="メイリオ" panose="020B0604030504040204" pitchFamily="50" charset="-128"/>
              </a:rPr>
              <a:t>「趣味」「ヤマハ音楽教室」「パソコン教室」「学研教室」「公文」</a:t>
            </a:r>
            <a:endParaRPr lang="en-US" alt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1F2A5C"/>
              </a:buClr>
              <a:buFont typeface="Arial"/>
              <a:buChar char="•"/>
            </a:pPr>
            <a:r>
              <a:rPr lang="ja-JP" altLang="en-US" sz="1200" dirty="0">
                <a:solidFill>
                  <a:srgbClr val="333333"/>
                </a:solidFill>
                <a:latin typeface="メイリオ" panose="020B0604030504040204" pitchFamily="50" charset="-128"/>
                <a:ea typeface="メイリオ" panose="020B0604030504040204" pitchFamily="50" charset="-128"/>
              </a:rPr>
              <a:t>→大人・子ども問わず、幅広い習い事ジャンルへの関心が入り口となる</a:t>
            </a:r>
          </a:p>
          <a:p>
            <a:pPr>
              <a:spcBef>
                <a:spcPts val="200"/>
              </a:spcBef>
              <a:buClr>
                <a:srgbClr val="1F2A5C"/>
              </a:buClr>
            </a:pPr>
            <a:endParaRPr lang="ja-JP" altLang="en-US"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1F2A5C"/>
              </a:buClr>
            </a:pPr>
            <a:endParaRPr 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1F2A5C"/>
              </a:buClr>
              <a:buFont typeface="Arial"/>
              <a:buChar char="•"/>
            </a:pP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6" name="Card2_Num">
            <a:extLst>
              <a:ext uri="{FF2B5EF4-FFF2-40B4-BE49-F238E27FC236}">
                <a16:creationId xmlns:a16="http://schemas.microsoft.com/office/drawing/2014/main" id="{9B15FF73-FFAB-10D6-FD84-3F7EECB12537}"/>
              </a:ext>
            </a:extLst>
          </p:cNvPr>
          <p:cNvSpPr txBox="1"/>
          <p:nvPr/>
        </p:nvSpPr>
        <p:spPr>
          <a:xfrm>
            <a:off x="3487928" y="1612900"/>
            <a:ext cx="2921000" cy="635000"/>
          </a:xfrm>
          <a:prstGeom prst="rect">
            <a:avLst/>
          </a:prstGeom>
          <a:solidFill>
            <a:srgbClr val="4A6FA5"/>
          </a:solidFill>
          <a:ln>
            <a:noFill/>
          </a:ln>
        </p:spPr>
        <p:txBody>
          <a:bodyPr wrap="square" lIns="203200" tIns="101600" rIns="2032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buNone/>
            </a:pPr>
            <a:r>
              <a:rPr lang="ja-JP" sz="2400" b="1" dirty="0">
                <a:solidFill>
                  <a:srgbClr val="FFFFFF"/>
                </a:solidFill>
                <a:latin typeface="メイリオ" panose="020B0604030504040204" pitchFamily="50" charset="-128"/>
                <a:ea typeface="メイリオ" panose="020B0604030504040204" pitchFamily="50" charset="-128"/>
              </a:rPr>
              <a:t>02</a:t>
            </a:r>
          </a:p>
        </p:txBody>
      </p:sp>
      <p:sp>
        <p:nvSpPr>
          <p:cNvPr id="7" name="Card2_Title">
            <a:extLst>
              <a:ext uri="{FF2B5EF4-FFF2-40B4-BE49-F238E27FC236}">
                <a16:creationId xmlns:a16="http://schemas.microsoft.com/office/drawing/2014/main" id="{E5B870C4-7A3E-285A-5B84-0E50317E3240}"/>
              </a:ext>
            </a:extLst>
          </p:cNvPr>
          <p:cNvSpPr txBox="1"/>
          <p:nvPr/>
        </p:nvSpPr>
        <p:spPr>
          <a:xfrm>
            <a:off x="3487928" y="2247900"/>
            <a:ext cx="2921000" cy="457200"/>
          </a:xfrm>
          <a:prstGeom prst="rect">
            <a:avLst/>
          </a:prstGeom>
          <a:solidFill>
            <a:srgbClr val="FFFFFF"/>
          </a:solidFill>
          <a:ln w="6350">
            <a:solidFill>
              <a:srgbClr val="4A6FA5"/>
            </a:solidFill>
          </a:ln>
        </p:spPr>
        <p:txBody>
          <a:bodyPr wrap="square" lIns="177800" tIns="101600" rIns="1778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None/>
            </a:pPr>
            <a:r>
              <a:rPr lang="ja-JP" sz="1400" b="1" dirty="0">
                <a:solidFill>
                  <a:srgbClr val="4A6FA5"/>
                </a:solidFill>
                <a:latin typeface="メイリオ" panose="020B0604030504040204" pitchFamily="50" charset="-128"/>
                <a:ea typeface="メイリオ" panose="020B0604030504040204" pitchFamily="50" charset="-128"/>
              </a:rPr>
              <a:t>検索起点（0日）</a:t>
            </a:r>
          </a:p>
        </p:txBody>
      </p:sp>
      <p:sp>
        <p:nvSpPr>
          <p:cNvPr id="8" name="Card2_Body">
            <a:extLst>
              <a:ext uri="{FF2B5EF4-FFF2-40B4-BE49-F238E27FC236}">
                <a16:creationId xmlns:a16="http://schemas.microsoft.com/office/drawing/2014/main" id="{FEA95593-2E6F-A99B-1221-F11A9C632380}"/>
              </a:ext>
            </a:extLst>
          </p:cNvPr>
          <p:cNvSpPr txBox="1"/>
          <p:nvPr/>
        </p:nvSpPr>
        <p:spPr>
          <a:xfrm>
            <a:off x="3487928" y="2705100"/>
            <a:ext cx="2921000" cy="3556000"/>
          </a:xfrm>
          <a:prstGeom prst="rect">
            <a:avLst/>
          </a:prstGeom>
          <a:solidFill>
            <a:srgbClr val="F5F7FA"/>
          </a:solidFill>
          <a:ln w="6350">
            <a:solidFill>
              <a:srgbClr val="D1D8E0"/>
            </a:solidFill>
          </a:ln>
        </p:spPr>
        <p:txBody>
          <a:bodyPr wrap="square" lIns="177800" tIns="152400" rIns="177800" bIns="15240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171450" indent="-171450">
              <a:spcBef>
                <a:spcPts val="200"/>
              </a:spcBef>
              <a:buClr>
                <a:srgbClr val="4A6FA5"/>
              </a:buClr>
              <a:buFont typeface="Arial"/>
              <a:buChar char="•"/>
            </a:pPr>
            <a:r>
              <a:rPr lang="ja-JP" sz="1200" dirty="0">
                <a:solidFill>
                  <a:srgbClr val="333333"/>
                </a:solidFill>
                <a:latin typeface="メイリオ" panose="020B0604030504040204" pitchFamily="50" charset="-128"/>
                <a:ea typeface="メイリオ" panose="020B0604030504040204" pitchFamily="50" charset="-128"/>
              </a:rPr>
              <a:t>「rsウイルス」「ヤマハ音楽教室」「習い事」「ピアノ」「イトマンスイミングスクール」</a:t>
            </a:r>
          </a:p>
          <a:p>
            <a:pPr marL="171450" indent="-171450">
              <a:spcBef>
                <a:spcPts val="200"/>
              </a:spcBef>
              <a:buClr>
                <a:srgbClr val="4A6FA5"/>
              </a:buClr>
              <a:buFont typeface="Arial"/>
              <a:buChar char="•"/>
            </a:pPr>
            <a:r>
              <a:rPr lang="ja-JP" sz="1200" dirty="0">
                <a:solidFill>
                  <a:srgbClr val="333333"/>
                </a:solidFill>
                <a:latin typeface="メイリオ" panose="020B0604030504040204" pitchFamily="50" charset="-128"/>
                <a:ea typeface="メイリオ" panose="020B0604030504040204" pitchFamily="50" charset="-128"/>
              </a:rPr>
              <a:t>→体調・成長面の気づきと同時に、具体的な習い事ブランド名の検索が急増</a:t>
            </a:r>
            <a:endParaRPr lang="en-US" alt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4A6FA5"/>
              </a:buClr>
              <a:buFont typeface="Arial"/>
              <a:buChar char="•"/>
            </a:pPr>
            <a:endParaRPr lang="en-US" alt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4A6FA5"/>
              </a:buClr>
              <a:buFont typeface="Arial"/>
              <a:buChar char="•"/>
            </a:pPr>
            <a:r>
              <a:rPr lang="ja-JP" altLang="en-US" sz="1200" dirty="0">
                <a:solidFill>
                  <a:srgbClr val="333333"/>
                </a:solidFill>
                <a:latin typeface="メイリオ" panose="020B0604030504040204" pitchFamily="50" charset="-128"/>
                <a:ea typeface="メイリオ" panose="020B0604030504040204" pitchFamily="50" charset="-128"/>
              </a:rPr>
              <a:t>「習い事ランキング」「くもん」「ピアノ教室」「体操教室」「そろばん」「スイミング」</a:t>
            </a:r>
          </a:p>
          <a:p>
            <a:pPr marL="171450" indent="-171450">
              <a:spcBef>
                <a:spcPts val="200"/>
              </a:spcBef>
              <a:buClr>
                <a:srgbClr val="4A6FA5"/>
              </a:buClr>
              <a:buFont typeface="Arial"/>
              <a:buChar char="•"/>
            </a:pPr>
            <a:r>
              <a:rPr lang="ja-JP" altLang="en-US" sz="1200" dirty="0">
                <a:solidFill>
                  <a:srgbClr val="333333"/>
                </a:solidFill>
                <a:latin typeface="メイリオ" panose="020B0604030504040204" pitchFamily="50" charset="-128"/>
                <a:ea typeface="メイリオ" panose="020B0604030504040204" pitchFamily="50" charset="-128"/>
              </a:rPr>
              <a:t>→具体的な習い事ジャンル・ブランドの比較が本格化するタイミング</a:t>
            </a:r>
          </a:p>
          <a:p>
            <a:pPr marL="171450" indent="-171450">
              <a:spcBef>
                <a:spcPts val="200"/>
              </a:spcBef>
              <a:buClr>
                <a:srgbClr val="4A6FA5"/>
              </a:buClr>
              <a:buFont typeface="Arial"/>
              <a:buChar char="•"/>
            </a:pPr>
            <a:endParaRPr lang="ja-JP" altLang="en-US"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4A6FA5"/>
              </a:buClr>
              <a:buFont typeface="Arial"/>
              <a:buChar char="•"/>
            </a:pPr>
            <a:endParaRPr 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4A6FA5"/>
              </a:buClr>
              <a:buFont typeface="Arial"/>
              <a:buChar char="•"/>
            </a:pP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9" name="Card3_Num">
            <a:extLst>
              <a:ext uri="{FF2B5EF4-FFF2-40B4-BE49-F238E27FC236}">
                <a16:creationId xmlns:a16="http://schemas.microsoft.com/office/drawing/2014/main" id="{0C40B463-4F3B-44D4-1B1F-77ECB562B4D3}"/>
              </a:ext>
            </a:extLst>
          </p:cNvPr>
          <p:cNvSpPr txBox="1"/>
          <p:nvPr/>
        </p:nvSpPr>
        <p:spPr>
          <a:xfrm>
            <a:off x="6599428" y="1612900"/>
            <a:ext cx="2921000" cy="635000"/>
          </a:xfrm>
          <a:prstGeom prst="rect">
            <a:avLst/>
          </a:prstGeom>
          <a:solidFill>
            <a:schemeClr val="accent1"/>
          </a:solidFill>
          <a:ln>
            <a:noFill/>
          </a:ln>
        </p:spPr>
        <p:txBody>
          <a:bodyPr wrap="square" lIns="203200" tIns="101600" rIns="2032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buNone/>
            </a:pPr>
            <a:r>
              <a:rPr lang="ja-JP" sz="2400" b="1" dirty="0">
                <a:solidFill>
                  <a:srgbClr val="FFFFFF"/>
                </a:solidFill>
                <a:latin typeface="メイリオ" panose="020B0604030504040204" pitchFamily="50" charset="-128"/>
                <a:ea typeface="メイリオ" panose="020B0604030504040204" pitchFamily="50" charset="-128"/>
              </a:rPr>
              <a:t>03</a:t>
            </a:r>
          </a:p>
        </p:txBody>
      </p:sp>
      <p:sp>
        <p:nvSpPr>
          <p:cNvPr id="10" name="Card3_Title">
            <a:extLst>
              <a:ext uri="{FF2B5EF4-FFF2-40B4-BE49-F238E27FC236}">
                <a16:creationId xmlns:a16="http://schemas.microsoft.com/office/drawing/2014/main" id="{2C1CA6A1-A949-A3B7-C542-DD0F8779E908}"/>
              </a:ext>
            </a:extLst>
          </p:cNvPr>
          <p:cNvSpPr txBox="1"/>
          <p:nvPr/>
        </p:nvSpPr>
        <p:spPr>
          <a:xfrm>
            <a:off x="6599428" y="2247900"/>
            <a:ext cx="2921000" cy="457200"/>
          </a:xfrm>
          <a:prstGeom prst="rect">
            <a:avLst/>
          </a:prstGeom>
          <a:noFill/>
          <a:ln w="6350">
            <a:solidFill>
              <a:schemeClr val="accent1"/>
            </a:solidFill>
          </a:ln>
        </p:spPr>
        <p:txBody>
          <a:bodyPr wrap="square" lIns="177800" tIns="101600" rIns="1778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None/>
            </a:pPr>
            <a:r>
              <a:rPr lang="ja-JP" sz="1400" b="1" dirty="0">
                <a:solidFill>
                  <a:schemeClr val="accent1"/>
                </a:solidFill>
                <a:latin typeface="メイリオ" panose="020B0604030504040204" pitchFamily="50" charset="-128"/>
                <a:ea typeface="メイリオ" panose="020B0604030504040204" pitchFamily="50" charset="-128"/>
              </a:rPr>
              <a:t>検索後（+1〜+15日）</a:t>
            </a:r>
          </a:p>
        </p:txBody>
      </p:sp>
      <p:sp>
        <p:nvSpPr>
          <p:cNvPr id="11" name="Card3_Body">
            <a:extLst>
              <a:ext uri="{FF2B5EF4-FFF2-40B4-BE49-F238E27FC236}">
                <a16:creationId xmlns:a16="http://schemas.microsoft.com/office/drawing/2014/main" id="{FFDFD9AC-AC03-4CF4-2FB8-A97D8E41B3D4}"/>
              </a:ext>
            </a:extLst>
          </p:cNvPr>
          <p:cNvSpPr txBox="1"/>
          <p:nvPr/>
        </p:nvSpPr>
        <p:spPr>
          <a:xfrm>
            <a:off x="6599428" y="2705100"/>
            <a:ext cx="2921000" cy="3556000"/>
          </a:xfrm>
          <a:prstGeom prst="rect">
            <a:avLst/>
          </a:prstGeom>
          <a:solidFill>
            <a:srgbClr val="F5F7FA"/>
          </a:solidFill>
          <a:ln w="6350">
            <a:solidFill>
              <a:srgbClr val="D1D8E0"/>
            </a:solidFill>
          </a:ln>
        </p:spPr>
        <p:txBody>
          <a:bodyPr wrap="square" lIns="177800" tIns="152400" rIns="177800" bIns="15240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171450" indent="-171450">
              <a:spcBef>
                <a:spcPts val="200"/>
              </a:spcBef>
              <a:buClr>
                <a:srgbClr val="C8102E"/>
              </a:buClr>
              <a:buFont typeface="Arial"/>
              <a:buChar char="•"/>
            </a:pPr>
            <a:r>
              <a:rPr lang="ja-JP" sz="1200" dirty="0">
                <a:solidFill>
                  <a:srgbClr val="333333"/>
                </a:solidFill>
                <a:latin typeface="メイリオ" panose="020B0604030504040204" pitchFamily="50" charset="-128"/>
                <a:ea typeface="メイリオ" panose="020B0604030504040204" pitchFamily="50" charset="-128"/>
              </a:rPr>
              <a:t>「くもん」「児童手当」「七五三」「ポケモンセンター」「ハーモニーランド」</a:t>
            </a:r>
            <a:endParaRPr lang="en-US" alt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C8102E"/>
              </a:buClr>
              <a:buFont typeface="Arial"/>
              <a:buChar char="•"/>
            </a:pPr>
            <a:r>
              <a:rPr lang="ja-JP" sz="1200" dirty="0">
                <a:solidFill>
                  <a:srgbClr val="333333"/>
                </a:solidFill>
                <a:latin typeface="メイリオ" panose="020B0604030504040204" pitchFamily="50" charset="-128"/>
                <a:ea typeface="メイリオ" panose="020B0604030504040204" pitchFamily="50" charset="-128"/>
              </a:rPr>
              <a:t>→特定ブランドの比較検討、給付金等の家計情報収集、家族レジャーへと関心が拡散</a:t>
            </a:r>
          </a:p>
          <a:p>
            <a:pPr marL="171450" indent="-171450">
              <a:spcBef>
                <a:spcPts val="200"/>
              </a:spcBef>
              <a:buClr>
                <a:srgbClr val="C8102E"/>
              </a:buClr>
              <a:buFont typeface="Arial"/>
              <a:buChar char="•"/>
            </a:pPr>
            <a:r>
              <a:rPr lang="ja-JP" altLang="en-US" sz="1200" dirty="0">
                <a:solidFill>
                  <a:srgbClr val="333333"/>
                </a:solidFill>
                <a:latin typeface="メイリオ" panose="020B0604030504040204" pitchFamily="50" charset="-128"/>
                <a:ea typeface="メイリオ" panose="020B0604030504040204" pitchFamily="50" charset="-128"/>
              </a:rPr>
              <a:t>「忍者ナイン 評判」「</a:t>
            </a:r>
            <a:r>
              <a:rPr lang="en-US" altLang="ja-JP" sz="1200" dirty="0" err="1">
                <a:solidFill>
                  <a:srgbClr val="333333"/>
                </a:solidFill>
                <a:latin typeface="メイリオ" panose="020B0604030504040204" pitchFamily="50" charset="-128"/>
                <a:ea typeface="メイリオ" panose="020B0604030504040204" pitchFamily="50" charset="-128"/>
              </a:rPr>
              <a:t>qq</a:t>
            </a:r>
            <a:r>
              <a:rPr lang="ja-JP" altLang="en-US" sz="1200" dirty="0">
                <a:solidFill>
                  <a:srgbClr val="333333"/>
                </a:solidFill>
                <a:latin typeface="メイリオ" panose="020B0604030504040204" pitchFamily="50" charset="-128"/>
                <a:ea typeface="メイリオ" panose="020B0604030504040204" pitchFamily="50" charset="-128"/>
              </a:rPr>
              <a:t>キッズ」「ロボット教室」「小学生 習い事 いくつ」</a:t>
            </a:r>
          </a:p>
          <a:p>
            <a:pPr marL="171450" indent="-171450">
              <a:spcBef>
                <a:spcPts val="200"/>
              </a:spcBef>
              <a:buClr>
                <a:srgbClr val="C8102E"/>
              </a:buClr>
              <a:buFont typeface="Arial"/>
              <a:buChar char="•"/>
            </a:pPr>
            <a:r>
              <a:rPr lang="ja-JP" altLang="en-US" sz="1200" dirty="0">
                <a:solidFill>
                  <a:srgbClr val="333333"/>
                </a:solidFill>
                <a:latin typeface="メイリオ" panose="020B0604030504040204" pitchFamily="50" charset="-128"/>
                <a:ea typeface="メイリオ" panose="020B0604030504040204" pitchFamily="50" charset="-128"/>
              </a:rPr>
              <a:t>→ブランド名指名＋評判確認の段階。競合と並んで自社ブランドが検索されている</a:t>
            </a:r>
          </a:p>
          <a:p>
            <a:pPr marL="171450" indent="-171450">
              <a:spcBef>
                <a:spcPts val="200"/>
              </a:spcBef>
              <a:buClr>
                <a:srgbClr val="C8102E"/>
              </a:buClr>
              <a:buFont typeface="Arial"/>
              <a:buChar char="•"/>
            </a:pPr>
            <a:endParaRPr lang="ja-JP" sz="1200" dirty="0">
              <a:solidFill>
                <a:srgbClr val="333333"/>
              </a:solidFill>
              <a:latin typeface="メイリオ" panose="020B0604030504040204" pitchFamily="50" charset="-128"/>
              <a:ea typeface="メイリオ" panose="020B0604030504040204" pitchFamily="50" charset="-128"/>
            </a:endParaRPr>
          </a:p>
        </p:txBody>
      </p:sp>
      <p:cxnSp>
        <p:nvCxnSpPr>
          <p:cNvPr id="13" name="直線矢印コネクタ 12">
            <a:extLst>
              <a:ext uri="{FF2B5EF4-FFF2-40B4-BE49-F238E27FC236}">
                <a16:creationId xmlns:a16="http://schemas.microsoft.com/office/drawing/2014/main" id="{0C3A4AA5-7859-52AB-440C-E7AD4F70CCD0}"/>
              </a:ext>
            </a:extLst>
          </p:cNvPr>
          <p:cNvCxnSpPr>
            <a:cxnSpLocks/>
          </p:cNvCxnSpPr>
          <p:nvPr/>
        </p:nvCxnSpPr>
        <p:spPr>
          <a:xfrm>
            <a:off x="650633" y="5511800"/>
            <a:ext cx="5484091" cy="0"/>
          </a:xfrm>
          <a:prstGeom prst="straightConnector1">
            <a:avLst/>
          </a:prstGeom>
          <a:ln w="28575">
            <a:solidFill>
              <a:schemeClr val="tx1">
                <a:lumMod val="75000"/>
                <a:lumOff val="25000"/>
              </a:schemeClr>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4" name="直線矢印コネクタ 13">
            <a:extLst>
              <a:ext uri="{FF2B5EF4-FFF2-40B4-BE49-F238E27FC236}">
                <a16:creationId xmlns:a16="http://schemas.microsoft.com/office/drawing/2014/main" id="{F2483494-D7A4-6D48-9329-B4102E1A5D75}"/>
              </a:ext>
            </a:extLst>
          </p:cNvPr>
          <p:cNvCxnSpPr/>
          <p:nvPr/>
        </p:nvCxnSpPr>
        <p:spPr>
          <a:xfrm>
            <a:off x="5441805" y="5905500"/>
            <a:ext cx="2114354" cy="0"/>
          </a:xfrm>
          <a:prstGeom prst="straightConnector1">
            <a:avLst/>
          </a:prstGeom>
          <a:ln w="28575">
            <a:solidFill>
              <a:srgbClr val="04FA0A"/>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5" name="直線矢印コネクタ 14">
            <a:extLst>
              <a:ext uri="{FF2B5EF4-FFF2-40B4-BE49-F238E27FC236}">
                <a16:creationId xmlns:a16="http://schemas.microsoft.com/office/drawing/2014/main" id="{2FF51894-3F3A-9A5A-439B-95852B99E283}"/>
              </a:ext>
            </a:extLst>
          </p:cNvPr>
          <p:cNvCxnSpPr/>
          <p:nvPr/>
        </p:nvCxnSpPr>
        <p:spPr>
          <a:xfrm>
            <a:off x="6908863" y="6311900"/>
            <a:ext cx="2533039" cy="0"/>
          </a:xfrm>
          <a:prstGeom prst="straightConnector1">
            <a:avLst/>
          </a:prstGeom>
          <a:ln w="28575">
            <a:solidFill>
              <a:srgbClr val="00B050"/>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8153B628-1E22-2A01-D787-9CB98A0EA6BC}"/>
              </a:ext>
            </a:extLst>
          </p:cNvPr>
          <p:cNvSpPr txBox="1"/>
          <p:nvPr/>
        </p:nvSpPr>
        <p:spPr>
          <a:xfrm>
            <a:off x="892556" y="5132457"/>
            <a:ext cx="4965700" cy="353943"/>
          </a:xfrm>
          <a:prstGeom prst="rect">
            <a:avLst/>
          </a:prstGeom>
          <a:noFill/>
        </p:spPr>
        <p:txBody>
          <a:bodyPr wrap="square">
            <a:spAutoFit/>
          </a:bodyPr>
          <a:lstStyle/>
          <a:p>
            <a:pPr marL="0" indent="0" algn="ctr">
              <a:buNone/>
            </a:pPr>
            <a:r>
              <a:rPr lang="ja-JP" altLang="en-US" sz="1700" b="1" dirty="0">
                <a:solidFill>
                  <a:schemeClr val="bg1">
                    <a:lumMod val="75000"/>
                  </a:schemeClr>
                </a:solidFill>
                <a:latin typeface="Meiryo" pitchFamily="34" charset="0"/>
                <a:ea typeface="Meiryo" pitchFamily="34" charset="-122"/>
                <a:cs typeface="Meiryo" pitchFamily="34" charset="-120"/>
              </a:rPr>
              <a:t>離脱防止バナーの掲載</a:t>
            </a:r>
            <a:endParaRPr lang="en-US" altLang="ja-JP" sz="1700" dirty="0">
              <a:solidFill>
                <a:schemeClr val="bg1">
                  <a:lumMod val="75000"/>
                </a:schemeClr>
              </a:solidFill>
            </a:endParaRPr>
          </a:p>
        </p:txBody>
      </p:sp>
      <p:sp>
        <p:nvSpPr>
          <p:cNvPr id="19" name="テキスト ボックス 18">
            <a:extLst>
              <a:ext uri="{FF2B5EF4-FFF2-40B4-BE49-F238E27FC236}">
                <a16:creationId xmlns:a16="http://schemas.microsoft.com/office/drawing/2014/main" id="{67A098E9-C1F6-8AE5-ACAA-5CED5AB70567}"/>
              </a:ext>
            </a:extLst>
          </p:cNvPr>
          <p:cNvSpPr txBox="1"/>
          <p:nvPr/>
        </p:nvSpPr>
        <p:spPr>
          <a:xfrm>
            <a:off x="5096324" y="5525328"/>
            <a:ext cx="2803009" cy="353943"/>
          </a:xfrm>
          <a:prstGeom prst="rect">
            <a:avLst/>
          </a:prstGeom>
          <a:noFill/>
        </p:spPr>
        <p:txBody>
          <a:bodyPr wrap="square">
            <a:spAutoFit/>
          </a:bodyPr>
          <a:lstStyle/>
          <a:p>
            <a:pPr marL="0" indent="0" algn="ctr">
              <a:buNone/>
            </a:pPr>
            <a:r>
              <a:rPr lang="en-US" altLang="ja-JP" sz="1700" b="1" dirty="0">
                <a:solidFill>
                  <a:schemeClr val="bg1">
                    <a:lumMod val="75000"/>
                  </a:schemeClr>
                </a:solidFill>
                <a:latin typeface="Meiryo" pitchFamily="34" charset="0"/>
                <a:ea typeface="Meiryo" pitchFamily="34" charset="-122"/>
                <a:cs typeface="Meiryo" pitchFamily="34" charset="-120"/>
              </a:rPr>
              <a:t>LINE</a:t>
            </a:r>
            <a:r>
              <a:rPr lang="ja-JP" altLang="en-US" sz="1700" b="1" dirty="0">
                <a:solidFill>
                  <a:schemeClr val="bg1">
                    <a:lumMod val="75000"/>
                  </a:schemeClr>
                </a:solidFill>
                <a:latin typeface="Meiryo" pitchFamily="34" charset="0"/>
                <a:ea typeface="Meiryo" pitchFamily="34" charset="-122"/>
                <a:cs typeface="Meiryo" pitchFamily="34" charset="-120"/>
              </a:rPr>
              <a:t>友だち追加</a:t>
            </a:r>
            <a:endParaRPr lang="en-US" altLang="ja-JP" sz="1700" dirty="0">
              <a:solidFill>
                <a:schemeClr val="bg1">
                  <a:lumMod val="75000"/>
                </a:schemeClr>
              </a:solidFill>
            </a:endParaRPr>
          </a:p>
        </p:txBody>
      </p:sp>
      <p:sp>
        <p:nvSpPr>
          <p:cNvPr id="21" name="テキスト ボックス 20">
            <a:extLst>
              <a:ext uri="{FF2B5EF4-FFF2-40B4-BE49-F238E27FC236}">
                <a16:creationId xmlns:a16="http://schemas.microsoft.com/office/drawing/2014/main" id="{B07A593F-9910-E2FC-321D-E0114EDC5BCC}"/>
              </a:ext>
            </a:extLst>
          </p:cNvPr>
          <p:cNvSpPr txBox="1"/>
          <p:nvPr/>
        </p:nvSpPr>
        <p:spPr>
          <a:xfrm>
            <a:off x="6773877" y="5931314"/>
            <a:ext cx="2803009" cy="353943"/>
          </a:xfrm>
          <a:prstGeom prst="rect">
            <a:avLst/>
          </a:prstGeom>
          <a:noFill/>
        </p:spPr>
        <p:txBody>
          <a:bodyPr wrap="square">
            <a:spAutoFit/>
          </a:bodyPr>
          <a:lstStyle/>
          <a:p>
            <a:pPr marL="0" indent="0" algn="ctr">
              <a:buNone/>
            </a:pPr>
            <a:r>
              <a:rPr lang="en-US" altLang="ja-JP" sz="1700" b="1" dirty="0">
                <a:solidFill>
                  <a:schemeClr val="bg1">
                    <a:lumMod val="75000"/>
                  </a:schemeClr>
                </a:solidFill>
                <a:latin typeface="Meiryo" pitchFamily="34" charset="0"/>
                <a:ea typeface="Meiryo" pitchFamily="34" charset="-122"/>
                <a:cs typeface="Meiryo" pitchFamily="34" charset="-120"/>
              </a:rPr>
              <a:t>LINE</a:t>
            </a:r>
            <a:r>
              <a:rPr lang="ja-JP" altLang="en-US" sz="1700" b="1" dirty="0">
                <a:solidFill>
                  <a:schemeClr val="bg1">
                    <a:lumMod val="75000"/>
                  </a:schemeClr>
                </a:solidFill>
                <a:latin typeface="Meiryo" pitchFamily="34" charset="0"/>
                <a:ea typeface="Meiryo" pitchFamily="34" charset="-122"/>
                <a:cs typeface="Meiryo" pitchFamily="34" charset="-120"/>
              </a:rPr>
              <a:t>施策</a:t>
            </a:r>
            <a:r>
              <a:rPr lang="en-US" altLang="ja-JP" sz="1700" b="1" dirty="0">
                <a:solidFill>
                  <a:schemeClr val="bg1">
                    <a:lumMod val="75000"/>
                  </a:schemeClr>
                </a:solidFill>
                <a:latin typeface="Meiryo" pitchFamily="34" charset="0"/>
                <a:ea typeface="Meiryo" pitchFamily="34" charset="-122"/>
                <a:cs typeface="Meiryo" pitchFamily="34" charset="-120"/>
              </a:rPr>
              <a:t>(</a:t>
            </a:r>
            <a:r>
              <a:rPr lang="ja-JP" altLang="en-US" sz="1700" b="1" dirty="0">
                <a:solidFill>
                  <a:schemeClr val="bg1">
                    <a:lumMod val="75000"/>
                  </a:schemeClr>
                </a:solidFill>
                <a:latin typeface="Meiryo" pitchFamily="34" charset="0"/>
                <a:ea typeface="Meiryo" pitchFamily="34" charset="-122"/>
                <a:cs typeface="Meiryo" pitchFamily="34" charset="-120"/>
              </a:rPr>
              <a:t>投稿</a:t>
            </a:r>
            <a:r>
              <a:rPr lang="en-US" altLang="ja-JP" sz="1700" b="1" dirty="0">
                <a:solidFill>
                  <a:schemeClr val="bg1">
                    <a:lumMod val="75000"/>
                  </a:schemeClr>
                </a:solidFill>
                <a:latin typeface="Meiryo" pitchFamily="34" charset="0"/>
                <a:ea typeface="Meiryo" pitchFamily="34" charset="-122"/>
                <a:cs typeface="Meiryo" pitchFamily="34" charset="-120"/>
              </a:rPr>
              <a:t>)</a:t>
            </a:r>
            <a:endParaRPr lang="en-US" altLang="ja-JP" sz="1700" dirty="0">
              <a:solidFill>
                <a:schemeClr val="bg1">
                  <a:lumMod val="75000"/>
                </a:schemeClr>
              </a:solidFill>
            </a:endParaRPr>
          </a:p>
        </p:txBody>
      </p:sp>
    </p:spTree>
    <p:extLst>
      <p:ext uri="{BB962C8B-B14F-4D97-AF65-F5344CB8AC3E}">
        <p14:creationId xmlns:p14="http://schemas.microsoft.com/office/powerpoint/2010/main" val="9951958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F79BAA-8C2D-2DC3-A995-CBA086D445D9}"/>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69FF374E-3AB2-D1D8-197A-0493DB99E5FE}"/>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競合分析【忍者ナイン】</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E1996F9D-8C27-3068-3FE0-5558CEE9A14B}"/>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indent="0" algn="ctr">
              <a:buNone/>
            </a:pPr>
            <a:r>
              <a:rPr lang="ja-JP" altLang="en-US" b="0" dirty="0">
                <a:solidFill>
                  <a:srgbClr val="333333"/>
                </a:solidFill>
                <a:latin typeface="Meiryo" pitchFamily="34" charset="0"/>
                <a:ea typeface="メイリオ" pitchFamily="34" charset="-122"/>
                <a:cs typeface="Meiryo" pitchFamily="34" charset="-120"/>
              </a:rPr>
              <a:t>主要競合5社中、LINE公式アカウントを運用しているのは1社のみ（セントラルスポーツ）</a:t>
            </a:r>
            <a:endParaRPr lang="en-US" altLang="ja-JP" b="0" dirty="0">
              <a:solidFill>
                <a:srgbClr val="333333"/>
              </a:solidFill>
              <a:latin typeface="Meiryo" pitchFamily="34" charset="0"/>
              <a:ea typeface="メイリオ" pitchFamily="34" charset="-122"/>
              <a:cs typeface="Meiryo" pitchFamily="34" charset="-120"/>
            </a:endParaRPr>
          </a:p>
          <a:p>
            <a:pPr marL="0" indent="0" algn="ctr">
              <a:buNone/>
            </a:pPr>
            <a:r>
              <a:rPr lang="ja-JP" altLang="en-US" b="0" dirty="0">
                <a:solidFill>
                  <a:srgbClr val="333333"/>
                </a:solidFill>
                <a:latin typeface="Meiryo" pitchFamily="34" charset="0"/>
                <a:ea typeface="メイリオ" pitchFamily="34" charset="-122"/>
                <a:cs typeface="Meiryo" pitchFamily="34" charset="-120"/>
              </a:rPr>
              <a:t>多くの競合がLINEに未着手のため、先行者優位を取りやすい状況。</a:t>
            </a:r>
            <a:endParaRPr lang="en-US" altLang="ja-JP" sz="1800" b="1" dirty="0">
              <a:solidFill>
                <a:schemeClr val="tx1"/>
              </a:solidFill>
              <a:latin typeface="Meiryo" pitchFamily="34" charset="0"/>
              <a:ea typeface="Meiryo" pitchFamily="34" charset="-122"/>
              <a:cs typeface="Meiryo" pitchFamily="34" charset="-120"/>
            </a:endParaRPr>
          </a:p>
        </p:txBody>
      </p:sp>
      <p:graphicFrame>
        <p:nvGraphicFramePr>
          <p:cNvPr id="46" name="Table 45"/>
          <p:cNvGraphicFramePr>
            <a:graphicFrameLocks noGrp="1"/>
          </p:cNvGraphicFramePr>
          <p:nvPr>
            <p:extLst>
              <p:ext uri="{D42A27DB-BD31-4B8C-83A1-F6EECF244321}">
                <p14:modId xmlns:p14="http://schemas.microsoft.com/office/powerpoint/2010/main" val="857182221"/>
              </p:ext>
            </p:extLst>
          </p:nvPr>
        </p:nvGraphicFramePr>
        <p:xfrm>
          <a:off x="384048" y="1600199"/>
          <a:ext cx="9134854" cy="3030315"/>
        </p:xfrm>
        <a:graphic>
          <a:graphicData uri="http://schemas.openxmlformats.org/drawingml/2006/table">
            <a:tbl>
              <a:tblPr firstRow="1" bandRow="1">
                <a:tableStyleId>{5C22544A-7EE6-4342-B048-85BDC9FD1C3A}</a:tableStyleId>
              </a:tblPr>
              <a:tblGrid>
                <a:gridCol w="2192365">
                  <a:extLst>
                    <a:ext uri="{9D8B030D-6E8A-4147-A177-3AD203B41FA5}">
                      <a16:colId xmlns:a16="http://schemas.microsoft.com/office/drawing/2014/main" val="20000"/>
                    </a:ext>
                  </a:extLst>
                </a:gridCol>
                <a:gridCol w="1978334">
                  <a:extLst>
                    <a:ext uri="{9D8B030D-6E8A-4147-A177-3AD203B41FA5}">
                      <a16:colId xmlns:a16="http://schemas.microsoft.com/office/drawing/2014/main" val="20001"/>
                    </a:ext>
                  </a:extLst>
                </a:gridCol>
                <a:gridCol w="2303253">
                  <a:extLst>
                    <a:ext uri="{9D8B030D-6E8A-4147-A177-3AD203B41FA5}">
                      <a16:colId xmlns:a16="http://schemas.microsoft.com/office/drawing/2014/main" val="20002"/>
                    </a:ext>
                  </a:extLst>
                </a:gridCol>
                <a:gridCol w="2660902">
                  <a:extLst>
                    <a:ext uri="{9D8B030D-6E8A-4147-A177-3AD203B41FA5}">
                      <a16:colId xmlns:a16="http://schemas.microsoft.com/office/drawing/2014/main" val="20003"/>
                    </a:ext>
                  </a:extLst>
                </a:gridCol>
              </a:tblGrid>
              <a:tr h="478047">
                <a:tc>
                  <a:txBody>
                    <a:bodyPr/>
                    <a:lstStyle/>
                    <a:p>
                      <a:r>
                        <a:rPr sz="1100" b="1">
                          <a:solidFill>
                            <a:srgbClr val="FFFFFF"/>
                          </a:solidFill>
                          <a:latin typeface="Meiryo"/>
                          <a:ea typeface="メイリオ"/>
                          <a:cs typeface="Meiryo"/>
                        </a:rPr>
                        <a:t>競合</a:t>
                      </a:r>
                    </a:p>
                  </a:txBody>
                  <a:tcPr>
                    <a:solidFill>
                      <a:srgbClr val="1F2A5C"/>
                    </a:solidFill>
                  </a:tcPr>
                </a:tc>
                <a:tc>
                  <a:txBody>
                    <a:bodyPr/>
                    <a:lstStyle/>
                    <a:p>
                      <a:r>
                        <a:rPr sz="1100" b="1">
                          <a:solidFill>
                            <a:srgbClr val="FFFFFF"/>
                          </a:solidFill>
                          <a:latin typeface="Meiryo"/>
                          <a:ea typeface="メイリオ"/>
                          <a:cs typeface="Meiryo"/>
                        </a:rPr>
                        <a:t>LINE公式アカウント</a:t>
                      </a:r>
                    </a:p>
                  </a:txBody>
                  <a:tcPr>
                    <a:solidFill>
                      <a:srgbClr val="1F2A5C"/>
                    </a:solidFill>
                  </a:tcPr>
                </a:tc>
                <a:tc>
                  <a:txBody>
                    <a:bodyPr/>
                    <a:lstStyle/>
                    <a:p>
                      <a:r>
                        <a:rPr sz="1100" b="1" dirty="0" err="1">
                          <a:solidFill>
                            <a:srgbClr val="FFFFFF"/>
                          </a:solidFill>
                          <a:latin typeface="Meiryo"/>
                          <a:ea typeface="メイリオ"/>
                          <a:cs typeface="Meiryo"/>
                        </a:rPr>
                        <a:t>訴求</a:t>
                      </a:r>
                      <a:endParaRPr sz="1100" b="1" dirty="0">
                        <a:solidFill>
                          <a:srgbClr val="FFFFFF"/>
                        </a:solidFill>
                        <a:latin typeface="Meiryo"/>
                        <a:ea typeface="メイリオ"/>
                        <a:cs typeface="Meiryo"/>
                      </a:endParaRPr>
                    </a:p>
                  </a:txBody>
                  <a:tcPr>
                    <a:solidFill>
                      <a:srgbClr val="1F2A5C"/>
                    </a:solidFill>
                  </a:tcPr>
                </a:tc>
                <a:tc>
                  <a:txBody>
                    <a:bodyPr/>
                    <a:lstStyle/>
                    <a:p>
                      <a:r>
                        <a:rPr sz="1100" b="1">
                          <a:solidFill>
                            <a:srgbClr val="FFFFFF"/>
                          </a:solidFill>
                          <a:latin typeface="Meiryo"/>
                          <a:ea typeface="メイリオ"/>
                          <a:cs typeface="Meiryo"/>
                        </a:rPr>
                        <a:t>忍者ナインとの比較</a:t>
                      </a:r>
                    </a:p>
                  </a:txBody>
                  <a:tcPr>
                    <a:solidFill>
                      <a:srgbClr val="1F2A5C"/>
                    </a:solidFill>
                  </a:tcPr>
                </a:tc>
                <a:extLst>
                  <a:ext uri="{0D108BD9-81ED-4DB2-BD59-A6C34878D82A}">
                    <a16:rowId xmlns:a16="http://schemas.microsoft.com/office/drawing/2014/main" val="10000"/>
                  </a:ext>
                </a:extLst>
              </a:tr>
              <a:tr h="478047">
                <a:tc>
                  <a:txBody>
                    <a:bodyPr/>
                    <a:lstStyle/>
                    <a:p>
                      <a:r>
                        <a:rPr sz="1200" b="0" dirty="0" err="1">
                          <a:solidFill>
                            <a:srgbClr val="333333"/>
                          </a:solidFill>
                          <a:latin typeface="Meiryo"/>
                          <a:ea typeface="メイリオ"/>
                          <a:cs typeface="Meiryo"/>
                        </a:rPr>
                        <a:t>biima</a:t>
                      </a:r>
                      <a:r>
                        <a:rPr sz="1200" b="0" dirty="0">
                          <a:solidFill>
                            <a:srgbClr val="333333"/>
                          </a:solidFill>
                          <a:latin typeface="Meiryo"/>
                          <a:ea typeface="メイリオ"/>
                          <a:cs typeface="Meiryo"/>
                        </a:rPr>
                        <a:t> sports</a:t>
                      </a:r>
                    </a:p>
                  </a:txBody>
                  <a:tcPr>
                    <a:solidFill>
                      <a:srgbClr val="FFFFFF"/>
                    </a:solidFill>
                  </a:tcPr>
                </a:tc>
                <a:tc>
                  <a:txBody>
                    <a:bodyPr/>
                    <a:lstStyle/>
                    <a:p>
                      <a:r>
                        <a:rPr sz="1200" b="0">
                          <a:solidFill>
                            <a:srgbClr val="333333"/>
                          </a:solidFill>
                          <a:latin typeface="Meiryo"/>
                          <a:ea typeface="メイリオ"/>
                          <a:cs typeface="Meiryo"/>
                        </a:rPr>
                        <a:t>なし</a:t>
                      </a:r>
                    </a:p>
                  </a:txBody>
                  <a:tcPr>
                    <a:solidFill>
                      <a:srgbClr val="FFFFFF"/>
                    </a:solidFill>
                  </a:tcPr>
                </a:tc>
                <a:tc>
                  <a:txBody>
                    <a:bodyPr/>
                    <a:lstStyle/>
                    <a:p>
                      <a:r>
                        <a:rPr sz="1200" b="0">
                          <a:solidFill>
                            <a:srgbClr val="333333"/>
                          </a:solidFill>
                          <a:latin typeface="Meiryo"/>
                          <a:ea typeface="メイリオ"/>
                          <a:cs typeface="Meiryo"/>
                        </a:rPr>
                        <a:t>非認知能力×複合種目</a:t>
                      </a:r>
                    </a:p>
                  </a:txBody>
                  <a:tcPr>
                    <a:solidFill>
                      <a:srgbClr val="FFFFFF"/>
                    </a:solidFill>
                  </a:tcPr>
                </a:tc>
                <a:tc>
                  <a:txBody>
                    <a:bodyPr/>
                    <a:lstStyle/>
                    <a:p>
                      <a:r>
                        <a:rPr sz="1200" b="0" dirty="0" err="1">
                          <a:solidFill>
                            <a:srgbClr val="333333"/>
                          </a:solidFill>
                          <a:latin typeface="Meiryo"/>
                          <a:ea typeface="メイリオ"/>
                          <a:cs typeface="Meiryo"/>
                        </a:rPr>
                        <a:t>最も近いポジションだが</a:t>
                      </a:r>
                      <a:r>
                        <a:rPr lang="ja-JP" altLang="en-US" sz="1200" b="0" dirty="0">
                          <a:solidFill>
                            <a:srgbClr val="333333"/>
                          </a:solidFill>
                          <a:latin typeface="Meiryo"/>
                          <a:ea typeface="メイリオ"/>
                          <a:cs typeface="Meiryo"/>
                        </a:rPr>
                        <a:t>、</a:t>
                      </a:r>
                      <a:endParaRPr lang="en-US" sz="1200" b="0" dirty="0">
                        <a:solidFill>
                          <a:srgbClr val="333333"/>
                        </a:solidFill>
                        <a:latin typeface="Meiryo"/>
                        <a:ea typeface="メイリオ"/>
                        <a:cs typeface="Meiryo"/>
                      </a:endParaRPr>
                    </a:p>
                    <a:p>
                      <a:r>
                        <a:rPr sz="1200" b="0" dirty="0" err="1">
                          <a:solidFill>
                            <a:srgbClr val="333333"/>
                          </a:solidFill>
                          <a:latin typeface="Meiryo"/>
                          <a:ea typeface="メイリオ"/>
                          <a:cs typeface="Meiryo"/>
                        </a:rPr>
                        <a:t>LINE未活用</a:t>
                      </a:r>
                      <a:r>
                        <a:rPr sz="1200" b="0" dirty="0">
                          <a:solidFill>
                            <a:srgbClr val="333333"/>
                          </a:solidFill>
                          <a:latin typeface="Meiryo"/>
                          <a:ea typeface="メイリオ"/>
                          <a:cs typeface="Meiryo"/>
                        </a:rPr>
                        <a:t>。</a:t>
                      </a:r>
                      <a:endParaRPr lang="en-US" sz="1200" b="0" dirty="0">
                        <a:solidFill>
                          <a:srgbClr val="333333"/>
                        </a:solidFill>
                        <a:latin typeface="Meiryo"/>
                        <a:ea typeface="メイリオ"/>
                        <a:cs typeface="Meiryo"/>
                      </a:endParaRPr>
                    </a:p>
                    <a:p>
                      <a:r>
                        <a:rPr sz="1200" b="0" dirty="0" err="1">
                          <a:solidFill>
                            <a:srgbClr val="333333"/>
                          </a:solidFill>
                          <a:latin typeface="Meiryo"/>
                          <a:ea typeface="メイリオ"/>
                          <a:cs typeface="Meiryo"/>
                        </a:rPr>
                        <a:t>先行できる</a:t>
                      </a:r>
                      <a:endParaRPr sz="12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1"/>
                  </a:ext>
                </a:extLst>
              </a:tr>
              <a:tr h="478047">
                <a:tc>
                  <a:txBody>
                    <a:bodyPr/>
                    <a:lstStyle/>
                    <a:p>
                      <a:r>
                        <a:rPr sz="1200" b="0">
                          <a:solidFill>
                            <a:srgbClr val="333333"/>
                          </a:solidFill>
                          <a:latin typeface="Meiryo"/>
                          <a:ea typeface="メイリオ"/>
                          <a:cs typeface="Meiryo"/>
                        </a:rPr>
                        <a:t>ジャクパ</a:t>
                      </a:r>
                    </a:p>
                  </a:txBody>
                  <a:tcPr>
                    <a:solidFill>
                      <a:srgbClr val="FFFFFF"/>
                    </a:solidFill>
                  </a:tcPr>
                </a:tc>
                <a:tc>
                  <a:txBody>
                    <a:bodyPr/>
                    <a:lstStyle/>
                    <a:p>
                      <a:r>
                        <a:rPr sz="1200" b="0">
                          <a:solidFill>
                            <a:srgbClr val="333333"/>
                          </a:solidFill>
                          <a:latin typeface="Meiryo"/>
                          <a:ea typeface="メイリオ"/>
                          <a:cs typeface="Meiryo"/>
                        </a:rPr>
                        <a:t>なし</a:t>
                      </a:r>
                    </a:p>
                  </a:txBody>
                  <a:tcPr>
                    <a:solidFill>
                      <a:srgbClr val="FFFFFF"/>
                    </a:solidFill>
                  </a:tcPr>
                </a:tc>
                <a:tc>
                  <a:txBody>
                    <a:bodyPr/>
                    <a:lstStyle/>
                    <a:p>
                      <a:r>
                        <a:rPr sz="1200" b="0">
                          <a:solidFill>
                            <a:srgbClr val="333333"/>
                          </a:solidFill>
                          <a:latin typeface="Meiryo"/>
                          <a:ea typeface="メイリオ"/>
                          <a:cs typeface="Meiryo"/>
                        </a:rPr>
                        <a:t>園内開催・体操/サッカー中心</a:t>
                      </a:r>
                    </a:p>
                  </a:txBody>
                  <a:tcPr>
                    <a:solidFill>
                      <a:srgbClr val="FFFFFF"/>
                    </a:solidFill>
                  </a:tcPr>
                </a:tc>
                <a:tc>
                  <a:txBody>
                    <a:bodyPr/>
                    <a:lstStyle/>
                    <a:p>
                      <a:r>
                        <a:rPr sz="1200" b="0" dirty="0" err="1">
                          <a:solidFill>
                            <a:srgbClr val="333333"/>
                          </a:solidFill>
                          <a:latin typeface="Meiryo"/>
                          <a:ea typeface="メイリオ"/>
                          <a:cs typeface="Meiryo"/>
                        </a:rPr>
                        <a:t>低コストが強みだが</a:t>
                      </a:r>
                      <a:r>
                        <a:rPr lang="ja-JP" altLang="en-US" sz="1200" b="0" dirty="0">
                          <a:solidFill>
                            <a:srgbClr val="333333"/>
                          </a:solidFill>
                          <a:latin typeface="Meiryo"/>
                          <a:ea typeface="メイリオ"/>
                          <a:cs typeface="Meiryo"/>
                        </a:rPr>
                        <a:t>、</a:t>
                      </a:r>
                      <a:endParaRPr lang="en-US" altLang="ja-JP" sz="1200" b="0" dirty="0">
                        <a:solidFill>
                          <a:srgbClr val="333333"/>
                        </a:solidFill>
                        <a:latin typeface="Meiryo"/>
                        <a:ea typeface="メイリオ"/>
                        <a:cs typeface="Meiryo"/>
                      </a:endParaRPr>
                    </a:p>
                    <a:p>
                      <a:r>
                        <a:rPr sz="1200" b="0" dirty="0" err="1">
                          <a:solidFill>
                            <a:srgbClr val="333333"/>
                          </a:solidFill>
                          <a:latin typeface="Meiryo"/>
                          <a:ea typeface="メイリオ"/>
                          <a:cs typeface="Meiryo"/>
                        </a:rPr>
                        <a:t>デジタル接点は薄い</a:t>
                      </a:r>
                      <a:endParaRPr sz="12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2"/>
                  </a:ext>
                </a:extLst>
              </a:tr>
              <a:tr h="478047">
                <a:tc>
                  <a:txBody>
                    <a:bodyPr/>
                    <a:lstStyle/>
                    <a:p>
                      <a:r>
                        <a:rPr sz="1200" b="0">
                          <a:solidFill>
                            <a:srgbClr val="333333"/>
                          </a:solidFill>
                          <a:latin typeface="Meiryo"/>
                          <a:ea typeface="メイリオ"/>
                          <a:cs typeface="Meiryo"/>
                        </a:rPr>
                        <a:t>コナミスポーツクラブ 運動塾</a:t>
                      </a:r>
                    </a:p>
                  </a:txBody>
                  <a:tcPr>
                    <a:solidFill>
                      <a:srgbClr val="FFFFFF"/>
                    </a:solidFill>
                  </a:tcPr>
                </a:tc>
                <a:tc>
                  <a:txBody>
                    <a:bodyPr/>
                    <a:lstStyle/>
                    <a:p>
                      <a:r>
                        <a:rPr sz="1200" b="0" dirty="0" err="1">
                          <a:solidFill>
                            <a:srgbClr val="333333"/>
                          </a:solidFill>
                          <a:latin typeface="Meiryo"/>
                          <a:ea typeface="メイリオ"/>
                          <a:cs typeface="Meiryo"/>
                        </a:rPr>
                        <a:t>なし</a:t>
                      </a:r>
                      <a:endParaRPr sz="1200" b="0" dirty="0">
                        <a:solidFill>
                          <a:srgbClr val="333333"/>
                        </a:solidFill>
                        <a:latin typeface="Meiryo"/>
                        <a:ea typeface="メイリオ"/>
                        <a:cs typeface="Meiryo"/>
                      </a:endParaRPr>
                    </a:p>
                  </a:txBody>
                  <a:tcPr>
                    <a:solidFill>
                      <a:srgbClr val="FFFFFF"/>
                    </a:solidFill>
                  </a:tcPr>
                </a:tc>
                <a:tc>
                  <a:txBody>
                    <a:bodyPr/>
                    <a:lstStyle/>
                    <a:p>
                      <a:r>
                        <a:rPr sz="1200" b="0" dirty="0" err="1">
                          <a:solidFill>
                            <a:srgbClr val="333333"/>
                          </a:solidFill>
                          <a:latin typeface="Meiryo"/>
                          <a:ea typeface="メイリオ"/>
                          <a:cs typeface="Meiryo"/>
                        </a:rPr>
                        <a:t>大手施設・進級テスト制度</a:t>
                      </a:r>
                      <a:endParaRPr sz="1200" b="0" dirty="0">
                        <a:solidFill>
                          <a:srgbClr val="333333"/>
                        </a:solidFill>
                        <a:latin typeface="Meiryo"/>
                        <a:ea typeface="メイリオ"/>
                        <a:cs typeface="Meiryo"/>
                      </a:endParaRPr>
                    </a:p>
                  </a:txBody>
                  <a:tcPr>
                    <a:solidFill>
                      <a:srgbClr val="FFFFFF"/>
                    </a:solidFill>
                  </a:tcPr>
                </a:tc>
                <a:tc>
                  <a:txBody>
                    <a:bodyPr/>
                    <a:lstStyle/>
                    <a:p>
                      <a:r>
                        <a:rPr sz="1200" b="0" dirty="0" err="1">
                          <a:solidFill>
                            <a:srgbClr val="333333"/>
                          </a:solidFill>
                          <a:latin typeface="Meiryo"/>
                          <a:ea typeface="メイリオ"/>
                          <a:cs typeface="Meiryo"/>
                        </a:rPr>
                        <a:t>施設力はあるが</a:t>
                      </a:r>
                      <a:r>
                        <a:rPr lang="ja-JP" altLang="en-US" sz="1200" b="0" dirty="0">
                          <a:solidFill>
                            <a:srgbClr val="333333"/>
                          </a:solidFill>
                          <a:latin typeface="Meiryo"/>
                          <a:ea typeface="メイリオ"/>
                          <a:cs typeface="Meiryo"/>
                        </a:rPr>
                        <a:t>、</a:t>
                      </a:r>
                      <a:r>
                        <a:rPr sz="1200" b="0" dirty="0" err="1">
                          <a:solidFill>
                            <a:srgbClr val="333333"/>
                          </a:solidFill>
                          <a:latin typeface="Meiryo"/>
                          <a:ea typeface="メイリオ"/>
                          <a:cs typeface="Meiryo"/>
                        </a:rPr>
                        <a:t>LINE未運用</a:t>
                      </a:r>
                      <a:endParaRPr sz="12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3"/>
                  </a:ext>
                </a:extLst>
              </a:tr>
              <a:tr h="478047">
                <a:tc>
                  <a:txBody>
                    <a:bodyPr/>
                    <a:lstStyle/>
                    <a:p>
                      <a:r>
                        <a:rPr sz="1200" b="0">
                          <a:solidFill>
                            <a:srgbClr val="333333"/>
                          </a:solidFill>
                          <a:latin typeface="Meiryo"/>
                          <a:ea typeface="メイリオ"/>
                          <a:cs typeface="Meiryo"/>
                        </a:rPr>
                        <a:t>スポーツクラブ ルネサンス</a:t>
                      </a:r>
                    </a:p>
                  </a:txBody>
                  <a:tcPr>
                    <a:solidFill>
                      <a:srgbClr val="FFFFFF"/>
                    </a:solidFill>
                  </a:tcPr>
                </a:tc>
                <a:tc>
                  <a:txBody>
                    <a:bodyPr/>
                    <a:lstStyle/>
                    <a:p>
                      <a:r>
                        <a:rPr sz="1200" b="0">
                          <a:solidFill>
                            <a:srgbClr val="333333"/>
                          </a:solidFill>
                          <a:latin typeface="Meiryo"/>
                          <a:ea typeface="メイリオ"/>
                          <a:cs typeface="Meiryo"/>
                        </a:rPr>
                        <a:t>なし</a:t>
                      </a:r>
                    </a:p>
                  </a:txBody>
                  <a:tcPr>
                    <a:solidFill>
                      <a:srgbClr val="FFFFFF"/>
                    </a:solidFill>
                  </a:tcPr>
                </a:tc>
                <a:tc>
                  <a:txBody>
                    <a:bodyPr/>
                    <a:lstStyle/>
                    <a:p>
                      <a:r>
                        <a:rPr sz="1200" b="0" dirty="0" err="1">
                          <a:solidFill>
                            <a:srgbClr val="333333"/>
                          </a:solidFill>
                          <a:latin typeface="Meiryo"/>
                          <a:ea typeface="メイリオ"/>
                          <a:cs typeface="Meiryo"/>
                        </a:rPr>
                        <a:t>エンジョイ重視・生きる力</a:t>
                      </a:r>
                      <a:endParaRPr sz="1200" b="0" dirty="0">
                        <a:solidFill>
                          <a:srgbClr val="333333"/>
                        </a:solidFill>
                        <a:latin typeface="Meiryo"/>
                        <a:ea typeface="メイリオ"/>
                        <a:cs typeface="Meiryo"/>
                      </a:endParaRPr>
                    </a:p>
                  </a:txBody>
                  <a:tcPr>
                    <a:solidFill>
                      <a:srgbClr val="FFFFFF"/>
                    </a:solidFill>
                  </a:tcPr>
                </a:tc>
                <a:tc>
                  <a:txBody>
                    <a:bodyPr/>
                    <a:lstStyle/>
                    <a:p>
                      <a:r>
                        <a:rPr sz="1200" b="0" dirty="0" err="1">
                          <a:solidFill>
                            <a:srgbClr val="333333"/>
                          </a:solidFill>
                          <a:latin typeface="Meiryo"/>
                          <a:ea typeface="メイリオ"/>
                          <a:cs typeface="Meiryo"/>
                        </a:rPr>
                        <a:t>LINE未活用</a:t>
                      </a:r>
                      <a:endParaRPr sz="12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4"/>
                  </a:ext>
                </a:extLst>
              </a:tr>
              <a:tr h="478047">
                <a:tc>
                  <a:txBody>
                    <a:bodyPr/>
                    <a:lstStyle/>
                    <a:p>
                      <a:r>
                        <a:rPr sz="1200" b="0" dirty="0" err="1">
                          <a:solidFill>
                            <a:srgbClr val="1F2A5C"/>
                          </a:solidFill>
                          <a:latin typeface="Meiryo"/>
                          <a:ea typeface="メイリオ"/>
                          <a:cs typeface="Meiryo"/>
                        </a:rPr>
                        <a:t>セントラルスポーツ</a:t>
                      </a:r>
                      <a:r>
                        <a:rPr sz="1200" b="0" dirty="0">
                          <a:solidFill>
                            <a:srgbClr val="1F2A5C"/>
                          </a:solidFill>
                          <a:latin typeface="Meiryo"/>
                          <a:ea typeface="メイリオ"/>
                          <a:cs typeface="Meiryo"/>
                        </a:rPr>
                        <a:t> </a:t>
                      </a:r>
                      <a:endParaRPr lang="en-US" sz="1200" b="0" dirty="0">
                        <a:solidFill>
                          <a:srgbClr val="1F2A5C"/>
                        </a:solidFill>
                        <a:latin typeface="Meiryo"/>
                        <a:ea typeface="メイリオ"/>
                        <a:cs typeface="Meiryo"/>
                      </a:endParaRPr>
                    </a:p>
                    <a:p>
                      <a:r>
                        <a:rPr sz="1200" b="0" dirty="0" err="1">
                          <a:solidFill>
                            <a:srgbClr val="1F2A5C"/>
                          </a:solidFill>
                          <a:latin typeface="Meiryo"/>
                          <a:ea typeface="メイリオ"/>
                          <a:cs typeface="Meiryo"/>
                        </a:rPr>
                        <a:t>キッズスクール</a:t>
                      </a:r>
                      <a:endParaRPr sz="1200" b="0" dirty="0">
                        <a:solidFill>
                          <a:srgbClr val="1F2A5C"/>
                        </a:solidFill>
                        <a:latin typeface="Meiryo"/>
                        <a:ea typeface="メイリオ"/>
                        <a:cs typeface="Meiryo"/>
                      </a:endParaRPr>
                    </a:p>
                  </a:txBody>
                  <a:tcPr>
                    <a:solidFill>
                      <a:srgbClr val="FFF3E0"/>
                    </a:solidFill>
                  </a:tcPr>
                </a:tc>
                <a:tc>
                  <a:txBody>
                    <a:bodyPr/>
                    <a:lstStyle/>
                    <a:p>
                      <a:r>
                        <a:rPr sz="1200" b="1" dirty="0">
                          <a:solidFill>
                            <a:srgbClr val="1F2A5C"/>
                          </a:solidFill>
                          <a:latin typeface="Meiryo"/>
                          <a:ea typeface="メイリオ"/>
                          <a:cs typeface="Meiryo"/>
                        </a:rPr>
                        <a:t>あり（友だち82,953人）</a:t>
                      </a:r>
                    </a:p>
                  </a:txBody>
                  <a:tcPr>
                    <a:solidFill>
                      <a:srgbClr val="FFF3E0"/>
                    </a:solidFill>
                  </a:tcPr>
                </a:tc>
                <a:tc>
                  <a:txBody>
                    <a:bodyPr/>
                    <a:lstStyle/>
                    <a:p>
                      <a:r>
                        <a:rPr sz="1200" b="0">
                          <a:solidFill>
                            <a:srgbClr val="1F2A5C"/>
                          </a:solidFill>
                          <a:latin typeface="Meiryo"/>
                          <a:ea typeface="メイリオ"/>
                          <a:cs typeface="Meiryo"/>
                        </a:rPr>
                        <a:t>体育補完・進級チェック制度</a:t>
                      </a:r>
                    </a:p>
                  </a:txBody>
                  <a:tcPr>
                    <a:solidFill>
                      <a:srgbClr val="FFF3E0"/>
                    </a:solidFill>
                  </a:tcPr>
                </a:tc>
                <a:tc>
                  <a:txBody>
                    <a:bodyPr/>
                    <a:lstStyle/>
                    <a:p>
                      <a:r>
                        <a:rPr sz="1200" b="0" dirty="0" err="1">
                          <a:solidFill>
                            <a:srgbClr val="1F2A5C"/>
                          </a:solidFill>
                          <a:latin typeface="Meiryo"/>
                          <a:ea typeface="メイリオ"/>
                          <a:cs typeface="Meiryo"/>
                        </a:rPr>
                        <a:t>業界内で唯一LINEを大規模運用</a:t>
                      </a:r>
                      <a:r>
                        <a:rPr sz="1200" b="0" dirty="0">
                          <a:solidFill>
                            <a:srgbClr val="1F2A5C"/>
                          </a:solidFill>
                          <a:latin typeface="Meiryo"/>
                          <a:ea typeface="メイリオ"/>
                          <a:cs typeface="Meiryo"/>
                        </a:rPr>
                        <a:t>。</a:t>
                      </a:r>
                      <a:endParaRPr lang="en-US" sz="1200" b="0" dirty="0">
                        <a:solidFill>
                          <a:srgbClr val="1F2A5C"/>
                        </a:solidFill>
                        <a:latin typeface="Meiryo"/>
                        <a:ea typeface="メイリオ"/>
                        <a:cs typeface="Meiryo"/>
                      </a:endParaRPr>
                    </a:p>
                    <a:p>
                      <a:r>
                        <a:rPr sz="1200" b="0" dirty="0" err="1">
                          <a:solidFill>
                            <a:srgbClr val="1F2A5C"/>
                          </a:solidFill>
                          <a:latin typeface="Meiryo"/>
                          <a:ea typeface="メイリオ"/>
                          <a:cs typeface="Meiryo"/>
                        </a:rPr>
                        <a:t>水準のベンチマーク</a:t>
                      </a:r>
                      <a:endParaRPr sz="1200" b="0" dirty="0">
                        <a:solidFill>
                          <a:srgbClr val="1F2A5C"/>
                        </a:solidFill>
                        <a:latin typeface="Meiryo"/>
                        <a:ea typeface="メイリオ"/>
                        <a:cs typeface="Meiryo"/>
                      </a:endParaRPr>
                    </a:p>
                  </a:txBody>
                  <a:tcPr>
                    <a:solidFill>
                      <a:srgbClr val="FFF3E0"/>
                    </a:solidFill>
                  </a:tcPr>
                </a:tc>
                <a:extLst>
                  <a:ext uri="{0D108BD9-81ED-4DB2-BD59-A6C34878D82A}">
                    <a16:rowId xmlns:a16="http://schemas.microsoft.com/office/drawing/2014/main" val="10005"/>
                  </a:ext>
                </a:extLst>
              </a:tr>
            </a:tbl>
          </a:graphicData>
        </a:graphic>
      </p:graphicFrame>
      <p:sp>
        <p:nvSpPr>
          <p:cNvPr id="47" name="TextBox 46"/>
          <p:cNvSpPr txBox="1"/>
          <p:nvPr/>
        </p:nvSpPr>
        <p:spPr>
          <a:xfrm>
            <a:off x="384048" y="4919247"/>
            <a:ext cx="9134856" cy="338554"/>
          </a:xfrm>
          <a:prstGeom prst="rect">
            <a:avLst/>
          </a:prstGeom>
          <a:noFill/>
        </p:spPr>
        <p:txBody>
          <a:bodyPr wrap="square">
            <a:spAutoFit/>
          </a:bodyPr>
          <a:lstStyle/>
          <a:p>
            <a:r>
              <a:rPr sz="1600" b="1" dirty="0" err="1">
                <a:solidFill>
                  <a:srgbClr val="BF4E0E"/>
                </a:solidFill>
                <a:latin typeface="Meiryo"/>
                <a:ea typeface="メイリオ"/>
                <a:cs typeface="Meiryo"/>
              </a:rPr>
              <a:t>競合の大半が未着手の今なら、LINE運用を始めるだけで業界内の先行者になれる</a:t>
            </a:r>
            <a:r>
              <a:rPr sz="1600" b="1" dirty="0">
                <a:solidFill>
                  <a:srgbClr val="BF4E0E"/>
                </a:solidFill>
                <a:latin typeface="Meiryo"/>
                <a:ea typeface="メイリオ"/>
                <a:cs typeface="Meiryo"/>
              </a:rPr>
              <a:t>。</a:t>
            </a:r>
          </a:p>
        </p:txBody>
      </p:sp>
      <p:sp>
        <p:nvSpPr>
          <p:cNvPr id="48" name="TextBox 47"/>
          <p:cNvSpPr txBox="1"/>
          <p:nvPr/>
        </p:nvSpPr>
        <p:spPr>
          <a:xfrm>
            <a:off x="384048" y="5897880"/>
            <a:ext cx="9052560" cy="402336"/>
          </a:xfrm>
          <a:prstGeom prst="rect">
            <a:avLst/>
          </a:prstGeom>
          <a:noFill/>
        </p:spPr>
        <p:txBody>
          <a:bodyPr wrap="square">
            <a:spAutoFit/>
          </a:bodyPr>
          <a:lstStyle/>
          <a:p>
            <a:r>
              <a:rPr sz="850">
                <a:solidFill>
                  <a:srgbClr val="9AA1AE"/>
                </a:solidFill>
                <a:latin typeface="Meiryo"/>
                <a:ea typeface="メイリオ"/>
                <a:cs typeface="Meiryo"/>
              </a:rPr>
              <a:t>出典：弊社調べ（page.line.me実地確認・2026年9月）／各社公式サイト確認。LINE友だち数は確認時点の実数</a:t>
            </a:r>
          </a:p>
        </p:txBody>
      </p:sp>
    </p:spTree>
    <p:extLst>
      <p:ext uri="{BB962C8B-B14F-4D97-AF65-F5344CB8AC3E}">
        <p14:creationId xmlns:p14="http://schemas.microsoft.com/office/powerpoint/2010/main" val="140579607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69FF374E-3AB2-D1D8-197A-0493DB99E5FE}"/>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競合分析【チャイルドアイズ】</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E1996F9D-8C27-3068-3FE0-5558CEE9A14B}"/>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indent="0" algn="ctr">
              <a:buNone/>
            </a:pPr>
            <a:r>
              <a:rPr lang="ja-JP" altLang="en-US" b="0" dirty="0">
                <a:solidFill>
                  <a:srgbClr val="333333"/>
                </a:solidFill>
                <a:latin typeface="Meiryo" pitchFamily="34" charset="0"/>
                <a:ea typeface="メイリオ" pitchFamily="34" charset="-122"/>
                <a:cs typeface="Meiryo" pitchFamily="34" charset="-120"/>
              </a:rPr>
              <a:t>直接競合4社中、LINE公式アカウントを運用しているのは理英会・どんちゃかの2社。</a:t>
            </a:r>
            <a:endParaRPr lang="en-US" altLang="ja-JP" b="0" dirty="0">
              <a:solidFill>
                <a:srgbClr val="333333"/>
              </a:solidFill>
              <a:latin typeface="Meiryo" pitchFamily="34" charset="0"/>
              <a:ea typeface="メイリオ" pitchFamily="34" charset="-122"/>
              <a:cs typeface="Meiryo" pitchFamily="34" charset="-120"/>
            </a:endParaRPr>
          </a:p>
          <a:p>
            <a:pPr marL="0" indent="0" algn="ctr">
              <a:buNone/>
            </a:pPr>
            <a:r>
              <a:rPr lang="ja-JP" altLang="en-US" b="0" dirty="0">
                <a:solidFill>
                  <a:srgbClr val="333333"/>
                </a:solidFill>
                <a:latin typeface="Meiryo" pitchFamily="34" charset="0"/>
                <a:ea typeface="メイリオ" pitchFamily="34" charset="-122"/>
                <a:cs typeface="Meiryo" pitchFamily="34" charset="-120"/>
              </a:rPr>
              <a:t>知育→受験の2段構成という同じ設計で、すでに先行されている。</a:t>
            </a:r>
            <a:endParaRPr lang="en-US" altLang="ja-JP" sz="1800" b="1" dirty="0">
              <a:solidFill>
                <a:schemeClr val="tx1"/>
              </a:solidFill>
              <a:latin typeface="Meiryo" pitchFamily="34" charset="0"/>
              <a:ea typeface="Meiryo" pitchFamily="34" charset="-122"/>
              <a:cs typeface="Meiryo" pitchFamily="34" charset="-120"/>
            </a:endParaRPr>
          </a:p>
        </p:txBody>
      </p:sp>
      <p:graphicFrame>
        <p:nvGraphicFramePr>
          <p:cNvPr id="46" name="Table 45"/>
          <p:cNvGraphicFramePr>
            <a:graphicFrameLocks noGrp="1"/>
          </p:cNvGraphicFramePr>
          <p:nvPr>
            <p:extLst>
              <p:ext uri="{D42A27DB-BD31-4B8C-83A1-F6EECF244321}">
                <p14:modId xmlns:p14="http://schemas.microsoft.com/office/powerpoint/2010/main" val="2833546804"/>
              </p:ext>
            </p:extLst>
          </p:nvPr>
        </p:nvGraphicFramePr>
        <p:xfrm>
          <a:off x="384048" y="1600200"/>
          <a:ext cx="9134854" cy="2480095"/>
        </p:xfrm>
        <a:graphic>
          <a:graphicData uri="http://schemas.openxmlformats.org/drawingml/2006/table">
            <a:tbl>
              <a:tblPr firstRow="1" bandRow="1">
                <a:tableStyleId>{5C22544A-7EE6-4342-B048-85BDC9FD1C3A}</a:tableStyleId>
              </a:tblPr>
              <a:tblGrid>
                <a:gridCol w="1979590">
                  <a:extLst>
                    <a:ext uri="{9D8B030D-6E8A-4147-A177-3AD203B41FA5}">
                      <a16:colId xmlns:a16="http://schemas.microsoft.com/office/drawing/2014/main" val="20000"/>
                    </a:ext>
                  </a:extLst>
                </a:gridCol>
                <a:gridCol w="1871932">
                  <a:extLst>
                    <a:ext uri="{9D8B030D-6E8A-4147-A177-3AD203B41FA5}">
                      <a16:colId xmlns:a16="http://schemas.microsoft.com/office/drawing/2014/main" val="20001"/>
                    </a:ext>
                  </a:extLst>
                </a:gridCol>
                <a:gridCol w="2355011">
                  <a:extLst>
                    <a:ext uri="{9D8B030D-6E8A-4147-A177-3AD203B41FA5}">
                      <a16:colId xmlns:a16="http://schemas.microsoft.com/office/drawing/2014/main" val="20002"/>
                    </a:ext>
                  </a:extLst>
                </a:gridCol>
                <a:gridCol w="2928321">
                  <a:extLst>
                    <a:ext uri="{9D8B030D-6E8A-4147-A177-3AD203B41FA5}">
                      <a16:colId xmlns:a16="http://schemas.microsoft.com/office/drawing/2014/main" val="20003"/>
                    </a:ext>
                  </a:extLst>
                </a:gridCol>
              </a:tblGrid>
              <a:tr h="496019">
                <a:tc>
                  <a:txBody>
                    <a:bodyPr/>
                    <a:lstStyle/>
                    <a:p>
                      <a:r>
                        <a:rPr sz="1100" b="1">
                          <a:solidFill>
                            <a:srgbClr val="FFFFFF"/>
                          </a:solidFill>
                          <a:latin typeface="Meiryo"/>
                          <a:ea typeface="メイリオ"/>
                          <a:cs typeface="Meiryo"/>
                        </a:rPr>
                        <a:t>競合</a:t>
                      </a:r>
                    </a:p>
                  </a:txBody>
                  <a:tcPr>
                    <a:solidFill>
                      <a:srgbClr val="1F2A5C"/>
                    </a:solidFill>
                  </a:tcPr>
                </a:tc>
                <a:tc>
                  <a:txBody>
                    <a:bodyPr/>
                    <a:lstStyle/>
                    <a:p>
                      <a:r>
                        <a:rPr sz="1100" b="1">
                          <a:solidFill>
                            <a:srgbClr val="FFFFFF"/>
                          </a:solidFill>
                          <a:latin typeface="Meiryo"/>
                          <a:ea typeface="メイリオ"/>
                          <a:cs typeface="Meiryo"/>
                        </a:rPr>
                        <a:t>LINE公式アカウント</a:t>
                      </a:r>
                    </a:p>
                  </a:txBody>
                  <a:tcPr>
                    <a:solidFill>
                      <a:srgbClr val="1F2A5C"/>
                    </a:solidFill>
                  </a:tcPr>
                </a:tc>
                <a:tc>
                  <a:txBody>
                    <a:bodyPr/>
                    <a:lstStyle/>
                    <a:p>
                      <a:r>
                        <a:rPr sz="1100" b="1">
                          <a:solidFill>
                            <a:srgbClr val="FFFFFF"/>
                          </a:solidFill>
                          <a:latin typeface="Meiryo"/>
                          <a:ea typeface="メイリオ"/>
                          <a:cs typeface="Meiryo"/>
                        </a:rPr>
                        <a:t>訴求</a:t>
                      </a:r>
                    </a:p>
                  </a:txBody>
                  <a:tcPr>
                    <a:solidFill>
                      <a:srgbClr val="1F2A5C"/>
                    </a:solidFill>
                  </a:tcPr>
                </a:tc>
                <a:tc>
                  <a:txBody>
                    <a:bodyPr/>
                    <a:lstStyle/>
                    <a:p>
                      <a:r>
                        <a:rPr sz="1100" b="1" dirty="0" err="1">
                          <a:solidFill>
                            <a:srgbClr val="FFFFFF"/>
                          </a:solidFill>
                          <a:latin typeface="Meiryo"/>
                          <a:ea typeface="メイリオ"/>
                          <a:cs typeface="Meiryo"/>
                        </a:rPr>
                        <a:t>チャイルドアイズとの比較</a:t>
                      </a:r>
                      <a:endParaRPr sz="1100" b="1" dirty="0">
                        <a:solidFill>
                          <a:srgbClr val="FFFFFF"/>
                        </a:solidFill>
                        <a:latin typeface="Meiryo"/>
                        <a:ea typeface="メイリオ"/>
                        <a:cs typeface="Meiryo"/>
                      </a:endParaRPr>
                    </a:p>
                  </a:txBody>
                  <a:tcPr>
                    <a:solidFill>
                      <a:srgbClr val="1F2A5C"/>
                    </a:solidFill>
                  </a:tcPr>
                </a:tc>
                <a:extLst>
                  <a:ext uri="{0D108BD9-81ED-4DB2-BD59-A6C34878D82A}">
                    <a16:rowId xmlns:a16="http://schemas.microsoft.com/office/drawing/2014/main" val="10000"/>
                  </a:ext>
                </a:extLst>
              </a:tr>
              <a:tr h="496019">
                <a:tc>
                  <a:txBody>
                    <a:bodyPr/>
                    <a:lstStyle/>
                    <a:p>
                      <a:r>
                        <a:rPr sz="1200" b="0" dirty="0" err="1">
                          <a:solidFill>
                            <a:srgbClr val="333333"/>
                          </a:solidFill>
                          <a:latin typeface="Meiryo"/>
                          <a:ea typeface="メイリオ"/>
                          <a:cs typeface="Meiryo"/>
                        </a:rPr>
                        <a:t>ベビーパーク</a:t>
                      </a:r>
                      <a:endParaRPr lang="en-US" sz="1200" b="0" dirty="0">
                        <a:solidFill>
                          <a:srgbClr val="333333"/>
                        </a:solidFill>
                        <a:latin typeface="Meiryo"/>
                        <a:ea typeface="メイリオ"/>
                        <a:cs typeface="Meiryo"/>
                      </a:endParaRPr>
                    </a:p>
                    <a:p>
                      <a:r>
                        <a:rPr lang="ja-JP" altLang="en-US" sz="1200" b="0" dirty="0">
                          <a:solidFill>
                            <a:srgbClr val="333333"/>
                          </a:solidFill>
                          <a:latin typeface="Meiryo"/>
                          <a:ea typeface="メイリオ"/>
                          <a:cs typeface="Meiryo"/>
                        </a:rPr>
                        <a:t>キ</a:t>
                      </a:r>
                      <a:r>
                        <a:rPr sz="1200" b="0" dirty="0" err="1">
                          <a:solidFill>
                            <a:srgbClr val="333333"/>
                          </a:solidFill>
                          <a:latin typeface="Meiryo"/>
                          <a:ea typeface="メイリオ"/>
                          <a:cs typeface="Meiryo"/>
                        </a:rPr>
                        <a:t>ッズアカデミ</a:t>
                      </a:r>
                      <a:r>
                        <a:rPr sz="1200" b="0" dirty="0">
                          <a:solidFill>
                            <a:srgbClr val="333333"/>
                          </a:solidFill>
                          <a:latin typeface="Meiryo"/>
                          <a:ea typeface="メイリオ"/>
                          <a:cs typeface="Meiryo"/>
                        </a:rPr>
                        <a:t>ー</a:t>
                      </a:r>
                    </a:p>
                  </a:txBody>
                  <a:tcPr>
                    <a:solidFill>
                      <a:srgbClr val="FFFFFF"/>
                    </a:solidFill>
                  </a:tcPr>
                </a:tc>
                <a:tc>
                  <a:txBody>
                    <a:bodyPr/>
                    <a:lstStyle/>
                    <a:p>
                      <a:r>
                        <a:rPr sz="1200" b="0" dirty="0" err="1">
                          <a:solidFill>
                            <a:srgbClr val="333333"/>
                          </a:solidFill>
                          <a:latin typeface="Meiryo"/>
                          <a:ea typeface="メイリオ"/>
                          <a:cs typeface="Meiryo"/>
                        </a:rPr>
                        <a:t>なし</a:t>
                      </a:r>
                      <a:endParaRPr sz="1200" b="0" dirty="0">
                        <a:solidFill>
                          <a:srgbClr val="333333"/>
                        </a:solidFill>
                        <a:latin typeface="Meiryo"/>
                        <a:ea typeface="メイリオ"/>
                        <a:cs typeface="Meiryo"/>
                      </a:endParaRPr>
                    </a:p>
                  </a:txBody>
                  <a:tcPr>
                    <a:solidFill>
                      <a:srgbClr val="FFFFFF"/>
                    </a:solidFill>
                  </a:tcPr>
                </a:tc>
                <a:tc>
                  <a:txBody>
                    <a:bodyPr/>
                    <a:lstStyle/>
                    <a:p>
                      <a:r>
                        <a:rPr sz="1200" b="0" dirty="0">
                          <a:solidFill>
                            <a:srgbClr val="333333"/>
                          </a:solidFill>
                          <a:latin typeface="Meiryo"/>
                          <a:ea typeface="メイリオ"/>
                          <a:cs typeface="Meiryo"/>
                        </a:rPr>
                        <a:t>知育特化・超早期（0歳〜）</a:t>
                      </a:r>
                    </a:p>
                  </a:txBody>
                  <a:tcPr>
                    <a:solidFill>
                      <a:srgbClr val="FFFFFF"/>
                    </a:solidFill>
                  </a:tcPr>
                </a:tc>
                <a:tc>
                  <a:txBody>
                    <a:bodyPr/>
                    <a:lstStyle/>
                    <a:p>
                      <a:r>
                        <a:rPr sz="1200" b="0">
                          <a:solidFill>
                            <a:srgbClr val="333333"/>
                          </a:solidFill>
                          <a:latin typeface="Meiryo"/>
                          <a:ea typeface="メイリオ"/>
                          <a:cs typeface="Meiryo"/>
                        </a:rPr>
                        <a:t>LINE未活用。早期囲い込みは強い</a:t>
                      </a:r>
                    </a:p>
                  </a:txBody>
                  <a:tcPr>
                    <a:solidFill>
                      <a:srgbClr val="FFFFFF"/>
                    </a:solidFill>
                  </a:tcPr>
                </a:tc>
                <a:extLst>
                  <a:ext uri="{0D108BD9-81ED-4DB2-BD59-A6C34878D82A}">
                    <a16:rowId xmlns:a16="http://schemas.microsoft.com/office/drawing/2014/main" val="10001"/>
                  </a:ext>
                </a:extLst>
              </a:tr>
              <a:tr h="496019">
                <a:tc>
                  <a:txBody>
                    <a:bodyPr/>
                    <a:lstStyle/>
                    <a:p>
                      <a:r>
                        <a:rPr sz="1200" b="0">
                          <a:solidFill>
                            <a:srgbClr val="333333"/>
                          </a:solidFill>
                          <a:latin typeface="Meiryo"/>
                          <a:ea typeface="メイリオ"/>
                          <a:cs typeface="Meiryo"/>
                        </a:rPr>
                        <a:t>伸芽会</a:t>
                      </a:r>
                    </a:p>
                  </a:txBody>
                  <a:tcPr>
                    <a:solidFill>
                      <a:srgbClr val="FFFFFF"/>
                    </a:solidFill>
                  </a:tcPr>
                </a:tc>
                <a:tc>
                  <a:txBody>
                    <a:bodyPr/>
                    <a:lstStyle/>
                    <a:p>
                      <a:r>
                        <a:rPr sz="1200" b="0">
                          <a:solidFill>
                            <a:srgbClr val="333333"/>
                          </a:solidFill>
                          <a:latin typeface="Meiryo"/>
                          <a:ea typeface="メイリオ"/>
                          <a:cs typeface="Meiryo"/>
                        </a:rPr>
                        <a:t>なし</a:t>
                      </a:r>
                    </a:p>
                  </a:txBody>
                  <a:tcPr>
                    <a:solidFill>
                      <a:srgbClr val="FFFFFF"/>
                    </a:solidFill>
                  </a:tcPr>
                </a:tc>
                <a:tc>
                  <a:txBody>
                    <a:bodyPr/>
                    <a:lstStyle/>
                    <a:p>
                      <a:r>
                        <a:rPr sz="1200" b="0" dirty="0" err="1">
                          <a:solidFill>
                            <a:srgbClr val="333333"/>
                          </a:solidFill>
                          <a:latin typeface="Meiryo"/>
                          <a:ea typeface="メイリオ"/>
                          <a:cs typeface="Meiryo"/>
                        </a:rPr>
                        <a:t>受験対策特化・名門校実績</a:t>
                      </a:r>
                      <a:endParaRPr sz="1200" b="0" dirty="0">
                        <a:solidFill>
                          <a:srgbClr val="333333"/>
                        </a:solidFill>
                        <a:latin typeface="Meiryo"/>
                        <a:ea typeface="メイリオ"/>
                        <a:cs typeface="Meiryo"/>
                      </a:endParaRPr>
                    </a:p>
                  </a:txBody>
                  <a:tcPr>
                    <a:solidFill>
                      <a:srgbClr val="FFFFFF"/>
                    </a:solidFill>
                  </a:tcPr>
                </a:tc>
                <a:tc>
                  <a:txBody>
                    <a:bodyPr/>
                    <a:lstStyle/>
                    <a:p>
                      <a:r>
                        <a:rPr sz="1200" b="0" dirty="0" err="1">
                          <a:solidFill>
                            <a:srgbClr val="333333"/>
                          </a:solidFill>
                          <a:latin typeface="Meiryo"/>
                          <a:ea typeface="メイリオ"/>
                          <a:cs typeface="Meiryo"/>
                        </a:rPr>
                        <a:t>LINE未活用。ブランド力で先行</a:t>
                      </a:r>
                      <a:endParaRPr sz="12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2"/>
                  </a:ext>
                </a:extLst>
              </a:tr>
              <a:tr h="496019">
                <a:tc>
                  <a:txBody>
                    <a:bodyPr/>
                    <a:lstStyle/>
                    <a:p>
                      <a:r>
                        <a:rPr sz="1200" b="0">
                          <a:solidFill>
                            <a:srgbClr val="1F2A5C"/>
                          </a:solidFill>
                          <a:latin typeface="Meiryo"/>
                          <a:ea typeface="メイリオ"/>
                          <a:cs typeface="Meiryo"/>
                        </a:rPr>
                        <a:t>理英会</a:t>
                      </a:r>
                    </a:p>
                  </a:txBody>
                  <a:tcPr>
                    <a:solidFill>
                      <a:srgbClr val="FFF3E0"/>
                    </a:solidFill>
                  </a:tcPr>
                </a:tc>
                <a:tc>
                  <a:txBody>
                    <a:bodyPr/>
                    <a:lstStyle/>
                    <a:p>
                      <a:r>
                        <a:rPr sz="1200" b="1">
                          <a:solidFill>
                            <a:srgbClr val="1F2A5C"/>
                          </a:solidFill>
                          <a:latin typeface="Meiryo"/>
                          <a:ea typeface="メイリオ"/>
                          <a:cs typeface="Meiryo"/>
                        </a:rPr>
                        <a:t>あり（友だち4,475人）</a:t>
                      </a:r>
                    </a:p>
                  </a:txBody>
                  <a:tcPr>
                    <a:solidFill>
                      <a:srgbClr val="FFF3E0"/>
                    </a:solidFill>
                  </a:tcPr>
                </a:tc>
                <a:tc>
                  <a:txBody>
                    <a:bodyPr/>
                    <a:lstStyle/>
                    <a:p>
                      <a:r>
                        <a:rPr sz="1200" b="0">
                          <a:solidFill>
                            <a:srgbClr val="1F2A5C"/>
                          </a:solidFill>
                          <a:latin typeface="Meiryo"/>
                          <a:ea typeface="メイリオ"/>
                          <a:cs typeface="Meiryo"/>
                        </a:rPr>
                        <a:t>受験ノウハウ配信・体験会案内</a:t>
                      </a:r>
                    </a:p>
                  </a:txBody>
                  <a:tcPr>
                    <a:solidFill>
                      <a:srgbClr val="FFF3E0"/>
                    </a:solidFill>
                  </a:tcPr>
                </a:tc>
                <a:tc>
                  <a:txBody>
                    <a:bodyPr/>
                    <a:lstStyle/>
                    <a:p>
                      <a:r>
                        <a:rPr sz="1200" b="0" dirty="0">
                          <a:solidFill>
                            <a:srgbClr val="1F2A5C"/>
                          </a:solidFill>
                          <a:latin typeface="Meiryo"/>
                          <a:ea typeface="メイリオ"/>
                          <a:cs typeface="Meiryo"/>
                        </a:rPr>
                        <a:t>知育→受験の2段構成が最も近い競合。すでに先行</a:t>
                      </a:r>
                    </a:p>
                  </a:txBody>
                  <a:tcPr>
                    <a:solidFill>
                      <a:srgbClr val="FFF3E0"/>
                    </a:solidFill>
                  </a:tcPr>
                </a:tc>
                <a:extLst>
                  <a:ext uri="{0D108BD9-81ED-4DB2-BD59-A6C34878D82A}">
                    <a16:rowId xmlns:a16="http://schemas.microsoft.com/office/drawing/2014/main" val="10003"/>
                  </a:ext>
                </a:extLst>
              </a:tr>
              <a:tr h="496019">
                <a:tc>
                  <a:txBody>
                    <a:bodyPr/>
                    <a:lstStyle/>
                    <a:p>
                      <a:r>
                        <a:rPr sz="1200" b="0">
                          <a:solidFill>
                            <a:srgbClr val="1F2A5C"/>
                          </a:solidFill>
                          <a:latin typeface="Meiryo"/>
                          <a:ea typeface="メイリオ"/>
                          <a:cs typeface="Meiryo"/>
                        </a:rPr>
                        <a:t>どんちゃか幼児教室</a:t>
                      </a:r>
                    </a:p>
                  </a:txBody>
                  <a:tcPr>
                    <a:solidFill>
                      <a:srgbClr val="FFF3E0"/>
                    </a:solidFill>
                  </a:tcPr>
                </a:tc>
                <a:tc>
                  <a:txBody>
                    <a:bodyPr/>
                    <a:lstStyle/>
                    <a:p>
                      <a:r>
                        <a:rPr sz="1200" b="1">
                          <a:solidFill>
                            <a:srgbClr val="1F2A5C"/>
                          </a:solidFill>
                          <a:latin typeface="Meiryo"/>
                          <a:ea typeface="メイリオ"/>
                          <a:cs typeface="Meiryo"/>
                        </a:rPr>
                        <a:t>あり（友だち2,550人）</a:t>
                      </a:r>
                    </a:p>
                  </a:txBody>
                  <a:tcPr>
                    <a:solidFill>
                      <a:srgbClr val="FFF3E0"/>
                    </a:solidFill>
                  </a:tcPr>
                </a:tc>
                <a:tc>
                  <a:txBody>
                    <a:bodyPr/>
                    <a:lstStyle/>
                    <a:p>
                      <a:r>
                        <a:rPr sz="1200" b="0" dirty="0" err="1">
                          <a:solidFill>
                            <a:srgbClr val="1F2A5C"/>
                          </a:solidFill>
                          <a:latin typeface="Meiryo"/>
                          <a:ea typeface="メイリオ"/>
                          <a:cs typeface="Meiryo"/>
                        </a:rPr>
                        <a:t>育児コラム・季節講習案内</a:t>
                      </a:r>
                      <a:endParaRPr sz="1200" b="0" dirty="0">
                        <a:solidFill>
                          <a:srgbClr val="1F2A5C"/>
                        </a:solidFill>
                        <a:latin typeface="Meiryo"/>
                        <a:ea typeface="メイリオ"/>
                        <a:cs typeface="Meiryo"/>
                      </a:endParaRPr>
                    </a:p>
                  </a:txBody>
                  <a:tcPr>
                    <a:solidFill>
                      <a:srgbClr val="FFF3E0"/>
                    </a:solidFill>
                  </a:tcPr>
                </a:tc>
                <a:tc>
                  <a:txBody>
                    <a:bodyPr/>
                    <a:lstStyle/>
                    <a:p>
                      <a:r>
                        <a:rPr sz="1200" b="0" dirty="0" err="1">
                          <a:solidFill>
                            <a:srgbClr val="1F2A5C"/>
                          </a:solidFill>
                          <a:latin typeface="Meiryo"/>
                          <a:ea typeface="メイリオ"/>
                          <a:cs typeface="Meiryo"/>
                        </a:rPr>
                        <a:t>理英会と同一グループ</a:t>
                      </a:r>
                      <a:endParaRPr lang="en-US" sz="1200" b="0" dirty="0">
                        <a:solidFill>
                          <a:srgbClr val="1F2A5C"/>
                        </a:solidFill>
                        <a:latin typeface="Meiryo"/>
                        <a:ea typeface="メイリオ"/>
                        <a:cs typeface="Meiryo"/>
                      </a:endParaRPr>
                    </a:p>
                    <a:p>
                      <a:r>
                        <a:rPr sz="1200" b="0" dirty="0" err="1">
                          <a:solidFill>
                            <a:srgbClr val="1F2A5C"/>
                          </a:solidFill>
                          <a:latin typeface="Meiryo"/>
                          <a:ea typeface="メイリオ"/>
                          <a:cs typeface="Meiryo"/>
                        </a:rPr>
                        <a:t>乳幼児期の入口として運用</a:t>
                      </a:r>
                      <a:endParaRPr lang="en-US" sz="1200" b="0" dirty="0">
                        <a:solidFill>
                          <a:srgbClr val="1F2A5C"/>
                        </a:solidFill>
                        <a:latin typeface="Meiryo"/>
                        <a:ea typeface="メイリオ"/>
                        <a:cs typeface="Meiryo"/>
                      </a:endParaRPr>
                    </a:p>
                  </a:txBody>
                  <a:tcPr>
                    <a:solidFill>
                      <a:srgbClr val="FFF3E0"/>
                    </a:solidFill>
                  </a:tcPr>
                </a:tc>
                <a:extLst>
                  <a:ext uri="{0D108BD9-81ED-4DB2-BD59-A6C34878D82A}">
                    <a16:rowId xmlns:a16="http://schemas.microsoft.com/office/drawing/2014/main" val="10004"/>
                  </a:ext>
                </a:extLst>
              </a:tr>
            </a:tbl>
          </a:graphicData>
        </a:graphic>
      </p:graphicFrame>
      <p:sp>
        <p:nvSpPr>
          <p:cNvPr id="47" name="TextBox 46"/>
          <p:cNvSpPr txBox="1"/>
          <p:nvPr/>
        </p:nvSpPr>
        <p:spPr>
          <a:xfrm>
            <a:off x="384048" y="4525417"/>
            <a:ext cx="9134856" cy="584775"/>
          </a:xfrm>
          <a:prstGeom prst="rect">
            <a:avLst/>
          </a:prstGeom>
          <a:noFill/>
        </p:spPr>
        <p:txBody>
          <a:bodyPr wrap="square">
            <a:spAutoFit/>
          </a:bodyPr>
          <a:lstStyle/>
          <a:p>
            <a:r>
              <a:rPr sz="1600" b="1" dirty="0" err="1">
                <a:solidFill>
                  <a:srgbClr val="BF4E0E"/>
                </a:solidFill>
                <a:latin typeface="Meiryo"/>
                <a:ea typeface="メイリオ"/>
                <a:cs typeface="Meiryo"/>
              </a:rPr>
              <a:t>理英会・どんちゃかに対しては、同じ「知育→受験」という設計を武器に</a:t>
            </a:r>
            <a:endParaRPr lang="en-US" sz="1600" b="1" dirty="0">
              <a:solidFill>
                <a:srgbClr val="BF4E0E"/>
              </a:solidFill>
              <a:latin typeface="Meiryo"/>
              <a:ea typeface="メイリオ"/>
              <a:cs typeface="Meiryo"/>
            </a:endParaRPr>
          </a:p>
          <a:p>
            <a:r>
              <a:rPr sz="1600" b="1" dirty="0" err="1">
                <a:solidFill>
                  <a:srgbClr val="BF4E0E"/>
                </a:solidFill>
                <a:latin typeface="Meiryo"/>
                <a:ea typeface="メイリオ"/>
                <a:cs typeface="Meiryo"/>
              </a:rPr>
              <a:t>チャイルドアイズならではの強みをLINEの訴求・動線でより磨き込むことが差別化の鍵になる</a:t>
            </a:r>
            <a:r>
              <a:rPr sz="1600" b="1" dirty="0">
                <a:solidFill>
                  <a:srgbClr val="BF4E0E"/>
                </a:solidFill>
                <a:latin typeface="Meiryo"/>
                <a:ea typeface="メイリオ"/>
                <a:cs typeface="Meiryo"/>
              </a:rPr>
              <a:t>。</a:t>
            </a:r>
          </a:p>
        </p:txBody>
      </p:sp>
      <p:sp>
        <p:nvSpPr>
          <p:cNvPr id="48" name="TextBox 47"/>
          <p:cNvSpPr txBox="1"/>
          <p:nvPr/>
        </p:nvSpPr>
        <p:spPr>
          <a:xfrm>
            <a:off x="384048" y="5897880"/>
            <a:ext cx="9052560" cy="402336"/>
          </a:xfrm>
          <a:prstGeom prst="rect">
            <a:avLst/>
          </a:prstGeom>
          <a:noFill/>
        </p:spPr>
        <p:txBody>
          <a:bodyPr wrap="square">
            <a:spAutoFit/>
          </a:bodyPr>
          <a:lstStyle/>
          <a:p>
            <a:r>
              <a:rPr sz="850">
                <a:solidFill>
                  <a:srgbClr val="9AA1AE"/>
                </a:solidFill>
                <a:latin typeface="Meiryo"/>
                <a:ea typeface="メイリオ"/>
                <a:cs typeface="Meiryo"/>
              </a:rPr>
              <a:t>出典：弊社調べ（page.line.me実地確認・2026年9月）／各社公式サイト確認。LINE友だち数は確認時点の実数</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4039946" y="3038203"/>
            <a:ext cx="1826141"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施策概要</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5663590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B95DA1-C4AC-9E84-EE81-C643FC320A19}"/>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D0A4C04F-D2D9-01C2-E8A6-1461C3D732EF}"/>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E18DA7C5-B4CE-72EF-0BE5-E52C6EDDE855}"/>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0D487FC4-7DBC-58FC-7A30-5F63295AAB2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前提整理</a:t>
            </a:r>
            <a:endParaRPr sz="1600" b="1" dirty="0">
              <a:solidFill>
                <a:srgbClr val="002060"/>
              </a:solidFill>
              <a:latin typeface="Meiryo"/>
              <a:ea typeface="Meiryo"/>
              <a:cs typeface="Meiryo"/>
              <a:sym typeface="Meiryo"/>
            </a:endParaRPr>
          </a:p>
        </p:txBody>
      </p:sp>
      <p:sp>
        <p:nvSpPr>
          <p:cNvPr id="39" name="Shape 3">
            <a:extLst>
              <a:ext uri="{FF2B5EF4-FFF2-40B4-BE49-F238E27FC236}">
                <a16:creationId xmlns:a16="http://schemas.microsoft.com/office/drawing/2014/main" id="{2C0CE6CF-CF29-4F13-E14D-6FE57E16D201}"/>
              </a:ext>
            </a:extLst>
          </p:cNvPr>
          <p:cNvSpPr/>
          <p:nvPr/>
        </p:nvSpPr>
        <p:spPr>
          <a:xfrm>
            <a:off x="972158" y="178003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41" name="Text 4">
            <a:extLst>
              <a:ext uri="{FF2B5EF4-FFF2-40B4-BE49-F238E27FC236}">
                <a16:creationId xmlns:a16="http://schemas.microsoft.com/office/drawing/2014/main" id="{4B15C96A-F0B8-F18C-6254-B162AFC457A6}"/>
              </a:ext>
            </a:extLst>
          </p:cNvPr>
          <p:cNvSpPr txBox="1"/>
          <p:nvPr/>
        </p:nvSpPr>
        <p:spPr>
          <a:xfrm>
            <a:off x="972158" y="1780035"/>
            <a:ext cx="384048"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100" dirty="0">
              <a:latin typeface="メイリオ" panose="020B0604030504040204" pitchFamily="50" charset="-128"/>
              <a:ea typeface="メイリオ" panose="020B0604030504040204" pitchFamily="50" charset="-128"/>
            </a:endParaRPr>
          </a:p>
        </p:txBody>
      </p:sp>
      <p:sp>
        <p:nvSpPr>
          <p:cNvPr id="43" name="Text 5">
            <a:extLst>
              <a:ext uri="{FF2B5EF4-FFF2-40B4-BE49-F238E27FC236}">
                <a16:creationId xmlns:a16="http://schemas.microsoft.com/office/drawing/2014/main" id="{1AB7025E-6AD2-DE33-BC65-0B02037301DF}"/>
              </a:ext>
            </a:extLst>
          </p:cNvPr>
          <p:cNvSpPr txBox="1"/>
          <p:nvPr/>
        </p:nvSpPr>
        <p:spPr>
          <a:xfrm>
            <a:off x="1539086" y="1907185"/>
            <a:ext cx="1745198" cy="1051560"/>
          </a:xfrm>
          <a:prstGeom prst="rect">
            <a:avLst/>
          </a:prstGeom>
          <a:noFill/>
          <a:ln/>
        </p:spPr>
        <p:txBody>
          <a:bodyPr wrap="square" lIns="0" tIns="0" rIns="0" bIns="0" rtlCol="0" anchor="t"/>
          <a:lstStyle/>
          <a:p>
            <a:pPr marL="0" indent="0">
              <a:buNone/>
            </a:pPr>
            <a:r>
              <a:rPr lang="en-US" sz="1400" b="1" dirty="0">
                <a:solidFill>
                  <a:srgbClr val="1B3A4B"/>
                </a:solidFill>
                <a:latin typeface="メイリオ" panose="020B0604030504040204" pitchFamily="50" charset="-128"/>
                <a:ea typeface="メイリオ" panose="020B0604030504040204" pitchFamily="50" charset="-128"/>
                <a:cs typeface="Calibri" pitchFamily="34" charset="-120"/>
              </a:rPr>
              <a:t>対象範囲</a:t>
            </a:r>
            <a:endParaRPr lang="en-US" sz="1400" dirty="0">
              <a:latin typeface="メイリオ" panose="020B0604030504040204" pitchFamily="50" charset="-128"/>
              <a:ea typeface="メイリオ" panose="020B0604030504040204" pitchFamily="50" charset="-128"/>
            </a:endParaRPr>
          </a:p>
        </p:txBody>
      </p:sp>
      <p:sp>
        <p:nvSpPr>
          <p:cNvPr id="46" name="Text 6">
            <a:extLst>
              <a:ext uri="{FF2B5EF4-FFF2-40B4-BE49-F238E27FC236}">
                <a16:creationId xmlns:a16="http://schemas.microsoft.com/office/drawing/2014/main" id="{EE17545A-2363-AE72-B300-AAA28328E975}"/>
              </a:ext>
            </a:extLst>
          </p:cNvPr>
          <p:cNvSpPr txBox="1"/>
          <p:nvPr/>
        </p:nvSpPr>
        <p:spPr>
          <a:xfrm>
            <a:off x="3120996" y="1907182"/>
            <a:ext cx="6841609" cy="548643"/>
          </a:xfrm>
          <a:prstGeom prst="rect">
            <a:avLst/>
          </a:prstGeom>
          <a:noFill/>
          <a:ln/>
        </p:spPr>
        <p:txBody>
          <a:bodyPr wrap="square" lIns="0" tIns="0" rIns="0" bIns="0" rtlCol="0" anchor="t"/>
          <a:lstStyle/>
          <a:p>
            <a:pPr marL="0" indent="0">
              <a:lnSpc>
                <a:spcPts val="1700"/>
              </a:lnSpc>
              <a:buNone/>
            </a:pP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LINE公式アカウントにおける</a:t>
            </a:r>
            <a:r>
              <a:rPr lang="en-US" sz="1200" b="1" dirty="0">
                <a:solidFill>
                  <a:srgbClr val="1F2937"/>
                </a:solidFill>
                <a:latin typeface="メイリオ" panose="020B0604030504040204" pitchFamily="50" charset="-128"/>
                <a:ea typeface="メイリオ" panose="020B0604030504040204" pitchFamily="50" charset="-128"/>
                <a:cs typeface="Calibri" pitchFamily="34" charset="-120"/>
              </a:rPr>
              <a:t>「① 友だち追加」「② </a:t>
            </a:r>
            <a:r>
              <a:rPr lang="en-US" sz="1200" b="1" dirty="0" err="1">
                <a:solidFill>
                  <a:srgbClr val="1F2937"/>
                </a:solidFill>
                <a:latin typeface="メイリオ" panose="020B0604030504040204" pitchFamily="50" charset="-128"/>
                <a:ea typeface="メイリオ" panose="020B0604030504040204" pitchFamily="50" charset="-128"/>
                <a:cs typeface="Calibri" pitchFamily="34" charset="-120"/>
              </a:rPr>
              <a:t>配信の効率改善</a:t>
            </a:r>
            <a:r>
              <a:rPr lang="en-US" sz="1200" b="1"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en-US" sz="1200" b="1" dirty="0">
                <a:solidFill>
                  <a:srgbClr val="1F2937"/>
                </a:solidFill>
                <a:latin typeface="メイリオ" panose="020B0604030504040204" pitchFamily="50" charset="-128"/>
                <a:ea typeface="メイリオ" panose="020B0604030504040204" pitchFamily="50" charset="-128"/>
                <a:cs typeface="Calibri" pitchFamily="34" charset="-120"/>
              </a:rPr>
              <a:t>「③ ユーザー満足度改善」「④ 管理側の業務効率化」の4領域</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を対象に施策を設計。</a:t>
            </a:r>
          </a:p>
          <a:p>
            <a:pPr marL="0" indent="0">
              <a:lnSpc>
                <a:spcPts val="1700"/>
              </a:lnSpc>
              <a:buNone/>
            </a:pP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700"/>
              </a:lnSpc>
              <a:buNone/>
            </a:pP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700"/>
              </a:lnSpc>
              <a:buNone/>
            </a:pP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p:txBody>
      </p:sp>
      <p:sp>
        <p:nvSpPr>
          <p:cNvPr id="48" name="Shape 7">
            <a:extLst>
              <a:ext uri="{FF2B5EF4-FFF2-40B4-BE49-F238E27FC236}">
                <a16:creationId xmlns:a16="http://schemas.microsoft.com/office/drawing/2014/main" id="{821FB137-60FE-5372-085D-B747D9EC59DC}"/>
              </a:ext>
            </a:extLst>
          </p:cNvPr>
          <p:cNvSpPr/>
          <p:nvPr/>
        </p:nvSpPr>
        <p:spPr>
          <a:xfrm>
            <a:off x="641683" y="2712723"/>
            <a:ext cx="8591394" cy="9144"/>
          </a:xfrm>
          <a:prstGeom prst="rect">
            <a:avLst/>
          </a:prstGeom>
          <a:solidFill>
            <a:srgbClr val="EBEEEF"/>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50" name="Shape 8">
            <a:extLst>
              <a:ext uri="{FF2B5EF4-FFF2-40B4-BE49-F238E27FC236}">
                <a16:creationId xmlns:a16="http://schemas.microsoft.com/office/drawing/2014/main" id="{DC9A3D51-C45E-51F8-860D-57ECD88D6555}"/>
              </a:ext>
            </a:extLst>
          </p:cNvPr>
          <p:cNvSpPr/>
          <p:nvPr/>
        </p:nvSpPr>
        <p:spPr>
          <a:xfrm>
            <a:off x="972158" y="283159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52" name="Text 9">
            <a:extLst>
              <a:ext uri="{FF2B5EF4-FFF2-40B4-BE49-F238E27FC236}">
                <a16:creationId xmlns:a16="http://schemas.microsoft.com/office/drawing/2014/main" id="{669B4352-D816-9A0C-A8DD-7BC84307D168}"/>
              </a:ext>
            </a:extLst>
          </p:cNvPr>
          <p:cNvSpPr txBox="1"/>
          <p:nvPr/>
        </p:nvSpPr>
        <p:spPr>
          <a:xfrm>
            <a:off x="972158" y="2831595"/>
            <a:ext cx="384048"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100" dirty="0">
              <a:latin typeface="メイリオ" panose="020B0604030504040204" pitchFamily="50" charset="-128"/>
              <a:ea typeface="メイリオ" panose="020B0604030504040204" pitchFamily="50" charset="-128"/>
            </a:endParaRPr>
          </a:p>
        </p:txBody>
      </p:sp>
      <p:sp>
        <p:nvSpPr>
          <p:cNvPr id="54" name="Text 10">
            <a:extLst>
              <a:ext uri="{FF2B5EF4-FFF2-40B4-BE49-F238E27FC236}">
                <a16:creationId xmlns:a16="http://schemas.microsoft.com/office/drawing/2014/main" id="{75F48AE9-A6FD-422C-ACDF-7B652462C746}"/>
              </a:ext>
            </a:extLst>
          </p:cNvPr>
          <p:cNvSpPr txBox="1"/>
          <p:nvPr/>
        </p:nvSpPr>
        <p:spPr>
          <a:xfrm>
            <a:off x="1539086" y="2958745"/>
            <a:ext cx="1745198" cy="1051560"/>
          </a:xfrm>
          <a:prstGeom prst="rect">
            <a:avLst/>
          </a:prstGeom>
          <a:noFill/>
          <a:ln/>
        </p:spPr>
        <p:txBody>
          <a:bodyPr wrap="square" lIns="0" tIns="0" rIns="0" bIns="0" rtlCol="0" anchor="t"/>
          <a:lstStyle/>
          <a:p>
            <a:pPr marL="0" indent="0">
              <a:buNone/>
            </a:pPr>
            <a:r>
              <a:rPr lang="en-US" sz="1400" b="1" dirty="0">
                <a:solidFill>
                  <a:srgbClr val="1B3A4B"/>
                </a:solidFill>
                <a:latin typeface="メイリオ" panose="020B0604030504040204" pitchFamily="50" charset="-128"/>
                <a:ea typeface="メイリオ" panose="020B0604030504040204" pitchFamily="50" charset="-128"/>
                <a:cs typeface="Calibri" pitchFamily="34" charset="-120"/>
              </a:rPr>
              <a:t>想定UU規模</a:t>
            </a:r>
            <a:endParaRPr lang="en-US" sz="1400" dirty="0">
              <a:latin typeface="メイリオ" panose="020B0604030504040204" pitchFamily="50" charset="-128"/>
              <a:ea typeface="メイリオ" panose="020B0604030504040204" pitchFamily="50" charset="-128"/>
            </a:endParaRPr>
          </a:p>
        </p:txBody>
      </p:sp>
      <p:sp>
        <p:nvSpPr>
          <p:cNvPr id="56" name="Text 11">
            <a:extLst>
              <a:ext uri="{FF2B5EF4-FFF2-40B4-BE49-F238E27FC236}">
                <a16:creationId xmlns:a16="http://schemas.microsoft.com/office/drawing/2014/main" id="{61156CBF-D9B3-DD3C-8ACD-8372D9D326A2}"/>
              </a:ext>
            </a:extLst>
          </p:cNvPr>
          <p:cNvSpPr txBox="1"/>
          <p:nvPr/>
        </p:nvSpPr>
        <p:spPr>
          <a:xfrm>
            <a:off x="3120996" y="2958742"/>
            <a:ext cx="6841609" cy="548643"/>
          </a:xfrm>
          <a:prstGeom prst="rect">
            <a:avLst/>
          </a:prstGeom>
          <a:noFill/>
          <a:ln/>
        </p:spPr>
        <p:txBody>
          <a:bodyPr wrap="square" lIns="0" tIns="0" rIns="0" bIns="0" rtlCol="0" anchor="t"/>
          <a:lstStyle/>
          <a:p>
            <a:pPr marL="0" indent="0">
              <a:lnSpc>
                <a:spcPts val="17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友だち数（登録ユーザー数）は</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 </a:t>
            </a:r>
            <a:r>
              <a:rPr lang="ja-JP" altLang="en-US" sz="1200" dirty="0">
                <a:solidFill>
                  <a:srgbClr val="1F2937"/>
                </a:solidFill>
                <a:latin typeface="メイリオ" panose="020B0604030504040204" pitchFamily="50" charset="-128"/>
                <a:ea typeface="メイリオ" panose="020B0604030504040204" pitchFamily="50" charset="-128"/>
                <a:cs typeface="Calibri" pitchFamily="34" charset="-120"/>
              </a:rPr>
              <a:t>導入できる 動線の本数、整備の進捗により変動</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数値はこのレンジの中間帯を基準とした試算例</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58" name="Shape 12">
            <a:extLst>
              <a:ext uri="{FF2B5EF4-FFF2-40B4-BE49-F238E27FC236}">
                <a16:creationId xmlns:a16="http://schemas.microsoft.com/office/drawing/2014/main" id="{B7E37F63-4443-61AC-C507-6249BCEA8B03}"/>
              </a:ext>
            </a:extLst>
          </p:cNvPr>
          <p:cNvSpPr/>
          <p:nvPr/>
        </p:nvSpPr>
        <p:spPr>
          <a:xfrm>
            <a:off x="641683" y="3764283"/>
            <a:ext cx="8591394" cy="9144"/>
          </a:xfrm>
          <a:prstGeom prst="rect">
            <a:avLst/>
          </a:prstGeom>
          <a:solidFill>
            <a:srgbClr val="EBEEEF"/>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60" name="Shape 13">
            <a:extLst>
              <a:ext uri="{FF2B5EF4-FFF2-40B4-BE49-F238E27FC236}">
                <a16:creationId xmlns:a16="http://schemas.microsoft.com/office/drawing/2014/main" id="{BC3F4295-B343-9929-79BF-0E90AC24E637}"/>
              </a:ext>
            </a:extLst>
          </p:cNvPr>
          <p:cNvSpPr/>
          <p:nvPr/>
        </p:nvSpPr>
        <p:spPr>
          <a:xfrm>
            <a:off x="972158" y="388315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62" name="Text 14">
            <a:extLst>
              <a:ext uri="{FF2B5EF4-FFF2-40B4-BE49-F238E27FC236}">
                <a16:creationId xmlns:a16="http://schemas.microsoft.com/office/drawing/2014/main" id="{4F7035AD-D7AD-4365-9CE5-C9A141A3387A}"/>
              </a:ext>
            </a:extLst>
          </p:cNvPr>
          <p:cNvSpPr txBox="1"/>
          <p:nvPr/>
        </p:nvSpPr>
        <p:spPr>
          <a:xfrm>
            <a:off x="972158" y="3883155"/>
            <a:ext cx="384048"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64" name="Text 15">
            <a:extLst>
              <a:ext uri="{FF2B5EF4-FFF2-40B4-BE49-F238E27FC236}">
                <a16:creationId xmlns:a16="http://schemas.microsoft.com/office/drawing/2014/main" id="{86468759-90EC-B496-2A22-F5CEEF26BB6D}"/>
              </a:ext>
            </a:extLst>
          </p:cNvPr>
          <p:cNvSpPr txBox="1"/>
          <p:nvPr/>
        </p:nvSpPr>
        <p:spPr>
          <a:xfrm>
            <a:off x="1539086" y="4010305"/>
            <a:ext cx="1745198" cy="1051560"/>
          </a:xfrm>
          <a:prstGeom prst="rect">
            <a:avLst/>
          </a:prstGeom>
          <a:noFill/>
          <a:ln/>
        </p:spPr>
        <p:txBody>
          <a:bodyPr wrap="square" lIns="0" tIns="0" rIns="0" bIns="0" rtlCol="0" anchor="t"/>
          <a:lstStyle/>
          <a:p>
            <a:pPr marL="0" indent="0">
              <a:buNone/>
            </a:pPr>
            <a:r>
              <a:rPr lang="en-US" sz="1400" b="1" dirty="0">
                <a:solidFill>
                  <a:srgbClr val="1B3A4B"/>
                </a:solidFill>
                <a:latin typeface="メイリオ" panose="020B0604030504040204" pitchFamily="50" charset="-128"/>
                <a:ea typeface="メイリオ" panose="020B0604030504040204" pitchFamily="50" charset="-128"/>
                <a:cs typeface="Calibri" pitchFamily="34" charset="-120"/>
              </a:rPr>
              <a:t>数値の位置づけ</a:t>
            </a:r>
            <a:endParaRPr lang="en-US" sz="1400" dirty="0">
              <a:latin typeface="メイリオ" panose="020B0604030504040204" pitchFamily="50" charset="-128"/>
              <a:ea typeface="メイリオ" panose="020B0604030504040204" pitchFamily="50" charset="-128"/>
            </a:endParaRPr>
          </a:p>
        </p:txBody>
      </p:sp>
      <p:sp>
        <p:nvSpPr>
          <p:cNvPr id="66" name="Text 16">
            <a:extLst>
              <a:ext uri="{FF2B5EF4-FFF2-40B4-BE49-F238E27FC236}">
                <a16:creationId xmlns:a16="http://schemas.microsoft.com/office/drawing/2014/main" id="{904F2FF7-14A1-F39C-A8CB-E14A07B717DD}"/>
              </a:ext>
            </a:extLst>
          </p:cNvPr>
          <p:cNvSpPr txBox="1"/>
          <p:nvPr/>
        </p:nvSpPr>
        <p:spPr>
          <a:xfrm>
            <a:off x="3120996" y="4010302"/>
            <a:ext cx="6841609" cy="548643"/>
          </a:xfrm>
          <a:prstGeom prst="rect">
            <a:avLst/>
          </a:prstGeom>
          <a:noFill/>
          <a:ln/>
        </p:spPr>
        <p:txBody>
          <a:bodyPr wrap="square" lIns="0" tIns="0" rIns="0" bIns="0" rtlCol="0" anchor="t"/>
          <a:lstStyle/>
          <a:p>
            <a:pPr marL="0" indent="0">
              <a:lnSpc>
                <a:spcPts val="17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開封率・クリック率・CVR・獲得件数は、業界一般値</a:t>
            </a:r>
            <a:r>
              <a:rPr lang="ja-JP" altLang="en-US" sz="1200" dirty="0">
                <a:solidFill>
                  <a:srgbClr val="1F2937"/>
                </a:solidFill>
                <a:latin typeface="メイリオ" panose="020B0604030504040204" pitchFamily="50" charset="-128"/>
                <a:ea typeface="メイリオ" panose="020B0604030504040204" pitchFamily="50" charset="-128"/>
                <a:cs typeface="Calibri" pitchFamily="34" charset="-120"/>
              </a:rPr>
              <a:t>・弊社実績に基づく数値</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ja-JP" altLang="en-US" sz="1200" dirty="0">
                <a:solidFill>
                  <a:srgbClr val="1F2937"/>
                </a:solidFill>
                <a:latin typeface="メイリオ" panose="020B0604030504040204" pitchFamily="50" charset="-128"/>
                <a:ea typeface="メイリオ" panose="020B0604030504040204" pitchFamily="50" charset="-128"/>
                <a:cs typeface="Calibri" pitchFamily="34" charset="-120"/>
              </a:rPr>
              <a:t>実際の実装可能領域</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
            </a:r>
            <a:r>
              <a:rPr lang="ja-JP" altLang="en-US" sz="1200" dirty="0">
                <a:solidFill>
                  <a:srgbClr val="1F2937"/>
                </a:solidFill>
                <a:latin typeface="メイリオ" panose="020B0604030504040204" pitchFamily="50" charset="-128"/>
                <a:ea typeface="メイリオ" panose="020B0604030504040204" pitchFamily="50" charset="-128"/>
                <a:cs typeface="Calibri" pitchFamily="34" charset="-120"/>
              </a:rPr>
              <a:t>によって変動する為、すり合わせの上で</a:t>
            </a: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精緻化する</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68" name="Shape 17">
            <a:extLst>
              <a:ext uri="{FF2B5EF4-FFF2-40B4-BE49-F238E27FC236}">
                <a16:creationId xmlns:a16="http://schemas.microsoft.com/office/drawing/2014/main" id="{D7D046F7-16D5-8951-536B-10884484DE02}"/>
              </a:ext>
            </a:extLst>
          </p:cNvPr>
          <p:cNvSpPr/>
          <p:nvPr/>
        </p:nvSpPr>
        <p:spPr>
          <a:xfrm>
            <a:off x="641683" y="4815843"/>
            <a:ext cx="8591394" cy="9144"/>
          </a:xfrm>
          <a:prstGeom prst="rect">
            <a:avLst/>
          </a:prstGeom>
          <a:solidFill>
            <a:srgbClr val="EBEEEF"/>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70" name="Shape 18">
            <a:extLst>
              <a:ext uri="{FF2B5EF4-FFF2-40B4-BE49-F238E27FC236}">
                <a16:creationId xmlns:a16="http://schemas.microsoft.com/office/drawing/2014/main" id="{0D1FC647-1BC2-58C5-04C4-BE8B359A6F8D}"/>
              </a:ext>
            </a:extLst>
          </p:cNvPr>
          <p:cNvSpPr/>
          <p:nvPr/>
        </p:nvSpPr>
        <p:spPr>
          <a:xfrm>
            <a:off x="972158" y="493471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72" name="Text 19">
            <a:extLst>
              <a:ext uri="{FF2B5EF4-FFF2-40B4-BE49-F238E27FC236}">
                <a16:creationId xmlns:a16="http://schemas.microsoft.com/office/drawing/2014/main" id="{C7DA095C-5CED-C617-CCA7-2F5D20F16832}"/>
              </a:ext>
            </a:extLst>
          </p:cNvPr>
          <p:cNvSpPr txBox="1"/>
          <p:nvPr/>
        </p:nvSpPr>
        <p:spPr>
          <a:xfrm>
            <a:off x="972158" y="4934715"/>
            <a:ext cx="384048"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4</a:t>
            </a:r>
            <a:endParaRPr lang="en-US" sz="1100" dirty="0">
              <a:latin typeface="メイリオ" panose="020B0604030504040204" pitchFamily="50" charset="-128"/>
              <a:ea typeface="メイリオ" panose="020B0604030504040204" pitchFamily="50" charset="-128"/>
            </a:endParaRPr>
          </a:p>
        </p:txBody>
      </p:sp>
      <p:sp>
        <p:nvSpPr>
          <p:cNvPr id="74" name="Text 20">
            <a:extLst>
              <a:ext uri="{FF2B5EF4-FFF2-40B4-BE49-F238E27FC236}">
                <a16:creationId xmlns:a16="http://schemas.microsoft.com/office/drawing/2014/main" id="{4C2E6E88-6123-B50A-ED01-1E64CDAD3404}"/>
              </a:ext>
            </a:extLst>
          </p:cNvPr>
          <p:cNvSpPr txBox="1"/>
          <p:nvPr/>
        </p:nvSpPr>
        <p:spPr>
          <a:xfrm>
            <a:off x="1539086" y="5061865"/>
            <a:ext cx="1745198" cy="1051560"/>
          </a:xfrm>
          <a:prstGeom prst="rect">
            <a:avLst/>
          </a:prstGeom>
          <a:noFill/>
          <a:ln/>
        </p:spPr>
        <p:txBody>
          <a:bodyPr wrap="square" lIns="0" tIns="0" rIns="0" bIns="0" rtlCol="0" anchor="t"/>
          <a:lstStyle/>
          <a:p>
            <a:pPr marL="0" indent="0">
              <a:buNone/>
            </a:pPr>
            <a:r>
              <a:rPr lang="en-US" sz="1400" b="1" dirty="0">
                <a:solidFill>
                  <a:srgbClr val="1B3A4B"/>
                </a:solidFill>
                <a:latin typeface="メイリオ" panose="020B0604030504040204" pitchFamily="50" charset="-128"/>
                <a:ea typeface="メイリオ" panose="020B0604030504040204" pitchFamily="50" charset="-128"/>
                <a:cs typeface="Calibri" pitchFamily="34" charset="-120"/>
              </a:rPr>
              <a:t>費用について</a:t>
            </a:r>
            <a:endParaRPr lang="en-US" sz="1400" dirty="0">
              <a:latin typeface="メイリオ" panose="020B0604030504040204" pitchFamily="50" charset="-128"/>
              <a:ea typeface="メイリオ" panose="020B0604030504040204" pitchFamily="50" charset="-128"/>
            </a:endParaRPr>
          </a:p>
        </p:txBody>
      </p:sp>
      <p:sp>
        <p:nvSpPr>
          <p:cNvPr id="76" name="Text 21">
            <a:extLst>
              <a:ext uri="{FF2B5EF4-FFF2-40B4-BE49-F238E27FC236}">
                <a16:creationId xmlns:a16="http://schemas.microsoft.com/office/drawing/2014/main" id="{F5F82988-82B4-B2FE-6595-2DA583169883}"/>
              </a:ext>
            </a:extLst>
          </p:cNvPr>
          <p:cNvSpPr txBox="1"/>
          <p:nvPr/>
        </p:nvSpPr>
        <p:spPr>
          <a:xfrm>
            <a:off x="3120996" y="5061862"/>
            <a:ext cx="6841609" cy="548643"/>
          </a:xfrm>
          <a:prstGeom prst="rect">
            <a:avLst/>
          </a:prstGeom>
          <a:noFill/>
          <a:ln/>
        </p:spPr>
        <p:txBody>
          <a:bodyPr wrap="square" lIns="0" tIns="0" rIns="0" bIns="0" rtlCol="0" anchor="t"/>
          <a:lstStyle/>
          <a:p>
            <a:pPr marL="0" indent="0">
              <a:lnSpc>
                <a:spcPts val="17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本資料</a:t>
            </a:r>
            <a:r>
              <a:rPr lang="ja-JP" altLang="en-US" sz="1200" dirty="0">
                <a:solidFill>
                  <a:srgbClr val="1F2937"/>
                </a:solidFill>
                <a:latin typeface="メイリオ" panose="020B0604030504040204" pitchFamily="50" charset="-128"/>
                <a:ea typeface="メイリオ" panose="020B0604030504040204" pitchFamily="50" charset="-128"/>
                <a:cs typeface="Calibri" pitchFamily="34" charset="-120"/>
              </a:rPr>
              <a:t>内</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で</a:t>
            </a:r>
            <a:r>
              <a:rPr lang="ja-JP" altLang="en-US" sz="1200" dirty="0">
                <a:solidFill>
                  <a:srgbClr val="1F2937"/>
                </a:solidFill>
                <a:latin typeface="メイリオ" panose="020B0604030504040204" pitchFamily="50" charset="-128"/>
                <a:ea typeface="メイリオ" panose="020B0604030504040204" pitchFamily="50" charset="-128"/>
                <a:cs typeface="Calibri" pitchFamily="34" charset="-120"/>
              </a:rPr>
              <a:t>記載の</a:t>
            </a:r>
            <a:r>
              <a:rPr lang="en-US" sz="1200" b="1" dirty="0" err="1">
                <a:solidFill>
                  <a:srgbClr val="1F2937"/>
                </a:solidFill>
                <a:latin typeface="メイリオ" panose="020B0604030504040204" pitchFamily="50" charset="-128"/>
                <a:ea typeface="メイリオ" panose="020B0604030504040204" pitchFamily="50" charset="-128"/>
                <a:cs typeface="Calibri" pitchFamily="34" charset="-120"/>
              </a:rPr>
              <a:t>費用（初期費用・月額費用）は</a:t>
            </a:r>
            <a:r>
              <a:rPr lang="ja-JP" altLang="en-US" sz="1200" b="1" dirty="0">
                <a:solidFill>
                  <a:srgbClr val="1F2937"/>
                </a:solidFill>
                <a:latin typeface="メイリオ" panose="020B0604030504040204" pitchFamily="50" charset="-128"/>
                <a:ea typeface="メイリオ" panose="020B0604030504040204" pitchFamily="50" charset="-128"/>
                <a:cs typeface="Calibri" pitchFamily="34" charset="-120"/>
              </a:rPr>
              <a:t>前提参考値</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施策範囲の合意後、別途お見積りをご案内</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78" name="テキスト ボックス 77">
            <a:extLst>
              <a:ext uri="{FF2B5EF4-FFF2-40B4-BE49-F238E27FC236}">
                <a16:creationId xmlns:a16="http://schemas.microsoft.com/office/drawing/2014/main" id="{EED395D3-960C-4F52-4CB0-7C6BFD98B4E4}"/>
              </a:ext>
            </a:extLst>
          </p:cNvPr>
          <p:cNvSpPr txBox="1"/>
          <p:nvPr/>
        </p:nvSpPr>
        <p:spPr>
          <a:xfrm>
            <a:off x="561786" y="882657"/>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ご提案にお持ちしているのは費用感の算出ではなく施策方針です。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施策切り出しでのご依頼、複数機能の導入によるディスカウント等の調整もご相談ください。</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19855447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1EC9E0-2ED9-448E-0518-C4BB6687193B}"/>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BBA5CE5E-41EC-1762-2B4B-1C21C78DBE3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7B94669E-0A81-5BCB-3602-33AE08C2923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6F74B94C-3E60-E212-F97E-79756D17F00D}"/>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前提整理</a:t>
            </a:r>
          </a:p>
        </p:txBody>
      </p:sp>
      <p:sp>
        <p:nvSpPr>
          <p:cNvPr id="7" name="Shape 3">
            <a:extLst>
              <a:ext uri="{FF2B5EF4-FFF2-40B4-BE49-F238E27FC236}">
                <a16:creationId xmlns:a16="http://schemas.microsoft.com/office/drawing/2014/main" id="{05B92B5B-D67F-58CF-8CC2-331F749D479C}"/>
              </a:ext>
            </a:extLst>
          </p:cNvPr>
          <p:cNvSpPr/>
          <p:nvPr/>
        </p:nvSpPr>
        <p:spPr>
          <a:xfrm>
            <a:off x="847998" y="1814158"/>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9" name="Shape 4">
            <a:extLst>
              <a:ext uri="{FF2B5EF4-FFF2-40B4-BE49-F238E27FC236}">
                <a16:creationId xmlns:a16="http://schemas.microsoft.com/office/drawing/2014/main" id="{84E1D0B6-1448-5A19-5CEB-FF4D5F46D6FC}"/>
              </a:ext>
            </a:extLst>
          </p:cNvPr>
          <p:cNvSpPr/>
          <p:nvPr/>
        </p:nvSpPr>
        <p:spPr>
          <a:xfrm>
            <a:off x="1076598" y="2105293"/>
            <a:ext cx="365268" cy="377851"/>
          </a:xfrm>
          <a:prstGeom prst="ellipse">
            <a:avLst/>
          </a:prstGeom>
          <a:solidFill>
            <a:srgbClr val="06C755"/>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1</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13" name="Text 6">
            <a:extLst>
              <a:ext uri="{FF2B5EF4-FFF2-40B4-BE49-F238E27FC236}">
                <a16:creationId xmlns:a16="http://schemas.microsoft.com/office/drawing/2014/main" id="{7E87A6C6-A98D-9DBF-6D4A-E28F254E152A}"/>
              </a:ext>
            </a:extLst>
          </p:cNvPr>
          <p:cNvSpPr txBox="1"/>
          <p:nvPr/>
        </p:nvSpPr>
        <p:spPr>
          <a:xfrm>
            <a:off x="1716678" y="1997038"/>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友だち追加</a:t>
            </a:r>
            <a:endParaRPr lang="en-US" sz="1700" dirty="0">
              <a:latin typeface="メイリオ" panose="020B0604030504040204" pitchFamily="50" charset="-128"/>
              <a:ea typeface="メイリオ" panose="020B0604030504040204" pitchFamily="50" charset="-128"/>
            </a:endParaRPr>
          </a:p>
        </p:txBody>
      </p:sp>
      <p:sp>
        <p:nvSpPr>
          <p:cNvPr id="15" name="Text 7">
            <a:extLst>
              <a:ext uri="{FF2B5EF4-FFF2-40B4-BE49-F238E27FC236}">
                <a16:creationId xmlns:a16="http://schemas.microsoft.com/office/drawing/2014/main" id="{3D4AF8DD-9D51-A269-6557-0363B326A0A0}"/>
              </a:ext>
            </a:extLst>
          </p:cNvPr>
          <p:cNvSpPr txBox="1"/>
          <p:nvPr/>
        </p:nvSpPr>
        <p:spPr>
          <a:xfrm>
            <a:off x="1716678" y="2344510"/>
            <a:ext cx="3021761" cy="274320"/>
          </a:xfrm>
          <a:prstGeom prst="rect">
            <a:avLst/>
          </a:prstGeom>
          <a:noFill/>
          <a:ln/>
        </p:spPr>
        <p:txBody>
          <a:bodyPr wrap="square" lIns="0" tIns="0" rIns="0" bIns="0" rtlCol="0" anchor="ctr"/>
          <a:lstStyle/>
          <a:p>
            <a:pPr marL="0" indent="0">
              <a:buNone/>
            </a:pPr>
            <a:r>
              <a:rPr lang="en-US" sz="1100" b="1" dirty="0">
                <a:solidFill>
                  <a:srgbClr val="06C755"/>
                </a:solidFill>
                <a:latin typeface="メイリオ" panose="020B0604030504040204" pitchFamily="50" charset="-128"/>
                <a:ea typeface="メイリオ" panose="020B0604030504040204" pitchFamily="50" charset="-128"/>
                <a:cs typeface="Calibri" pitchFamily="34" charset="-120"/>
              </a:rPr>
              <a:t>接点を増やし母数を拡大</a:t>
            </a:r>
            <a:endParaRPr lang="en-US" sz="1100" dirty="0">
              <a:latin typeface="メイリオ" panose="020B0604030504040204" pitchFamily="50" charset="-128"/>
              <a:ea typeface="メイリオ" panose="020B0604030504040204" pitchFamily="50" charset="-128"/>
            </a:endParaRPr>
          </a:p>
        </p:txBody>
      </p:sp>
      <p:sp>
        <p:nvSpPr>
          <p:cNvPr id="17" name="Text 8">
            <a:extLst>
              <a:ext uri="{FF2B5EF4-FFF2-40B4-BE49-F238E27FC236}">
                <a16:creationId xmlns:a16="http://schemas.microsoft.com/office/drawing/2014/main" id="{006EDC0A-D1B3-1FB0-B41A-15583F5C13E9}"/>
              </a:ext>
            </a:extLst>
          </p:cNvPr>
          <p:cNvSpPr txBox="1"/>
          <p:nvPr/>
        </p:nvSpPr>
        <p:spPr>
          <a:xfrm>
            <a:off x="1122318" y="2774278"/>
            <a:ext cx="3420235" cy="1051560"/>
          </a:xfrm>
          <a:prstGeom prst="rect">
            <a:avLst/>
          </a:prstGeom>
          <a:noFill/>
          <a:ln/>
        </p:spPr>
        <p:txBody>
          <a:bodyPr wrap="square" lIns="0" tIns="0" rIns="0" bIns="0" rtlCol="0" anchor="t"/>
          <a:lstStyle/>
          <a:p>
            <a:pPr marL="0" indent="0">
              <a:lnSpc>
                <a:spcPts val="16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店頭・Web・同梱物など複数の接点から</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6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訴求とセットでLINE友だち登録へ誘導する</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19" name="Shape 9">
            <a:extLst>
              <a:ext uri="{FF2B5EF4-FFF2-40B4-BE49-F238E27FC236}">
                <a16:creationId xmlns:a16="http://schemas.microsoft.com/office/drawing/2014/main" id="{D46829D5-C4A7-00A2-EB59-4F0181ABF3E8}"/>
              </a:ext>
            </a:extLst>
          </p:cNvPr>
          <p:cNvSpPr/>
          <p:nvPr/>
        </p:nvSpPr>
        <p:spPr>
          <a:xfrm>
            <a:off x="5154385" y="1814158"/>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1" name="Shape 10">
            <a:extLst>
              <a:ext uri="{FF2B5EF4-FFF2-40B4-BE49-F238E27FC236}">
                <a16:creationId xmlns:a16="http://schemas.microsoft.com/office/drawing/2014/main" id="{5F94C612-6888-B502-7823-012E190DAC5E}"/>
              </a:ext>
            </a:extLst>
          </p:cNvPr>
          <p:cNvSpPr/>
          <p:nvPr/>
        </p:nvSpPr>
        <p:spPr>
          <a:xfrm>
            <a:off x="5382985" y="2105293"/>
            <a:ext cx="365268" cy="377851"/>
          </a:xfrm>
          <a:prstGeom prst="ellipse">
            <a:avLst/>
          </a:prstGeom>
          <a:solidFill>
            <a:schemeClr val="accent5"/>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2</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25" name="Text 12">
            <a:extLst>
              <a:ext uri="{FF2B5EF4-FFF2-40B4-BE49-F238E27FC236}">
                <a16:creationId xmlns:a16="http://schemas.microsoft.com/office/drawing/2014/main" id="{63279BBA-A879-BA09-E7B2-0716F8DB89DB}"/>
              </a:ext>
            </a:extLst>
          </p:cNvPr>
          <p:cNvSpPr txBox="1"/>
          <p:nvPr/>
        </p:nvSpPr>
        <p:spPr>
          <a:xfrm>
            <a:off x="6023065" y="1997038"/>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効率改善（配信）</a:t>
            </a:r>
            <a:endParaRPr lang="en-US" sz="1700" dirty="0">
              <a:latin typeface="メイリオ" panose="020B0604030504040204" pitchFamily="50" charset="-128"/>
              <a:ea typeface="メイリオ" panose="020B0604030504040204" pitchFamily="50" charset="-128"/>
            </a:endParaRPr>
          </a:p>
        </p:txBody>
      </p:sp>
      <p:sp>
        <p:nvSpPr>
          <p:cNvPr id="27" name="Text 13">
            <a:extLst>
              <a:ext uri="{FF2B5EF4-FFF2-40B4-BE49-F238E27FC236}">
                <a16:creationId xmlns:a16="http://schemas.microsoft.com/office/drawing/2014/main" id="{B2834EBB-F184-C52C-D6A4-B76283F84E90}"/>
              </a:ext>
            </a:extLst>
          </p:cNvPr>
          <p:cNvSpPr txBox="1"/>
          <p:nvPr/>
        </p:nvSpPr>
        <p:spPr>
          <a:xfrm>
            <a:off x="6023065" y="2344510"/>
            <a:ext cx="3021761" cy="274320"/>
          </a:xfrm>
          <a:prstGeom prst="rect">
            <a:avLst/>
          </a:prstGeom>
          <a:noFill/>
          <a:ln/>
        </p:spPr>
        <p:txBody>
          <a:bodyPr wrap="square" lIns="0" tIns="0" rIns="0" bIns="0" rtlCol="0" anchor="ctr"/>
          <a:lstStyle/>
          <a:p>
            <a:pPr marL="0" indent="0">
              <a:buNone/>
            </a:pPr>
            <a:r>
              <a:rPr lang="en-US" sz="1100" b="1" dirty="0">
                <a:solidFill>
                  <a:schemeClr val="accent5"/>
                </a:solidFill>
                <a:latin typeface="メイリオ" panose="020B0604030504040204" pitchFamily="50" charset="-128"/>
                <a:ea typeface="メイリオ" panose="020B0604030504040204" pitchFamily="50" charset="-128"/>
                <a:cs typeface="Calibri" pitchFamily="34" charset="-120"/>
              </a:rPr>
              <a:t>ステップ配信・企画配信の設計</a:t>
            </a:r>
            <a:endParaRPr lang="en-US" sz="1100" dirty="0">
              <a:solidFill>
                <a:schemeClr val="accent5"/>
              </a:solidFill>
              <a:latin typeface="メイリオ" panose="020B0604030504040204" pitchFamily="50" charset="-128"/>
              <a:ea typeface="メイリオ" panose="020B0604030504040204" pitchFamily="50" charset="-128"/>
            </a:endParaRPr>
          </a:p>
        </p:txBody>
      </p:sp>
      <p:sp>
        <p:nvSpPr>
          <p:cNvPr id="29" name="Text 14">
            <a:extLst>
              <a:ext uri="{FF2B5EF4-FFF2-40B4-BE49-F238E27FC236}">
                <a16:creationId xmlns:a16="http://schemas.microsoft.com/office/drawing/2014/main" id="{57B1EDEB-4BA3-D781-8DE2-68F5F4A20A81}"/>
              </a:ext>
            </a:extLst>
          </p:cNvPr>
          <p:cNvSpPr txBox="1"/>
          <p:nvPr/>
        </p:nvSpPr>
        <p:spPr>
          <a:xfrm>
            <a:off x="5428705" y="2774278"/>
            <a:ext cx="3420235" cy="1051560"/>
          </a:xfrm>
          <a:prstGeom prst="rect">
            <a:avLst/>
          </a:prstGeom>
          <a:noFill/>
          <a:ln/>
        </p:spPr>
        <p:txBody>
          <a:bodyPr wrap="square" lIns="0" tIns="0" rIns="0" bIns="0" rtlCol="0" anchor="t"/>
          <a:lstStyle/>
          <a:p>
            <a:pPr marL="0" indent="0">
              <a:lnSpc>
                <a:spcPts val="16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登録後の自動ステップ配信と、セグメント別の</a:t>
            </a: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6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企画配信で、開封〜CVまでの導線を最適化する</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31" name="Shape 15">
            <a:extLst>
              <a:ext uri="{FF2B5EF4-FFF2-40B4-BE49-F238E27FC236}">
                <a16:creationId xmlns:a16="http://schemas.microsoft.com/office/drawing/2014/main" id="{756ECCA6-F7D5-C161-4122-409E50DB0B3A}"/>
              </a:ext>
            </a:extLst>
          </p:cNvPr>
          <p:cNvSpPr/>
          <p:nvPr/>
        </p:nvSpPr>
        <p:spPr>
          <a:xfrm>
            <a:off x="847998" y="3915103"/>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3" name="Shape 16">
            <a:extLst>
              <a:ext uri="{FF2B5EF4-FFF2-40B4-BE49-F238E27FC236}">
                <a16:creationId xmlns:a16="http://schemas.microsoft.com/office/drawing/2014/main" id="{752C3BA3-61AC-9915-5565-38F14554F3BD}"/>
              </a:ext>
            </a:extLst>
          </p:cNvPr>
          <p:cNvSpPr/>
          <p:nvPr/>
        </p:nvSpPr>
        <p:spPr>
          <a:xfrm>
            <a:off x="1076598" y="4206238"/>
            <a:ext cx="365268" cy="377851"/>
          </a:xfrm>
          <a:prstGeom prst="ellipse">
            <a:avLst/>
          </a:prstGeom>
          <a:solidFill>
            <a:schemeClr val="accent1"/>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3</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37" name="Text 18">
            <a:extLst>
              <a:ext uri="{FF2B5EF4-FFF2-40B4-BE49-F238E27FC236}">
                <a16:creationId xmlns:a16="http://schemas.microsoft.com/office/drawing/2014/main" id="{23D1E819-C691-D0D7-BE43-A76BB729138D}"/>
              </a:ext>
            </a:extLst>
          </p:cNvPr>
          <p:cNvSpPr txBox="1"/>
          <p:nvPr/>
        </p:nvSpPr>
        <p:spPr>
          <a:xfrm>
            <a:off x="1716678" y="4097983"/>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満足度改善（ユーザー）</a:t>
            </a:r>
            <a:endParaRPr lang="en-US" sz="1700" dirty="0">
              <a:latin typeface="メイリオ" panose="020B0604030504040204" pitchFamily="50" charset="-128"/>
              <a:ea typeface="メイリオ" panose="020B0604030504040204" pitchFamily="50" charset="-128"/>
            </a:endParaRPr>
          </a:p>
        </p:txBody>
      </p:sp>
      <p:sp>
        <p:nvSpPr>
          <p:cNvPr id="40" name="Text 19">
            <a:extLst>
              <a:ext uri="{FF2B5EF4-FFF2-40B4-BE49-F238E27FC236}">
                <a16:creationId xmlns:a16="http://schemas.microsoft.com/office/drawing/2014/main" id="{82D0FC0F-1D31-300C-7AB1-D0912A7E029E}"/>
              </a:ext>
            </a:extLst>
          </p:cNvPr>
          <p:cNvSpPr txBox="1"/>
          <p:nvPr/>
        </p:nvSpPr>
        <p:spPr>
          <a:xfrm>
            <a:off x="1716678" y="4445455"/>
            <a:ext cx="3021761" cy="274320"/>
          </a:xfrm>
          <a:prstGeom prst="rect">
            <a:avLst/>
          </a:prstGeom>
          <a:noFill/>
          <a:ln/>
        </p:spPr>
        <p:txBody>
          <a:bodyPr wrap="square" lIns="0" tIns="0" rIns="0" bIns="0" rtlCol="0" anchor="ctr"/>
          <a:lstStyle/>
          <a:p>
            <a:pPr marL="0" indent="0">
              <a:buNone/>
            </a:pPr>
            <a:r>
              <a:rPr lang="en-US" sz="1100" b="1" dirty="0">
                <a:solidFill>
                  <a:schemeClr val="accent1"/>
                </a:solidFill>
                <a:latin typeface="メイリオ" panose="020B0604030504040204" pitchFamily="50" charset="-128"/>
                <a:ea typeface="メイリオ" panose="020B0604030504040204" pitchFamily="50" charset="-128"/>
                <a:cs typeface="Calibri" pitchFamily="34" charset="-120"/>
              </a:rPr>
              <a:t>QA自動化・個別対応の強化</a:t>
            </a:r>
            <a:endParaRPr lang="en-US" sz="1100" dirty="0">
              <a:solidFill>
                <a:schemeClr val="accent1"/>
              </a:solidFill>
              <a:latin typeface="メイリオ" panose="020B0604030504040204" pitchFamily="50" charset="-128"/>
              <a:ea typeface="メイリオ" panose="020B0604030504040204" pitchFamily="50" charset="-128"/>
            </a:endParaRPr>
          </a:p>
        </p:txBody>
      </p:sp>
      <p:sp>
        <p:nvSpPr>
          <p:cNvPr id="44" name="Text 20">
            <a:extLst>
              <a:ext uri="{FF2B5EF4-FFF2-40B4-BE49-F238E27FC236}">
                <a16:creationId xmlns:a16="http://schemas.microsoft.com/office/drawing/2014/main" id="{DDC03FE7-3F21-E248-3ACE-D83BF971AA2D}"/>
              </a:ext>
            </a:extLst>
          </p:cNvPr>
          <p:cNvSpPr txBox="1"/>
          <p:nvPr/>
        </p:nvSpPr>
        <p:spPr>
          <a:xfrm>
            <a:off x="1122318" y="4875223"/>
            <a:ext cx="3420235" cy="1051560"/>
          </a:xfrm>
          <a:prstGeom prst="rect">
            <a:avLst/>
          </a:prstGeom>
          <a:noFill/>
          <a:ln/>
        </p:spPr>
        <p:txBody>
          <a:bodyPr wrap="square" lIns="0" tIns="0" rIns="0" bIns="0" rtlCol="0" anchor="t"/>
          <a:lstStyle/>
          <a:p>
            <a:pPr marL="0" indent="0">
              <a:lnSpc>
                <a:spcPts val="16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よくある質問への自動応答と、必要な場面での</a:t>
            </a: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6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個別チャット対応でユーザー体験を向上させる</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49" name="Shape 21">
            <a:extLst>
              <a:ext uri="{FF2B5EF4-FFF2-40B4-BE49-F238E27FC236}">
                <a16:creationId xmlns:a16="http://schemas.microsoft.com/office/drawing/2014/main" id="{82BACBFF-FBAA-0B5D-6800-119BCE06D8E4}"/>
              </a:ext>
            </a:extLst>
          </p:cNvPr>
          <p:cNvSpPr/>
          <p:nvPr/>
        </p:nvSpPr>
        <p:spPr>
          <a:xfrm>
            <a:off x="5154385" y="3915103"/>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53" name="Shape 22">
            <a:extLst>
              <a:ext uri="{FF2B5EF4-FFF2-40B4-BE49-F238E27FC236}">
                <a16:creationId xmlns:a16="http://schemas.microsoft.com/office/drawing/2014/main" id="{06D0A506-C06B-2472-7C9A-C6A3F8F4DE0C}"/>
              </a:ext>
            </a:extLst>
          </p:cNvPr>
          <p:cNvSpPr/>
          <p:nvPr/>
        </p:nvSpPr>
        <p:spPr>
          <a:xfrm>
            <a:off x="5382985" y="4206238"/>
            <a:ext cx="365268" cy="377851"/>
          </a:xfrm>
          <a:prstGeom prst="ellipse">
            <a:avLst/>
          </a:prstGeom>
          <a:solidFill>
            <a:srgbClr val="2C5364"/>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4</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61" name="Text 24">
            <a:extLst>
              <a:ext uri="{FF2B5EF4-FFF2-40B4-BE49-F238E27FC236}">
                <a16:creationId xmlns:a16="http://schemas.microsoft.com/office/drawing/2014/main" id="{7E387CA0-ACAD-6B69-2324-44C6B8151A62}"/>
              </a:ext>
            </a:extLst>
          </p:cNvPr>
          <p:cNvSpPr txBox="1"/>
          <p:nvPr/>
        </p:nvSpPr>
        <p:spPr>
          <a:xfrm>
            <a:off x="6023065" y="4097983"/>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効率改善（管理側）</a:t>
            </a:r>
            <a:endParaRPr lang="en-US" sz="1700" dirty="0">
              <a:latin typeface="メイリオ" panose="020B0604030504040204" pitchFamily="50" charset="-128"/>
              <a:ea typeface="メイリオ" panose="020B0604030504040204" pitchFamily="50" charset="-128"/>
            </a:endParaRPr>
          </a:p>
        </p:txBody>
      </p:sp>
      <p:sp>
        <p:nvSpPr>
          <p:cNvPr id="65" name="Text 25">
            <a:extLst>
              <a:ext uri="{FF2B5EF4-FFF2-40B4-BE49-F238E27FC236}">
                <a16:creationId xmlns:a16="http://schemas.microsoft.com/office/drawing/2014/main" id="{DD4F65C4-8B59-E246-52A4-392800008403}"/>
              </a:ext>
            </a:extLst>
          </p:cNvPr>
          <p:cNvSpPr txBox="1"/>
          <p:nvPr/>
        </p:nvSpPr>
        <p:spPr>
          <a:xfrm>
            <a:off x="6023065" y="4445455"/>
            <a:ext cx="3021761" cy="274320"/>
          </a:xfrm>
          <a:prstGeom prst="rect">
            <a:avLst/>
          </a:prstGeom>
          <a:noFill/>
          <a:ln/>
        </p:spPr>
        <p:txBody>
          <a:bodyPr wrap="square" lIns="0" tIns="0" rIns="0" bIns="0" rtlCol="0" anchor="ctr"/>
          <a:lstStyle/>
          <a:p>
            <a:pPr marL="0" indent="0">
              <a:buNone/>
            </a:pPr>
            <a:r>
              <a:rPr lang="en-US" sz="1100" b="1" dirty="0">
                <a:solidFill>
                  <a:srgbClr val="2C5364"/>
                </a:solidFill>
                <a:latin typeface="メイリオ" panose="020B0604030504040204" pitchFamily="50" charset="-128"/>
                <a:ea typeface="メイリオ" panose="020B0604030504040204" pitchFamily="50" charset="-128"/>
                <a:cs typeface="Calibri" pitchFamily="34" charset="-120"/>
              </a:rPr>
              <a:t>自動応答・運用負荷の軽減</a:t>
            </a:r>
            <a:endParaRPr lang="en-US" sz="1100" dirty="0">
              <a:latin typeface="メイリオ" panose="020B0604030504040204" pitchFamily="50" charset="-128"/>
              <a:ea typeface="メイリオ" panose="020B0604030504040204" pitchFamily="50" charset="-128"/>
            </a:endParaRPr>
          </a:p>
        </p:txBody>
      </p:sp>
      <p:sp>
        <p:nvSpPr>
          <p:cNvPr id="69" name="Text 26">
            <a:extLst>
              <a:ext uri="{FF2B5EF4-FFF2-40B4-BE49-F238E27FC236}">
                <a16:creationId xmlns:a16="http://schemas.microsoft.com/office/drawing/2014/main" id="{BF1F9D45-7BE1-B51C-A85A-C438E8EC236C}"/>
              </a:ext>
            </a:extLst>
          </p:cNvPr>
          <p:cNvSpPr txBox="1"/>
          <p:nvPr/>
        </p:nvSpPr>
        <p:spPr>
          <a:xfrm>
            <a:off x="5428705" y="4875223"/>
            <a:ext cx="3420235" cy="1051560"/>
          </a:xfrm>
          <a:prstGeom prst="rect">
            <a:avLst/>
          </a:prstGeom>
          <a:noFill/>
          <a:ln/>
        </p:spPr>
        <p:txBody>
          <a:bodyPr wrap="square" lIns="0" tIns="0" rIns="0" bIns="0" rtlCol="0" anchor="t"/>
          <a:lstStyle/>
          <a:p>
            <a:pPr marL="0" indent="0">
              <a:lnSpc>
                <a:spcPts val="1600"/>
              </a:lnSpc>
              <a:buNone/>
            </a:pP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自動応答の仕組み化や運用フローの整備により、管理側の対応工数を削減する。</a:t>
            </a:r>
            <a:endParaRPr lang="en-US" sz="1200" dirty="0">
              <a:latin typeface="メイリオ" panose="020B0604030504040204" pitchFamily="50" charset="-128"/>
              <a:ea typeface="メイリオ" panose="020B0604030504040204" pitchFamily="50" charset="-128"/>
            </a:endParaRPr>
          </a:p>
        </p:txBody>
      </p:sp>
      <p:sp>
        <p:nvSpPr>
          <p:cNvPr id="73" name="テキスト ボックス 72">
            <a:extLst>
              <a:ext uri="{FF2B5EF4-FFF2-40B4-BE49-F238E27FC236}">
                <a16:creationId xmlns:a16="http://schemas.microsoft.com/office/drawing/2014/main" id="{C1E39E92-BE3C-9C91-B84F-53B25B9196F1}"/>
              </a:ext>
            </a:extLst>
          </p:cNvPr>
          <p:cNvSpPr txBox="1"/>
          <p:nvPr/>
        </p:nvSpPr>
        <p:spPr>
          <a:xfrm>
            <a:off x="561786" y="882657"/>
            <a:ext cx="8797260" cy="523220"/>
          </a:xfrm>
          <a:prstGeom prst="rect">
            <a:avLst/>
          </a:prstGeom>
          <a:noFill/>
        </p:spPr>
        <p:txBody>
          <a:bodyPr wrap="square">
            <a:spAutoFit/>
          </a:bodyPr>
          <a:lstStyle/>
          <a:p>
            <a:pPr algn="ct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DYM</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では基本的に①②の施策を中心に展開させていただきながら、</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事業会社ならではの③④におけるノウハウ共有等が可能です。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379755298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47C615-BEE8-3B16-A209-225180EB573F}"/>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93A1A5A-4695-1785-1F7A-2FFF7723D881}"/>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F088CF0-DAD8-024E-9D5D-9E8A5A7610A5}"/>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BCFC8F68-E536-2BAD-437B-4F354ADD7BAF}"/>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前提整理</a:t>
            </a:r>
          </a:p>
        </p:txBody>
      </p:sp>
      <p:sp>
        <p:nvSpPr>
          <p:cNvPr id="5" name="Heading">
            <a:extLst>
              <a:ext uri="{FF2B5EF4-FFF2-40B4-BE49-F238E27FC236}">
                <a16:creationId xmlns:a16="http://schemas.microsoft.com/office/drawing/2014/main" id="{412505BE-7AC7-15E1-7427-2273456C3176}"/>
              </a:ext>
            </a:extLst>
          </p:cNvPr>
          <p:cNvSpPr txBox="1"/>
          <p:nvPr/>
        </p:nvSpPr>
        <p:spPr>
          <a:xfrm>
            <a:off x="365143" y="835933"/>
            <a:ext cx="9144000" cy="279400"/>
          </a:xfrm>
          <a:prstGeom prst="rect">
            <a:avLst/>
          </a:prstGeom>
          <a:noFill/>
          <a:ln>
            <a:noFill/>
          </a:ln>
        </p:spPr>
        <p:txBody>
          <a:bodyPr wrap="square" lIns="101600" tIns="76200" rIns="101600" bIns="76200" anchor="t"/>
          <a:lstStyle/>
          <a:p>
            <a:pPr>
              <a:buNone/>
            </a:pPr>
            <a:r>
              <a:rPr lang="ja-JP" sz="1400" b="1" dirty="0">
                <a:solidFill>
                  <a:srgbClr val="1F2A5C"/>
                </a:solidFill>
                <a:latin typeface="メイリオ" panose="020B0604030504040204" pitchFamily="50" charset="-128"/>
                <a:ea typeface="メイリオ" panose="020B0604030504040204" pitchFamily="50" charset="-128"/>
              </a:rPr>
              <a:t>LINE運用ツール</a:t>
            </a:r>
            <a:r>
              <a:rPr lang="ja-JP" altLang="en-US" sz="1400" b="1" dirty="0">
                <a:solidFill>
                  <a:srgbClr val="1F2A5C"/>
                </a:solidFill>
                <a:latin typeface="メイリオ" panose="020B0604030504040204" pitchFamily="50" charset="-128"/>
                <a:ea typeface="メイリオ" panose="020B0604030504040204" pitchFamily="50" charset="-128"/>
              </a:rPr>
              <a:t>の選定</a:t>
            </a:r>
            <a:endParaRPr lang="ja-JP" sz="1400" b="1" dirty="0">
              <a:solidFill>
                <a:srgbClr val="1F2A5C"/>
              </a:solidFill>
              <a:latin typeface="メイリオ" panose="020B0604030504040204" pitchFamily="50" charset="-128"/>
              <a:ea typeface="メイリオ" panose="020B0604030504040204" pitchFamily="50" charset="-128"/>
            </a:endParaRPr>
          </a:p>
        </p:txBody>
      </p:sp>
      <p:sp>
        <p:nvSpPr>
          <p:cNvPr id="7" name="LeftHeader">
            <a:extLst>
              <a:ext uri="{FF2B5EF4-FFF2-40B4-BE49-F238E27FC236}">
                <a16:creationId xmlns:a16="http://schemas.microsoft.com/office/drawing/2014/main" id="{7E8BB5F2-25D8-6C40-B6B8-51E193FDD0D5}"/>
              </a:ext>
            </a:extLst>
          </p:cNvPr>
          <p:cNvSpPr txBox="1"/>
          <p:nvPr/>
        </p:nvSpPr>
        <p:spPr>
          <a:xfrm>
            <a:off x="381000" y="1320738"/>
            <a:ext cx="4445000" cy="381000"/>
          </a:xfrm>
          <a:prstGeom prst="rect">
            <a:avLst/>
          </a:prstGeom>
          <a:solidFill>
            <a:srgbClr val="1F2A5C"/>
          </a:solidFill>
          <a:ln>
            <a:noFill/>
          </a:ln>
        </p:spPr>
        <p:txBody>
          <a:bodyPr wrap="square" lIns="152400" tIns="76200" rIns="152400" bIns="76200" anchor="ct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なし </a:t>
            </a:r>
            <a:r>
              <a:rPr lang="en-US" altLang="ja-JP" sz="1000" dirty="0">
                <a:solidFill>
                  <a:srgbClr val="FFFFFF"/>
                </a:solidFill>
                <a:latin typeface="メイリオ" panose="020B0604030504040204" pitchFamily="50" charset="-128"/>
                <a:ea typeface="メイリオ" panose="020B0604030504040204" pitchFamily="50" charset="-128"/>
              </a:rPr>
              <a:t>※OAM</a:t>
            </a:r>
            <a:r>
              <a:rPr lang="ja-JP" altLang="en-US" sz="1000" dirty="0">
                <a:solidFill>
                  <a:srgbClr val="FFFFFF"/>
                </a:solidFill>
                <a:latin typeface="メイリオ" panose="020B0604030504040204" pitchFamily="50" charset="-128"/>
                <a:ea typeface="メイリオ" panose="020B0604030504040204" pitchFamily="50" charset="-128"/>
              </a:rPr>
              <a:t>にて運用する</a:t>
            </a:r>
            <a:endParaRPr lang="ja-JP" sz="1400" dirty="0">
              <a:solidFill>
                <a:srgbClr val="FFFFFF"/>
              </a:solidFill>
              <a:latin typeface="メイリオ" panose="020B0604030504040204" pitchFamily="50" charset="-128"/>
              <a:ea typeface="メイリオ" panose="020B0604030504040204" pitchFamily="50" charset="-128"/>
            </a:endParaRPr>
          </a:p>
        </p:txBody>
      </p:sp>
      <p:sp>
        <p:nvSpPr>
          <p:cNvPr id="11" name="RightHeader">
            <a:extLst>
              <a:ext uri="{FF2B5EF4-FFF2-40B4-BE49-F238E27FC236}">
                <a16:creationId xmlns:a16="http://schemas.microsoft.com/office/drawing/2014/main" id="{51D83F88-8CDC-20C8-A161-92ACE9AE14FE}"/>
              </a:ext>
            </a:extLst>
          </p:cNvPr>
          <p:cNvSpPr txBox="1"/>
          <p:nvPr/>
        </p:nvSpPr>
        <p:spPr>
          <a:xfrm>
            <a:off x="5080000" y="1320738"/>
            <a:ext cx="4445000" cy="381000"/>
          </a:xfrm>
          <a:prstGeom prst="rect">
            <a:avLst/>
          </a:prstGeom>
          <a:solidFill>
            <a:srgbClr val="00B050"/>
          </a:solidFill>
          <a:ln>
            <a:noFill/>
          </a:ln>
        </p:spPr>
        <p:txBody>
          <a:bodyPr wrap="square" lIns="152400" tIns="76200" rIns="152400" bIns="76200" anchor="ct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あり</a:t>
            </a:r>
            <a:r>
              <a:rPr lang="ja-JP" altLang="en-US" sz="1400" dirty="0">
                <a:solidFill>
                  <a:srgbClr val="FFFFFF"/>
                </a:solidFill>
                <a:latin typeface="メイリオ" panose="020B0604030504040204" pitchFamily="50" charset="-128"/>
                <a:ea typeface="メイリオ" panose="020B0604030504040204" pitchFamily="50" charset="-128"/>
              </a:rPr>
              <a:t> </a:t>
            </a:r>
            <a:r>
              <a:rPr lang="en-US" altLang="ja-JP" sz="1100" dirty="0">
                <a:solidFill>
                  <a:srgbClr val="FFFFFF"/>
                </a:solidFill>
                <a:latin typeface="メイリオ" panose="020B0604030504040204" pitchFamily="50" charset="-128"/>
                <a:ea typeface="メイリオ" panose="020B0604030504040204" pitchFamily="50" charset="-128"/>
              </a:rPr>
              <a:t>※</a:t>
            </a:r>
            <a:r>
              <a:rPr lang="en-US" altLang="ja-JP" sz="1100" dirty="0" err="1">
                <a:solidFill>
                  <a:srgbClr val="FFFFFF"/>
                </a:solidFill>
                <a:latin typeface="メイリオ" panose="020B0604030504040204" pitchFamily="50" charset="-128"/>
                <a:ea typeface="メイリオ" panose="020B0604030504040204" pitchFamily="50" charset="-128"/>
              </a:rPr>
              <a:t>Lstep</a:t>
            </a:r>
            <a:r>
              <a:rPr lang="ja-JP" altLang="en-US" sz="1100" dirty="0">
                <a:solidFill>
                  <a:srgbClr val="FFFFFF"/>
                </a:solidFill>
                <a:latin typeface="メイリオ" panose="020B0604030504040204" pitchFamily="50" charset="-128"/>
                <a:ea typeface="メイリオ" panose="020B0604030504040204" pitchFamily="50" charset="-128"/>
              </a:rPr>
              <a:t>など汎用的なもの</a:t>
            </a:r>
            <a:endParaRPr lang="ja-JP" sz="1400" dirty="0">
              <a:solidFill>
                <a:srgbClr val="FFFFFF"/>
              </a:solidFill>
              <a:latin typeface="メイリオ" panose="020B0604030504040204" pitchFamily="50" charset="-128"/>
              <a:ea typeface="メイリオ" panose="020B0604030504040204" pitchFamily="50" charset="-128"/>
            </a:endParaRPr>
          </a:p>
        </p:txBody>
      </p:sp>
      <p:sp>
        <p:nvSpPr>
          <p:cNvPr id="15" name="Conclusion">
            <a:extLst>
              <a:ext uri="{FF2B5EF4-FFF2-40B4-BE49-F238E27FC236}">
                <a16:creationId xmlns:a16="http://schemas.microsoft.com/office/drawing/2014/main" id="{C4320929-5504-DE1B-B0F4-5AA55B09745C}"/>
              </a:ext>
            </a:extLst>
          </p:cNvPr>
          <p:cNvSpPr txBox="1"/>
          <p:nvPr/>
        </p:nvSpPr>
        <p:spPr>
          <a:xfrm>
            <a:off x="396857" y="4978338"/>
            <a:ext cx="9144000" cy="812800"/>
          </a:xfrm>
          <a:prstGeom prst="rect">
            <a:avLst/>
          </a:prstGeom>
          <a:solidFill>
            <a:srgbClr val="F0F2F7"/>
          </a:solidFill>
          <a:ln>
            <a:noFill/>
          </a:ln>
        </p:spPr>
        <p:txBody>
          <a:bodyPr wrap="square" lIns="177800" tIns="127000" rIns="177800" bIns="127000" anchor="t"/>
          <a:lstStyle/>
          <a:p>
            <a:pPr>
              <a:buNone/>
            </a:pPr>
            <a:r>
              <a:rPr lang="ja-JP" sz="1200" b="1" dirty="0">
                <a:solidFill>
                  <a:srgbClr val="1F2A5C"/>
                </a:solidFill>
                <a:latin typeface="メイリオ" panose="020B0604030504040204" pitchFamily="50" charset="-128"/>
                <a:ea typeface="メイリオ" panose="020B0604030504040204" pitchFamily="50" charset="-128"/>
              </a:rPr>
              <a:t>結論・推奨</a:t>
            </a:r>
          </a:p>
          <a:p>
            <a:pPr>
              <a:spcBef>
                <a:spcPts val="200"/>
              </a:spcBef>
              <a:buNone/>
            </a:pPr>
            <a:r>
              <a:rPr lang="ja-JP" sz="1200" dirty="0">
                <a:solidFill>
                  <a:srgbClr val="333333"/>
                </a:solidFill>
                <a:latin typeface="メイリオ" panose="020B0604030504040204" pitchFamily="50" charset="-128"/>
                <a:ea typeface="メイリオ" panose="020B0604030504040204" pitchFamily="50" charset="-128"/>
              </a:rPr>
              <a:t>API連携の有無が今後のデータ活用</a:t>
            </a:r>
            <a:r>
              <a:rPr lang="ja-JP" altLang="en-US" sz="1200" dirty="0">
                <a:solidFill>
                  <a:srgbClr val="333333"/>
                </a:solidFill>
                <a:latin typeface="メイリオ" panose="020B0604030504040204" pitchFamily="50" charset="-128"/>
                <a:ea typeface="メイリオ" panose="020B0604030504040204" pitchFamily="50" charset="-128"/>
              </a:rPr>
              <a:t>や、詳細なセグメント設定</a:t>
            </a:r>
            <a:r>
              <a:rPr lang="ja-JP" sz="1200" dirty="0">
                <a:solidFill>
                  <a:srgbClr val="333333"/>
                </a:solidFill>
                <a:latin typeface="メイリオ" panose="020B0604030504040204" pitchFamily="50" charset="-128"/>
                <a:ea typeface="メイリオ" panose="020B0604030504040204" pitchFamily="50" charset="-128"/>
              </a:rPr>
              <a:t>を左右する</a:t>
            </a:r>
            <a:r>
              <a:rPr lang="ja-JP" altLang="en-US" sz="1200" dirty="0">
                <a:solidFill>
                  <a:srgbClr val="333333"/>
                </a:solidFill>
                <a:latin typeface="メイリオ" panose="020B0604030504040204" pitchFamily="50" charset="-128"/>
                <a:ea typeface="メイリオ" panose="020B0604030504040204" pitchFamily="50" charset="-128"/>
              </a:rPr>
              <a:t>。</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None/>
            </a:pPr>
            <a:r>
              <a:rPr lang="ja-JP" altLang="en-US" sz="1200" dirty="0">
                <a:solidFill>
                  <a:srgbClr val="333333"/>
                </a:solidFill>
                <a:latin typeface="メイリオ" panose="020B0604030504040204" pitchFamily="50" charset="-128"/>
                <a:ea typeface="メイリオ" panose="020B0604030504040204" pitchFamily="50" charset="-128"/>
              </a:rPr>
              <a:t>ユーザーアンケートを活用して、利用ステータスやユーザー情報の回収→配信に活用といったフローを踏みたいところ。</a:t>
            </a: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23" name="LeftBody">
            <a:extLst>
              <a:ext uri="{FF2B5EF4-FFF2-40B4-BE49-F238E27FC236}">
                <a16:creationId xmlns:a16="http://schemas.microsoft.com/office/drawing/2014/main" id="{359AC927-F2C5-652F-EEA1-6D298DADB703}"/>
              </a:ext>
            </a:extLst>
          </p:cNvPr>
          <p:cNvSpPr txBox="1"/>
          <p:nvPr/>
        </p:nvSpPr>
        <p:spPr>
          <a:xfrm>
            <a:off x="381000" y="1701738"/>
            <a:ext cx="4445000" cy="980502"/>
          </a:xfrm>
          <a:prstGeom prst="rect">
            <a:avLst/>
          </a:prstGeom>
          <a:solidFill>
            <a:srgbClr val="F5F7FA"/>
          </a:solidFill>
          <a:ln w="6350">
            <a:solidFill>
              <a:srgbClr val="D1D8E0"/>
            </a:solidFill>
          </a:ln>
        </p:spPr>
        <p:txBody>
          <a:bodyPr wrap="square" lIns="177800" tIns="152400" rIns="177800" bIns="152400" anchor="t"/>
          <a:lstStyle/>
          <a:p>
            <a:pPr>
              <a:buNone/>
            </a:pPr>
            <a:r>
              <a:rPr lang="ja-JP" sz="1200" b="1" dirty="0">
                <a:solidFill>
                  <a:srgbClr val="1F2A5C"/>
                </a:solidFill>
                <a:latin typeface="メイリオ" panose="020B0604030504040204" pitchFamily="50" charset="-128"/>
                <a:ea typeface="メイリオ" panose="020B0604030504040204" pitchFamily="50" charset="-128"/>
              </a:rPr>
              <a:t>特徴</a:t>
            </a:r>
          </a:p>
          <a:p>
            <a:pPr>
              <a:spcBef>
                <a:spcPts val="200"/>
              </a:spcBef>
              <a:buClr>
                <a:srgbClr val="1F2A5C"/>
              </a:buClr>
            </a:pPr>
            <a:r>
              <a:rPr lang="ja-JP" altLang="en-US" sz="1200" dirty="0">
                <a:solidFill>
                  <a:srgbClr val="333333"/>
                </a:solidFill>
                <a:latin typeface="メイリオ" panose="020B0604030504040204" pitchFamily="50" charset="-128"/>
                <a:ea typeface="メイリオ" panose="020B0604030504040204" pitchFamily="50" charset="-128"/>
              </a:rPr>
              <a:t>コストが最小限に抑えられる</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1F2A5C"/>
              </a:buClr>
            </a:pPr>
            <a:endParaRPr lang="en-US" altLang="ja-JP" sz="1200" b="1" dirty="0">
              <a:solidFill>
                <a:srgbClr val="333333"/>
              </a:solidFill>
              <a:latin typeface="メイリオ" panose="020B0604030504040204" pitchFamily="50" charset="-128"/>
              <a:ea typeface="メイリオ" panose="020B0604030504040204" pitchFamily="50" charset="-128"/>
            </a:endParaRPr>
          </a:p>
        </p:txBody>
      </p:sp>
      <p:sp>
        <p:nvSpPr>
          <p:cNvPr id="25" name="RightBody">
            <a:extLst>
              <a:ext uri="{FF2B5EF4-FFF2-40B4-BE49-F238E27FC236}">
                <a16:creationId xmlns:a16="http://schemas.microsoft.com/office/drawing/2014/main" id="{5C2B33B3-486B-54AD-7340-8E91653B11C6}"/>
              </a:ext>
            </a:extLst>
          </p:cNvPr>
          <p:cNvSpPr txBox="1"/>
          <p:nvPr/>
        </p:nvSpPr>
        <p:spPr>
          <a:xfrm>
            <a:off x="5080000" y="1701738"/>
            <a:ext cx="4445000" cy="980502"/>
          </a:xfrm>
          <a:prstGeom prst="rect">
            <a:avLst/>
          </a:prstGeom>
          <a:solidFill>
            <a:srgbClr val="FFFFFF"/>
          </a:solidFill>
          <a:ln w="12700">
            <a:solidFill>
              <a:srgbClr val="00B050"/>
            </a:solidFill>
          </a:ln>
        </p:spPr>
        <p:txBody>
          <a:bodyPr wrap="square" lIns="177800" tIns="152400" rIns="177800" bIns="152400" anchor="t"/>
          <a:lstStyle/>
          <a:p>
            <a:pPr>
              <a:buNone/>
            </a:pPr>
            <a:r>
              <a:rPr lang="ja-JP" sz="1200" b="1" dirty="0">
                <a:solidFill>
                  <a:srgbClr val="00B050"/>
                </a:solidFill>
                <a:latin typeface="メイリオ" panose="020B0604030504040204" pitchFamily="50" charset="-128"/>
                <a:ea typeface="メイリオ" panose="020B0604030504040204" pitchFamily="50" charset="-128"/>
              </a:rPr>
              <a:t>特徴</a:t>
            </a:r>
          </a:p>
          <a:p>
            <a:pPr>
              <a:spcBef>
                <a:spcPts val="200"/>
              </a:spcBef>
              <a:buClr>
                <a:srgbClr val="C8102E"/>
              </a:buClr>
            </a:pPr>
            <a:r>
              <a:rPr lang="ja-JP" sz="1200" dirty="0">
                <a:solidFill>
                  <a:srgbClr val="333333"/>
                </a:solidFill>
                <a:latin typeface="メイリオ" panose="020B0604030504040204" pitchFamily="50" charset="-128"/>
                <a:ea typeface="メイリオ" panose="020B0604030504040204" pitchFamily="50" charset="-128"/>
              </a:rPr>
              <a:t>API連携を前提としたステップ配信に強み</a:t>
            </a:r>
          </a:p>
          <a:p>
            <a:pPr>
              <a:spcBef>
                <a:spcPts val="200"/>
              </a:spcBef>
              <a:buClr>
                <a:srgbClr val="C8102E"/>
              </a:buClr>
            </a:pPr>
            <a:r>
              <a:rPr lang="ja-JP" sz="1200" dirty="0">
                <a:solidFill>
                  <a:srgbClr val="333333"/>
                </a:solidFill>
                <a:latin typeface="メイリオ" panose="020B0604030504040204" pitchFamily="50" charset="-128"/>
                <a:ea typeface="メイリオ" panose="020B0604030504040204" pitchFamily="50" charset="-128"/>
              </a:rPr>
              <a:t>セグメント配信・タグ管理も柔軟に設計可能</a:t>
            </a:r>
          </a:p>
          <a:p>
            <a:pPr>
              <a:spcBef>
                <a:spcPts val="600"/>
              </a:spcBef>
              <a:buNone/>
            </a:pP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31" name="LeftBody">
            <a:extLst>
              <a:ext uri="{FF2B5EF4-FFF2-40B4-BE49-F238E27FC236}">
                <a16:creationId xmlns:a16="http://schemas.microsoft.com/office/drawing/2014/main" id="{C22CD48D-CDD7-8246-0A2F-0204B2112294}"/>
              </a:ext>
            </a:extLst>
          </p:cNvPr>
          <p:cNvSpPr txBox="1"/>
          <p:nvPr/>
        </p:nvSpPr>
        <p:spPr>
          <a:xfrm>
            <a:off x="396857" y="2743201"/>
            <a:ext cx="4445000" cy="980502"/>
          </a:xfrm>
          <a:prstGeom prst="rect">
            <a:avLst/>
          </a:prstGeom>
          <a:solidFill>
            <a:srgbClr val="F5F7FA"/>
          </a:solidFill>
          <a:ln w="6350">
            <a:solidFill>
              <a:srgbClr val="D1D8E0"/>
            </a:solidFill>
          </a:ln>
        </p:spPr>
        <p:txBody>
          <a:bodyPr wrap="square" lIns="177800" tIns="152400" rIns="177800" bIns="152400" anchor="t"/>
          <a:lstStyle/>
          <a:p>
            <a:pPr>
              <a:spcBef>
                <a:spcPts val="600"/>
              </a:spcBef>
              <a:buNone/>
            </a:pPr>
            <a:r>
              <a:rPr lang="ja-JP" sz="1200" b="1" dirty="0">
                <a:solidFill>
                  <a:srgbClr val="1F2A5C"/>
                </a:solidFill>
                <a:latin typeface="メイリオ" panose="020B0604030504040204" pitchFamily="50" charset="-128"/>
                <a:ea typeface="メイリオ" panose="020B0604030504040204" pitchFamily="50" charset="-128"/>
              </a:rPr>
              <a:t>メリット</a:t>
            </a:r>
          </a:p>
          <a:p>
            <a:pPr>
              <a:spcBef>
                <a:spcPts val="200"/>
              </a:spcBef>
              <a:buClr>
                <a:srgbClr val="1F2A5C"/>
              </a:buClr>
            </a:pPr>
            <a:r>
              <a:rPr lang="ja-JP" sz="1200" dirty="0">
                <a:solidFill>
                  <a:srgbClr val="333333"/>
                </a:solidFill>
                <a:latin typeface="メイリオ" panose="020B0604030504040204" pitchFamily="50" charset="-128"/>
                <a:ea typeface="メイリオ" panose="020B0604030504040204" pitchFamily="50" charset="-128"/>
              </a:rPr>
              <a:t>顧客情報を活かしたセグメント配信が可能</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1F2A5C"/>
              </a:buClr>
            </a:pPr>
            <a:r>
              <a:rPr lang="ja-JP" altLang="en-US" sz="1200" dirty="0">
                <a:solidFill>
                  <a:srgbClr val="333333"/>
                </a:solidFill>
                <a:latin typeface="メイリオ" panose="020B0604030504040204" pitchFamily="50" charset="-128"/>
                <a:ea typeface="メイリオ" panose="020B0604030504040204" pitchFamily="50" charset="-128"/>
              </a:rPr>
              <a:t>画一的な管理であれば導入が可能</a:t>
            </a: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33" name="RightBody">
            <a:extLst>
              <a:ext uri="{FF2B5EF4-FFF2-40B4-BE49-F238E27FC236}">
                <a16:creationId xmlns:a16="http://schemas.microsoft.com/office/drawing/2014/main" id="{33E816DC-7F71-9436-3A2A-835086253EF7}"/>
              </a:ext>
            </a:extLst>
          </p:cNvPr>
          <p:cNvSpPr txBox="1"/>
          <p:nvPr/>
        </p:nvSpPr>
        <p:spPr>
          <a:xfrm>
            <a:off x="5095857" y="2743201"/>
            <a:ext cx="4445000" cy="980502"/>
          </a:xfrm>
          <a:prstGeom prst="rect">
            <a:avLst/>
          </a:prstGeom>
          <a:solidFill>
            <a:srgbClr val="FFFFFF"/>
          </a:solidFill>
          <a:ln w="12700">
            <a:solidFill>
              <a:srgbClr val="00B050"/>
            </a:solidFill>
          </a:ln>
        </p:spPr>
        <p:txBody>
          <a:bodyPr wrap="square" lIns="177800" tIns="152400" rIns="177800" bIns="152400" anchor="t"/>
          <a:lstStyle/>
          <a:p>
            <a:pPr>
              <a:spcBef>
                <a:spcPts val="600"/>
              </a:spcBef>
              <a:buNone/>
            </a:pPr>
            <a:r>
              <a:rPr lang="ja-JP" sz="1200" b="1" dirty="0">
                <a:solidFill>
                  <a:srgbClr val="00B050"/>
                </a:solidFill>
                <a:latin typeface="メイリオ" panose="020B0604030504040204" pitchFamily="50" charset="-128"/>
                <a:ea typeface="メイリオ" panose="020B0604030504040204" pitchFamily="50" charset="-128"/>
              </a:rPr>
              <a:t>メリット</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C8102E"/>
              </a:buClr>
            </a:pPr>
            <a:r>
              <a:rPr lang="ja-JP" sz="1200" dirty="0">
                <a:solidFill>
                  <a:srgbClr val="333333"/>
                </a:solidFill>
                <a:latin typeface="メイリオ" panose="020B0604030504040204" pitchFamily="50" charset="-128"/>
                <a:ea typeface="メイリオ" panose="020B0604030504040204" pitchFamily="50" charset="-128"/>
              </a:rPr>
              <a:t>経過日数・タグ条件を組み合わせた配信設計が可能</a:t>
            </a:r>
          </a:p>
          <a:p>
            <a:pPr>
              <a:spcBef>
                <a:spcPts val="200"/>
              </a:spcBef>
              <a:buClr>
                <a:srgbClr val="C8102E"/>
              </a:buClr>
            </a:pPr>
            <a:r>
              <a:rPr lang="ja-JP" sz="1200" dirty="0">
                <a:solidFill>
                  <a:srgbClr val="333333"/>
                </a:solidFill>
                <a:latin typeface="メイリオ" panose="020B0604030504040204" pitchFamily="50" charset="-128"/>
                <a:ea typeface="メイリオ" panose="020B0604030504040204" pitchFamily="50" charset="-128"/>
              </a:rPr>
              <a:t>API連携により外部データとの連携もしやすい</a:t>
            </a:r>
          </a:p>
          <a:p>
            <a:pPr>
              <a:spcBef>
                <a:spcPts val="600"/>
              </a:spcBef>
              <a:buNone/>
            </a:pP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35" name="LeftBody">
            <a:extLst>
              <a:ext uri="{FF2B5EF4-FFF2-40B4-BE49-F238E27FC236}">
                <a16:creationId xmlns:a16="http://schemas.microsoft.com/office/drawing/2014/main" id="{C28C8264-FFE5-64B4-9624-4781A568525A}"/>
              </a:ext>
            </a:extLst>
          </p:cNvPr>
          <p:cNvSpPr txBox="1"/>
          <p:nvPr/>
        </p:nvSpPr>
        <p:spPr>
          <a:xfrm>
            <a:off x="396857" y="3784664"/>
            <a:ext cx="4445000" cy="980502"/>
          </a:xfrm>
          <a:prstGeom prst="rect">
            <a:avLst/>
          </a:prstGeom>
          <a:solidFill>
            <a:srgbClr val="F5F7FA"/>
          </a:solidFill>
          <a:ln w="6350">
            <a:solidFill>
              <a:srgbClr val="D1D8E0"/>
            </a:solidFill>
          </a:ln>
        </p:spPr>
        <p:txBody>
          <a:bodyPr wrap="square" lIns="177800" tIns="152400" rIns="177800" bIns="152400" anchor="t"/>
          <a:lstStyle/>
          <a:p>
            <a:pPr>
              <a:spcBef>
                <a:spcPts val="600"/>
              </a:spcBef>
              <a:buNone/>
            </a:pPr>
            <a:r>
              <a:rPr lang="ja-JP" sz="1200" b="1" dirty="0">
                <a:solidFill>
                  <a:srgbClr val="1F2A5C"/>
                </a:solidFill>
                <a:latin typeface="メイリオ" panose="020B0604030504040204" pitchFamily="50" charset="-128"/>
                <a:ea typeface="メイリオ" panose="020B0604030504040204" pitchFamily="50" charset="-128"/>
              </a:rPr>
              <a:t>デメリット</a:t>
            </a:r>
          </a:p>
          <a:p>
            <a:pPr>
              <a:spcBef>
                <a:spcPts val="200"/>
              </a:spcBef>
              <a:buClr>
                <a:srgbClr val="1F2A5C"/>
              </a:buClr>
            </a:pPr>
            <a:r>
              <a:rPr lang="ja-JP" sz="1200" dirty="0">
                <a:solidFill>
                  <a:srgbClr val="333333"/>
                </a:solidFill>
                <a:latin typeface="メイリオ" panose="020B0604030504040204" pitchFamily="50" charset="-128"/>
                <a:ea typeface="メイリオ" panose="020B0604030504040204" pitchFamily="50" charset="-128"/>
              </a:rPr>
              <a:t>現状LINEとAPI連携ができておらず、データ活用が限定的</a:t>
            </a:r>
          </a:p>
        </p:txBody>
      </p:sp>
      <p:sp>
        <p:nvSpPr>
          <p:cNvPr id="37" name="RightBody">
            <a:extLst>
              <a:ext uri="{FF2B5EF4-FFF2-40B4-BE49-F238E27FC236}">
                <a16:creationId xmlns:a16="http://schemas.microsoft.com/office/drawing/2014/main" id="{CD03D279-8570-6C99-6FEA-8EDFE942CC76}"/>
              </a:ext>
            </a:extLst>
          </p:cNvPr>
          <p:cNvSpPr txBox="1"/>
          <p:nvPr/>
        </p:nvSpPr>
        <p:spPr>
          <a:xfrm>
            <a:off x="5095857" y="3784664"/>
            <a:ext cx="4445000" cy="980502"/>
          </a:xfrm>
          <a:prstGeom prst="rect">
            <a:avLst/>
          </a:prstGeom>
          <a:solidFill>
            <a:srgbClr val="FFFFFF"/>
          </a:solidFill>
          <a:ln w="12700">
            <a:solidFill>
              <a:srgbClr val="00B050"/>
            </a:solidFill>
          </a:ln>
        </p:spPr>
        <p:txBody>
          <a:bodyPr wrap="square" lIns="177800" tIns="152400" rIns="177800" bIns="152400" anchor="t"/>
          <a:lstStyle/>
          <a:p>
            <a:pPr>
              <a:spcBef>
                <a:spcPts val="600"/>
              </a:spcBef>
              <a:buNone/>
            </a:pPr>
            <a:r>
              <a:rPr lang="ja-JP" sz="1200" b="1" dirty="0">
                <a:solidFill>
                  <a:srgbClr val="00B050"/>
                </a:solidFill>
                <a:latin typeface="メイリオ" panose="020B0604030504040204" pitchFamily="50" charset="-128"/>
                <a:ea typeface="メイリオ" panose="020B0604030504040204" pitchFamily="50" charset="-128"/>
              </a:rPr>
              <a:t>デメリット</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C8102E"/>
              </a:buClr>
            </a:pPr>
            <a:r>
              <a:rPr lang="ja-JP" sz="1200" dirty="0">
                <a:solidFill>
                  <a:srgbClr val="333333"/>
                </a:solidFill>
                <a:latin typeface="メイリオ" panose="020B0604030504040204" pitchFamily="50" charset="-128"/>
                <a:ea typeface="メイリオ" panose="020B0604030504040204" pitchFamily="50" charset="-128"/>
              </a:rPr>
              <a:t>移行には初期設定・データ移行の工数が発生</a:t>
            </a:r>
          </a:p>
        </p:txBody>
      </p:sp>
    </p:spTree>
    <p:extLst>
      <p:ext uri="{BB962C8B-B14F-4D97-AF65-F5344CB8AC3E}">
        <p14:creationId xmlns:p14="http://schemas.microsoft.com/office/powerpoint/2010/main" val="416138737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64C018-2F1E-8306-707D-71C186D40816}"/>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0CBE7AF1-A707-0419-01A2-C566FDAD2E7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40D60058-2F60-08D5-B4FD-0E0AADF1465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想定動線</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D3328ECE-A991-2276-8887-D875DA94A5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91D529F5-1969-8F22-8508-5967D82F7783}"/>
              </a:ext>
            </a:extLst>
          </p:cNvPr>
          <p:cNvSpPr/>
          <p:nvPr/>
        </p:nvSpPr>
        <p:spPr>
          <a:xfrm>
            <a:off x="453390" y="1863614"/>
            <a:ext cx="9190811" cy="216252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0D32EA92-3996-F5BA-08AE-72B08F79535C}"/>
              </a:ext>
            </a:extLst>
          </p:cNvPr>
          <p:cNvSpPr/>
          <p:nvPr/>
        </p:nvSpPr>
        <p:spPr>
          <a:xfrm>
            <a:off x="453390" y="4425391"/>
            <a:ext cx="9190811" cy="2022499"/>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7" name="テキスト ボックス 7">
            <a:extLst>
              <a:ext uri="{FF2B5EF4-FFF2-40B4-BE49-F238E27FC236}">
                <a16:creationId xmlns:a16="http://schemas.microsoft.com/office/drawing/2014/main" id="{C7E38EC2-DE76-A5FE-A6B8-3B48F7BD7B46}"/>
              </a:ext>
            </a:extLst>
          </p:cNvPr>
          <p:cNvSpPr txBox="1"/>
          <p:nvPr/>
        </p:nvSpPr>
        <p:spPr>
          <a:xfrm>
            <a:off x="453390" y="1555243"/>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対新規ユーザー領域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8" name="テキスト ボックス 8">
            <a:extLst>
              <a:ext uri="{FF2B5EF4-FFF2-40B4-BE49-F238E27FC236}">
                <a16:creationId xmlns:a16="http://schemas.microsoft.com/office/drawing/2014/main" id="{315E4FD7-BF96-305B-4DFF-0204D305BAAE}"/>
              </a:ext>
            </a:extLst>
          </p:cNvPr>
          <p:cNvSpPr txBox="1"/>
          <p:nvPr/>
        </p:nvSpPr>
        <p:spPr>
          <a:xfrm>
            <a:off x="453390" y="4117614"/>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対既存ユーザー</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顧客</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9" name="正方形/長方形 8">
            <a:extLst>
              <a:ext uri="{FF2B5EF4-FFF2-40B4-BE49-F238E27FC236}">
                <a16:creationId xmlns:a16="http://schemas.microsoft.com/office/drawing/2014/main" id="{72450FBF-2EA8-4582-869E-9B2A7C4946D7}"/>
              </a:ext>
            </a:extLst>
          </p:cNvPr>
          <p:cNvSpPr/>
          <p:nvPr/>
        </p:nvSpPr>
        <p:spPr>
          <a:xfrm>
            <a:off x="622365" y="2088682"/>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HP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6891C2D7-8AEF-98E4-337B-283DC4374AFC}"/>
              </a:ext>
            </a:extLst>
          </p:cNvPr>
          <p:cNvSpPr/>
          <p:nvPr/>
        </p:nvSpPr>
        <p:spPr>
          <a:xfrm>
            <a:off x="622365" y="2350718"/>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3670DE23-5EB2-C1E6-9ED3-6176C87DDEA9}"/>
              </a:ext>
            </a:extLst>
          </p:cNvPr>
          <p:cNvSpPr/>
          <p:nvPr/>
        </p:nvSpPr>
        <p:spPr>
          <a:xfrm>
            <a:off x="622365" y="2688156"/>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a:t>
            </a:r>
            <a:r>
              <a:rPr kumimoji="1" lang="en-US" altLang="ja-JP" sz="1000" b="1" dirty="0">
                <a:solidFill>
                  <a:schemeClr val="bg1"/>
                </a:solidFill>
                <a:latin typeface="メイリオ" panose="020B0604030504040204" pitchFamily="50" charset="-128"/>
                <a:ea typeface="メイリオ" panose="020B0604030504040204" pitchFamily="50" charset="-128"/>
              </a:rPr>
              <a:t>SNS</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8C708B2-F546-DE85-AA3B-2C7B33013111}"/>
              </a:ext>
            </a:extLst>
          </p:cNvPr>
          <p:cNvSpPr/>
          <p:nvPr/>
        </p:nvSpPr>
        <p:spPr>
          <a:xfrm>
            <a:off x="622365" y="3025594"/>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既存ユーザーリスト</a:t>
            </a:r>
          </a:p>
        </p:txBody>
      </p:sp>
      <p:sp>
        <p:nvSpPr>
          <p:cNvPr id="13" name="正方形/長方形 12">
            <a:extLst>
              <a:ext uri="{FF2B5EF4-FFF2-40B4-BE49-F238E27FC236}">
                <a16:creationId xmlns:a16="http://schemas.microsoft.com/office/drawing/2014/main" id="{812C768D-D601-2E13-45FD-BFE5BA587BC6}"/>
              </a:ext>
            </a:extLst>
          </p:cNvPr>
          <p:cNvSpPr/>
          <p:nvPr/>
        </p:nvSpPr>
        <p:spPr>
          <a:xfrm>
            <a:off x="622365" y="3700470"/>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LINE_CPF</a:t>
            </a:r>
            <a:r>
              <a:rPr kumimoji="1" lang="ja-JP" altLang="en-US" sz="1000" b="1" dirty="0">
                <a:solidFill>
                  <a:schemeClr val="bg1"/>
                </a:solidFill>
                <a:latin typeface="メイリオ" panose="020B0604030504040204" pitchFamily="50" charset="-128"/>
                <a:ea typeface="メイリオ" panose="020B0604030504040204" pitchFamily="50" charset="-128"/>
              </a:rPr>
              <a:t>やその他</a:t>
            </a:r>
          </a:p>
        </p:txBody>
      </p:sp>
      <p:sp>
        <p:nvSpPr>
          <p:cNvPr id="14" name="正方形/長方形 13">
            <a:extLst>
              <a:ext uri="{FF2B5EF4-FFF2-40B4-BE49-F238E27FC236}">
                <a16:creationId xmlns:a16="http://schemas.microsoft.com/office/drawing/2014/main" id="{13127993-BF51-568A-20FB-A9FB1DB6C913}"/>
              </a:ext>
            </a:extLst>
          </p:cNvPr>
          <p:cNvSpPr/>
          <p:nvPr/>
        </p:nvSpPr>
        <p:spPr>
          <a:xfrm>
            <a:off x="8244294" y="2436791"/>
            <a:ext cx="1355280" cy="243944"/>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5" name="正方形/長方形 14">
            <a:extLst>
              <a:ext uri="{FF2B5EF4-FFF2-40B4-BE49-F238E27FC236}">
                <a16:creationId xmlns:a16="http://schemas.microsoft.com/office/drawing/2014/main" id="{2E81D74A-E79F-C90A-80AF-4F6BDF853777}"/>
              </a:ext>
            </a:extLst>
          </p:cNvPr>
          <p:cNvSpPr/>
          <p:nvPr/>
        </p:nvSpPr>
        <p:spPr>
          <a:xfrm>
            <a:off x="622365" y="3363032"/>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オフライン施策（ポップ、チラシ）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6" name="正方形/長方形 15">
            <a:extLst>
              <a:ext uri="{FF2B5EF4-FFF2-40B4-BE49-F238E27FC236}">
                <a16:creationId xmlns:a16="http://schemas.microsoft.com/office/drawing/2014/main" id="{346217DB-3E59-DD17-6353-BB21863AB6A4}"/>
              </a:ext>
            </a:extLst>
          </p:cNvPr>
          <p:cNvSpPr/>
          <p:nvPr/>
        </p:nvSpPr>
        <p:spPr>
          <a:xfrm>
            <a:off x="2023716" y="3027253"/>
            <a:ext cx="1543806"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メルマガ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85B73343-1515-8075-50D7-828D2C7D0482}"/>
              </a:ext>
            </a:extLst>
          </p:cNvPr>
          <p:cNvSpPr/>
          <p:nvPr/>
        </p:nvSpPr>
        <p:spPr>
          <a:xfrm>
            <a:off x="2013104" y="2177900"/>
            <a:ext cx="1543806" cy="295172"/>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離脱防止バナー</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18" name="コネクタ: カギ線 17">
            <a:extLst>
              <a:ext uri="{FF2B5EF4-FFF2-40B4-BE49-F238E27FC236}">
                <a16:creationId xmlns:a16="http://schemas.microsoft.com/office/drawing/2014/main" id="{10A164B9-404C-F131-0FB7-4A7EC00628C8}"/>
              </a:ext>
            </a:extLst>
          </p:cNvPr>
          <p:cNvCxnSpPr>
            <a:cxnSpLocks/>
            <a:stCxn id="11" idx="3"/>
          </p:cNvCxnSpPr>
          <p:nvPr/>
        </p:nvCxnSpPr>
        <p:spPr>
          <a:xfrm flipV="1">
            <a:off x="1977645" y="2569014"/>
            <a:ext cx="1898060" cy="241114"/>
          </a:xfrm>
          <a:prstGeom prst="bentConnector3">
            <a:avLst>
              <a:gd name="adj1" fmla="val 88139"/>
            </a:avLst>
          </a:prstGeom>
          <a:ln>
            <a:solidFill>
              <a:schemeClr val="bg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AB39E10C-FA5C-42F3-51FF-A98C96D3A9FE}"/>
              </a:ext>
            </a:extLst>
          </p:cNvPr>
          <p:cNvSpPr/>
          <p:nvPr/>
        </p:nvSpPr>
        <p:spPr>
          <a:xfrm>
            <a:off x="8244294" y="2152294"/>
            <a:ext cx="1355280" cy="243944"/>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営業トスアップ</a:t>
            </a:r>
          </a:p>
        </p:txBody>
      </p:sp>
      <p:sp>
        <p:nvSpPr>
          <p:cNvPr id="20" name="正方形/長方形 19">
            <a:extLst>
              <a:ext uri="{FF2B5EF4-FFF2-40B4-BE49-F238E27FC236}">
                <a16:creationId xmlns:a16="http://schemas.microsoft.com/office/drawing/2014/main" id="{EF3EB03D-B886-80C5-4DDF-AD318BB1E8CB}"/>
              </a:ext>
            </a:extLst>
          </p:cNvPr>
          <p:cNvSpPr/>
          <p:nvPr/>
        </p:nvSpPr>
        <p:spPr>
          <a:xfrm>
            <a:off x="6518100" y="4966862"/>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GA</a:t>
            </a:r>
            <a:r>
              <a:rPr kumimoji="1" lang="ja-JP" altLang="en-US" sz="1000" dirty="0">
                <a:solidFill>
                  <a:schemeClr val="bg1"/>
                </a:solidFill>
                <a:latin typeface="メイリオ" panose="020B0604030504040204" pitchFamily="50" charset="-128"/>
                <a:ea typeface="メイリオ" panose="020B0604030504040204" pitchFamily="50" charset="-128"/>
              </a:rPr>
              <a:t>レポーティング対応</a:t>
            </a:r>
          </a:p>
        </p:txBody>
      </p:sp>
      <p:sp>
        <p:nvSpPr>
          <p:cNvPr id="21" name="正方形/長方形 20">
            <a:extLst>
              <a:ext uri="{FF2B5EF4-FFF2-40B4-BE49-F238E27FC236}">
                <a16:creationId xmlns:a16="http://schemas.microsoft.com/office/drawing/2014/main" id="{8185B158-D6FD-FC9A-D842-E0184FC04A2F}"/>
              </a:ext>
            </a:extLst>
          </p:cNvPr>
          <p:cNvSpPr/>
          <p:nvPr/>
        </p:nvSpPr>
        <p:spPr>
          <a:xfrm>
            <a:off x="6518100" y="5235296"/>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投稿スケジュール確認</a:t>
            </a:r>
            <a:endParaRPr kumimoji="1"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CAF16DCF-7CE0-97CD-A1FD-09B08149FF7B}"/>
              </a:ext>
            </a:extLst>
          </p:cNvPr>
          <p:cNvSpPr/>
          <p:nvPr/>
        </p:nvSpPr>
        <p:spPr>
          <a:xfrm>
            <a:off x="6518099" y="5772164"/>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Call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3" name="正方形/長方形 22">
            <a:extLst>
              <a:ext uri="{FF2B5EF4-FFF2-40B4-BE49-F238E27FC236}">
                <a16:creationId xmlns:a16="http://schemas.microsoft.com/office/drawing/2014/main" id="{DE164E19-C9CA-ADE8-FE9B-4A4096DD13BE}"/>
              </a:ext>
            </a:extLst>
          </p:cNvPr>
          <p:cNvSpPr/>
          <p:nvPr/>
        </p:nvSpPr>
        <p:spPr>
          <a:xfrm>
            <a:off x="6518099" y="5503730"/>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Chat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4" name="正方形/長方形 23">
            <a:extLst>
              <a:ext uri="{FF2B5EF4-FFF2-40B4-BE49-F238E27FC236}">
                <a16:creationId xmlns:a16="http://schemas.microsoft.com/office/drawing/2014/main" id="{FF9A810E-B53B-2631-3BD5-00395512E9C0}"/>
              </a:ext>
            </a:extLst>
          </p:cNvPr>
          <p:cNvSpPr/>
          <p:nvPr/>
        </p:nvSpPr>
        <p:spPr>
          <a:xfrm>
            <a:off x="6518099" y="6040598"/>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通知メッセージ</a:t>
            </a:r>
            <a:r>
              <a:rPr kumimoji="1" lang="en-US" altLang="ja-JP" sz="1000" dirty="0">
                <a:solidFill>
                  <a:schemeClr val="bg1"/>
                </a:solidFill>
                <a:latin typeface="メイリオ" panose="020B0604030504040204" pitchFamily="50" charset="-128"/>
                <a:ea typeface="メイリオ" panose="020B0604030504040204" pitchFamily="50" charset="-128"/>
              </a:rPr>
              <a:t>(</a:t>
            </a:r>
            <a:r>
              <a:rPr kumimoji="1" lang="en-US" altLang="ja-JP" sz="1000" dirty="0" err="1">
                <a:solidFill>
                  <a:schemeClr val="bg1"/>
                </a:solidFill>
                <a:latin typeface="メイリオ" panose="020B0604030504040204" pitchFamily="50" charset="-128"/>
                <a:ea typeface="メイリオ" panose="020B0604030504040204" pitchFamily="50" charset="-128"/>
              </a:rPr>
              <a:t>OptionAPI</a:t>
            </a:r>
            <a:r>
              <a:rPr kumimoji="1" lang="en-US" altLang="ja-JP" sz="1000" dirty="0">
                <a:solidFill>
                  <a:schemeClr val="bg1"/>
                </a:solidFill>
                <a:latin typeface="メイリオ" panose="020B0604030504040204" pitchFamily="50" charset="-128"/>
                <a:ea typeface="メイリオ" panose="020B0604030504040204" pitchFamily="50" charset="-128"/>
              </a:rPr>
              <a:t>)</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5" name="正方形/長方形 24">
            <a:extLst>
              <a:ext uri="{FF2B5EF4-FFF2-40B4-BE49-F238E27FC236}">
                <a16:creationId xmlns:a16="http://schemas.microsoft.com/office/drawing/2014/main" id="{1DF80BB2-F1C3-A39C-D441-B75E4795CC5B}"/>
              </a:ext>
            </a:extLst>
          </p:cNvPr>
          <p:cNvSpPr/>
          <p:nvPr/>
        </p:nvSpPr>
        <p:spPr>
          <a:xfrm>
            <a:off x="6518099" y="4775069"/>
            <a:ext cx="1424263" cy="163739"/>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定期対応項目</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一部抽出</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p>
        </p:txBody>
      </p:sp>
      <p:sp>
        <p:nvSpPr>
          <p:cNvPr id="26" name="正方形/長方形 25">
            <a:extLst>
              <a:ext uri="{FF2B5EF4-FFF2-40B4-BE49-F238E27FC236}">
                <a16:creationId xmlns:a16="http://schemas.microsoft.com/office/drawing/2014/main" id="{CABD8985-CFB7-BFB4-C5CA-334F6DD3C337}"/>
              </a:ext>
            </a:extLst>
          </p:cNvPr>
          <p:cNvSpPr/>
          <p:nvPr/>
        </p:nvSpPr>
        <p:spPr>
          <a:xfrm>
            <a:off x="3708284" y="2014854"/>
            <a:ext cx="4080010" cy="2098921"/>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27" name="正方形/長方形 26">
            <a:extLst>
              <a:ext uri="{FF2B5EF4-FFF2-40B4-BE49-F238E27FC236}">
                <a16:creationId xmlns:a16="http://schemas.microsoft.com/office/drawing/2014/main" id="{498D1E1C-883A-4348-5898-29B2849E59E6}"/>
              </a:ext>
            </a:extLst>
          </p:cNvPr>
          <p:cNvSpPr/>
          <p:nvPr/>
        </p:nvSpPr>
        <p:spPr>
          <a:xfrm>
            <a:off x="3875705" y="2447042"/>
            <a:ext cx="1355280"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友だち追加</a:t>
            </a:r>
          </a:p>
        </p:txBody>
      </p:sp>
      <p:cxnSp>
        <p:nvCxnSpPr>
          <p:cNvPr id="28" name="コネクタ: カギ線 27">
            <a:extLst>
              <a:ext uri="{FF2B5EF4-FFF2-40B4-BE49-F238E27FC236}">
                <a16:creationId xmlns:a16="http://schemas.microsoft.com/office/drawing/2014/main" id="{2981AEA5-C263-1A76-AF6F-7D4F94F3AC3F}"/>
              </a:ext>
            </a:extLst>
          </p:cNvPr>
          <p:cNvCxnSpPr>
            <a:cxnSpLocks/>
          </p:cNvCxnSpPr>
          <p:nvPr/>
        </p:nvCxnSpPr>
        <p:spPr>
          <a:xfrm flipV="1">
            <a:off x="3565619" y="2569014"/>
            <a:ext cx="310086" cy="915990"/>
          </a:xfrm>
          <a:prstGeom prst="bentConnector3">
            <a:avLst>
              <a:gd name="adj1" fmla="val 2753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9" name="コネクタ: カギ線 28">
            <a:extLst>
              <a:ext uri="{FF2B5EF4-FFF2-40B4-BE49-F238E27FC236}">
                <a16:creationId xmlns:a16="http://schemas.microsoft.com/office/drawing/2014/main" id="{6898DA80-B20A-0E45-B382-62A8490927C1}"/>
              </a:ext>
            </a:extLst>
          </p:cNvPr>
          <p:cNvCxnSpPr>
            <a:cxnSpLocks/>
          </p:cNvCxnSpPr>
          <p:nvPr/>
        </p:nvCxnSpPr>
        <p:spPr>
          <a:xfrm flipV="1">
            <a:off x="3556910" y="2569014"/>
            <a:ext cx="310086" cy="1253428"/>
          </a:xfrm>
          <a:prstGeom prst="bentConnector3">
            <a:avLst>
              <a:gd name="adj1" fmla="val 3034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4194983F-AFC0-FB2F-1207-1AF108AFDA19}"/>
              </a:ext>
            </a:extLst>
          </p:cNvPr>
          <p:cNvCxnSpPr>
            <a:cxnSpLocks/>
          </p:cNvCxnSpPr>
          <p:nvPr/>
        </p:nvCxnSpPr>
        <p:spPr>
          <a:xfrm>
            <a:off x="3556910" y="2325486"/>
            <a:ext cx="318795" cy="243528"/>
          </a:xfrm>
          <a:prstGeom prst="bentConnector3">
            <a:avLst>
              <a:gd name="adj1" fmla="val 28488"/>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1" name="正方形/長方形 30">
            <a:extLst>
              <a:ext uri="{FF2B5EF4-FFF2-40B4-BE49-F238E27FC236}">
                <a16:creationId xmlns:a16="http://schemas.microsoft.com/office/drawing/2014/main" id="{B20DB094-045E-2E0D-7026-B0BFFA8F2374}"/>
              </a:ext>
            </a:extLst>
          </p:cNvPr>
          <p:cNvSpPr/>
          <p:nvPr/>
        </p:nvSpPr>
        <p:spPr>
          <a:xfrm>
            <a:off x="5393176" y="215029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企画配信（セグメント配信）</a:t>
            </a:r>
          </a:p>
        </p:txBody>
      </p:sp>
      <p:sp>
        <p:nvSpPr>
          <p:cNvPr id="32" name="正方形/長方形 31">
            <a:extLst>
              <a:ext uri="{FF2B5EF4-FFF2-40B4-BE49-F238E27FC236}">
                <a16:creationId xmlns:a16="http://schemas.microsoft.com/office/drawing/2014/main" id="{960DE889-CA21-9C03-FD30-9F8BA1C11BE0}"/>
              </a:ext>
            </a:extLst>
          </p:cNvPr>
          <p:cNvSpPr/>
          <p:nvPr/>
        </p:nvSpPr>
        <p:spPr>
          <a:xfrm>
            <a:off x="5393176" y="241589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ステップ配信</a:t>
            </a:r>
          </a:p>
        </p:txBody>
      </p:sp>
      <p:sp>
        <p:nvSpPr>
          <p:cNvPr id="33" name="正方形/長方形 32">
            <a:extLst>
              <a:ext uri="{FF2B5EF4-FFF2-40B4-BE49-F238E27FC236}">
                <a16:creationId xmlns:a16="http://schemas.microsoft.com/office/drawing/2014/main" id="{B0198902-7C67-1321-611C-A528F8B056D6}"/>
              </a:ext>
            </a:extLst>
          </p:cNvPr>
          <p:cNvSpPr/>
          <p:nvPr/>
        </p:nvSpPr>
        <p:spPr>
          <a:xfrm>
            <a:off x="5393176" y="268148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アンケート</a:t>
            </a:r>
          </a:p>
        </p:txBody>
      </p:sp>
      <p:sp>
        <p:nvSpPr>
          <p:cNvPr id="34" name="正方形/長方形 33">
            <a:extLst>
              <a:ext uri="{FF2B5EF4-FFF2-40B4-BE49-F238E27FC236}">
                <a16:creationId xmlns:a16="http://schemas.microsoft.com/office/drawing/2014/main" id="{EC9DC48F-C12B-8A2A-8E49-C82DF8C2398F}"/>
              </a:ext>
            </a:extLst>
          </p:cNvPr>
          <p:cNvSpPr/>
          <p:nvPr/>
        </p:nvSpPr>
        <p:spPr>
          <a:xfrm>
            <a:off x="3956800" y="2723466"/>
            <a:ext cx="1274185" cy="166616"/>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初期設計項目↓</a:t>
            </a:r>
          </a:p>
        </p:txBody>
      </p:sp>
      <p:sp>
        <p:nvSpPr>
          <p:cNvPr id="35" name="テキスト ボックス 67">
            <a:extLst>
              <a:ext uri="{FF2B5EF4-FFF2-40B4-BE49-F238E27FC236}">
                <a16:creationId xmlns:a16="http://schemas.microsoft.com/office/drawing/2014/main" id="{7FD4C92A-1BF4-DC29-74E5-5DDCAEC47D74}"/>
              </a:ext>
            </a:extLst>
          </p:cNvPr>
          <p:cNvSpPr txBox="1"/>
          <p:nvPr/>
        </p:nvSpPr>
        <p:spPr>
          <a:xfrm>
            <a:off x="3967708" y="2907643"/>
            <a:ext cx="1274185" cy="95410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プロフィール画面</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リッチメニュー</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・あいさつメッセージ</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・応答メッセージ設定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・チャットタグ設定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・計測タグ設定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ログイン </a:t>
            </a:r>
            <a:r>
              <a:rPr lang="en-US" altLang="ja-JP" sz="600" dirty="0">
                <a:solidFill>
                  <a:srgbClr val="FF0000"/>
                </a:solidFill>
                <a:latin typeface="メイリオ" panose="020B0604030504040204" pitchFamily="50" charset="-128"/>
                <a:ea typeface="メイリオ" panose="020B0604030504040204" pitchFamily="50" charset="-128"/>
              </a:rPr>
              <a:t>※</a:t>
            </a:r>
            <a:r>
              <a:rPr lang="ja-JP" altLang="en-US" sz="6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LINEID</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連携 </a:t>
            </a:r>
            <a:r>
              <a:rPr lang="en-US" altLang="ja-JP" sz="700" dirty="0">
                <a:solidFill>
                  <a:srgbClr val="FF0000"/>
                </a:solidFill>
                <a:latin typeface="メイリオ" panose="020B0604030504040204" pitchFamily="50" charset="-128"/>
                <a:ea typeface="メイリオ" panose="020B0604030504040204" pitchFamily="50" charset="-128"/>
              </a:rPr>
              <a:t>※</a:t>
            </a:r>
            <a:r>
              <a:rPr lang="ja-JP" altLang="en-US" sz="7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p:txBody>
      </p:sp>
      <p:sp>
        <p:nvSpPr>
          <p:cNvPr id="36" name="正方形/長方形 35">
            <a:extLst>
              <a:ext uri="{FF2B5EF4-FFF2-40B4-BE49-F238E27FC236}">
                <a16:creationId xmlns:a16="http://schemas.microsoft.com/office/drawing/2014/main" id="{3C7CD555-05D0-53EC-B6D5-ED734EBA27DF}"/>
              </a:ext>
            </a:extLst>
          </p:cNvPr>
          <p:cNvSpPr/>
          <p:nvPr/>
        </p:nvSpPr>
        <p:spPr>
          <a:xfrm>
            <a:off x="5400190" y="294708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タグ・セグメントの管理</a:t>
            </a:r>
          </a:p>
        </p:txBody>
      </p:sp>
      <p:sp>
        <p:nvSpPr>
          <p:cNvPr id="37" name="正方形/長方形 36">
            <a:extLst>
              <a:ext uri="{FF2B5EF4-FFF2-40B4-BE49-F238E27FC236}">
                <a16:creationId xmlns:a16="http://schemas.microsoft.com/office/drawing/2014/main" id="{64296BD6-7E19-AF65-3C1F-3AA68F3DB296}"/>
              </a:ext>
            </a:extLst>
          </p:cNvPr>
          <p:cNvSpPr/>
          <p:nvPr/>
        </p:nvSpPr>
        <p:spPr>
          <a:xfrm>
            <a:off x="5400190" y="3478272"/>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各種初期設計の調整</a:t>
            </a:r>
          </a:p>
        </p:txBody>
      </p:sp>
      <p:sp>
        <p:nvSpPr>
          <p:cNvPr id="38" name="正方形/長方形 37">
            <a:extLst>
              <a:ext uri="{FF2B5EF4-FFF2-40B4-BE49-F238E27FC236}">
                <a16:creationId xmlns:a16="http://schemas.microsoft.com/office/drawing/2014/main" id="{2B391CFB-A763-8F28-0B80-C4699C620787}"/>
              </a:ext>
            </a:extLst>
          </p:cNvPr>
          <p:cNvSpPr/>
          <p:nvPr/>
        </p:nvSpPr>
        <p:spPr>
          <a:xfrm>
            <a:off x="5400190" y="321267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a:solidFill>
                  <a:schemeClr val="bg1"/>
                </a:solidFill>
                <a:latin typeface="メイリオ" panose="020B0604030504040204" pitchFamily="50" charset="-128"/>
                <a:ea typeface="メイリオ" panose="020B0604030504040204" pitchFamily="50" charset="-128"/>
              </a:rPr>
              <a:t>QA</a:t>
            </a:r>
            <a:r>
              <a:rPr lang="ja-JP" altLang="en-US" sz="1000" b="1">
                <a:solidFill>
                  <a:schemeClr val="bg1"/>
                </a:solidFill>
                <a:latin typeface="メイリオ" panose="020B0604030504040204" pitchFamily="50" charset="-128"/>
                <a:ea typeface="メイリオ" panose="020B0604030504040204" pitchFamily="50" charset="-128"/>
              </a:rPr>
              <a:t>解消（自動応答）</a:t>
            </a:r>
            <a:endParaRPr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9" name="正方形/長方形 38">
            <a:extLst>
              <a:ext uri="{FF2B5EF4-FFF2-40B4-BE49-F238E27FC236}">
                <a16:creationId xmlns:a16="http://schemas.microsoft.com/office/drawing/2014/main" id="{78BE8892-FE50-BF73-B15E-567C1CFD9A8A}"/>
              </a:ext>
            </a:extLst>
          </p:cNvPr>
          <p:cNvSpPr/>
          <p:nvPr/>
        </p:nvSpPr>
        <p:spPr>
          <a:xfrm>
            <a:off x="6560937" y="268352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 タグ配信</a:t>
            </a:r>
          </a:p>
        </p:txBody>
      </p:sp>
      <p:sp>
        <p:nvSpPr>
          <p:cNvPr id="40" name="正方形/長方形 39">
            <a:extLst>
              <a:ext uri="{FF2B5EF4-FFF2-40B4-BE49-F238E27FC236}">
                <a16:creationId xmlns:a16="http://schemas.microsoft.com/office/drawing/2014/main" id="{5FB8C9E8-13C6-54AE-CC6C-E66EB44BEE66}"/>
              </a:ext>
            </a:extLst>
          </p:cNvPr>
          <p:cNvSpPr/>
          <p:nvPr/>
        </p:nvSpPr>
        <p:spPr>
          <a:xfrm>
            <a:off x="5393175" y="3743869"/>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チャットルーム</a:t>
            </a:r>
          </a:p>
        </p:txBody>
      </p:sp>
      <p:cxnSp>
        <p:nvCxnSpPr>
          <p:cNvPr id="41" name="コネクタ: カギ線 40">
            <a:extLst>
              <a:ext uri="{FF2B5EF4-FFF2-40B4-BE49-F238E27FC236}">
                <a16:creationId xmlns:a16="http://schemas.microsoft.com/office/drawing/2014/main" id="{A0B29E3B-5447-4104-E77E-C26EB1CB0F8A}"/>
              </a:ext>
            </a:extLst>
          </p:cNvPr>
          <p:cNvCxnSpPr>
            <a:cxnSpLocks/>
            <a:stCxn id="40" idx="3"/>
          </p:cNvCxnSpPr>
          <p:nvPr/>
        </p:nvCxnSpPr>
        <p:spPr>
          <a:xfrm flipV="1">
            <a:off x="7685860" y="2274266"/>
            <a:ext cx="558434" cy="1580487"/>
          </a:xfrm>
          <a:prstGeom prst="bentConnector3">
            <a:avLst>
              <a:gd name="adj1" fmla="val 7651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2" name="コネクタ: カギ線 41">
            <a:extLst>
              <a:ext uri="{FF2B5EF4-FFF2-40B4-BE49-F238E27FC236}">
                <a16:creationId xmlns:a16="http://schemas.microsoft.com/office/drawing/2014/main" id="{6F60DF78-AC16-9662-17BD-3EBCD4677BB3}"/>
              </a:ext>
            </a:extLst>
          </p:cNvPr>
          <p:cNvCxnSpPr>
            <a:cxnSpLocks/>
            <a:stCxn id="37" idx="3"/>
          </p:cNvCxnSpPr>
          <p:nvPr/>
        </p:nvCxnSpPr>
        <p:spPr>
          <a:xfrm flipV="1">
            <a:off x="7692875" y="2558763"/>
            <a:ext cx="551419" cy="103039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3" name="コネクタ: カギ線 42">
            <a:extLst>
              <a:ext uri="{FF2B5EF4-FFF2-40B4-BE49-F238E27FC236}">
                <a16:creationId xmlns:a16="http://schemas.microsoft.com/office/drawing/2014/main" id="{9ACE7516-910E-229D-8D61-02389EE1209F}"/>
              </a:ext>
            </a:extLst>
          </p:cNvPr>
          <p:cNvCxnSpPr>
            <a:cxnSpLocks/>
            <a:stCxn id="38" idx="3"/>
          </p:cNvCxnSpPr>
          <p:nvPr/>
        </p:nvCxnSpPr>
        <p:spPr>
          <a:xfrm flipV="1">
            <a:off x="7692875" y="2558763"/>
            <a:ext cx="551419" cy="76479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4" name="コネクタ: カギ線 43">
            <a:extLst>
              <a:ext uri="{FF2B5EF4-FFF2-40B4-BE49-F238E27FC236}">
                <a16:creationId xmlns:a16="http://schemas.microsoft.com/office/drawing/2014/main" id="{CFEF0AA5-73C6-3E02-7EDB-57BE374DCDBF}"/>
              </a:ext>
            </a:extLst>
          </p:cNvPr>
          <p:cNvCxnSpPr>
            <a:cxnSpLocks/>
            <a:stCxn id="36" idx="3"/>
          </p:cNvCxnSpPr>
          <p:nvPr/>
        </p:nvCxnSpPr>
        <p:spPr>
          <a:xfrm flipV="1">
            <a:off x="7692875" y="2558763"/>
            <a:ext cx="551419" cy="49920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6" name="コネクタ: カギ線 45">
            <a:extLst>
              <a:ext uri="{FF2B5EF4-FFF2-40B4-BE49-F238E27FC236}">
                <a16:creationId xmlns:a16="http://schemas.microsoft.com/office/drawing/2014/main" id="{994CBAF5-3A55-5F8D-2FE3-7E89A4D5C622}"/>
              </a:ext>
            </a:extLst>
          </p:cNvPr>
          <p:cNvCxnSpPr>
            <a:cxnSpLocks/>
            <a:stCxn id="39" idx="3"/>
          </p:cNvCxnSpPr>
          <p:nvPr/>
        </p:nvCxnSpPr>
        <p:spPr>
          <a:xfrm flipV="1">
            <a:off x="7685861" y="2558763"/>
            <a:ext cx="558433" cy="23564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a:extLst>
              <a:ext uri="{FF2B5EF4-FFF2-40B4-BE49-F238E27FC236}">
                <a16:creationId xmlns:a16="http://schemas.microsoft.com/office/drawing/2014/main" id="{95AFF09E-E9EC-B83D-758F-AB3E03B91C26}"/>
              </a:ext>
            </a:extLst>
          </p:cNvPr>
          <p:cNvCxnSpPr>
            <a:cxnSpLocks/>
            <a:stCxn id="32" idx="3"/>
          </p:cNvCxnSpPr>
          <p:nvPr/>
        </p:nvCxnSpPr>
        <p:spPr>
          <a:xfrm>
            <a:off x="7685861" y="2526776"/>
            <a:ext cx="558433" cy="31987"/>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コネクタ: カギ線 47">
            <a:extLst>
              <a:ext uri="{FF2B5EF4-FFF2-40B4-BE49-F238E27FC236}">
                <a16:creationId xmlns:a16="http://schemas.microsoft.com/office/drawing/2014/main" id="{81E043B6-4E27-2700-F284-741B1F2B6E99}"/>
              </a:ext>
            </a:extLst>
          </p:cNvPr>
          <p:cNvCxnSpPr>
            <a:cxnSpLocks/>
            <a:stCxn id="31" idx="3"/>
          </p:cNvCxnSpPr>
          <p:nvPr/>
        </p:nvCxnSpPr>
        <p:spPr>
          <a:xfrm>
            <a:off x="7685861" y="2261181"/>
            <a:ext cx="558433" cy="297582"/>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49" name="左中かっこ 48">
            <a:extLst>
              <a:ext uri="{FF2B5EF4-FFF2-40B4-BE49-F238E27FC236}">
                <a16:creationId xmlns:a16="http://schemas.microsoft.com/office/drawing/2014/main" id="{3EB6A587-08D7-7B0D-8BB4-704F3A9413A8}"/>
              </a:ext>
            </a:extLst>
          </p:cNvPr>
          <p:cNvSpPr/>
          <p:nvPr/>
        </p:nvSpPr>
        <p:spPr>
          <a:xfrm>
            <a:off x="5229703" y="2114487"/>
            <a:ext cx="181099" cy="1866748"/>
          </a:xfrm>
          <a:prstGeom prst="leftBrace">
            <a:avLst>
              <a:gd name="adj1" fmla="val 8333"/>
              <a:gd name="adj2" fmla="val 23194"/>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endParaRPr kumimoji="1" lang="ja-JP" altLang="en-US"/>
          </a:p>
        </p:txBody>
      </p:sp>
      <p:sp>
        <p:nvSpPr>
          <p:cNvPr id="50" name="正方形/長方形 49">
            <a:extLst>
              <a:ext uri="{FF2B5EF4-FFF2-40B4-BE49-F238E27FC236}">
                <a16:creationId xmlns:a16="http://schemas.microsoft.com/office/drawing/2014/main" id="{13F6801A-CC8C-370B-47CD-0E9A8F78DA92}"/>
              </a:ext>
            </a:extLst>
          </p:cNvPr>
          <p:cNvSpPr/>
          <p:nvPr/>
        </p:nvSpPr>
        <p:spPr>
          <a:xfrm>
            <a:off x="542381" y="4614992"/>
            <a:ext cx="5679352" cy="1887988"/>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1" name="正方形/長方形 50">
            <a:extLst>
              <a:ext uri="{FF2B5EF4-FFF2-40B4-BE49-F238E27FC236}">
                <a16:creationId xmlns:a16="http://schemas.microsoft.com/office/drawing/2014/main" id="{EBF6537D-D75B-DA5C-78EC-88D8F874BA82}"/>
              </a:ext>
            </a:extLst>
          </p:cNvPr>
          <p:cNvSpPr/>
          <p:nvPr/>
        </p:nvSpPr>
        <p:spPr>
          <a:xfrm>
            <a:off x="2280539" y="6030746"/>
            <a:ext cx="848549"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友だち化</a:t>
            </a:r>
          </a:p>
        </p:txBody>
      </p:sp>
      <p:sp>
        <p:nvSpPr>
          <p:cNvPr id="52" name="正方形/長方形 51">
            <a:extLst>
              <a:ext uri="{FF2B5EF4-FFF2-40B4-BE49-F238E27FC236}">
                <a16:creationId xmlns:a16="http://schemas.microsoft.com/office/drawing/2014/main" id="{1A52527A-0CF0-029E-8E86-430BD9DEAAA1}"/>
              </a:ext>
            </a:extLst>
          </p:cNvPr>
          <p:cNvSpPr/>
          <p:nvPr/>
        </p:nvSpPr>
        <p:spPr>
          <a:xfrm>
            <a:off x="622365" y="4733168"/>
            <a:ext cx="731277" cy="243944"/>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53" name="コネクタ: カギ線 52">
            <a:extLst>
              <a:ext uri="{FF2B5EF4-FFF2-40B4-BE49-F238E27FC236}">
                <a16:creationId xmlns:a16="http://schemas.microsoft.com/office/drawing/2014/main" id="{898B747D-663D-3118-8C11-74EB0324AD5C}"/>
              </a:ext>
            </a:extLst>
          </p:cNvPr>
          <p:cNvCxnSpPr>
            <a:stCxn id="52" idx="0"/>
          </p:cNvCxnSpPr>
          <p:nvPr/>
        </p:nvCxnSpPr>
        <p:spPr>
          <a:xfrm rot="5400000" flipH="1" flipV="1">
            <a:off x="3928753" y="-260013"/>
            <a:ext cx="2052433" cy="7933930"/>
          </a:xfrm>
          <a:prstGeom prst="bentConnector3">
            <a:avLst>
              <a:gd name="adj1" fmla="val 8842"/>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4" name="コネクタ: カギ線 53">
            <a:extLst>
              <a:ext uri="{FF2B5EF4-FFF2-40B4-BE49-F238E27FC236}">
                <a16:creationId xmlns:a16="http://schemas.microsoft.com/office/drawing/2014/main" id="{CA244CA5-B309-FA6E-284D-7CBC7CC2508F}"/>
              </a:ext>
            </a:extLst>
          </p:cNvPr>
          <p:cNvCxnSpPr>
            <a:cxnSpLocks/>
            <a:stCxn id="52" idx="2"/>
            <a:endCxn id="51" idx="1"/>
          </p:cNvCxnSpPr>
          <p:nvPr/>
        </p:nvCxnSpPr>
        <p:spPr>
          <a:xfrm rot="16200000" flipH="1">
            <a:off x="1046468" y="4918647"/>
            <a:ext cx="1175606" cy="1292535"/>
          </a:xfrm>
          <a:prstGeom prst="bentConnector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5" name="正方形/長方形 54">
            <a:extLst>
              <a:ext uri="{FF2B5EF4-FFF2-40B4-BE49-F238E27FC236}">
                <a16:creationId xmlns:a16="http://schemas.microsoft.com/office/drawing/2014/main" id="{B6490177-CFF0-A875-7C56-F0FC8CA2C530}"/>
              </a:ext>
            </a:extLst>
          </p:cNvPr>
          <p:cNvSpPr/>
          <p:nvPr/>
        </p:nvSpPr>
        <p:spPr>
          <a:xfrm>
            <a:off x="635503" y="5847788"/>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err="1">
                <a:solidFill>
                  <a:schemeClr val="bg1"/>
                </a:solidFill>
                <a:latin typeface="メイリオ" panose="020B0604030504040204" pitchFamily="50" charset="-128"/>
                <a:ea typeface="メイリオ" panose="020B0604030504040204" pitchFamily="50" charset="-128"/>
              </a:rPr>
              <a:t>OptionAPI</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6D76C720-225A-6A92-8A49-A13770789615}"/>
              </a:ext>
            </a:extLst>
          </p:cNvPr>
          <p:cNvSpPr/>
          <p:nvPr/>
        </p:nvSpPr>
        <p:spPr>
          <a:xfrm>
            <a:off x="635503" y="6112467"/>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サンクス</a:t>
            </a:r>
            <a:r>
              <a:rPr kumimoji="1" lang="en-US" altLang="ja-JP" sz="1000" b="1" dirty="0">
                <a:solidFill>
                  <a:schemeClr val="bg1"/>
                </a:solidFill>
                <a:latin typeface="メイリオ" panose="020B0604030504040204" pitchFamily="50" charset="-128"/>
                <a:ea typeface="メイリオ" panose="020B0604030504040204" pitchFamily="50" charset="-128"/>
              </a:rPr>
              <a:t>LINE</a:t>
            </a:r>
            <a:r>
              <a:rPr kumimoji="1" lang="ja-JP" altLang="en-US" sz="1000" b="1" dirty="0">
                <a:solidFill>
                  <a:schemeClr val="bg1"/>
                </a:solidFill>
                <a:latin typeface="メイリオ" panose="020B0604030504040204" pitchFamily="50" charset="-128"/>
                <a:ea typeface="メイリオ" panose="020B0604030504040204" pitchFamily="50" charset="-128"/>
              </a:rPr>
              <a:t>誘導</a:t>
            </a:r>
          </a:p>
        </p:txBody>
      </p:sp>
      <p:sp>
        <p:nvSpPr>
          <p:cNvPr id="57" name="正方形/長方形 56">
            <a:extLst>
              <a:ext uri="{FF2B5EF4-FFF2-40B4-BE49-F238E27FC236}">
                <a16:creationId xmlns:a16="http://schemas.microsoft.com/office/drawing/2014/main" id="{9927067B-793F-D21C-B90A-7C7E46812D7F}"/>
              </a:ext>
            </a:extLst>
          </p:cNvPr>
          <p:cNvSpPr/>
          <p:nvPr/>
        </p:nvSpPr>
        <p:spPr>
          <a:xfrm>
            <a:off x="3787185" y="475954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リマインド配信</a:t>
            </a:r>
          </a:p>
        </p:txBody>
      </p:sp>
      <p:sp>
        <p:nvSpPr>
          <p:cNvPr id="58" name="正方形/長方形 57">
            <a:extLst>
              <a:ext uri="{FF2B5EF4-FFF2-40B4-BE49-F238E27FC236}">
                <a16:creationId xmlns:a16="http://schemas.microsoft.com/office/drawing/2014/main" id="{BD2E83D5-3372-C439-208D-783F428C9D84}"/>
              </a:ext>
            </a:extLst>
          </p:cNvPr>
          <p:cNvSpPr/>
          <p:nvPr/>
        </p:nvSpPr>
        <p:spPr>
          <a:xfrm>
            <a:off x="3787185" y="502513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クロスセル配信</a:t>
            </a:r>
          </a:p>
        </p:txBody>
      </p:sp>
      <p:sp>
        <p:nvSpPr>
          <p:cNvPr id="59" name="正方形/長方形 58">
            <a:extLst>
              <a:ext uri="{FF2B5EF4-FFF2-40B4-BE49-F238E27FC236}">
                <a16:creationId xmlns:a16="http://schemas.microsoft.com/office/drawing/2014/main" id="{087D59E0-E0CE-3934-C1B4-0EF4D82E0B2E}"/>
              </a:ext>
            </a:extLst>
          </p:cNvPr>
          <p:cNvSpPr/>
          <p:nvPr/>
        </p:nvSpPr>
        <p:spPr>
          <a:xfrm>
            <a:off x="3787185" y="529073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実反響</a:t>
            </a: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購入</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0" name="正方形/長方形 59">
            <a:extLst>
              <a:ext uri="{FF2B5EF4-FFF2-40B4-BE49-F238E27FC236}">
                <a16:creationId xmlns:a16="http://schemas.microsoft.com/office/drawing/2014/main" id="{78BB80E0-2482-846A-E4FE-C1770384E88E}"/>
              </a:ext>
            </a:extLst>
          </p:cNvPr>
          <p:cNvSpPr/>
          <p:nvPr/>
        </p:nvSpPr>
        <p:spPr>
          <a:xfrm>
            <a:off x="3794199" y="555632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利用状況タグの設定</a:t>
            </a:r>
          </a:p>
        </p:txBody>
      </p:sp>
      <p:sp>
        <p:nvSpPr>
          <p:cNvPr id="61" name="正方形/長方形 60">
            <a:extLst>
              <a:ext uri="{FF2B5EF4-FFF2-40B4-BE49-F238E27FC236}">
                <a16:creationId xmlns:a16="http://schemas.microsoft.com/office/drawing/2014/main" id="{C885333E-56CE-B011-72B9-07B332849355}"/>
              </a:ext>
            </a:extLst>
          </p:cNvPr>
          <p:cNvSpPr/>
          <p:nvPr/>
        </p:nvSpPr>
        <p:spPr>
          <a:xfrm>
            <a:off x="4954946" y="529277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リピート配信</a:t>
            </a:r>
          </a:p>
        </p:txBody>
      </p:sp>
      <p:cxnSp>
        <p:nvCxnSpPr>
          <p:cNvPr id="62" name="コネクタ: カギ線 61">
            <a:extLst>
              <a:ext uri="{FF2B5EF4-FFF2-40B4-BE49-F238E27FC236}">
                <a16:creationId xmlns:a16="http://schemas.microsoft.com/office/drawing/2014/main" id="{BDA83037-5C06-C2D0-EF8B-90AE0F4336B5}"/>
              </a:ext>
            </a:extLst>
          </p:cNvPr>
          <p:cNvCxnSpPr>
            <a:cxnSpLocks/>
            <a:stCxn id="52" idx="3"/>
            <a:endCxn id="57" idx="1"/>
          </p:cNvCxnSpPr>
          <p:nvPr/>
        </p:nvCxnSpPr>
        <p:spPr>
          <a:xfrm>
            <a:off x="1353642" y="4855140"/>
            <a:ext cx="2433543" cy="1528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3" name="コネクタ: カギ線 62">
            <a:extLst>
              <a:ext uri="{FF2B5EF4-FFF2-40B4-BE49-F238E27FC236}">
                <a16:creationId xmlns:a16="http://schemas.microsoft.com/office/drawing/2014/main" id="{BA23D5BC-C7EC-06D4-215C-2852A68F0F9B}"/>
              </a:ext>
            </a:extLst>
          </p:cNvPr>
          <p:cNvCxnSpPr>
            <a:cxnSpLocks/>
            <a:stCxn id="52" idx="3"/>
            <a:endCxn id="58" idx="1"/>
          </p:cNvCxnSpPr>
          <p:nvPr/>
        </p:nvCxnSpPr>
        <p:spPr>
          <a:xfrm>
            <a:off x="1353642" y="4855140"/>
            <a:ext cx="2433543" cy="28088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4" name="コネクタ: カギ線 63">
            <a:extLst>
              <a:ext uri="{FF2B5EF4-FFF2-40B4-BE49-F238E27FC236}">
                <a16:creationId xmlns:a16="http://schemas.microsoft.com/office/drawing/2014/main" id="{F8AA6994-29BC-2C26-DE5F-C0C21F502236}"/>
              </a:ext>
            </a:extLst>
          </p:cNvPr>
          <p:cNvCxnSpPr>
            <a:cxnSpLocks/>
            <a:stCxn id="52" idx="3"/>
            <a:endCxn id="59" idx="1"/>
          </p:cNvCxnSpPr>
          <p:nvPr/>
        </p:nvCxnSpPr>
        <p:spPr>
          <a:xfrm>
            <a:off x="1353642" y="4855140"/>
            <a:ext cx="2433543" cy="54647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5" name="コネクタ: カギ線 64">
            <a:extLst>
              <a:ext uri="{FF2B5EF4-FFF2-40B4-BE49-F238E27FC236}">
                <a16:creationId xmlns:a16="http://schemas.microsoft.com/office/drawing/2014/main" id="{3AE4A3D0-6C1F-7BCD-3ED2-5F066684CE21}"/>
              </a:ext>
            </a:extLst>
          </p:cNvPr>
          <p:cNvCxnSpPr>
            <a:cxnSpLocks/>
            <a:stCxn id="52" idx="3"/>
            <a:endCxn id="60" idx="1"/>
          </p:cNvCxnSpPr>
          <p:nvPr/>
        </p:nvCxnSpPr>
        <p:spPr>
          <a:xfrm>
            <a:off x="1353642" y="4855140"/>
            <a:ext cx="2440557" cy="81207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66" name="正方形/長方形 65">
            <a:extLst>
              <a:ext uri="{FF2B5EF4-FFF2-40B4-BE49-F238E27FC236}">
                <a16:creationId xmlns:a16="http://schemas.microsoft.com/office/drawing/2014/main" id="{F922E2DE-5C74-6CAA-736C-BAC94D2952DF}"/>
              </a:ext>
            </a:extLst>
          </p:cNvPr>
          <p:cNvSpPr/>
          <p:nvPr/>
        </p:nvSpPr>
        <p:spPr>
          <a:xfrm>
            <a:off x="3787185" y="5821165"/>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クー</a:t>
            </a:r>
            <a:r>
              <a:rPr lang="ja-JP" altLang="en-US" sz="1000" b="1" dirty="0">
                <a:solidFill>
                  <a:schemeClr val="bg1"/>
                </a:solidFill>
                <a:latin typeface="メイリオ" panose="020B0604030504040204" pitchFamily="50" charset="-128"/>
                <a:ea typeface="メイリオ" panose="020B0604030504040204" pitchFamily="50" charset="-128"/>
              </a:rPr>
              <a:t>ポン・リサーチ動線の設計</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03175683-57AB-6FFA-0F27-7E81645CA47B}"/>
              </a:ext>
            </a:extLst>
          </p:cNvPr>
          <p:cNvSpPr/>
          <p:nvPr/>
        </p:nvSpPr>
        <p:spPr>
          <a:xfrm>
            <a:off x="3794199" y="6089850"/>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チャット機能</a:t>
            </a:r>
          </a:p>
        </p:txBody>
      </p:sp>
      <p:cxnSp>
        <p:nvCxnSpPr>
          <p:cNvPr id="68" name="コネクタ: カギ線 67">
            <a:extLst>
              <a:ext uri="{FF2B5EF4-FFF2-40B4-BE49-F238E27FC236}">
                <a16:creationId xmlns:a16="http://schemas.microsoft.com/office/drawing/2014/main" id="{30FE3CED-649C-7946-1117-B1E2FD2D7F26}"/>
              </a:ext>
            </a:extLst>
          </p:cNvPr>
          <p:cNvCxnSpPr>
            <a:cxnSpLocks/>
          </p:cNvCxnSpPr>
          <p:nvPr/>
        </p:nvCxnSpPr>
        <p:spPr>
          <a:xfrm rot="5400000" flipH="1" flipV="1">
            <a:off x="1678688" y="3709654"/>
            <a:ext cx="3347219" cy="1294966"/>
          </a:xfrm>
          <a:prstGeom prst="bentConnector3">
            <a:avLst>
              <a:gd name="adj1" fmla="val 46358"/>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69" name="正方形/長方形 68">
            <a:extLst>
              <a:ext uri="{FF2B5EF4-FFF2-40B4-BE49-F238E27FC236}">
                <a16:creationId xmlns:a16="http://schemas.microsoft.com/office/drawing/2014/main" id="{5EB01514-8877-C931-E7AA-81B28EB77681}"/>
              </a:ext>
            </a:extLst>
          </p:cNvPr>
          <p:cNvSpPr/>
          <p:nvPr/>
        </p:nvSpPr>
        <p:spPr>
          <a:xfrm>
            <a:off x="7060419" y="1545337"/>
            <a:ext cx="2583782" cy="25261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rgbClr val="00B050"/>
                </a:solidFill>
                <a:latin typeface="メイリオ" panose="020B0604030504040204" pitchFamily="50" charset="-128"/>
                <a:ea typeface="メイリオ" panose="020B0604030504040204" pitchFamily="50" charset="-128"/>
              </a:rPr>
              <a:t>自動化</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ツール導入により</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可能領域</a:t>
            </a:r>
            <a:endParaRPr kumimoji="1" lang="ja-JP" altLang="en-US" sz="1000" b="1" dirty="0">
              <a:solidFill>
                <a:srgbClr val="00B050"/>
              </a:solidFill>
              <a:latin typeface="メイリオ" panose="020B0604030504040204" pitchFamily="50" charset="-128"/>
              <a:ea typeface="メイリオ" panose="020B0604030504040204" pitchFamily="50" charset="-128"/>
            </a:endParaRPr>
          </a:p>
        </p:txBody>
      </p:sp>
      <p:sp>
        <p:nvSpPr>
          <p:cNvPr id="70" name="テキスト ボックス 69">
            <a:extLst>
              <a:ext uri="{FF2B5EF4-FFF2-40B4-BE49-F238E27FC236}">
                <a16:creationId xmlns:a16="http://schemas.microsoft.com/office/drawing/2014/main" id="{F13EA781-8267-BC44-F585-50DB7DF86AA2}"/>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導入期間の長期化に伴い、カバー範囲を広げながら</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新規獲得</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】【CV</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質改善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リピート率改善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など新規・既存の両面から最適な施策をご提供することが可能です。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50733503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05794-10C5-A163-5F03-DB8F5144F62B}"/>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06924D46-4ED5-0BE1-9474-C475C9B8B3FD}"/>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550AF59C-8025-B190-6ED3-B311D27BA69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B52FA9B6-1E96-AE6B-376B-08DEB38C8F2E}"/>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業界平均値</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9466EA77-01E0-CA5D-3176-998FC02FE7DB}"/>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EEF4BB1D-1E6E-955A-85D2-2DAF3FCF967B}"/>
              </a:ext>
            </a:extLst>
          </p:cNvPr>
          <p:cNvSpPr/>
          <p:nvPr/>
        </p:nvSpPr>
        <p:spPr>
          <a:xfrm>
            <a:off x="388225" y="1594309"/>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200" b="1" dirty="0">
                <a:latin typeface="メイリオ" panose="020B0604030504040204" pitchFamily="50" charset="-128"/>
                <a:ea typeface="メイリオ" panose="020B0604030504040204" pitchFamily="50" charset="-128"/>
              </a:rPr>
              <a:t>流入元</a:t>
            </a:r>
          </a:p>
        </p:txBody>
      </p:sp>
      <p:sp>
        <p:nvSpPr>
          <p:cNvPr id="6" name="正方形/長方形 5">
            <a:extLst>
              <a:ext uri="{FF2B5EF4-FFF2-40B4-BE49-F238E27FC236}">
                <a16:creationId xmlns:a16="http://schemas.microsoft.com/office/drawing/2014/main" id="{531C33D5-FD17-057E-9ABE-377B289F9790}"/>
              </a:ext>
            </a:extLst>
          </p:cNvPr>
          <p:cNvSpPr/>
          <p:nvPr/>
        </p:nvSpPr>
        <p:spPr>
          <a:xfrm>
            <a:off x="1890454" y="1594308"/>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誘導</a:t>
            </a:r>
          </a:p>
        </p:txBody>
      </p:sp>
      <p:sp>
        <p:nvSpPr>
          <p:cNvPr id="7" name="正方形/長方形 6">
            <a:extLst>
              <a:ext uri="{FF2B5EF4-FFF2-40B4-BE49-F238E27FC236}">
                <a16:creationId xmlns:a16="http://schemas.microsoft.com/office/drawing/2014/main" id="{AFB52975-24F0-82CC-8A36-A65D2F539FA3}"/>
              </a:ext>
            </a:extLst>
          </p:cNvPr>
          <p:cNvSpPr/>
          <p:nvPr/>
        </p:nvSpPr>
        <p:spPr>
          <a:xfrm>
            <a:off x="3392683" y="1594308"/>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200" dirty="0">
                <a:latin typeface="メイリオ" panose="020B0604030504040204" pitchFamily="50" charset="-128"/>
                <a:ea typeface="メイリオ" panose="020B0604030504040204" pitchFamily="50" charset="-128"/>
              </a:rPr>
              <a:t>具体の施策方針</a:t>
            </a:r>
          </a:p>
        </p:txBody>
      </p:sp>
      <p:sp>
        <p:nvSpPr>
          <p:cNvPr id="8" name="矢印: 右 7">
            <a:extLst>
              <a:ext uri="{FF2B5EF4-FFF2-40B4-BE49-F238E27FC236}">
                <a16:creationId xmlns:a16="http://schemas.microsoft.com/office/drawing/2014/main" id="{173A008B-7B40-3834-688E-168FABDF16B8}"/>
              </a:ext>
            </a:extLst>
          </p:cNvPr>
          <p:cNvSpPr/>
          <p:nvPr/>
        </p:nvSpPr>
        <p:spPr>
          <a:xfrm>
            <a:off x="1031359" y="2268501"/>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9" name="正方形/長方形 8">
            <a:extLst>
              <a:ext uri="{FF2B5EF4-FFF2-40B4-BE49-F238E27FC236}">
                <a16:creationId xmlns:a16="http://schemas.microsoft.com/office/drawing/2014/main" id="{FD70E0F9-3A37-9791-A2F1-DB53DFA521CA}"/>
              </a:ext>
            </a:extLst>
          </p:cNvPr>
          <p:cNvSpPr/>
          <p:nvPr/>
        </p:nvSpPr>
        <p:spPr>
          <a:xfrm>
            <a:off x="1890454" y="200270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900" b="1">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10" name="正方形/長方形 9">
            <a:extLst>
              <a:ext uri="{FF2B5EF4-FFF2-40B4-BE49-F238E27FC236}">
                <a16:creationId xmlns:a16="http://schemas.microsoft.com/office/drawing/2014/main" id="{BC93A6AA-67BF-84C0-0945-45084140FCCE}"/>
              </a:ext>
            </a:extLst>
          </p:cNvPr>
          <p:cNvSpPr/>
          <p:nvPr/>
        </p:nvSpPr>
        <p:spPr>
          <a:xfrm>
            <a:off x="1890454" y="261588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11" name="正方形/長方形 10">
            <a:extLst>
              <a:ext uri="{FF2B5EF4-FFF2-40B4-BE49-F238E27FC236}">
                <a16:creationId xmlns:a16="http://schemas.microsoft.com/office/drawing/2014/main" id="{1B7DB214-408D-A44C-E3F0-2C35AF01311F}"/>
              </a:ext>
            </a:extLst>
          </p:cNvPr>
          <p:cNvSpPr/>
          <p:nvPr/>
        </p:nvSpPr>
        <p:spPr>
          <a:xfrm>
            <a:off x="388225" y="200270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00" b="1">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00" b="1"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4FF021F0-AD46-9EC1-0810-C474BA8335D8}"/>
              </a:ext>
            </a:extLst>
          </p:cNvPr>
          <p:cNvSpPr/>
          <p:nvPr/>
        </p:nvSpPr>
        <p:spPr>
          <a:xfrm>
            <a:off x="388225" y="261588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13" name="正方形/長方形 12">
            <a:extLst>
              <a:ext uri="{FF2B5EF4-FFF2-40B4-BE49-F238E27FC236}">
                <a16:creationId xmlns:a16="http://schemas.microsoft.com/office/drawing/2014/main" id="{8A474FF7-4108-C39F-A5EC-7D5691573134}"/>
              </a:ext>
            </a:extLst>
          </p:cNvPr>
          <p:cNvSpPr/>
          <p:nvPr/>
        </p:nvSpPr>
        <p:spPr>
          <a:xfrm>
            <a:off x="3392683" y="1997243"/>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4" name="矢印: 右 13">
            <a:extLst>
              <a:ext uri="{FF2B5EF4-FFF2-40B4-BE49-F238E27FC236}">
                <a16:creationId xmlns:a16="http://schemas.microsoft.com/office/drawing/2014/main" id="{7386A58D-9B89-4DB0-7216-4E1CB6B454A9}"/>
              </a:ext>
            </a:extLst>
          </p:cNvPr>
          <p:cNvSpPr/>
          <p:nvPr/>
        </p:nvSpPr>
        <p:spPr>
          <a:xfrm>
            <a:off x="1031361" y="3220341"/>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15" name="矢印: 右 14">
            <a:extLst>
              <a:ext uri="{FF2B5EF4-FFF2-40B4-BE49-F238E27FC236}">
                <a16:creationId xmlns:a16="http://schemas.microsoft.com/office/drawing/2014/main" id="{D3CE675D-8A5C-D632-6FDA-1C8A7E291893}"/>
              </a:ext>
            </a:extLst>
          </p:cNvPr>
          <p:cNvSpPr/>
          <p:nvPr/>
        </p:nvSpPr>
        <p:spPr>
          <a:xfrm>
            <a:off x="1031360" y="3921407"/>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cxnSp>
        <p:nvCxnSpPr>
          <p:cNvPr id="16" name="直線コネクタ 15">
            <a:extLst>
              <a:ext uri="{FF2B5EF4-FFF2-40B4-BE49-F238E27FC236}">
                <a16:creationId xmlns:a16="http://schemas.microsoft.com/office/drawing/2014/main" id="{8397AEEA-4837-54CF-13BA-F31B80D1393F}"/>
              </a:ext>
            </a:extLst>
          </p:cNvPr>
          <p:cNvCxnSpPr>
            <a:cxnSpLocks/>
          </p:cNvCxnSpPr>
          <p:nvPr/>
        </p:nvCxnSpPr>
        <p:spPr>
          <a:xfrm flipV="1">
            <a:off x="388225" y="3876481"/>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17" name="正方形/長方形 16">
            <a:extLst>
              <a:ext uri="{FF2B5EF4-FFF2-40B4-BE49-F238E27FC236}">
                <a16:creationId xmlns:a16="http://schemas.microsoft.com/office/drawing/2014/main" id="{24D1C472-525A-CFB1-3C6E-3053F2619881}"/>
              </a:ext>
            </a:extLst>
          </p:cNvPr>
          <p:cNvSpPr/>
          <p:nvPr/>
        </p:nvSpPr>
        <p:spPr>
          <a:xfrm>
            <a:off x="388225" y="3229075"/>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8" name="正方形/長方形 17">
            <a:extLst>
              <a:ext uri="{FF2B5EF4-FFF2-40B4-BE49-F238E27FC236}">
                <a16:creationId xmlns:a16="http://schemas.microsoft.com/office/drawing/2014/main" id="{CBD188BB-0EA8-4510-DCA0-2AEE1B7CD5EB}"/>
              </a:ext>
            </a:extLst>
          </p:cNvPr>
          <p:cNvSpPr/>
          <p:nvPr/>
        </p:nvSpPr>
        <p:spPr>
          <a:xfrm>
            <a:off x="1890454" y="396535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19" name="正方形/長方形 18">
            <a:extLst>
              <a:ext uri="{FF2B5EF4-FFF2-40B4-BE49-F238E27FC236}">
                <a16:creationId xmlns:a16="http://schemas.microsoft.com/office/drawing/2014/main" id="{29E6B5C9-2FD2-FC57-1789-05FA5F38E1F7}"/>
              </a:ext>
            </a:extLst>
          </p:cNvPr>
          <p:cNvSpPr/>
          <p:nvPr/>
        </p:nvSpPr>
        <p:spPr>
          <a:xfrm>
            <a:off x="388225" y="396535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20" name="正方形/長方形 19">
            <a:extLst>
              <a:ext uri="{FF2B5EF4-FFF2-40B4-BE49-F238E27FC236}">
                <a16:creationId xmlns:a16="http://schemas.microsoft.com/office/drawing/2014/main" id="{533AD0C0-7276-FA17-9FD7-734635201CB2}"/>
              </a:ext>
            </a:extLst>
          </p:cNvPr>
          <p:cNvSpPr/>
          <p:nvPr/>
        </p:nvSpPr>
        <p:spPr>
          <a:xfrm>
            <a:off x="3392682" y="322907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1" name="正方形/長方形 20">
            <a:extLst>
              <a:ext uri="{FF2B5EF4-FFF2-40B4-BE49-F238E27FC236}">
                <a16:creationId xmlns:a16="http://schemas.microsoft.com/office/drawing/2014/main" id="{415D5861-B108-7E0A-3377-5601EF82149A}"/>
              </a:ext>
            </a:extLst>
          </p:cNvPr>
          <p:cNvSpPr/>
          <p:nvPr/>
        </p:nvSpPr>
        <p:spPr>
          <a:xfrm>
            <a:off x="3392682" y="396535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2" name="矢印: 右 21">
            <a:extLst>
              <a:ext uri="{FF2B5EF4-FFF2-40B4-BE49-F238E27FC236}">
                <a16:creationId xmlns:a16="http://schemas.microsoft.com/office/drawing/2014/main" id="{94AAFD78-CFCD-8AAC-C5DE-8F785D90C401}"/>
              </a:ext>
            </a:extLst>
          </p:cNvPr>
          <p:cNvSpPr/>
          <p:nvPr/>
        </p:nvSpPr>
        <p:spPr>
          <a:xfrm>
            <a:off x="1031359" y="4568440"/>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3" name="矢印: 右 22">
            <a:extLst>
              <a:ext uri="{FF2B5EF4-FFF2-40B4-BE49-F238E27FC236}">
                <a16:creationId xmlns:a16="http://schemas.microsoft.com/office/drawing/2014/main" id="{4D8298BD-6809-4C50-E889-0C5F779DE209}"/>
              </a:ext>
            </a:extLst>
          </p:cNvPr>
          <p:cNvSpPr/>
          <p:nvPr/>
        </p:nvSpPr>
        <p:spPr>
          <a:xfrm>
            <a:off x="1031359" y="5800080"/>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4" name="矢印: 右 23">
            <a:extLst>
              <a:ext uri="{FF2B5EF4-FFF2-40B4-BE49-F238E27FC236}">
                <a16:creationId xmlns:a16="http://schemas.microsoft.com/office/drawing/2014/main" id="{01F0D3B8-3119-304D-228E-ED46B6CAB67D}"/>
              </a:ext>
            </a:extLst>
          </p:cNvPr>
          <p:cNvSpPr/>
          <p:nvPr/>
        </p:nvSpPr>
        <p:spPr>
          <a:xfrm>
            <a:off x="1031359" y="5189826"/>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5" name="正方形/長方形 24">
            <a:extLst>
              <a:ext uri="{FF2B5EF4-FFF2-40B4-BE49-F238E27FC236}">
                <a16:creationId xmlns:a16="http://schemas.microsoft.com/office/drawing/2014/main" id="{9751A61D-8342-2E71-49E2-6F2A585210CF}"/>
              </a:ext>
            </a:extLst>
          </p:cNvPr>
          <p:cNvSpPr/>
          <p:nvPr/>
        </p:nvSpPr>
        <p:spPr>
          <a:xfrm>
            <a:off x="1890454" y="458400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26" name="正方形/長方形 25">
            <a:extLst>
              <a:ext uri="{FF2B5EF4-FFF2-40B4-BE49-F238E27FC236}">
                <a16:creationId xmlns:a16="http://schemas.microsoft.com/office/drawing/2014/main" id="{069B86FC-7AC9-2579-6747-94409852E6A9}"/>
              </a:ext>
            </a:extLst>
          </p:cNvPr>
          <p:cNvSpPr/>
          <p:nvPr/>
        </p:nvSpPr>
        <p:spPr>
          <a:xfrm>
            <a:off x="388225" y="458400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27" name="正方形/長方形 26">
            <a:extLst>
              <a:ext uri="{FF2B5EF4-FFF2-40B4-BE49-F238E27FC236}">
                <a16:creationId xmlns:a16="http://schemas.microsoft.com/office/drawing/2014/main" id="{259BCB38-DAF2-BC8F-7410-9383C33A3F86}"/>
              </a:ext>
            </a:extLst>
          </p:cNvPr>
          <p:cNvSpPr/>
          <p:nvPr/>
        </p:nvSpPr>
        <p:spPr>
          <a:xfrm>
            <a:off x="388225" y="520264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28" name="正方形/長方形 27">
            <a:extLst>
              <a:ext uri="{FF2B5EF4-FFF2-40B4-BE49-F238E27FC236}">
                <a16:creationId xmlns:a16="http://schemas.microsoft.com/office/drawing/2014/main" id="{1F924E3D-9CB9-CA80-4FF6-D62C50842AEB}"/>
              </a:ext>
            </a:extLst>
          </p:cNvPr>
          <p:cNvSpPr/>
          <p:nvPr/>
        </p:nvSpPr>
        <p:spPr>
          <a:xfrm>
            <a:off x="388225" y="582129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29" name="正方形/長方形 28">
            <a:extLst>
              <a:ext uri="{FF2B5EF4-FFF2-40B4-BE49-F238E27FC236}">
                <a16:creationId xmlns:a16="http://schemas.microsoft.com/office/drawing/2014/main" id="{048444BF-0B54-4CE2-78C3-B78C7FCD001B}"/>
              </a:ext>
            </a:extLst>
          </p:cNvPr>
          <p:cNvSpPr/>
          <p:nvPr/>
        </p:nvSpPr>
        <p:spPr>
          <a:xfrm>
            <a:off x="1890453" y="520264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30" name="正方形/長方形 29">
            <a:extLst>
              <a:ext uri="{FF2B5EF4-FFF2-40B4-BE49-F238E27FC236}">
                <a16:creationId xmlns:a16="http://schemas.microsoft.com/office/drawing/2014/main" id="{AD971EAE-829E-07E1-B15C-D7B9C5538B0F}"/>
              </a:ext>
            </a:extLst>
          </p:cNvPr>
          <p:cNvSpPr/>
          <p:nvPr/>
        </p:nvSpPr>
        <p:spPr>
          <a:xfrm>
            <a:off x="1890453" y="582129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1" name="正方形/長方形 30">
            <a:extLst>
              <a:ext uri="{FF2B5EF4-FFF2-40B4-BE49-F238E27FC236}">
                <a16:creationId xmlns:a16="http://schemas.microsoft.com/office/drawing/2014/main" id="{1D0E3A14-A5E0-6277-4C0A-37271CE6D04A}"/>
              </a:ext>
            </a:extLst>
          </p:cNvPr>
          <p:cNvSpPr/>
          <p:nvPr/>
        </p:nvSpPr>
        <p:spPr>
          <a:xfrm>
            <a:off x="3392682" y="458400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0F8EFC74-4358-EB59-16A6-D864C62AC931}"/>
              </a:ext>
            </a:extLst>
          </p:cNvPr>
          <p:cNvSpPr/>
          <p:nvPr/>
        </p:nvSpPr>
        <p:spPr>
          <a:xfrm>
            <a:off x="3392682" y="5202650"/>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3" name="正方形/長方形 32">
            <a:extLst>
              <a:ext uri="{FF2B5EF4-FFF2-40B4-BE49-F238E27FC236}">
                <a16:creationId xmlns:a16="http://schemas.microsoft.com/office/drawing/2014/main" id="{36006927-A8A5-7A4B-A04C-F5D0808A5304}"/>
              </a:ext>
            </a:extLst>
          </p:cNvPr>
          <p:cNvSpPr/>
          <p:nvPr/>
        </p:nvSpPr>
        <p:spPr>
          <a:xfrm>
            <a:off x="3392682" y="581036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4" name="Shape 17">
            <a:extLst>
              <a:ext uri="{FF2B5EF4-FFF2-40B4-BE49-F238E27FC236}">
                <a16:creationId xmlns:a16="http://schemas.microsoft.com/office/drawing/2014/main" id="{B77E1FF1-F589-36AA-D779-FABB807F9501}"/>
              </a:ext>
            </a:extLst>
          </p:cNvPr>
          <p:cNvSpPr/>
          <p:nvPr/>
        </p:nvSpPr>
        <p:spPr>
          <a:xfrm>
            <a:off x="3586732" y="2068120"/>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35" name="Shape 18">
            <a:extLst>
              <a:ext uri="{FF2B5EF4-FFF2-40B4-BE49-F238E27FC236}">
                <a16:creationId xmlns:a16="http://schemas.microsoft.com/office/drawing/2014/main" id="{CA0F439F-8568-5F59-980B-81BDBE16E656}"/>
              </a:ext>
            </a:extLst>
          </p:cNvPr>
          <p:cNvSpPr/>
          <p:nvPr/>
        </p:nvSpPr>
        <p:spPr>
          <a:xfrm>
            <a:off x="5635860" y="2068120"/>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cxnSp>
        <p:nvCxnSpPr>
          <p:cNvPr id="36" name="直線矢印コネクタ 35">
            <a:extLst>
              <a:ext uri="{FF2B5EF4-FFF2-40B4-BE49-F238E27FC236}">
                <a16:creationId xmlns:a16="http://schemas.microsoft.com/office/drawing/2014/main" id="{F1667E92-F492-3E12-307D-7E98E48B45D9}"/>
              </a:ext>
            </a:extLst>
          </p:cNvPr>
          <p:cNvCxnSpPr>
            <a:endCxn id="35" idx="1"/>
          </p:cNvCxnSpPr>
          <p:nvPr/>
        </p:nvCxnSpPr>
        <p:spPr>
          <a:xfrm>
            <a:off x="5367201" y="2292370"/>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7" name="Shape 17">
            <a:extLst>
              <a:ext uri="{FF2B5EF4-FFF2-40B4-BE49-F238E27FC236}">
                <a16:creationId xmlns:a16="http://schemas.microsoft.com/office/drawing/2014/main" id="{9BCE046A-F0B6-BBFD-BFCA-03015B84F033}"/>
              </a:ext>
            </a:extLst>
          </p:cNvPr>
          <p:cNvSpPr/>
          <p:nvPr/>
        </p:nvSpPr>
        <p:spPr>
          <a:xfrm>
            <a:off x="3586732" y="2602307"/>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38" name="Shape 18">
            <a:extLst>
              <a:ext uri="{FF2B5EF4-FFF2-40B4-BE49-F238E27FC236}">
                <a16:creationId xmlns:a16="http://schemas.microsoft.com/office/drawing/2014/main" id="{14F2BF34-2AB8-9060-75EF-F5ADF9F01344}"/>
              </a:ext>
            </a:extLst>
          </p:cNvPr>
          <p:cNvSpPr/>
          <p:nvPr/>
        </p:nvSpPr>
        <p:spPr>
          <a:xfrm>
            <a:off x="5635860" y="2602307"/>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商談・申込への誘導</a:t>
            </a:r>
          </a:p>
        </p:txBody>
      </p:sp>
      <p:cxnSp>
        <p:nvCxnSpPr>
          <p:cNvPr id="39" name="直線矢印コネクタ 38">
            <a:extLst>
              <a:ext uri="{FF2B5EF4-FFF2-40B4-BE49-F238E27FC236}">
                <a16:creationId xmlns:a16="http://schemas.microsoft.com/office/drawing/2014/main" id="{B31F7370-9528-F602-262C-2CE6C0CA7D95}"/>
              </a:ext>
            </a:extLst>
          </p:cNvPr>
          <p:cNvCxnSpPr>
            <a:cxnSpLocks/>
            <a:stCxn id="37" idx="3"/>
            <a:endCxn id="38" idx="1"/>
          </p:cNvCxnSpPr>
          <p:nvPr/>
        </p:nvCxnSpPr>
        <p:spPr>
          <a:xfrm>
            <a:off x="5350219" y="283555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40" name="テキスト ボックス 102">
            <a:extLst>
              <a:ext uri="{FF2B5EF4-FFF2-40B4-BE49-F238E27FC236}">
                <a16:creationId xmlns:a16="http://schemas.microsoft.com/office/drawing/2014/main" id="{CB5BD751-9EE2-F77E-B237-6EBEA67F4576}"/>
              </a:ext>
            </a:extLst>
          </p:cNvPr>
          <p:cNvSpPr txBox="1"/>
          <p:nvPr/>
        </p:nvSpPr>
        <p:spPr>
          <a:xfrm>
            <a:off x="7643602" y="1550861"/>
            <a:ext cx="1874173" cy="43088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kumimoji="1" lang="en-US" altLang="ja-JP" sz="1100" b="1" dirty="0">
                <a:solidFill>
                  <a:srgbClr val="FF0000"/>
                </a:solidFill>
                <a:latin typeface="メイリオ" panose="020B0604030504040204" pitchFamily="50" charset="-128"/>
                <a:ea typeface="メイリオ" panose="020B0604030504040204" pitchFamily="50" charset="-128"/>
              </a:rPr>
              <a:t>CV</a:t>
            </a:r>
            <a:r>
              <a:rPr kumimoji="1" lang="ja-JP" altLang="en-US" sz="1100" b="1" dirty="0">
                <a:solidFill>
                  <a:srgbClr val="FF0000"/>
                </a:solidFill>
                <a:latin typeface="メイリオ" panose="020B0604030504040204" pitchFamily="50" charset="-128"/>
                <a:ea typeface="メイリオ" panose="020B0604030504040204" pitchFamily="50" charset="-128"/>
              </a:rPr>
              <a:t>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FF0000"/>
                </a:solidFill>
                <a:latin typeface="メイリオ" panose="020B0604030504040204" pitchFamily="50" charset="-128"/>
                <a:ea typeface="メイリオ" panose="020B0604030504040204" pitchFamily="50" charset="-128"/>
              </a:rPr>
              <a:t>※</a:t>
            </a:r>
            <a:r>
              <a:rPr lang="ja-JP" altLang="en-US" sz="1000" dirty="0">
                <a:solidFill>
                  <a:srgbClr val="FF0000"/>
                </a:solidFill>
                <a:latin typeface="メイリオ" panose="020B0604030504040204" pitchFamily="50" charset="-128"/>
                <a:ea typeface="メイリオ" panose="020B0604030504040204" pitchFamily="50" charset="-128"/>
              </a:rPr>
              <a:t>平均値 </a:t>
            </a:r>
            <a:r>
              <a:rPr lang="en-US" altLang="ja-JP" sz="1000" dirty="0">
                <a:solidFill>
                  <a:srgbClr val="FF0000"/>
                </a:solidFill>
                <a:highlight>
                  <a:srgbClr val="FFFF00"/>
                </a:highlight>
                <a:latin typeface="メイリオ" panose="020B0604030504040204" pitchFamily="50" charset="-128"/>
                <a:ea typeface="メイリオ" panose="020B0604030504040204" pitchFamily="50" charset="-128"/>
              </a:rPr>
              <a:t>※CVR</a:t>
            </a:r>
            <a:r>
              <a:rPr lang="ja-JP" altLang="en-US" sz="1000" dirty="0">
                <a:solidFill>
                  <a:srgbClr val="FF0000"/>
                </a:solidFill>
                <a:highlight>
                  <a:srgbClr val="FFFF00"/>
                </a:highlight>
                <a:latin typeface="メイリオ" panose="020B0604030504040204" pitchFamily="50" charset="-128"/>
                <a:ea typeface="メイリオ" panose="020B0604030504040204" pitchFamily="50" charset="-128"/>
              </a:rPr>
              <a:t>ではない</a:t>
            </a:r>
            <a:endParaRPr kumimoji="1" lang="ja-JP" altLang="en-US" sz="1000" dirty="0">
              <a:solidFill>
                <a:srgbClr val="FF0000"/>
              </a:solidFill>
              <a:highlight>
                <a:srgbClr val="FFFF00"/>
              </a:highlight>
              <a:latin typeface="メイリオ" panose="020B0604030504040204" pitchFamily="50" charset="-128"/>
              <a:ea typeface="メイリオ" panose="020B0604030504040204" pitchFamily="50" charset="-128"/>
            </a:endParaRPr>
          </a:p>
        </p:txBody>
      </p:sp>
      <p:sp>
        <p:nvSpPr>
          <p:cNvPr id="41" name="テキスト ボックス 104">
            <a:extLst>
              <a:ext uri="{FF2B5EF4-FFF2-40B4-BE49-F238E27FC236}">
                <a16:creationId xmlns:a16="http://schemas.microsoft.com/office/drawing/2014/main" id="{55562E1F-54CF-8256-1530-F264D924D0C4}"/>
              </a:ext>
            </a:extLst>
          </p:cNvPr>
          <p:cNvSpPr txBox="1"/>
          <p:nvPr/>
        </p:nvSpPr>
        <p:spPr>
          <a:xfrm>
            <a:off x="7795459" y="2302105"/>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ja-JP" altLang="en-US" sz="2800" b="1" dirty="0">
                <a:solidFill>
                  <a:srgbClr val="FF0000"/>
                </a:solidFill>
                <a:latin typeface="メイリオ" panose="020B0604030504040204" pitchFamily="50" charset="-128"/>
                <a:ea typeface="メイリオ" panose="020B0604030504040204" pitchFamily="50" charset="-128"/>
              </a:rPr>
              <a:t>３</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2" name="テキスト ボックス 106">
            <a:extLst>
              <a:ext uri="{FF2B5EF4-FFF2-40B4-BE49-F238E27FC236}">
                <a16:creationId xmlns:a16="http://schemas.microsoft.com/office/drawing/2014/main" id="{0D6F6472-C1C9-8DD7-5969-2F70988996B7}"/>
              </a:ext>
            </a:extLst>
          </p:cNvPr>
          <p:cNvSpPr txBox="1"/>
          <p:nvPr/>
        </p:nvSpPr>
        <p:spPr>
          <a:xfrm>
            <a:off x="7781456" y="3247026"/>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1.5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3" name="テキスト ボックス 108">
            <a:extLst>
              <a:ext uri="{FF2B5EF4-FFF2-40B4-BE49-F238E27FC236}">
                <a16:creationId xmlns:a16="http://schemas.microsoft.com/office/drawing/2014/main" id="{3EBEB224-105E-FCC6-752F-0DC0ACDDFEFC}"/>
              </a:ext>
            </a:extLst>
          </p:cNvPr>
          <p:cNvSpPr txBox="1"/>
          <p:nvPr/>
        </p:nvSpPr>
        <p:spPr>
          <a:xfrm>
            <a:off x="7795459" y="3952829"/>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4" name="テキスト ボックス 110">
            <a:extLst>
              <a:ext uri="{FF2B5EF4-FFF2-40B4-BE49-F238E27FC236}">
                <a16:creationId xmlns:a16="http://schemas.microsoft.com/office/drawing/2014/main" id="{F26B0A2E-9DBA-FEE5-637F-02A225C02C23}"/>
              </a:ext>
            </a:extLst>
          </p:cNvPr>
          <p:cNvSpPr txBox="1"/>
          <p:nvPr/>
        </p:nvSpPr>
        <p:spPr>
          <a:xfrm>
            <a:off x="7781455" y="4592965"/>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6" name="テキスト ボックス 112">
            <a:extLst>
              <a:ext uri="{FF2B5EF4-FFF2-40B4-BE49-F238E27FC236}">
                <a16:creationId xmlns:a16="http://schemas.microsoft.com/office/drawing/2014/main" id="{0C0FA132-24D2-97C7-D00F-5A970556EB00}"/>
              </a:ext>
            </a:extLst>
          </p:cNvPr>
          <p:cNvSpPr txBox="1"/>
          <p:nvPr/>
        </p:nvSpPr>
        <p:spPr>
          <a:xfrm>
            <a:off x="7781455" y="5217138"/>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7" name="テキスト ボックス 114">
            <a:extLst>
              <a:ext uri="{FF2B5EF4-FFF2-40B4-BE49-F238E27FC236}">
                <a16:creationId xmlns:a16="http://schemas.microsoft.com/office/drawing/2014/main" id="{FD400E85-93A8-6ADB-337D-4AC8973CAF45}"/>
              </a:ext>
            </a:extLst>
          </p:cNvPr>
          <p:cNvSpPr txBox="1"/>
          <p:nvPr/>
        </p:nvSpPr>
        <p:spPr>
          <a:xfrm>
            <a:off x="7781455" y="5822973"/>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8" name="Shape 17">
            <a:extLst>
              <a:ext uri="{FF2B5EF4-FFF2-40B4-BE49-F238E27FC236}">
                <a16:creationId xmlns:a16="http://schemas.microsoft.com/office/drawing/2014/main" id="{1CA555AB-71AF-EB14-1D64-C35A07A084CC}"/>
              </a:ext>
            </a:extLst>
          </p:cNvPr>
          <p:cNvSpPr/>
          <p:nvPr/>
        </p:nvSpPr>
        <p:spPr>
          <a:xfrm>
            <a:off x="3586732" y="3279991"/>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49" name="Shape 18">
            <a:extLst>
              <a:ext uri="{FF2B5EF4-FFF2-40B4-BE49-F238E27FC236}">
                <a16:creationId xmlns:a16="http://schemas.microsoft.com/office/drawing/2014/main" id="{019053B5-0AD3-160E-B42A-8528F025A84E}"/>
              </a:ext>
            </a:extLst>
          </p:cNvPr>
          <p:cNvSpPr/>
          <p:nvPr/>
        </p:nvSpPr>
        <p:spPr>
          <a:xfrm>
            <a:off x="5635860" y="3279991"/>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50" name="直線矢印コネクタ 49">
            <a:extLst>
              <a:ext uri="{FF2B5EF4-FFF2-40B4-BE49-F238E27FC236}">
                <a16:creationId xmlns:a16="http://schemas.microsoft.com/office/drawing/2014/main" id="{48AC5144-1E7E-4082-003A-97A6D96D2994}"/>
              </a:ext>
            </a:extLst>
          </p:cNvPr>
          <p:cNvCxnSpPr>
            <a:cxnSpLocks/>
            <a:stCxn id="48" idx="3"/>
            <a:endCxn id="49" idx="1"/>
          </p:cNvCxnSpPr>
          <p:nvPr/>
        </p:nvCxnSpPr>
        <p:spPr>
          <a:xfrm>
            <a:off x="5350219" y="3513237"/>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1" name="Shape 17">
            <a:extLst>
              <a:ext uri="{FF2B5EF4-FFF2-40B4-BE49-F238E27FC236}">
                <a16:creationId xmlns:a16="http://schemas.microsoft.com/office/drawing/2014/main" id="{03AA9053-24E8-182C-23AA-4BEA28F1863B}"/>
              </a:ext>
            </a:extLst>
          </p:cNvPr>
          <p:cNvSpPr/>
          <p:nvPr/>
        </p:nvSpPr>
        <p:spPr>
          <a:xfrm>
            <a:off x="3586732" y="4020849"/>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52" name="Shape 18">
            <a:extLst>
              <a:ext uri="{FF2B5EF4-FFF2-40B4-BE49-F238E27FC236}">
                <a16:creationId xmlns:a16="http://schemas.microsoft.com/office/drawing/2014/main" id="{760C890D-1868-9325-4069-2354337B0399}"/>
              </a:ext>
            </a:extLst>
          </p:cNvPr>
          <p:cNvSpPr/>
          <p:nvPr/>
        </p:nvSpPr>
        <p:spPr>
          <a:xfrm>
            <a:off x="5635860" y="4020849"/>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53" name="直線矢印コネクタ 52">
            <a:extLst>
              <a:ext uri="{FF2B5EF4-FFF2-40B4-BE49-F238E27FC236}">
                <a16:creationId xmlns:a16="http://schemas.microsoft.com/office/drawing/2014/main" id="{CE344BB3-FFA2-50D7-ADEA-7AA9C56BA1E2}"/>
              </a:ext>
            </a:extLst>
          </p:cNvPr>
          <p:cNvCxnSpPr>
            <a:cxnSpLocks/>
            <a:stCxn id="51" idx="3"/>
            <a:endCxn id="52" idx="1"/>
          </p:cNvCxnSpPr>
          <p:nvPr/>
        </p:nvCxnSpPr>
        <p:spPr>
          <a:xfrm>
            <a:off x="5350219" y="425409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4" name="Shape 17">
            <a:extLst>
              <a:ext uri="{FF2B5EF4-FFF2-40B4-BE49-F238E27FC236}">
                <a16:creationId xmlns:a16="http://schemas.microsoft.com/office/drawing/2014/main" id="{9439D4FC-6ABA-77F9-BCBC-39518FFF0A4B}"/>
              </a:ext>
            </a:extLst>
          </p:cNvPr>
          <p:cNvSpPr/>
          <p:nvPr/>
        </p:nvSpPr>
        <p:spPr>
          <a:xfrm>
            <a:off x="3586732" y="4627235"/>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55" name="Shape 18">
            <a:extLst>
              <a:ext uri="{FF2B5EF4-FFF2-40B4-BE49-F238E27FC236}">
                <a16:creationId xmlns:a16="http://schemas.microsoft.com/office/drawing/2014/main" id="{E23B94EA-C025-B46E-3CFE-6F951848C924}"/>
              </a:ext>
            </a:extLst>
          </p:cNvPr>
          <p:cNvSpPr/>
          <p:nvPr/>
        </p:nvSpPr>
        <p:spPr>
          <a:xfrm>
            <a:off x="5635860" y="4627235"/>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商談・再購入誘導</a:t>
            </a:r>
          </a:p>
        </p:txBody>
      </p:sp>
      <p:cxnSp>
        <p:nvCxnSpPr>
          <p:cNvPr id="56" name="直線矢印コネクタ 55">
            <a:extLst>
              <a:ext uri="{FF2B5EF4-FFF2-40B4-BE49-F238E27FC236}">
                <a16:creationId xmlns:a16="http://schemas.microsoft.com/office/drawing/2014/main" id="{83F28A8E-5BD4-6CFE-A1AB-95F3F23ADFC2}"/>
              </a:ext>
            </a:extLst>
          </p:cNvPr>
          <p:cNvCxnSpPr>
            <a:cxnSpLocks/>
            <a:stCxn id="54" idx="3"/>
            <a:endCxn id="55" idx="1"/>
          </p:cNvCxnSpPr>
          <p:nvPr/>
        </p:nvCxnSpPr>
        <p:spPr>
          <a:xfrm>
            <a:off x="5350219" y="486048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7" name="Shape 17">
            <a:extLst>
              <a:ext uri="{FF2B5EF4-FFF2-40B4-BE49-F238E27FC236}">
                <a16:creationId xmlns:a16="http://schemas.microsoft.com/office/drawing/2014/main" id="{6D4CD712-1339-1DEA-1A5F-9F51874CCCB1}"/>
              </a:ext>
            </a:extLst>
          </p:cNvPr>
          <p:cNvSpPr/>
          <p:nvPr/>
        </p:nvSpPr>
        <p:spPr>
          <a:xfrm>
            <a:off x="3586732" y="5251006"/>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58" name="Shape 18">
            <a:extLst>
              <a:ext uri="{FF2B5EF4-FFF2-40B4-BE49-F238E27FC236}">
                <a16:creationId xmlns:a16="http://schemas.microsoft.com/office/drawing/2014/main" id="{5F976E27-1C09-25DE-2664-7D927081F231}"/>
              </a:ext>
            </a:extLst>
          </p:cNvPr>
          <p:cNvSpPr/>
          <p:nvPr/>
        </p:nvSpPr>
        <p:spPr>
          <a:xfrm>
            <a:off x="5635860" y="5251006"/>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59" name="直線矢印コネクタ 58">
            <a:extLst>
              <a:ext uri="{FF2B5EF4-FFF2-40B4-BE49-F238E27FC236}">
                <a16:creationId xmlns:a16="http://schemas.microsoft.com/office/drawing/2014/main" id="{82C1A774-7713-D5A5-03F8-DCE7AD58DB1B}"/>
              </a:ext>
            </a:extLst>
          </p:cNvPr>
          <p:cNvCxnSpPr>
            <a:cxnSpLocks/>
            <a:stCxn id="57" idx="3"/>
            <a:endCxn id="58" idx="1"/>
          </p:cNvCxnSpPr>
          <p:nvPr/>
        </p:nvCxnSpPr>
        <p:spPr>
          <a:xfrm>
            <a:off x="5350219" y="5484252"/>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0" name="Shape 17">
            <a:extLst>
              <a:ext uri="{FF2B5EF4-FFF2-40B4-BE49-F238E27FC236}">
                <a16:creationId xmlns:a16="http://schemas.microsoft.com/office/drawing/2014/main" id="{CC857E24-C3F9-53FF-5D44-B2CE0DE30602}"/>
              </a:ext>
            </a:extLst>
          </p:cNvPr>
          <p:cNvSpPr/>
          <p:nvPr/>
        </p:nvSpPr>
        <p:spPr>
          <a:xfrm>
            <a:off x="3586732" y="5859395"/>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（特典訴求で友だち追加促進）</a:t>
            </a:r>
          </a:p>
        </p:txBody>
      </p:sp>
      <p:sp>
        <p:nvSpPr>
          <p:cNvPr id="61" name="Shape 18">
            <a:extLst>
              <a:ext uri="{FF2B5EF4-FFF2-40B4-BE49-F238E27FC236}">
                <a16:creationId xmlns:a16="http://schemas.microsoft.com/office/drawing/2014/main" id="{496CBE75-90FF-44E1-05AA-F85C409960A4}"/>
              </a:ext>
            </a:extLst>
          </p:cNvPr>
          <p:cNvSpPr/>
          <p:nvPr/>
        </p:nvSpPr>
        <p:spPr>
          <a:xfrm>
            <a:off x="5635860" y="5859395"/>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最大化</a:t>
            </a:r>
          </a:p>
        </p:txBody>
      </p:sp>
      <p:cxnSp>
        <p:nvCxnSpPr>
          <p:cNvPr id="62" name="直線矢印コネクタ 61">
            <a:extLst>
              <a:ext uri="{FF2B5EF4-FFF2-40B4-BE49-F238E27FC236}">
                <a16:creationId xmlns:a16="http://schemas.microsoft.com/office/drawing/2014/main" id="{D05BCA3B-7E23-AB71-18F0-5A49C04E309D}"/>
              </a:ext>
            </a:extLst>
          </p:cNvPr>
          <p:cNvCxnSpPr>
            <a:cxnSpLocks/>
            <a:stCxn id="60" idx="3"/>
            <a:endCxn id="61" idx="1"/>
          </p:cNvCxnSpPr>
          <p:nvPr/>
        </p:nvCxnSpPr>
        <p:spPr>
          <a:xfrm>
            <a:off x="5350219" y="609264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4" name="テキスト ボックス 63">
            <a:extLst>
              <a:ext uri="{FF2B5EF4-FFF2-40B4-BE49-F238E27FC236}">
                <a16:creationId xmlns:a16="http://schemas.microsoft.com/office/drawing/2014/main" id="{82CD4DCC-2C80-6383-8368-FB0A87EC66CA}"/>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公式</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の友だち追加ユーザーが成果地点（</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CV</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800" b="1" dirty="0">
                <a:solidFill>
                  <a:srgbClr val="FF0000"/>
                </a:solidFill>
                <a:latin typeface="Meiryo" panose="020B0604030504040204" pitchFamily="34" charset="-128"/>
                <a:ea typeface="Meiryo" panose="020B0604030504040204" pitchFamily="34" charset="-128"/>
              </a:rPr>
              <a:t> </a:t>
            </a:r>
            <a:r>
              <a:rPr lang="en-US" altLang="ja-JP" sz="800" b="1" dirty="0">
                <a:solidFill>
                  <a:srgbClr val="FF0000"/>
                </a:solidFill>
                <a:latin typeface="Meiryo" panose="020B0604030504040204" pitchFamily="34" charset="-128"/>
                <a:ea typeface="Meiryo" panose="020B0604030504040204" pitchFamily="34" charset="-128"/>
              </a:rPr>
              <a:t>※</a:t>
            </a:r>
            <a:r>
              <a:rPr lang="ja-JP" altLang="en-US" sz="800" b="1" dirty="0">
                <a:solidFill>
                  <a:srgbClr val="FF0000"/>
                </a:solidFill>
                <a:latin typeface="Meiryo" panose="020B0604030504040204" pitchFamily="34" charset="-128"/>
                <a:ea typeface="Meiryo" panose="020B0604030504040204" pitchFamily="34" charset="-128"/>
              </a:rPr>
              <a:t>業界業態・地点により変動   </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に到達する割合は</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通算で３</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前後と言われており、</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動線を最適化することはマーケティングにおける重要度が高い。</a:t>
            </a:r>
            <a:endParaRPr lang="en-US" altLang="ja-JP" sz="1400" b="1" dirty="0">
              <a:solidFill>
                <a:srgbClr val="FF0000"/>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365182510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082CEA-3068-C260-29FA-52D10FA7F467}"/>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11A65C8-17C8-D684-CB75-56D55121F86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52E0E886-3FF7-1177-80B0-EC2CDD9EFAA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8B2265A6-2819-27E8-AA87-ACBFF2D49AD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要件定義</a:t>
            </a:r>
            <a:endParaRPr sz="1600" b="1" dirty="0">
              <a:solidFill>
                <a:srgbClr val="002060"/>
              </a:solidFill>
              <a:latin typeface="Meiryo"/>
              <a:ea typeface="Meiryo"/>
              <a:cs typeface="Meiryo"/>
              <a:sym typeface="Meiryo"/>
            </a:endParaRPr>
          </a:p>
        </p:txBody>
      </p:sp>
      <p:sp>
        <p:nvSpPr>
          <p:cNvPr id="25" name="二等辺三角形 24">
            <a:extLst>
              <a:ext uri="{FF2B5EF4-FFF2-40B4-BE49-F238E27FC236}">
                <a16:creationId xmlns:a16="http://schemas.microsoft.com/office/drawing/2014/main" id="{3FDFECE2-9923-BB50-13D2-3D4A9E65C558}"/>
              </a:ext>
            </a:extLst>
          </p:cNvPr>
          <p:cNvSpPr/>
          <p:nvPr/>
        </p:nvSpPr>
        <p:spPr>
          <a:xfrm rot="10800000">
            <a:off x="1013700" y="3167381"/>
            <a:ext cx="7965031" cy="486852"/>
          </a:xfrm>
          <a:prstGeom prst="triangle">
            <a:avLst>
              <a:gd name="adj" fmla="val 49365"/>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26" name="正方形/長方形 25">
            <a:extLst>
              <a:ext uri="{FF2B5EF4-FFF2-40B4-BE49-F238E27FC236}">
                <a16:creationId xmlns:a16="http://schemas.microsoft.com/office/drawing/2014/main" id="{C4E20CB5-EE4A-545E-031C-B0FF76AEE517}"/>
              </a:ext>
            </a:extLst>
          </p:cNvPr>
          <p:cNvSpPr/>
          <p:nvPr/>
        </p:nvSpPr>
        <p:spPr>
          <a:xfrm>
            <a:off x="503966" y="775227"/>
            <a:ext cx="8898070" cy="297590"/>
          </a:xfrm>
          <a:prstGeom prst="rect">
            <a:avLst/>
          </a:prstGeom>
          <a:solidFill>
            <a:schemeClr val="tx2">
              <a:lumMod val="75000"/>
            </a:schemeClr>
          </a:solidFill>
          <a:ln>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effectLst/>
                <a:latin typeface="メイリオ" panose="020B0604030504040204" pitchFamily="50" charset="-128"/>
                <a:ea typeface="メイリオ" panose="020B0604030504040204" pitchFamily="50" charset="-128"/>
                <a:cs typeface="メイリオ" panose="020B0604030504040204" pitchFamily="50" charset="-128"/>
              </a:rPr>
              <a:t>プロモーション目的</a:t>
            </a:r>
          </a:p>
        </p:txBody>
      </p:sp>
      <p:sp>
        <p:nvSpPr>
          <p:cNvPr id="27" name="正方形/長方形 26">
            <a:extLst>
              <a:ext uri="{FF2B5EF4-FFF2-40B4-BE49-F238E27FC236}">
                <a16:creationId xmlns:a16="http://schemas.microsoft.com/office/drawing/2014/main" id="{A773DE68-F51A-B2B7-A85F-DDEF158DE1E8}"/>
              </a:ext>
            </a:extLst>
          </p:cNvPr>
          <p:cNvSpPr/>
          <p:nvPr/>
        </p:nvSpPr>
        <p:spPr>
          <a:xfrm>
            <a:off x="503967" y="1090870"/>
            <a:ext cx="8898070" cy="525365"/>
          </a:xfrm>
          <a:prstGeom prst="rect">
            <a:avLst/>
          </a:prstGeom>
          <a:noFill/>
          <a:ln>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の初期構築と効果の最大化</a:t>
            </a:r>
            <a:endParaRPr lang="en-US" altLang="ja-JP"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28" name="テキスト ボックス 4">
            <a:extLst>
              <a:ext uri="{FF2B5EF4-FFF2-40B4-BE49-F238E27FC236}">
                <a16:creationId xmlns:a16="http://schemas.microsoft.com/office/drawing/2014/main" id="{D82D8E99-CD5B-56FF-33CE-071E3712BDD6}"/>
              </a:ext>
            </a:extLst>
          </p:cNvPr>
          <p:cNvSpPr txBox="1"/>
          <p:nvPr/>
        </p:nvSpPr>
        <p:spPr>
          <a:xfrm>
            <a:off x="3893204" y="3204084"/>
            <a:ext cx="2236946" cy="369332"/>
          </a:xfrm>
          <a:prstGeom prst="rect">
            <a:avLst/>
          </a:prstGeom>
          <a:noFill/>
        </p:spPr>
        <p:txBody>
          <a:bodyPr wrap="squar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t>弊社からのご提案</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0" name="正方形/長方形 29">
            <a:extLst>
              <a:ext uri="{FF2B5EF4-FFF2-40B4-BE49-F238E27FC236}">
                <a16:creationId xmlns:a16="http://schemas.microsoft.com/office/drawing/2014/main" id="{FAB8E792-C2AE-2097-2C3E-326F4730D6FF}"/>
              </a:ext>
            </a:extLst>
          </p:cNvPr>
          <p:cNvSpPr/>
          <p:nvPr/>
        </p:nvSpPr>
        <p:spPr>
          <a:xfrm>
            <a:off x="503965" y="3759311"/>
            <a:ext cx="8898070" cy="366112"/>
          </a:xfrm>
          <a:prstGeom prst="rect">
            <a:avLst/>
          </a:prstGeom>
          <a:solidFill>
            <a:schemeClr val="accent1">
              <a:lumMod val="20000"/>
              <a:lumOff val="80000"/>
            </a:schemeClr>
          </a:solidFill>
          <a:ln>
            <a:solidFill>
              <a:schemeClr val="accent1">
                <a:lumMod val="60000"/>
                <a:lumOff val="4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solidFill>
                  <a:schemeClr val="accent1">
                    <a:lumMod val="75000"/>
                  </a:schemeClr>
                </a:solidFill>
                <a:effectLst/>
                <a:latin typeface="メイリオ" panose="020B0604030504040204" pitchFamily="50" charset="-128"/>
                <a:ea typeface="メイリオ" panose="020B0604030504040204" pitchFamily="50" charset="-128"/>
                <a:cs typeface="メイリオ" panose="020B0604030504040204" pitchFamily="50" charset="-128"/>
              </a:rPr>
              <a:t>手法</a:t>
            </a:r>
          </a:p>
        </p:txBody>
      </p:sp>
      <p:sp>
        <p:nvSpPr>
          <p:cNvPr id="32" name="正方形/長方形 31">
            <a:extLst>
              <a:ext uri="{FF2B5EF4-FFF2-40B4-BE49-F238E27FC236}">
                <a16:creationId xmlns:a16="http://schemas.microsoft.com/office/drawing/2014/main" id="{6CB99AAC-0BEA-E7FB-6909-1C7C68EDF323}"/>
              </a:ext>
            </a:extLst>
          </p:cNvPr>
          <p:cNvSpPr/>
          <p:nvPr/>
        </p:nvSpPr>
        <p:spPr>
          <a:xfrm>
            <a:off x="503965" y="4180114"/>
            <a:ext cx="8898070" cy="2285834"/>
          </a:xfrm>
          <a:prstGeom prst="rect">
            <a:avLst/>
          </a:prstGeom>
          <a:noFill/>
          <a:ln>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・豊富な弊社実績を活用した配信設計の構築</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企画投稿</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ステップ配信</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p>
          <a:p>
            <a:r>
              <a:rPr lang="ja-JP" altLang="en-US" sz="16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弊社の豊富な実績や市場調査を活かし、最適なタイミングで最適なメッセージを送付し</a:t>
            </a:r>
            <a:r>
              <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CV</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へ</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また、学習コンテンツの展開でサービス理解度を引き上げ、来店意欲</a:t>
            </a:r>
            <a:r>
              <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UP</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を狙う。</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endParaRPr lang="en-US" altLang="ja-JP" sz="7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・フェーズ毎に戦略を変えることで来店意欲の醸成</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動線・セグメント設定</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p>
          <a:p>
            <a:r>
              <a:rPr lang="ja-JP" altLang="en-US"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設定セグメント・ターゲティングを変化させ複数回違う訴求にて接触。</a:t>
            </a:r>
            <a:endParaRPr lang="en-US" altLang="ja-JP" sz="1400" dirty="0">
              <a:solidFill>
                <a:schemeClr val="tx2">
                  <a:lumMod val="75000"/>
                </a:schemeClr>
              </a:solidFill>
              <a:latin typeface="メイリオ" panose="020B0604030504040204" pitchFamily="50" charset="-128"/>
              <a:cs typeface="メイリオ" panose="020B0604030504040204" pitchFamily="50" charset="-128"/>
            </a:endParaRPr>
          </a:p>
          <a:p>
            <a:endParaRPr lang="en-US" altLang="ja-JP" sz="7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・売上計測環境の整備及び</a:t>
            </a:r>
            <a:r>
              <a:rPr lang="en-US" altLang="ja-JP" sz="1600" b="1" dirty="0" err="1">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GoogleAnalytics</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の整備</a:t>
            </a:r>
            <a:endParaRPr lang="ja-JP" altLang="en-US"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タグを整備することで</a:t>
            </a:r>
            <a:r>
              <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経由の成果可視化を実行。</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企画・動線ごとに成果を可視化し、訴求テストなどを実施しながら効率化を図る。</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3" name="正方形/長方形 32">
            <a:extLst>
              <a:ext uri="{FF2B5EF4-FFF2-40B4-BE49-F238E27FC236}">
                <a16:creationId xmlns:a16="http://schemas.microsoft.com/office/drawing/2014/main" id="{ADCEEB55-8D79-5D37-18D6-691241A3FC15}"/>
              </a:ext>
            </a:extLst>
          </p:cNvPr>
          <p:cNvSpPr/>
          <p:nvPr/>
        </p:nvSpPr>
        <p:spPr>
          <a:xfrm>
            <a:off x="503965" y="1675570"/>
            <a:ext cx="8898070" cy="386003"/>
          </a:xfrm>
          <a:prstGeom prst="rect">
            <a:avLst/>
          </a:pr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effectLst/>
                <a:latin typeface="メイリオ" panose="020B0604030504040204" pitchFamily="50" charset="-128"/>
                <a:ea typeface="メイリオ" panose="020B0604030504040204" pitchFamily="50" charset="-128"/>
                <a:cs typeface="メイリオ" panose="020B0604030504040204" pitchFamily="50" charset="-128"/>
              </a:rPr>
              <a:t>配信目標</a:t>
            </a:r>
          </a:p>
        </p:txBody>
      </p:sp>
      <p:sp>
        <p:nvSpPr>
          <p:cNvPr id="34" name="正方形/長方形 33">
            <a:extLst>
              <a:ext uri="{FF2B5EF4-FFF2-40B4-BE49-F238E27FC236}">
                <a16:creationId xmlns:a16="http://schemas.microsoft.com/office/drawing/2014/main" id="{36696439-35BA-93A5-530C-51E6DC29272E}"/>
              </a:ext>
            </a:extLst>
          </p:cNvPr>
          <p:cNvSpPr/>
          <p:nvPr/>
        </p:nvSpPr>
        <p:spPr>
          <a:xfrm>
            <a:off x="503965" y="2077535"/>
            <a:ext cx="8898070" cy="1021153"/>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①離脱ユーザーの再育成による</a:t>
            </a:r>
            <a:r>
              <a:rPr lang="en-US" altLang="ja-JP"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CV</a:t>
            </a:r>
            <a:r>
              <a:rPr lang="ja-JP" altLang="en-US"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数増加 </a:t>
            </a:r>
            <a:endParaRPr lang="en-US" altLang="ja-JP"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sz="20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②体験予約のみユーザーの削減 → 来店・契約サポート</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中長期施策として展開予定</a:t>
            </a:r>
            <a:endParaRPr lang="en-US" altLang="ja-JP" sz="20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115134335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CDCB94-34C8-7DB0-D6CB-991D39D9B9D2}"/>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2D028149-DEFF-22C6-CAE7-C46667CD5B1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3B163438-09F4-A453-CFBB-24C6CF88C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7AF73B81-5AB2-69AD-0B6B-5E5125231533}"/>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想定の費用対効果（</a:t>
            </a:r>
            <a:r>
              <a:rPr lang="en-US" altLang="ja-JP" sz="1600" b="1" dirty="0">
                <a:solidFill>
                  <a:srgbClr val="002060"/>
                </a:solidFill>
                <a:latin typeface="Meiryo"/>
                <a:ea typeface="Meiryo"/>
                <a:cs typeface="Meiryo"/>
                <a:sym typeface="Meiryo"/>
              </a:rPr>
              <a:t>1</a:t>
            </a:r>
            <a:r>
              <a:rPr lang="ja-JP" altLang="en-US" sz="1600" b="1" dirty="0">
                <a:solidFill>
                  <a:srgbClr val="002060"/>
                </a:solidFill>
                <a:latin typeface="Meiryo"/>
                <a:ea typeface="Meiryo"/>
                <a:cs typeface="Meiryo"/>
                <a:sym typeface="Meiryo"/>
              </a:rPr>
              <a:t>アカウントあたり）</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6D3B98F3-4025-AFCB-8240-F44980ECB13F}"/>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869BC935-5DB9-4560-B356-B396B9360386}"/>
              </a:ext>
            </a:extLst>
          </p:cNvPr>
          <p:cNvSpPr/>
          <p:nvPr/>
        </p:nvSpPr>
        <p:spPr>
          <a:xfrm>
            <a:off x="261257" y="1672045"/>
            <a:ext cx="2899954" cy="40930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初期</a:t>
            </a:r>
          </a:p>
        </p:txBody>
      </p:sp>
      <p:sp>
        <p:nvSpPr>
          <p:cNvPr id="7" name="正方形/長方形 6">
            <a:extLst>
              <a:ext uri="{FF2B5EF4-FFF2-40B4-BE49-F238E27FC236}">
                <a16:creationId xmlns:a16="http://schemas.microsoft.com/office/drawing/2014/main" id="{7880C836-A2BC-2FC7-3468-9B9075E279C9}"/>
              </a:ext>
            </a:extLst>
          </p:cNvPr>
          <p:cNvSpPr/>
          <p:nvPr/>
        </p:nvSpPr>
        <p:spPr>
          <a:xfrm>
            <a:off x="3337560" y="1672045"/>
            <a:ext cx="2899954" cy="40930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月次</a:t>
            </a:r>
          </a:p>
        </p:txBody>
      </p:sp>
      <p:sp>
        <p:nvSpPr>
          <p:cNvPr id="8" name="正方形/長方形 7">
            <a:extLst>
              <a:ext uri="{FF2B5EF4-FFF2-40B4-BE49-F238E27FC236}">
                <a16:creationId xmlns:a16="http://schemas.microsoft.com/office/drawing/2014/main" id="{01B38E14-DD7E-D8D3-B41B-B992885905CB}"/>
              </a:ext>
            </a:extLst>
          </p:cNvPr>
          <p:cNvSpPr/>
          <p:nvPr/>
        </p:nvSpPr>
        <p:spPr>
          <a:xfrm>
            <a:off x="261257" y="2158065"/>
            <a:ext cx="2899954" cy="90735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solidFill>
                  <a:schemeClr val="tx1"/>
                </a:solidFill>
                <a:latin typeface="メイリオ" panose="020B0604030504040204" pitchFamily="50" charset="-128"/>
                <a:ea typeface="メイリオ" panose="020B0604030504040204" pitchFamily="50" charset="-128"/>
              </a:rPr>
              <a:t>¥120,000</a:t>
            </a:r>
            <a:endParaRPr kumimoji="1" lang="ja-JP" altLang="en-US" sz="1400" dirty="0">
              <a:solidFill>
                <a:schemeClr val="tx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6D37009A-88DD-861E-09A2-546B9A58E210}"/>
              </a:ext>
            </a:extLst>
          </p:cNvPr>
          <p:cNvSpPr/>
          <p:nvPr/>
        </p:nvSpPr>
        <p:spPr>
          <a:xfrm>
            <a:off x="3337560" y="2158065"/>
            <a:ext cx="2899954" cy="90735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solidFill>
                  <a:schemeClr val="tx1"/>
                </a:solidFill>
                <a:latin typeface="メイリオ" panose="020B0604030504040204" pitchFamily="50" charset="-128"/>
                <a:ea typeface="メイリオ" panose="020B0604030504040204" pitchFamily="50" charset="-128"/>
              </a:rPr>
              <a:t>固定： </a:t>
            </a:r>
            <a:r>
              <a:rPr lang="en-US" altLang="ja-JP" sz="1400" dirty="0">
                <a:solidFill>
                  <a:schemeClr val="tx1"/>
                </a:solidFill>
                <a:latin typeface="メイリオ" panose="020B0604030504040204" pitchFamily="50" charset="-128"/>
                <a:ea typeface="メイリオ" panose="020B0604030504040204" pitchFamily="50" charset="-128"/>
              </a:rPr>
              <a:t>¥40,000</a:t>
            </a:r>
            <a:r>
              <a:rPr lang="en-US" altLang="ja-JP" sz="1000" dirty="0">
                <a:solidFill>
                  <a:schemeClr val="tx1"/>
                </a:solidFill>
                <a:latin typeface="メイリオ" panose="020B0604030504040204" pitchFamily="50" charset="-128"/>
                <a:ea typeface="メイリオ" panose="020B0604030504040204" pitchFamily="50" charset="-128"/>
              </a:rPr>
              <a:t>(</a:t>
            </a:r>
            <a:r>
              <a:rPr lang="ja-JP" altLang="en-US" sz="1000" dirty="0">
                <a:solidFill>
                  <a:schemeClr val="tx1"/>
                </a:solidFill>
                <a:latin typeface="メイリオ" panose="020B0604030504040204" pitchFamily="50" charset="-128"/>
                <a:ea typeface="メイリオ" panose="020B0604030504040204" pitchFamily="50" charset="-128"/>
              </a:rPr>
              <a:t>初動</a:t>
            </a:r>
            <a:r>
              <a:rPr lang="en-US" altLang="ja-JP" sz="1000" dirty="0">
                <a:solidFill>
                  <a:schemeClr val="tx1"/>
                </a:solidFill>
                <a:latin typeface="メイリオ" panose="020B0604030504040204" pitchFamily="50" charset="-128"/>
                <a:ea typeface="メイリオ" panose="020B0604030504040204" pitchFamily="50" charset="-128"/>
              </a:rPr>
              <a:t>3</a:t>
            </a:r>
            <a:r>
              <a:rPr lang="ja-JP" altLang="en-US" sz="1000" dirty="0">
                <a:solidFill>
                  <a:schemeClr val="tx1"/>
                </a:solidFill>
                <a:latin typeface="メイリオ" panose="020B0604030504040204" pitchFamily="50" charset="-128"/>
                <a:ea typeface="メイリオ" panose="020B0604030504040204" pitchFamily="50" charset="-128"/>
              </a:rPr>
              <a:t>か月は</a:t>
            </a:r>
            <a:r>
              <a:rPr lang="en-US" altLang="ja-JP" sz="1000" dirty="0">
                <a:solidFill>
                  <a:schemeClr val="tx1"/>
                </a:solidFill>
                <a:latin typeface="メイリオ" panose="020B0604030504040204" pitchFamily="50" charset="-128"/>
                <a:ea typeface="メイリオ" panose="020B0604030504040204" pitchFamily="50" charset="-128"/>
              </a:rPr>
              <a:t>\20,000)</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dirty="0">
                <a:solidFill>
                  <a:schemeClr val="tx1"/>
                </a:solidFill>
                <a:latin typeface="メイリオ" panose="020B0604030504040204" pitchFamily="50" charset="-128"/>
                <a:ea typeface="メイリオ" panose="020B0604030504040204" pitchFamily="50" charset="-128"/>
              </a:rPr>
              <a:t>＋ 成果：単価 ¥2,000</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200" dirty="0">
                <a:solidFill>
                  <a:schemeClr val="tx1"/>
                </a:solidFill>
                <a:latin typeface="メイリオ" panose="020B0604030504040204" pitchFamily="50" charset="-128"/>
                <a:ea typeface="メイリオ" panose="020B0604030504040204" pitchFamily="50" charset="-128"/>
              </a:rPr>
              <a:t>＋ コンサル費（入会案内）： ¥50,000</a:t>
            </a:r>
            <a:endParaRPr lang="ja-JP" altLang="en-US" sz="1400" dirty="0">
              <a:solidFill>
                <a:schemeClr val="tx1"/>
              </a:solidFill>
              <a:latin typeface="メイリオ" panose="020B0604030504040204" pitchFamily="50" charset="-128"/>
              <a:ea typeface="メイリオ" panose="020B0604030504040204" pitchFamily="50" charset="-128"/>
            </a:endParaRPr>
          </a:p>
        </p:txBody>
      </p:sp>
      <p:sp>
        <p:nvSpPr>
          <p:cNvPr id="15" name="矢印: 右 14">
            <a:extLst>
              <a:ext uri="{FF2B5EF4-FFF2-40B4-BE49-F238E27FC236}">
                <a16:creationId xmlns:a16="http://schemas.microsoft.com/office/drawing/2014/main" id="{FC496752-169B-38CE-883D-84ADB306D799}"/>
              </a:ext>
            </a:extLst>
          </p:cNvPr>
          <p:cNvSpPr/>
          <p:nvPr/>
        </p:nvSpPr>
        <p:spPr>
          <a:xfrm>
            <a:off x="6379031" y="2281645"/>
            <a:ext cx="365760" cy="2795449"/>
          </a:xfrm>
          <a:prstGeom prst="right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DA148636-1253-1384-2015-E2EB8852C9FE}"/>
              </a:ext>
            </a:extLst>
          </p:cNvPr>
          <p:cNvSpPr/>
          <p:nvPr/>
        </p:nvSpPr>
        <p:spPr>
          <a:xfrm>
            <a:off x="6744791" y="1672044"/>
            <a:ext cx="2899952" cy="409303"/>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bg1"/>
                </a:solidFill>
                <a:latin typeface="メイリオ" panose="020B0604030504040204" pitchFamily="50" charset="-128"/>
                <a:ea typeface="メイリオ" panose="020B0604030504040204" pitchFamily="50" charset="-128"/>
              </a:rPr>
              <a:t>6</a:t>
            </a:r>
            <a:r>
              <a:rPr kumimoji="1" lang="ja-JP" altLang="en-US" sz="1200" dirty="0">
                <a:solidFill>
                  <a:schemeClr val="bg1"/>
                </a:solidFill>
                <a:latin typeface="メイリオ" panose="020B0604030504040204" pitchFamily="50" charset="-128"/>
                <a:ea typeface="メイリオ" panose="020B0604030504040204" pitchFamily="50" charset="-128"/>
              </a:rPr>
              <a:t>か月後</a:t>
            </a:r>
          </a:p>
        </p:txBody>
      </p:sp>
      <p:sp>
        <p:nvSpPr>
          <p:cNvPr id="19" name="テキスト ボックス 18">
            <a:extLst>
              <a:ext uri="{FF2B5EF4-FFF2-40B4-BE49-F238E27FC236}">
                <a16:creationId xmlns:a16="http://schemas.microsoft.com/office/drawing/2014/main" id="{51BCDCE3-E0DC-64C9-5AE4-D62A1BB2F0B2}"/>
              </a:ext>
            </a:extLst>
          </p:cNvPr>
          <p:cNvSpPr txBox="1"/>
          <p:nvPr/>
        </p:nvSpPr>
        <p:spPr>
          <a:xfrm>
            <a:off x="444137" y="3186837"/>
            <a:ext cx="2534194" cy="276999"/>
          </a:xfrm>
          <a:prstGeom prst="rect">
            <a:avLst/>
          </a:prstGeom>
          <a:noFill/>
        </p:spPr>
        <p:txBody>
          <a:bodyPr wrap="square">
            <a:spAutoFit/>
          </a:bodyPr>
          <a:lstStyle/>
          <a:p>
            <a:pPr algn="ctr"/>
            <a:r>
              <a:rPr kumimoji="1" lang="en-US" altLang="ja-JP" sz="1200" dirty="0">
                <a:solidFill>
                  <a:schemeClr val="tx1"/>
                </a:solidFill>
                <a:latin typeface="メイリオ" panose="020B0604030504040204" pitchFamily="50" charset="-128"/>
                <a:ea typeface="メイリオ" panose="020B0604030504040204" pitchFamily="50" charset="-128"/>
              </a:rPr>
              <a:t>&lt;</a:t>
            </a:r>
            <a:r>
              <a:rPr kumimoji="1" lang="ja-JP" altLang="en-US" sz="1200" dirty="0">
                <a:solidFill>
                  <a:schemeClr val="tx1"/>
                </a:solidFill>
                <a:latin typeface="メイリオ" panose="020B0604030504040204" pitchFamily="50" charset="-128"/>
                <a:ea typeface="メイリオ" panose="020B0604030504040204" pitchFamily="50" charset="-128"/>
              </a:rPr>
              <a:t>実施内容</a:t>
            </a:r>
            <a:r>
              <a:rPr kumimoji="1" lang="en-US" altLang="ja-JP" sz="1200" dirty="0">
                <a:solidFill>
                  <a:schemeClr val="tx1"/>
                </a:solidFill>
                <a:latin typeface="メイリオ" panose="020B0604030504040204" pitchFamily="50" charset="-128"/>
                <a:ea typeface="メイリオ" panose="020B0604030504040204" pitchFamily="50" charset="-128"/>
              </a:rPr>
              <a:t>&gt;</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21" name="テキスト ボックス 20">
            <a:extLst>
              <a:ext uri="{FF2B5EF4-FFF2-40B4-BE49-F238E27FC236}">
                <a16:creationId xmlns:a16="http://schemas.microsoft.com/office/drawing/2014/main" id="{93377C5E-E0F0-CDD7-88D4-BB2DFD34BDB7}"/>
              </a:ext>
            </a:extLst>
          </p:cNvPr>
          <p:cNvSpPr txBox="1"/>
          <p:nvPr/>
        </p:nvSpPr>
        <p:spPr>
          <a:xfrm>
            <a:off x="3503024" y="3186837"/>
            <a:ext cx="2534194" cy="276999"/>
          </a:xfrm>
          <a:prstGeom prst="rect">
            <a:avLst/>
          </a:prstGeom>
          <a:noFill/>
        </p:spPr>
        <p:txBody>
          <a:bodyPr wrap="square">
            <a:spAutoFit/>
          </a:bodyPr>
          <a:lstStyle/>
          <a:p>
            <a:pPr algn="ctr"/>
            <a:r>
              <a:rPr kumimoji="1" lang="en-US" altLang="ja-JP" sz="1200" dirty="0">
                <a:solidFill>
                  <a:schemeClr val="tx1"/>
                </a:solidFill>
                <a:latin typeface="メイリオ" panose="020B0604030504040204" pitchFamily="50" charset="-128"/>
                <a:ea typeface="メイリオ" panose="020B0604030504040204" pitchFamily="50" charset="-128"/>
              </a:rPr>
              <a:t>&lt;</a:t>
            </a:r>
            <a:r>
              <a:rPr kumimoji="1" lang="ja-JP" altLang="en-US" sz="1200" dirty="0">
                <a:solidFill>
                  <a:schemeClr val="tx1"/>
                </a:solidFill>
                <a:latin typeface="メイリオ" panose="020B0604030504040204" pitchFamily="50" charset="-128"/>
                <a:ea typeface="メイリオ" panose="020B0604030504040204" pitchFamily="50" charset="-128"/>
              </a:rPr>
              <a:t>実施内容</a:t>
            </a:r>
            <a:r>
              <a:rPr kumimoji="1" lang="en-US" altLang="ja-JP" sz="1200" dirty="0">
                <a:solidFill>
                  <a:schemeClr val="tx1"/>
                </a:solidFill>
                <a:latin typeface="メイリオ" panose="020B0604030504040204" pitchFamily="50" charset="-128"/>
                <a:ea typeface="メイリオ" panose="020B0604030504040204" pitchFamily="50" charset="-128"/>
              </a:rPr>
              <a:t>&gt;</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25" name="正方形/長方形 24">
            <a:extLst>
              <a:ext uri="{FF2B5EF4-FFF2-40B4-BE49-F238E27FC236}">
                <a16:creationId xmlns:a16="http://schemas.microsoft.com/office/drawing/2014/main" id="{423E80D8-0677-EA4F-9E76-E96BE86C80F4}"/>
              </a:ext>
            </a:extLst>
          </p:cNvPr>
          <p:cNvSpPr/>
          <p:nvPr/>
        </p:nvSpPr>
        <p:spPr>
          <a:xfrm>
            <a:off x="3408319" y="3478699"/>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月次投稿</a:t>
            </a:r>
          </a:p>
        </p:txBody>
      </p:sp>
      <p:sp>
        <p:nvSpPr>
          <p:cNvPr id="29" name="正方形/長方形 28">
            <a:extLst>
              <a:ext uri="{FF2B5EF4-FFF2-40B4-BE49-F238E27FC236}">
                <a16:creationId xmlns:a16="http://schemas.microsoft.com/office/drawing/2014/main" id="{0D7C10C7-D0BA-2429-4E3C-3C9B1A0BD42B}"/>
              </a:ext>
            </a:extLst>
          </p:cNvPr>
          <p:cNvSpPr/>
          <p:nvPr/>
        </p:nvSpPr>
        <p:spPr>
          <a:xfrm>
            <a:off x="4657463" y="3478699"/>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2</a:t>
            </a:r>
            <a:r>
              <a:rPr lang="en-US" altLang="ja-JP" sz="1000" dirty="0">
                <a:solidFill>
                  <a:schemeClr val="tx1"/>
                </a:solidFill>
                <a:latin typeface="メイリオ" panose="020B0604030504040204" pitchFamily="50" charset="-128"/>
                <a:ea typeface="メイリオ" panose="020B0604030504040204" pitchFamily="50" charset="-128"/>
              </a:rPr>
              <a:t>-3</a:t>
            </a:r>
            <a:r>
              <a:rPr kumimoji="1" lang="ja-JP" altLang="en-US" sz="1000" dirty="0">
                <a:solidFill>
                  <a:schemeClr val="tx1"/>
                </a:solidFill>
                <a:latin typeface="メイリオ" panose="020B0604030504040204" pitchFamily="50" charset="-128"/>
                <a:ea typeface="メイリオ" panose="020B0604030504040204" pitchFamily="50" charset="-128"/>
              </a:rPr>
              <a:t>回</a:t>
            </a:r>
          </a:p>
        </p:txBody>
      </p:sp>
      <p:sp>
        <p:nvSpPr>
          <p:cNvPr id="33" name="正方形/長方形 32">
            <a:extLst>
              <a:ext uri="{FF2B5EF4-FFF2-40B4-BE49-F238E27FC236}">
                <a16:creationId xmlns:a16="http://schemas.microsoft.com/office/drawing/2014/main" id="{7C01E0B6-089E-D0CB-E2F1-931D297B273B}"/>
              </a:ext>
            </a:extLst>
          </p:cNvPr>
          <p:cNvSpPr/>
          <p:nvPr/>
        </p:nvSpPr>
        <p:spPr>
          <a:xfrm>
            <a:off x="3408319" y="3905336"/>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リッチメニュー</a:t>
            </a:r>
            <a:endParaRPr kumimoji="1" lang="en-US" altLang="ja-JP" sz="1100" dirty="0">
              <a:solidFill>
                <a:schemeClr val="bg1"/>
              </a:solidFill>
              <a:latin typeface="メイリオ" panose="020B0604030504040204" pitchFamily="50" charset="-128"/>
              <a:ea typeface="メイリオ" panose="020B0604030504040204" pitchFamily="50" charset="-128"/>
            </a:endParaRPr>
          </a:p>
          <a:p>
            <a:pPr algn="ctr"/>
            <a:r>
              <a:rPr lang="ja-JP" altLang="en-US" sz="1100" dirty="0">
                <a:solidFill>
                  <a:schemeClr val="bg1"/>
                </a:solidFill>
                <a:latin typeface="メイリオ" panose="020B0604030504040204" pitchFamily="50" charset="-128"/>
                <a:ea typeface="メイリオ" panose="020B0604030504040204" pitchFamily="50" charset="-128"/>
              </a:rPr>
              <a:t>修正変更</a:t>
            </a:r>
            <a:endParaRPr kumimoji="1" lang="ja-JP" altLang="en-US" sz="1100" dirty="0">
              <a:solidFill>
                <a:schemeClr val="bg1"/>
              </a:solidFill>
              <a:latin typeface="メイリオ" panose="020B0604030504040204" pitchFamily="50" charset="-128"/>
              <a:ea typeface="メイリオ" panose="020B0604030504040204" pitchFamily="50" charset="-128"/>
            </a:endParaRPr>
          </a:p>
        </p:txBody>
      </p:sp>
      <p:sp>
        <p:nvSpPr>
          <p:cNvPr id="37" name="正方形/長方形 36">
            <a:extLst>
              <a:ext uri="{FF2B5EF4-FFF2-40B4-BE49-F238E27FC236}">
                <a16:creationId xmlns:a16="http://schemas.microsoft.com/office/drawing/2014/main" id="{8E28FD05-4146-E3E7-076F-F0405244D430}"/>
              </a:ext>
            </a:extLst>
          </p:cNvPr>
          <p:cNvSpPr/>
          <p:nvPr/>
        </p:nvSpPr>
        <p:spPr>
          <a:xfrm>
            <a:off x="4657463" y="3905336"/>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a:t>
            </a:r>
          </a:p>
        </p:txBody>
      </p:sp>
      <p:sp>
        <p:nvSpPr>
          <p:cNvPr id="41" name="正方形/長方形 40">
            <a:extLst>
              <a:ext uri="{FF2B5EF4-FFF2-40B4-BE49-F238E27FC236}">
                <a16:creationId xmlns:a16="http://schemas.microsoft.com/office/drawing/2014/main" id="{0BCA0670-1E25-A137-DE69-4285D1972C41}"/>
              </a:ext>
            </a:extLst>
          </p:cNvPr>
          <p:cNvSpPr/>
          <p:nvPr/>
        </p:nvSpPr>
        <p:spPr>
          <a:xfrm>
            <a:off x="3408319" y="4331973"/>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月次レポート</a:t>
            </a:r>
          </a:p>
        </p:txBody>
      </p:sp>
      <p:sp>
        <p:nvSpPr>
          <p:cNvPr id="46" name="正方形/長方形 45">
            <a:extLst>
              <a:ext uri="{FF2B5EF4-FFF2-40B4-BE49-F238E27FC236}">
                <a16:creationId xmlns:a16="http://schemas.microsoft.com/office/drawing/2014/main" id="{BABF4F76-4A93-A922-BEA6-2B8E93EAFA64}"/>
              </a:ext>
            </a:extLst>
          </p:cNvPr>
          <p:cNvSpPr/>
          <p:nvPr/>
        </p:nvSpPr>
        <p:spPr>
          <a:xfrm>
            <a:off x="4657463" y="4331973"/>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1</a:t>
            </a:r>
            <a:r>
              <a:rPr kumimoji="1" lang="ja-JP" altLang="en-US" sz="1000" dirty="0">
                <a:solidFill>
                  <a:schemeClr val="tx1"/>
                </a:solidFill>
                <a:latin typeface="メイリオ" panose="020B0604030504040204" pitchFamily="50" charset="-128"/>
                <a:ea typeface="メイリオ" panose="020B0604030504040204" pitchFamily="50" charset="-128"/>
              </a:rPr>
              <a:t>回</a:t>
            </a:r>
          </a:p>
        </p:txBody>
      </p:sp>
      <p:sp>
        <p:nvSpPr>
          <p:cNvPr id="50" name="正方形/長方形 49">
            <a:extLst>
              <a:ext uri="{FF2B5EF4-FFF2-40B4-BE49-F238E27FC236}">
                <a16:creationId xmlns:a16="http://schemas.microsoft.com/office/drawing/2014/main" id="{B9BBAE1C-A24C-C8BA-EC21-E3C3004B99D5}"/>
              </a:ext>
            </a:extLst>
          </p:cNvPr>
          <p:cNvSpPr/>
          <p:nvPr/>
        </p:nvSpPr>
        <p:spPr>
          <a:xfrm>
            <a:off x="3408319" y="4758610"/>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rPr>
              <a:t>月次定例会</a:t>
            </a:r>
          </a:p>
        </p:txBody>
      </p:sp>
      <p:sp>
        <p:nvSpPr>
          <p:cNvPr id="54" name="正方形/長方形 53">
            <a:extLst>
              <a:ext uri="{FF2B5EF4-FFF2-40B4-BE49-F238E27FC236}">
                <a16:creationId xmlns:a16="http://schemas.microsoft.com/office/drawing/2014/main" id="{5356490D-00B0-A4A4-46A8-C05373647872}"/>
              </a:ext>
            </a:extLst>
          </p:cNvPr>
          <p:cNvSpPr/>
          <p:nvPr/>
        </p:nvSpPr>
        <p:spPr>
          <a:xfrm>
            <a:off x="4657463" y="4758610"/>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dirty="0">
                <a:solidFill>
                  <a:schemeClr val="tx1"/>
                </a:solidFill>
                <a:latin typeface="メイリオ" panose="020B0604030504040204" pitchFamily="50" charset="-128"/>
                <a:ea typeface="メイリオ" panose="020B0604030504040204" pitchFamily="50" charset="-128"/>
              </a:rPr>
              <a:t>※</a:t>
            </a:r>
            <a:r>
              <a:rPr lang="ja-JP" altLang="en-US" sz="1000" dirty="0">
                <a:solidFill>
                  <a:schemeClr val="tx1"/>
                </a:solidFill>
                <a:latin typeface="メイリオ" panose="020B0604030504040204" pitchFamily="50" charset="-128"/>
                <a:ea typeface="メイリオ" panose="020B0604030504040204" pitchFamily="50" charset="-128"/>
              </a:rPr>
              <a:t>固定プランのみ実施</a:t>
            </a:r>
          </a:p>
        </p:txBody>
      </p:sp>
      <p:sp>
        <p:nvSpPr>
          <p:cNvPr id="66" name="正方形/長方形 65">
            <a:extLst>
              <a:ext uri="{FF2B5EF4-FFF2-40B4-BE49-F238E27FC236}">
                <a16:creationId xmlns:a16="http://schemas.microsoft.com/office/drawing/2014/main" id="{1B7BC116-FC44-14F8-A570-7E8F4A6BB425}"/>
              </a:ext>
            </a:extLst>
          </p:cNvPr>
          <p:cNvSpPr/>
          <p:nvPr/>
        </p:nvSpPr>
        <p:spPr>
          <a:xfrm>
            <a:off x="3408319" y="5185247"/>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ステップ配信</a:t>
            </a:r>
          </a:p>
        </p:txBody>
      </p:sp>
      <p:sp>
        <p:nvSpPr>
          <p:cNvPr id="70" name="正方形/長方形 69">
            <a:extLst>
              <a:ext uri="{FF2B5EF4-FFF2-40B4-BE49-F238E27FC236}">
                <a16:creationId xmlns:a16="http://schemas.microsoft.com/office/drawing/2014/main" id="{4F35ECFF-76E2-1684-79A2-B91FDAC2A015}"/>
              </a:ext>
            </a:extLst>
          </p:cNvPr>
          <p:cNvSpPr/>
          <p:nvPr/>
        </p:nvSpPr>
        <p:spPr>
          <a:xfrm>
            <a:off x="4657463" y="5185247"/>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5-10</a:t>
            </a:r>
            <a:r>
              <a:rPr kumimoji="1" lang="ja-JP" altLang="en-US" sz="1000" dirty="0">
                <a:solidFill>
                  <a:schemeClr val="tx1"/>
                </a:solidFill>
                <a:latin typeface="メイリオ" panose="020B0604030504040204" pitchFamily="50" charset="-128"/>
                <a:ea typeface="メイリオ" panose="020B0604030504040204" pitchFamily="50" charset="-128"/>
              </a:rPr>
              <a:t>本程度</a:t>
            </a:r>
          </a:p>
        </p:txBody>
      </p:sp>
      <p:sp>
        <p:nvSpPr>
          <p:cNvPr id="80" name="正方形/長方形 79">
            <a:extLst>
              <a:ext uri="{FF2B5EF4-FFF2-40B4-BE49-F238E27FC236}">
                <a16:creationId xmlns:a16="http://schemas.microsoft.com/office/drawing/2014/main" id="{4D93C7A0-5D0C-D57D-DA97-71D42D2D5517}"/>
              </a:ext>
            </a:extLst>
          </p:cNvPr>
          <p:cNvSpPr/>
          <p:nvPr/>
        </p:nvSpPr>
        <p:spPr>
          <a:xfrm>
            <a:off x="6886308" y="2281645"/>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rPr>
              <a:t>友だち数</a:t>
            </a:r>
            <a:endParaRPr kumimoji="1" lang="ja-JP" altLang="en-US" sz="1200" b="1" dirty="0">
              <a:solidFill>
                <a:schemeClr val="bg1"/>
              </a:solidFill>
              <a:latin typeface="メイリオ" panose="020B0604030504040204" pitchFamily="50" charset="-128"/>
              <a:ea typeface="メイリオ" panose="020B0604030504040204" pitchFamily="50" charset="-128"/>
            </a:endParaRPr>
          </a:p>
        </p:txBody>
      </p:sp>
      <p:sp>
        <p:nvSpPr>
          <p:cNvPr id="82" name="正方形/長方形 81">
            <a:extLst>
              <a:ext uri="{FF2B5EF4-FFF2-40B4-BE49-F238E27FC236}">
                <a16:creationId xmlns:a16="http://schemas.microsoft.com/office/drawing/2014/main" id="{6F215F53-D8D8-2192-C7D6-49E3B32E635B}"/>
              </a:ext>
            </a:extLst>
          </p:cNvPr>
          <p:cNvSpPr/>
          <p:nvPr/>
        </p:nvSpPr>
        <p:spPr>
          <a:xfrm>
            <a:off x="6886308" y="2708282"/>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開封率</a:t>
            </a:r>
          </a:p>
        </p:txBody>
      </p:sp>
      <p:sp>
        <p:nvSpPr>
          <p:cNvPr id="84" name="正方形/長方形 83">
            <a:extLst>
              <a:ext uri="{FF2B5EF4-FFF2-40B4-BE49-F238E27FC236}">
                <a16:creationId xmlns:a16="http://schemas.microsoft.com/office/drawing/2014/main" id="{F86385E5-9ACB-BD7D-FFF1-9DCAFEF8B9DE}"/>
              </a:ext>
            </a:extLst>
          </p:cNvPr>
          <p:cNvSpPr/>
          <p:nvPr/>
        </p:nvSpPr>
        <p:spPr>
          <a:xfrm>
            <a:off x="6886308" y="3134919"/>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流入</a:t>
            </a:r>
          </a:p>
        </p:txBody>
      </p:sp>
      <p:sp>
        <p:nvSpPr>
          <p:cNvPr id="86" name="正方形/長方形 85">
            <a:extLst>
              <a:ext uri="{FF2B5EF4-FFF2-40B4-BE49-F238E27FC236}">
                <a16:creationId xmlns:a16="http://schemas.microsoft.com/office/drawing/2014/main" id="{38F3E569-103C-B3AD-15E9-E0BB6026E36F}"/>
              </a:ext>
            </a:extLst>
          </p:cNvPr>
          <p:cNvSpPr/>
          <p:nvPr/>
        </p:nvSpPr>
        <p:spPr>
          <a:xfrm>
            <a:off x="6886308" y="3561556"/>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bg1"/>
                </a:solidFill>
                <a:latin typeface="メイリオ" panose="020B0604030504040204" pitchFamily="50" charset="-128"/>
                <a:ea typeface="メイリオ" panose="020B0604030504040204" pitchFamily="50" charset="-128"/>
              </a:rPr>
              <a:t>CV</a:t>
            </a:r>
            <a:endParaRPr kumimoji="1" lang="ja-JP" altLang="en-US" sz="1200" b="1" dirty="0">
              <a:solidFill>
                <a:schemeClr val="bg1"/>
              </a:solidFill>
              <a:latin typeface="メイリオ" panose="020B0604030504040204" pitchFamily="50" charset="-128"/>
              <a:ea typeface="メイリオ" panose="020B0604030504040204" pitchFamily="50" charset="-128"/>
            </a:endParaRPr>
          </a:p>
        </p:txBody>
      </p:sp>
      <p:pic>
        <p:nvPicPr>
          <p:cNvPr id="9" name="図 8">
            <a:extLst>
              <a:ext uri="{FF2B5EF4-FFF2-40B4-BE49-F238E27FC236}">
                <a16:creationId xmlns:a16="http://schemas.microsoft.com/office/drawing/2014/main" id="{302B5E53-DD1F-7344-CD05-98B03E0E16A4}"/>
              </a:ext>
            </a:extLst>
          </p:cNvPr>
          <p:cNvPicPr>
            <a:picLocks noChangeAspect="1"/>
          </p:cNvPicPr>
          <p:nvPr/>
        </p:nvPicPr>
        <p:blipFill>
          <a:blip r:embed="rId3"/>
          <a:stretch>
            <a:fillRect/>
          </a:stretch>
        </p:blipFill>
        <p:spPr>
          <a:xfrm>
            <a:off x="4313434" y="6065356"/>
            <a:ext cx="913375" cy="353208"/>
          </a:xfrm>
          <a:prstGeom prst="rect">
            <a:avLst/>
          </a:prstGeom>
        </p:spPr>
      </p:pic>
      <p:sp>
        <p:nvSpPr>
          <p:cNvPr id="12" name="正方形/長方形 11">
            <a:extLst>
              <a:ext uri="{FF2B5EF4-FFF2-40B4-BE49-F238E27FC236}">
                <a16:creationId xmlns:a16="http://schemas.microsoft.com/office/drawing/2014/main" id="{70CAF89E-948C-8174-50B7-652B3FB76359}"/>
              </a:ext>
            </a:extLst>
          </p:cNvPr>
          <p:cNvSpPr/>
          <p:nvPr/>
        </p:nvSpPr>
        <p:spPr>
          <a:xfrm>
            <a:off x="379976" y="3478699"/>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rPr>
              <a:t>挨拶メッセ</a:t>
            </a:r>
            <a:endParaRPr kumimoji="1" lang="ja-JP" altLang="en-US" sz="1100" dirty="0">
              <a:solidFill>
                <a:schemeClr val="bg1"/>
              </a:solidFill>
              <a:latin typeface="メイリオ" panose="020B0604030504040204" pitchFamily="50" charset="-128"/>
              <a:ea typeface="メイリオ" panose="020B0604030504040204" pitchFamily="50" charset="-128"/>
            </a:endParaRPr>
          </a:p>
        </p:txBody>
      </p:sp>
      <p:sp>
        <p:nvSpPr>
          <p:cNvPr id="14" name="正方形/長方形 13">
            <a:extLst>
              <a:ext uri="{FF2B5EF4-FFF2-40B4-BE49-F238E27FC236}">
                <a16:creationId xmlns:a16="http://schemas.microsoft.com/office/drawing/2014/main" id="{45597D5C-32BC-9BDB-E27E-1B11A18AC67F}"/>
              </a:ext>
            </a:extLst>
          </p:cNvPr>
          <p:cNvSpPr/>
          <p:nvPr/>
        </p:nvSpPr>
        <p:spPr>
          <a:xfrm>
            <a:off x="1629120" y="3478699"/>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2</a:t>
            </a:r>
            <a:r>
              <a:rPr kumimoji="1" lang="ja-JP" altLang="en-US" sz="1000" dirty="0">
                <a:solidFill>
                  <a:schemeClr val="tx1"/>
                </a:solidFill>
                <a:latin typeface="メイリオ" panose="020B0604030504040204" pitchFamily="50" charset="-128"/>
                <a:ea typeface="メイリオ" panose="020B0604030504040204" pitchFamily="50" charset="-128"/>
              </a:rPr>
              <a:t>回</a:t>
            </a:r>
          </a:p>
        </p:txBody>
      </p:sp>
      <p:sp>
        <p:nvSpPr>
          <p:cNvPr id="18" name="正方形/長方形 17">
            <a:extLst>
              <a:ext uri="{FF2B5EF4-FFF2-40B4-BE49-F238E27FC236}">
                <a16:creationId xmlns:a16="http://schemas.microsoft.com/office/drawing/2014/main" id="{090DF4E7-D151-CBC4-8EE6-8BDDE6D781F4}"/>
              </a:ext>
            </a:extLst>
          </p:cNvPr>
          <p:cNvSpPr/>
          <p:nvPr/>
        </p:nvSpPr>
        <p:spPr>
          <a:xfrm>
            <a:off x="379976" y="3905336"/>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リッチメニュー</a:t>
            </a:r>
            <a:endParaRPr kumimoji="1" lang="en-US" altLang="ja-JP" sz="1100" dirty="0">
              <a:solidFill>
                <a:schemeClr val="bg1"/>
              </a:solidFill>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BF367B4C-D17E-5506-831E-4FEBA9B6D301}"/>
              </a:ext>
            </a:extLst>
          </p:cNvPr>
          <p:cNvSpPr/>
          <p:nvPr/>
        </p:nvSpPr>
        <p:spPr>
          <a:xfrm>
            <a:off x="1629120" y="3905336"/>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a:t>
            </a:r>
          </a:p>
        </p:txBody>
      </p:sp>
      <p:sp>
        <p:nvSpPr>
          <p:cNvPr id="26" name="正方形/長方形 25">
            <a:extLst>
              <a:ext uri="{FF2B5EF4-FFF2-40B4-BE49-F238E27FC236}">
                <a16:creationId xmlns:a16="http://schemas.microsoft.com/office/drawing/2014/main" id="{E7327D35-78D9-E895-4E23-A03DB4CE4A0C}"/>
              </a:ext>
            </a:extLst>
          </p:cNvPr>
          <p:cNvSpPr/>
          <p:nvPr/>
        </p:nvSpPr>
        <p:spPr>
          <a:xfrm>
            <a:off x="379976" y="4331973"/>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ステップ</a:t>
            </a:r>
          </a:p>
        </p:txBody>
      </p:sp>
      <p:sp>
        <p:nvSpPr>
          <p:cNvPr id="30" name="正方形/長方形 29">
            <a:extLst>
              <a:ext uri="{FF2B5EF4-FFF2-40B4-BE49-F238E27FC236}">
                <a16:creationId xmlns:a16="http://schemas.microsoft.com/office/drawing/2014/main" id="{A410D671-A6B2-5AE8-F4DD-54B5BBF27257}"/>
              </a:ext>
            </a:extLst>
          </p:cNvPr>
          <p:cNvSpPr/>
          <p:nvPr/>
        </p:nvSpPr>
        <p:spPr>
          <a:xfrm>
            <a:off x="1629120" y="4331973"/>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構築</a:t>
            </a:r>
            <a:r>
              <a:rPr kumimoji="1" lang="en-US" altLang="ja-JP" sz="1000" dirty="0">
                <a:solidFill>
                  <a:schemeClr val="tx1"/>
                </a:solidFill>
                <a:latin typeface="メイリオ" panose="020B0604030504040204" pitchFamily="50" charset="-128"/>
                <a:ea typeface="メイリオ" panose="020B0604030504040204" pitchFamily="50" charset="-128"/>
              </a:rPr>
              <a:t>×10</a:t>
            </a: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4" name="正方形/長方形 33">
            <a:extLst>
              <a:ext uri="{FF2B5EF4-FFF2-40B4-BE49-F238E27FC236}">
                <a16:creationId xmlns:a16="http://schemas.microsoft.com/office/drawing/2014/main" id="{9B0CC343-76BC-C31F-6705-9435FB623B52}"/>
              </a:ext>
            </a:extLst>
          </p:cNvPr>
          <p:cNvSpPr/>
          <p:nvPr/>
        </p:nvSpPr>
        <p:spPr>
          <a:xfrm>
            <a:off x="379976" y="4758610"/>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rPr>
              <a:t>ツール契約</a:t>
            </a:r>
          </a:p>
        </p:txBody>
      </p:sp>
      <p:sp>
        <p:nvSpPr>
          <p:cNvPr id="38" name="正方形/長方形 37">
            <a:extLst>
              <a:ext uri="{FF2B5EF4-FFF2-40B4-BE49-F238E27FC236}">
                <a16:creationId xmlns:a16="http://schemas.microsoft.com/office/drawing/2014/main" id="{49ED896C-A686-A829-DAA8-B1457276C2D4}"/>
              </a:ext>
            </a:extLst>
          </p:cNvPr>
          <p:cNvSpPr/>
          <p:nvPr/>
        </p:nvSpPr>
        <p:spPr>
          <a:xfrm>
            <a:off x="1629120" y="4758610"/>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solidFill>
                <a:latin typeface="メイリオ" panose="020B0604030504040204" pitchFamily="50" charset="-128"/>
                <a:ea typeface="メイリオ" panose="020B0604030504040204" pitchFamily="50" charset="-128"/>
              </a:rPr>
              <a:t>代行</a:t>
            </a:r>
          </a:p>
        </p:txBody>
      </p:sp>
      <p:sp>
        <p:nvSpPr>
          <p:cNvPr id="42" name="正方形/長方形 41">
            <a:extLst>
              <a:ext uri="{FF2B5EF4-FFF2-40B4-BE49-F238E27FC236}">
                <a16:creationId xmlns:a16="http://schemas.microsoft.com/office/drawing/2014/main" id="{C65954D2-6D54-912C-BFAD-8EED93525578}"/>
              </a:ext>
            </a:extLst>
          </p:cNvPr>
          <p:cNvSpPr/>
          <p:nvPr/>
        </p:nvSpPr>
        <p:spPr>
          <a:xfrm>
            <a:off x="379976" y="5185247"/>
            <a:ext cx="1218110" cy="361150"/>
          </a:xfrm>
          <a:prstGeom prst="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連携</a:t>
            </a:r>
          </a:p>
        </p:txBody>
      </p:sp>
      <p:sp>
        <p:nvSpPr>
          <p:cNvPr id="47" name="正方形/長方形 46">
            <a:extLst>
              <a:ext uri="{FF2B5EF4-FFF2-40B4-BE49-F238E27FC236}">
                <a16:creationId xmlns:a16="http://schemas.microsoft.com/office/drawing/2014/main" id="{2038AF25-F542-6F19-F289-5B1A91D9EA78}"/>
              </a:ext>
            </a:extLst>
          </p:cNvPr>
          <p:cNvSpPr/>
          <p:nvPr/>
        </p:nvSpPr>
        <p:spPr>
          <a:xfrm>
            <a:off x="1629120" y="5185247"/>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別途開発</a:t>
            </a:r>
          </a:p>
        </p:txBody>
      </p:sp>
      <p:sp>
        <p:nvSpPr>
          <p:cNvPr id="11" name="テキスト ボックス 10">
            <a:extLst>
              <a:ext uri="{FF2B5EF4-FFF2-40B4-BE49-F238E27FC236}">
                <a16:creationId xmlns:a16="http://schemas.microsoft.com/office/drawing/2014/main" id="{2241A890-8CD9-48E8-BAC6-6130718F79E3}"/>
              </a:ext>
            </a:extLst>
          </p:cNvPr>
          <p:cNvSpPr txBox="1"/>
          <p:nvPr/>
        </p:nvSpPr>
        <p:spPr>
          <a:xfrm>
            <a:off x="8194767" y="2323720"/>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約1,100人</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0CA402BB-70E0-1712-5155-FB13E1EFE697}"/>
              </a:ext>
            </a:extLst>
          </p:cNvPr>
          <p:cNvSpPr txBox="1"/>
          <p:nvPr/>
        </p:nvSpPr>
        <p:spPr>
          <a:xfrm>
            <a:off x="8194767" y="2750357"/>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78%</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23" name="テキスト ボックス 22">
            <a:extLst>
              <a:ext uri="{FF2B5EF4-FFF2-40B4-BE49-F238E27FC236}">
                <a16:creationId xmlns:a16="http://schemas.microsoft.com/office/drawing/2014/main" id="{F1C71F01-1D77-2899-A43D-B86BFA13E86D}"/>
              </a:ext>
            </a:extLst>
          </p:cNvPr>
          <p:cNvSpPr txBox="1"/>
          <p:nvPr/>
        </p:nvSpPr>
        <p:spPr>
          <a:xfrm>
            <a:off x="8175536" y="3152001"/>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約620件/月</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27" name="テキスト ボックス 26">
            <a:extLst>
              <a:ext uri="{FF2B5EF4-FFF2-40B4-BE49-F238E27FC236}">
                <a16:creationId xmlns:a16="http://schemas.microsoft.com/office/drawing/2014/main" id="{8AD9CF0C-6AE4-2654-E1CB-1BB84E7C6E83}"/>
              </a:ext>
            </a:extLst>
          </p:cNvPr>
          <p:cNvSpPr txBox="1"/>
          <p:nvPr/>
        </p:nvSpPr>
        <p:spPr>
          <a:xfrm>
            <a:off x="8194767" y="3561556"/>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12〜13件/月</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31" name="テキスト ボックス 30">
            <a:extLst>
              <a:ext uri="{FF2B5EF4-FFF2-40B4-BE49-F238E27FC236}">
                <a16:creationId xmlns:a16="http://schemas.microsoft.com/office/drawing/2014/main" id="{62E19C90-7458-8C36-243E-9FE1F44520EC}"/>
              </a:ext>
            </a:extLst>
          </p:cNvPr>
          <p:cNvSpPr txBox="1"/>
          <p:nvPr/>
        </p:nvSpPr>
        <p:spPr>
          <a:xfrm>
            <a:off x="8130449" y="3866031"/>
            <a:ext cx="1414960" cy="276999"/>
          </a:xfrm>
          <a:prstGeom prst="rect">
            <a:avLst/>
          </a:prstGeom>
          <a:noFill/>
        </p:spPr>
        <p:txBody>
          <a:bodyPr wrap="square">
            <a:spAutoFit/>
          </a:bodyPr>
          <a:lstStyle/>
          <a:p>
            <a:pPr algn="ctr"/>
            <a:r>
              <a:rPr lang="ja-JP" altLang="en-US" sz="1200" b="1" dirty="0">
                <a:latin typeface="メイリオ" panose="020B0604030504040204" pitchFamily="50" charset="-128"/>
                <a:ea typeface="メイリオ" panose="020B0604030504040204" pitchFamily="50" charset="-128"/>
              </a:rPr>
              <a:t>（CVR：約2%／半年累計44件）</a:t>
            </a:r>
            <a:endParaRPr kumimoji="1" lang="ja-JP" altLang="en-US" sz="1200" b="1" dirty="0">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49DD51C1-FCAA-0EB3-1ED3-B50C2E0837D1}"/>
              </a:ext>
            </a:extLst>
          </p:cNvPr>
          <p:cNvSpPr/>
          <p:nvPr/>
        </p:nvSpPr>
        <p:spPr>
          <a:xfrm>
            <a:off x="3408319" y="5611884"/>
            <a:ext cx="1218110" cy="361150"/>
          </a:xfrm>
          <a:prstGeom prst="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連携</a:t>
            </a:r>
          </a:p>
        </p:txBody>
      </p:sp>
      <p:sp>
        <p:nvSpPr>
          <p:cNvPr id="36" name="正方形/長方形 35">
            <a:extLst>
              <a:ext uri="{FF2B5EF4-FFF2-40B4-BE49-F238E27FC236}">
                <a16:creationId xmlns:a16="http://schemas.microsoft.com/office/drawing/2014/main" id="{4742D744-393C-4F54-8842-2CCE1D93DD52}"/>
              </a:ext>
            </a:extLst>
          </p:cNvPr>
          <p:cNvSpPr/>
          <p:nvPr/>
        </p:nvSpPr>
        <p:spPr>
          <a:xfrm>
            <a:off x="4657463" y="5611884"/>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別途開発</a:t>
            </a:r>
          </a:p>
        </p:txBody>
      </p:sp>
      <p:sp>
        <p:nvSpPr>
          <p:cNvPr id="40" name="テキスト ボックス 39">
            <a:extLst>
              <a:ext uri="{FF2B5EF4-FFF2-40B4-BE49-F238E27FC236}">
                <a16:creationId xmlns:a16="http://schemas.microsoft.com/office/drawing/2014/main" id="{2DBFEFD9-CD0A-A87E-2081-34DABD09C9F5}"/>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導入期間の長期化に伴い、カバー範囲を広げながら</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新規獲得</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】【CV</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質改善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リピート率改善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など新規・既存の両面から最適な施策をご提供することが可能です。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265852621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Meiryo"/>
                <a:ea typeface="Meiryo"/>
                <a:cs typeface="Meiryo"/>
                <a:sym typeface="Meiryo"/>
              </a:rPr>
              <a:t>LINE</a:t>
            </a:r>
            <a:r>
              <a:rPr lang="ja-JP" altLang="en-US" sz="1600" b="1" dirty="0">
                <a:solidFill>
                  <a:schemeClr val="tx1">
                    <a:lumMod val="50000"/>
                    <a:lumOff val="50000"/>
                  </a:schemeClr>
                </a:solidFill>
                <a:latin typeface="Meiryo"/>
                <a:ea typeface="Meiryo"/>
                <a:cs typeface="Meiryo"/>
                <a:sym typeface="Meiryo"/>
              </a:rPr>
              <a:t>施策における重要な考え方</a:t>
            </a:r>
            <a:endParaRPr lang="en-US" altLang="ja-JP" sz="1600" b="1" dirty="0">
              <a:solidFill>
                <a:schemeClr val="tx1">
                  <a:lumMod val="50000"/>
                  <a:lumOff val="50000"/>
                </a:schemeClr>
              </a:solidFill>
              <a:latin typeface="Meiryo"/>
              <a:ea typeface="Meiryo"/>
              <a:cs typeface="Meiryo"/>
              <a:sym typeface="Meiryo"/>
            </a:endParaRPr>
          </a:p>
        </p:txBody>
      </p:sp>
      <p:sp>
        <p:nvSpPr>
          <p:cNvPr id="7" name="正方形/長方形 6">
            <a:extLst>
              <a:ext uri="{FF2B5EF4-FFF2-40B4-BE49-F238E27FC236}">
                <a16:creationId xmlns:a16="http://schemas.microsoft.com/office/drawing/2014/main" id="{31489518-639C-6F8B-3CC2-E3A3D82066B2}"/>
              </a:ext>
            </a:extLst>
          </p:cNvPr>
          <p:cNvSpPr/>
          <p:nvPr/>
        </p:nvSpPr>
        <p:spPr>
          <a:xfrm>
            <a:off x="275003" y="1728082"/>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既存友だち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のメッセージ配信を拡大＆検証し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課金対効果を向上する</a:t>
            </a:r>
          </a:p>
        </p:txBody>
      </p:sp>
      <p:sp>
        <p:nvSpPr>
          <p:cNvPr id="9" name="正方形/長方形 8">
            <a:extLst>
              <a:ext uri="{FF2B5EF4-FFF2-40B4-BE49-F238E27FC236}">
                <a16:creationId xmlns:a16="http://schemas.microsoft.com/office/drawing/2014/main" id="{DD339252-F691-EA9D-983C-6241C7AABA77}"/>
              </a:ext>
            </a:extLst>
          </p:cNvPr>
          <p:cNvSpPr/>
          <p:nvPr/>
        </p:nvSpPr>
        <p:spPr>
          <a:xfrm>
            <a:off x="275003" y="3221875"/>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新規友だち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の追加動線を拡大</a:t>
            </a: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&amp;</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整備し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見込みの高いユーザーのリードを獲得する</a:t>
            </a:r>
          </a:p>
        </p:txBody>
      </p:sp>
      <p:cxnSp>
        <p:nvCxnSpPr>
          <p:cNvPr id="10" name="直線コネクタ 9">
            <a:extLst>
              <a:ext uri="{FF2B5EF4-FFF2-40B4-BE49-F238E27FC236}">
                <a16:creationId xmlns:a16="http://schemas.microsoft.com/office/drawing/2014/main" id="{71A329C6-D6CA-D19E-C8A2-D6D234F2FA53}"/>
              </a:ext>
            </a:extLst>
          </p:cNvPr>
          <p:cNvCxnSpPr/>
          <p:nvPr/>
        </p:nvCxnSpPr>
        <p:spPr>
          <a:xfrm>
            <a:off x="1519747" y="1452035"/>
            <a:ext cx="657899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718487F9-9129-0E91-A220-B2EF077840F3}"/>
              </a:ext>
            </a:extLst>
          </p:cNvPr>
          <p:cNvSpPr/>
          <p:nvPr/>
        </p:nvSpPr>
        <p:spPr>
          <a:xfrm>
            <a:off x="3756183" y="751045"/>
            <a:ext cx="2022158" cy="589765"/>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solidFill>
                <a:schemeClr val="tx1">
                  <a:lumMod val="50000"/>
                  <a:lumOff val="50000"/>
                </a:schemeClr>
              </a:solidFill>
            </a:endParaRPr>
          </a:p>
        </p:txBody>
      </p:sp>
      <p:sp>
        <p:nvSpPr>
          <p:cNvPr id="14" name="正方形/長方形 13">
            <a:extLst>
              <a:ext uri="{FF2B5EF4-FFF2-40B4-BE49-F238E27FC236}">
                <a16:creationId xmlns:a16="http://schemas.microsoft.com/office/drawing/2014/main" id="{D2F1E1CA-9D65-A02D-917C-CB72A01459A6}"/>
              </a:ext>
            </a:extLst>
          </p:cNvPr>
          <p:cNvSpPr/>
          <p:nvPr/>
        </p:nvSpPr>
        <p:spPr>
          <a:xfrm>
            <a:off x="1502508" y="842812"/>
            <a:ext cx="6647975" cy="461665"/>
          </a:xfrm>
          <a:prstGeom prst="rect">
            <a:avLst/>
          </a:prstGeom>
        </p:spPr>
        <p:txBody>
          <a:bodyPr wrap="non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アカウント効果を</a:t>
            </a:r>
            <a:r>
              <a:rPr lang="ja-JP" altLang="en-US" sz="2400" b="1" dirty="0">
                <a:latin typeface="メイリオ" panose="020B0604030504040204" pitchFamily="50" charset="-128"/>
                <a:ea typeface="メイリオ" panose="020B0604030504040204" pitchFamily="50" charset="-128"/>
              </a:rPr>
              <a:t>最大化する</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ためには・・・？</a:t>
            </a:r>
          </a:p>
        </p:txBody>
      </p:sp>
      <p:sp>
        <p:nvSpPr>
          <p:cNvPr id="15" name="下矢印 1">
            <a:extLst>
              <a:ext uri="{FF2B5EF4-FFF2-40B4-BE49-F238E27FC236}">
                <a16:creationId xmlns:a16="http://schemas.microsoft.com/office/drawing/2014/main" id="{453026E5-FC32-AC14-0437-B9F8A5DB717B}"/>
              </a:ext>
            </a:extLst>
          </p:cNvPr>
          <p:cNvSpPr/>
          <p:nvPr/>
        </p:nvSpPr>
        <p:spPr>
          <a:xfrm>
            <a:off x="3379742" y="4715668"/>
            <a:ext cx="3196046" cy="421640"/>
          </a:xfrm>
          <a:prstGeom prst="downArrow">
            <a:avLst>
              <a:gd name="adj1" fmla="val 50000"/>
              <a:gd name="adj2" fmla="val 52758"/>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solidFill>
                <a:schemeClr val="tx1">
                  <a:lumMod val="50000"/>
                  <a:lumOff val="50000"/>
                </a:schemeClr>
              </a:solidFill>
            </a:endParaRPr>
          </a:p>
        </p:txBody>
      </p:sp>
      <p:sp>
        <p:nvSpPr>
          <p:cNvPr id="19" name="正方形/長方形 18">
            <a:extLst>
              <a:ext uri="{FF2B5EF4-FFF2-40B4-BE49-F238E27FC236}">
                <a16:creationId xmlns:a16="http://schemas.microsoft.com/office/drawing/2014/main" id="{ED0D0284-90AC-92C0-335B-D83B919080B0}"/>
              </a:ext>
            </a:extLst>
          </p:cNvPr>
          <p:cNvSpPr/>
          <p:nvPr/>
        </p:nvSpPr>
        <p:spPr>
          <a:xfrm>
            <a:off x="275003" y="5239812"/>
            <a:ext cx="9355994" cy="867143"/>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WEB</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サイト上情報と連携させ、配信効果を数値化する</a:t>
            </a:r>
          </a:p>
        </p:txBody>
      </p:sp>
    </p:spTree>
    <p:extLst>
      <p:ext uri="{BB962C8B-B14F-4D97-AF65-F5344CB8AC3E}">
        <p14:creationId xmlns:p14="http://schemas.microsoft.com/office/powerpoint/2010/main" val="321229055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9A82F-6F2C-17B3-F79B-7B5B5CE96861}"/>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CFE6082-7D98-8143-1FF3-237252E680EE}"/>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C954AB23-5BD2-D3D6-314F-6A94411406D6}"/>
              </a:ext>
            </a:extLst>
          </p:cNvPr>
          <p:cNvSpPr/>
          <p:nvPr/>
        </p:nvSpPr>
        <p:spPr>
          <a:xfrm>
            <a:off x="1988098" y="3038203"/>
            <a:ext cx="5929829"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施策の詳細（新規友だち獲得）</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17240110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82CB4-E2E4-29F5-FA9B-848F31DADC7C}"/>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4CBB36F-6A78-6E75-241B-56F5E546F31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DD972FB4-83F9-0440-88DE-3A1A2ED666D1}"/>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F192099F-5377-81D7-2989-7E200A0D8A4C}"/>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実施施策【忍者ナイン】</a:t>
            </a:r>
            <a:endParaRPr sz="1600" b="1" dirty="0">
              <a:solidFill>
                <a:srgbClr val="002060"/>
              </a:solidFill>
              <a:latin typeface="Meiryo"/>
              <a:ea typeface="Meiryo"/>
              <a:cs typeface="Meiryo"/>
              <a:sym typeface="Meiryo"/>
            </a:endParaRPr>
          </a:p>
        </p:txBody>
      </p:sp>
      <p:sp>
        <p:nvSpPr>
          <p:cNvPr id="6" name="TextBox 2">
            <a:extLst>
              <a:ext uri="{FF2B5EF4-FFF2-40B4-BE49-F238E27FC236}">
                <a16:creationId xmlns:a16="http://schemas.microsoft.com/office/drawing/2014/main" id="{A90345F6-8F45-3463-0674-D84ECC52E45F}"/>
              </a:ext>
            </a:extLst>
          </p:cNvPr>
          <p:cNvSpPr/>
          <p:nvPr/>
        </p:nvSpPr>
        <p:spPr>
          <a:xfrm>
            <a:off x="426900" y="695160"/>
            <a:ext cx="9052200" cy="283239"/>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100" b="0" i="0" u="none" strike="noStrike" kern="1200" cap="none" spc="-1" normalizeH="0" baseline="0" noProof="0">
                <a:ln>
                  <a:noFill/>
                </a:ln>
                <a:solidFill>
                  <a:srgbClr val="333333"/>
                </a:solidFill>
                <a:effectLst/>
                <a:uLnTx/>
                <a:uFillTx/>
                <a:latin typeface="Meiryo" panose="020B0604030504040204" pitchFamily="50" charset="-128"/>
                <a:ea typeface="メイリオ" panose="020B0604030504040204" pitchFamily="50" charset="-128"/>
                <a:cs typeface="Meiryo"/>
              </a:rPr>
              <a:t>友だち追加後14日間で、診断結果をもとに内容を出し分けながら体験予約への案内を行う（未予約者には再アプローチ、体験予約完了者は別シナリオへ分岐）</a:t>
            </a:r>
            <a:endParaRPr kumimoji="1" lang="en-US" sz="12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graphicFrame>
        <p:nvGraphicFramePr>
          <p:cNvPr id="46" name="Table 45"/>
          <p:cNvGraphicFramePr>
            <a:graphicFrameLocks noGrp="1"/>
          </p:cNvGraphicFramePr>
          <p:nvPr/>
        </p:nvGraphicFramePr>
        <p:xfrm>
          <a:off x="429768" y="1234440"/>
          <a:ext cx="9052559" cy="3703320"/>
        </p:xfrm>
        <a:graphic>
          <a:graphicData uri="http://schemas.openxmlformats.org/drawingml/2006/table">
            <a:tbl>
              <a:tblPr firstRow="1" bandRow="1">
                <a:tableStyleId>{5C22544A-7EE6-4342-B048-85BDC9FD1C3A}</a:tableStyleId>
              </a:tblPr>
              <a:tblGrid>
                <a:gridCol w="1086307">
                  <a:extLst>
                    <a:ext uri="{9D8B030D-6E8A-4147-A177-3AD203B41FA5}">
                      <a16:colId xmlns:a16="http://schemas.microsoft.com/office/drawing/2014/main" val="20000"/>
                    </a:ext>
                  </a:extLst>
                </a:gridCol>
                <a:gridCol w="1810512">
                  <a:extLst>
                    <a:ext uri="{9D8B030D-6E8A-4147-A177-3AD203B41FA5}">
                      <a16:colId xmlns:a16="http://schemas.microsoft.com/office/drawing/2014/main" val="20001"/>
                    </a:ext>
                  </a:extLst>
                </a:gridCol>
                <a:gridCol w="6155740">
                  <a:extLst>
                    <a:ext uri="{9D8B030D-6E8A-4147-A177-3AD203B41FA5}">
                      <a16:colId xmlns:a16="http://schemas.microsoft.com/office/drawing/2014/main" val="20002"/>
                    </a:ext>
                  </a:extLst>
                </a:gridCol>
              </a:tblGrid>
              <a:tr h="411480">
                <a:tc>
                  <a:txBody>
                    <a:bodyPr/>
                    <a:lstStyle/>
                    <a:p>
                      <a:r>
                        <a:rPr sz="1100" b="1">
                          <a:solidFill>
                            <a:srgbClr val="FFFFFF"/>
                          </a:solidFill>
                          <a:latin typeface="Meiryo"/>
                          <a:ea typeface="メイリオ"/>
                          <a:cs typeface="Meiryo"/>
                        </a:rPr>
                        <a:t>Day</a:t>
                      </a:r>
                    </a:p>
                  </a:txBody>
                  <a:tcPr>
                    <a:solidFill>
                      <a:srgbClr val="1F2A5C"/>
                    </a:solidFill>
                  </a:tcPr>
                </a:tc>
                <a:tc>
                  <a:txBody>
                    <a:bodyPr/>
                    <a:lstStyle/>
                    <a:p>
                      <a:r>
                        <a:rPr sz="1100" b="1">
                          <a:solidFill>
                            <a:srgbClr val="FFFFFF"/>
                          </a:solidFill>
                          <a:latin typeface="Meiryo"/>
                          <a:ea typeface="メイリオ"/>
                          <a:cs typeface="Meiryo"/>
                        </a:rPr>
                        <a:t>対象</a:t>
                      </a:r>
                    </a:p>
                  </a:txBody>
                  <a:tcPr>
                    <a:solidFill>
                      <a:srgbClr val="1F2A5C"/>
                    </a:solidFill>
                  </a:tcPr>
                </a:tc>
                <a:tc>
                  <a:txBody>
                    <a:bodyPr/>
                    <a:lstStyle/>
                    <a:p>
                      <a:r>
                        <a:rPr sz="1100" b="1">
                          <a:solidFill>
                            <a:srgbClr val="FFFFFF"/>
                          </a:solidFill>
                          <a:latin typeface="Meiryo"/>
                          <a:ea typeface="メイリオ"/>
                          <a:cs typeface="Meiryo"/>
                        </a:rPr>
                        <a:t>配信内容</a:t>
                      </a:r>
                    </a:p>
                  </a:txBody>
                  <a:tcPr>
                    <a:solidFill>
                      <a:srgbClr val="1F2A5C"/>
                    </a:solidFill>
                  </a:tcPr>
                </a:tc>
                <a:extLst>
                  <a:ext uri="{0D108BD9-81ED-4DB2-BD59-A6C34878D82A}">
                    <a16:rowId xmlns:a16="http://schemas.microsoft.com/office/drawing/2014/main" val="10000"/>
                  </a:ext>
                </a:extLst>
              </a:tr>
              <a:tr h="411480">
                <a:tc>
                  <a:txBody>
                    <a:bodyPr/>
                    <a:lstStyle/>
                    <a:p>
                      <a:r>
                        <a:rPr sz="1050" b="0">
                          <a:solidFill>
                            <a:srgbClr val="333333"/>
                          </a:solidFill>
                          <a:latin typeface="Meiryo"/>
                          <a:ea typeface="メイリオ"/>
                          <a:cs typeface="Meiryo"/>
                        </a:rPr>
                        <a:t>0日後</a:t>
                      </a:r>
                    </a:p>
                  </a:txBody>
                  <a:tcPr>
                    <a:solidFill>
                      <a:srgbClr val="FFFFFF"/>
                    </a:solidFill>
                  </a:tcPr>
                </a:tc>
                <a:tc>
                  <a:txBody>
                    <a:bodyPr/>
                    <a:lstStyle/>
                    <a:p>
                      <a:r>
                        <a:rPr sz="1050" b="0">
                          <a:solidFill>
                            <a:srgbClr val="333333"/>
                          </a:solidFill>
                          <a:latin typeface="Meiryo"/>
                          <a:ea typeface="メイリオ"/>
                          <a:cs typeface="Meiryo"/>
                        </a:rPr>
                        <a:t>全員</a:t>
                      </a:r>
                    </a:p>
                  </a:txBody>
                  <a:tcPr>
                    <a:solidFill>
                      <a:srgbClr val="FFFFFF"/>
                    </a:solidFill>
                  </a:tcPr>
                </a:tc>
                <a:tc>
                  <a:txBody>
                    <a:bodyPr/>
                    <a:lstStyle/>
                    <a:p>
                      <a:r>
                        <a:rPr sz="1050" b="0">
                          <a:solidFill>
                            <a:srgbClr val="333333"/>
                          </a:solidFill>
                          <a:latin typeface="Meiryo"/>
                          <a:ea typeface="メイリオ"/>
                          <a:cs typeface="Meiryo"/>
                        </a:rPr>
                        <a:t>あいさつ＋30秒スポーツ適性診断への案内</a:t>
                      </a:r>
                    </a:p>
                  </a:txBody>
                  <a:tcPr>
                    <a:solidFill>
                      <a:srgbClr val="FFFFFF"/>
                    </a:solidFill>
                  </a:tcPr>
                </a:tc>
                <a:extLst>
                  <a:ext uri="{0D108BD9-81ED-4DB2-BD59-A6C34878D82A}">
                    <a16:rowId xmlns:a16="http://schemas.microsoft.com/office/drawing/2014/main" val="10001"/>
                  </a:ext>
                </a:extLst>
              </a:tr>
              <a:tr h="411480">
                <a:tc>
                  <a:txBody>
                    <a:bodyPr/>
                    <a:lstStyle/>
                    <a:p>
                      <a:r>
                        <a:rPr sz="1050" b="0">
                          <a:solidFill>
                            <a:srgbClr val="333333"/>
                          </a:solidFill>
                          <a:latin typeface="Meiryo"/>
                          <a:ea typeface="メイリオ"/>
                          <a:cs typeface="Meiryo"/>
                        </a:rPr>
                        <a:t>1日後</a:t>
                      </a:r>
                    </a:p>
                  </a:txBody>
                  <a:tcPr>
                    <a:solidFill>
                      <a:srgbClr val="FFFFFF"/>
                    </a:solidFill>
                  </a:tcPr>
                </a:tc>
                <a:tc>
                  <a:txBody>
                    <a:bodyPr/>
                    <a:lstStyle/>
                    <a:p>
                      <a:r>
                        <a:rPr sz="1050" b="0">
                          <a:solidFill>
                            <a:srgbClr val="333333"/>
                          </a:solidFill>
                          <a:latin typeface="Meiryo"/>
                          <a:ea typeface="メイリオ"/>
                          <a:cs typeface="Meiryo"/>
                        </a:rPr>
                        <a:t>診断未回答者</a:t>
                      </a:r>
                    </a:p>
                  </a:txBody>
                  <a:tcPr>
                    <a:solidFill>
                      <a:srgbClr val="FFFFFF"/>
                    </a:solidFill>
                  </a:tcPr>
                </a:tc>
                <a:tc>
                  <a:txBody>
                    <a:bodyPr/>
                    <a:lstStyle/>
                    <a:p>
                      <a:r>
                        <a:rPr sz="1050" b="0">
                          <a:solidFill>
                            <a:srgbClr val="333333"/>
                          </a:solidFill>
                          <a:latin typeface="Meiryo"/>
                          <a:ea typeface="メイリオ"/>
                          <a:cs typeface="Meiryo"/>
                        </a:rPr>
                        <a:t>診断リマインド</a:t>
                      </a:r>
                    </a:p>
                  </a:txBody>
                  <a:tcPr>
                    <a:solidFill>
                      <a:srgbClr val="FFFFFF"/>
                    </a:solidFill>
                  </a:tcPr>
                </a:tc>
                <a:extLst>
                  <a:ext uri="{0D108BD9-81ED-4DB2-BD59-A6C34878D82A}">
                    <a16:rowId xmlns:a16="http://schemas.microsoft.com/office/drawing/2014/main" val="10002"/>
                  </a:ext>
                </a:extLst>
              </a:tr>
              <a:tr h="411480">
                <a:tc>
                  <a:txBody>
                    <a:bodyPr/>
                    <a:lstStyle/>
                    <a:p>
                      <a:r>
                        <a:rPr sz="1050" b="0">
                          <a:solidFill>
                            <a:srgbClr val="333333"/>
                          </a:solidFill>
                          <a:latin typeface="Meiryo"/>
                          <a:ea typeface="メイリオ"/>
                          <a:cs typeface="Meiryo"/>
                        </a:rPr>
                        <a:t>2日後</a:t>
                      </a:r>
                    </a:p>
                  </a:txBody>
                  <a:tcPr>
                    <a:solidFill>
                      <a:srgbClr val="FFFFFF"/>
                    </a:solidFill>
                  </a:tcPr>
                </a:tc>
                <a:tc>
                  <a:txBody>
                    <a:bodyPr/>
                    <a:lstStyle/>
                    <a:p>
                      <a:r>
                        <a:rPr sz="1050" b="0">
                          <a:solidFill>
                            <a:srgbClr val="333333"/>
                          </a:solidFill>
                          <a:latin typeface="Meiryo"/>
                          <a:ea typeface="メイリオ"/>
                          <a:cs typeface="Meiryo"/>
                        </a:rPr>
                        <a:t>診断回答者</a:t>
                      </a:r>
                    </a:p>
                  </a:txBody>
                  <a:tcPr>
                    <a:solidFill>
                      <a:srgbClr val="FFFFFF"/>
                    </a:solidFill>
                  </a:tcPr>
                </a:tc>
                <a:tc>
                  <a:txBody>
                    <a:bodyPr/>
                    <a:lstStyle/>
                    <a:p>
                      <a:r>
                        <a:rPr sz="1050" b="0">
                          <a:solidFill>
                            <a:srgbClr val="333333"/>
                          </a:solidFill>
                          <a:latin typeface="Meiryo"/>
                          <a:ea typeface="メイリオ"/>
                          <a:cs typeface="Meiryo"/>
                        </a:rPr>
                        <a:t>診断結果配信＋タイプ別おすすめ種目紹介</a:t>
                      </a:r>
                    </a:p>
                  </a:txBody>
                  <a:tcPr>
                    <a:solidFill>
                      <a:srgbClr val="FFFFFF"/>
                    </a:solidFill>
                  </a:tcPr>
                </a:tc>
                <a:extLst>
                  <a:ext uri="{0D108BD9-81ED-4DB2-BD59-A6C34878D82A}">
                    <a16:rowId xmlns:a16="http://schemas.microsoft.com/office/drawing/2014/main" val="10003"/>
                  </a:ext>
                </a:extLst>
              </a:tr>
              <a:tr h="411480">
                <a:tc>
                  <a:txBody>
                    <a:bodyPr/>
                    <a:lstStyle/>
                    <a:p>
                      <a:r>
                        <a:rPr sz="1050" b="0">
                          <a:solidFill>
                            <a:srgbClr val="333333"/>
                          </a:solidFill>
                          <a:latin typeface="Meiryo"/>
                          <a:ea typeface="メイリオ"/>
                          <a:cs typeface="Meiryo"/>
                        </a:rPr>
                        <a:t>4日後</a:t>
                      </a:r>
                    </a:p>
                  </a:txBody>
                  <a:tcPr>
                    <a:solidFill>
                      <a:srgbClr val="FFFFFF"/>
                    </a:solidFill>
                  </a:tcPr>
                </a:tc>
                <a:tc>
                  <a:txBody>
                    <a:bodyPr/>
                    <a:lstStyle/>
                    <a:p>
                      <a:r>
                        <a:rPr sz="1050" b="0">
                          <a:solidFill>
                            <a:srgbClr val="333333"/>
                          </a:solidFill>
                          <a:latin typeface="Meiryo"/>
                          <a:ea typeface="メイリオ"/>
                          <a:cs typeface="Meiryo"/>
                        </a:rPr>
                        <a:t>同上</a:t>
                      </a:r>
                    </a:p>
                  </a:txBody>
                  <a:tcPr>
                    <a:solidFill>
                      <a:srgbClr val="FFFFFF"/>
                    </a:solidFill>
                  </a:tcPr>
                </a:tc>
                <a:tc>
                  <a:txBody>
                    <a:bodyPr/>
                    <a:lstStyle/>
                    <a:p>
                      <a:r>
                        <a:rPr sz="1050" b="0">
                          <a:solidFill>
                            <a:srgbClr val="333333"/>
                          </a:solidFill>
                          <a:latin typeface="Meiryo"/>
                          <a:ea typeface="メイリオ"/>
                          <a:cs typeface="Meiryo"/>
                        </a:rPr>
                        <a:t>同タイプの在籍生の声・成長エピソード</a:t>
                      </a:r>
                    </a:p>
                  </a:txBody>
                  <a:tcPr>
                    <a:solidFill>
                      <a:srgbClr val="FFFFFF"/>
                    </a:solidFill>
                  </a:tcPr>
                </a:tc>
                <a:extLst>
                  <a:ext uri="{0D108BD9-81ED-4DB2-BD59-A6C34878D82A}">
                    <a16:rowId xmlns:a16="http://schemas.microsoft.com/office/drawing/2014/main" val="10004"/>
                  </a:ext>
                </a:extLst>
              </a:tr>
              <a:tr h="411480">
                <a:tc>
                  <a:txBody>
                    <a:bodyPr/>
                    <a:lstStyle/>
                    <a:p>
                      <a:r>
                        <a:rPr sz="1050" b="0">
                          <a:solidFill>
                            <a:srgbClr val="333333"/>
                          </a:solidFill>
                          <a:latin typeface="Meiryo"/>
                          <a:ea typeface="メイリオ"/>
                          <a:cs typeface="Meiryo"/>
                        </a:rPr>
                        <a:t>6日後</a:t>
                      </a:r>
                    </a:p>
                  </a:txBody>
                  <a:tcPr>
                    <a:solidFill>
                      <a:srgbClr val="FFFFFF"/>
                    </a:solidFill>
                  </a:tcPr>
                </a:tc>
                <a:tc>
                  <a:txBody>
                    <a:bodyPr/>
                    <a:lstStyle/>
                    <a:p>
                      <a:r>
                        <a:rPr sz="1050" b="0">
                          <a:solidFill>
                            <a:srgbClr val="333333"/>
                          </a:solidFill>
                          <a:latin typeface="Meiryo"/>
                          <a:ea typeface="メイリオ"/>
                          <a:cs typeface="Meiryo"/>
                        </a:rPr>
                        <a:t>同上</a:t>
                      </a:r>
                    </a:p>
                  </a:txBody>
                  <a:tcPr>
                    <a:solidFill>
                      <a:srgbClr val="FFFFFF"/>
                    </a:solidFill>
                  </a:tcPr>
                </a:tc>
                <a:tc>
                  <a:txBody>
                    <a:bodyPr/>
                    <a:lstStyle/>
                    <a:p>
                      <a:r>
                        <a:rPr sz="1050" b="0">
                          <a:solidFill>
                            <a:srgbClr val="333333"/>
                          </a:solidFill>
                          <a:latin typeface="Meiryo"/>
                          <a:ea typeface="メイリオ"/>
                          <a:cs typeface="Meiryo"/>
                        </a:rPr>
                        <a:t>体験予約への案内</a:t>
                      </a:r>
                    </a:p>
                  </a:txBody>
                  <a:tcPr>
                    <a:solidFill>
                      <a:srgbClr val="FFFFFF"/>
                    </a:solidFill>
                  </a:tcPr>
                </a:tc>
                <a:extLst>
                  <a:ext uri="{0D108BD9-81ED-4DB2-BD59-A6C34878D82A}">
                    <a16:rowId xmlns:a16="http://schemas.microsoft.com/office/drawing/2014/main" val="10005"/>
                  </a:ext>
                </a:extLst>
              </a:tr>
              <a:tr h="411480">
                <a:tc>
                  <a:txBody>
                    <a:bodyPr/>
                    <a:lstStyle/>
                    <a:p>
                      <a:r>
                        <a:rPr sz="1050" b="0">
                          <a:solidFill>
                            <a:srgbClr val="333333"/>
                          </a:solidFill>
                          <a:latin typeface="Meiryo"/>
                          <a:ea typeface="メイリオ"/>
                          <a:cs typeface="Meiryo"/>
                        </a:rPr>
                        <a:t>9日後</a:t>
                      </a:r>
                    </a:p>
                  </a:txBody>
                  <a:tcPr>
                    <a:solidFill>
                      <a:srgbClr val="FFFFFF"/>
                    </a:solidFill>
                  </a:tcPr>
                </a:tc>
                <a:tc>
                  <a:txBody>
                    <a:bodyPr/>
                    <a:lstStyle/>
                    <a:p>
                      <a:r>
                        <a:rPr sz="1050" b="0">
                          <a:solidFill>
                            <a:srgbClr val="333333"/>
                          </a:solidFill>
                          <a:latin typeface="Meiryo"/>
                          <a:ea typeface="メイリオ"/>
                          <a:cs typeface="Meiryo"/>
                        </a:rPr>
                        <a:t>未予約者</a:t>
                      </a:r>
                    </a:p>
                  </a:txBody>
                  <a:tcPr>
                    <a:solidFill>
                      <a:srgbClr val="FFFFFF"/>
                    </a:solidFill>
                  </a:tcPr>
                </a:tc>
                <a:tc>
                  <a:txBody>
                    <a:bodyPr/>
                    <a:lstStyle/>
                    <a:p>
                      <a:r>
                        <a:rPr sz="1050" b="0">
                          <a:solidFill>
                            <a:srgbClr val="333333"/>
                          </a:solidFill>
                          <a:latin typeface="Meiryo"/>
                          <a:ea typeface="メイリオ"/>
                          <a:cs typeface="Meiryo"/>
                        </a:rPr>
                        <a:t>「非認知能力」訴求コンテンツ</a:t>
                      </a:r>
                    </a:p>
                  </a:txBody>
                  <a:tcPr>
                    <a:solidFill>
                      <a:srgbClr val="FFFFFF"/>
                    </a:solidFill>
                  </a:tcPr>
                </a:tc>
                <a:extLst>
                  <a:ext uri="{0D108BD9-81ED-4DB2-BD59-A6C34878D82A}">
                    <a16:rowId xmlns:a16="http://schemas.microsoft.com/office/drawing/2014/main" val="10006"/>
                  </a:ext>
                </a:extLst>
              </a:tr>
              <a:tr h="411480">
                <a:tc>
                  <a:txBody>
                    <a:bodyPr/>
                    <a:lstStyle/>
                    <a:p>
                      <a:r>
                        <a:rPr sz="1050" b="0">
                          <a:solidFill>
                            <a:srgbClr val="333333"/>
                          </a:solidFill>
                          <a:latin typeface="Meiryo"/>
                          <a:ea typeface="メイリオ"/>
                          <a:cs typeface="Meiryo"/>
                        </a:rPr>
                        <a:t>12日後</a:t>
                      </a:r>
                    </a:p>
                  </a:txBody>
                  <a:tcPr>
                    <a:solidFill>
                      <a:srgbClr val="FFFFFF"/>
                    </a:solidFill>
                  </a:tcPr>
                </a:tc>
                <a:tc>
                  <a:txBody>
                    <a:bodyPr/>
                    <a:lstStyle/>
                    <a:p>
                      <a:r>
                        <a:rPr sz="1050" b="0">
                          <a:solidFill>
                            <a:srgbClr val="333333"/>
                          </a:solidFill>
                          <a:latin typeface="Meiryo"/>
                          <a:ea typeface="メイリオ"/>
                          <a:cs typeface="Meiryo"/>
                        </a:rPr>
                        <a:t>未予約者</a:t>
                      </a:r>
                    </a:p>
                  </a:txBody>
                  <a:tcPr>
                    <a:solidFill>
                      <a:srgbClr val="FFFFFF"/>
                    </a:solidFill>
                  </a:tcPr>
                </a:tc>
                <a:tc>
                  <a:txBody>
                    <a:bodyPr/>
                    <a:lstStyle/>
                    <a:p>
                      <a:r>
                        <a:rPr sz="1050" b="0">
                          <a:solidFill>
                            <a:srgbClr val="333333"/>
                          </a:solidFill>
                          <a:latin typeface="Meiryo"/>
                          <a:ea typeface="メイリオ"/>
                          <a:cs typeface="Meiryo"/>
                        </a:rPr>
                        <a:t>保護者の疑問Q&amp;A（月謝・送迎・振替等）</a:t>
                      </a:r>
                    </a:p>
                  </a:txBody>
                  <a:tcPr>
                    <a:solidFill>
                      <a:srgbClr val="FFFFFF"/>
                    </a:solidFill>
                  </a:tcPr>
                </a:tc>
                <a:extLst>
                  <a:ext uri="{0D108BD9-81ED-4DB2-BD59-A6C34878D82A}">
                    <a16:rowId xmlns:a16="http://schemas.microsoft.com/office/drawing/2014/main" val="10007"/>
                  </a:ext>
                </a:extLst>
              </a:tr>
              <a:tr h="411480">
                <a:tc>
                  <a:txBody>
                    <a:bodyPr/>
                    <a:lstStyle/>
                    <a:p>
                      <a:r>
                        <a:rPr sz="1050" b="0">
                          <a:solidFill>
                            <a:srgbClr val="333333"/>
                          </a:solidFill>
                          <a:latin typeface="Meiryo"/>
                          <a:ea typeface="メイリオ"/>
                          <a:cs typeface="Meiryo"/>
                        </a:rPr>
                        <a:t>14日後</a:t>
                      </a:r>
                    </a:p>
                  </a:txBody>
                  <a:tcPr>
                    <a:solidFill>
                      <a:srgbClr val="FFFFFF"/>
                    </a:solidFill>
                  </a:tcPr>
                </a:tc>
                <a:tc>
                  <a:txBody>
                    <a:bodyPr/>
                    <a:lstStyle/>
                    <a:p>
                      <a:r>
                        <a:rPr sz="1050" b="0">
                          <a:solidFill>
                            <a:srgbClr val="333333"/>
                          </a:solidFill>
                          <a:latin typeface="Meiryo"/>
                          <a:ea typeface="メイリオ"/>
                          <a:cs typeface="Meiryo"/>
                        </a:rPr>
                        <a:t>未予約者</a:t>
                      </a:r>
                    </a:p>
                  </a:txBody>
                  <a:tcPr>
                    <a:solidFill>
                      <a:srgbClr val="FFFFFF"/>
                    </a:solidFill>
                  </a:tcPr>
                </a:tc>
                <a:tc>
                  <a:txBody>
                    <a:bodyPr/>
                    <a:lstStyle/>
                    <a:p>
                      <a:r>
                        <a:rPr sz="1050" b="0">
                          <a:solidFill>
                            <a:srgbClr val="333333"/>
                          </a:solidFill>
                          <a:latin typeface="Meiryo"/>
                          <a:ea typeface="メイリオ"/>
                          <a:cs typeface="Meiryo"/>
                        </a:rPr>
                        <a:t>体験予約の最終案内</a:t>
                      </a:r>
                    </a:p>
                  </a:txBody>
                  <a:tcPr>
                    <a:solidFill>
                      <a:srgbClr val="FFFFFF"/>
                    </a:solidFill>
                  </a:tcPr>
                </a:tc>
                <a:extLst>
                  <a:ext uri="{0D108BD9-81ED-4DB2-BD59-A6C34878D82A}">
                    <a16:rowId xmlns:a16="http://schemas.microsoft.com/office/drawing/2014/main" val="10008"/>
                  </a:ext>
                </a:extLst>
              </a:tr>
            </a:tbl>
          </a:graphicData>
        </a:graphic>
      </p:graphicFrame>
      <p:sp>
        <p:nvSpPr>
          <p:cNvPr id="47" name="TextBox 46"/>
          <p:cNvSpPr txBox="1"/>
          <p:nvPr/>
        </p:nvSpPr>
        <p:spPr>
          <a:xfrm>
            <a:off x="429768" y="5166360"/>
            <a:ext cx="9052560" cy="548640"/>
          </a:xfrm>
          <a:prstGeom prst="rect">
            <a:avLst/>
          </a:prstGeom>
          <a:noFill/>
        </p:spPr>
        <p:txBody>
          <a:bodyPr wrap="square">
            <a:spAutoFit/>
          </a:bodyPr>
          <a:lstStyle/>
          <a:p>
            <a:r>
              <a:rPr sz="1300" b="1">
                <a:solidFill>
                  <a:srgbClr val="BF4E0E"/>
                </a:solidFill>
                <a:latin typeface="Meiryo"/>
                <a:ea typeface="メイリオ"/>
                <a:cs typeface="Meiryo"/>
              </a:rPr>
              <a:t>体験予約44件（6ヶ月累計）× 入会引き上げ率40% ＝ 入会17件として算出</a:t>
            </a:r>
          </a:p>
          <a:p>
            <a:r>
              <a:rPr sz="1150" b="1">
                <a:solidFill>
                  <a:srgbClr val="BF4E0E"/>
                </a:solidFill>
                <a:latin typeface="Meiryo"/>
                <a:ea typeface="メイリオ"/>
                <a:cs typeface="Meiryo"/>
              </a:rPr>
              <a:t>予約で止めず、入会までLINEで追いきります（体験前リマインド→当日案内→体験後フォロー→入会のご案内を別シナリオで配信）</a:t>
            </a:r>
          </a:p>
        </p:txBody>
      </p:sp>
      <p:sp>
        <p:nvSpPr>
          <p:cNvPr id="48" name="TextBox 47"/>
          <p:cNvSpPr txBox="1"/>
          <p:nvPr/>
        </p:nvSpPr>
        <p:spPr>
          <a:xfrm>
            <a:off x="384048" y="6355080"/>
            <a:ext cx="9052560" cy="402336"/>
          </a:xfrm>
          <a:prstGeom prst="rect">
            <a:avLst/>
          </a:prstGeom>
          <a:noFill/>
        </p:spPr>
        <p:txBody>
          <a:bodyPr wrap="square">
            <a:spAutoFit/>
          </a:bodyPr>
          <a:lstStyle/>
          <a:p>
            <a:r>
              <a:rPr sz="850">
                <a:solidFill>
                  <a:srgbClr val="9AA1AE"/>
                </a:solidFill>
                <a:latin typeface="Meiryo"/>
                <a:ea typeface="メイリオ"/>
                <a:cs typeface="Meiryo"/>
              </a:rPr>
              <a:t>出典：Googleトレンド「習い事」／前後検索KW「習い事」／競合調査(biima sports)</a:t>
            </a:r>
          </a:p>
        </p:txBody>
      </p:sp>
    </p:spTree>
    <p:extLst>
      <p:ext uri="{BB962C8B-B14F-4D97-AF65-F5344CB8AC3E}">
        <p14:creationId xmlns:p14="http://schemas.microsoft.com/office/powerpoint/2010/main" val="145194516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E4CBB36F-6A78-6E75-241B-56F5E546F31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DD972FB4-83F9-0440-88DE-3A1A2ED666D1}"/>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F192099F-5377-81D7-2989-7E200A0D8A4C}"/>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実施施策【チャイルドアイズ】</a:t>
            </a:r>
            <a:endParaRPr sz="1600" b="1" dirty="0">
              <a:solidFill>
                <a:srgbClr val="002060"/>
              </a:solidFill>
              <a:latin typeface="Meiryo"/>
              <a:ea typeface="Meiryo"/>
              <a:cs typeface="Meiryo"/>
              <a:sym typeface="Meiryo"/>
            </a:endParaRPr>
          </a:p>
        </p:txBody>
      </p:sp>
      <p:sp>
        <p:nvSpPr>
          <p:cNvPr id="6" name="TextBox 2">
            <a:extLst>
              <a:ext uri="{FF2B5EF4-FFF2-40B4-BE49-F238E27FC236}">
                <a16:creationId xmlns:a16="http://schemas.microsoft.com/office/drawing/2014/main" id="{A90345F6-8F45-3463-0674-D84ECC52E45F}"/>
              </a:ext>
            </a:extLst>
          </p:cNvPr>
          <p:cNvSpPr/>
          <p:nvPr/>
        </p:nvSpPr>
        <p:spPr>
          <a:xfrm>
            <a:off x="426900" y="695160"/>
            <a:ext cx="9052200" cy="283239"/>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100" b="0" i="0" u="none" strike="noStrike" kern="1200" cap="none" spc="-1" normalizeH="0" baseline="0" noProof="0">
                <a:ln>
                  <a:noFill/>
                </a:ln>
                <a:solidFill>
                  <a:srgbClr val="333333"/>
                </a:solidFill>
                <a:effectLst/>
                <a:uLnTx/>
                <a:uFillTx/>
                <a:latin typeface="Meiryo" panose="020B0604030504040204" pitchFamily="50" charset="-128"/>
                <a:ea typeface="メイリオ" panose="020B0604030504040204" pitchFamily="50" charset="-128"/>
                <a:cs typeface="Meiryo"/>
              </a:rPr>
              <a:t>友だち追加後14日間で、診断結果をもとに内容を出し分けながら体験予約への案内を行う（未予約者には再アプローチ、体験予約完了者は別シナリオへ分岐）</a:t>
            </a:r>
            <a:endParaRPr kumimoji="1" lang="en-US" sz="12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graphicFrame>
        <p:nvGraphicFramePr>
          <p:cNvPr id="46" name="Table 45"/>
          <p:cNvGraphicFramePr>
            <a:graphicFrameLocks noGrp="1"/>
          </p:cNvGraphicFramePr>
          <p:nvPr/>
        </p:nvGraphicFramePr>
        <p:xfrm>
          <a:off x="429768" y="1234440"/>
          <a:ext cx="9052559" cy="3703320"/>
        </p:xfrm>
        <a:graphic>
          <a:graphicData uri="http://schemas.openxmlformats.org/drawingml/2006/table">
            <a:tbl>
              <a:tblPr firstRow="1" bandRow="1">
                <a:tableStyleId>{5C22544A-7EE6-4342-B048-85BDC9FD1C3A}</a:tableStyleId>
              </a:tblPr>
              <a:tblGrid>
                <a:gridCol w="1086307">
                  <a:extLst>
                    <a:ext uri="{9D8B030D-6E8A-4147-A177-3AD203B41FA5}">
                      <a16:colId xmlns:a16="http://schemas.microsoft.com/office/drawing/2014/main" val="20000"/>
                    </a:ext>
                  </a:extLst>
                </a:gridCol>
                <a:gridCol w="1810512">
                  <a:extLst>
                    <a:ext uri="{9D8B030D-6E8A-4147-A177-3AD203B41FA5}">
                      <a16:colId xmlns:a16="http://schemas.microsoft.com/office/drawing/2014/main" val="20001"/>
                    </a:ext>
                  </a:extLst>
                </a:gridCol>
                <a:gridCol w="6155740">
                  <a:extLst>
                    <a:ext uri="{9D8B030D-6E8A-4147-A177-3AD203B41FA5}">
                      <a16:colId xmlns:a16="http://schemas.microsoft.com/office/drawing/2014/main" val="20002"/>
                    </a:ext>
                  </a:extLst>
                </a:gridCol>
              </a:tblGrid>
              <a:tr h="411480">
                <a:tc>
                  <a:txBody>
                    <a:bodyPr/>
                    <a:lstStyle/>
                    <a:p>
                      <a:r>
                        <a:rPr sz="1100" b="1">
                          <a:solidFill>
                            <a:srgbClr val="FFFFFF"/>
                          </a:solidFill>
                          <a:latin typeface="Meiryo"/>
                          <a:ea typeface="メイリオ"/>
                          <a:cs typeface="Meiryo"/>
                        </a:rPr>
                        <a:t>Day</a:t>
                      </a:r>
                    </a:p>
                  </a:txBody>
                  <a:tcPr>
                    <a:solidFill>
                      <a:srgbClr val="1F2A5C"/>
                    </a:solidFill>
                  </a:tcPr>
                </a:tc>
                <a:tc>
                  <a:txBody>
                    <a:bodyPr/>
                    <a:lstStyle/>
                    <a:p>
                      <a:r>
                        <a:rPr sz="1100" b="1">
                          <a:solidFill>
                            <a:srgbClr val="FFFFFF"/>
                          </a:solidFill>
                          <a:latin typeface="Meiryo"/>
                          <a:ea typeface="メイリオ"/>
                          <a:cs typeface="Meiryo"/>
                        </a:rPr>
                        <a:t>対象</a:t>
                      </a:r>
                    </a:p>
                  </a:txBody>
                  <a:tcPr>
                    <a:solidFill>
                      <a:srgbClr val="1F2A5C"/>
                    </a:solidFill>
                  </a:tcPr>
                </a:tc>
                <a:tc>
                  <a:txBody>
                    <a:bodyPr/>
                    <a:lstStyle/>
                    <a:p>
                      <a:r>
                        <a:rPr sz="1100" b="1">
                          <a:solidFill>
                            <a:srgbClr val="FFFFFF"/>
                          </a:solidFill>
                          <a:latin typeface="Meiryo"/>
                          <a:ea typeface="メイリオ"/>
                          <a:cs typeface="Meiryo"/>
                        </a:rPr>
                        <a:t>配信内容</a:t>
                      </a:r>
                    </a:p>
                  </a:txBody>
                  <a:tcPr>
                    <a:solidFill>
                      <a:srgbClr val="1F2A5C"/>
                    </a:solidFill>
                  </a:tcPr>
                </a:tc>
                <a:extLst>
                  <a:ext uri="{0D108BD9-81ED-4DB2-BD59-A6C34878D82A}">
                    <a16:rowId xmlns:a16="http://schemas.microsoft.com/office/drawing/2014/main" val="10000"/>
                  </a:ext>
                </a:extLst>
              </a:tr>
              <a:tr h="411480">
                <a:tc>
                  <a:txBody>
                    <a:bodyPr/>
                    <a:lstStyle/>
                    <a:p>
                      <a:r>
                        <a:rPr sz="1050" b="0">
                          <a:solidFill>
                            <a:srgbClr val="333333"/>
                          </a:solidFill>
                          <a:latin typeface="Meiryo"/>
                          <a:ea typeface="メイリオ"/>
                          <a:cs typeface="Meiryo"/>
                        </a:rPr>
                        <a:t>0日後</a:t>
                      </a:r>
                    </a:p>
                  </a:txBody>
                  <a:tcPr>
                    <a:solidFill>
                      <a:srgbClr val="FFFFFF"/>
                    </a:solidFill>
                  </a:tcPr>
                </a:tc>
                <a:tc>
                  <a:txBody>
                    <a:bodyPr/>
                    <a:lstStyle/>
                    <a:p>
                      <a:r>
                        <a:rPr sz="1050" b="0">
                          <a:solidFill>
                            <a:srgbClr val="333333"/>
                          </a:solidFill>
                          <a:latin typeface="Meiryo"/>
                          <a:ea typeface="メイリオ"/>
                          <a:cs typeface="Meiryo"/>
                        </a:rPr>
                        <a:t>全員</a:t>
                      </a:r>
                    </a:p>
                  </a:txBody>
                  <a:tcPr>
                    <a:solidFill>
                      <a:srgbClr val="FFFFFF"/>
                    </a:solidFill>
                  </a:tcPr>
                </a:tc>
                <a:tc>
                  <a:txBody>
                    <a:bodyPr/>
                    <a:lstStyle/>
                    <a:p>
                      <a:r>
                        <a:rPr sz="1050" b="0">
                          <a:solidFill>
                            <a:srgbClr val="333333"/>
                          </a:solidFill>
                          <a:latin typeface="Meiryo"/>
                          <a:ea typeface="メイリオ"/>
                          <a:cs typeface="Meiryo"/>
                        </a:rPr>
                        <a:t>あいさつ＋知育タイプ診断（3問）への案内</a:t>
                      </a:r>
                    </a:p>
                  </a:txBody>
                  <a:tcPr>
                    <a:solidFill>
                      <a:srgbClr val="FFFFFF"/>
                    </a:solidFill>
                  </a:tcPr>
                </a:tc>
                <a:extLst>
                  <a:ext uri="{0D108BD9-81ED-4DB2-BD59-A6C34878D82A}">
                    <a16:rowId xmlns:a16="http://schemas.microsoft.com/office/drawing/2014/main" val="10001"/>
                  </a:ext>
                </a:extLst>
              </a:tr>
              <a:tr h="411480">
                <a:tc>
                  <a:txBody>
                    <a:bodyPr/>
                    <a:lstStyle/>
                    <a:p>
                      <a:r>
                        <a:rPr sz="1050" b="0">
                          <a:solidFill>
                            <a:srgbClr val="333333"/>
                          </a:solidFill>
                          <a:latin typeface="Meiryo"/>
                          <a:ea typeface="メイリオ"/>
                          <a:cs typeface="Meiryo"/>
                        </a:rPr>
                        <a:t>1日後</a:t>
                      </a:r>
                    </a:p>
                  </a:txBody>
                  <a:tcPr>
                    <a:solidFill>
                      <a:srgbClr val="FFFFFF"/>
                    </a:solidFill>
                  </a:tcPr>
                </a:tc>
                <a:tc>
                  <a:txBody>
                    <a:bodyPr/>
                    <a:lstStyle/>
                    <a:p>
                      <a:r>
                        <a:rPr sz="1050" b="0">
                          <a:solidFill>
                            <a:srgbClr val="333333"/>
                          </a:solidFill>
                          <a:latin typeface="Meiryo"/>
                          <a:ea typeface="メイリオ"/>
                          <a:cs typeface="Meiryo"/>
                        </a:rPr>
                        <a:t>診断未回答者</a:t>
                      </a:r>
                    </a:p>
                  </a:txBody>
                  <a:tcPr>
                    <a:solidFill>
                      <a:srgbClr val="FFFFFF"/>
                    </a:solidFill>
                  </a:tcPr>
                </a:tc>
                <a:tc>
                  <a:txBody>
                    <a:bodyPr/>
                    <a:lstStyle/>
                    <a:p>
                      <a:r>
                        <a:rPr sz="1050" b="0">
                          <a:solidFill>
                            <a:srgbClr val="333333"/>
                          </a:solidFill>
                          <a:latin typeface="Meiryo"/>
                          <a:ea typeface="メイリオ"/>
                          <a:cs typeface="Meiryo"/>
                        </a:rPr>
                        <a:t>診断リマインド</a:t>
                      </a:r>
                    </a:p>
                  </a:txBody>
                  <a:tcPr>
                    <a:solidFill>
                      <a:srgbClr val="FFFFFF"/>
                    </a:solidFill>
                  </a:tcPr>
                </a:tc>
                <a:extLst>
                  <a:ext uri="{0D108BD9-81ED-4DB2-BD59-A6C34878D82A}">
                    <a16:rowId xmlns:a16="http://schemas.microsoft.com/office/drawing/2014/main" val="10002"/>
                  </a:ext>
                </a:extLst>
              </a:tr>
              <a:tr h="411480">
                <a:tc>
                  <a:txBody>
                    <a:bodyPr/>
                    <a:lstStyle/>
                    <a:p>
                      <a:r>
                        <a:rPr sz="1050" b="0">
                          <a:solidFill>
                            <a:srgbClr val="333333"/>
                          </a:solidFill>
                          <a:latin typeface="Meiryo"/>
                          <a:ea typeface="メイリオ"/>
                          <a:cs typeface="Meiryo"/>
                        </a:rPr>
                        <a:t>2日後</a:t>
                      </a:r>
                    </a:p>
                  </a:txBody>
                  <a:tcPr>
                    <a:solidFill>
                      <a:srgbClr val="FFFFFF"/>
                    </a:solidFill>
                  </a:tcPr>
                </a:tc>
                <a:tc>
                  <a:txBody>
                    <a:bodyPr/>
                    <a:lstStyle/>
                    <a:p>
                      <a:r>
                        <a:rPr sz="1050" b="0">
                          <a:solidFill>
                            <a:srgbClr val="333333"/>
                          </a:solidFill>
                          <a:latin typeface="Meiryo"/>
                          <a:ea typeface="メイリオ"/>
                          <a:cs typeface="Meiryo"/>
                        </a:rPr>
                        <a:t>診断回答者</a:t>
                      </a:r>
                    </a:p>
                  </a:txBody>
                  <a:tcPr>
                    <a:solidFill>
                      <a:srgbClr val="FFFFFF"/>
                    </a:solidFill>
                  </a:tcPr>
                </a:tc>
                <a:tc>
                  <a:txBody>
                    <a:bodyPr/>
                    <a:lstStyle/>
                    <a:p>
                      <a:r>
                        <a:rPr sz="1050" b="0">
                          <a:solidFill>
                            <a:srgbClr val="333333"/>
                          </a:solidFill>
                          <a:latin typeface="Meiryo"/>
                          <a:ea typeface="メイリオ"/>
                          <a:cs typeface="Meiryo"/>
                        </a:rPr>
                        <a:t>診断結果配信＋タイプ別学習アプローチ紹介</a:t>
                      </a:r>
                    </a:p>
                  </a:txBody>
                  <a:tcPr>
                    <a:solidFill>
                      <a:srgbClr val="FFFFFF"/>
                    </a:solidFill>
                  </a:tcPr>
                </a:tc>
                <a:extLst>
                  <a:ext uri="{0D108BD9-81ED-4DB2-BD59-A6C34878D82A}">
                    <a16:rowId xmlns:a16="http://schemas.microsoft.com/office/drawing/2014/main" val="10003"/>
                  </a:ext>
                </a:extLst>
              </a:tr>
              <a:tr h="411480">
                <a:tc>
                  <a:txBody>
                    <a:bodyPr/>
                    <a:lstStyle/>
                    <a:p>
                      <a:r>
                        <a:rPr sz="1050" b="0">
                          <a:solidFill>
                            <a:srgbClr val="333333"/>
                          </a:solidFill>
                          <a:latin typeface="Meiryo"/>
                          <a:ea typeface="メイリオ"/>
                          <a:cs typeface="Meiryo"/>
                        </a:rPr>
                        <a:t>4日後</a:t>
                      </a:r>
                    </a:p>
                  </a:txBody>
                  <a:tcPr>
                    <a:solidFill>
                      <a:srgbClr val="FFFFFF"/>
                    </a:solidFill>
                  </a:tcPr>
                </a:tc>
                <a:tc>
                  <a:txBody>
                    <a:bodyPr/>
                    <a:lstStyle/>
                    <a:p>
                      <a:r>
                        <a:rPr sz="1050" b="0">
                          <a:solidFill>
                            <a:srgbClr val="333333"/>
                          </a:solidFill>
                          <a:latin typeface="Meiryo"/>
                          <a:ea typeface="メイリオ"/>
                          <a:cs typeface="Meiryo"/>
                        </a:rPr>
                        <a:t>同上</a:t>
                      </a:r>
                    </a:p>
                  </a:txBody>
                  <a:tcPr>
                    <a:solidFill>
                      <a:srgbClr val="FFFFFF"/>
                    </a:solidFill>
                  </a:tcPr>
                </a:tc>
                <a:tc>
                  <a:txBody>
                    <a:bodyPr/>
                    <a:lstStyle/>
                    <a:p>
                      <a:r>
                        <a:rPr sz="1050" b="0">
                          <a:solidFill>
                            <a:srgbClr val="333333"/>
                          </a:solidFill>
                          <a:latin typeface="Meiryo"/>
                          <a:ea typeface="メイリオ"/>
                          <a:cs typeface="Meiryo"/>
                        </a:rPr>
                        <a:t>同タイプの卒業生・在籍生の声</a:t>
                      </a:r>
                    </a:p>
                  </a:txBody>
                  <a:tcPr>
                    <a:solidFill>
                      <a:srgbClr val="FFFFFF"/>
                    </a:solidFill>
                  </a:tcPr>
                </a:tc>
                <a:extLst>
                  <a:ext uri="{0D108BD9-81ED-4DB2-BD59-A6C34878D82A}">
                    <a16:rowId xmlns:a16="http://schemas.microsoft.com/office/drawing/2014/main" val="10004"/>
                  </a:ext>
                </a:extLst>
              </a:tr>
              <a:tr h="411480">
                <a:tc>
                  <a:txBody>
                    <a:bodyPr/>
                    <a:lstStyle/>
                    <a:p>
                      <a:r>
                        <a:rPr sz="1050" b="0">
                          <a:solidFill>
                            <a:srgbClr val="333333"/>
                          </a:solidFill>
                          <a:latin typeface="Meiryo"/>
                          <a:ea typeface="メイリオ"/>
                          <a:cs typeface="Meiryo"/>
                        </a:rPr>
                        <a:t>6日後</a:t>
                      </a:r>
                    </a:p>
                  </a:txBody>
                  <a:tcPr>
                    <a:solidFill>
                      <a:srgbClr val="FFFFFF"/>
                    </a:solidFill>
                  </a:tcPr>
                </a:tc>
                <a:tc>
                  <a:txBody>
                    <a:bodyPr/>
                    <a:lstStyle/>
                    <a:p>
                      <a:r>
                        <a:rPr sz="1050" b="0">
                          <a:solidFill>
                            <a:srgbClr val="333333"/>
                          </a:solidFill>
                          <a:latin typeface="Meiryo"/>
                          <a:ea typeface="メイリオ"/>
                          <a:cs typeface="Meiryo"/>
                        </a:rPr>
                        <a:t>同上</a:t>
                      </a:r>
                    </a:p>
                  </a:txBody>
                  <a:tcPr>
                    <a:solidFill>
                      <a:srgbClr val="FFFFFF"/>
                    </a:solidFill>
                  </a:tcPr>
                </a:tc>
                <a:tc>
                  <a:txBody>
                    <a:bodyPr/>
                    <a:lstStyle/>
                    <a:p>
                      <a:r>
                        <a:rPr sz="1050" b="0">
                          <a:solidFill>
                            <a:srgbClr val="333333"/>
                          </a:solidFill>
                          <a:latin typeface="Meiryo"/>
                          <a:ea typeface="メイリオ"/>
                          <a:cs typeface="Meiryo"/>
                        </a:rPr>
                        <a:t>体験予約への案内</a:t>
                      </a:r>
                    </a:p>
                  </a:txBody>
                  <a:tcPr>
                    <a:solidFill>
                      <a:srgbClr val="FFFFFF"/>
                    </a:solidFill>
                  </a:tcPr>
                </a:tc>
                <a:extLst>
                  <a:ext uri="{0D108BD9-81ED-4DB2-BD59-A6C34878D82A}">
                    <a16:rowId xmlns:a16="http://schemas.microsoft.com/office/drawing/2014/main" val="10005"/>
                  </a:ext>
                </a:extLst>
              </a:tr>
              <a:tr h="411480">
                <a:tc>
                  <a:txBody>
                    <a:bodyPr/>
                    <a:lstStyle/>
                    <a:p>
                      <a:r>
                        <a:rPr sz="1050" b="0">
                          <a:solidFill>
                            <a:srgbClr val="333333"/>
                          </a:solidFill>
                          <a:latin typeface="Meiryo"/>
                          <a:ea typeface="メイリオ"/>
                          <a:cs typeface="Meiryo"/>
                        </a:rPr>
                        <a:t>9日後</a:t>
                      </a:r>
                    </a:p>
                  </a:txBody>
                  <a:tcPr>
                    <a:solidFill>
                      <a:srgbClr val="FFFFFF"/>
                    </a:solidFill>
                  </a:tcPr>
                </a:tc>
                <a:tc>
                  <a:txBody>
                    <a:bodyPr/>
                    <a:lstStyle/>
                    <a:p>
                      <a:r>
                        <a:rPr sz="1050" b="0">
                          <a:solidFill>
                            <a:srgbClr val="333333"/>
                          </a:solidFill>
                          <a:latin typeface="Meiryo"/>
                          <a:ea typeface="メイリオ"/>
                          <a:cs typeface="Meiryo"/>
                        </a:rPr>
                        <a:t>未予約者</a:t>
                      </a:r>
                    </a:p>
                  </a:txBody>
                  <a:tcPr>
                    <a:solidFill>
                      <a:srgbClr val="FFFFFF"/>
                    </a:solidFill>
                  </a:tcPr>
                </a:tc>
                <a:tc>
                  <a:txBody>
                    <a:bodyPr/>
                    <a:lstStyle/>
                    <a:p>
                      <a:r>
                        <a:rPr sz="1050" b="0">
                          <a:solidFill>
                            <a:srgbClr val="333333"/>
                          </a:solidFill>
                          <a:latin typeface="Meiryo"/>
                          <a:ea typeface="メイリオ"/>
                          <a:cs typeface="Meiryo"/>
                        </a:rPr>
                        <a:t>「知育→受験」の2段階設計を訴求</a:t>
                      </a:r>
                    </a:p>
                  </a:txBody>
                  <a:tcPr>
                    <a:solidFill>
                      <a:srgbClr val="FFFFFF"/>
                    </a:solidFill>
                  </a:tcPr>
                </a:tc>
                <a:extLst>
                  <a:ext uri="{0D108BD9-81ED-4DB2-BD59-A6C34878D82A}">
                    <a16:rowId xmlns:a16="http://schemas.microsoft.com/office/drawing/2014/main" val="10006"/>
                  </a:ext>
                </a:extLst>
              </a:tr>
              <a:tr h="411480">
                <a:tc>
                  <a:txBody>
                    <a:bodyPr/>
                    <a:lstStyle/>
                    <a:p>
                      <a:r>
                        <a:rPr sz="1050" b="0">
                          <a:solidFill>
                            <a:srgbClr val="333333"/>
                          </a:solidFill>
                          <a:latin typeface="Meiryo"/>
                          <a:ea typeface="メイリオ"/>
                          <a:cs typeface="Meiryo"/>
                        </a:rPr>
                        <a:t>12日後</a:t>
                      </a:r>
                    </a:p>
                  </a:txBody>
                  <a:tcPr>
                    <a:solidFill>
                      <a:srgbClr val="FFFFFF"/>
                    </a:solidFill>
                  </a:tcPr>
                </a:tc>
                <a:tc>
                  <a:txBody>
                    <a:bodyPr/>
                    <a:lstStyle/>
                    <a:p>
                      <a:r>
                        <a:rPr sz="1050" b="0">
                          <a:solidFill>
                            <a:srgbClr val="333333"/>
                          </a:solidFill>
                          <a:latin typeface="Meiryo"/>
                          <a:ea typeface="メイリオ"/>
                          <a:cs typeface="Meiryo"/>
                        </a:rPr>
                        <a:t>未予約者</a:t>
                      </a:r>
                    </a:p>
                  </a:txBody>
                  <a:tcPr>
                    <a:solidFill>
                      <a:srgbClr val="FFFFFF"/>
                    </a:solidFill>
                  </a:tcPr>
                </a:tc>
                <a:tc>
                  <a:txBody>
                    <a:bodyPr/>
                    <a:lstStyle/>
                    <a:p>
                      <a:r>
                        <a:rPr sz="1050" b="0">
                          <a:solidFill>
                            <a:srgbClr val="333333"/>
                          </a:solidFill>
                          <a:latin typeface="Meiryo"/>
                          <a:ea typeface="メイリオ"/>
                          <a:cs typeface="Meiryo"/>
                        </a:rPr>
                        <a:t>保護者の疑問Q&amp;A（費用・年齢・通塾頻度等）</a:t>
                      </a:r>
                    </a:p>
                  </a:txBody>
                  <a:tcPr>
                    <a:solidFill>
                      <a:srgbClr val="FFFFFF"/>
                    </a:solidFill>
                  </a:tcPr>
                </a:tc>
                <a:extLst>
                  <a:ext uri="{0D108BD9-81ED-4DB2-BD59-A6C34878D82A}">
                    <a16:rowId xmlns:a16="http://schemas.microsoft.com/office/drawing/2014/main" val="10007"/>
                  </a:ext>
                </a:extLst>
              </a:tr>
              <a:tr h="411480">
                <a:tc>
                  <a:txBody>
                    <a:bodyPr/>
                    <a:lstStyle/>
                    <a:p>
                      <a:r>
                        <a:rPr sz="1050" b="0">
                          <a:solidFill>
                            <a:srgbClr val="333333"/>
                          </a:solidFill>
                          <a:latin typeface="Meiryo"/>
                          <a:ea typeface="メイリオ"/>
                          <a:cs typeface="Meiryo"/>
                        </a:rPr>
                        <a:t>14日後</a:t>
                      </a:r>
                    </a:p>
                  </a:txBody>
                  <a:tcPr>
                    <a:solidFill>
                      <a:srgbClr val="FFFFFF"/>
                    </a:solidFill>
                  </a:tcPr>
                </a:tc>
                <a:tc>
                  <a:txBody>
                    <a:bodyPr/>
                    <a:lstStyle/>
                    <a:p>
                      <a:r>
                        <a:rPr sz="1050" b="0">
                          <a:solidFill>
                            <a:srgbClr val="333333"/>
                          </a:solidFill>
                          <a:latin typeface="Meiryo"/>
                          <a:ea typeface="メイリオ"/>
                          <a:cs typeface="Meiryo"/>
                        </a:rPr>
                        <a:t>未予約者</a:t>
                      </a:r>
                    </a:p>
                  </a:txBody>
                  <a:tcPr>
                    <a:solidFill>
                      <a:srgbClr val="FFFFFF"/>
                    </a:solidFill>
                  </a:tcPr>
                </a:tc>
                <a:tc>
                  <a:txBody>
                    <a:bodyPr/>
                    <a:lstStyle/>
                    <a:p>
                      <a:r>
                        <a:rPr sz="1050" b="0">
                          <a:solidFill>
                            <a:srgbClr val="333333"/>
                          </a:solidFill>
                          <a:latin typeface="Meiryo"/>
                          <a:ea typeface="メイリオ"/>
                          <a:cs typeface="Meiryo"/>
                        </a:rPr>
                        <a:t>体験予約の最終案内</a:t>
                      </a:r>
                    </a:p>
                  </a:txBody>
                  <a:tcPr>
                    <a:solidFill>
                      <a:srgbClr val="FFFFFF"/>
                    </a:solidFill>
                  </a:tcPr>
                </a:tc>
                <a:extLst>
                  <a:ext uri="{0D108BD9-81ED-4DB2-BD59-A6C34878D82A}">
                    <a16:rowId xmlns:a16="http://schemas.microsoft.com/office/drawing/2014/main" val="10008"/>
                  </a:ext>
                </a:extLst>
              </a:tr>
            </a:tbl>
          </a:graphicData>
        </a:graphic>
      </p:graphicFrame>
      <p:sp>
        <p:nvSpPr>
          <p:cNvPr id="47" name="TextBox 46"/>
          <p:cNvSpPr txBox="1"/>
          <p:nvPr/>
        </p:nvSpPr>
        <p:spPr>
          <a:xfrm>
            <a:off x="429768" y="5166360"/>
            <a:ext cx="9052560" cy="548640"/>
          </a:xfrm>
          <a:prstGeom prst="rect">
            <a:avLst/>
          </a:prstGeom>
          <a:noFill/>
        </p:spPr>
        <p:txBody>
          <a:bodyPr wrap="square">
            <a:spAutoFit/>
          </a:bodyPr>
          <a:lstStyle/>
          <a:p>
            <a:r>
              <a:rPr sz="1300" b="1">
                <a:solidFill>
                  <a:srgbClr val="BF4E0E"/>
                </a:solidFill>
                <a:latin typeface="Meiryo"/>
                <a:ea typeface="メイリオ"/>
                <a:cs typeface="Meiryo"/>
              </a:rPr>
              <a:t>体験予約44件（6ヶ月累計）× 入会引き上げ率25% ＝ 入会12件として算出</a:t>
            </a:r>
          </a:p>
          <a:p>
            <a:r>
              <a:rPr sz="1150" b="1">
                <a:solidFill>
                  <a:srgbClr val="BF4E0E"/>
                </a:solidFill>
                <a:latin typeface="Meiryo"/>
                <a:ea typeface="メイリオ"/>
                <a:cs typeface="Meiryo"/>
              </a:rPr>
              <a:t>予約で止めず、入会までLINEで追いきります（体験前リマインド→当日案内→体験後フォロー→入会のご案内を別シナリオで配信）</a:t>
            </a:r>
          </a:p>
        </p:txBody>
      </p:sp>
      <p:sp>
        <p:nvSpPr>
          <p:cNvPr id="48" name="TextBox 47"/>
          <p:cNvSpPr txBox="1"/>
          <p:nvPr/>
        </p:nvSpPr>
        <p:spPr>
          <a:xfrm>
            <a:off x="384048" y="6355080"/>
            <a:ext cx="9052560" cy="402336"/>
          </a:xfrm>
          <a:prstGeom prst="rect">
            <a:avLst/>
          </a:prstGeom>
          <a:noFill/>
        </p:spPr>
        <p:txBody>
          <a:bodyPr wrap="square">
            <a:spAutoFit/>
          </a:bodyPr>
          <a:lstStyle/>
          <a:p>
            <a:r>
              <a:rPr sz="850">
                <a:solidFill>
                  <a:srgbClr val="9AA1AE"/>
                </a:solidFill>
                <a:latin typeface="Meiryo"/>
                <a:ea typeface="メイリオ"/>
                <a:cs typeface="Meiryo"/>
              </a:rPr>
              <a:t>出典：Googleトレンド「受験」／前後検索KW「幼児教室」／競合調査(理英会／どんちゃか)</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52631F-440C-AF04-0C69-2C8669EB8048}"/>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E2EA7B-C600-B2D1-CD65-C1E3A0BAC1C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0CEAAEBF-17CB-F7AA-64C4-77326BCE5A5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88DE529D-6E0B-3592-BFB0-3C2405533B79}"/>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想定企画【忍者ナイン】</a:t>
            </a:r>
            <a:endParaRPr sz="1600" b="1" dirty="0">
              <a:solidFill>
                <a:srgbClr val="002060"/>
              </a:solidFill>
              <a:latin typeface="Meiryo"/>
              <a:ea typeface="Meiryo"/>
              <a:cs typeface="Meiryo"/>
              <a:sym typeface="Meiryo"/>
            </a:endParaRPr>
          </a:p>
        </p:txBody>
      </p:sp>
      <p:sp>
        <p:nvSpPr>
          <p:cNvPr id="8" name="TextBox 2">
            <a:extLst>
              <a:ext uri="{FF2B5EF4-FFF2-40B4-BE49-F238E27FC236}">
                <a16:creationId xmlns:a16="http://schemas.microsoft.com/office/drawing/2014/main" id="{551FC70B-4309-2843-C73C-E5466FCF9976}"/>
              </a:ext>
            </a:extLst>
          </p:cNvPr>
          <p:cNvSpPr txBox="1"/>
          <p:nvPr/>
        </p:nvSpPr>
        <p:spPr>
          <a:xfrm>
            <a:off x="457200" y="914400"/>
            <a:ext cx="8988552" cy="365760"/>
          </a:xfrm>
          <a:prstGeom prst="rect">
            <a:avLst/>
          </a:prstGeom>
          <a:noFill/>
        </p:spPr>
        <p:txBody>
          <a:bodyPr wrap="square">
            <a:spAutoFit/>
          </a:bodyPr>
          <a:lstStyle/>
          <a:p>
            <a:pPr algn="l"/>
            <a:r>
              <a:rPr sz="1100" b="0" i="0">
                <a:solidFill>
                  <a:srgbClr val="333333"/>
                </a:solidFill>
                <a:latin typeface="Meiryo"/>
                <a:ea typeface="メイリオ"/>
                <a:cs typeface="Meiryo"/>
              </a:rPr>
              <a:t>年間を通じて、新規獲得・友だち増加・満足度向上を狙う企画投稿を月別に配置する</a:t>
            </a:r>
          </a:p>
        </p:txBody>
      </p:sp>
      <p:graphicFrame>
        <p:nvGraphicFramePr>
          <p:cNvPr id="46" name="Table 45"/>
          <p:cNvGraphicFramePr>
            <a:graphicFrameLocks noGrp="1"/>
          </p:cNvGraphicFramePr>
          <p:nvPr/>
        </p:nvGraphicFramePr>
        <p:xfrm>
          <a:off x="457200" y="1371600"/>
          <a:ext cx="8988551" cy="4114800"/>
        </p:xfrm>
        <a:graphic>
          <a:graphicData uri="http://schemas.openxmlformats.org/drawingml/2006/table">
            <a:tbl>
              <a:tblPr firstRow="1" bandRow="1">
                <a:tableStyleId>{5C22544A-7EE6-4342-B048-85BDC9FD1C3A}</a:tableStyleId>
              </a:tblPr>
              <a:tblGrid>
                <a:gridCol w="1438168">
                  <a:extLst>
                    <a:ext uri="{9D8B030D-6E8A-4147-A177-3AD203B41FA5}">
                      <a16:colId xmlns:a16="http://schemas.microsoft.com/office/drawing/2014/main" val="20000"/>
                    </a:ext>
                  </a:extLst>
                </a:gridCol>
                <a:gridCol w="2696565">
                  <a:extLst>
                    <a:ext uri="{9D8B030D-6E8A-4147-A177-3AD203B41FA5}">
                      <a16:colId xmlns:a16="http://schemas.microsoft.com/office/drawing/2014/main" val="20001"/>
                    </a:ext>
                  </a:extLst>
                </a:gridCol>
                <a:gridCol w="4853818">
                  <a:extLst>
                    <a:ext uri="{9D8B030D-6E8A-4147-A177-3AD203B41FA5}">
                      <a16:colId xmlns:a16="http://schemas.microsoft.com/office/drawing/2014/main" val="20002"/>
                    </a:ext>
                  </a:extLst>
                </a:gridCol>
              </a:tblGrid>
              <a:tr h="411480">
                <a:tc>
                  <a:txBody>
                    <a:bodyPr/>
                    <a:lstStyle/>
                    <a:p>
                      <a:r>
                        <a:rPr sz="1100" b="1">
                          <a:solidFill>
                            <a:srgbClr val="FFFFFF"/>
                          </a:solidFill>
                          <a:latin typeface="Meiryo"/>
                          <a:ea typeface="メイリオ"/>
                          <a:cs typeface="Meiryo"/>
                        </a:rPr>
                        <a:t>時期</a:t>
                      </a:r>
                    </a:p>
                  </a:txBody>
                  <a:tcPr>
                    <a:solidFill>
                      <a:srgbClr val="1F2A5C"/>
                    </a:solidFill>
                  </a:tcPr>
                </a:tc>
                <a:tc>
                  <a:txBody>
                    <a:bodyPr/>
                    <a:lstStyle/>
                    <a:p>
                      <a:r>
                        <a:rPr sz="1100" b="1">
                          <a:solidFill>
                            <a:srgbClr val="FFFFFF"/>
                          </a:solidFill>
                          <a:latin typeface="Meiryo"/>
                          <a:ea typeface="メイリオ"/>
                          <a:cs typeface="Meiryo"/>
                        </a:rPr>
                        <a:t>企画</a:t>
                      </a:r>
                    </a:p>
                  </a:txBody>
                  <a:tcPr>
                    <a:solidFill>
                      <a:srgbClr val="1F2A5C"/>
                    </a:solidFill>
                  </a:tcPr>
                </a:tc>
                <a:tc>
                  <a:txBody>
                    <a:bodyPr/>
                    <a:lstStyle/>
                    <a:p>
                      <a:r>
                        <a:rPr sz="1100" b="1">
                          <a:solidFill>
                            <a:srgbClr val="FFFFFF"/>
                          </a:solidFill>
                          <a:latin typeface="Meiryo"/>
                          <a:ea typeface="メイリオ"/>
                          <a:cs typeface="Meiryo"/>
                        </a:rPr>
                        <a:t>内容</a:t>
                      </a:r>
                    </a:p>
                  </a:txBody>
                  <a:tcPr>
                    <a:solidFill>
                      <a:srgbClr val="1F2A5C"/>
                    </a:solidFill>
                  </a:tcPr>
                </a:tc>
                <a:extLst>
                  <a:ext uri="{0D108BD9-81ED-4DB2-BD59-A6C34878D82A}">
                    <a16:rowId xmlns:a16="http://schemas.microsoft.com/office/drawing/2014/main" val="10000"/>
                  </a:ext>
                </a:extLst>
              </a:tr>
              <a:tr h="411480">
                <a:tc>
                  <a:txBody>
                    <a:bodyPr/>
                    <a:lstStyle/>
                    <a:p>
                      <a:r>
                        <a:rPr sz="1050" b="0">
                          <a:solidFill>
                            <a:srgbClr val="333333"/>
                          </a:solidFill>
                          <a:latin typeface="Meiryo"/>
                          <a:ea typeface="メイリオ"/>
                          <a:cs typeface="Meiryo"/>
                        </a:rPr>
                        <a:t>1-3月</a:t>
                      </a:r>
                    </a:p>
                  </a:txBody>
                  <a:tcPr>
                    <a:solidFill>
                      <a:srgbClr val="FFFFFF"/>
                    </a:solidFill>
                  </a:tcPr>
                </a:tc>
                <a:tc>
                  <a:txBody>
                    <a:bodyPr/>
                    <a:lstStyle/>
                    <a:p>
                      <a:r>
                        <a:rPr sz="1050" b="0">
                          <a:solidFill>
                            <a:srgbClr val="333333"/>
                          </a:solidFill>
                          <a:latin typeface="Meiryo"/>
                          <a:ea typeface="メイリオ"/>
                          <a:cs typeface="Meiryo"/>
                        </a:rPr>
                        <a:t>新学年スタート訴求</a:t>
                      </a:r>
                    </a:p>
                  </a:txBody>
                  <a:tcPr>
                    <a:solidFill>
                      <a:srgbClr val="FFFFFF"/>
                    </a:solidFill>
                  </a:tcPr>
                </a:tc>
                <a:tc>
                  <a:txBody>
                    <a:bodyPr/>
                    <a:lstStyle/>
                    <a:p>
                      <a:r>
                        <a:rPr sz="1050" b="0">
                          <a:solidFill>
                            <a:srgbClr val="333333"/>
                          </a:solidFill>
                          <a:latin typeface="Meiryo"/>
                          <a:ea typeface="メイリオ"/>
                          <a:cs typeface="Meiryo"/>
                        </a:rPr>
                        <a:t>新学年に合わせた習い事検討層への訴求</a:t>
                      </a:r>
                    </a:p>
                  </a:txBody>
                  <a:tcPr>
                    <a:solidFill>
                      <a:srgbClr val="FFFFFF"/>
                    </a:solidFill>
                  </a:tcPr>
                </a:tc>
                <a:extLst>
                  <a:ext uri="{0D108BD9-81ED-4DB2-BD59-A6C34878D82A}">
                    <a16:rowId xmlns:a16="http://schemas.microsoft.com/office/drawing/2014/main" val="10001"/>
                  </a:ext>
                </a:extLst>
              </a:tr>
              <a:tr h="411480">
                <a:tc>
                  <a:txBody>
                    <a:bodyPr/>
                    <a:lstStyle/>
                    <a:p>
                      <a:r>
                        <a:rPr sz="1050" b="0">
                          <a:solidFill>
                            <a:srgbClr val="333333"/>
                          </a:solidFill>
                          <a:latin typeface="Meiryo"/>
                          <a:ea typeface="メイリオ"/>
                          <a:cs typeface="Meiryo"/>
                        </a:rPr>
                        <a:t>1-3月</a:t>
                      </a:r>
                    </a:p>
                  </a:txBody>
                  <a:tcPr>
                    <a:solidFill>
                      <a:srgbClr val="FFFFFF"/>
                    </a:solidFill>
                  </a:tcPr>
                </a:tc>
                <a:tc>
                  <a:txBody>
                    <a:bodyPr/>
                    <a:lstStyle/>
                    <a:p>
                      <a:r>
                        <a:rPr sz="1050" b="0">
                          <a:solidFill>
                            <a:srgbClr val="333333"/>
                          </a:solidFill>
                          <a:latin typeface="Meiryo"/>
                          <a:ea typeface="メイリオ"/>
                          <a:cs typeface="Meiryo"/>
                        </a:rPr>
                        <a:t>入会金半額キャンペーン</a:t>
                      </a:r>
                    </a:p>
                  </a:txBody>
                  <a:tcPr>
                    <a:solidFill>
                      <a:srgbClr val="FFFFFF"/>
                    </a:solidFill>
                  </a:tcPr>
                </a:tc>
                <a:tc>
                  <a:txBody>
                    <a:bodyPr/>
                    <a:lstStyle/>
                    <a:p>
                      <a:r>
                        <a:rPr sz="1050" b="0">
                          <a:solidFill>
                            <a:srgbClr val="333333"/>
                          </a:solidFill>
                          <a:latin typeface="Meiryo"/>
                          <a:ea typeface="メイリオ"/>
                          <a:cs typeface="Meiryo"/>
                        </a:rPr>
                        <a:t>新学年前の検討層を刈り取る</a:t>
                      </a:r>
                    </a:p>
                  </a:txBody>
                  <a:tcPr>
                    <a:solidFill>
                      <a:srgbClr val="FFFFFF"/>
                    </a:solidFill>
                  </a:tcPr>
                </a:tc>
                <a:extLst>
                  <a:ext uri="{0D108BD9-81ED-4DB2-BD59-A6C34878D82A}">
                    <a16:rowId xmlns:a16="http://schemas.microsoft.com/office/drawing/2014/main" val="10002"/>
                  </a:ext>
                </a:extLst>
              </a:tr>
              <a:tr h="411480">
                <a:tc>
                  <a:txBody>
                    <a:bodyPr/>
                    <a:lstStyle/>
                    <a:p>
                      <a:r>
                        <a:rPr sz="1050" b="0">
                          <a:solidFill>
                            <a:srgbClr val="333333"/>
                          </a:solidFill>
                          <a:latin typeface="Meiryo"/>
                          <a:ea typeface="メイリオ"/>
                          <a:cs typeface="Meiryo"/>
                        </a:rPr>
                        <a:t>4-5月</a:t>
                      </a:r>
                    </a:p>
                  </a:txBody>
                  <a:tcPr>
                    <a:solidFill>
                      <a:srgbClr val="FFFFFF"/>
                    </a:solidFill>
                  </a:tcPr>
                </a:tc>
                <a:tc>
                  <a:txBody>
                    <a:bodyPr/>
                    <a:lstStyle/>
                    <a:p>
                      <a:r>
                        <a:rPr sz="1050" b="0">
                          <a:solidFill>
                            <a:srgbClr val="333333"/>
                          </a:solidFill>
                          <a:latin typeface="Meiryo"/>
                          <a:ea typeface="メイリオ"/>
                          <a:cs typeface="Meiryo"/>
                        </a:rPr>
                        <a:t>お友だち紹介キャンペーン強化</a:t>
                      </a:r>
                    </a:p>
                  </a:txBody>
                  <a:tcPr>
                    <a:solidFill>
                      <a:srgbClr val="FFFFFF"/>
                    </a:solidFill>
                  </a:tcPr>
                </a:tc>
                <a:tc>
                  <a:txBody>
                    <a:bodyPr/>
                    <a:lstStyle/>
                    <a:p>
                      <a:r>
                        <a:rPr sz="1050" b="0">
                          <a:solidFill>
                            <a:srgbClr val="333333"/>
                          </a:solidFill>
                          <a:latin typeface="Meiryo"/>
                          <a:ea typeface="メイリオ"/>
                          <a:cs typeface="Meiryo"/>
                        </a:rPr>
                        <a:t>在籍生からの紹介を促進</a:t>
                      </a:r>
                    </a:p>
                  </a:txBody>
                  <a:tcPr>
                    <a:solidFill>
                      <a:srgbClr val="FFFFFF"/>
                    </a:solidFill>
                  </a:tcPr>
                </a:tc>
                <a:extLst>
                  <a:ext uri="{0D108BD9-81ED-4DB2-BD59-A6C34878D82A}">
                    <a16:rowId xmlns:a16="http://schemas.microsoft.com/office/drawing/2014/main" val="10003"/>
                  </a:ext>
                </a:extLst>
              </a:tr>
              <a:tr h="411480">
                <a:tc>
                  <a:txBody>
                    <a:bodyPr/>
                    <a:lstStyle/>
                    <a:p>
                      <a:r>
                        <a:rPr sz="1050" b="0">
                          <a:solidFill>
                            <a:srgbClr val="333333"/>
                          </a:solidFill>
                          <a:latin typeface="Meiryo"/>
                          <a:ea typeface="メイリオ"/>
                          <a:cs typeface="Meiryo"/>
                        </a:rPr>
                        <a:t>6月</a:t>
                      </a:r>
                    </a:p>
                  </a:txBody>
                  <a:tcPr>
                    <a:solidFill>
                      <a:srgbClr val="FFFFFF"/>
                    </a:solidFill>
                  </a:tcPr>
                </a:tc>
                <a:tc>
                  <a:txBody>
                    <a:bodyPr/>
                    <a:lstStyle/>
                    <a:p>
                      <a:r>
                        <a:rPr sz="1050" b="0">
                          <a:solidFill>
                            <a:srgbClr val="333333"/>
                          </a:solidFill>
                          <a:latin typeface="Meiryo"/>
                          <a:ea typeface="メイリオ"/>
                          <a:cs typeface="Meiryo"/>
                        </a:rPr>
                        <a:t>LINEリサーチでニーズ収集</a:t>
                      </a:r>
                    </a:p>
                  </a:txBody>
                  <a:tcPr>
                    <a:solidFill>
                      <a:srgbClr val="FFFFFF"/>
                    </a:solidFill>
                  </a:tcPr>
                </a:tc>
                <a:tc>
                  <a:txBody>
                    <a:bodyPr/>
                    <a:lstStyle/>
                    <a:p>
                      <a:r>
                        <a:rPr sz="1050" b="0">
                          <a:solidFill>
                            <a:srgbClr val="333333"/>
                          </a:solidFill>
                          <a:latin typeface="Meiryo"/>
                          <a:ea typeface="メイリオ"/>
                          <a:cs typeface="Meiryo"/>
                        </a:rPr>
                        <a:t>簡易アンケートで次の企画のネタを収集</a:t>
                      </a:r>
                    </a:p>
                  </a:txBody>
                  <a:tcPr>
                    <a:solidFill>
                      <a:srgbClr val="FFFFFF"/>
                    </a:solidFill>
                  </a:tcPr>
                </a:tc>
                <a:extLst>
                  <a:ext uri="{0D108BD9-81ED-4DB2-BD59-A6C34878D82A}">
                    <a16:rowId xmlns:a16="http://schemas.microsoft.com/office/drawing/2014/main" val="10004"/>
                  </a:ext>
                </a:extLst>
              </a:tr>
              <a:tr h="411480">
                <a:tc>
                  <a:txBody>
                    <a:bodyPr/>
                    <a:lstStyle/>
                    <a:p>
                      <a:r>
                        <a:rPr sz="1050" b="0">
                          <a:solidFill>
                            <a:srgbClr val="333333"/>
                          </a:solidFill>
                          <a:latin typeface="Meiryo"/>
                          <a:ea typeface="メイリオ"/>
                          <a:cs typeface="Meiryo"/>
                        </a:rPr>
                        <a:t>7-8月</a:t>
                      </a:r>
                    </a:p>
                  </a:txBody>
                  <a:tcPr>
                    <a:solidFill>
                      <a:srgbClr val="FFFFFF"/>
                    </a:solidFill>
                  </a:tcPr>
                </a:tc>
                <a:tc>
                  <a:txBody>
                    <a:bodyPr/>
                    <a:lstStyle/>
                    <a:p>
                      <a:r>
                        <a:rPr sz="1050" b="0">
                          <a:solidFill>
                            <a:srgbClr val="333333"/>
                          </a:solidFill>
                          <a:latin typeface="Meiryo"/>
                          <a:ea typeface="メイリオ"/>
                          <a:cs typeface="Meiryo"/>
                        </a:rPr>
                        <a:t>複合種目デー投稿</a:t>
                      </a:r>
                    </a:p>
                  </a:txBody>
                  <a:tcPr>
                    <a:solidFill>
                      <a:srgbClr val="FFFFFF"/>
                    </a:solidFill>
                  </a:tcPr>
                </a:tc>
                <a:tc>
                  <a:txBody>
                    <a:bodyPr/>
                    <a:lstStyle/>
                    <a:p>
                      <a:r>
                        <a:rPr sz="1050" b="0">
                          <a:solidFill>
                            <a:srgbClr val="333333"/>
                          </a:solidFill>
                          <a:latin typeface="Meiryo"/>
                          <a:ea typeface="メイリオ"/>
                          <a:cs typeface="Meiryo"/>
                        </a:rPr>
                        <a:t>月替わりで種目を変える強みを可視化</a:t>
                      </a:r>
                    </a:p>
                  </a:txBody>
                  <a:tcPr>
                    <a:solidFill>
                      <a:srgbClr val="FFFFFF"/>
                    </a:solidFill>
                  </a:tcPr>
                </a:tc>
                <a:extLst>
                  <a:ext uri="{0D108BD9-81ED-4DB2-BD59-A6C34878D82A}">
                    <a16:rowId xmlns:a16="http://schemas.microsoft.com/office/drawing/2014/main" val="10005"/>
                  </a:ext>
                </a:extLst>
              </a:tr>
              <a:tr h="411480">
                <a:tc>
                  <a:txBody>
                    <a:bodyPr/>
                    <a:lstStyle/>
                    <a:p>
                      <a:r>
                        <a:rPr sz="1050" b="0">
                          <a:solidFill>
                            <a:srgbClr val="333333"/>
                          </a:solidFill>
                          <a:latin typeface="Meiryo"/>
                          <a:ea typeface="メイリオ"/>
                          <a:cs typeface="Meiryo"/>
                        </a:rPr>
                        <a:t>8月</a:t>
                      </a:r>
                    </a:p>
                  </a:txBody>
                  <a:tcPr>
                    <a:solidFill>
                      <a:srgbClr val="FFFFFF"/>
                    </a:solidFill>
                  </a:tcPr>
                </a:tc>
                <a:tc>
                  <a:txBody>
                    <a:bodyPr/>
                    <a:lstStyle/>
                    <a:p>
                      <a:r>
                        <a:rPr sz="1050" b="0">
                          <a:solidFill>
                            <a:srgbClr val="333333"/>
                          </a:solidFill>
                          <a:latin typeface="Meiryo"/>
                          <a:ea typeface="メイリオ"/>
                          <a:cs typeface="Meiryo"/>
                        </a:rPr>
                        <a:t>短期集中イベント＋先着特典</a:t>
                      </a:r>
                    </a:p>
                  </a:txBody>
                  <a:tcPr>
                    <a:solidFill>
                      <a:srgbClr val="FFFFFF"/>
                    </a:solidFill>
                  </a:tcPr>
                </a:tc>
                <a:tc>
                  <a:txBody>
                    <a:bodyPr/>
                    <a:lstStyle/>
                    <a:p>
                      <a:r>
                        <a:rPr sz="1050" b="0">
                          <a:solidFill>
                            <a:srgbClr val="333333"/>
                          </a:solidFill>
                          <a:latin typeface="Meiryo"/>
                          <a:ea typeface="メイリオ"/>
                          <a:cs typeface="Meiryo"/>
                        </a:rPr>
                        <a:t>夏休み短期教室の告知</a:t>
                      </a:r>
                    </a:p>
                  </a:txBody>
                  <a:tcPr>
                    <a:solidFill>
                      <a:srgbClr val="FFFFFF"/>
                    </a:solidFill>
                  </a:tcPr>
                </a:tc>
                <a:extLst>
                  <a:ext uri="{0D108BD9-81ED-4DB2-BD59-A6C34878D82A}">
                    <a16:rowId xmlns:a16="http://schemas.microsoft.com/office/drawing/2014/main" val="10006"/>
                  </a:ext>
                </a:extLst>
              </a:tr>
              <a:tr h="411480">
                <a:tc>
                  <a:txBody>
                    <a:bodyPr/>
                    <a:lstStyle/>
                    <a:p>
                      <a:r>
                        <a:rPr sz="1050" b="0">
                          <a:solidFill>
                            <a:srgbClr val="333333"/>
                          </a:solidFill>
                          <a:latin typeface="Meiryo"/>
                          <a:ea typeface="メイリオ"/>
                          <a:cs typeface="Meiryo"/>
                        </a:rPr>
                        <a:t>9-10月</a:t>
                      </a:r>
                    </a:p>
                  </a:txBody>
                  <a:tcPr>
                    <a:solidFill>
                      <a:srgbClr val="FFFFFF"/>
                    </a:solidFill>
                  </a:tcPr>
                </a:tc>
                <a:tc>
                  <a:txBody>
                    <a:bodyPr/>
                    <a:lstStyle/>
                    <a:p>
                      <a:r>
                        <a:rPr sz="1050" b="0">
                          <a:solidFill>
                            <a:srgbClr val="333333"/>
                          </a:solidFill>
                          <a:latin typeface="Meiryo"/>
                          <a:ea typeface="メイリオ"/>
                          <a:cs typeface="Meiryo"/>
                        </a:rPr>
                        <a:t>運動会シーズン訴求</a:t>
                      </a:r>
                    </a:p>
                  </a:txBody>
                  <a:tcPr>
                    <a:solidFill>
                      <a:srgbClr val="FFFFFF"/>
                    </a:solidFill>
                  </a:tcPr>
                </a:tc>
                <a:tc>
                  <a:txBody>
                    <a:bodyPr/>
                    <a:lstStyle/>
                    <a:p>
                      <a:r>
                        <a:rPr sz="1050" b="0">
                          <a:solidFill>
                            <a:srgbClr val="333333"/>
                          </a:solidFill>
                          <a:latin typeface="Meiryo"/>
                          <a:ea typeface="メイリオ"/>
                          <a:cs typeface="Meiryo"/>
                        </a:rPr>
                        <a:t>運動会に向けた訴求コンテンツ</a:t>
                      </a:r>
                    </a:p>
                  </a:txBody>
                  <a:tcPr>
                    <a:solidFill>
                      <a:srgbClr val="FFFFFF"/>
                    </a:solidFill>
                  </a:tcPr>
                </a:tc>
                <a:extLst>
                  <a:ext uri="{0D108BD9-81ED-4DB2-BD59-A6C34878D82A}">
                    <a16:rowId xmlns:a16="http://schemas.microsoft.com/office/drawing/2014/main" val="10007"/>
                  </a:ext>
                </a:extLst>
              </a:tr>
              <a:tr h="411480">
                <a:tc>
                  <a:txBody>
                    <a:bodyPr/>
                    <a:lstStyle/>
                    <a:p>
                      <a:r>
                        <a:rPr sz="1050" b="0">
                          <a:solidFill>
                            <a:srgbClr val="333333"/>
                          </a:solidFill>
                          <a:latin typeface="Meiryo"/>
                          <a:ea typeface="メイリオ"/>
                          <a:cs typeface="Meiryo"/>
                        </a:rPr>
                        <a:t>9-10月</a:t>
                      </a:r>
                    </a:p>
                  </a:txBody>
                  <a:tcPr>
                    <a:solidFill>
                      <a:srgbClr val="FFFFFF"/>
                    </a:solidFill>
                  </a:tcPr>
                </a:tc>
                <a:tc>
                  <a:txBody>
                    <a:bodyPr/>
                    <a:lstStyle/>
                    <a:p>
                      <a:r>
                        <a:rPr sz="1050" b="0">
                          <a:solidFill>
                            <a:srgbClr val="333333"/>
                          </a:solidFill>
                          <a:latin typeface="Meiryo"/>
                          <a:ea typeface="メイリオ"/>
                          <a:cs typeface="Meiryo"/>
                        </a:rPr>
                        <a:t>運動能力の見える化企画</a:t>
                      </a:r>
                    </a:p>
                  </a:txBody>
                  <a:tcPr>
                    <a:solidFill>
                      <a:srgbClr val="FFFFFF"/>
                    </a:solidFill>
                  </a:tcPr>
                </a:tc>
                <a:tc>
                  <a:txBody>
                    <a:bodyPr/>
                    <a:lstStyle/>
                    <a:p>
                      <a:r>
                        <a:rPr sz="1050" b="0">
                          <a:solidFill>
                            <a:srgbClr val="333333"/>
                          </a:solidFill>
                          <a:latin typeface="Meiryo"/>
                          <a:ea typeface="メイリオ"/>
                          <a:cs typeface="Meiryo"/>
                        </a:rPr>
                        <a:t>入会時と現在の適性診断結果を比較</a:t>
                      </a:r>
                    </a:p>
                  </a:txBody>
                  <a:tcPr>
                    <a:solidFill>
                      <a:srgbClr val="FFFFFF"/>
                    </a:solidFill>
                  </a:tcPr>
                </a:tc>
                <a:extLst>
                  <a:ext uri="{0D108BD9-81ED-4DB2-BD59-A6C34878D82A}">
                    <a16:rowId xmlns:a16="http://schemas.microsoft.com/office/drawing/2014/main" val="10008"/>
                  </a:ext>
                </a:extLst>
              </a:tr>
              <a:tr h="411480">
                <a:tc>
                  <a:txBody>
                    <a:bodyPr/>
                    <a:lstStyle/>
                    <a:p>
                      <a:r>
                        <a:rPr sz="1050" b="0">
                          <a:solidFill>
                            <a:srgbClr val="333333"/>
                          </a:solidFill>
                          <a:latin typeface="Meiryo"/>
                          <a:ea typeface="メイリオ"/>
                          <a:cs typeface="Meiryo"/>
                        </a:rPr>
                        <a:t>11-12月</a:t>
                      </a:r>
                    </a:p>
                  </a:txBody>
                  <a:tcPr>
                    <a:solidFill>
                      <a:srgbClr val="FFFFFF"/>
                    </a:solidFill>
                  </a:tcPr>
                </a:tc>
                <a:tc>
                  <a:txBody>
                    <a:bodyPr/>
                    <a:lstStyle/>
                    <a:p>
                      <a:r>
                        <a:rPr sz="1050" b="0">
                          <a:solidFill>
                            <a:srgbClr val="333333"/>
                          </a:solidFill>
                          <a:latin typeface="Meiryo"/>
                          <a:ea typeface="メイリオ"/>
                          <a:cs typeface="Meiryo"/>
                        </a:rPr>
                        <a:t>短期集中イベント＋先着特典</a:t>
                      </a:r>
                    </a:p>
                  </a:txBody>
                  <a:tcPr>
                    <a:solidFill>
                      <a:srgbClr val="FFFFFF"/>
                    </a:solidFill>
                  </a:tcPr>
                </a:tc>
                <a:tc>
                  <a:txBody>
                    <a:bodyPr/>
                    <a:lstStyle/>
                    <a:p>
                      <a:r>
                        <a:rPr sz="1050" b="0">
                          <a:solidFill>
                            <a:srgbClr val="333333"/>
                          </a:solidFill>
                          <a:latin typeface="Meiryo"/>
                          <a:ea typeface="メイリオ"/>
                          <a:cs typeface="Meiryo"/>
                        </a:rPr>
                        <a:t>冬休み短期教室の告知</a:t>
                      </a:r>
                    </a:p>
                  </a:txBody>
                  <a:tcPr>
                    <a:solidFill>
                      <a:srgbClr val="FFFFFF"/>
                    </a:solidFill>
                  </a:tcPr>
                </a:tc>
                <a:extLst>
                  <a:ext uri="{0D108BD9-81ED-4DB2-BD59-A6C34878D82A}">
                    <a16:rowId xmlns:a16="http://schemas.microsoft.com/office/drawing/2014/main" val="10009"/>
                  </a:ext>
                </a:extLst>
              </a:tr>
            </a:tbl>
          </a:graphicData>
        </a:graphic>
      </p:graphicFrame>
      <p:sp>
        <p:nvSpPr>
          <p:cNvPr id="47" name="TextBox 46"/>
          <p:cNvSpPr txBox="1"/>
          <p:nvPr/>
        </p:nvSpPr>
        <p:spPr>
          <a:xfrm>
            <a:off x="384048" y="6355080"/>
            <a:ext cx="9052560" cy="402336"/>
          </a:xfrm>
          <a:prstGeom prst="rect">
            <a:avLst/>
          </a:prstGeom>
          <a:noFill/>
        </p:spPr>
        <p:txBody>
          <a:bodyPr wrap="square">
            <a:spAutoFit/>
          </a:bodyPr>
          <a:lstStyle/>
          <a:p>
            <a:r>
              <a:rPr sz="850">
                <a:solidFill>
                  <a:srgbClr val="9AA1AE"/>
                </a:solidFill>
                <a:latin typeface="Meiryo"/>
                <a:ea typeface="メイリオ"/>
                <a:cs typeface="Meiryo"/>
              </a:rPr>
              <a:t>出典：GoogleトレンドKW「習い事」「運動会」／競合調査（biima sports）</a:t>
            </a:r>
          </a:p>
        </p:txBody>
      </p:sp>
    </p:spTree>
    <p:extLst>
      <p:ext uri="{BB962C8B-B14F-4D97-AF65-F5344CB8AC3E}">
        <p14:creationId xmlns:p14="http://schemas.microsoft.com/office/powerpoint/2010/main" val="126982279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E2EA7B-C600-B2D1-CD65-C1E3A0BAC1C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0CEAAEBF-17CB-F7AA-64C4-77326BCE5A5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88DE529D-6E0B-3592-BFB0-3C2405533B79}"/>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想定企画【チャイルドアイズ】</a:t>
            </a:r>
            <a:endParaRPr sz="1600" b="1" dirty="0">
              <a:solidFill>
                <a:srgbClr val="002060"/>
              </a:solidFill>
              <a:latin typeface="Meiryo"/>
              <a:ea typeface="Meiryo"/>
              <a:cs typeface="Meiryo"/>
              <a:sym typeface="Meiryo"/>
            </a:endParaRPr>
          </a:p>
        </p:txBody>
      </p:sp>
      <p:sp>
        <p:nvSpPr>
          <p:cNvPr id="8" name="TextBox 2">
            <a:extLst>
              <a:ext uri="{FF2B5EF4-FFF2-40B4-BE49-F238E27FC236}">
                <a16:creationId xmlns:a16="http://schemas.microsoft.com/office/drawing/2014/main" id="{551FC70B-4309-2843-C73C-E5466FCF9976}"/>
              </a:ext>
            </a:extLst>
          </p:cNvPr>
          <p:cNvSpPr txBox="1"/>
          <p:nvPr/>
        </p:nvSpPr>
        <p:spPr>
          <a:xfrm>
            <a:off x="457200" y="914400"/>
            <a:ext cx="8988552" cy="365760"/>
          </a:xfrm>
          <a:prstGeom prst="rect">
            <a:avLst/>
          </a:prstGeom>
          <a:noFill/>
        </p:spPr>
        <p:txBody>
          <a:bodyPr wrap="square">
            <a:spAutoFit/>
          </a:bodyPr>
          <a:lstStyle/>
          <a:p>
            <a:pPr algn="l"/>
            <a:r>
              <a:rPr sz="1100" b="0" i="0">
                <a:solidFill>
                  <a:srgbClr val="333333"/>
                </a:solidFill>
                <a:latin typeface="Meiryo"/>
                <a:ea typeface="メイリオ"/>
                <a:cs typeface="Meiryo"/>
              </a:rPr>
              <a:t>年間を通じて、新規獲得・友だち増加・満足度向上を狙う企画投稿を月別に配置する</a:t>
            </a:r>
          </a:p>
        </p:txBody>
      </p:sp>
      <p:graphicFrame>
        <p:nvGraphicFramePr>
          <p:cNvPr id="46" name="Table 45"/>
          <p:cNvGraphicFramePr>
            <a:graphicFrameLocks noGrp="1"/>
          </p:cNvGraphicFramePr>
          <p:nvPr/>
        </p:nvGraphicFramePr>
        <p:xfrm>
          <a:off x="457200" y="1371600"/>
          <a:ext cx="8988551" cy="2880360"/>
        </p:xfrm>
        <a:graphic>
          <a:graphicData uri="http://schemas.openxmlformats.org/drawingml/2006/table">
            <a:tbl>
              <a:tblPr firstRow="1" bandRow="1">
                <a:tableStyleId>{5C22544A-7EE6-4342-B048-85BDC9FD1C3A}</a:tableStyleId>
              </a:tblPr>
              <a:tblGrid>
                <a:gridCol w="1438168">
                  <a:extLst>
                    <a:ext uri="{9D8B030D-6E8A-4147-A177-3AD203B41FA5}">
                      <a16:colId xmlns:a16="http://schemas.microsoft.com/office/drawing/2014/main" val="20000"/>
                    </a:ext>
                  </a:extLst>
                </a:gridCol>
                <a:gridCol w="2696565">
                  <a:extLst>
                    <a:ext uri="{9D8B030D-6E8A-4147-A177-3AD203B41FA5}">
                      <a16:colId xmlns:a16="http://schemas.microsoft.com/office/drawing/2014/main" val="20001"/>
                    </a:ext>
                  </a:extLst>
                </a:gridCol>
                <a:gridCol w="4853818">
                  <a:extLst>
                    <a:ext uri="{9D8B030D-6E8A-4147-A177-3AD203B41FA5}">
                      <a16:colId xmlns:a16="http://schemas.microsoft.com/office/drawing/2014/main" val="20002"/>
                    </a:ext>
                  </a:extLst>
                </a:gridCol>
              </a:tblGrid>
              <a:tr h="411480">
                <a:tc>
                  <a:txBody>
                    <a:bodyPr/>
                    <a:lstStyle/>
                    <a:p>
                      <a:r>
                        <a:rPr sz="1100" b="1">
                          <a:solidFill>
                            <a:srgbClr val="FFFFFF"/>
                          </a:solidFill>
                          <a:latin typeface="Meiryo"/>
                          <a:ea typeface="メイリオ"/>
                          <a:cs typeface="Meiryo"/>
                        </a:rPr>
                        <a:t>時期</a:t>
                      </a:r>
                    </a:p>
                  </a:txBody>
                  <a:tcPr>
                    <a:solidFill>
                      <a:srgbClr val="1F2A5C"/>
                    </a:solidFill>
                  </a:tcPr>
                </a:tc>
                <a:tc>
                  <a:txBody>
                    <a:bodyPr/>
                    <a:lstStyle/>
                    <a:p>
                      <a:r>
                        <a:rPr sz="1100" b="1">
                          <a:solidFill>
                            <a:srgbClr val="FFFFFF"/>
                          </a:solidFill>
                          <a:latin typeface="Meiryo"/>
                          <a:ea typeface="メイリオ"/>
                          <a:cs typeface="Meiryo"/>
                        </a:rPr>
                        <a:t>企画</a:t>
                      </a:r>
                    </a:p>
                  </a:txBody>
                  <a:tcPr>
                    <a:solidFill>
                      <a:srgbClr val="1F2A5C"/>
                    </a:solidFill>
                  </a:tcPr>
                </a:tc>
                <a:tc>
                  <a:txBody>
                    <a:bodyPr/>
                    <a:lstStyle/>
                    <a:p>
                      <a:r>
                        <a:rPr sz="1100" b="1">
                          <a:solidFill>
                            <a:srgbClr val="FFFFFF"/>
                          </a:solidFill>
                          <a:latin typeface="Meiryo"/>
                          <a:ea typeface="メイリオ"/>
                          <a:cs typeface="Meiryo"/>
                        </a:rPr>
                        <a:t>内容</a:t>
                      </a:r>
                    </a:p>
                  </a:txBody>
                  <a:tcPr>
                    <a:solidFill>
                      <a:srgbClr val="1F2A5C"/>
                    </a:solidFill>
                  </a:tcPr>
                </a:tc>
                <a:extLst>
                  <a:ext uri="{0D108BD9-81ED-4DB2-BD59-A6C34878D82A}">
                    <a16:rowId xmlns:a16="http://schemas.microsoft.com/office/drawing/2014/main" val="10000"/>
                  </a:ext>
                </a:extLst>
              </a:tr>
              <a:tr h="411480">
                <a:tc>
                  <a:txBody>
                    <a:bodyPr/>
                    <a:lstStyle/>
                    <a:p>
                      <a:r>
                        <a:rPr sz="1050" b="0">
                          <a:solidFill>
                            <a:srgbClr val="333333"/>
                          </a:solidFill>
                          <a:latin typeface="Meiryo"/>
                          <a:ea typeface="メイリオ"/>
                          <a:cs typeface="Meiryo"/>
                        </a:rPr>
                        <a:t>1-2月</a:t>
                      </a:r>
                    </a:p>
                  </a:txBody>
                  <a:tcPr>
                    <a:solidFill>
                      <a:srgbClr val="FFFFFF"/>
                    </a:solidFill>
                  </a:tcPr>
                </a:tc>
                <a:tc>
                  <a:txBody>
                    <a:bodyPr/>
                    <a:lstStyle/>
                    <a:p>
                      <a:r>
                        <a:rPr sz="1050" b="0">
                          <a:solidFill>
                            <a:srgbClr val="333333"/>
                          </a:solidFill>
                          <a:latin typeface="Meiryo"/>
                          <a:ea typeface="メイリオ"/>
                          <a:cs typeface="Meiryo"/>
                        </a:rPr>
                        <a:t>合格実績・成長エピソード配信</a:t>
                      </a:r>
                    </a:p>
                  </a:txBody>
                  <a:tcPr>
                    <a:solidFill>
                      <a:srgbClr val="FFFFFF"/>
                    </a:solidFill>
                  </a:tcPr>
                </a:tc>
                <a:tc>
                  <a:txBody>
                    <a:bodyPr/>
                    <a:lstStyle/>
                    <a:p>
                      <a:r>
                        <a:rPr sz="1050" b="0">
                          <a:solidFill>
                            <a:srgbClr val="333333"/>
                          </a:solidFill>
                          <a:latin typeface="Meiryo"/>
                          <a:ea typeface="メイリオ"/>
                          <a:cs typeface="Meiryo"/>
                        </a:rPr>
                        <a:t>受験シーズン直後に卒業生実績を配信</a:t>
                      </a:r>
                    </a:p>
                  </a:txBody>
                  <a:tcPr>
                    <a:solidFill>
                      <a:srgbClr val="FFFFFF"/>
                    </a:solidFill>
                  </a:tcPr>
                </a:tc>
                <a:extLst>
                  <a:ext uri="{0D108BD9-81ED-4DB2-BD59-A6C34878D82A}">
                    <a16:rowId xmlns:a16="http://schemas.microsoft.com/office/drawing/2014/main" val="10001"/>
                  </a:ext>
                </a:extLst>
              </a:tr>
              <a:tr h="411480">
                <a:tc>
                  <a:txBody>
                    <a:bodyPr/>
                    <a:lstStyle/>
                    <a:p>
                      <a:r>
                        <a:rPr sz="1050" b="0">
                          <a:solidFill>
                            <a:srgbClr val="333333"/>
                          </a:solidFill>
                          <a:latin typeface="Meiryo"/>
                          <a:ea typeface="メイリオ"/>
                          <a:cs typeface="Meiryo"/>
                        </a:rPr>
                        <a:t>2-3月</a:t>
                      </a:r>
                    </a:p>
                  </a:txBody>
                  <a:tcPr>
                    <a:solidFill>
                      <a:srgbClr val="FFFFFF"/>
                    </a:solidFill>
                  </a:tcPr>
                </a:tc>
                <a:tc>
                  <a:txBody>
                    <a:bodyPr/>
                    <a:lstStyle/>
                    <a:p>
                      <a:r>
                        <a:rPr sz="1050" b="0">
                          <a:solidFill>
                            <a:srgbClr val="333333"/>
                          </a:solidFill>
                          <a:latin typeface="Meiryo"/>
                          <a:ea typeface="メイリオ"/>
                          <a:cs typeface="Meiryo"/>
                        </a:rPr>
                        <a:t>入会金半額キャンペーン</a:t>
                      </a:r>
                    </a:p>
                  </a:txBody>
                  <a:tcPr>
                    <a:solidFill>
                      <a:srgbClr val="FFFFFF"/>
                    </a:solidFill>
                  </a:tcPr>
                </a:tc>
                <a:tc>
                  <a:txBody>
                    <a:bodyPr/>
                    <a:lstStyle/>
                    <a:p>
                      <a:r>
                        <a:rPr sz="1050" b="0">
                          <a:solidFill>
                            <a:srgbClr val="333333"/>
                          </a:solidFill>
                          <a:latin typeface="Meiryo"/>
                          <a:ea typeface="メイリオ"/>
                          <a:cs typeface="Meiryo"/>
                        </a:rPr>
                        <a:t>新学年前の検討層を刈り取る</a:t>
                      </a:r>
                    </a:p>
                  </a:txBody>
                  <a:tcPr>
                    <a:solidFill>
                      <a:srgbClr val="FFFFFF"/>
                    </a:solidFill>
                  </a:tcPr>
                </a:tc>
                <a:extLst>
                  <a:ext uri="{0D108BD9-81ED-4DB2-BD59-A6C34878D82A}">
                    <a16:rowId xmlns:a16="http://schemas.microsoft.com/office/drawing/2014/main" val="10002"/>
                  </a:ext>
                </a:extLst>
              </a:tr>
              <a:tr h="411480">
                <a:tc>
                  <a:txBody>
                    <a:bodyPr/>
                    <a:lstStyle/>
                    <a:p>
                      <a:r>
                        <a:rPr sz="1050" b="0">
                          <a:solidFill>
                            <a:srgbClr val="333333"/>
                          </a:solidFill>
                          <a:latin typeface="Meiryo"/>
                          <a:ea typeface="メイリオ"/>
                          <a:cs typeface="Meiryo"/>
                        </a:rPr>
                        <a:t>4月</a:t>
                      </a:r>
                    </a:p>
                  </a:txBody>
                  <a:tcPr>
                    <a:solidFill>
                      <a:srgbClr val="FFFFFF"/>
                    </a:solidFill>
                  </a:tcPr>
                </a:tc>
                <a:tc>
                  <a:txBody>
                    <a:bodyPr/>
                    <a:lstStyle/>
                    <a:p>
                      <a:r>
                        <a:rPr sz="1050" b="0">
                          <a:solidFill>
                            <a:srgbClr val="333333"/>
                          </a:solidFill>
                          <a:latin typeface="Meiryo"/>
                          <a:ea typeface="メイリオ"/>
                          <a:cs typeface="Meiryo"/>
                        </a:rPr>
                        <a:t>ショップカード機能の継続特典スタート告知</a:t>
                      </a:r>
                    </a:p>
                  </a:txBody>
                  <a:tcPr>
                    <a:solidFill>
                      <a:srgbClr val="FFFFFF"/>
                    </a:solidFill>
                  </a:tcPr>
                </a:tc>
                <a:tc>
                  <a:txBody>
                    <a:bodyPr/>
                    <a:lstStyle/>
                    <a:p>
                      <a:r>
                        <a:rPr sz="1050" b="0">
                          <a:solidFill>
                            <a:srgbClr val="333333"/>
                          </a:solidFill>
                          <a:latin typeface="Meiryo"/>
                          <a:ea typeface="メイリオ"/>
                          <a:cs typeface="Meiryo"/>
                        </a:rPr>
                        <a:t>継続来塾のインセンティブ設計</a:t>
                      </a:r>
                    </a:p>
                  </a:txBody>
                  <a:tcPr>
                    <a:solidFill>
                      <a:srgbClr val="FFFFFF"/>
                    </a:solidFill>
                  </a:tcPr>
                </a:tc>
                <a:extLst>
                  <a:ext uri="{0D108BD9-81ED-4DB2-BD59-A6C34878D82A}">
                    <a16:rowId xmlns:a16="http://schemas.microsoft.com/office/drawing/2014/main" val="10003"/>
                  </a:ext>
                </a:extLst>
              </a:tr>
              <a:tr h="411480">
                <a:tc>
                  <a:txBody>
                    <a:bodyPr/>
                    <a:lstStyle/>
                    <a:p>
                      <a:r>
                        <a:rPr sz="1050" b="0">
                          <a:solidFill>
                            <a:srgbClr val="333333"/>
                          </a:solidFill>
                          <a:latin typeface="Meiryo"/>
                          <a:ea typeface="メイリオ"/>
                          <a:cs typeface="Meiryo"/>
                        </a:rPr>
                        <a:t>5-6月</a:t>
                      </a:r>
                    </a:p>
                  </a:txBody>
                  <a:tcPr>
                    <a:solidFill>
                      <a:srgbClr val="FFFFFF"/>
                    </a:solidFill>
                  </a:tcPr>
                </a:tc>
                <a:tc>
                  <a:txBody>
                    <a:bodyPr/>
                    <a:lstStyle/>
                    <a:p>
                      <a:r>
                        <a:rPr sz="1050" b="0">
                          <a:solidFill>
                            <a:srgbClr val="333333"/>
                          </a:solidFill>
                          <a:latin typeface="Meiryo"/>
                          <a:ea typeface="メイリオ"/>
                          <a:cs typeface="Meiryo"/>
                        </a:rPr>
                        <a:t>無料ペーパー教材プレゼント企画</a:t>
                      </a:r>
                    </a:p>
                  </a:txBody>
                  <a:tcPr>
                    <a:solidFill>
                      <a:srgbClr val="FFFFFF"/>
                    </a:solidFill>
                  </a:tcPr>
                </a:tc>
                <a:tc>
                  <a:txBody>
                    <a:bodyPr/>
                    <a:lstStyle/>
                    <a:p>
                      <a:r>
                        <a:rPr sz="1050" b="0">
                          <a:solidFill>
                            <a:srgbClr val="333333"/>
                          </a:solidFill>
                          <a:latin typeface="Meiryo"/>
                          <a:ea typeface="メイリオ"/>
                          <a:cs typeface="Meiryo"/>
                        </a:rPr>
                        <a:t>友だち限定の知育プリント配布</a:t>
                      </a:r>
                    </a:p>
                  </a:txBody>
                  <a:tcPr>
                    <a:solidFill>
                      <a:srgbClr val="FFFFFF"/>
                    </a:solidFill>
                  </a:tcPr>
                </a:tc>
                <a:extLst>
                  <a:ext uri="{0D108BD9-81ED-4DB2-BD59-A6C34878D82A}">
                    <a16:rowId xmlns:a16="http://schemas.microsoft.com/office/drawing/2014/main" val="10004"/>
                  </a:ext>
                </a:extLst>
              </a:tr>
              <a:tr h="411480">
                <a:tc>
                  <a:txBody>
                    <a:bodyPr/>
                    <a:lstStyle/>
                    <a:p>
                      <a:r>
                        <a:rPr sz="1050" b="0">
                          <a:solidFill>
                            <a:srgbClr val="333333"/>
                          </a:solidFill>
                          <a:latin typeface="Meiryo"/>
                          <a:ea typeface="メイリオ"/>
                          <a:cs typeface="Meiryo"/>
                        </a:rPr>
                        <a:t>7-8月</a:t>
                      </a:r>
                    </a:p>
                  </a:txBody>
                  <a:tcPr>
                    <a:solidFill>
                      <a:srgbClr val="FFFFFF"/>
                    </a:solidFill>
                  </a:tcPr>
                </a:tc>
                <a:tc>
                  <a:txBody>
                    <a:bodyPr/>
                    <a:lstStyle/>
                    <a:p>
                      <a:r>
                        <a:rPr sz="1050" b="0">
                          <a:solidFill>
                            <a:srgbClr val="333333"/>
                          </a:solidFill>
                          <a:latin typeface="Meiryo"/>
                          <a:ea typeface="メイリオ"/>
                          <a:cs typeface="Meiryo"/>
                        </a:rPr>
                        <a:t>保護者向け合格戦略セミナー案内</a:t>
                      </a:r>
                    </a:p>
                  </a:txBody>
                  <a:tcPr>
                    <a:solidFill>
                      <a:srgbClr val="FFFFFF"/>
                    </a:solidFill>
                  </a:tcPr>
                </a:tc>
                <a:tc>
                  <a:txBody>
                    <a:bodyPr/>
                    <a:lstStyle/>
                    <a:p>
                      <a:r>
                        <a:rPr sz="1050" b="0">
                          <a:solidFill>
                            <a:srgbClr val="333333"/>
                          </a:solidFill>
                          <a:latin typeface="Meiryo"/>
                          <a:ea typeface="メイリオ"/>
                          <a:cs typeface="Meiryo"/>
                        </a:rPr>
                        <a:t>受験直前期の相談会導線</a:t>
                      </a:r>
                    </a:p>
                  </a:txBody>
                  <a:tcPr>
                    <a:solidFill>
                      <a:srgbClr val="FFFFFF"/>
                    </a:solidFill>
                  </a:tcPr>
                </a:tc>
                <a:extLst>
                  <a:ext uri="{0D108BD9-81ED-4DB2-BD59-A6C34878D82A}">
                    <a16:rowId xmlns:a16="http://schemas.microsoft.com/office/drawing/2014/main" val="10005"/>
                  </a:ext>
                </a:extLst>
              </a:tr>
              <a:tr h="411480">
                <a:tc>
                  <a:txBody>
                    <a:bodyPr/>
                    <a:lstStyle/>
                    <a:p>
                      <a:r>
                        <a:rPr sz="1050" b="0">
                          <a:solidFill>
                            <a:srgbClr val="333333"/>
                          </a:solidFill>
                          <a:latin typeface="Meiryo"/>
                          <a:ea typeface="メイリオ"/>
                          <a:cs typeface="Meiryo"/>
                        </a:rPr>
                        <a:t>9-11月</a:t>
                      </a:r>
                    </a:p>
                  </a:txBody>
                  <a:tcPr>
                    <a:solidFill>
                      <a:srgbClr val="FFFFFF"/>
                    </a:solidFill>
                  </a:tcPr>
                </a:tc>
                <a:tc>
                  <a:txBody>
                    <a:bodyPr/>
                    <a:lstStyle/>
                    <a:p>
                      <a:r>
                        <a:rPr sz="1050" b="0">
                          <a:solidFill>
                            <a:srgbClr val="333333"/>
                          </a:solidFill>
                          <a:latin typeface="Meiryo"/>
                          <a:ea typeface="メイリオ"/>
                          <a:cs typeface="Meiryo"/>
                        </a:rPr>
                        <a:t>お友だち紹介キャンペーン強化</a:t>
                      </a:r>
                    </a:p>
                  </a:txBody>
                  <a:tcPr>
                    <a:solidFill>
                      <a:srgbClr val="FFFFFF"/>
                    </a:solidFill>
                  </a:tcPr>
                </a:tc>
                <a:tc>
                  <a:txBody>
                    <a:bodyPr/>
                    <a:lstStyle/>
                    <a:p>
                      <a:r>
                        <a:rPr sz="1050" b="0" dirty="0" err="1">
                          <a:solidFill>
                            <a:srgbClr val="333333"/>
                          </a:solidFill>
                          <a:latin typeface="Meiryo"/>
                          <a:ea typeface="メイリオ"/>
                          <a:cs typeface="Meiryo"/>
                        </a:rPr>
                        <a:t>受験本番に向け母数を増やす</a:t>
                      </a:r>
                      <a:endParaRPr sz="105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6"/>
                  </a:ext>
                </a:extLst>
              </a:tr>
            </a:tbl>
          </a:graphicData>
        </a:graphic>
      </p:graphicFrame>
      <p:sp>
        <p:nvSpPr>
          <p:cNvPr id="47" name="TextBox 46"/>
          <p:cNvSpPr txBox="1"/>
          <p:nvPr/>
        </p:nvSpPr>
        <p:spPr>
          <a:xfrm>
            <a:off x="384048" y="6355080"/>
            <a:ext cx="9052560" cy="402336"/>
          </a:xfrm>
          <a:prstGeom prst="rect">
            <a:avLst/>
          </a:prstGeom>
          <a:noFill/>
        </p:spPr>
        <p:txBody>
          <a:bodyPr wrap="square">
            <a:spAutoFit/>
          </a:bodyPr>
          <a:lstStyle/>
          <a:p>
            <a:r>
              <a:rPr sz="850">
                <a:solidFill>
                  <a:srgbClr val="9AA1AE"/>
                </a:solidFill>
                <a:latin typeface="Meiryo"/>
                <a:ea typeface="メイリオ"/>
                <a:cs typeface="Meiryo"/>
              </a:rPr>
              <a:t>出典：GoogleトレンドKW「受験」／競合調査（理英会／どんちゃか）</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47C1D4-87AF-B047-12E0-A214281205E2}"/>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723771C4-6264-E0B7-0A8B-36CFE432F84D}"/>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その他（コンサルに含む）</a:t>
            </a:r>
            <a:endParaRPr sz="1600" b="1" dirty="0">
              <a:solidFill>
                <a:srgbClr val="002060"/>
              </a:solidFill>
              <a:latin typeface="Meiryo"/>
              <a:ea typeface="Meiryo"/>
              <a:cs typeface="Meiryo"/>
              <a:sym typeface="Meiryo"/>
            </a:endParaRPr>
          </a:p>
        </p:txBody>
      </p:sp>
      <p:sp>
        <p:nvSpPr>
          <p:cNvPr id="2" name="TextBox 2">
            <a:extLst>
              <a:ext uri="{FF2B5EF4-FFF2-40B4-BE49-F238E27FC236}">
                <a16:creationId xmlns:a16="http://schemas.microsoft.com/office/drawing/2014/main" id="{A48C561C-B672-4D7C-E0CB-20192CDA08E0}"/>
              </a:ext>
            </a:extLst>
          </p:cNvPr>
          <p:cNvSpPr/>
          <p:nvPr/>
        </p:nvSpPr>
        <p:spPr>
          <a:xfrm>
            <a:off x="426900" y="1051740"/>
            <a:ext cx="9052200" cy="283239"/>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2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ユーザー対応の質を高める</a:t>
            </a:r>
            <a:r>
              <a:rPr kumimoji="1" lang="en-US" altLang="zh-CN" sz="12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3</a:t>
            </a:r>
            <a:r>
              <a:rPr kumimoji="1" lang="zh-CN" altLang="en-US" sz="12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つの施策カテゴリ（診断コンテンツ・複数サービスを前提に整理）</a:t>
            </a:r>
            <a:endParaRPr kumimoji="1" lang="en-US" sz="12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5" name="Rounded Rectangle 3">
            <a:extLst>
              <a:ext uri="{FF2B5EF4-FFF2-40B4-BE49-F238E27FC236}">
                <a16:creationId xmlns:a16="http://schemas.microsoft.com/office/drawing/2014/main" id="{48C161C3-997D-031F-FF20-5370159140C1}"/>
              </a:ext>
            </a:extLst>
          </p:cNvPr>
          <p:cNvSpPr/>
          <p:nvPr/>
        </p:nvSpPr>
        <p:spPr>
          <a:xfrm>
            <a:off x="426900" y="1691820"/>
            <a:ext cx="2834280" cy="548280"/>
          </a:xfrm>
          <a:prstGeom prst="roundRect">
            <a:avLst>
              <a:gd name="adj" fmla="val 10000"/>
            </a:avLst>
          </a:prstGeom>
          <a:solidFill>
            <a:srgbClr val="1F2A5C"/>
          </a:solidFill>
          <a:ln w="12700" cap="flat" cmpd="sng" algn="ctr">
            <a:solidFill>
              <a:srgbClr val="1F2A5C"/>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QA</a:t>
            </a:r>
            <a:r>
              <a:rPr kumimoji="1" lang="zh-CN" alt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自動化</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6" name="Rounded Rectangle 4">
            <a:extLst>
              <a:ext uri="{FF2B5EF4-FFF2-40B4-BE49-F238E27FC236}">
                <a16:creationId xmlns:a16="http://schemas.microsoft.com/office/drawing/2014/main" id="{6140F136-C536-8CE1-4ABC-27C53A6C98F3}"/>
              </a:ext>
            </a:extLst>
          </p:cNvPr>
          <p:cNvSpPr/>
          <p:nvPr/>
        </p:nvSpPr>
        <p:spPr>
          <a:xfrm>
            <a:off x="42690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・料金・使用量等のよくある質問にLINEチャットボットで自動回答</a:t>
            </a:r>
            <a:endParaRPr kumimoji="1" lang="en-US" sz="11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・診断結果に応じたQ&amp;Aパターンも自動化候補</a:t>
            </a:r>
          </a:p>
        </p:txBody>
      </p:sp>
      <p:sp>
        <p:nvSpPr>
          <p:cNvPr id="7" name="Rounded Rectangle 5">
            <a:extLst>
              <a:ext uri="{FF2B5EF4-FFF2-40B4-BE49-F238E27FC236}">
                <a16:creationId xmlns:a16="http://schemas.microsoft.com/office/drawing/2014/main" id="{49ED863B-16D0-2D6F-E267-38B524C3E460}"/>
              </a:ext>
            </a:extLst>
          </p:cNvPr>
          <p:cNvSpPr/>
          <p:nvPr/>
        </p:nvSpPr>
        <p:spPr>
          <a:xfrm>
            <a:off x="3444420" y="1691820"/>
            <a:ext cx="2834280" cy="548280"/>
          </a:xfrm>
          <a:prstGeom prst="roundRect">
            <a:avLst>
              <a:gd name="adj" fmla="val 10000"/>
            </a:avLst>
          </a:prstGeom>
          <a:solidFill>
            <a:srgbClr val="4A6FA5"/>
          </a:solidFill>
          <a:ln w="12700" cap="flat" cmpd="sng" algn="ctr">
            <a:solidFill>
              <a:srgbClr val="4A6FA5"/>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個別チャット</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9" name="Rounded Rectangle 6">
            <a:extLst>
              <a:ext uri="{FF2B5EF4-FFF2-40B4-BE49-F238E27FC236}">
                <a16:creationId xmlns:a16="http://schemas.microsoft.com/office/drawing/2014/main" id="{2120D6CC-F8E8-A676-5288-0D7CA7AE5EBB}"/>
              </a:ext>
            </a:extLst>
          </p:cNvPr>
          <p:cNvSpPr/>
          <p:nvPr/>
        </p:nvSpPr>
        <p:spPr>
          <a:xfrm>
            <a:off x="344442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・契約内容等の複雑な問い合わせは有人チャットで個別対応</a:t>
            </a:r>
            <a:endParaRPr kumimoji="1" lang="en-US" sz="11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・タグ管理で乗り換え検討等、優先度の高い問い合わせを可視化</a:t>
            </a:r>
          </a:p>
        </p:txBody>
      </p:sp>
      <p:sp>
        <p:nvSpPr>
          <p:cNvPr id="11" name="Rounded Rectangle 7">
            <a:extLst>
              <a:ext uri="{FF2B5EF4-FFF2-40B4-BE49-F238E27FC236}">
                <a16:creationId xmlns:a16="http://schemas.microsoft.com/office/drawing/2014/main" id="{A110E104-86B5-BECB-43FF-305B6025C5CA}"/>
              </a:ext>
            </a:extLst>
          </p:cNvPr>
          <p:cNvSpPr/>
          <p:nvPr/>
        </p:nvSpPr>
        <p:spPr>
          <a:xfrm>
            <a:off x="6461940" y="1691820"/>
            <a:ext cx="2834280" cy="548280"/>
          </a:xfrm>
          <a:prstGeom prst="roundRect">
            <a:avLst>
              <a:gd name="adj" fmla="val 10000"/>
            </a:avLst>
          </a:prstGeom>
          <a:solidFill>
            <a:srgbClr val="5A6378"/>
          </a:solidFill>
          <a:ln w="12700" cap="flat" cmpd="sng" algn="ctr">
            <a:solidFill>
              <a:srgbClr val="5A6378"/>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その他</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13" name="Rounded Rectangle 8">
            <a:extLst>
              <a:ext uri="{FF2B5EF4-FFF2-40B4-BE49-F238E27FC236}">
                <a16:creationId xmlns:a16="http://schemas.microsoft.com/office/drawing/2014/main" id="{FA298501-38B3-F233-CA41-A026320BA8C3}"/>
              </a:ext>
            </a:extLst>
          </p:cNvPr>
          <p:cNvSpPr/>
          <p:nvPr/>
        </p:nvSpPr>
        <p:spPr>
          <a:xfrm>
            <a:off x="646194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・保護者アンケートをLINEリサーチ機能で実施</a:t>
            </a:r>
            <a:endParaRPr kumimoji="1" lang="en-US" sz="11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・回答特典を付けて回収率を高める</a:t>
            </a:r>
          </a:p>
        </p:txBody>
      </p:sp>
      <p:sp>
        <p:nvSpPr>
          <p:cNvPr id="15" name="Google Shape;156;p7">
            <a:extLst>
              <a:ext uri="{FF2B5EF4-FFF2-40B4-BE49-F238E27FC236}">
                <a16:creationId xmlns:a16="http://schemas.microsoft.com/office/drawing/2014/main" id="{DCA83424-AED2-9D0C-15FF-C3A1D7D9F90E}"/>
              </a:ext>
            </a:extLst>
          </p:cNvPr>
          <p:cNvSpPr txBox="1"/>
          <p:nvPr/>
        </p:nvSpPr>
        <p:spPr>
          <a:xfrm>
            <a:off x="426900" y="4279347"/>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その他（コンサルに含む）　　</a:t>
            </a:r>
            <a:r>
              <a:rPr lang="en-US" altLang="ja-JP" sz="1600" b="1" dirty="0">
                <a:solidFill>
                  <a:srgbClr val="002060"/>
                </a:solidFill>
                <a:latin typeface="Meiryo"/>
                <a:ea typeface="Meiryo"/>
                <a:cs typeface="Meiryo"/>
                <a:sym typeface="Meiryo"/>
              </a:rPr>
              <a:t>※</a:t>
            </a:r>
            <a:r>
              <a:rPr lang="ja-JP" altLang="en-US" sz="1600" b="1" dirty="0">
                <a:solidFill>
                  <a:srgbClr val="002060"/>
                </a:solidFill>
                <a:latin typeface="Meiryo"/>
                <a:ea typeface="Meiryo"/>
                <a:cs typeface="Meiryo"/>
                <a:sym typeface="Meiryo"/>
              </a:rPr>
              <a:t>工数削減施策</a:t>
            </a:r>
            <a:endParaRPr sz="1600" b="1" dirty="0">
              <a:solidFill>
                <a:srgbClr val="002060"/>
              </a:solidFill>
              <a:latin typeface="Meiryo"/>
              <a:ea typeface="Meiryo"/>
              <a:cs typeface="Meiryo"/>
              <a:sym typeface="Meiryo"/>
            </a:endParaRPr>
          </a:p>
        </p:txBody>
      </p:sp>
      <p:sp>
        <p:nvSpPr>
          <p:cNvPr id="17" name="Rounded Rectangle 3">
            <a:extLst>
              <a:ext uri="{FF2B5EF4-FFF2-40B4-BE49-F238E27FC236}">
                <a16:creationId xmlns:a16="http://schemas.microsoft.com/office/drawing/2014/main" id="{13A2205C-193F-C8D0-D9D5-28D75F02D3A1}"/>
              </a:ext>
            </a:extLst>
          </p:cNvPr>
          <p:cNvSpPr/>
          <p:nvPr/>
        </p:nvSpPr>
        <p:spPr>
          <a:xfrm>
            <a:off x="426900" y="4753795"/>
            <a:ext cx="443448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zh-CN" sz="1400" b="1" strike="noStrike" spc="-1">
                <a:solidFill>
                  <a:srgbClr val="FFFFFF"/>
                </a:solidFill>
                <a:latin typeface="メイリオ" panose="020B0604030504040204" pitchFamily="50" charset="-128"/>
                <a:ea typeface="メイリオ" panose="020B0604030504040204" pitchFamily="50" charset="-128"/>
              </a:rPr>
              <a:t>自動応答</a:t>
            </a:r>
            <a:endParaRPr lang="en-US" sz="1400" b="0" strike="noStrike" spc="-1">
              <a:solidFill>
                <a:srgbClr val="FFFFFF"/>
              </a:solidFill>
              <a:latin typeface="メイリオ" panose="020B0604030504040204" pitchFamily="50" charset="-128"/>
              <a:ea typeface="メイリオ" panose="020B0604030504040204" pitchFamily="50" charset="-128"/>
            </a:endParaRPr>
          </a:p>
        </p:txBody>
      </p:sp>
      <p:sp>
        <p:nvSpPr>
          <p:cNvPr id="19" name="Rounded Rectangle 4">
            <a:extLst>
              <a:ext uri="{FF2B5EF4-FFF2-40B4-BE49-F238E27FC236}">
                <a16:creationId xmlns:a16="http://schemas.microsoft.com/office/drawing/2014/main" id="{71004DFF-0445-5182-FDBF-99D37EEA5C3B}"/>
              </a:ext>
            </a:extLst>
          </p:cNvPr>
          <p:cNvSpPr/>
          <p:nvPr/>
        </p:nvSpPr>
        <p:spPr>
          <a:xfrm>
            <a:off x="426900" y="5393875"/>
            <a:ext cx="4434480" cy="1075371"/>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l">
              <a:lnSpc>
                <a:spcPct val="100000"/>
              </a:lnSpc>
              <a:spcAft>
                <a:spcPts val="1000"/>
              </a:spcAft>
            </a:pPr>
            <a:r>
              <a:rPr sz="1100">
                <a:solidFill>
                  <a:srgbClr val="404040"/>
                </a:solidFill>
                <a:latin typeface="メイリオ" panose="020B0604030504040204" pitchFamily="50" charset="-128"/>
                <a:ea typeface="メイリオ" panose="020B0604030504040204" pitchFamily="50" charset="-128"/>
              </a:rPr>
              <a:t>・キーワード応答＋タグ付けで一次対応を自動化</a:t>
            </a:r>
            <a:endParaRPr lang="en-US" sz="1000" b="0" strike="noStrike" spc="-1">
              <a:solidFill>
                <a:srgbClr val="000000"/>
              </a:solidFill>
              <a:latin typeface="メイリオ" panose="020B0604030504040204" pitchFamily="50" charset="-128"/>
              <a:ea typeface="メイリオ" panose="020B0604030504040204" pitchFamily="50" charset="-128"/>
            </a:endParaRPr>
          </a:p>
          <a:p>
            <a:pPr algn="l">
              <a:spcAft>
                <a:spcPts val="1000"/>
              </a:spcAft>
            </a:pPr>
            <a:r>
              <a:rPr sz="1100">
                <a:solidFill>
                  <a:srgbClr val="404040"/>
                </a:solidFill>
                <a:latin typeface="メイリオ" panose="020B0604030504040204" pitchFamily="50" charset="-128"/>
                <a:ea typeface="メイリオ" panose="020B0604030504040204" pitchFamily="50" charset="-128"/>
              </a:rPr>
              <a:t>・複数エリア（17アカウント）共通のFAQ対応を効率化</a:t>
            </a:r>
          </a:p>
        </p:txBody>
      </p:sp>
      <p:sp>
        <p:nvSpPr>
          <p:cNvPr id="21" name="Rounded Rectangle 5">
            <a:extLst>
              <a:ext uri="{FF2B5EF4-FFF2-40B4-BE49-F238E27FC236}">
                <a16:creationId xmlns:a16="http://schemas.microsoft.com/office/drawing/2014/main" id="{99616B08-D6A8-4286-A691-E62AF335E000}"/>
              </a:ext>
            </a:extLst>
          </p:cNvPr>
          <p:cNvSpPr/>
          <p:nvPr/>
        </p:nvSpPr>
        <p:spPr>
          <a:xfrm>
            <a:off x="5044620" y="4753795"/>
            <a:ext cx="4434480" cy="54828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zh-CN" sz="1400" b="1" strike="noStrike" spc="-1">
                <a:solidFill>
                  <a:srgbClr val="FFFFFF"/>
                </a:solidFill>
                <a:latin typeface="メイリオ" panose="020B0604030504040204" pitchFamily="50" charset="-128"/>
                <a:ea typeface="メイリオ" panose="020B0604030504040204" pitchFamily="50" charset="-128"/>
              </a:rPr>
              <a:t>その他</a:t>
            </a:r>
            <a:endParaRPr lang="en-US" sz="1400" b="0" strike="noStrike" spc="-1">
              <a:solidFill>
                <a:srgbClr val="FFFFFF"/>
              </a:solidFill>
              <a:latin typeface="メイリオ" panose="020B0604030504040204" pitchFamily="50" charset="-128"/>
              <a:ea typeface="メイリオ" panose="020B0604030504040204" pitchFamily="50" charset="-128"/>
            </a:endParaRPr>
          </a:p>
        </p:txBody>
      </p:sp>
      <p:sp>
        <p:nvSpPr>
          <p:cNvPr id="23" name="Rounded Rectangle 6">
            <a:extLst>
              <a:ext uri="{FF2B5EF4-FFF2-40B4-BE49-F238E27FC236}">
                <a16:creationId xmlns:a16="http://schemas.microsoft.com/office/drawing/2014/main" id="{C9FC3A12-ACD9-D0EB-C223-270B18E3C1AE}"/>
              </a:ext>
            </a:extLst>
          </p:cNvPr>
          <p:cNvSpPr/>
          <p:nvPr/>
        </p:nvSpPr>
        <p:spPr>
          <a:xfrm>
            <a:off x="5044620" y="5393875"/>
            <a:ext cx="4434480" cy="1075371"/>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l">
              <a:lnSpc>
                <a:spcPct val="100000"/>
              </a:lnSpc>
              <a:spcAft>
                <a:spcPts val="1000"/>
              </a:spcAft>
            </a:pPr>
            <a:r>
              <a:rPr sz="1100">
                <a:solidFill>
                  <a:srgbClr val="404040"/>
                </a:solidFill>
                <a:latin typeface="メイリオ" panose="020B0604030504040204" pitchFamily="50" charset="-128"/>
                <a:ea typeface="メイリオ" panose="020B0604030504040204" pitchFamily="50" charset="-128"/>
              </a:rPr>
              <a:t>・配信ログの自動集計（API連携）でレポーティング工数を削減</a:t>
            </a:r>
            <a:endParaRPr lang="en-US" sz="1000" b="0" strike="noStrike" spc="-1">
              <a:solidFill>
                <a:srgbClr val="000000"/>
              </a:solidFill>
              <a:latin typeface="メイリオ" panose="020B0604030504040204" pitchFamily="50" charset="-128"/>
              <a:ea typeface="メイリオ" panose="020B0604030504040204" pitchFamily="50" charset="-128"/>
            </a:endParaRPr>
          </a:p>
          <a:p>
            <a:pPr algn="l">
              <a:spcAft>
                <a:spcPts val="1000"/>
              </a:spcAft>
            </a:pPr>
            <a:r>
              <a:rPr sz="1100">
                <a:solidFill>
                  <a:srgbClr val="404040"/>
                </a:solidFill>
                <a:latin typeface="メイリオ" panose="020B0604030504040204" pitchFamily="50" charset="-128"/>
                <a:ea typeface="メイリオ" panose="020B0604030504040204" pitchFamily="50" charset="-128"/>
              </a:rPr>
              <a:t>・診断結果送付〜ステップ配信までをGAS等で自動化</a:t>
            </a:r>
          </a:p>
        </p:txBody>
      </p:sp>
      <p:sp>
        <p:nvSpPr>
          <p:cNvPr id="25" name="Rounded Rectangle 3">
            <a:extLst>
              <a:ext uri="{FF2B5EF4-FFF2-40B4-BE49-F238E27FC236}">
                <a16:creationId xmlns:a16="http://schemas.microsoft.com/office/drawing/2014/main" id="{C7F21D87-4A15-CE7E-773C-B513888D6575}"/>
              </a:ext>
            </a:extLst>
          </p:cNvPr>
          <p:cNvSpPr/>
          <p:nvPr/>
        </p:nvSpPr>
        <p:spPr>
          <a:xfrm>
            <a:off x="243659" y="4020903"/>
            <a:ext cx="9425441" cy="2497059"/>
          </a:xfrm>
          <a:prstGeom prst="roundRect">
            <a:avLst>
              <a:gd name="adj" fmla="val 10000"/>
            </a:avLst>
          </a:prstGeom>
          <a:solidFill>
            <a:schemeClr val="bg1">
              <a:alpha val="63000"/>
            </a:schemeClr>
          </a:solidFill>
          <a:ln w="12700">
            <a:noFill/>
            <a:round/>
          </a:ln>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400" b="0" strike="noStrike" spc="-1" dirty="0">
              <a:solidFill>
                <a:srgbClr val="FFFFFF"/>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893779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8C43D-93AD-C213-ED4C-7741F0FE507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72800AA-EBD7-DB78-DF5E-877E18C2F2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10683329-D426-0C34-21A1-BB46AEF49EBC}"/>
              </a:ext>
            </a:extLst>
          </p:cNvPr>
          <p:cNvSpPr/>
          <p:nvPr/>
        </p:nvSpPr>
        <p:spPr>
          <a:xfrm>
            <a:off x="1988098" y="3038203"/>
            <a:ext cx="5929829"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施策の詳細（新規友だち獲得）</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2060173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A8C22-A859-569A-8EEC-58728B6BD665}"/>
            </a:ext>
          </a:extLst>
        </p:cNvPr>
        <p:cNvGrpSpPr/>
        <p:nvPr/>
      </p:nvGrpSpPr>
      <p:grpSpPr>
        <a:xfrm>
          <a:off x="0" y="0"/>
          <a:ext cx="0" cy="0"/>
          <a:chOff x="0" y="0"/>
          <a:chExt cx="0" cy="0"/>
        </a:xfrm>
      </p:grpSpPr>
      <p:sp>
        <p:nvSpPr>
          <p:cNvPr id="3" name="Google Shape;752;p28">
            <a:extLst>
              <a:ext uri="{FF2B5EF4-FFF2-40B4-BE49-F238E27FC236}">
                <a16:creationId xmlns:a16="http://schemas.microsoft.com/office/drawing/2014/main" id="{6C96E678-C87E-58F4-6415-8E923AFE9CA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10" name="TextBox 2">
            <a:extLst>
              <a:ext uri="{FF2B5EF4-FFF2-40B4-BE49-F238E27FC236}">
                <a16:creationId xmlns:a16="http://schemas.microsoft.com/office/drawing/2014/main" id="{88F34F17-1222-19B2-703D-3A639F6FB75B}"/>
              </a:ext>
            </a:extLst>
          </p:cNvPr>
          <p:cNvSpPr/>
          <p:nvPr/>
        </p:nvSpPr>
        <p:spPr>
          <a:xfrm>
            <a:off x="426900" y="1777180"/>
            <a:ext cx="9052200" cy="306323"/>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zh-CN" sz="1400" b="0" strike="noStrike" spc="-1">
                <a:solidFill>
                  <a:srgbClr val="5A6378"/>
                </a:solidFill>
                <a:latin typeface="メイリオ" panose="020B0604030504040204" pitchFamily="50" charset="-128"/>
                <a:ea typeface="メイリオ" panose="020B0604030504040204" pitchFamily="50" charset="-128"/>
              </a:rPr>
              <a:t>各接点（箇所）ごとに訴求を出し分け、LINE友だち追加へつなげる（診断コンテンツを起点に設計）</a:t>
            </a:r>
            <a:endParaRPr lang="en-US" sz="1400" b="0" strike="noStrike" spc="-1">
              <a:solidFill>
                <a:srgbClr val="000000"/>
              </a:solidFill>
              <a:latin typeface="メイリオ" panose="020B0604030504040204" pitchFamily="50" charset="-128"/>
              <a:ea typeface="メイリオ" panose="020B0604030504040204" pitchFamily="50" charset="-128"/>
            </a:endParaRPr>
          </a:p>
        </p:txBody>
      </p:sp>
      <p:sp>
        <p:nvSpPr>
          <p:cNvPr id="15" name="Rounded Rectangle 3">
            <a:extLst>
              <a:ext uri="{FF2B5EF4-FFF2-40B4-BE49-F238E27FC236}">
                <a16:creationId xmlns:a16="http://schemas.microsoft.com/office/drawing/2014/main" id="{C4925BB9-D79E-FFBF-0C62-AA4DA1B53D1C}"/>
              </a:ext>
            </a:extLst>
          </p:cNvPr>
          <p:cNvSpPr/>
          <p:nvPr/>
        </p:nvSpPr>
        <p:spPr>
          <a:xfrm>
            <a:off x="426900" y="246298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料金プラン診断コンテンツ</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18" name="Right Arrow 4">
            <a:extLst>
              <a:ext uri="{FF2B5EF4-FFF2-40B4-BE49-F238E27FC236}">
                <a16:creationId xmlns:a16="http://schemas.microsoft.com/office/drawing/2014/main" id="{88BC1F8F-F7F1-CC07-4381-CFB49926A52D}"/>
              </a:ext>
            </a:extLst>
          </p:cNvPr>
          <p:cNvSpPr/>
          <p:nvPr/>
        </p:nvSpPr>
        <p:spPr>
          <a:xfrm>
            <a:off x="3249300" y="266422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26" name="Rounded Rectangle 5">
            <a:extLst>
              <a:ext uri="{FF2B5EF4-FFF2-40B4-BE49-F238E27FC236}">
                <a16:creationId xmlns:a16="http://schemas.microsoft.com/office/drawing/2014/main" id="{43F406FA-C08A-D91A-4E14-2D8412F195E6}"/>
              </a:ext>
            </a:extLst>
          </p:cNvPr>
          <p:cNvSpPr/>
          <p:nvPr/>
        </p:nvSpPr>
        <p:spPr>
          <a:xfrm>
            <a:off x="3541980" y="246298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診断結果をLINEで送付</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27" name="Right Arrow 6">
            <a:extLst>
              <a:ext uri="{FF2B5EF4-FFF2-40B4-BE49-F238E27FC236}">
                <a16:creationId xmlns:a16="http://schemas.microsoft.com/office/drawing/2014/main" id="{7D9F3C04-6BFD-7CFA-B759-ACDA786DAC87}"/>
              </a:ext>
            </a:extLst>
          </p:cNvPr>
          <p:cNvSpPr/>
          <p:nvPr/>
        </p:nvSpPr>
        <p:spPr>
          <a:xfrm>
            <a:off x="6364380" y="266422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28" name="Rounded Rectangle 7">
            <a:extLst>
              <a:ext uri="{FF2B5EF4-FFF2-40B4-BE49-F238E27FC236}">
                <a16:creationId xmlns:a16="http://schemas.microsoft.com/office/drawing/2014/main" id="{56BFF9D2-5CEA-F780-1665-E25342AA7BC9}"/>
              </a:ext>
            </a:extLst>
          </p:cNvPr>
          <p:cNvSpPr/>
          <p:nvPr/>
        </p:nvSpPr>
        <p:spPr>
          <a:xfrm>
            <a:off x="6657060" y="246298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1" strike="noStrike" spc="-1">
                <a:solidFill>
                  <a:srgbClr val="FFFFFF"/>
                </a:solidFill>
                <a:latin typeface="メイリオ" panose="020B0604030504040204" pitchFamily="50" charset="-128"/>
                <a:ea typeface="メイリオ" panose="020B0604030504040204" pitchFamily="50" charset="-128"/>
              </a:rPr>
              <a:t>LINE</a:t>
            </a:r>
            <a:r>
              <a:rPr lang="zh-CN" sz="1000" b="1" strike="noStrike" spc="-1">
                <a:solidFill>
                  <a:srgbClr val="FFFFFF"/>
                </a:solidFill>
                <a:latin typeface="メイリオ" panose="020B0604030504040204" pitchFamily="50" charset="-128"/>
                <a:ea typeface="メイリオ" panose="020B0604030504040204" pitchFamily="50" charset="-128"/>
              </a:rPr>
              <a:t>追加</a:t>
            </a:r>
            <a:endParaRPr lang="en-US" sz="1000" b="0" strike="noStrike" spc="-1">
              <a:solidFill>
                <a:srgbClr val="FFFFFF"/>
              </a:solidFill>
              <a:latin typeface="メイリオ" panose="020B0604030504040204" pitchFamily="50" charset="-128"/>
              <a:ea typeface="メイリオ" panose="020B0604030504040204" pitchFamily="50" charset="-128"/>
            </a:endParaRPr>
          </a:p>
        </p:txBody>
      </p:sp>
      <p:sp>
        <p:nvSpPr>
          <p:cNvPr id="29" name="Rounded Rectangle 8">
            <a:extLst>
              <a:ext uri="{FF2B5EF4-FFF2-40B4-BE49-F238E27FC236}">
                <a16:creationId xmlns:a16="http://schemas.microsoft.com/office/drawing/2014/main" id="{F2D5D985-2571-C6B2-6BD5-E19E0FEA1435}"/>
              </a:ext>
            </a:extLst>
          </p:cNvPr>
          <p:cNvSpPr/>
          <p:nvPr/>
        </p:nvSpPr>
        <p:spPr>
          <a:xfrm>
            <a:off x="426900" y="333166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会員・保護者向けマイページ登録案内</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30" name="Right Arrow 9">
            <a:extLst>
              <a:ext uri="{FF2B5EF4-FFF2-40B4-BE49-F238E27FC236}">
                <a16:creationId xmlns:a16="http://schemas.microsoft.com/office/drawing/2014/main" id="{E511E491-CBEA-6A51-3351-3AB67CE6168D}"/>
              </a:ext>
            </a:extLst>
          </p:cNvPr>
          <p:cNvSpPr/>
          <p:nvPr/>
        </p:nvSpPr>
        <p:spPr>
          <a:xfrm>
            <a:off x="3249300" y="353290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31" name="Rounded Rectangle 10">
            <a:extLst>
              <a:ext uri="{FF2B5EF4-FFF2-40B4-BE49-F238E27FC236}">
                <a16:creationId xmlns:a16="http://schemas.microsoft.com/office/drawing/2014/main" id="{BF05E24B-C8E2-ED81-489E-0A7E354F89B3}"/>
              </a:ext>
            </a:extLst>
          </p:cNvPr>
          <p:cNvSpPr/>
          <p:nvPr/>
        </p:nvSpPr>
        <p:spPr>
          <a:xfrm>
            <a:off x="3541980" y="333166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料金確定通知もLINEで受け取れる</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32" name="Right Arrow 11">
            <a:extLst>
              <a:ext uri="{FF2B5EF4-FFF2-40B4-BE49-F238E27FC236}">
                <a16:creationId xmlns:a16="http://schemas.microsoft.com/office/drawing/2014/main" id="{48B569E4-489C-51C8-663D-44B3897EEAAF}"/>
              </a:ext>
            </a:extLst>
          </p:cNvPr>
          <p:cNvSpPr/>
          <p:nvPr/>
        </p:nvSpPr>
        <p:spPr>
          <a:xfrm>
            <a:off x="6364380" y="353290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33" name="Rounded Rectangle 12">
            <a:extLst>
              <a:ext uri="{FF2B5EF4-FFF2-40B4-BE49-F238E27FC236}">
                <a16:creationId xmlns:a16="http://schemas.microsoft.com/office/drawing/2014/main" id="{5FC51B9B-AA21-8F66-E3AB-3462FCD63368}"/>
              </a:ext>
            </a:extLst>
          </p:cNvPr>
          <p:cNvSpPr/>
          <p:nvPr/>
        </p:nvSpPr>
        <p:spPr>
          <a:xfrm>
            <a:off x="6657060" y="333166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1" strike="noStrike" spc="-1">
                <a:solidFill>
                  <a:srgbClr val="FFFFFF"/>
                </a:solidFill>
                <a:latin typeface="メイリオ" panose="020B0604030504040204" pitchFamily="50" charset="-128"/>
                <a:ea typeface="メイリオ" panose="020B0604030504040204" pitchFamily="50" charset="-128"/>
              </a:rPr>
              <a:t>LINE</a:t>
            </a:r>
            <a:r>
              <a:rPr lang="zh-CN" sz="1000" b="1" strike="noStrike" spc="-1">
                <a:solidFill>
                  <a:srgbClr val="FFFFFF"/>
                </a:solidFill>
                <a:latin typeface="メイリオ" panose="020B0604030504040204" pitchFamily="50" charset="-128"/>
                <a:ea typeface="メイリオ" panose="020B0604030504040204" pitchFamily="50" charset="-128"/>
              </a:rPr>
              <a:t>追加</a:t>
            </a:r>
            <a:endParaRPr lang="en-US" sz="1000" b="0" strike="noStrike" spc="-1">
              <a:solidFill>
                <a:srgbClr val="FFFFFF"/>
              </a:solidFill>
              <a:latin typeface="メイリオ" panose="020B0604030504040204" pitchFamily="50" charset="-128"/>
              <a:ea typeface="メイリオ" panose="020B0604030504040204" pitchFamily="50" charset="-128"/>
            </a:endParaRPr>
          </a:p>
        </p:txBody>
      </p:sp>
      <p:sp>
        <p:nvSpPr>
          <p:cNvPr id="34" name="Rounded Rectangle 13">
            <a:extLst>
              <a:ext uri="{FF2B5EF4-FFF2-40B4-BE49-F238E27FC236}">
                <a16:creationId xmlns:a16="http://schemas.microsoft.com/office/drawing/2014/main" id="{22D948EF-E8AB-9977-D385-ECE4F24EA2A6}"/>
              </a:ext>
            </a:extLst>
          </p:cNvPr>
          <p:cNvSpPr/>
          <p:nvPr/>
        </p:nvSpPr>
        <p:spPr>
          <a:xfrm>
            <a:off x="426900" y="420034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地域別・体験レッスンWEB申込キャンペーン</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35" name="Right Arrow 14">
            <a:extLst>
              <a:ext uri="{FF2B5EF4-FFF2-40B4-BE49-F238E27FC236}">
                <a16:creationId xmlns:a16="http://schemas.microsoft.com/office/drawing/2014/main" id="{ED599AD2-9433-037D-4055-3CD5D868773E}"/>
              </a:ext>
            </a:extLst>
          </p:cNvPr>
          <p:cNvSpPr/>
          <p:nvPr/>
        </p:nvSpPr>
        <p:spPr>
          <a:xfrm>
            <a:off x="3249300" y="440158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36" name="Rounded Rectangle 15">
            <a:extLst>
              <a:ext uri="{FF2B5EF4-FFF2-40B4-BE49-F238E27FC236}">
                <a16:creationId xmlns:a16="http://schemas.microsoft.com/office/drawing/2014/main" id="{AB67C977-69C9-A50F-851E-986C7CB7A3D5}"/>
              </a:ext>
            </a:extLst>
          </p:cNvPr>
          <p:cNvSpPr/>
          <p:nvPr/>
        </p:nvSpPr>
        <p:spPr>
          <a:xfrm>
            <a:off x="3541980" y="420034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申込完了特典をLINEでお届け</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43" name="Right Arrow 16">
            <a:extLst>
              <a:ext uri="{FF2B5EF4-FFF2-40B4-BE49-F238E27FC236}">
                <a16:creationId xmlns:a16="http://schemas.microsoft.com/office/drawing/2014/main" id="{526CE94B-E706-E4C3-FD31-99BF0647BBEF}"/>
              </a:ext>
            </a:extLst>
          </p:cNvPr>
          <p:cNvSpPr/>
          <p:nvPr/>
        </p:nvSpPr>
        <p:spPr>
          <a:xfrm>
            <a:off x="6364380" y="440158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44" name="Rounded Rectangle 17">
            <a:extLst>
              <a:ext uri="{FF2B5EF4-FFF2-40B4-BE49-F238E27FC236}">
                <a16:creationId xmlns:a16="http://schemas.microsoft.com/office/drawing/2014/main" id="{3B4A80AC-373C-53F9-4A7E-460E1983856E}"/>
              </a:ext>
            </a:extLst>
          </p:cNvPr>
          <p:cNvSpPr/>
          <p:nvPr/>
        </p:nvSpPr>
        <p:spPr>
          <a:xfrm>
            <a:off x="6657060" y="420034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1" strike="noStrike" spc="-1">
                <a:solidFill>
                  <a:srgbClr val="FFFFFF"/>
                </a:solidFill>
                <a:latin typeface="メイリオ" panose="020B0604030504040204" pitchFamily="50" charset="-128"/>
                <a:ea typeface="メイリオ" panose="020B0604030504040204" pitchFamily="50" charset="-128"/>
              </a:rPr>
              <a:t>LINE</a:t>
            </a:r>
            <a:r>
              <a:rPr lang="zh-CN" sz="1000" b="1" strike="noStrike" spc="-1">
                <a:solidFill>
                  <a:srgbClr val="FFFFFF"/>
                </a:solidFill>
                <a:latin typeface="メイリオ" panose="020B0604030504040204" pitchFamily="50" charset="-128"/>
                <a:ea typeface="メイリオ" panose="020B0604030504040204" pitchFamily="50" charset="-128"/>
              </a:rPr>
              <a:t>追加</a:t>
            </a:r>
            <a:endParaRPr lang="en-US" sz="1000" b="0" strike="noStrike" spc="-1">
              <a:solidFill>
                <a:srgbClr val="FFFFFF"/>
              </a:solidFill>
              <a:latin typeface="メイリオ" panose="020B0604030504040204" pitchFamily="50" charset="-128"/>
              <a:ea typeface="メイリオ" panose="020B0604030504040204" pitchFamily="50" charset="-128"/>
            </a:endParaRPr>
          </a:p>
        </p:txBody>
      </p:sp>
      <p:sp>
        <p:nvSpPr>
          <p:cNvPr id="45" name="TextBox 18">
            <a:extLst>
              <a:ext uri="{FF2B5EF4-FFF2-40B4-BE49-F238E27FC236}">
                <a16:creationId xmlns:a16="http://schemas.microsoft.com/office/drawing/2014/main" id="{0E624A20-F489-CA81-0820-C9C371152A6C}"/>
              </a:ext>
            </a:extLst>
          </p:cNvPr>
          <p:cNvSpPr/>
          <p:nvPr/>
        </p:nvSpPr>
        <p:spPr>
          <a:xfrm>
            <a:off x="548883" y="5211344"/>
            <a:ext cx="9052200" cy="26015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en-US" sz="1100" b="0" strike="noStrike" spc="-1">
                <a:solidFill>
                  <a:srgbClr val="9AA1AE"/>
                </a:solidFill>
                <a:latin typeface="メイリオ" panose="020B0604030504040204" pitchFamily="50" charset="-128"/>
                <a:ea typeface="メイリオ" panose="020B0604030504040204" pitchFamily="50" charset="-128"/>
              </a:rPr>
              <a:t>※「料金プラン診断」はサイト上に簡易診断フォームを設置し、結果をLINEで送付する動線を想定（要開発）</a:t>
            </a:r>
            <a:endParaRPr lang="en-US" sz="1100" b="0" strike="noStrike" spc="-1">
              <a:solidFill>
                <a:srgbClr val="00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73466286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離脱防止バナー</a:t>
            </a:r>
            <a:endParaRPr lang="en-US" altLang="ja-JP" sz="2000" b="1" dirty="0">
              <a:solidFill>
                <a:srgbClr val="002060"/>
              </a:solidFill>
              <a:latin typeface="Meiryo"/>
              <a:ea typeface="Meiryo"/>
              <a:cs typeface="Meiryo"/>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2000" b="1" dirty="0">
              <a:solidFill>
                <a:srgbClr val="002060"/>
              </a:solidFill>
              <a:latin typeface="Meiryo"/>
              <a:ea typeface="Meiryo"/>
              <a:cs typeface="Meiryo"/>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サンクス</a:t>
            </a: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誘導</a:t>
            </a:r>
            <a:endParaRPr lang="en-US" altLang="ja-JP" sz="2000" b="1" dirty="0">
              <a:solidFill>
                <a:srgbClr val="002060"/>
              </a:solidFill>
              <a:latin typeface="Meiryo"/>
              <a:ea typeface="Meiryo"/>
              <a:cs typeface="Meiryo"/>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事例：車買取</a:t>
            </a:r>
            <a:endParaRPr lang="en-US" altLang="ja-JP" sz="1400" dirty="0">
              <a:solidFill>
                <a:schemeClr val="tx1">
                  <a:lumMod val="50000"/>
                  <a:lumOff val="50000"/>
                </a:schemeClr>
              </a:solidFill>
              <a:latin typeface="Meiryo"/>
              <a:ea typeface="Meiryo"/>
              <a:cs typeface="Meiryo"/>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興味はあるが利用まで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至らなかったユーザーを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友だちとして囲い込む。</a:t>
            </a:r>
            <a:endParaRPr lang="en-US" altLang="ja-JP" sz="1400" dirty="0">
              <a:latin typeface="Meiryo"/>
              <a:ea typeface="Meiryo"/>
              <a:cs typeface="Meiryo"/>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Meiryo"/>
                <a:ea typeface="Meiryo"/>
                <a:cs typeface="Meiryo"/>
                <a:sym typeface="Meiryo"/>
              </a:rPr>
              <a:t>CPF</a:t>
            </a:r>
            <a:r>
              <a:rPr lang="ja-JP" altLang="en-US" sz="1400" dirty="0">
                <a:latin typeface="Meiryo"/>
                <a:ea typeface="Meiryo"/>
                <a:cs typeface="Meiryo"/>
                <a:sym typeface="Meiryo"/>
              </a:rPr>
              <a:t>約</a:t>
            </a:r>
            <a:r>
              <a:rPr lang="en-US" altLang="ja-JP" sz="1400" dirty="0">
                <a:latin typeface="Meiryo"/>
                <a:ea typeface="Meiryo"/>
                <a:cs typeface="Meiryo"/>
                <a:sym typeface="Meiryo"/>
              </a:rPr>
              <a:t>100-200</a:t>
            </a:r>
            <a:r>
              <a:rPr lang="ja-JP" altLang="en-US" sz="1400" dirty="0">
                <a:latin typeface="Meiryo"/>
                <a:ea typeface="Meiryo"/>
                <a:cs typeface="Meiryo"/>
                <a:sym typeface="Meiryo"/>
              </a:rPr>
              <a:t>円台。</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かなり安価かつ成果報酬で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友だちを増やす広告。</a:t>
            </a:r>
            <a:endParaRPr lang="en-US" altLang="ja-JP" sz="1400" dirty="0">
              <a:latin typeface="Meiryo"/>
              <a:ea typeface="Meiryo"/>
              <a:cs typeface="Meiryo"/>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事例：アパレル</a:t>
            </a:r>
            <a:endParaRPr lang="en-US" altLang="ja-JP" sz="1400" dirty="0">
              <a:solidFill>
                <a:schemeClr val="tx1">
                  <a:lumMod val="50000"/>
                  <a:lumOff val="50000"/>
                </a:schemeClr>
              </a:solidFill>
              <a:latin typeface="Meiryo"/>
              <a:ea typeface="Meiryo"/>
              <a:cs typeface="Meiryo"/>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1</a:t>
            </a:r>
            <a:r>
              <a:rPr lang="ja-JP" altLang="en-US" sz="1200" dirty="0">
                <a:solidFill>
                  <a:schemeClr val="tx1">
                    <a:lumMod val="50000"/>
                    <a:lumOff val="50000"/>
                  </a:schemeClr>
                </a:solidFill>
                <a:latin typeface="Meiryo"/>
                <a:ea typeface="Meiryo"/>
                <a:cs typeface="Meiryo"/>
                <a:sym typeface="Meiryo"/>
              </a:rPr>
              <a:t>人あたり</a:t>
            </a:r>
            <a:r>
              <a:rPr lang="en-US" altLang="ja-JP" sz="1200" dirty="0">
                <a:solidFill>
                  <a:schemeClr val="tx1">
                    <a:lumMod val="50000"/>
                    <a:lumOff val="50000"/>
                  </a:schemeClr>
                </a:solidFill>
                <a:latin typeface="Meiryo"/>
                <a:ea typeface="Meiryo"/>
                <a:cs typeface="Meiryo"/>
                <a:sym typeface="Meiryo"/>
              </a:rPr>
              <a:t>50</a:t>
            </a:r>
            <a:r>
              <a:rPr lang="ja-JP" altLang="en-US" sz="1200" dirty="0">
                <a:solidFill>
                  <a:schemeClr val="tx1">
                    <a:lumMod val="50000"/>
                    <a:lumOff val="50000"/>
                  </a:schemeClr>
                </a:solidFill>
                <a:latin typeface="Meiryo"/>
                <a:ea typeface="Meiryo"/>
                <a:cs typeface="Meiryo"/>
                <a:sym typeface="Meiryo"/>
              </a:rPr>
              <a:t>円で友だち獲得</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経由の購入</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サンクスページに到達した</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ユーザーを自動で</a:t>
            </a:r>
            <a:r>
              <a:rPr lang="en-US" altLang="ja-JP" sz="1400" dirty="0">
                <a:latin typeface="Meiryo"/>
                <a:ea typeface="Meiryo"/>
                <a:cs typeface="Meiryo"/>
                <a:sym typeface="Meiryo"/>
              </a:rPr>
              <a:t>LINE</a:t>
            </a:r>
            <a:r>
              <a:rPr lang="ja-JP" altLang="en-US" sz="1400" dirty="0">
                <a:latin typeface="Meiryo"/>
                <a:ea typeface="Meiryo"/>
                <a:cs typeface="Meiryo"/>
                <a:sym typeface="Meiryo"/>
              </a:rPr>
              <a:t>に誘導。</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友だち追加、追客に活用可能。</a:t>
            </a:r>
            <a:endParaRPr lang="en-US" altLang="ja-JP" sz="1400" dirty="0">
              <a:latin typeface="Meiryo"/>
              <a:ea typeface="Meiryo"/>
              <a:cs typeface="Meiryo"/>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事例：美容医療</a:t>
            </a:r>
            <a:endParaRPr lang="en-US" altLang="ja-JP" sz="1400" dirty="0">
              <a:solidFill>
                <a:schemeClr val="tx1">
                  <a:lumMod val="50000"/>
                  <a:lumOff val="50000"/>
                </a:schemeClr>
              </a:solidFill>
              <a:latin typeface="Meiryo"/>
              <a:ea typeface="Meiryo"/>
              <a:cs typeface="Meiryo"/>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LP</a:t>
            </a:r>
            <a:r>
              <a:rPr lang="ja-JP" altLang="en-US" sz="1200" dirty="0">
                <a:solidFill>
                  <a:schemeClr val="tx1">
                    <a:lumMod val="50000"/>
                    <a:lumOff val="50000"/>
                  </a:schemeClr>
                </a:solidFill>
                <a:latin typeface="Meiryo"/>
                <a:ea typeface="Meiryo"/>
                <a:cs typeface="Meiryo"/>
                <a:sym typeface="Meiryo"/>
              </a:rPr>
              <a:t>離脱ユーザーに対して</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誘導を実施。</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追加から</a:t>
            </a:r>
            <a:r>
              <a:rPr lang="en-US" altLang="ja-JP" sz="1200" dirty="0">
                <a:solidFill>
                  <a:schemeClr val="tx1">
                    <a:lumMod val="50000"/>
                    <a:lumOff val="50000"/>
                  </a:schemeClr>
                </a:solidFill>
                <a:latin typeface="Meiryo"/>
                <a:ea typeface="Meiryo"/>
                <a:cs typeface="Meiryo"/>
                <a:sym typeface="Meiryo"/>
              </a:rPr>
              <a:t>20</a:t>
            </a:r>
            <a:r>
              <a:rPr lang="ja-JP" altLang="en-US" sz="1200" dirty="0">
                <a:solidFill>
                  <a:schemeClr val="tx1">
                    <a:lumMod val="50000"/>
                    <a:lumOff val="50000"/>
                  </a:schemeClr>
                </a:solidFill>
                <a:latin typeface="Meiryo"/>
                <a:ea typeface="Meiryo"/>
                <a:cs typeface="Meiryo"/>
                <a:sym typeface="Meiryo"/>
              </a:rPr>
              <a:t>％が</a:t>
            </a:r>
            <a:r>
              <a:rPr lang="en-US" altLang="ja-JP" sz="1200" dirty="0">
                <a:solidFill>
                  <a:schemeClr val="tx1">
                    <a:lumMod val="50000"/>
                    <a:lumOff val="50000"/>
                  </a:schemeClr>
                </a:solidFill>
                <a:latin typeface="Meiryo"/>
                <a:ea typeface="Meiryo"/>
                <a:cs typeface="Meiryo"/>
                <a:sym typeface="Meiryo"/>
              </a:rPr>
              <a:t>CV</a:t>
            </a:r>
          </a:p>
          <a:p>
            <a:pPr lvl="0">
              <a:buClr>
                <a:schemeClr val="dk1"/>
              </a:buClr>
              <a:buSzPts val="1500"/>
            </a:pPr>
            <a:endParaRPr lang="en-US" altLang="ja-JP" sz="1200" dirty="0">
              <a:solidFill>
                <a:schemeClr val="tx1">
                  <a:lumMod val="50000"/>
                  <a:lumOff val="50000"/>
                </a:schemeClr>
              </a:solidFill>
              <a:latin typeface="Meiryo"/>
              <a:ea typeface="Meiryo"/>
              <a:cs typeface="Meiryo"/>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導入後友だち増加数が</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倍に。</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実反響率も</a:t>
            </a:r>
            <a:r>
              <a:rPr lang="en-US" altLang="ja-JP" sz="1200" dirty="0">
                <a:solidFill>
                  <a:schemeClr val="tx1">
                    <a:lumMod val="50000"/>
                    <a:lumOff val="50000"/>
                  </a:schemeClr>
                </a:solidFill>
                <a:latin typeface="Meiryo"/>
                <a:ea typeface="Meiryo"/>
                <a:cs typeface="Meiryo"/>
                <a:sym typeface="Meiryo"/>
              </a:rPr>
              <a:t>40%</a:t>
            </a:r>
            <a:r>
              <a:rPr lang="ja-JP" altLang="en-US" sz="1200" dirty="0">
                <a:solidFill>
                  <a:schemeClr val="tx1">
                    <a:lumMod val="50000"/>
                    <a:lumOff val="50000"/>
                  </a:schemeClr>
                </a:solidFill>
                <a:latin typeface="Meiryo"/>
                <a:ea typeface="Meiryo"/>
                <a:cs typeface="Meiryo"/>
                <a:sym typeface="Meiryo"/>
              </a:rPr>
              <a:t>程度改善。</a:t>
            </a:r>
            <a:endParaRPr lang="en-US" altLang="ja-JP" sz="1200" dirty="0">
              <a:solidFill>
                <a:schemeClr val="tx1">
                  <a:lumMod val="50000"/>
                  <a:lumOff val="50000"/>
                </a:schemeClr>
              </a:solidFill>
              <a:latin typeface="Meiryo"/>
              <a:ea typeface="Meiryo"/>
              <a:cs typeface="Meiryo"/>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bg1">
              <a:lumMod val="95000"/>
            </a:schemeClr>
          </a:solidFill>
          <a:ln w="25400" cap="flat" cmpd="sng" algn="ctr">
            <a:solidFill>
              <a:schemeClr val="tx1">
                <a:lumMod val="50000"/>
                <a:lumOff val="50000"/>
              </a:scheme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通知メッセージ</a:t>
            </a:r>
            <a:endParaRPr lang="en-US" altLang="ja-JP" sz="2000" b="1" dirty="0">
              <a:solidFill>
                <a:srgbClr val="002060"/>
              </a:solidFill>
              <a:latin typeface="Meiryo"/>
              <a:ea typeface="Meiryo"/>
              <a:cs typeface="Meiryo"/>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友だちではないユーザーに</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対して予約完了通知などを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送り友だちを増やす。</a:t>
            </a:r>
            <a:endParaRPr lang="en-US" altLang="ja-JP" sz="1400" dirty="0">
              <a:latin typeface="Meiryo"/>
              <a:ea typeface="Meiryo"/>
              <a:cs typeface="Meiryo"/>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事例：宅配ピザ</a:t>
            </a:r>
            <a:endParaRPr lang="en-US" altLang="ja-JP" sz="1400" dirty="0">
              <a:solidFill>
                <a:schemeClr val="tx1">
                  <a:lumMod val="50000"/>
                  <a:lumOff val="50000"/>
                </a:schemeClr>
              </a:solidFill>
              <a:latin typeface="Meiryo"/>
              <a:ea typeface="Meiryo"/>
              <a:cs typeface="Meiryo"/>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通知メッセージ導入４ヶ月で</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友だち数</a:t>
            </a:r>
            <a:r>
              <a:rPr lang="en-US" altLang="ja-JP" sz="1200" dirty="0">
                <a:solidFill>
                  <a:schemeClr val="tx1">
                    <a:lumMod val="50000"/>
                    <a:lumOff val="50000"/>
                  </a:schemeClr>
                </a:solidFill>
                <a:latin typeface="Meiryo"/>
                <a:ea typeface="Meiryo"/>
                <a:cs typeface="Meiryo"/>
                <a:sym typeface="Meiryo"/>
              </a:rPr>
              <a:t>2</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583059"/>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600" dirty="0">
                <a:latin typeface="Meiryo"/>
                <a:ea typeface="Meiryo"/>
                <a:cs typeface="Meiryo"/>
                <a:sym typeface="Meiryo"/>
              </a:rPr>
              <a:t>準顕在（獲得見込みが高い）層の</a:t>
            </a:r>
            <a:r>
              <a:rPr lang="ja-JP" altLang="en-US" sz="1600" b="1" dirty="0">
                <a:latin typeface="Meiryo"/>
                <a:ea typeface="Meiryo"/>
                <a:cs typeface="Meiryo"/>
                <a:sym typeface="Meiryo"/>
              </a:rPr>
              <a:t>独自獲得手法が豊富</a:t>
            </a:r>
            <a:r>
              <a:rPr lang="ja-JP" altLang="en-US" sz="1600" dirty="0">
                <a:latin typeface="Meiryo"/>
                <a:ea typeface="Meiryo"/>
                <a:cs typeface="Meiryo"/>
                <a:sym typeface="Meiryo"/>
              </a:rPr>
              <a:t>で、尚且つ</a:t>
            </a:r>
            <a:r>
              <a:rPr lang="ja-JP" altLang="en-US" sz="1600" b="1" dirty="0">
                <a:latin typeface="Meiryo"/>
                <a:ea typeface="Meiryo"/>
                <a:cs typeface="Meiryo"/>
                <a:sym typeface="Meiryo"/>
              </a:rPr>
              <a:t>利用に至るまでナーチャリングが可能</a:t>
            </a:r>
            <a:endParaRPr lang="en-US" altLang="ja-JP" sz="1600" b="1" dirty="0">
              <a:latin typeface="Meiryo"/>
              <a:ea typeface="Meiryo"/>
              <a:cs typeface="Meiryo"/>
              <a:sym typeface="Meiryo"/>
            </a:endParaRPr>
          </a:p>
          <a:p>
            <a:pPr lvl="0" algn="ctr">
              <a:buClr>
                <a:schemeClr val="dk1"/>
              </a:buClr>
              <a:buSzPts val="1500"/>
            </a:pPr>
            <a:r>
              <a:rPr lang="en-US" altLang="ja-JP" sz="1100" dirty="0">
                <a:solidFill>
                  <a:srgbClr val="FF0000"/>
                </a:solidFill>
                <a:latin typeface="Meiryo"/>
                <a:ea typeface="Meiryo"/>
                <a:cs typeface="Meiryo"/>
                <a:sym typeface="Meiryo"/>
              </a:rPr>
              <a:t>※</a:t>
            </a:r>
            <a:r>
              <a:rPr lang="ja-JP" altLang="en-US" sz="1100" dirty="0">
                <a:solidFill>
                  <a:srgbClr val="FF0000"/>
                </a:solidFill>
                <a:latin typeface="Meiryo"/>
                <a:ea typeface="Meiryo"/>
                <a:cs typeface="Meiryo"/>
                <a:sym typeface="Meiryo"/>
              </a:rPr>
              <a:t>実施想定の友だち追加動線について、★を記載しております。</a:t>
            </a:r>
            <a:endParaRPr lang="en-US" altLang="ja-JP" sz="1600" dirty="0">
              <a:solidFill>
                <a:srgbClr val="FF0000"/>
              </a:solidFill>
              <a:latin typeface="Meiryo"/>
              <a:ea typeface="Meiryo"/>
              <a:cs typeface="Meiryo"/>
              <a:sym typeface="Meiryo"/>
            </a:endParaRPr>
          </a:p>
        </p:txBody>
      </p:sp>
      <p:sp>
        <p:nvSpPr>
          <p:cNvPr id="6" name="星: 5 pt 5">
            <a:extLst>
              <a:ext uri="{FF2B5EF4-FFF2-40B4-BE49-F238E27FC236}">
                <a16:creationId xmlns:a16="http://schemas.microsoft.com/office/drawing/2014/main" id="{73AA3FF7-ED61-B641-763C-E4940D075F39}"/>
              </a:ext>
            </a:extLst>
          </p:cNvPr>
          <p:cNvSpPr/>
          <p:nvPr/>
        </p:nvSpPr>
        <p:spPr>
          <a:xfrm>
            <a:off x="2749464" y="1706924"/>
            <a:ext cx="540000" cy="54000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5" name="星: 5 pt 14">
            <a:extLst>
              <a:ext uri="{FF2B5EF4-FFF2-40B4-BE49-F238E27FC236}">
                <a16:creationId xmlns:a16="http://schemas.microsoft.com/office/drawing/2014/main" id="{E7B29608-5299-2165-6DD5-597E992E7B04}"/>
              </a:ext>
            </a:extLst>
          </p:cNvPr>
          <p:cNvSpPr/>
          <p:nvPr/>
        </p:nvSpPr>
        <p:spPr>
          <a:xfrm>
            <a:off x="9252865" y="1672104"/>
            <a:ext cx="540000" cy="54000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30001345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75156-99A2-3647-6F9D-3BD80C596EF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離脱防止）</a:t>
            </a:r>
          </a:p>
        </p:txBody>
      </p:sp>
      <p:grpSp>
        <p:nvGrpSpPr>
          <p:cNvPr id="3" name="グループ化 2">
            <a:extLst>
              <a:ext uri="{FF2B5EF4-FFF2-40B4-BE49-F238E27FC236}">
                <a16:creationId xmlns:a16="http://schemas.microsoft.com/office/drawing/2014/main" id="{EA805D6F-0719-17C7-4E97-2705F1D9A93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0895EF17-7734-EE92-7BF3-5B0ADCDC65B8}"/>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3AD98A9-882F-05AA-BB4E-3FB88AAA7C20}"/>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r>
                <a:rPr kumimoji="1" lang="en-US" altLang="ja-JP" sz="1500" b="1" dirty="0">
                  <a:solidFill>
                    <a:schemeClr val="bg1"/>
                  </a:solidFill>
                  <a:latin typeface="Meiryo" panose="020B0604030504040204" pitchFamily="34" charset="-128"/>
                  <a:ea typeface="Meiryo" panose="020B0604030504040204" pitchFamily="34" charset="-128"/>
                </a:rPr>
                <a:t>(</a:t>
              </a:r>
              <a:r>
                <a:rPr kumimoji="1" lang="ja-JP" altLang="en-US" sz="1500" b="1" dirty="0">
                  <a:solidFill>
                    <a:schemeClr val="bg1"/>
                  </a:solidFill>
                  <a:latin typeface="Meiryo" panose="020B0604030504040204" pitchFamily="34" charset="-128"/>
                  <a:ea typeface="Meiryo" panose="020B0604030504040204" pitchFamily="34" charset="-128"/>
                </a:rPr>
                <a:t>離脱防止 など</a:t>
              </a:r>
              <a:r>
                <a:rPr kumimoji="1" lang="en-US" altLang="ja-JP" sz="1500" b="1" dirty="0">
                  <a:solidFill>
                    <a:schemeClr val="bg1"/>
                  </a:solidFill>
                  <a:latin typeface="Meiryo" panose="020B0604030504040204" pitchFamily="34" charset="-128"/>
                  <a:ea typeface="Meiryo" panose="020B0604030504040204" pitchFamily="34" charset="-128"/>
                </a:rPr>
                <a:t>)</a:t>
              </a:r>
              <a:endParaRPr kumimoji="1" lang="ja-JP" altLang="en-US" sz="1500" b="1" dirty="0">
                <a:solidFill>
                  <a:schemeClr val="bg1"/>
                </a:solidFill>
                <a:latin typeface="Meiryo" panose="020B0604030504040204" pitchFamily="34" charset="-128"/>
                <a:ea typeface="Meiryo" panose="020B0604030504040204" pitchFamily="34" charset="-128"/>
              </a:endParaRPr>
            </a:p>
          </p:txBody>
        </p:sp>
      </p:gr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pic>
        <p:nvPicPr>
          <p:cNvPr id="6" name="図 5">
            <a:extLst>
              <a:ext uri="{FF2B5EF4-FFF2-40B4-BE49-F238E27FC236}">
                <a16:creationId xmlns:a16="http://schemas.microsoft.com/office/drawing/2014/main" id="{4BC18E84-0DF3-01E6-D82D-0A9DCD2D5F30}"/>
              </a:ext>
            </a:extLst>
          </p:cNvPr>
          <p:cNvPicPr>
            <a:picLocks noChangeAspect="1"/>
          </p:cNvPicPr>
          <p:nvPr/>
        </p:nvPicPr>
        <p:blipFill>
          <a:blip r:embed="rId2"/>
          <a:stretch>
            <a:fillRect/>
          </a:stretch>
        </p:blipFill>
        <p:spPr>
          <a:xfrm>
            <a:off x="5764329" y="2258734"/>
            <a:ext cx="1524677" cy="3096752"/>
          </a:xfrm>
          <a:prstGeom prst="rect">
            <a:avLst/>
          </a:prstGeom>
        </p:spPr>
      </p:pic>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pic>
        <p:nvPicPr>
          <p:cNvPr id="11" name="図 10">
            <a:extLst>
              <a:ext uri="{FF2B5EF4-FFF2-40B4-BE49-F238E27FC236}">
                <a16:creationId xmlns:a16="http://schemas.microsoft.com/office/drawing/2014/main" id="{FC908A63-1EE8-A605-1D4F-460FED9442AA}"/>
              </a:ext>
            </a:extLst>
          </p:cNvPr>
          <p:cNvPicPr>
            <a:picLocks noChangeAspect="1"/>
          </p:cNvPicPr>
          <p:nvPr/>
        </p:nvPicPr>
        <p:blipFill>
          <a:blip r:embed="rId2"/>
          <a:stretch>
            <a:fillRect/>
          </a:stretch>
        </p:blipFill>
        <p:spPr>
          <a:xfrm>
            <a:off x="8032877" y="2846109"/>
            <a:ext cx="1524677" cy="3096752"/>
          </a:xfrm>
          <a:prstGeom prst="rect">
            <a:avLst/>
          </a:prstGeom>
        </p:spPr>
      </p:pic>
      <p:sp>
        <p:nvSpPr>
          <p:cNvPr id="12" name="矢印: 右 11">
            <a:extLst>
              <a:ext uri="{FF2B5EF4-FFF2-40B4-BE49-F238E27FC236}">
                <a16:creationId xmlns:a16="http://schemas.microsoft.com/office/drawing/2014/main" id="{C5B2A6E8-796B-963F-0A04-9B9D1A36ADF0}"/>
              </a:ext>
            </a:extLst>
          </p:cNvPr>
          <p:cNvSpPr/>
          <p:nvPr/>
        </p:nvSpPr>
        <p:spPr>
          <a:xfrm>
            <a:off x="7373222" y="3359435"/>
            <a:ext cx="571500" cy="619125"/>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DB49FAB7-0FB8-4D5F-CF13-A19BBA28C8C7}"/>
              </a:ext>
            </a:extLst>
          </p:cNvPr>
          <p:cNvSpPr/>
          <p:nvPr/>
        </p:nvSpPr>
        <p:spPr>
          <a:xfrm>
            <a:off x="8117093" y="3057525"/>
            <a:ext cx="1371145" cy="2585494"/>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Google Shape;51;p19">
            <a:extLst>
              <a:ext uri="{FF2B5EF4-FFF2-40B4-BE49-F238E27FC236}">
                <a16:creationId xmlns:a16="http://schemas.microsoft.com/office/drawing/2014/main" id="{1B34220E-1DA3-AC59-C2DE-15AB3320AC1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EBA2E7AC-5299-C000-0A43-CCF8CE458AAF}"/>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9" name="図 18">
            <a:extLst>
              <a:ext uri="{FF2B5EF4-FFF2-40B4-BE49-F238E27FC236}">
                <a16:creationId xmlns:a16="http://schemas.microsoft.com/office/drawing/2014/main" id="{98FF8283-5B2F-5018-9D25-736A384B4D23}"/>
              </a:ext>
            </a:extLst>
          </p:cNvPr>
          <p:cNvPicPr>
            <a:picLocks noChangeAspect="1"/>
          </p:cNvPicPr>
          <p:nvPr/>
        </p:nvPicPr>
        <p:blipFill>
          <a:blip r:embed="rId3"/>
          <a:stretch>
            <a:fillRect/>
          </a:stretch>
        </p:blipFill>
        <p:spPr>
          <a:xfrm>
            <a:off x="8263942" y="3752836"/>
            <a:ext cx="1062545" cy="1115066"/>
          </a:xfrm>
          <a:prstGeom prst="rect">
            <a:avLst/>
          </a:prstGeom>
        </p:spPr>
      </p:pic>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4"/>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5"/>
          <a:stretch>
            <a:fillRect/>
          </a:stretch>
        </p:blipFill>
        <p:spPr>
          <a:xfrm>
            <a:off x="579513" y="1977951"/>
            <a:ext cx="5023065" cy="2231287"/>
          </a:xfrm>
          <a:prstGeom prst="rect">
            <a:avLst/>
          </a:prstGeom>
        </p:spPr>
      </p:pic>
    </p:spTree>
    <p:extLst>
      <p:ext uri="{BB962C8B-B14F-4D97-AF65-F5344CB8AC3E}">
        <p14:creationId xmlns:p14="http://schemas.microsoft.com/office/powerpoint/2010/main" val="105893345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1D1B-00B3-A324-FA45-8227BFE7C87E}"/>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離脱防止）</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r>
                <a:rPr kumimoji="1" lang="en-US" altLang="ja-JP" sz="1500" b="1" dirty="0">
                  <a:solidFill>
                    <a:schemeClr val="bg1"/>
                  </a:solidFill>
                  <a:latin typeface="Meiryo" panose="020B0604030504040204" pitchFamily="34" charset="-128"/>
                  <a:ea typeface="Meiryo" panose="020B0604030504040204" pitchFamily="34" charset="-128"/>
                </a:rPr>
                <a:t>(</a:t>
              </a:r>
              <a:r>
                <a:rPr kumimoji="1" lang="ja-JP" altLang="en-US" sz="1500" b="1" dirty="0">
                  <a:solidFill>
                    <a:schemeClr val="bg1"/>
                  </a:solidFill>
                  <a:latin typeface="Meiryo" panose="020B0604030504040204" pitchFamily="34" charset="-128"/>
                  <a:ea typeface="Meiryo" panose="020B0604030504040204" pitchFamily="34" charset="-128"/>
                </a:rPr>
                <a:t>離脱防止 など</a:t>
              </a:r>
              <a:r>
                <a:rPr kumimoji="1" lang="en-US" altLang="ja-JP" sz="1500" b="1" dirty="0">
                  <a:solidFill>
                    <a:schemeClr val="bg1"/>
                  </a:solidFill>
                  <a:latin typeface="Meiryo" panose="020B0604030504040204" pitchFamily="34" charset="-128"/>
                  <a:ea typeface="Meiryo" panose="020B0604030504040204" pitchFamily="34" charset="-128"/>
                </a:rPr>
                <a:t>)</a:t>
              </a:r>
              <a:endParaRPr kumimoji="1" lang="ja-JP" altLang="en-US" sz="1500" b="1" dirty="0">
                <a:solidFill>
                  <a:schemeClr val="bg1"/>
                </a:solidFill>
                <a:latin typeface="Meiryo" panose="020B0604030504040204" pitchFamily="34" charset="-128"/>
                <a:ea typeface="Meiryo" panose="020B0604030504040204" pitchFamily="34" charset="-128"/>
              </a:endParaRP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Tree>
    <p:extLst>
      <p:ext uri="{BB962C8B-B14F-4D97-AF65-F5344CB8AC3E}">
        <p14:creationId xmlns:p14="http://schemas.microsoft.com/office/powerpoint/2010/main" val="427133484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341AF-76F7-F354-A08C-287945F04D7D}"/>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EDF5177-0A5C-5E57-5AEC-2A3A0A3E97A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40037302-E6AA-0829-6AB4-E8C68E0B535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596B7C8B-2830-475F-54BD-39885C61FB2A}"/>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F77E149-8797-8964-2351-34587DDB9A0B}"/>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C076E43E-4FBE-86BD-F3B4-70DD95B2A175}"/>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3BC521D4-BDAA-5741-5164-4E22535838B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91E7069A-2F1F-16FB-F2FD-E91D9E716C95}"/>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通数単価：</a:t>
            </a:r>
            <a:r>
              <a:rPr lang="en-US" altLang="ja-JP" sz="1050" b="1" dirty="0">
                <a:solidFill>
                  <a:srgbClr val="FFFF00"/>
                </a:solidFill>
                <a:latin typeface="Meiryo"/>
                <a:ea typeface="Meiryo"/>
                <a:cs typeface="Meiryo"/>
                <a:sym typeface="Meiryo"/>
              </a:rPr>
              <a:t>7</a:t>
            </a:r>
            <a:r>
              <a:rPr lang="ja-JP" altLang="en-US" sz="1050" b="1" dirty="0">
                <a:solidFill>
                  <a:srgbClr val="FFFF00"/>
                </a:solidFill>
                <a:latin typeface="Meiryo"/>
                <a:ea typeface="Meiryo"/>
                <a:cs typeface="Meiryo"/>
                <a:sym typeface="Meiryo"/>
              </a:rPr>
              <a:t>円</a:t>
            </a:r>
            <a:endParaRPr sz="1050" b="1" i="0" u="none" strike="noStrike" cap="none" dirty="0">
              <a:solidFill>
                <a:srgbClr val="FFFF00"/>
              </a:solidFill>
              <a:latin typeface="Meiryo"/>
              <a:ea typeface="Meiryo"/>
              <a:cs typeface="Meiryo"/>
              <a:sym typeface="Meiryo"/>
            </a:endParaRPr>
          </a:p>
        </p:txBody>
      </p:sp>
      <p:sp>
        <p:nvSpPr>
          <p:cNvPr id="79" name="正方形/長方形 78">
            <a:extLst>
              <a:ext uri="{FF2B5EF4-FFF2-40B4-BE49-F238E27FC236}">
                <a16:creationId xmlns:a16="http://schemas.microsoft.com/office/drawing/2014/main" id="{B31CA3DA-9F8B-560D-3F3E-1B37667D304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82" name="図 81">
            <a:extLst>
              <a:ext uri="{FF2B5EF4-FFF2-40B4-BE49-F238E27FC236}">
                <a16:creationId xmlns:a16="http://schemas.microsoft.com/office/drawing/2014/main" id="{8B5BACB1-E619-75E8-84E9-0C790B13F4E4}"/>
              </a:ext>
            </a:extLst>
          </p:cNvPr>
          <p:cNvPicPr>
            <a:picLocks noChangeAspect="1"/>
          </p:cNvPicPr>
          <p:nvPr/>
        </p:nvPicPr>
        <p:blipFill>
          <a:blip r:embed="rId2"/>
          <a:stretch>
            <a:fillRect/>
          </a:stretch>
        </p:blipFill>
        <p:spPr>
          <a:xfrm>
            <a:off x="532512" y="4787607"/>
            <a:ext cx="3533302" cy="1714690"/>
          </a:xfrm>
          <a:prstGeom prst="rect">
            <a:avLst/>
          </a:prstGeom>
        </p:spPr>
      </p:pic>
      <p:pic>
        <p:nvPicPr>
          <p:cNvPr id="84" name="図 83">
            <a:extLst>
              <a:ext uri="{FF2B5EF4-FFF2-40B4-BE49-F238E27FC236}">
                <a16:creationId xmlns:a16="http://schemas.microsoft.com/office/drawing/2014/main" id="{A2B50304-2B09-7BB6-6FD5-2122ADB3185D}"/>
              </a:ext>
            </a:extLst>
          </p:cNvPr>
          <p:cNvPicPr>
            <a:picLocks noChangeAspect="1"/>
          </p:cNvPicPr>
          <p:nvPr/>
        </p:nvPicPr>
        <p:blipFill>
          <a:blip r:embed="rId3"/>
          <a:stretch>
            <a:fillRect/>
          </a:stretch>
        </p:blipFill>
        <p:spPr>
          <a:xfrm>
            <a:off x="4065814" y="4801141"/>
            <a:ext cx="1586275" cy="1701156"/>
          </a:xfrm>
          <a:prstGeom prst="rect">
            <a:avLst/>
          </a:prstGeom>
        </p:spPr>
      </p:pic>
      <p:pic>
        <p:nvPicPr>
          <p:cNvPr id="86" name="図 85">
            <a:extLst>
              <a:ext uri="{FF2B5EF4-FFF2-40B4-BE49-F238E27FC236}">
                <a16:creationId xmlns:a16="http://schemas.microsoft.com/office/drawing/2014/main" id="{FBAEE1FF-4E25-D523-E0EA-6A3361C12E5A}"/>
              </a:ext>
            </a:extLst>
          </p:cNvPr>
          <p:cNvPicPr>
            <a:picLocks noChangeAspect="1"/>
          </p:cNvPicPr>
          <p:nvPr/>
        </p:nvPicPr>
        <p:blipFill>
          <a:blip r:embed="rId4"/>
          <a:stretch>
            <a:fillRect/>
          </a:stretch>
        </p:blipFill>
        <p:spPr>
          <a:xfrm>
            <a:off x="5988432" y="2468072"/>
            <a:ext cx="3362361" cy="1977297"/>
          </a:xfrm>
          <a:prstGeom prst="rect">
            <a:avLst/>
          </a:prstGeom>
        </p:spPr>
      </p:pic>
      <p:pic>
        <p:nvPicPr>
          <p:cNvPr id="88" name="図 87">
            <a:extLst>
              <a:ext uri="{FF2B5EF4-FFF2-40B4-BE49-F238E27FC236}">
                <a16:creationId xmlns:a16="http://schemas.microsoft.com/office/drawing/2014/main" id="{3517C81E-3BB9-067B-DB2E-F6109D78F069}"/>
              </a:ext>
            </a:extLst>
          </p:cNvPr>
          <p:cNvPicPr>
            <a:picLocks noChangeAspect="1"/>
          </p:cNvPicPr>
          <p:nvPr/>
        </p:nvPicPr>
        <p:blipFill>
          <a:blip r:embed="rId5"/>
          <a:stretch>
            <a:fillRect/>
          </a:stretch>
        </p:blipFill>
        <p:spPr>
          <a:xfrm>
            <a:off x="5927443" y="4787607"/>
            <a:ext cx="3471994" cy="1626185"/>
          </a:xfrm>
          <a:prstGeom prst="rect">
            <a:avLst/>
          </a:prstGeom>
        </p:spPr>
      </p:pic>
      <p:sp>
        <p:nvSpPr>
          <p:cNvPr id="90" name="正方形/長方形 89">
            <a:extLst>
              <a:ext uri="{FF2B5EF4-FFF2-40B4-BE49-F238E27FC236}">
                <a16:creationId xmlns:a16="http://schemas.microsoft.com/office/drawing/2014/main" id="{DAE064A8-FF19-CBAF-1BB4-15234EAFE4C3}"/>
              </a:ext>
            </a:extLst>
          </p:cNvPr>
          <p:cNvSpPr/>
          <p:nvPr/>
        </p:nvSpPr>
        <p:spPr>
          <a:xfrm>
            <a:off x="5941518" y="2223921"/>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solidFill>
                <a:latin typeface="メイリオ" panose="020B0604030504040204" pitchFamily="50" charset="-128"/>
                <a:ea typeface="メイリオ" panose="020B0604030504040204" pitchFamily="50" charset="-128"/>
              </a:rPr>
              <a:t>佐川急便</a:t>
            </a:r>
            <a:endParaRPr kumimoji="1" lang="ja-JP" altLang="en-US" sz="1100" dirty="0">
              <a:solidFill>
                <a:schemeClr val="tx1"/>
              </a:solidFill>
              <a:latin typeface="メイリオ" panose="020B0604030504040204" pitchFamily="50" charset="-128"/>
              <a:ea typeface="メイリオ" panose="020B0604030504040204" pitchFamily="50" charset="-128"/>
            </a:endParaRPr>
          </a:p>
        </p:txBody>
      </p:sp>
      <p:sp>
        <p:nvSpPr>
          <p:cNvPr id="92" name="正方形/長方形 91">
            <a:extLst>
              <a:ext uri="{FF2B5EF4-FFF2-40B4-BE49-F238E27FC236}">
                <a16:creationId xmlns:a16="http://schemas.microsoft.com/office/drawing/2014/main" id="{D4794AD6-6F68-15DB-7568-78E492020B13}"/>
              </a:ext>
            </a:extLst>
          </p:cNvPr>
          <p:cNvSpPr/>
          <p:nvPr/>
        </p:nvSpPr>
        <p:spPr>
          <a:xfrm>
            <a:off x="5941518" y="4499415"/>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rPr>
              <a:t>やまや（</a:t>
            </a:r>
            <a:r>
              <a:rPr kumimoji="1" lang="en-US" altLang="ja-JP" sz="1100" dirty="0">
                <a:solidFill>
                  <a:schemeClr val="tx1"/>
                </a:solidFill>
                <a:latin typeface="メイリオ" panose="020B0604030504040204" pitchFamily="50" charset="-128"/>
                <a:ea typeface="メイリオ" panose="020B0604030504040204" pitchFamily="50" charset="-128"/>
              </a:rPr>
              <a:t>EC</a:t>
            </a:r>
            <a:r>
              <a:rPr kumimoji="1" lang="ja-JP" altLang="en-US" sz="1100" dirty="0">
                <a:solidFill>
                  <a:schemeClr val="tx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89F8E75C-F7C6-511B-BA1F-6EB60A9DEADA}"/>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96" name="正方形/長方形 95">
            <a:extLst>
              <a:ext uri="{FF2B5EF4-FFF2-40B4-BE49-F238E27FC236}">
                <a16:creationId xmlns:a16="http://schemas.microsoft.com/office/drawing/2014/main" id="{6569B015-2B51-9A35-9379-E64729B15375}"/>
              </a:ext>
            </a:extLst>
          </p:cNvPr>
          <p:cNvSpPr/>
          <p:nvPr/>
        </p:nvSpPr>
        <p:spPr>
          <a:xfrm>
            <a:off x="543398" y="1938056"/>
            <a:ext cx="4981102"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利用可能シーン</a:t>
            </a:r>
          </a:p>
        </p:txBody>
      </p:sp>
      <p:pic>
        <p:nvPicPr>
          <p:cNvPr id="7" name="図 6">
            <a:extLst>
              <a:ext uri="{FF2B5EF4-FFF2-40B4-BE49-F238E27FC236}">
                <a16:creationId xmlns:a16="http://schemas.microsoft.com/office/drawing/2014/main" id="{00862346-A302-637E-2976-3985B23ED00C}"/>
              </a:ext>
            </a:extLst>
          </p:cNvPr>
          <p:cNvPicPr>
            <a:picLocks noChangeAspect="1"/>
          </p:cNvPicPr>
          <p:nvPr/>
        </p:nvPicPr>
        <p:blipFill>
          <a:blip r:embed="rId6"/>
          <a:stretch>
            <a:fillRect/>
          </a:stretch>
        </p:blipFill>
        <p:spPr>
          <a:xfrm>
            <a:off x="381811" y="2197911"/>
            <a:ext cx="5286856" cy="2497015"/>
          </a:xfrm>
          <a:prstGeom prst="rect">
            <a:avLst/>
          </a:prstGeom>
        </p:spPr>
      </p:pic>
      <p:sp>
        <p:nvSpPr>
          <p:cNvPr id="10" name="テキスト ボックス 9">
            <a:extLst>
              <a:ext uri="{FF2B5EF4-FFF2-40B4-BE49-F238E27FC236}">
                <a16:creationId xmlns:a16="http://schemas.microsoft.com/office/drawing/2014/main" id="{63354FD4-3595-E9AA-7603-C702E42E9BD1}"/>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spTree>
    <p:extLst>
      <p:ext uri="{BB962C8B-B14F-4D97-AF65-F5344CB8AC3E}">
        <p14:creationId xmlns:p14="http://schemas.microsoft.com/office/powerpoint/2010/main" val="373103120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EB58E-2E23-6D6E-492D-03C38E7A1D6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B579369E-F53C-FDC8-7374-AB2F5B31CD4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16CDA247-29F1-37E2-FCEA-D79F4493519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BB8D843F-BDAA-6DE1-DFCE-2A6A73C04E2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D91D75E4-A706-8EF4-1ECC-1D62C09F934E}"/>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F191580C-EA72-3903-0A46-57D229D5027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5B83E274-8AAB-1C88-48EF-6D543C0091D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1ACE7ABA-DEAD-27A6-7DA0-D29E467F0A0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通数単価：</a:t>
            </a:r>
            <a:r>
              <a:rPr lang="en-US" altLang="ja-JP" sz="1050" b="1" dirty="0">
                <a:solidFill>
                  <a:srgbClr val="FFFF00"/>
                </a:solidFill>
                <a:latin typeface="Meiryo"/>
                <a:ea typeface="Meiryo"/>
                <a:cs typeface="Meiryo"/>
                <a:sym typeface="Meiryo"/>
              </a:rPr>
              <a:t>7</a:t>
            </a:r>
            <a:r>
              <a:rPr lang="ja-JP" altLang="en-US" sz="1050" b="1" dirty="0">
                <a:solidFill>
                  <a:srgbClr val="FFFF00"/>
                </a:solidFill>
                <a:latin typeface="Meiryo"/>
                <a:ea typeface="Meiryo"/>
                <a:cs typeface="Meiryo"/>
                <a:sym typeface="Meiryo"/>
              </a:rPr>
              <a:t>円</a:t>
            </a:r>
            <a:endParaRPr sz="1050" b="1" i="0" u="none" strike="noStrike" cap="none" dirty="0">
              <a:solidFill>
                <a:srgbClr val="FFFF00"/>
              </a:solidFill>
              <a:latin typeface="Meiryo"/>
              <a:ea typeface="Meiryo"/>
              <a:cs typeface="Meiryo"/>
              <a:sym typeface="Meiryo"/>
            </a:endParaRPr>
          </a:p>
        </p:txBody>
      </p:sp>
      <p:sp>
        <p:nvSpPr>
          <p:cNvPr id="94" name="テキスト ボックス 93">
            <a:extLst>
              <a:ext uri="{FF2B5EF4-FFF2-40B4-BE49-F238E27FC236}">
                <a16:creationId xmlns:a16="http://schemas.microsoft.com/office/drawing/2014/main" id="{6BA13AD6-A7FE-E393-39F7-12604E6F2A59}"/>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6" name="テキスト ボックス 5">
            <a:extLst>
              <a:ext uri="{FF2B5EF4-FFF2-40B4-BE49-F238E27FC236}">
                <a16:creationId xmlns:a16="http://schemas.microsoft.com/office/drawing/2014/main" id="{52DBA794-F4DB-834A-6EBA-1F38E3EB8D25}"/>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pic>
        <p:nvPicPr>
          <p:cNvPr id="8" name="図 7">
            <a:extLst>
              <a:ext uri="{FF2B5EF4-FFF2-40B4-BE49-F238E27FC236}">
                <a16:creationId xmlns:a16="http://schemas.microsoft.com/office/drawing/2014/main" id="{6FEAB905-6FFF-5D16-B66E-DAD05A44B7D7}"/>
              </a:ext>
            </a:extLst>
          </p:cNvPr>
          <p:cNvPicPr>
            <a:picLocks noChangeAspect="1"/>
          </p:cNvPicPr>
          <p:nvPr/>
        </p:nvPicPr>
        <p:blipFill>
          <a:blip r:embed="rId2"/>
          <a:stretch>
            <a:fillRect/>
          </a:stretch>
        </p:blipFill>
        <p:spPr>
          <a:xfrm>
            <a:off x="543398" y="1953516"/>
            <a:ext cx="8918385" cy="4389153"/>
          </a:xfrm>
          <a:prstGeom prst="rect">
            <a:avLst/>
          </a:prstGeom>
        </p:spPr>
      </p:pic>
      <p:sp>
        <p:nvSpPr>
          <p:cNvPr id="11" name="Google Shape;51;p19">
            <a:extLst>
              <a:ext uri="{FF2B5EF4-FFF2-40B4-BE49-F238E27FC236}">
                <a16:creationId xmlns:a16="http://schemas.microsoft.com/office/drawing/2014/main" id="{3A8AD54E-DAE5-1F54-4C9C-6EA993DDD1A7}"/>
              </a:ext>
            </a:extLst>
          </p:cNvPr>
          <p:cNvSpPr/>
          <p:nvPr/>
        </p:nvSpPr>
        <p:spPr>
          <a:xfrm>
            <a:off x="6635873" y="5673123"/>
            <a:ext cx="2647463" cy="331332"/>
          </a:xfrm>
          <a:prstGeom prst="roundRect">
            <a:avLst>
              <a:gd name="adj" fmla="val 16667"/>
            </a:avLst>
          </a:prstGeom>
          <a:solidFill>
            <a:schemeClr val="tx1">
              <a:lumMod val="50000"/>
              <a:lumOff val="50000"/>
            </a:schemeClr>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100" i="0" u="none" strike="noStrike" cap="none" dirty="0">
                <a:solidFill>
                  <a:schemeClr val="lt1"/>
                </a:solidFill>
                <a:latin typeface="Meiryo"/>
                <a:ea typeface="Meiryo"/>
                <a:cs typeface="Meiryo"/>
                <a:sym typeface="Meiryo"/>
              </a:rPr>
              <a:t>利用可能なシーン一例</a:t>
            </a:r>
            <a:endParaRPr sz="900" i="0" u="none" strike="noStrike" cap="none" dirty="0">
              <a:solidFill>
                <a:srgbClr val="FFFF00"/>
              </a:solidFill>
              <a:latin typeface="Meiryo"/>
              <a:ea typeface="Meiryo"/>
              <a:cs typeface="Meiryo"/>
              <a:sym typeface="Meiryo"/>
            </a:endParaRPr>
          </a:p>
        </p:txBody>
      </p:sp>
    </p:spTree>
    <p:extLst>
      <p:ext uri="{BB962C8B-B14F-4D97-AF65-F5344CB8AC3E}">
        <p14:creationId xmlns:p14="http://schemas.microsoft.com/office/powerpoint/2010/main" val="179584884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2506C2-B2E5-BEA0-384E-7336F080BD96}"/>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（サンクス</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LINE</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誘導）</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404798" y="1938056"/>
            <a:ext cx="1859036"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rPr>
              <a:t>WEB</a:t>
            </a: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サイト</a:t>
            </a:r>
          </a:p>
        </p:txBody>
      </p:sp>
      <p:sp>
        <p:nvSpPr>
          <p:cNvPr id="16" name="正方形/長方形 15">
            <a:extLst>
              <a:ext uri="{FF2B5EF4-FFF2-40B4-BE49-F238E27FC236}">
                <a16:creationId xmlns:a16="http://schemas.microsoft.com/office/drawing/2014/main" id="{32BBF438-B1EF-A61A-EE3D-69CD39766C7E}"/>
              </a:ext>
            </a:extLst>
          </p:cNvPr>
          <p:cNvSpPr/>
          <p:nvPr/>
        </p:nvSpPr>
        <p:spPr>
          <a:xfrm>
            <a:off x="5808682" y="241574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1A1E4128-77DC-C871-EE20-5BD43326E078}"/>
              </a:ext>
            </a:extLst>
          </p:cNvPr>
          <p:cNvSpPr/>
          <p:nvPr/>
        </p:nvSpPr>
        <p:spPr>
          <a:xfrm>
            <a:off x="5808681" y="458896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F37BB268-660A-FEE4-BB39-0E338F1DDC23}"/>
              </a:ext>
            </a:extLst>
          </p:cNvPr>
          <p:cNvSpPr/>
          <p:nvPr/>
        </p:nvSpPr>
        <p:spPr>
          <a:xfrm>
            <a:off x="5974632" y="23047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非</a:t>
            </a:r>
            <a:r>
              <a:rPr lang="en-US" altLang="ja-JP" sz="1100" b="1" dirty="0">
                <a:solidFill>
                  <a:schemeClr val="tx1"/>
                </a:solidFill>
                <a:latin typeface="メイリオ" panose="020B0604030504040204" pitchFamily="50" charset="-128"/>
                <a:ea typeface="メイリオ" panose="020B0604030504040204" pitchFamily="50" charset="-128"/>
              </a:rPr>
              <a:t>LINE</a:t>
            </a:r>
            <a:r>
              <a:rPr lang="ja-JP" altLang="en-US" sz="1100" b="1" dirty="0">
                <a:solidFill>
                  <a:schemeClr val="tx1"/>
                </a:solidFill>
                <a:latin typeface="メイリオ" panose="020B0604030504040204" pitchFamily="50" charset="-128"/>
                <a:ea typeface="メイリオ" panose="020B0604030504040204" pitchFamily="50" charset="-128"/>
              </a:rPr>
              <a:t>友だちの場合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5974632" y="44668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既存の</a:t>
            </a:r>
            <a:r>
              <a:rPr lang="en-US" altLang="ja-JP" sz="1100" b="1" dirty="0">
                <a:solidFill>
                  <a:schemeClr val="tx1"/>
                </a:solidFill>
                <a:latin typeface="メイリオ" panose="020B0604030504040204" pitchFamily="50" charset="-128"/>
                <a:ea typeface="メイリオ" panose="020B0604030504040204" pitchFamily="50" charset="-128"/>
              </a:rPr>
              <a:t>LINE</a:t>
            </a:r>
            <a:r>
              <a:rPr lang="ja-JP" altLang="en-US" sz="1100" b="1" dirty="0">
                <a:solidFill>
                  <a:schemeClr val="tx1"/>
                </a:solidFill>
                <a:latin typeface="メイリオ" panose="020B0604030504040204" pitchFamily="50" charset="-128"/>
                <a:ea typeface="メイリオ" panose="020B0604030504040204" pitchFamily="50" charset="-128"/>
              </a:rPr>
              <a:t>友だちの場合</a:t>
            </a:r>
          </a:p>
        </p:txBody>
      </p:sp>
      <p:cxnSp>
        <p:nvCxnSpPr>
          <p:cNvPr id="23" name="直線矢印コネクタ 22">
            <a:extLst>
              <a:ext uri="{FF2B5EF4-FFF2-40B4-BE49-F238E27FC236}">
                <a16:creationId xmlns:a16="http://schemas.microsoft.com/office/drawing/2014/main" id="{8F202453-7FF9-8AE7-D10D-66F74A74A2F4}"/>
              </a:ext>
            </a:extLst>
          </p:cNvPr>
          <p:cNvCxnSpPr/>
          <p:nvPr/>
        </p:nvCxnSpPr>
        <p:spPr>
          <a:xfrm>
            <a:off x="4361857" y="3239708"/>
            <a:ext cx="1407469" cy="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4361857" y="3392108"/>
            <a:ext cx="1407469" cy="135838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4867227" y="2304788"/>
            <a:ext cx="374449" cy="3205847"/>
          </a:xfrm>
          <a:prstGeom prst="rect">
            <a:avLst/>
          </a:prstGeom>
          <a:solidFill>
            <a:srgbClr val="00FF00">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a:t>
            </a:r>
            <a:r>
              <a:rPr lang="en-US" altLang="ja-JP" sz="1100" b="1" dirty="0">
                <a:solidFill>
                  <a:schemeClr val="tx1"/>
                </a:solidFill>
                <a:latin typeface="メイリオ" panose="020B0604030504040204" pitchFamily="50" charset="-128"/>
                <a:ea typeface="メイリオ" panose="020B0604030504040204" pitchFamily="50" charset="-128"/>
              </a:rPr>
              <a:t>D</a:t>
            </a:r>
          </a:p>
          <a:p>
            <a:pPr algn="ctr"/>
            <a:r>
              <a:rPr kumimoji="1" lang="en-US" altLang="ja-JP" sz="1100" b="1" dirty="0">
                <a:solidFill>
                  <a:schemeClr val="tx1"/>
                </a:solidFill>
                <a:latin typeface="メイリオ" panose="020B0604030504040204" pitchFamily="50" charset="-128"/>
                <a:ea typeface="メイリオ" panose="020B0604030504040204" pitchFamily="50" charset="-128"/>
              </a:rPr>
              <a:t>Y</a:t>
            </a:r>
          </a:p>
          <a:p>
            <a:pPr algn="ctr"/>
            <a:r>
              <a:rPr lang="en-US" altLang="ja-JP" sz="1100" b="1" dirty="0">
                <a:solidFill>
                  <a:schemeClr val="tx1"/>
                </a:solidFill>
                <a:latin typeface="メイリオ" panose="020B0604030504040204" pitchFamily="50" charset="-128"/>
                <a:ea typeface="メイリオ" panose="020B0604030504040204" pitchFamily="50" charset="-128"/>
              </a:rPr>
              <a:t>M</a:t>
            </a:r>
            <a:r>
              <a:rPr lang="ja-JP" altLang="en-US" sz="1100" b="1" dirty="0">
                <a:solidFill>
                  <a:schemeClr val="tx1"/>
                </a:solidFill>
                <a:latin typeface="メイリオ" panose="020B0604030504040204" pitchFamily="50" charset="-128"/>
                <a:ea typeface="メイリオ" panose="020B0604030504040204" pitchFamily="50" charset="-128"/>
              </a:rPr>
              <a:t>ツ</a:t>
            </a:r>
            <a:endParaRPr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｜ルで</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en-US" altLang="ja-JP" sz="1100" b="1" dirty="0">
                <a:solidFill>
                  <a:schemeClr val="tx1"/>
                </a:solidFill>
                <a:latin typeface="メイリオ" panose="020B0604030504040204" pitchFamily="50" charset="-128"/>
                <a:ea typeface="メイリオ" panose="020B0604030504040204" pitchFamily="50" charset="-128"/>
              </a:rPr>
              <a:t>L</a:t>
            </a:r>
            <a:br>
              <a:rPr kumimoji="1" lang="en-US" altLang="ja-JP" sz="1100" b="1" dirty="0">
                <a:solidFill>
                  <a:schemeClr val="tx1"/>
                </a:solidFill>
                <a:latin typeface="メイリオ" panose="020B0604030504040204" pitchFamily="50" charset="-128"/>
                <a:ea typeface="メイリオ" panose="020B0604030504040204" pitchFamily="50" charset="-128"/>
              </a:rPr>
            </a:br>
            <a:r>
              <a:rPr kumimoji="1" lang="en-US" altLang="ja-JP" sz="1100" b="1" dirty="0">
                <a:solidFill>
                  <a:schemeClr val="tx1"/>
                </a:solidFill>
                <a:latin typeface="メイリオ" panose="020B0604030504040204" pitchFamily="50" charset="-128"/>
                <a:ea typeface="メイリオ" panose="020B0604030504040204" pitchFamily="50" charset="-128"/>
              </a:rPr>
              <a:t>I</a:t>
            </a:r>
          </a:p>
          <a:p>
            <a:pPr algn="ctr"/>
            <a:r>
              <a:rPr lang="en-US" altLang="ja-JP" sz="1100" b="1" dirty="0">
                <a:solidFill>
                  <a:schemeClr val="tx1"/>
                </a:solidFill>
                <a:latin typeface="メイリオ" panose="020B0604030504040204" pitchFamily="50" charset="-128"/>
                <a:ea typeface="メイリオ" panose="020B0604030504040204" pitchFamily="50" charset="-128"/>
              </a:rPr>
              <a:t>N</a:t>
            </a:r>
            <a:br>
              <a:rPr lang="en-US" altLang="ja-JP" sz="1100" b="1" dirty="0">
                <a:solidFill>
                  <a:schemeClr val="tx1"/>
                </a:solidFill>
                <a:latin typeface="メイリオ" panose="020B0604030504040204" pitchFamily="50" charset="-128"/>
                <a:ea typeface="メイリオ" panose="020B0604030504040204" pitchFamily="50" charset="-128"/>
              </a:rPr>
            </a:br>
            <a:r>
              <a:rPr lang="en-US" altLang="ja-JP" sz="1100" b="1" dirty="0">
                <a:solidFill>
                  <a:schemeClr val="tx1"/>
                </a:solidFill>
                <a:latin typeface="メイリオ" panose="020B0604030504040204" pitchFamily="50" charset="-128"/>
                <a:ea typeface="メイリオ" panose="020B0604030504040204" pitchFamily="50" charset="-128"/>
              </a:rPr>
              <a:t>E</a:t>
            </a: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動線</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lang="ja-JP" altLang="en-US" sz="1100" b="1" dirty="0">
                <a:solidFill>
                  <a:schemeClr val="tx1"/>
                </a:solidFill>
                <a:latin typeface="メイリオ" panose="020B0604030504040204" pitchFamily="50" charset="-128"/>
                <a:ea typeface="メイリオ" panose="020B0604030504040204" pitchFamily="50" charset="-128"/>
              </a:rPr>
              <a:t>に</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a:t>
            </a:r>
          </a:p>
        </p:txBody>
      </p: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999618" y="2128994"/>
            <a:ext cx="1231081" cy="2085097"/>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999618" y="4325046"/>
            <a:ext cx="1231081" cy="2085098"/>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5974631" y="2701376"/>
            <a:ext cx="1859035" cy="430887"/>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rPr>
              <a:t>公式アカウントの</a:t>
            </a:r>
            <a:r>
              <a:rPr lang="ja-JP" altLang="en-US" sz="1100" b="1" dirty="0">
                <a:latin typeface="メイリオ" panose="020B0604030504040204" pitchFamily="50" charset="-128"/>
                <a:ea typeface="メイリオ" panose="020B0604030504040204" pitchFamily="50" charset="-128"/>
              </a:rPr>
              <a:t>友だち</a:t>
            </a:r>
            <a:endParaRPr lang="en-US" altLang="ja-JP" sz="1100" b="1" dirty="0">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登録ページ</a:t>
            </a:r>
            <a:r>
              <a:rPr lang="ja-JP" altLang="en-US" sz="1100" dirty="0">
                <a:latin typeface="メイリオ" panose="020B0604030504040204" pitchFamily="50" charset="-128"/>
                <a:ea typeface="メイリオ" panose="020B0604030504040204" pitchFamily="50" charset="-128"/>
              </a:rPr>
              <a:t>へ遷移する。</a:t>
            </a:r>
            <a:endParaRPr kumimoji="1" lang="ja-JP" altLang="en-US" sz="1100" dirty="0">
              <a:latin typeface="メイリオ" panose="020B0604030504040204" pitchFamily="50" charset="-128"/>
              <a:ea typeface="メイリオ" panose="020B0604030504040204" pitchFamily="50" charset="-128"/>
            </a:endParaRP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5971905" y="4914274"/>
            <a:ext cx="1859035" cy="1384995"/>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rPr>
              <a:t>公式アカウントの</a:t>
            </a:r>
            <a:r>
              <a:rPr lang="ja-JP" altLang="en-US" sz="1100" b="1" dirty="0">
                <a:latin typeface="メイリオ" panose="020B0604030504040204" pitchFamily="50" charset="-128"/>
                <a:ea typeface="メイリオ" panose="020B0604030504040204" pitchFamily="50" charset="-128"/>
              </a:rPr>
              <a:t>トーク</a:t>
            </a:r>
            <a:endParaRPr lang="en-US" altLang="ja-JP" sz="1100" b="1" dirty="0">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画面</a:t>
            </a:r>
            <a:r>
              <a:rPr lang="ja-JP" altLang="en-US" sz="1100" dirty="0">
                <a:latin typeface="メイリオ" panose="020B0604030504040204" pitchFamily="50" charset="-128"/>
                <a:ea typeface="メイリオ" panose="020B0604030504040204" pitchFamily="50" charset="-128"/>
              </a:rPr>
              <a:t>へ遷移する。</a:t>
            </a:r>
            <a:endParaRPr lang="en-US" altLang="ja-JP" sz="1100" dirty="0">
              <a:latin typeface="メイリオ" panose="020B0604030504040204" pitchFamily="50" charset="-128"/>
              <a:ea typeface="メイリオ" panose="020B0604030504040204" pitchFamily="50" charset="-128"/>
            </a:endParaRPr>
          </a:p>
          <a:p>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設定によりフォーム入力</a:t>
            </a:r>
            <a:endParaRPr kumimoji="1" lang="en-US" altLang="ja-JP" sz="1000" dirty="0">
              <a:solidFill>
                <a:srgbClr val="FF0000"/>
              </a:solidFill>
              <a:latin typeface="メイリオ" panose="020B0604030504040204" pitchFamily="50" charset="-128"/>
              <a:ea typeface="メイリオ" panose="020B0604030504040204" pitchFamily="50" charset="-128"/>
            </a:endParaRPr>
          </a:p>
          <a:p>
            <a:r>
              <a:rPr lang="ja-JP" altLang="en-US" sz="1000" dirty="0">
                <a:solidFill>
                  <a:srgbClr val="FF0000"/>
                </a:solidFill>
                <a:latin typeface="メイリオ" panose="020B0604030504040204" pitchFamily="50" charset="-128"/>
                <a:ea typeface="メイリオ" panose="020B0604030504040204" pitchFamily="50" charset="-128"/>
              </a:rPr>
              <a:t>　内容を踏襲した入力画面</a:t>
            </a:r>
            <a:endParaRPr lang="en-US" altLang="ja-JP" sz="1000" dirty="0">
              <a:solidFill>
                <a:srgbClr val="FF0000"/>
              </a:solidFill>
              <a:latin typeface="メイリオ" panose="020B0604030504040204" pitchFamily="50" charset="-128"/>
              <a:ea typeface="メイリオ" panose="020B0604030504040204" pitchFamily="50" charset="-128"/>
            </a:endParaRPr>
          </a:p>
          <a:p>
            <a:r>
              <a:rPr kumimoji="1" lang="ja-JP" altLang="en-US" sz="1000" dirty="0">
                <a:solidFill>
                  <a:srgbClr val="FF0000"/>
                </a:solidFill>
                <a:latin typeface="メイリオ" panose="020B0604030504040204" pitchFamily="50" charset="-128"/>
                <a:ea typeface="メイリオ" panose="020B0604030504040204" pitchFamily="50" charset="-128"/>
              </a:rPr>
              <a:t>　を表示させることが可能。</a:t>
            </a:r>
            <a:endParaRPr kumimoji="1" lang="en-US" altLang="ja-JP" sz="1000" dirty="0">
              <a:solidFill>
                <a:srgbClr val="FF0000"/>
              </a:solidFill>
              <a:latin typeface="メイリオ" panose="020B0604030504040204" pitchFamily="50" charset="-128"/>
              <a:ea typeface="メイリオ" panose="020B0604030504040204" pitchFamily="50" charset="-128"/>
            </a:endParaRPr>
          </a:p>
          <a:p>
            <a:endParaRPr lang="en-US" altLang="ja-JP" sz="1000" dirty="0">
              <a:solidFill>
                <a:srgbClr val="FF0000"/>
              </a:solidFill>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a:p>
            <a:r>
              <a:rPr kumimoji="1" lang="ja-JP" altLang="en-US" sz="1100" b="1" dirty="0">
                <a:latin typeface="メイリオ" panose="020B0604030504040204" pitchFamily="50" charset="-128"/>
                <a:ea typeface="メイリオ" panose="020B0604030504040204" pitchFamily="50" charset="-128"/>
              </a:rPr>
              <a:t>配信セグメントに利用可</a:t>
            </a:r>
            <a:endParaRPr kumimoji="1" lang="ja-JP" altLang="en-US" sz="1100" dirty="0">
              <a:latin typeface="メイリオ" panose="020B0604030504040204" pitchFamily="50" charset="-128"/>
              <a:ea typeface="メイリオ" panose="020B0604030504040204" pitchFamily="50" charset="-128"/>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8048301" y="3085325"/>
            <a:ext cx="1133712" cy="110223"/>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8378027" y="3091633"/>
            <a:ext cx="479964" cy="106659"/>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8395919" y="4322141"/>
            <a:ext cx="334412" cy="74315"/>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8548319" y="4474541"/>
            <a:ext cx="334412" cy="74315"/>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8414131" y="2644225"/>
            <a:ext cx="396000" cy="39600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600" dirty="0">
                <a:solidFill>
                  <a:schemeClr val="tx1"/>
                </a:solidFill>
                <a:latin typeface="メイリオ" panose="020B0604030504040204" pitchFamily="50" charset="-128"/>
                <a:ea typeface="メイリオ" panose="020B0604030504040204" pitchFamily="50" charset="-128"/>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315283" y="2196668"/>
            <a:ext cx="1778402" cy="3994401"/>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二等辺三角形 34">
            <a:extLst>
              <a:ext uri="{FF2B5EF4-FFF2-40B4-BE49-F238E27FC236}">
                <a16:creationId xmlns:a16="http://schemas.microsoft.com/office/drawing/2014/main" id="{D9FB7255-AF30-7B82-6180-D447A3754744}"/>
              </a:ext>
            </a:extLst>
          </p:cNvPr>
          <p:cNvSpPr/>
          <p:nvPr/>
        </p:nvSpPr>
        <p:spPr>
          <a:xfrm rot="5400000">
            <a:off x="2108593"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2225165"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二等辺三角形 36">
            <a:extLst>
              <a:ext uri="{FF2B5EF4-FFF2-40B4-BE49-F238E27FC236}">
                <a16:creationId xmlns:a16="http://schemas.microsoft.com/office/drawing/2014/main" id="{9D8E2C96-1207-00B8-6FC3-23370EFD7A03}"/>
              </a:ext>
            </a:extLst>
          </p:cNvPr>
          <p:cNvSpPr/>
          <p:nvPr/>
        </p:nvSpPr>
        <p:spPr>
          <a:xfrm rot="5400000">
            <a:off x="2341737"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正方形/長方形 37">
            <a:extLst>
              <a:ext uri="{FF2B5EF4-FFF2-40B4-BE49-F238E27FC236}">
                <a16:creationId xmlns:a16="http://schemas.microsoft.com/office/drawing/2014/main" id="{28671F13-F479-AFF6-9832-C7C00D2D05EE}"/>
              </a:ext>
            </a:extLst>
          </p:cNvPr>
          <p:cNvSpPr/>
          <p:nvPr/>
        </p:nvSpPr>
        <p:spPr>
          <a:xfrm>
            <a:off x="614547" y="4198381"/>
            <a:ext cx="1154315"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latin typeface="メイリオ" panose="020B0604030504040204" pitchFamily="50" charset="-128"/>
                <a:ea typeface="メイリオ" panose="020B0604030504040204" pitchFamily="50" charset="-128"/>
              </a:rPr>
              <a:t>フォーム</a:t>
            </a:r>
          </a:p>
        </p:txBody>
      </p:sp>
      <p:pic>
        <p:nvPicPr>
          <p:cNvPr id="40" name="図 39" descr="テキスト, 手紙&#10;&#10;AI 生成コンテンツは誤りを含む可能性があります。">
            <a:extLst>
              <a:ext uri="{FF2B5EF4-FFF2-40B4-BE49-F238E27FC236}">
                <a16:creationId xmlns:a16="http://schemas.microsoft.com/office/drawing/2014/main" id="{2B8DDCE0-83B3-5BAA-0FFE-3D329FBE2D94}"/>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663353" y="2289246"/>
            <a:ext cx="1048252" cy="1775437"/>
          </a:xfrm>
          <a:prstGeom prst="rect">
            <a:avLst/>
          </a:prstGeom>
        </p:spPr>
      </p:pic>
      <p:pic>
        <p:nvPicPr>
          <p:cNvPr id="41" name="図 40">
            <a:extLst>
              <a:ext uri="{FF2B5EF4-FFF2-40B4-BE49-F238E27FC236}">
                <a16:creationId xmlns:a16="http://schemas.microsoft.com/office/drawing/2014/main" id="{EE7C7FD3-78CB-4D67-F96A-D6F8017FE224}"/>
              </a:ext>
            </a:extLst>
          </p:cNvPr>
          <p:cNvPicPr>
            <a:picLocks noChangeAspect="1"/>
          </p:cNvPicPr>
          <p:nvPr/>
        </p:nvPicPr>
        <p:blipFill>
          <a:blip r:embed="rId7"/>
          <a:stretch>
            <a:fillRect/>
          </a:stretch>
        </p:blipFill>
        <p:spPr>
          <a:xfrm>
            <a:off x="641171" y="2325575"/>
            <a:ext cx="494484" cy="86136"/>
          </a:xfrm>
          <a:prstGeom prst="rect">
            <a:avLst/>
          </a:prstGeom>
        </p:spPr>
      </p:pic>
      <p:pic>
        <p:nvPicPr>
          <p:cNvPr id="42" name="図 41">
            <a:extLst>
              <a:ext uri="{FF2B5EF4-FFF2-40B4-BE49-F238E27FC236}">
                <a16:creationId xmlns:a16="http://schemas.microsoft.com/office/drawing/2014/main" id="{2E6CA8C2-2D04-CD9A-C431-4766768BBF3D}"/>
              </a:ext>
            </a:extLst>
          </p:cNvPr>
          <p:cNvPicPr>
            <a:picLocks noChangeAspect="1"/>
          </p:cNvPicPr>
          <p:nvPr/>
        </p:nvPicPr>
        <p:blipFill>
          <a:blip r:embed="rId7"/>
          <a:stretch>
            <a:fillRect/>
          </a:stretch>
        </p:blipFill>
        <p:spPr>
          <a:xfrm>
            <a:off x="630233" y="2328011"/>
            <a:ext cx="494484" cy="86136"/>
          </a:xfrm>
          <a:prstGeom prst="rect">
            <a:avLst/>
          </a:prstGeom>
        </p:spPr>
      </p:pic>
      <p:pic>
        <p:nvPicPr>
          <p:cNvPr id="47" name="図 46">
            <a:extLst>
              <a:ext uri="{FF2B5EF4-FFF2-40B4-BE49-F238E27FC236}">
                <a16:creationId xmlns:a16="http://schemas.microsoft.com/office/drawing/2014/main" id="{E5BE860E-2799-E5F4-ADCA-4ADBD44E0D0C}"/>
              </a:ext>
            </a:extLst>
          </p:cNvPr>
          <p:cNvPicPr>
            <a:picLocks noChangeAspect="1"/>
          </p:cNvPicPr>
          <p:nvPr/>
        </p:nvPicPr>
        <p:blipFill>
          <a:blip r:embed="rId7"/>
          <a:stretch>
            <a:fillRect/>
          </a:stretch>
        </p:blipFill>
        <p:spPr>
          <a:xfrm>
            <a:off x="810116" y="3773334"/>
            <a:ext cx="494484" cy="86136"/>
          </a:xfrm>
          <a:prstGeom prst="rect">
            <a:avLst/>
          </a:prstGeom>
        </p:spPr>
      </p:pic>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8"/>
          <a:stretch>
            <a:fillRect/>
          </a:stretch>
        </p:blipFill>
        <p:spPr>
          <a:xfrm>
            <a:off x="647157" y="2445202"/>
            <a:ext cx="1076073" cy="1468487"/>
          </a:xfrm>
          <a:prstGeom prst="rect">
            <a:avLst/>
          </a:prstGeom>
        </p:spPr>
      </p:pic>
      <p:pic>
        <p:nvPicPr>
          <p:cNvPr id="1024" name="図 1023">
            <a:extLst>
              <a:ext uri="{FF2B5EF4-FFF2-40B4-BE49-F238E27FC236}">
                <a16:creationId xmlns:a16="http://schemas.microsoft.com/office/drawing/2014/main" id="{E5E4719A-E6F5-34E0-F2FD-37322E2A76AA}"/>
              </a:ext>
            </a:extLst>
          </p:cNvPr>
          <p:cNvPicPr>
            <a:picLocks noChangeAspect="1"/>
          </p:cNvPicPr>
          <p:nvPr/>
        </p:nvPicPr>
        <p:blipFill>
          <a:blip r:embed="rId9"/>
          <a:stretch>
            <a:fillRect/>
          </a:stretch>
        </p:blipFill>
        <p:spPr>
          <a:xfrm>
            <a:off x="1125324" y="2303179"/>
            <a:ext cx="560995" cy="133465"/>
          </a:xfrm>
          <a:prstGeom prst="rect">
            <a:avLst/>
          </a:prstGeom>
        </p:spPr>
      </p:pic>
      <p:sp>
        <p:nvSpPr>
          <p:cNvPr id="1026" name="テキスト ボックス 1025">
            <a:extLst>
              <a:ext uri="{FF2B5EF4-FFF2-40B4-BE49-F238E27FC236}">
                <a16:creationId xmlns:a16="http://schemas.microsoft.com/office/drawing/2014/main" id="{1B57767B-4EA3-C247-B88C-4D505A95BD20}"/>
              </a:ext>
            </a:extLst>
          </p:cNvPr>
          <p:cNvSpPr txBox="1"/>
          <p:nvPr/>
        </p:nvSpPr>
        <p:spPr>
          <a:xfrm>
            <a:off x="-490844" y="4711039"/>
            <a:ext cx="3405553" cy="400110"/>
          </a:xfrm>
          <a:prstGeom prst="rect">
            <a:avLst/>
          </a:prstGeom>
          <a:noFill/>
        </p:spPr>
        <p:txBody>
          <a:bodyPr wrap="square">
            <a:spAutoFit/>
          </a:bodyPr>
          <a:lstStyle/>
          <a:p>
            <a:pPr algn="ctr"/>
            <a:r>
              <a:rPr lang="en-US" altLang="ja-JP" sz="1000" b="1" dirty="0">
                <a:solidFill>
                  <a:srgbClr val="FF0000"/>
                </a:solidFill>
                <a:latin typeface="メイリオ" panose="020B0604030504040204" pitchFamily="50" charset="-128"/>
                <a:ea typeface="メイリオ" panose="020B0604030504040204" pitchFamily="50" charset="-128"/>
              </a:rPr>
              <a:t>※</a:t>
            </a:r>
            <a:r>
              <a:rPr lang="ja-JP" altLang="en-US" sz="1000" b="1" dirty="0">
                <a:solidFill>
                  <a:srgbClr val="FF0000"/>
                </a:solidFill>
                <a:latin typeface="メイリオ" panose="020B0604030504040204" pitchFamily="50" charset="-128"/>
                <a:ea typeface="メイリオ" panose="020B0604030504040204" pitchFamily="50" charset="-128"/>
              </a:rPr>
              <a:t>入力した内容を</a:t>
            </a:r>
            <a:endParaRPr lang="en-US" altLang="ja-JP" sz="1000" b="1" dirty="0">
              <a:solidFill>
                <a:srgbClr val="FF0000"/>
              </a:solidFill>
              <a:latin typeface="メイリオ" panose="020B0604030504040204" pitchFamily="50" charset="-128"/>
              <a:ea typeface="メイリオ" panose="020B0604030504040204" pitchFamily="50" charset="-128"/>
            </a:endParaRPr>
          </a:p>
          <a:p>
            <a:pPr algn="ctr"/>
            <a:r>
              <a:rPr lang="ja-JP" altLang="en-US" sz="1000" b="1" dirty="0">
                <a:solidFill>
                  <a:srgbClr val="FF0000"/>
                </a:solidFill>
                <a:latin typeface="メイリオ" panose="020B0604030504040204" pitchFamily="50" charset="-128"/>
                <a:ea typeface="メイリオ" panose="020B0604030504040204" pitchFamily="50" charset="-128"/>
              </a:rPr>
              <a:t>トークに反映が可能。</a:t>
            </a:r>
            <a:endParaRPr lang="en-US" altLang="ja-JP" sz="1000" b="1" dirty="0">
              <a:solidFill>
                <a:srgbClr val="FF0000"/>
              </a:solidFill>
              <a:latin typeface="メイリオ" panose="020B0604030504040204" pitchFamily="50" charset="-128"/>
              <a:ea typeface="メイリオ" panose="020B0604030504040204" pitchFamily="50" charset="-128"/>
            </a:endParaRPr>
          </a:p>
        </p:txBody>
      </p:sp>
      <p:sp>
        <p:nvSpPr>
          <p:cNvPr id="1032" name="正方形/長方形 1031">
            <a:extLst>
              <a:ext uri="{FF2B5EF4-FFF2-40B4-BE49-F238E27FC236}">
                <a16:creationId xmlns:a16="http://schemas.microsoft.com/office/drawing/2014/main" id="{D1D96D42-255C-636E-49E5-2CDA95DD6764}"/>
              </a:ext>
            </a:extLst>
          </p:cNvPr>
          <p:cNvSpPr/>
          <p:nvPr/>
        </p:nvSpPr>
        <p:spPr>
          <a:xfrm>
            <a:off x="2584156" y="2196668"/>
            <a:ext cx="1778402" cy="3994401"/>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909322" y="4198381"/>
            <a:ext cx="1154315"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latin typeface="メイリオ" panose="020B0604030504040204" pitchFamily="50" charset="-128"/>
                <a:ea typeface="メイリオ" panose="020B0604030504040204" pitchFamily="50" charset="-128"/>
              </a:rPr>
              <a:t>CV</a:t>
            </a:r>
            <a:endParaRPr kumimoji="1" lang="ja-JP" altLang="en-US" sz="1100" b="1" dirty="0">
              <a:latin typeface="メイリオ" panose="020B0604030504040204" pitchFamily="50" charset="-128"/>
              <a:ea typeface="メイリオ" panose="020B0604030504040204" pitchFamily="50" charset="-128"/>
            </a:endParaRPr>
          </a:p>
        </p:txBody>
      </p:sp>
      <p:sp>
        <p:nvSpPr>
          <p:cNvPr id="1036" name="正方形/長方形 1035">
            <a:extLst>
              <a:ext uri="{FF2B5EF4-FFF2-40B4-BE49-F238E27FC236}">
                <a16:creationId xmlns:a16="http://schemas.microsoft.com/office/drawing/2014/main" id="{43EEA9CC-C52C-B219-FF18-6E6EA44E4D24}"/>
              </a:ext>
            </a:extLst>
          </p:cNvPr>
          <p:cNvSpPr/>
          <p:nvPr/>
        </p:nvSpPr>
        <p:spPr>
          <a:xfrm>
            <a:off x="2692868" y="4436119"/>
            <a:ext cx="1396722" cy="10450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・購入完了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・セミナー予約</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・登録完了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・メルマガ登録</a:t>
            </a:r>
            <a:endParaRPr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・その他</a:t>
            </a: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2977448" y="2296209"/>
            <a:ext cx="1048252" cy="1775437"/>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10" cstate="print">
            <a:extLst>
              <a:ext uri="{28A0092B-C50C-407E-A947-70E740481C1C}">
                <a14:useLocalDpi xmlns:a14="http://schemas.microsoft.com/office/drawing/2010/main" val="0"/>
              </a:ext>
            </a:extLst>
          </a:blip>
          <a:srcRect l="20270" r="23682"/>
          <a:stretch>
            <a:fillRect/>
          </a:stretch>
        </p:blipFill>
        <p:spPr bwMode="auto">
          <a:xfrm>
            <a:off x="3866329" y="4627146"/>
            <a:ext cx="395417" cy="529521"/>
          </a:xfrm>
          <a:prstGeom prst="rect">
            <a:avLst/>
          </a:prstGeom>
          <a:noFill/>
          <a:extLst>
            <a:ext uri="{909E8E84-426E-40DD-AFC4-6F175D3DCCD1}">
              <a14:hiddenFill xmlns:a14="http://schemas.microsoft.com/office/drawing/2010/main">
                <a:solidFill>
                  <a:srgbClr val="FFFFFF"/>
                </a:solidFill>
              </a14:hiddenFill>
            </a:ext>
          </a:extLst>
        </p:spPr>
      </p:pic>
      <p:pic>
        <p:nvPicPr>
          <p:cNvPr id="1040" name="図 1039">
            <a:extLst>
              <a:ext uri="{FF2B5EF4-FFF2-40B4-BE49-F238E27FC236}">
                <a16:creationId xmlns:a16="http://schemas.microsoft.com/office/drawing/2014/main" id="{D40EFC68-F8C8-CACE-392A-C804A102B410}"/>
              </a:ext>
            </a:extLst>
          </p:cNvPr>
          <p:cNvPicPr>
            <a:picLocks noChangeAspect="1"/>
          </p:cNvPicPr>
          <p:nvPr/>
        </p:nvPicPr>
        <p:blipFill>
          <a:blip r:embed="rId7"/>
          <a:stretch>
            <a:fillRect/>
          </a:stretch>
        </p:blipFill>
        <p:spPr>
          <a:xfrm>
            <a:off x="2955266" y="2332538"/>
            <a:ext cx="494484" cy="86136"/>
          </a:xfrm>
          <a:prstGeom prst="rect">
            <a:avLst/>
          </a:prstGeom>
        </p:spPr>
      </p:pic>
      <p:pic>
        <p:nvPicPr>
          <p:cNvPr id="1041" name="図 1040">
            <a:extLst>
              <a:ext uri="{FF2B5EF4-FFF2-40B4-BE49-F238E27FC236}">
                <a16:creationId xmlns:a16="http://schemas.microsoft.com/office/drawing/2014/main" id="{BA9B0596-4197-6BA5-B58D-7E67FD1379B1}"/>
              </a:ext>
            </a:extLst>
          </p:cNvPr>
          <p:cNvPicPr>
            <a:picLocks noChangeAspect="1"/>
          </p:cNvPicPr>
          <p:nvPr/>
        </p:nvPicPr>
        <p:blipFill>
          <a:blip r:embed="rId7"/>
          <a:stretch>
            <a:fillRect/>
          </a:stretch>
        </p:blipFill>
        <p:spPr>
          <a:xfrm>
            <a:off x="2944328" y="2334974"/>
            <a:ext cx="494484" cy="86136"/>
          </a:xfrm>
          <a:prstGeom prst="rect">
            <a:avLst/>
          </a:prstGeom>
        </p:spPr>
      </p:pic>
      <p:pic>
        <p:nvPicPr>
          <p:cNvPr id="1042" name="図 1041">
            <a:extLst>
              <a:ext uri="{FF2B5EF4-FFF2-40B4-BE49-F238E27FC236}">
                <a16:creationId xmlns:a16="http://schemas.microsoft.com/office/drawing/2014/main" id="{A3D5D1CE-703D-3244-20B5-0CBB6C5EB467}"/>
              </a:ext>
            </a:extLst>
          </p:cNvPr>
          <p:cNvPicPr>
            <a:picLocks noChangeAspect="1"/>
          </p:cNvPicPr>
          <p:nvPr/>
        </p:nvPicPr>
        <p:blipFill>
          <a:blip r:embed="rId7"/>
          <a:stretch>
            <a:fillRect/>
          </a:stretch>
        </p:blipFill>
        <p:spPr>
          <a:xfrm>
            <a:off x="3124211" y="3780297"/>
            <a:ext cx="494484" cy="86136"/>
          </a:xfrm>
          <a:prstGeom prst="rect">
            <a:avLst/>
          </a:prstGeom>
        </p:spPr>
      </p:pic>
      <p:sp>
        <p:nvSpPr>
          <p:cNvPr id="1043" name="テキスト ボックス 1042">
            <a:extLst>
              <a:ext uri="{FF2B5EF4-FFF2-40B4-BE49-F238E27FC236}">
                <a16:creationId xmlns:a16="http://schemas.microsoft.com/office/drawing/2014/main" id="{434489DF-76E5-B08D-AB93-7A020A3C23F0}"/>
              </a:ext>
            </a:extLst>
          </p:cNvPr>
          <p:cNvSpPr txBox="1"/>
          <p:nvPr/>
        </p:nvSpPr>
        <p:spPr>
          <a:xfrm>
            <a:off x="1254839" y="5195928"/>
            <a:ext cx="1679395" cy="338554"/>
          </a:xfrm>
          <a:prstGeom prst="rect">
            <a:avLst/>
          </a:prstGeom>
          <a:solidFill>
            <a:schemeClr val="bg1">
              <a:alpha val="56000"/>
            </a:schemeClr>
          </a:solidFill>
        </p:spPr>
        <p:txBody>
          <a:bodyPr wrap="square">
            <a:spAutoFit/>
          </a:bodyPr>
          <a:lstStyle/>
          <a:p>
            <a:pPr algn="ctr"/>
            <a:r>
              <a:rPr lang="en-US" altLang="ja-JP" sz="800" b="1" dirty="0">
                <a:solidFill>
                  <a:schemeClr val="bg1">
                    <a:lumMod val="85000"/>
                  </a:schemeClr>
                </a:solidFill>
                <a:latin typeface="メイリオ" panose="020B0604030504040204" pitchFamily="50" charset="-128"/>
                <a:ea typeface="メイリオ" panose="020B0604030504040204" pitchFamily="50" charset="-128"/>
              </a:rPr>
              <a:t>※</a:t>
            </a:r>
            <a:r>
              <a:rPr lang="ja-JP" altLang="en-US" sz="800" b="1" dirty="0">
                <a:solidFill>
                  <a:schemeClr val="bg1">
                    <a:lumMod val="85000"/>
                  </a:schemeClr>
                </a:solidFill>
                <a:latin typeface="メイリオ" panose="020B0604030504040204" pitchFamily="50" charset="-128"/>
                <a:ea typeface="メイリオ" panose="020B0604030504040204" pitchFamily="50" charset="-128"/>
              </a:rPr>
              <a:t>ユーザーの個人情報収集が</a:t>
            </a:r>
            <a:endParaRPr lang="en-US" altLang="ja-JP" sz="800" b="1" dirty="0">
              <a:solidFill>
                <a:schemeClr val="bg1">
                  <a:lumMod val="85000"/>
                </a:schemeClr>
              </a:solidFill>
              <a:latin typeface="メイリオ" panose="020B0604030504040204" pitchFamily="50" charset="-128"/>
              <a:ea typeface="メイリオ" panose="020B0604030504040204" pitchFamily="50" charset="-128"/>
            </a:endParaRPr>
          </a:p>
          <a:p>
            <a:pPr algn="ctr"/>
            <a:r>
              <a:rPr lang="ja-JP" altLang="en-US" sz="800" b="1" dirty="0">
                <a:solidFill>
                  <a:schemeClr val="bg1">
                    <a:lumMod val="85000"/>
                  </a:schemeClr>
                </a:solidFill>
                <a:latin typeface="メイリオ" panose="020B0604030504040204" pitchFamily="50" charset="-128"/>
                <a:ea typeface="メイリオ" panose="020B0604030504040204" pitchFamily="50" charset="-128"/>
              </a:rPr>
              <a:t>完了したタイミング</a:t>
            </a:r>
            <a:endParaRPr kumimoji="1" lang="ja-JP" altLang="en-US" sz="800" b="1" dirty="0">
              <a:solidFill>
                <a:schemeClr val="bg1">
                  <a:lumMod val="85000"/>
                </a:schemeClr>
              </a:solidFill>
              <a:latin typeface="メイリオ" panose="020B0604030504040204" pitchFamily="50" charset="-128"/>
              <a:ea typeface="メイリオ" panose="020B0604030504040204" pitchFamily="50" charset="-128"/>
            </a:endParaRPr>
          </a:p>
        </p:txBody>
      </p:sp>
      <p:grpSp>
        <p:nvGrpSpPr>
          <p:cNvPr id="3" name="グループ化 2">
            <a:extLst>
              <a:ext uri="{FF2B5EF4-FFF2-40B4-BE49-F238E27FC236}">
                <a16:creationId xmlns:a16="http://schemas.microsoft.com/office/drawing/2014/main" id="{E76D8F54-2926-2D56-7238-F66ACCBC4F2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サンクス</a:t>
              </a:r>
              <a:r>
                <a:rPr kumimoji="1" lang="en-US" altLang="ja-JP" sz="1500" b="1" dirty="0">
                  <a:solidFill>
                    <a:schemeClr val="bg1"/>
                  </a:solidFill>
                  <a:latin typeface="Meiryo" panose="020B0604030504040204" pitchFamily="34" charset="-128"/>
                  <a:ea typeface="Meiryo" panose="020B0604030504040204" pitchFamily="34" charset="-128"/>
                </a:rPr>
                <a:t>LINE</a:t>
              </a:r>
              <a:r>
                <a:rPr kumimoji="1" lang="ja-JP" altLang="en-US" sz="1500" b="1" dirty="0">
                  <a:solidFill>
                    <a:schemeClr val="bg1"/>
                  </a:solidFill>
                  <a:latin typeface="Meiryo" panose="020B0604030504040204" pitchFamily="34" charset="-128"/>
                  <a:ea typeface="Meiryo" panose="020B0604030504040204" pitchFamily="34" charset="-128"/>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8247347" y="4702330"/>
            <a:ext cx="899499" cy="79959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 name="コネクタ: カギ線 6">
            <a:extLst>
              <a:ext uri="{FF2B5EF4-FFF2-40B4-BE49-F238E27FC236}">
                <a16:creationId xmlns:a16="http://schemas.microsoft.com/office/drawing/2014/main" id="{C5EB654A-0759-70F8-6BA7-95CA3A0F983F}"/>
              </a:ext>
            </a:extLst>
          </p:cNvPr>
          <p:cNvCxnSpPr>
            <a:cxnSpLocks/>
          </p:cNvCxnSpPr>
          <p:nvPr/>
        </p:nvCxnSpPr>
        <p:spPr>
          <a:xfrm flipV="1">
            <a:off x="7672763" y="5102505"/>
            <a:ext cx="574585" cy="332494"/>
          </a:xfrm>
          <a:prstGeom prst="bentConnector3">
            <a:avLst>
              <a:gd name="adj1" fmla="val 50000"/>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218E3FE3-7B20-5966-421F-4ECB81603538}"/>
              </a:ext>
            </a:extLst>
          </p:cNvPr>
          <p:cNvCxnSpPr>
            <a:cxnSpLocks/>
            <a:stCxn id="48" idx="2"/>
            <a:endCxn id="21" idx="0"/>
          </p:cNvCxnSpPr>
          <p:nvPr/>
        </p:nvCxnSpPr>
        <p:spPr>
          <a:xfrm>
            <a:off x="6904149" y="3132263"/>
            <a:ext cx="1" cy="133462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9" name="テキスト ボックス 18">
            <a:extLst>
              <a:ext uri="{FF2B5EF4-FFF2-40B4-BE49-F238E27FC236}">
                <a16:creationId xmlns:a16="http://schemas.microsoft.com/office/drawing/2014/main" id="{DBDB9444-3A0E-B235-58FC-9F8C81BAEA44}"/>
              </a:ext>
            </a:extLst>
          </p:cNvPr>
          <p:cNvSpPr txBox="1"/>
          <p:nvPr/>
        </p:nvSpPr>
        <p:spPr>
          <a:xfrm>
            <a:off x="6323825" y="3523709"/>
            <a:ext cx="1161782" cy="261610"/>
          </a:xfrm>
          <a:prstGeom prst="rect">
            <a:avLst/>
          </a:prstGeom>
          <a:solidFill>
            <a:schemeClr val="bg1">
              <a:alpha val="70000"/>
            </a:schemeClr>
          </a:solidFill>
        </p:spPr>
        <p:txBody>
          <a:bodyPr wrap="square">
            <a:spAutoFit/>
          </a:bodyPr>
          <a:lstStyle/>
          <a:p>
            <a:pPr algn="ctr"/>
            <a:r>
              <a:rPr kumimoji="1" lang="ja-JP" altLang="en-US" sz="1100" b="1" dirty="0">
                <a:solidFill>
                  <a:srgbClr val="00C057"/>
                </a:solidFill>
                <a:latin typeface="メイリオ" panose="020B0604030504040204" pitchFamily="50" charset="-128"/>
                <a:ea typeface="メイリオ" panose="020B0604030504040204" pitchFamily="50" charset="-128"/>
              </a:rPr>
              <a:t>友だち追加後</a:t>
            </a:r>
            <a:endParaRPr lang="ja-JP" altLang="en-US" sz="1100" dirty="0">
              <a:solidFill>
                <a:srgbClr val="00C057"/>
              </a:solidFill>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ja-JP" altLang="en-US" sz="1600" dirty="0">
                <a:latin typeface="Meiryo"/>
                <a:ea typeface="Meiryo"/>
                <a:cs typeface="Meiryo"/>
                <a:sym typeface="Meiryo"/>
              </a:rPr>
              <a:t>サンクス到達時の</a:t>
            </a:r>
            <a:r>
              <a:rPr lang="en-US" altLang="ja-JP" sz="1600" dirty="0">
                <a:latin typeface="Meiryo"/>
                <a:ea typeface="Meiryo"/>
                <a:cs typeface="Meiryo"/>
                <a:sym typeface="Meiryo"/>
              </a:rPr>
              <a:t>LINE</a:t>
            </a:r>
            <a:r>
              <a:rPr lang="ja-JP" altLang="en-US" sz="1600" dirty="0">
                <a:latin typeface="Meiryo"/>
                <a:ea typeface="Meiryo"/>
                <a:cs typeface="Meiryo"/>
                <a:sym typeface="Meiryo"/>
              </a:rPr>
              <a:t>動線が弊社開発により可能に。</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費用を抑えての導入が可能で、新規反響の質改善に寄与。</a:t>
            </a:r>
          </a:p>
        </p:txBody>
      </p:sp>
      <p:sp>
        <p:nvSpPr>
          <p:cNvPr id="10" name="テキスト ボックス 9">
            <a:extLst>
              <a:ext uri="{FF2B5EF4-FFF2-40B4-BE49-F238E27FC236}">
                <a16:creationId xmlns:a16="http://schemas.microsoft.com/office/drawing/2014/main" id="{3EACBB40-B311-2012-88DC-7E4CD6FCFF28}"/>
              </a:ext>
            </a:extLst>
          </p:cNvPr>
          <p:cNvSpPr txBox="1"/>
          <p:nvPr/>
        </p:nvSpPr>
        <p:spPr>
          <a:xfrm>
            <a:off x="4091506" y="1391612"/>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暫定措置として導入済アカウントについては</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2026</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年</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7</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月～の価格改定の予定</a:t>
            </a:r>
            <a:endParaRPr lang="ja-JP" altLang="en-US" sz="900" dirty="0">
              <a:solidFill>
                <a:srgbClr val="FF0000"/>
              </a:solidFill>
            </a:endParaRP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4091506" y="1549623"/>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既存</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API</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ツールとの併用についても、問題なく稼働が可能。</a:t>
            </a:r>
            <a:endParaRPr lang="ja-JP" altLang="en-US" sz="900" dirty="0">
              <a:solidFill>
                <a:srgbClr val="FF0000"/>
              </a:solidFill>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sp>
        <p:nvSpPr>
          <p:cNvPr id="26" name="Google Shape;51;p19">
            <a:extLst>
              <a:ext uri="{FF2B5EF4-FFF2-40B4-BE49-F238E27FC236}">
                <a16:creationId xmlns:a16="http://schemas.microsoft.com/office/drawing/2014/main" id="{A4070FDA-7C99-27DE-6A9C-437C1D5DD3B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28" name="Google Shape;51;p19">
            <a:extLst>
              <a:ext uri="{FF2B5EF4-FFF2-40B4-BE49-F238E27FC236}">
                <a16:creationId xmlns:a16="http://schemas.microsoft.com/office/drawing/2014/main" id="{40C4675F-5DCC-DD57-BE14-B3A7697A02C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設定地点追加</a:t>
            </a:r>
            <a:endParaRPr sz="1050" b="1" i="0" u="none" strike="noStrike" cap="none" dirty="0">
              <a:solidFill>
                <a:srgbClr val="FFFF00"/>
              </a:solidFill>
              <a:latin typeface="Meiryo"/>
              <a:ea typeface="Meiryo"/>
              <a:cs typeface="Meiryo"/>
              <a:sym typeface="Meiryo"/>
            </a:endParaRPr>
          </a:p>
        </p:txBody>
      </p:sp>
      <p:cxnSp>
        <p:nvCxnSpPr>
          <p:cNvPr id="30" name="コネクタ: カギ線 29">
            <a:extLst>
              <a:ext uri="{FF2B5EF4-FFF2-40B4-BE49-F238E27FC236}">
                <a16:creationId xmlns:a16="http://schemas.microsoft.com/office/drawing/2014/main" id="{D9706AF3-2C8D-6646-76C8-7802A4F734FC}"/>
              </a:ext>
            </a:extLst>
          </p:cNvPr>
          <p:cNvCxnSpPr>
            <a:cxnSpLocks/>
          </p:cNvCxnSpPr>
          <p:nvPr/>
        </p:nvCxnSpPr>
        <p:spPr>
          <a:xfrm rot="16200000" flipH="1">
            <a:off x="3294819" y="3047336"/>
            <a:ext cx="430977" cy="4596748"/>
          </a:xfrm>
          <a:prstGeom prst="bentConnector2">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97C92C6B-4F06-7ED3-0627-D0C168299913}"/>
              </a:ext>
            </a:extLst>
          </p:cNvPr>
          <p:cNvSpPr txBox="1"/>
          <p:nvPr/>
        </p:nvSpPr>
        <p:spPr>
          <a:xfrm>
            <a:off x="115187" y="5639542"/>
            <a:ext cx="5785781" cy="461665"/>
          </a:xfrm>
          <a:prstGeom prst="rect">
            <a:avLst/>
          </a:prstGeom>
          <a:solidFill>
            <a:schemeClr val="bg1">
              <a:alpha val="62000"/>
            </a:schemeClr>
          </a:solidFill>
        </p:spPr>
        <p:txBody>
          <a:bodyPr wrap="square">
            <a:spAutoFit/>
          </a:bodyPr>
          <a:lstStyle/>
          <a:p>
            <a:pPr algn="ctr"/>
            <a:r>
              <a:rPr lang="ja-JP" altLang="ja-JP" sz="1200" dirty="0">
                <a:latin typeface="メイリオ" panose="020B0604030504040204" pitchFamily="50" charset="-128"/>
                <a:ea typeface="メイリオ" panose="020B0604030504040204" pitchFamily="50" charset="-128"/>
              </a:rPr>
              <a:t>高開封率のLINEに誘導</a:t>
            </a:r>
            <a:r>
              <a:rPr lang="ja-JP" altLang="en-US" sz="1200" dirty="0">
                <a:latin typeface="メイリオ" panose="020B0604030504040204" pitchFamily="50" charset="-128"/>
                <a:ea typeface="メイリオ" panose="020B0604030504040204" pitchFamily="50" charset="-128"/>
              </a:rPr>
              <a:t>して</a:t>
            </a:r>
            <a:r>
              <a:rPr lang="ja-JP" altLang="ja-JP" sz="1200" dirty="0">
                <a:latin typeface="メイリオ" panose="020B0604030504040204" pitchFamily="50" charset="-128"/>
                <a:ea typeface="メイリオ" panose="020B0604030504040204" pitchFamily="50" charset="-128"/>
              </a:rPr>
              <a:t>反響→実売上への引上げ率、リピート率改善。</a:t>
            </a:r>
            <a:endParaRPr lang="en-US" altLang="ja-JP" sz="1200" dirty="0">
              <a:latin typeface="メイリオ" panose="020B0604030504040204" pitchFamily="50" charset="-128"/>
              <a:ea typeface="メイリオ" panose="020B0604030504040204" pitchFamily="50" charset="-128"/>
            </a:endParaRPr>
          </a:p>
          <a:p>
            <a:pPr algn="ctr"/>
            <a:r>
              <a:rPr lang="ja-JP" altLang="ja-JP" sz="1200" dirty="0">
                <a:latin typeface="メイリオ" panose="020B0604030504040204" pitchFamily="50" charset="-128"/>
                <a:ea typeface="メイリオ" panose="020B0604030504040204" pitchFamily="50" charset="-128"/>
              </a:rPr>
              <a:t> </a:t>
            </a:r>
            <a:r>
              <a:rPr lang="ja-JP" altLang="ja-JP" sz="1200" b="1" dirty="0">
                <a:solidFill>
                  <a:srgbClr val="FF0000"/>
                </a:solidFill>
                <a:latin typeface="メイリオ" panose="020B0604030504040204" pitchFamily="50" charset="-128"/>
                <a:ea typeface="メイリオ" panose="020B0604030504040204" pitchFamily="50" charset="-128"/>
              </a:rPr>
              <a:t>弊社運用の美容クリニック様では、予約後来院率にて40-50%程度の改善を実現</a:t>
            </a:r>
            <a:r>
              <a:rPr lang="ja-JP" altLang="ja-JP" sz="1200" dirty="0">
                <a:latin typeface="メイリオ" panose="020B0604030504040204" pitchFamily="50" charset="-128"/>
                <a:ea typeface="メイリオ" panose="020B0604030504040204" pitchFamily="50" charset="-128"/>
              </a:rPr>
              <a:t>。</a:t>
            </a:r>
            <a:endParaRPr lang="ja-JP" altLang="en-US"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94909011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0D4D3-02EA-A5F1-D13F-557CC4270B1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CE82040-EC6A-3624-AB86-12AD7F91F3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AB48BF19-1E81-18F2-64BE-979545FAE824}"/>
              </a:ext>
            </a:extLst>
          </p:cNvPr>
          <p:cNvSpPr/>
          <p:nvPr/>
        </p:nvSpPr>
        <p:spPr>
          <a:xfrm>
            <a:off x="4245125" y="3038203"/>
            <a:ext cx="1415772"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費用感</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193754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0CDE0-BB10-C7C6-9CB9-785832AAB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4DA5ED1-E7F2-6353-56C2-FA4628CF19B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2AEA7C23-DE93-9590-AE94-B792C3122BEF}"/>
              </a:ext>
            </a:extLst>
          </p:cNvPr>
          <p:cNvSpPr/>
          <p:nvPr/>
        </p:nvSpPr>
        <p:spPr>
          <a:xfrm>
            <a:off x="0" y="68157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サービス内容</a:t>
            </a:r>
            <a:endParaRPr kumimoji="1" lang="ja-JP" altLang="en-US" sz="1400" dirty="0">
              <a:latin typeface="メイリオ" panose="020B0604030504040204" pitchFamily="50" charset="-128"/>
              <a:ea typeface="メイリオ" panose="020B0604030504040204" pitchFamily="50" charset="-128"/>
            </a:endParaRPr>
          </a:p>
        </p:txBody>
      </p:sp>
      <p:sp>
        <p:nvSpPr>
          <p:cNvPr id="5" name="Google Shape;752;p28">
            <a:extLst>
              <a:ext uri="{FF2B5EF4-FFF2-40B4-BE49-F238E27FC236}">
                <a16:creationId xmlns:a16="http://schemas.microsoft.com/office/drawing/2014/main" id="{9D6FEB09-4D8F-8EAE-D257-4C677C23BB92}"/>
              </a:ext>
            </a:extLst>
          </p:cNvPr>
          <p:cNvSpPr txBox="1"/>
          <p:nvPr/>
        </p:nvSpPr>
        <p:spPr>
          <a:xfrm>
            <a:off x="2983774" y="782870"/>
            <a:ext cx="661987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施策成果件数に伴う費用発生でリスクを抑えた運用スタートを実現。</a:t>
            </a:r>
          </a:p>
        </p:txBody>
      </p:sp>
      <p:sp>
        <p:nvSpPr>
          <p:cNvPr id="17" name="正方形/長方形 16">
            <a:extLst>
              <a:ext uri="{FF2B5EF4-FFF2-40B4-BE49-F238E27FC236}">
                <a16:creationId xmlns:a16="http://schemas.microsoft.com/office/drawing/2014/main" id="{64B91377-FDB2-808E-0970-159FDA78ABB9}"/>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DYM</a:t>
            </a:r>
            <a:r>
              <a:rPr kumimoji="1" lang="ja-JP" altLang="en-US" sz="1400" dirty="0">
                <a:latin typeface="メイリオ" panose="020B0604030504040204" pitchFamily="50" charset="-128"/>
                <a:ea typeface="メイリオ" panose="020B0604030504040204" pitchFamily="50" charset="-128"/>
              </a:rPr>
              <a:t>プラン</a:t>
            </a:r>
          </a:p>
        </p:txBody>
      </p:sp>
      <p:sp>
        <p:nvSpPr>
          <p:cNvPr id="3" name="Shape 2">
            <a:extLst>
              <a:ext uri="{FF2B5EF4-FFF2-40B4-BE49-F238E27FC236}">
                <a16:creationId xmlns:a16="http://schemas.microsoft.com/office/drawing/2014/main" id="{133EC02F-4D0A-E846-1994-A1FA50AA761C}"/>
              </a:ext>
            </a:extLst>
          </p:cNvPr>
          <p:cNvSpPr/>
          <p:nvPr/>
        </p:nvSpPr>
        <p:spPr>
          <a:xfrm>
            <a:off x="3996942" y="1299722"/>
            <a:ext cx="5180076" cy="658368"/>
          </a:xfrm>
          <a:prstGeom prst="roundRect">
            <a:avLst>
              <a:gd name="adj" fmla="val 11111"/>
            </a:avLst>
          </a:prstGeom>
          <a:solidFill>
            <a:schemeClr val="bg1">
              <a:lumMod val="85000"/>
            </a:scheme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Shape 3">
            <a:extLst>
              <a:ext uri="{FF2B5EF4-FFF2-40B4-BE49-F238E27FC236}">
                <a16:creationId xmlns:a16="http://schemas.microsoft.com/office/drawing/2014/main" id="{B03D337C-CE0C-8D62-1622-3E7F414F385E}"/>
              </a:ext>
            </a:extLst>
          </p:cNvPr>
          <p:cNvSpPr/>
          <p:nvPr/>
        </p:nvSpPr>
        <p:spPr>
          <a:xfrm>
            <a:off x="4232400" y="1391162"/>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5" name="Text 4">
            <a:extLst>
              <a:ext uri="{FF2B5EF4-FFF2-40B4-BE49-F238E27FC236}">
                <a16:creationId xmlns:a16="http://schemas.microsoft.com/office/drawing/2014/main" id="{B1A45445-BB59-E57C-783F-82C190B07BF0}"/>
              </a:ext>
            </a:extLst>
          </p:cNvPr>
          <p:cNvSpPr/>
          <p:nvPr/>
        </p:nvSpPr>
        <p:spPr>
          <a:xfrm>
            <a:off x="4232400" y="1391162"/>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01</a:t>
            </a:r>
            <a:endParaRPr lang="en-US" sz="1300" dirty="0">
              <a:latin typeface="メイリオ" panose="020B0604030504040204" pitchFamily="50" charset="-128"/>
              <a:ea typeface="メイリオ" panose="020B0604030504040204" pitchFamily="50" charset="-128"/>
            </a:endParaRPr>
          </a:p>
        </p:txBody>
      </p:sp>
      <p:sp>
        <p:nvSpPr>
          <p:cNvPr id="30" name="Text 5">
            <a:extLst>
              <a:ext uri="{FF2B5EF4-FFF2-40B4-BE49-F238E27FC236}">
                <a16:creationId xmlns:a16="http://schemas.microsoft.com/office/drawing/2014/main" id="{9B28CF00-AAB9-C0E8-E939-BB9A0644E64F}"/>
              </a:ext>
            </a:extLst>
          </p:cNvPr>
          <p:cNvSpPr/>
          <p:nvPr/>
        </p:nvSpPr>
        <p:spPr>
          <a:xfrm>
            <a:off x="4872480" y="1354586"/>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保護者ユーザーのカスタマージャーニー（8フェーズ）</a:t>
            </a:r>
            <a:endParaRPr lang="en-US" sz="1300" dirty="0">
              <a:latin typeface="メイリオ" panose="020B0604030504040204" pitchFamily="50" charset="-128"/>
              <a:ea typeface="メイリオ" panose="020B0604030504040204" pitchFamily="50" charset="-128"/>
            </a:endParaRPr>
          </a:p>
        </p:txBody>
      </p:sp>
      <p:sp>
        <p:nvSpPr>
          <p:cNvPr id="31" name="Text 6">
            <a:extLst>
              <a:ext uri="{FF2B5EF4-FFF2-40B4-BE49-F238E27FC236}">
                <a16:creationId xmlns:a16="http://schemas.microsoft.com/office/drawing/2014/main" id="{859B7776-633B-4EB8-939E-2F40912A0B26}"/>
              </a:ext>
            </a:extLst>
          </p:cNvPr>
          <p:cNvSpPr/>
          <p:nvPr/>
        </p:nvSpPr>
        <p:spPr>
          <a:xfrm>
            <a:off x="4872480" y="1647194"/>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接触〜入会・継続までの動線設計</a:t>
            </a:r>
            <a:endParaRPr lang="en-US" sz="10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7D44BDCF-0A55-B2C9-910D-3324635E44D1}"/>
              </a:ext>
            </a:extLst>
          </p:cNvPr>
          <p:cNvSpPr/>
          <p:nvPr/>
        </p:nvSpPr>
        <p:spPr>
          <a:xfrm>
            <a:off x="3996942" y="2067818"/>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3" name="Shape 8">
            <a:extLst>
              <a:ext uri="{FF2B5EF4-FFF2-40B4-BE49-F238E27FC236}">
                <a16:creationId xmlns:a16="http://schemas.microsoft.com/office/drawing/2014/main" id="{6B95D5FC-BCA7-C12E-16F3-F3982D7CB7FF}"/>
              </a:ext>
            </a:extLst>
          </p:cNvPr>
          <p:cNvSpPr/>
          <p:nvPr/>
        </p:nvSpPr>
        <p:spPr>
          <a:xfrm>
            <a:off x="4232400" y="215925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4" name="Text 9">
            <a:extLst>
              <a:ext uri="{FF2B5EF4-FFF2-40B4-BE49-F238E27FC236}">
                <a16:creationId xmlns:a16="http://schemas.microsoft.com/office/drawing/2014/main" id="{337B0579-C212-59E6-2BF8-06592B5DE9B2}"/>
              </a:ext>
            </a:extLst>
          </p:cNvPr>
          <p:cNvSpPr/>
          <p:nvPr/>
        </p:nvSpPr>
        <p:spPr>
          <a:xfrm>
            <a:off x="4232400" y="215925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02</a:t>
            </a:r>
            <a:endParaRPr lang="en-US" sz="1300" dirty="0">
              <a:latin typeface="メイリオ" panose="020B0604030504040204" pitchFamily="50" charset="-128"/>
              <a:ea typeface="メイリオ" panose="020B0604030504040204" pitchFamily="50" charset="-128"/>
            </a:endParaRPr>
          </a:p>
        </p:txBody>
      </p:sp>
      <p:sp>
        <p:nvSpPr>
          <p:cNvPr id="35" name="Text 10">
            <a:extLst>
              <a:ext uri="{FF2B5EF4-FFF2-40B4-BE49-F238E27FC236}">
                <a16:creationId xmlns:a16="http://schemas.microsoft.com/office/drawing/2014/main" id="{920D37BD-A1AA-216C-CD8A-FC40DD16D16E}"/>
              </a:ext>
            </a:extLst>
          </p:cNvPr>
          <p:cNvSpPr/>
          <p:nvPr/>
        </p:nvSpPr>
        <p:spPr>
          <a:xfrm>
            <a:off x="4872480" y="212268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LINEステップ配信シナリオ（</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4</a:t>
            </a: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-8</a:t>
            </a:r>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本</a:t>
            </a: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sz="1300" dirty="0">
              <a:latin typeface="メイリオ" panose="020B0604030504040204" pitchFamily="50" charset="-128"/>
              <a:ea typeface="メイリオ" panose="020B0604030504040204" pitchFamily="50" charset="-128"/>
            </a:endParaRPr>
          </a:p>
        </p:txBody>
      </p:sp>
      <p:sp>
        <p:nvSpPr>
          <p:cNvPr id="36" name="Text 11">
            <a:extLst>
              <a:ext uri="{FF2B5EF4-FFF2-40B4-BE49-F238E27FC236}">
                <a16:creationId xmlns:a16="http://schemas.microsoft.com/office/drawing/2014/main" id="{974E4765-6EBA-5838-ABF7-F21BBF0480C5}"/>
              </a:ext>
            </a:extLst>
          </p:cNvPr>
          <p:cNvSpPr/>
          <p:nvPr/>
        </p:nvSpPr>
        <p:spPr>
          <a:xfrm>
            <a:off x="4872480" y="241529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友だち追加直後〜成約誘導まで</a:t>
            </a:r>
            <a:endParaRPr lang="en-US" sz="1000" dirty="0">
              <a:latin typeface="メイリオ" panose="020B0604030504040204" pitchFamily="50" charset="-128"/>
              <a:ea typeface="メイリオ" panose="020B0604030504040204" pitchFamily="50" charset="-128"/>
            </a:endParaRPr>
          </a:p>
        </p:txBody>
      </p:sp>
      <p:sp>
        <p:nvSpPr>
          <p:cNvPr id="37" name="Shape 12">
            <a:extLst>
              <a:ext uri="{FF2B5EF4-FFF2-40B4-BE49-F238E27FC236}">
                <a16:creationId xmlns:a16="http://schemas.microsoft.com/office/drawing/2014/main" id="{D811E673-9797-08AA-F052-158BFDE9379B}"/>
              </a:ext>
            </a:extLst>
          </p:cNvPr>
          <p:cNvSpPr/>
          <p:nvPr/>
        </p:nvSpPr>
        <p:spPr>
          <a:xfrm>
            <a:off x="3996942" y="2835914"/>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8" name="Shape 13">
            <a:extLst>
              <a:ext uri="{FF2B5EF4-FFF2-40B4-BE49-F238E27FC236}">
                <a16:creationId xmlns:a16="http://schemas.microsoft.com/office/drawing/2014/main" id="{11CD1AF8-999B-AEAA-EA44-B774D877F777}"/>
              </a:ext>
            </a:extLst>
          </p:cNvPr>
          <p:cNvSpPr/>
          <p:nvPr/>
        </p:nvSpPr>
        <p:spPr>
          <a:xfrm>
            <a:off x="4232400" y="292735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9" name="Text 14">
            <a:extLst>
              <a:ext uri="{FF2B5EF4-FFF2-40B4-BE49-F238E27FC236}">
                <a16:creationId xmlns:a16="http://schemas.microsoft.com/office/drawing/2014/main" id="{39EC602B-88CD-63D2-D10B-5FB47EBB73C5}"/>
              </a:ext>
            </a:extLst>
          </p:cNvPr>
          <p:cNvSpPr/>
          <p:nvPr/>
        </p:nvSpPr>
        <p:spPr>
          <a:xfrm>
            <a:off x="4232400" y="292735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03</a:t>
            </a:r>
            <a:endParaRPr lang="en-US" sz="1300" dirty="0">
              <a:latin typeface="メイリオ" panose="020B0604030504040204" pitchFamily="50" charset="-128"/>
              <a:ea typeface="メイリオ" panose="020B0604030504040204" pitchFamily="50" charset="-128"/>
            </a:endParaRPr>
          </a:p>
        </p:txBody>
      </p:sp>
      <p:sp>
        <p:nvSpPr>
          <p:cNvPr id="40" name="Text 15">
            <a:extLst>
              <a:ext uri="{FF2B5EF4-FFF2-40B4-BE49-F238E27FC236}">
                <a16:creationId xmlns:a16="http://schemas.microsoft.com/office/drawing/2014/main" id="{0AEE18E8-A2E5-2400-F73C-D5891E9A42FC}"/>
              </a:ext>
            </a:extLst>
          </p:cNvPr>
          <p:cNvSpPr/>
          <p:nvPr/>
        </p:nvSpPr>
        <p:spPr>
          <a:xfrm>
            <a:off x="4872480" y="2890778"/>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42" name="Text 16">
            <a:extLst>
              <a:ext uri="{FF2B5EF4-FFF2-40B4-BE49-F238E27FC236}">
                <a16:creationId xmlns:a16="http://schemas.microsoft.com/office/drawing/2014/main" id="{B4775A80-7B08-FF59-7696-55B7BFFE29C0}"/>
              </a:ext>
            </a:extLst>
          </p:cNvPr>
          <p:cNvSpPr/>
          <p:nvPr/>
        </p:nvSpPr>
        <p:spPr>
          <a:xfrm>
            <a:off x="4872480" y="3183386"/>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43" name="Shape 17">
            <a:extLst>
              <a:ext uri="{FF2B5EF4-FFF2-40B4-BE49-F238E27FC236}">
                <a16:creationId xmlns:a16="http://schemas.microsoft.com/office/drawing/2014/main" id="{3D356BBE-5EFA-8143-1308-9A8F66D3D8F4}"/>
              </a:ext>
            </a:extLst>
          </p:cNvPr>
          <p:cNvSpPr/>
          <p:nvPr/>
        </p:nvSpPr>
        <p:spPr>
          <a:xfrm>
            <a:off x="3996942" y="3604010"/>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44" name="Shape 18">
            <a:extLst>
              <a:ext uri="{FF2B5EF4-FFF2-40B4-BE49-F238E27FC236}">
                <a16:creationId xmlns:a16="http://schemas.microsoft.com/office/drawing/2014/main" id="{347BFA19-EB93-7D44-5D29-87E8A0640967}"/>
              </a:ext>
            </a:extLst>
          </p:cNvPr>
          <p:cNvSpPr/>
          <p:nvPr/>
        </p:nvSpPr>
        <p:spPr>
          <a:xfrm>
            <a:off x="4232400" y="369545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Text 19">
            <a:extLst>
              <a:ext uri="{FF2B5EF4-FFF2-40B4-BE49-F238E27FC236}">
                <a16:creationId xmlns:a16="http://schemas.microsoft.com/office/drawing/2014/main" id="{808039CB-8A35-B1E6-353C-C961982DAEEE}"/>
              </a:ext>
            </a:extLst>
          </p:cNvPr>
          <p:cNvSpPr/>
          <p:nvPr/>
        </p:nvSpPr>
        <p:spPr>
          <a:xfrm>
            <a:off x="4232400" y="369545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04</a:t>
            </a:r>
            <a:endParaRPr lang="en-US" sz="1300" dirty="0">
              <a:latin typeface="メイリオ" panose="020B0604030504040204" pitchFamily="50" charset="-128"/>
              <a:ea typeface="メイリオ" panose="020B0604030504040204" pitchFamily="50" charset="-128"/>
            </a:endParaRPr>
          </a:p>
        </p:txBody>
      </p:sp>
      <p:sp>
        <p:nvSpPr>
          <p:cNvPr id="46" name="Text 20">
            <a:extLst>
              <a:ext uri="{FF2B5EF4-FFF2-40B4-BE49-F238E27FC236}">
                <a16:creationId xmlns:a16="http://schemas.microsoft.com/office/drawing/2014/main" id="{5510FCD4-7246-36B3-3CB6-AE9EB64B95B8}"/>
              </a:ext>
            </a:extLst>
          </p:cNvPr>
          <p:cNvSpPr/>
          <p:nvPr/>
        </p:nvSpPr>
        <p:spPr>
          <a:xfrm>
            <a:off x="4872480" y="365887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セグメント設定</a:t>
            </a:r>
            <a:endParaRPr lang="en-US" sz="1300" dirty="0">
              <a:latin typeface="メイリオ" panose="020B0604030504040204" pitchFamily="50" charset="-128"/>
              <a:ea typeface="メイリオ" panose="020B0604030504040204" pitchFamily="50" charset="-128"/>
            </a:endParaRPr>
          </a:p>
        </p:txBody>
      </p:sp>
      <p:sp>
        <p:nvSpPr>
          <p:cNvPr id="47" name="Text 21">
            <a:extLst>
              <a:ext uri="{FF2B5EF4-FFF2-40B4-BE49-F238E27FC236}">
                <a16:creationId xmlns:a16="http://schemas.microsoft.com/office/drawing/2014/main" id="{30188B70-2DE7-6DC7-0865-6F6103AD5132}"/>
              </a:ext>
            </a:extLst>
          </p:cNvPr>
          <p:cNvSpPr/>
          <p:nvPr/>
        </p:nvSpPr>
        <p:spPr>
          <a:xfrm>
            <a:off x="4872480" y="395148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1000" dirty="0">
              <a:latin typeface="メイリオ" panose="020B0604030504040204" pitchFamily="50" charset="-128"/>
              <a:ea typeface="メイリオ" panose="020B0604030504040204" pitchFamily="50" charset="-128"/>
            </a:endParaRPr>
          </a:p>
        </p:txBody>
      </p:sp>
      <p:sp>
        <p:nvSpPr>
          <p:cNvPr id="49" name="Text 16">
            <a:extLst>
              <a:ext uri="{FF2B5EF4-FFF2-40B4-BE49-F238E27FC236}">
                <a16:creationId xmlns:a16="http://schemas.microsoft.com/office/drawing/2014/main" id="{5224712D-B17D-A02C-3D89-CC6242B38B83}"/>
              </a:ext>
            </a:extLst>
          </p:cNvPr>
          <p:cNvSpPr/>
          <p:nvPr/>
        </p:nvSpPr>
        <p:spPr>
          <a:xfrm>
            <a:off x="4872480" y="396519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a:latin typeface="メイリオ" panose="020B0604030504040204" pitchFamily="50" charset="-128"/>
                <a:ea typeface="メイリオ" panose="020B0604030504040204" pitchFamily="50" charset="-128"/>
              </a:rPr>
              <a:t>WEB</a:t>
            </a:r>
            <a:r>
              <a:rPr lang="ja-JP" altLang="en-US" sz="1000" dirty="0">
                <a:latin typeface="メイリオ" panose="020B0604030504040204" pitchFamily="50" charset="-128"/>
                <a:ea typeface="メイリオ" panose="020B0604030504040204" pitchFamily="50" charset="-128"/>
              </a:rPr>
              <a:t>サイトアクション、</a:t>
            </a:r>
            <a:r>
              <a:rPr lang="en-US" altLang="ja-JP" sz="1000" dirty="0">
                <a:latin typeface="メイリオ" panose="020B0604030504040204" pitchFamily="50" charset="-128"/>
                <a:ea typeface="メイリオ" panose="020B0604030504040204" pitchFamily="50" charset="-128"/>
              </a:rPr>
              <a:t>LINE</a:t>
            </a:r>
            <a:r>
              <a:rPr lang="ja-JP" altLang="en-US" sz="1000" dirty="0">
                <a:latin typeface="メイリオ" panose="020B0604030504040204" pitchFamily="50" charset="-128"/>
                <a:ea typeface="メイリオ" panose="020B0604030504040204" pitchFamily="50" charset="-128"/>
              </a:rPr>
              <a:t>上アクションのスコアリング 等を活用</a:t>
            </a:r>
            <a:endParaRPr lang="en-US" altLang="ja-JP" sz="1000" dirty="0">
              <a:latin typeface="メイリオ" panose="020B0604030504040204" pitchFamily="50" charset="-128"/>
              <a:ea typeface="メイリオ" panose="020B0604030504040204" pitchFamily="50" charset="-128"/>
            </a:endParaRPr>
          </a:p>
        </p:txBody>
      </p:sp>
      <p:sp>
        <p:nvSpPr>
          <p:cNvPr id="52" name="Shape 12">
            <a:extLst>
              <a:ext uri="{FF2B5EF4-FFF2-40B4-BE49-F238E27FC236}">
                <a16:creationId xmlns:a16="http://schemas.microsoft.com/office/drawing/2014/main" id="{FEE65136-327D-500B-12B2-F775BA661CA0}"/>
              </a:ext>
            </a:extLst>
          </p:cNvPr>
          <p:cNvSpPr/>
          <p:nvPr/>
        </p:nvSpPr>
        <p:spPr>
          <a:xfrm>
            <a:off x="3996942" y="4335530"/>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53" name="Shape 13">
            <a:extLst>
              <a:ext uri="{FF2B5EF4-FFF2-40B4-BE49-F238E27FC236}">
                <a16:creationId xmlns:a16="http://schemas.microsoft.com/office/drawing/2014/main" id="{4E57D180-2654-0AC3-340A-A6D2C576BF28}"/>
              </a:ext>
            </a:extLst>
          </p:cNvPr>
          <p:cNvSpPr/>
          <p:nvPr/>
        </p:nvSpPr>
        <p:spPr>
          <a:xfrm>
            <a:off x="4232400" y="442697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5" name="Text 14">
            <a:extLst>
              <a:ext uri="{FF2B5EF4-FFF2-40B4-BE49-F238E27FC236}">
                <a16:creationId xmlns:a16="http://schemas.microsoft.com/office/drawing/2014/main" id="{246080CC-996D-7BA0-3140-EC427EE9AC6A}"/>
              </a:ext>
            </a:extLst>
          </p:cNvPr>
          <p:cNvSpPr/>
          <p:nvPr/>
        </p:nvSpPr>
        <p:spPr>
          <a:xfrm>
            <a:off x="4232400" y="442697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05</a:t>
            </a:r>
            <a:endParaRPr lang="en-US" sz="1300" dirty="0">
              <a:latin typeface="メイリオ" panose="020B0604030504040204" pitchFamily="50" charset="-128"/>
              <a:ea typeface="メイリオ" panose="020B0604030504040204" pitchFamily="50" charset="-128"/>
            </a:endParaRPr>
          </a:p>
        </p:txBody>
      </p:sp>
      <p:sp>
        <p:nvSpPr>
          <p:cNvPr id="56" name="Text 15">
            <a:extLst>
              <a:ext uri="{FF2B5EF4-FFF2-40B4-BE49-F238E27FC236}">
                <a16:creationId xmlns:a16="http://schemas.microsoft.com/office/drawing/2014/main" id="{613A87C0-F021-8C8E-C0C8-7A94F347FD40}"/>
              </a:ext>
            </a:extLst>
          </p:cNvPr>
          <p:cNvSpPr/>
          <p:nvPr/>
        </p:nvSpPr>
        <p:spPr>
          <a:xfrm>
            <a:off x="4872480" y="439039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58" name="Text 16">
            <a:extLst>
              <a:ext uri="{FF2B5EF4-FFF2-40B4-BE49-F238E27FC236}">
                <a16:creationId xmlns:a16="http://schemas.microsoft.com/office/drawing/2014/main" id="{9DA36E29-5E4C-827F-3F47-7F5A66283E74}"/>
              </a:ext>
            </a:extLst>
          </p:cNvPr>
          <p:cNvSpPr/>
          <p:nvPr/>
        </p:nvSpPr>
        <p:spPr>
          <a:xfrm>
            <a:off x="4872480" y="468300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59" name="Shape 12">
            <a:extLst>
              <a:ext uri="{FF2B5EF4-FFF2-40B4-BE49-F238E27FC236}">
                <a16:creationId xmlns:a16="http://schemas.microsoft.com/office/drawing/2014/main" id="{161B3C95-AA02-BAC5-D24B-86C62582A0EE}"/>
              </a:ext>
            </a:extLst>
          </p:cNvPr>
          <p:cNvSpPr/>
          <p:nvPr/>
        </p:nvSpPr>
        <p:spPr>
          <a:xfrm>
            <a:off x="3996942" y="5085338"/>
            <a:ext cx="5180076" cy="658368"/>
          </a:xfrm>
          <a:prstGeom prst="roundRect">
            <a:avLst>
              <a:gd name="adj" fmla="val 11111"/>
            </a:avLst>
          </a:prstGeom>
          <a:solidFill>
            <a:schemeClr val="bg1"/>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60" name="Shape 13">
            <a:extLst>
              <a:ext uri="{FF2B5EF4-FFF2-40B4-BE49-F238E27FC236}">
                <a16:creationId xmlns:a16="http://schemas.microsoft.com/office/drawing/2014/main" id="{69FCAD8A-755C-CC30-3ED3-D5F11C11A363}"/>
              </a:ext>
            </a:extLst>
          </p:cNvPr>
          <p:cNvSpPr/>
          <p:nvPr/>
        </p:nvSpPr>
        <p:spPr>
          <a:xfrm>
            <a:off x="4232400" y="517677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4" name="Text 14">
            <a:extLst>
              <a:ext uri="{FF2B5EF4-FFF2-40B4-BE49-F238E27FC236}">
                <a16:creationId xmlns:a16="http://schemas.microsoft.com/office/drawing/2014/main" id="{6301A83B-57F7-303A-D503-58842AD3A2C9}"/>
              </a:ext>
            </a:extLst>
          </p:cNvPr>
          <p:cNvSpPr/>
          <p:nvPr/>
        </p:nvSpPr>
        <p:spPr>
          <a:xfrm>
            <a:off x="4232400" y="517677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06</a:t>
            </a:r>
            <a:endParaRPr lang="en-US" sz="1300" dirty="0">
              <a:latin typeface="メイリオ" panose="020B0604030504040204" pitchFamily="50" charset="-128"/>
              <a:ea typeface="メイリオ" panose="020B0604030504040204" pitchFamily="50" charset="-128"/>
            </a:endParaRPr>
          </a:p>
        </p:txBody>
      </p:sp>
      <p:sp>
        <p:nvSpPr>
          <p:cNvPr id="70" name="Text 15">
            <a:extLst>
              <a:ext uri="{FF2B5EF4-FFF2-40B4-BE49-F238E27FC236}">
                <a16:creationId xmlns:a16="http://schemas.microsoft.com/office/drawing/2014/main" id="{26FF7A4F-5A58-E1CE-107D-E1780C611FE8}"/>
              </a:ext>
            </a:extLst>
          </p:cNvPr>
          <p:cNvSpPr/>
          <p:nvPr/>
        </p:nvSpPr>
        <p:spPr>
          <a:xfrm>
            <a:off x="4872480" y="514020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季節・時期ごとの企画配信</a:t>
            </a:r>
            <a:endParaRPr lang="en-US" altLang="ja-JP" sz="1300" dirty="0">
              <a:latin typeface="メイリオ" panose="020B0604030504040204" pitchFamily="50" charset="-128"/>
              <a:ea typeface="メイリオ" panose="020B0604030504040204" pitchFamily="50" charset="-128"/>
            </a:endParaRPr>
          </a:p>
        </p:txBody>
      </p:sp>
      <p:sp>
        <p:nvSpPr>
          <p:cNvPr id="71" name="Text 16">
            <a:extLst>
              <a:ext uri="{FF2B5EF4-FFF2-40B4-BE49-F238E27FC236}">
                <a16:creationId xmlns:a16="http://schemas.microsoft.com/office/drawing/2014/main" id="{71DABE45-88FB-C5ED-EF05-90FD4F3C4A0B}"/>
              </a:ext>
            </a:extLst>
          </p:cNvPr>
          <p:cNvSpPr/>
          <p:nvPr/>
        </p:nvSpPr>
        <p:spPr>
          <a:xfrm>
            <a:off x="4872480" y="543281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繁忙期に連動</a:t>
            </a:r>
            <a:r>
              <a:rPr lang="ja-JP" altLang="en-US" sz="1000" dirty="0">
                <a:solidFill>
                  <a:srgbClr val="64748B"/>
                </a:solidFill>
                <a:latin typeface="メイリオ" panose="020B0604030504040204" pitchFamily="50" charset="-128"/>
                <a:ea typeface="メイリオ" panose="020B0604030504040204" pitchFamily="50" charset="-128"/>
                <a:cs typeface="Calibri" pitchFamily="34" charset="-120"/>
              </a:rPr>
              <a:t>・各ユーザー層をターゲットと</a:t>
            </a:r>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したキャンペーン案</a:t>
            </a:r>
            <a:endParaRPr lang="en-US" altLang="ja-JP" sz="1000" dirty="0">
              <a:latin typeface="メイリオ" panose="020B0604030504040204" pitchFamily="50" charset="-128"/>
              <a:ea typeface="メイリオ" panose="020B0604030504040204" pitchFamily="50" charset="-128"/>
            </a:endParaRPr>
          </a:p>
        </p:txBody>
      </p:sp>
      <p:sp>
        <p:nvSpPr>
          <p:cNvPr id="74" name="Shape 12">
            <a:extLst>
              <a:ext uri="{FF2B5EF4-FFF2-40B4-BE49-F238E27FC236}">
                <a16:creationId xmlns:a16="http://schemas.microsoft.com/office/drawing/2014/main" id="{B291868D-9C9C-066C-CFF8-87B199CEA5CF}"/>
              </a:ext>
            </a:extLst>
          </p:cNvPr>
          <p:cNvSpPr/>
          <p:nvPr/>
        </p:nvSpPr>
        <p:spPr>
          <a:xfrm>
            <a:off x="3996942" y="5838536"/>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75" name="Shape 13">
            <a:extLst>
              <a:ext uri="{FF2B5EF4-FFF2-40B4-BE49-F238E27FC236}">
                <a16:creationId xmlns:a16="http://schemas.microsoft.com/office/drawing/2014/main" id="{50DF7319-3B00-9111-2E31-8AC337BA4D33}"/>
              </a:ext>
            </a:extLst>
          </p:cNvPr>
          <p:cNvSpPr/>
          <p:nvPr/>
        </p:nvSpPr>
        <p:spPr>
          <a:xfrm>
            <a:off x="4232400" y="5929976"/>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76" name="Text 14">
            <a:extLst>
              <a:ext uri="{FF2B5EF4-FFF2-40B4-BE49-F238E27FC236}">
                <a16:creationId xmlns:a16="http://schemas.microsoft.com/office/drawing/2014/main" id="{0C235F7A-0F23-E972-590D-0F6705D7497F}"/>
              </a:ext>
            </a:extLst>
          </p:cNvPr>
          <p:cNvSpPr/>
          <p:nvPr/>
        </p:nvSpPr>
        <p:spPr>
          <a:xfrm>
            <a:off x="4232400" y="5929976"/>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07</a:t>
            </a:r>
            <a:endParaRPr lang="en-US" sz="1300" dirty="0">
              <a:latin typeface="メイリオ" panose="020B0604030504040204" pitchFamily="50" charset="-128"/>
              <a:ea typeface="メイリオ" panose="020B0604030504040204" pitchFamily="50" charset="-128"/>
            </a:endParaRPr>
          </a:p>
        </p:txBody>
      </p:sp>
      <p:sp>
        <p:nvSpPr>
          <p:cNvPr id="77" name="Text 15">
            <a:extLst>
              <a:ext uri="{FF2B5EF4-FFF2-40B4-BE49-F238E27FC236}">
                <a16:creationId xmlns:a16="http://schemas.microsoft.com/office/drawing/2014/main" id="{A8806AA1-15C3-799B-4DF6-265E528EF9FE}"/>
              </a:ext>
            </a:extLst>
          </p:cNvPr>
          <p:cNvSpPr/>
          <p:nvPr/>
        </p:nvSpPr>
        <p:spPr>
          <a:xfrm>
            <a:off x="4872480" y="5893400"/>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各種設定の更新・改善</a:t>
            </a:r>
            <a:endParaRPr lang="en-US" altLang="ja-JP" sz="1300" dirty="0">
              <a:latin typeface="メイリオ" panose="020B0604030504040204" pitchFamily="50" charset="-128"/>
              <a:ea typeface="メイリオ" panose="020B0604030504040204" pitchFamily="50" charset="-128"/>
            </a:endParaRPr>
          </a:p>
        </p:txBody>
      </p:sp>
      <p:sp>
        <p:nvSpPr>
          <p:cNvPr id="78" name="Text 16">
            <a:extLst>
              <a:ext uri="{FF2B5EF4-FFF2-40B4-BE49-F238E27FC236}">
                <a16:creationId xmlns:a16="http://schemas.microsoft.com/office/drawing/2014/main" id="{60F4341A-D01A-FB28-EE9D-FBD6E531C1A2}"/>
              </a:ext>
            </a:extLst>
          </p:cNvPr>
          <p:cNvSpPr/>
          <p:nvPr/>
        </p:nvSpPr>
        <p:spPr>
          <a:xfrm>
            <a:off x="4872480" y="618600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000" dirty="0">
                <a:latin typeface="メイリオ" panose="020B0604030504040204" pitchFamily="50" charset="-128"/>
                <a:ea typeface="メイリオ" panose="020B0604030504040204" pitchFamily="50" charset="-128"/>
              </a:rPr>
              <a:t>あいさつメッセージ、リッチメニュー、</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の改修（</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は別途費用）</a:t>
            </a:r>
            <a:endParaRPr lang="en-US" altLang="ja-JP" sz="1000" dirty="0">
              <a:latin typeface="メイリオ" panose="020B0604030504040204" pitchFamily="50" charset="-128"/>
              <a:ea typeface="メイリオ" panose="020B0604030504040204" pitchFamily="50" charset="-128"/>
            </a:endParaRPr>
          </a:p>
        </p:txBody>
      </p:sp>
      <p:sp>
        <p:nvSpPr>
          <p:cNvPr id="79" name="テキスト ボックス 78">
            <a:extLst>
              <a:ext uri="{FF2B5EF4-FFF2-40B4-BE49-F238E27FC236}">
                <a16:creationId xmlns:a16="http://schemas.microsoft.com/office/drawing/2014/main" id="{4C2DE5F8-8AC0-6067-4D4C-B9D9A832AFB8}"/>
              </a:ext>
            </a:extLst>
          </p:cNvPr>
          <p:cNvSpPr txBox="1"/>
          <p:nvPr/>
        </p:nvSpPr>
        <p:spPr>
          <a:xfrm>
            <a:off x="320847" y="1664842"/>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初期費用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E134C725-7D1E-AE55-EE5C-49EE0EE87D93}"/>
              </a:ext>
            </a:extLst>
          </p:cNvPr>
          <p:cNvSpPr txBox="1"/>
          <p:nvPr/>
        </p:nvSpPr>
        <p:spPr>
          <a:xfrm>
            <a:off x="320847" y="2645729"/>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月額費用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cxnSp>
        <p:nvCxnSpPr>
          <p:cNvPr id="82" name="直線コネクタ 81">
            <a:extLst>
              <a:ext uri="{FF2B5EF4-FFF2-40B4-BE49-F238E27FC236}">
                <a16:creationId xmlns:a16="http://schemas.microsoft.com/office/drawing/2014/main" id="{831B96C5-FD9C-7953-5A0F-36510DDC3A7B}"/>
              </a:ext>
            </a:extLst>
          </p:cNvPr>
          <p:cNvCxnSpPr>
            <a:cxnSpLocks/>
            <a:stCxn id="79" idx="3"/>
            <a:endCxn id="3" idx="1"/>
          </p:cNvCxnSpPr>
          <p:nvPr/>
        </p:nvCxnSpPr>
        <p:spPr>
          <a:xfrm flipV="1">
            <a:off x="3121307" y="1628906"/>
            <a:ext cx="875635" cy="431784"/>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a16:creationId xmlns:a16="http://schemas.microsoft.com/office/drawing/2014/main" id="{6098E9A1-7354-0021-8518-053452298071}"/>
              </a:ext>
            </a:extLst>
          </p:cNvPr>
          <p:cNvCxnSpPr>
            <a:cxnSpLocks/>
            <a:stCxn id="79" idx="3"/>
            <a:endCxn id="32" idx="1"/>
          </p:cNvCxnSpPr>
          <p:nvPr/>
        </p:nvCxnSpPr>
        <p:spPr>
          <a:xfrm>
            <a:off x="3121307" y="2060690"/>
            <a:ext cx="875635" cy="336312"/>
          </a:xfrm>
          <a:prstGeom prst="line">
            <a:avLst/>
          </a:prstGeom>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4BFC78F3-17B4-F007-0507-0BCEB9DFB526}"/>
              </a:ext>
            </a:extLst>
          </p:cNvPr>
          <p:cNvCxnSpPr>
            <a:cxnSpLocks/>
            <a:stCxn id="79" idx="3"/>
            <a:endCxn id="37" idx="1"/>
          </p:cNvCxnSpPr>
          <p:nvPr/>
        </p:nvCxnSpPr>
        <p:spPr>
          <a:xfrm>
            <a:off x="3121307" y="2060690"/>
            <a:ext cx="875635" cy="1104408"/>
          </a:xfrm>
          <a:prstGeom prst="line">
            <a:avLst/>
          </a:prstGeom>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E053B786-BB0C-C1E1-76B7-A9573A626CCC}"/>
              </a:ext>
            </a:extLst>
          </p:cNvPr>
          <p:cNvCxnSpPr>
            <a:cxnSpLocks/>
            <a:stCxn id="79" idx="3"/>
            <a:endCxn id="43" idx="1"/>
          </p:cNvCxnSpPr>
          <p:nvPr/>
        </p:nvCxnSpPr>
        <p:spPr>
          <a:xfrm>
            <a:off x="3121307" y="2060690"/>
            <a:ext cx="875635" cy="1872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93" name="直線コネクタ 92">
            <a:extLst>
              <a:ext uri="{FF2B5EF4-FFF2-40B4-BE49-F238E27FC236}">
                <a16:creationId xmlns:a16="http://schemas.microsoft.com/office/drawing/2014/main" id="{903C918B-3600-6FEA-8902-E84AA7410C48}"/>
              </a:ext>
            </a:extLst>
          </p:cNvPr>
          <p:cNvCxnSpPr>
            <a:cxnSpLocks/>
            <a:stCxn id="79" idx="3"/>
            <a:endCxn id="52" idx="1"/>
          </p:cNvCxnSpPr>
          <p:nvPr/>
        </p:nvCxnSpPr>
        <p:spPr>
          <a:xfrm>
            <a:off x="3121307" y="2060690"/>
            <a:ext cx="875635" cy="2604024"/>
          </a:xfrm>
          <a:prstGeom prst="line">
            <a:avLst/>
          </a:prstGeom>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a16:creationId xmlns:a16="http://schemas.microsoft.com/office/drawing/2014/main" id="{C69A1662-C040-7006-503F-B8153E815781}"/>
              </a:ext>
            </a:extLst>
          </p:cNvPr>
          <p:cNvCxnSpPr>
            <a:cxnSpLocks/>
            <a:stCxn id="80" idx="3"/>
            <a:endCxn id="59" idx="1"/>
          </p:cNvCxnSpPr>
          <p:nvPr/>
        </p:nvCxnSpPr>
        <p:spPr>
          <a:xfrm>
            <a:off x="3121307" y="3041577"/>
            <a:ext cx="875635" cy="23729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a16:creationId xmlns:a16="http://schemas.microsoft.com/office/drawing/2014/main" id="{A951076B-2FA5-076D-22CD-6FECF9562464}"/>
              </a:ext>
            </a:extLst>
          </p:cNvPr>
          <p:cNvCxnSpPr>
            <a:cxnSpLocks/>
            <a:stCxn id="80" idx="3"/>
            <a:endCxn id="74" idx="1"/>
          </p:cNvCxnSpPr>
          <p:nvPr/>
        </p:nvCxnSpPr>
        <p:spPr>
          <a:xfrm>
            <a:off x="3121307" y="3041577"/>
            <a:ext cx="875635" cy="31261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1" name="テキスト ボックス 110">
            <a:extLst>
              <a:ext uri="{FF2B5EF4-FFF2-40B4-BE49-F238E27FC236}">
                <a16:creationId xmlns:a16="http://schemas.microsoft.com/office/drawing/2014/main" id="{082BA8EB-3EC9-6EAE-B9FB-1019DA2907F6}"/>
              </a:ext>
            </a:extLst>
          </p:cNvPr>
          <p:cNvSpPr txBox="1"/>
          <p:nvPr/>
        </p:nvSpPr>
        <p:spPr>
          <a:xfrm>
            <a:off x="7438779" y="5177010"/>
            <a:ext cx="1581647" cy="246221"/>
          </a:xfrm>
          <a:prstGeom prst="rect">
            <a:avLst/>
          </a:prstGeom>
          <a:noFill/>
        </p:spPr>
        <p:txBody>
          <a:bodyPr wrap="square">
            <a:spAutoFit/>
          </a:bodyPr>
          <a:lstStyle/>
          <a:p>
            <a:pPr algn="ctr"/>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本数により金額変動</a:t>
            </a:r>
          </a:p>
        </p:txBody>
      </p:sp>
      <p:sp>
        <p:nvSpPr>
          <p:cNvPr id="20" name="Shape 12">
            <a:extLst>
              <a:ext uri="{FF2B5EF4-FFF2-40B4-BE49-F238E27FC236}">
                <a16:creationId xmlns:a16="http://schemas.microsoft.com/office/drawing/2014/main" id="{18C0BF3B-C933-B900-F923-9B5EF5F7FBFF}"/>
              </a:ext>
            </a:extLst>
          </p:cNvPr>
          <p:cNvSpPr/>
          <p:nvPr/>
        </p:nvSpPr>
        <p:spPr>
          <a:xfrm>
            <a:off x="286011" y="4017770"/>
            <a:ext cx="3214833" cy="1106171"/>
          </a:xfrm>
          <a:prstGeom prst="roundRect">
            <a:avLst>
              <a:gd name="adj" fmla="val 11111"/>
            </a:avLst>
          </a:prstGeom>
          <a:solidFill>
            <a:srgbClr val="FFFF00">
              <a:alpha val="70000"/>
            </a:srgb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3" name="Shape 3">
            <a:extLst>
              <a:ext uri="{FF2B5EF4-FFF2-40B4-BE49-F238E27FC236}">
                <a16:creationId xmlns:a16="http://schemas.microsoft.com/office/drawing/2014/main" id="{A8583825-051F-63CB-E5DA-C6D15505A435}"/>
              </a:ext>
            </a:extLst>
          </p:cNvPr>
          <p:cNvSpPr/>
          <p:nvPr/>
        </p:nvSpPr>
        <p:spPr>
          <a:xfrm>
            <a:off x="396037" y="414691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6" name="Text 4">
            <a:extLst>
              <a:ext uri="{FF2B5EF4-FFF2-40B4-BE49-F238E27FC236}">
                <a16:creationId xmlns:a16="http://schemas.microsoft.com/office/drawing/2014/main" id="{3C6030FF-300A-A8F4-53D7-7136504B9465}"/>
              </a:ext>
            </a:extLst>
          </p:cNvPr>
          <p:cNvSpPr/>
          <p:nvPr/>
        </p:nvSpPr>
        <p:spPr>
          <a:xfrm>
            <a:off x="396037" y="414691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01</a:t>
            </a:r>
            <a:endParaRPr lang="en-US" sz="1300" dirty="0">
              <a:latin typeface="メイリオ" panose="020B0604030504040204" pitchFamily="50" charset="-128"/>
              <a:ea typeface="メイリオ" panose="020B0604030504040204" pitchFamily="50" charset="-128"/>
            </a:endParaRPr>
          </a:p>
        </p:txBody>
      </p:sp>
      <p:sp>
        <p:nvSpPr>
          <p:cNvPr id="28" name="Shape 13">
            <a:extLst>
              <a:ext uri="{FF2B5EF4-FFF2-40B4-BE49-F238E27FC236}">
                <a16:creationId xmlns:a16="http://schemas.microsoft.com/office/drawing/2014/main" id="{BA6E3B17-14AB-43B1-EBF3-8D9704B6BB11}"/>
              </a:ext>
            </a:extLst>
          </p:cNvPr>
          <p:cNvSpPr/>
          <p:nvPr/>
        </p:nvSpPr>
        <p:spPr>
          <a:xfrm>
            <a:off x="1134415" y="4146914"/>
            <a:ext cx="502920" cy="475488"/>
          </a:xfrm>
          <a:prstGeom prst="roundRect">
            <a:avLst>
              <a:gd name="adj" fmla="val 11538"/>
            </a:avLst>
          </a:prstGeom>
          <a:solidFill>
            <a:srgbClr val="1E2761"/>
          </a:solidFill>
          <a:ln w="12700">
            <a:solidFill>
              <a:srgbClr val="1E2761"/>
            </a:solidFill>
            <a:prstDash val="solid"/>
          </a:ln>
        </p:spPr>
        <p:txBody>
          <a:bodyPr anchor="ctr"/>
          <a:lstStyle/>
          <a:p>
            <a:pPr algn="ctr"/>
            <a:r>
              <a:rPr lang="en-US" altLang="ja-JP" sz="1400" b="1" dirty="0">
                <a:solidFill>
                  <a:srgbClr val="CADCFC"/>
                </a:solidFill>
                <a:latin typeface="メイリオ" panose="020B0604030504040204" pitchFamily="50" charset="-128"/>
                <a:ea typeface="メイリオ" panose="020B0604030504040204" pitchFamily="50" charset="-128"/>
                <a:cs typeface="Calibri" pitchFamily="34" charset="-120"/>
              </a:rPr>
              <a:t>05</a:t>
            </a:r>
            <a:endParaRPr lang="en-US" altLang="ja-JP" sz="1400" dirty="0">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B64D3BA7-9F12-14DB-A4FB-CDB1ED52D238}"/>
              </a:ext>
            </a:extLst>
          </p:cNvPr>
          <p:cNvSpPr txBox="1"/>
          <p:nvPr/>
        </p:nvSpPr>
        <p:spPr>
          <a:xfrm>
            <a:off x="850134" y="4251844"/>
            <a:ext cx="2789430" cy="738664"/>
          </a:xfrm>
          <a:prstGeom prst="rect">
            <a:avLst/>
          </a:prstGeom>
          <a:noFill/>
        </p:spPr>
        <p:txBody>
          <a:bodyPr wrap="square">
            <a:spAutoFit/>
          </a:bodyPr>
          <a:lstStyle/>
          <a:p>
            <a:r>
              <a:rPr kumimoji="1" lang="ja-JP" altLang="en-US" sz="1400" b="1" dirty="0">
                <a:latin typeface="メイリオ" panose="020B0604030504040204" pitchFamily="50" charset="-128"/>
                <a:ea typeface="メイリオ" panose="020B0604030504040204" pitchFamily="50" charset="-128"/>
              </a:rPr>
              <a:t>～　　　 の修正・調整も</a:t>
            </a:r>
            <a:endParaRPr lang="en-US" altLang="ja-JP" sz="1400" b="1" dirty="0">
              <a:latin typeface="メイリオ" panose="020B0604030504040204" pitchFamily="50" charset="-128"/>
              <a:ea typeface="メイリオ" panose="020B0604030504040204" pitchFamily="50" charset="-128"/>
            </a:endParaRPr>
          </a:p>
          <a:p>
            <a:endParaRPr kumimoji="1" lang="en-US" altLang="ja-JP" sz="1400" b="1" dirty="0">
              <a:latin typeface="メイリオ" panose="020B0604030504040204" pitchFamily="50" charset="-128"/>
              <a:ea typeface="メイリオ" panose="020B0604030504040204" pitchFamily="50" charset="-128"/>
            </a:endParaRPr>
          </a:p>
          <a:p>
            <a:r>
              <a:rPr lang="ja-JP" altLang="en-US" sz="1400" b="1" dirty="0">
                <a:latin typeface="メイリオ" panose="020B0604030504040204" pitchFamily="50" charset="-128"/>
                <a:ea typeface="メイリオ" panose="020B0604030504040204" pitchFamily="50" charset="-128"/>
              </a:rPr>
              <a:t>月次対応内に含んでおります。</a:t>
            </a:r>
            <a:endParaRPr kumimoji="1" lang="en-US" altLang="ja-JP" sz="14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36935309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883023-AF7C-336C-849B-8B85A9ACB9B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445BC53-89DD-A84D-9D16-6634A99161D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9AB03A73-8782-5833-4EC4-7EE6E67551BB}"/>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都度発注プラン</a:t>
            </a:r>
          </a:p>
        </p:txBody>
      </p:sp>
      <p:sp>
        <p:nvSpPr>
          <p:cNvPr id="3" name="Google Shape;752;p28">
            <a:extLst>
              <a:ext uri="{FF2B5EF4-FFF2-40B4-BE49-F238E27FC236}">
                <a16:creationId xmlns:a16="http://schemas.microsoft.com/office/drawing/2014/main" id="{028B53B5-690E-5899-171E-A9074171D6E9}"/>
              </a:ext>
            </a:extLst>
          </p:cNvPr>
          <p:cNvSpPr txBox="1"/>
          <p:nvPr/>
        </p:nvSpPr>
        <p:spPr>
          <a:xfrm>
            <a:off x="3036570" y="859443"/>
            <a:ext cx="627632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LINEOA</a:t>
            </a:r>
            <a:r>
              <a:rPr lang="ja-JP" altLang="en-US" sz="1600" b="1" dirty="0">
                <a:latin typeface="メイリオ" panose="020B0604030504040204" pitchFamily="50" charset="-128"/>
                <a:ea typeface="メイリオ" panose="020B0604030504040204" pitchFamily="50" charset="-128"/>
                <a:cs typeface="Meiryo"/>
                <a:sym typeface="Meiryo"/>
              </a:rPr>
              <a:t>の運用業務・</a:t>
            </a:r>
            <a:r>
              <a:rPr lang="en-US" altLang="ja-JP" sz="1600" b="1" dirty="0">
                <a:latin typeface="メイリオ" panose="020B0604030504040204" pitchFamily="50" charset="-128"/>
                <a:ea typeface="メイリオ" panose="020B0604030504040204" pitchFamily="50" charset="-128"/>
                <a:cs typeface="Meiryo"/>
                <a:sym typeface="Meiryo"/>
              </a:rPr>
              <a:t>CR</a:t>
            </a:r>
            <a:r>
              <a:rPr lang="ja-JP" altLang="en-US" sz="1600" b="1" dirty="0">
                <a:latin typeface="メイリオ" panose="020B0604030504040204" pitchFamily="50" charset="-128"/>
                <a:ea typeface="メイリオ" panose="020B0604030504040204" pitchFamily="50" charset="-128"/>
                <a:cs typeface="Meiryo"/>
                <a:sym typeface="Meiryo"/>
              </a:rPr>
              <a:t>制作業務を一部外出ししてご依頼いただくことも可能です。</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12" name="正方形/長方形 11">
            <a:extLst>
              <a:ext uri="{FF2B5EF4-FFF2-40B4-BE49-F238E27FC236}">
                <a16:creationId xmlns:a16="http://schemas.microsoft.com/office/drawing/2014/main" id="{E2BC9744-CCD5-D85B-03E7-5884310FE6EE}"/>
              </a:ext>
            </a:extLst>
          </p:cNvPr>
          <p:cNvSpPr/>
          <p:nvPr/>
        </p:nvSpPr>
        <p:spPr>
          <a:xfrm>
            <a:off x="548883" y="1380214"/>
            <a:ext cx="8859613" cy="5081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3" name="テキスト ボックス 12">
            <a:extLst>
              <a:ext uri="{FF2B5EF4-FFF2-40B4-BE49-F238E27FC236}">
                <a16:creationId xmlns:a16="http://schemas.microsoft.com/office/drawing/2014/main" id="{B88E2B73-305C-9688-214C-1EF768E484BD}"/>
              </a:ext>
            </a:extLst>
          </p:cNvPr>
          <p:cNvSpPr txBox="1"/>
          <p:nvPr/>
        </p:nvSpPr>
        <p:spPr>
          <a:xfrm>
            <a:off x="706726" y="1569462"/>
            <a:ext cx="4963884" cy="253916"/>
          </a:xfrm>
          <a:prstGeom prst="rect">
            <a:avLst/>
          </a:prstGeom>
          <a:noFill/>
        </p:spPr>
        <p:txBody>
          <a:bodyPr wrap="square">
            <a:spAutoFit/>
          </a:bodyPr>
          <a:lstStyle/>
          <a:p>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&lt;</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追加作業における費用感　</a:t>
            </a:r>
            <a:r>
              <a:rPr lang="en-US" altLang="ja-JP" sz="900" dirty="0">
                <a:solidFill>
                  <a:srgbClr val="FF0000"/>
                </a:solidFill>
                <a:latin typeface="メイリオ" panose="020B0604030504040204" pitchFamily="50" charset="-128"/>
                <a:ea typeface="メイリオ" panose="020B0604030504040204" pitchFamily="50" charset="-128"/>
                <a:sym typeface="Meiryo"/>
              </a:rPr>
              <a:t>※</a:t>
            </a:r>
            <a:r>
              <a:rPr lang="ja-JP" altLang="en-US" sz="900" dirty="0">
                <a:solidFill>
                  <a:srgbClr val="FF0000"/>
                </a:solidFill>
                <a:latin typeface="メイリオ" panose="020B0604030504040204" pitchFamily="50" charset="-128"/>
                <a:ea typeface="メイリオ" panose="020B0604030504040204" pitchFamily="50" charset="-128"/>
                <a:sym typeface="Meiryo"/>
              </a:rPr>
              <a:t>作業量により変動する可能性がございます</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&gt;</a:t>
            </a:r>
            <a:endParaRPr lang="ja-JP" altLang="en-US" sz="1050" dirty="0">
              <a:solidFill>
                <a:schemeClr val="tx1">
                  <a:lumMod val="65000"/>
                  <a:lumOff val="35000"/>
                </a:schemeClr>
              </a:solidFill>
            </a:endParaRPr>
          </a:p>
        </p:txBody>
      </p:sp>
      <p:graphicFrame>
        <p:nvGraphicFramePr>
          <p:cNvPr id="14" name="表 13">
            <a:extLst>
              <a:ext uri="{FF2B5EF4-FFF2-40B4-BE49-F238E27FC236}">
                <a16:creationId xmlns:a16="http://schemas.microsoft.com/office/drawing/2014/main" id="{09C77DA6-2F75-12F7-39C7-7A6997364857}"/>
              </a:ext>
            </a:extLst>
          </p:cNvPr>
          <p:cNvGraphicFramePr>
            <a:graphicFrameLocks noGrp="1"/>
          </p:cNvGraphicFramePr>
          <p:nvPr/>
        </p:nvGraphicFramePr>
        <p:xfrm>
          <a:off x="706726" y="1862534"/>
          <a:ext cx="8543925" cy="4069730"/>
        </p:xfrm>
        <a:graphic>
          <a:graphicData uri="http://schemas.openxmlformats.org/drawingml/2006/table">
            <a:tbl>
              <a:tblPr/>
              <a:tblGrid>
                <a:gridCol w="1832575">
                  <a:extLst>
                    <a:ext uri="{9D8B030D-6E8A-4147-A177-3AD203B41FA5}">
                      <a16:colId xmlns:a16="http://schemas.microsoft.com/office/drawing/2014/main" val="861741390"/>
                    </a:ext>
                  </a:extLst>
                </a:gridCol>
                <a:gridCol w="1140808">
                  <a:extLst>
                    <a:ext uri="{9D8B030D-6E8A-4147-A177-3AD203B41FA5}">
                      <a16:colId xmlns:a16="http://schemas.microsoft.com/office/drawing/2014/main" val="2023292695"/>
                    </a:ext>
                  </a:extLst>
                </a:gridCol>
                <a:gridCol w="1140808">
                  <a:extLst>
                    <a:ext uri="{9D8B030D-6E8A-4147-A177-3AD203B41FA5}">
                      <a16:colId xmlns:a16="http://schemas.microsoft.com/office/drawing/2014/main" val="3807194112"/>
                    </a:ext>
                  </a:extLst>
                </a:gridCol>
                <a:gridCol w="315543">
                  <a:extLst>
                    <a:ext uri="{9D8B030D-6E8A-4147-A177-3AD203B41FA5}">
                      <a16:colId xmlns:a16="http://schemas.microsoft.com/office/drawing/2014/main" val="1897046241"/>
                    </a:ext>
                  </a:extLst>
                </a:gridCol>
                <a:gridCol w="1832575">
                  <a:extLst>
                    <a:ext uri="{9D8B030D-6E8A-4147-A177-3AD203B41FA5}">
                      <a16:colId xmlns:a16="http://schemas.microsoft.com/office/drawing/2014/main" val="286895173"/>
                    </a:ext>
                  </a:extLst>
                </a:gridCol>
                <a:gridCol w="1140808">
                  <a:extLst>
                    <a:ext uri="{9D8B030D-6E8A-4147-A177-3AD203B41FA5}">
                      <a16:colId xmlns:a16="http://schemas.microsoft.com/office/drawing/2014/main" val="241768133"/>
                    </a:ext>
                  </a:extLst>
                </a:gridCol>
                <a:gridCol w="1140808">
                  <a:extLst>
                    <a:ext uri="{9D8B030D-6E8A-4147-A177-3AD203B41FA5}">
                      <a16:colId xmlns:a16="http://schemas.microsoft.com/office/drawing/2014/main" val="3498780203"/>
                    </a:ext>
                  </a:extLst>
                </a:gridCol>
              </a:tblGrid>
              <a:tr h="290695">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内容</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l" fontAlgn="ctr">
                        <a:buNone/>
                      </a:pPr>
                      <a:endParaRPr lang="ja-JP" altLang="en-US" sz="1100" b="1"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月額</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extLst>
                  <a:ext uri="{0D108BD9-81ED-4DB2-BD59-A6C34878D82A}">
                    <a16:rowId xmlns:a16="http://schemas.microsoft.com/office/drawing/2014/main" val="156404078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アカウント開設</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API</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ツール導入</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2032470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プロフィール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ID</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rPr>
                        <a:t>¥200,000~</a:t>
                      </a:r>
                      <a:endParaRPr lang="en-US" altLang="ja-JP" sz="2800" b="0" i="0" u="none" strike="noStrike" dirty="0">
                        <a:solidFill>
                          <a:schemeClr val="tx1">
                            <a:lumMod val="50000"/>
                            <a:lumOff val="50000"/>
                          </a:schemeClr>
                        </a:solidFill>
                        <a:effectLst/>
                        <a:latin typeface="Arial" panose="020B0604020202020204" pitchFamily="34" charset="0"/>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7246626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リッチメニュー</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ログイン</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rPr>
                        <a:t>¥0</a:t>
                      </a:r>
                      <a:endParaRPr lang="en-US" altLang="ja-JP" sz="2800" b="0" i="0" u="none" strike="noStrike" dirty="0">
                        <a:solidFill>
                          <a:schemeClr val="tx1">
                            <a:lumMod val="50000"/>
                            <a:lumOff val="50000"/>
                          </a:schemeClr>
                        </a:solidFill>
                        <a:effectLst/>
                        <a:latin typeface="Arial" panose="020B0604020202020204" pitchFamily="34" charset="0"/>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843180495"/>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あいさつメッセージ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通知メッセージ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2956199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初期アンケート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チャットボット機能</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498230469"/>
                  </a:ext>
                </a:extLst>
              </a:tr>
              <a:tr h="290695">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KW</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の自動応答</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Chat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¥30,000~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13055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ステップ配信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Call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401113508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セグメント配信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決済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98971440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チャットタグ管理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予約管理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16021493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チャット対応</a:t>
                      </a:r>
                      <a:r>
                        <a:rPr lang="ja-JP" altLang="en-US" sz="700" b="0" i="0" u="none" strike="noStrike" dirty="0">
                          <a:solidFill>
                            <a:srgbClr val="FF0000"/>
                          </a:solidFill>
                          <a:effectLst/>
                          <a:latin typeface="メイリオ" panose="020B0604030504040204" pitchFamily="50" charset="-128"/>
                          <a:ea typeface="メイリオ" panose="020B0604030504040204" pitchFamily="50" charset="-128"/>
                        </a:rPr>
                        <a:t> </a:t>
                      </a:r>
                      <a:r>
                        <a:rPr lang="en-US" altLang="ja-JP" sz="700" b="0" i="0" u="none" strike="noStrike" dirty="0">
                          <a:solidFill>
                            <a:srgbClr val="FF0000"/>
                          </a:solidFill>
                          <a:effectLst/>
                          <a:latin typeface="メイリオ" panose="020B0604030504040204" pitchFamily="50" charset="-128"/>
                          <a:ea typeface="メイリオ" panose="020B0604030504040204" pitchFamily="50" charset="-128"/>
                        </a:rPr>
                        <a:t>※</a:t>
                      </a:r>
                      <a:r>
                        <a:rPr lang="ja-JP" altLang="en-US" sz="700" b="0" i="0" u="none" strike="noStrike" dirty="0">
                          <a:solidFill>
                            <a:srgbClr val="FF0000"/>
                          </a:solidFill>
                          <a:effectLst/>
                          <a:latin typeface="メイリオ" panose="020B0604030504040204" pitchFamily="50" charset="-128"/>
                          <a:ea typeface="メイリオ" panose="020B0604030504040204" pitchFamily="50" charset="-128"/>
                        </a:rPr>
                        <a:t>サポートは可能</a:t>
                      </a:r>
                      <a:endParaRPr lang="ja-JP" altLang="en-US" sz="1100" b="0" i="0" u="none" strike="noStrike" dirty="0">
                        <a:solidFill>
                          <a:srgbClr val="FF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¥100,000</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件数により変動</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919396613"/>
                  </a:ext>
                </a:extLst>
              </a:tr>
              <a:tr h="290695">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GA(CRM)</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レポート連携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80232177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クリエイティブ</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¥15,000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p>
                      <a:pPr marL="0" marR="0" lvl="0" indent="0" algn="ctr" defTabSz="914400" rtl="0" eaLnBrk="1" fontAlgn="ctr" latinLnBrk="0" hangingPunct="1">
                        <a:lnSpc>
                          <a:spcPct val="100000"/>
                        </a:lnSpc>
                        <a:spcBef>
                          <a:spcPts val="0"/>
                        </a:spcBef>
                        <a:spcAft>
                          <a:spcPts val="0"/>
                        </a:spcAft>
                        <a:buClrTx/>
                        <a:buSzTx/>
                        <a:buFontTx/>
                        <a:buNone/>
                        <a:tabLst/>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離脱防止ツール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p>
                      <a:pPr marL="0" marR="0" lvl="0" indent="0" algn="ctr" defTabSz="914400" rtl="0" eaLnBrk="1" fontAlgn="ctr" latinLnBrk="0" hangingPunct="1">
                        <a:lnSpc>
                          <a:spcPct val="100000"/>
                        </a:lnSpc>
                        <a:spcBef>
                          <a:spcPts val="0"/>
                        </a:spcBef>
                        <a:spcAft>
                          <a:spcPts val="0"/>
                        </a:spcAft>
                        <a:buClrTx/>
                        <a:buSzTx/>
                        <a:buFontTx/>
                        <a:buNone/>
                        <a:tabLst/>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98905920"/>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投稿作成</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サンクス</a:t>
                      </a: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誘導ツール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2117655704"/>
                  </a:ext>
                </a:extLst>
              </a:tr>
            </a:tbl>
          </a:graphicData>
        </a:graphic>
      </p:graphicFrame>
      <p:sp>
        <p:nvSpPr>
          <p:cNvPr id="5" name="テキスト ボックス 4">
            <a:extLst>
              <a:ext uri="{FF2B5EF4-FFF2-40B4-BE49-F238E27FC236}">
                <a16:creationId xmlns:a16="http://schemas.microsoft.com/office/drawing/2014/main" id="{F7D704DA-4ADC-402A-12BC-1D923B1E3B20}"/>
              </a:ext>
            </a:extLst>
          </p:cNvPr>
          <p:cNvSpPr txBox="1"/>
          <p:nvPr/>
        </p:nvSpPr>
        <p:spPr>
          <a:xfrm>
            <a:off x="1344877" y="6045252"/>
            <a:ext cx="7267622" cy="307777"/>
          </a:xfrm>
          <a:prstGeom prst="rect">
            <a:avLst/>
          </a:prstGeom>
          <a:noFill/>
        </p:spPr>
        <p:txBody>
          <a:bodyPr wrap="square">
            <a:spAutoFit/>
          </a:bodyPr>
          <a:lstStyle/>
          <a:p>
            <a:pPr algn="ctr"/>
            <a:r>
              <a:rPr lang="ja-JP" altLang="en-US" sz="1400" dirty="0">
                <a:solidFill>
                  <a:srgbClr val="FF0000"/>
                </a:solidFill>
                <a:latin typeface="メイリオ" panose="020B0604030504040204" pitchFamily="50" charset="-128"/>
                <a:ea typeface="メイリオ" panose="020B0604030504040204" pitchFamily="50" charset="-128"/>
                <a:sym typeface="Meiryo"/>
              </a:rPr>
              <a:t>貴社リソースの状況に応じて都度発注でのご依頼も各単価で受けさせていただきます。</a:t>
            </a:r>
            <a:endParaRPr lang="ja-JP" altLang="en-US" sz="1400" dirty="0"/>
          </a:p>
        </p:txBody>
      </p:sp>
      <p:sp>
        <p:nvSpPr>
          <p:cNvPr id="2" name="正方形/長方形 1">
            <a:extLst>
              <a:ext uri="{FF2B5EF4-FFF2-40B4-BE49-F238E27FC236}">
                <a16:creationId xmlns:a16="http://schemas.microsoft.com/office/drawing/2014/main" id="{80B84980-B4D9-2F75-F253-D767EB0FFCF5}"/>
              </a:ext>
            </a:extLst>
          </p:cNvPr>
          <p:cNvSpPr/>
          <p:nvPr/>
        </p:nvSpPr>
        <p:spPr>
          <a:xfrm>
            <a:off x="378823" y="1329288"/>
            <a:ext cx="9183188" cy="5219557"/>
          </a:xfrm>
          <a:prstGeom prst="rect">
            <a:avLst/>
          </a:prstGeom>
          <a:solidFill>
            <a:schemeClr val="bg1">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8808819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D17A57-A342-CB38-A7F8-9DB9EF16034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282D28B4-A2E3-FBF5-60E3-CBDCF57DCEE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8262C21F-1F4A-FEF6-A8ED-48C7EC229555}"/>
              </a:ext>
            </a:extLst>
          </p:cNvPr>
          <p:cNvSpPr/>
          <p:nvPr/>
        </p:nvSpPr>
        <p:spPr>
          <a:xfrm>
            <a:off x="3629572" y="3038203"/>
            <a:ext cx="2646878"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サポート体制</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09213406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正方形/長方形 5"/>
          <p:cNvSpPr/>
          <p:nvPr/>
        </p:nvSpPr>
        <p:spPr>
          <a:xfrm>
            <a:off x="300312" y="832762"/>
            <a:ext cx="9355994" cy="867143"/>
          </a:xfrm>
          <a:prstGeom prst="rect">
            <a:avLst/>
          </a:prstGeom>
          <a:solidFill>
            <a:schemeClr val="tx2"/>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2400" dirty="0">
                <a:solidFill>
                  <a:schemeClr val="bg1"/>
                </a:solidFill>
                <a:latin typeface="メイリオ" panose="020B0604030504040204" pitchFamily="50" charset="-128"/>
                <a:ea typeface="メイリオ" panose="020B0604030504040204" pitchFamily="50" charset="-128"/>
              </a:rPr>
              <a:t>WEB</a:t>
            </a:r>
            <a:r>
              <a:rPr lang="ja-JP" altLang="en-US" sz="2400" dirty="0">
                <a:solidFill>
                  <a:schemeClr val="bg1"/>
                </a:solidFill>
                <a:latin typeface="メイリオ" panose="020B0604030504040204" pitchFamily="50" charset="-128"/>
                <a:ea typeface="メイリオ" panose="020B0604030504040204" pitchFamily="50" charset="-128"/>
              </a:rPr>
              <a:t>サイト上情報と連携させ、配信効果を数値化する</a:t>
            </a:r>
          </a:p>
        </p:txBody>
      </p:sp>
      <p:pic>
        <p:nvPicPr>
          <p:cNvPr id="7" name="図 6"/>
          <p:cNvPicPr>
            <a:picLocks noChangeAspect="1"/>
          </p:cNvPicPr>
          <p:nvPr/>
        </p:nvPicPr>
        <p:blipFill>
          <a:blip r:embed="rId3"/>
          <a:stretch>
            <a:fillRect/>
          </a:stretch>
        </p:blipFill>
        <p:spPr>
          <a:xfrm>
            <a:off x="1183616" y="2131090"/>
            <a:ext cx="2498573" cy="1744287"/>
          </a:xfrm>
          <a:prstGeom prst="rect">
            <a:avLst/>
          </a:prstGeom>
        </p:spPr>
      </p:pic>
      <p:pic>
        <p:nvPicPr>
          <p:cNvPr id="8" name="図 7"/>
          <p:cNvPicPr>
            <a:picLocks noChangeAspect="1"/>
          </p:cNvPicPr>
          <p:nvPr/>
        </p:nvPicPr>
        <p:blipFill>
          <a:blip r:embed="rId4"/>
          <a:stretch>
            <a:fillRect/>
          </a:stretch>
        </p:blipFill>
        <p:spPr>
          <a:xfrm>
            <a:off x="3456146" y="2402524"/>
            <a:ext cx="2393091" cy="1668595"/>
          </a:xfrm>
          <a:prstGeom prst="rect">
            <a:avLst/>
          </a:prstGeom>
        </p:spPr>
      </p:pic>
      <p:pic>
        <p:nvPicPr>
          <p:cNvPr id="10" name="図 9"/>
          <p:cNvPicPr>
            <a:picLocks noChangeAspect="1"/>
          </p:cNvPicPr>
          <p:nvPr/>
        </p:nvPicPr>
        <p:blipFill>
          <a:blip r:embed="rId5"/>
          <a:stretch>
            <a:fillRect/>
          </a:stretch>
        </p:blipFill>
        <p:spPr>
          <a:xfrm>
            <a:off x="5697714" y="2676687"/>
            <a:ext cx="2432174" cy="1698131"/>
          </a:xfrm>
          <a:prstGeom prst="rect">
            <a:avLst/>
          </a:prstGeom>
        </p:spPr>
      </p:pic>
      <p:pic>
        <p:nvPicPr>
          <p:cNvPr id="14" name="図 13"/>
          <p:cNvPicPr>
            <a:picLocks noChangeAspect="1"/>
          </p:cNvPicPr>
          <p:nvPr/>
        </p:nvPicPr>
        <p:blipFill>
          <a:blip r:embed="rId6"/>
          <a:stretch>
            <a:fillRect/>
          </a:stretch>
        </p:blipFill>
        <p:spPr>
          <a:xfrm>
            <a:off x="1158180" y="4165451"/>
            <a:ext cx="2417022" cy="1682579"/>
          </a:xfrm>
          <a:prstGeom prst="rect">
            <a:avLst/>
          </a:prstGeom>
        </p:spPr>
      </p:pic>
      <p:pic>
        <p:nvPicPr>
          <p:cNvPr id="15" name="図 14"/>
          <p:cNvPicPr>
            <a:picLocks noChangeAspect="1"/>
          </p:cNvPicPr>
          <p:nvPr/>
        </p:nvPicPr>
        <p:blipFill>
          <a:blip r:embed="rId7"/>
          <a:stretch>
            <a:fillRect/>
          </a:stretch>
        </p:blipFill>
        <p:spPr>
          <a:xfrm>
            <a:off x="3434655" y="4410829"/>
            <a:ext cx="2417022" cy="1683209"/>
          </a:xfrm>
          <a:prstGeom prst="rect">
            <a:avLst/>
          </a:prstGeom>
        </p:spPr>
      </p:pic>
      <p:pic>
        <p:nvPicPr>
          <p:cNvPr id="24" name="図 23"/>
          <p:cNvPicPr>
            <a:picLocks noChangeAspect="1"/>
          </p:cNvPicPr>
          <p:nvPr/>
        </p:nvPicPr>
        <p:blipFill>
          <a:blip r:embed="rId8"/>
          <a:stretch>
            <a:fillRect/>
          </a:stretch>
        </p:blipFill>
        <p:spPr>
          <a:xfrm>
            <a:off x="5697714" y="4687135"/>
            <a:ext cx="2427146" cy="1691079"/>
          </a:xfrm>
          <a:prstGeom prst="rect">
            <a:avLst/>
          </a:prstGeom>
        </p:spPr>
      </p:pic>
      <p:pic>
        <p:nvPicPr>
          <p:cNvPr id="26" name="図 25"/>
          <p:cNvPicPr>
            <a:picLocks noChangeAspect="1"/>
          </p:cNvPicPr>
          <p:nvPr/>
        </p:nvPicPr>
        <p:blipFill>
          <a:blip r:embed="rId9"/>
          <a:stretch>
            <a:fillRect/>
          </a:stretch>
        </p:blipFill>
        <p:spPr>
          <a:xfrm>
            <a:off x="8022243" y="1995292"/>
            <a:ext cx="1068645" cy="454221"/>
          </a:xfrm>
          <a:prstGeom prst="rect">
            <a:avLst/>
          </a:prstGeom>
        </p:spPr>
      </p:pic>
      <p:sp>
        <p:nvSpPr>
          <p:cNvPr id="2" name="テキスト ボックス 1">
            <a:extLst>
              <a:ext uri="{FF2B5EF4-FFF2-40B4-BE49-F238E27FC236}">
                <a16:creationId xmlns:a16="http://schemas.microsoft.com/office/drawing/2014/main" id="{D651C636-9CF1-15AA-68DF-A90526709D47}"/>
              </a:ext>
            </a:extLst>
          </p:cNvPr>
          <p:cNvSpPr txBox="1"/>
          <p:nvPr/>
        </p:nvSpPr>
        <p:spPr>
          <a:xfrm>
            <a:off x="482693" y="989115"/>
            <a:ext cx="933809" cy="646331"/>
          </a:xfrm>
          <a:prstGeom prst="rect">
            <a:avLst/>
          </a:prstGeom>
          <a:noFill/>
        </p:spPr>
        <p:txBody>
          <a:bodyPr wrap="square">
            <a:spAutoFit/>
          </a:bodyPr>
          <a:lstStyle/>
          <a:p>
            <a:r>
              <a:rPr lang="ja-JP" altLang="en-US" sz="3600" dirty="0">
                <a:solidFill>
                  <a:schemeClr val="bg1"/>
                </a:solidFill>
                <a:latin typeface="メイリオ" panose="020B0604030504040204" pitchFamily="50" charset="-128"/>
                <a:ea typeface="メイリオ" panose="020B0604030504040204" pitchFamily="50" charset="-128"/>
              </a:rPr>
              <a:t>☑</a:t>
            </a:r>
            <a:endParaRPr lang="ja-JP" altLang="en-US" sz="3600" dirty="0"/>
          </a:p>
        </p:txBody>
      </p:sp>
      <p:pic>
        <p:nvPicPr>
          <p:cNvPr id="3" name="Picture 2" descr="ロゴガイドライン｜LINEヤフー for Business">
            <a:extLst>
              <a:ext uri="{FF2B5EF4-FFF2-40B4-BE49-F238E27FC236}">
                <a16:creationId xmlns:a16="http://schemas.microsoft.com/office/drawing/2014/main" id="{4B935F7B-C5E5-F09A-504B-9182D06611BF}"/>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6485508" y="1787991"/>
            <a:ext cx="2447955" cy="888696"/>
          </a:xfrm>
          <a:prstGeom prst="rect">
            <a:avLst/>
          </a:prstGeom>
          <a:noFill/>
          <a:extLst>
            <a:ext uri="{909E8E84-426E-40DD-AFC4-6F175D3DCCD1}">
              <a14:hiddenFill xmlns:a14="http://schemas.microsoft.com/office/drawing/2010/main">
                <a:solidFill>
                  <a:srgbClr val="FFFFFF"/>
                </a:solidFill>
              </a14:hiddenFill>
            </a:ext>
          </a:extLst>
        </p:spPr>
      </p:pic>
      <p:sp>
        <p:nvSpPr>
          <p:cNvPr id="4" name="Google Shape;156;p7">
            <a:extLst>
              <a:ext uri="{FF2B5EF4-FFF2-40B4-BE49-F238E27FC236}">
                <a16:creationId xmlns:a16="http://schemas.microsoft.com/office/drawing/2014/main" id="{C235E2E0-8EAB-29DE-40C2-6596465C1F0D}"/>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
        <p:nvSpPr>
          <p:cNvPr id="5" name="正方形/長方形 4">
            <a:extLst>
              <a:ext uri="{FF2B5EF4-FFF2-40B4-BE49-F238E27FC236}">
                <a16:creationId xmlns:a16="http://schemas.microsoft.com/office/drawing/2014/main" id="{301FEA49-75A4-DB83-1235-8CE72DDD1DB5}"/>
              </a:ext>
            </a:extLst>
          </p:cNvPr>
          <p:cNvSpPr/>
          <p:nvPr/>
        </p:nvSpPr>
        <p:spPr>
          <a:xfrm>
            <a:off x="166962" y="3583894"/>
            <a:ext cx="9594258" cy="867143"/>
          </a:xfrm>
          <a:prstGeom prst="rect">
            <a:avLst/>
          </a:prstGeom>
          <a:solidFill>
            <a:schemeClr val="tx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400" b="1" dirty="0">
                <a:solidFill>
                  <a:schemeClr val="bg1"/>
                </a:solidFill>
                <a:latin typeface="メイリオ" panose="020B0604030504040204" pitchFamily="50" charset="-128"/>
                <a:ea typeface="メイリオ" panose="020B0604030504040204" pitchFamily="50" charset="-128"/>
              </a:rPr>
              <a:t>レポートサンプル</a:t>
            </a:r>
            <a:endParaRPr lang="en-US" altLang="ja-JP" sz="2400" b="1" dirty="0">
              <a:solidFill>
                <a:schemeClr val="bg1"/>
              </a:solidFill>
              <a:latin typeface="メイリオ" panose="020B0604030504040204" pitchFamily="50" charset="-128"/>
              <a:ea typeface="メイリオ" panose="020B0604030504040204" pitchFamily="50" charset="-128"/>
            </a:endParaRPr>
          </a:p>
          <a:p>
            <a:pPr algn="ctr"/>
            <a:r>
              <a:rPr lang="ja-JP" altLang="en-US" sz="1400" dirty="0">
                <a:solidFill>
                  <a:schemeClr val="bg1"/>
                </a:solidFill>
                <a:latin typeface="メイリオ" panose="020B0604030504040204" pitchFamily="50" charset="-128"/>
                <a:ea typeface="メイリオ" panose="020B0604030504040204" pitchFamily="50" charset="-128"/>
              </a:rPr>
              <a:t>（貴社要望によりカスタマイズ予定）</a:t>
            </a:r>
          </a:p>
        </p:txBody>
      </p:sp>
    </p:spTree>
    <p:extLst>
      <p:ext uri="{BB962C8B-B14F-4D97-AF65-F5344CB8AC3E}">
        <p14:creationId xmlns:p14="http://schemas.microsoft.com/office/powerpoint/2010/main" val="20268183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p:cNvSpPr/>
          <p:nvPr/>
        </p:nvSpPr>
        <p:spPr>
          <a:xfrm>
            <a:off x="6757851" y="93594"/>
            <a:ext cx="1320961" cy="344039"/>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latin typeface="メイリオ" panose="020B0604030504040204" pitchFamily="50" charset="-128"/>
                <a:ea typeface="メイリオ" panose="020B0604030504040204" pitchFamily="50" charset="-128"/>
              </a:rPr>
              <a:t>効果計測</a:t>
            </a:r>
            <a:endParaRPr kumimoji="1" lang="ja-JP" altLang="en-US" sz="1100" dirty="0">
              <a:latin typeface="メイリオ" panose="020B0604030504040204" pitchFamily="50" charset="-128"/>
              <a:ea typeface="メイリオ" panose="020B0604030504040204" pitchFamily="50" charset="-128"/>
            </a:endParaRPr>
          </a:p>
        </p:txBody>
      </p:sp>
      <p:sp>
        <p:nvSpPr>
          <p:cNvPr id="14" name="正方形/長方形 13"/>
          <p:cNvSpPr/>
          <p:nvPr/>
        </p:nvSpPr>
        <p:spPr>
          <a:xfrm>
            <a:off x="258794" y="1486023"/>
            <a:ext cx="9230264" cy="170575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pic>
        <p:nvPicPr>
          <p:cNvPr id="15" name="図 14"/>
          <p:cNvPicPr>
            <a:picLocks noChangeAspect="1"/>
          </p:cNvPicPr>
          <p:nvPr/>
        </p:nvPicPr>
        <p:blipFill>
          <a:blip r:embed="rId3"/>
          <a:stretch>
            <a:fillRect/>
          </a:stretch>
        </p:blipFill>
        <p:spPr>
          <a:xfrm>
            <a:off x="445640" y="4515592"/>
            <a:ext cx="4393508" cy="1886055"/>
          </a:xfrm>
          <a:prstGeom prst="rect">
            <a:avLst/>
          </a:prstGeom>
        </p:spPr>
      </p:pic>
      <p:sp>
        <p:nvSpPr>
          <p:cNvPr id="16" name="正方形/長方形 15"/>
          <p:cNvSpPr/>
          <p:nvPr/>
        </p:nvSpPr>
        <p:spPr>
          <a:xfrm>
            <a:off x="1728755" y="1724210"/>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ツールなし</a:t>
            </a:r>
            <a:endParaRPr kumimoji="1" lang="ja-JP" altLang="en-US" sz="1200" b="1" dirty="0">
              <a:latin typeface="メイリオ" panose="020B0604030504040204" pitchFamily="50" charset="-128"/>
              <a:ea typeface="メイリオ" panose="020B0604030504040204" pitchFamily="50" charset="-128"/>
            </a:endParaRPr>
          </a:p>
        </p:txBody>
      </p:sp>
      <p:sp>
        <p:nvSpPr>
          <p:cNvPr id="17" name="正方形/長方形 16"/>
          <p:cNvSpPr/>
          <p:nvPr/>
        </p:nvSpPr>
        <p:spPr>
          <a:xfrm>
            <a:off x="1728754" y="2464827"/>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kumimoji="1" lang="ja-JP" altLang="en-US" sz="1200" b="1" dirty="0">
                <a:latin typeface="メイリオ" panose="020B0604030504040204" pitchFamily="50" charset="-128"/>
                <a:ea typeface="メイリオ" panose="020B0604030504040204" pitchFamily="50" charset="-128"/>
              </a:rPr>
              <a:t>ツールあり</a:t>
            </a:r>
          </a:p>
        </p:txBody>
      </p:sp>
      <p:sp>
        <p:nvSpPr>
          <p:cNvPr id="18" name="正方形/長方形 17"/>
          <p:cNvSpPr/>
          <p:nvPr/>
        </p:nvSpPr>
        <p:spPr>
          <a:xfrm>
            <a:off x="3939661" y="2445682"/>
            <a:ext cx="3312125"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ツール管理画面上にて</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「特定期間に対する</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数算出」が可能</a:t>
            </a:r>
          </a:p>
        </p:txBody>
      </p:sp>
      <p:sp>
        <p:nvSpPr>
          <p:cNvPr id="19" name="正方形/長方形 18"/>
          <p:cNvSpPr/>
          <p:nvPr/>
        </p:nvSpPr>
        <p:spPr>
          <a:xfrm>
            <a:off x="3939661" y="1705487"/>
            <a:ext cx="4273927"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タグの設定に伴い、計測自体は可能だが</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50</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件以上での数値計測となる（管理画面上）</a:t>
            </a:r>
          </a:p>
        </p:txBody>
      </p:sp>
      <p:sp>
        <p:nvSpPr>
          <p:cNvPr id="20" name="正方形/長方形 19"/>
          <p:cNvSpPr/>
          <p:nvPr/>
        </p:nvSpPr>
        <p:spPr>
          <a:xfrm>
            <a:off x="625827" y="2120216"/>
            <a:ext cx="646331" cy="369332"/>
          </a:xfrm>
          <a:prstGeom prst="rect">
            <a:avLst/>
          </a:prstGeom>
        </p:spPr>
        <p:txBody>
          <a:bodyPr wrap="none">
            <a:spAutoFit/>
          </a:bodyPr>
          <a:lstStyle/>
          <a:p>
            <a:pPr algn="ctr"/>
            <a:r>
              <a:rPr lang="ja-JP" altLang="en-US" dirty="0">
                <a:latin typeface="メイリオ" panose="020B0604030504040204" pitchFamily="50" charset="-128"/>
                <a:ea typeface="メイリオ" panose="020B0604030504040204" pitchFamily="50" charset="-128"/>
              </a:rPr>
              <a:t>通常</a:t>
            </a:r>
          </a:p>
        </p:txBody>
      </p:sp>
      <p:sp>
        <p:nvSpPr>
          <p:cNvPr id="21" name="正方形/長方形 20"/>
          <p:cNvSpPr/>
          <p:nvPr/>
        </p:nvSpPr>
        <p:spPr>
          <a:xfrm>
            <a:off x="258794" y="3337953"/>
            <a:ext cx="9230264" cy="105307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22" name="正方形/長方形 21"/>
          <p:cNvSpPr/>
          <p:nvPr/>
        </p:nvSpPr>
        <p:spPr>
          <a:xfrm>
            <a:off x="1728754" y="3527788"/>
            <a:ext cx="1984767" cy="70485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ツール有無</a:t>
            </a:r>
            <a:endParaRPr lang="en-US" altLang="ja-JP" sz="1200" b="1" dirty="0">
              <a:latin typeface="メイリオ" panose="020B0604030504040204" pitchFamily="50" charset="-128"/>
              <a:ea typeface="メイリオ" panose="020B0604030504040204" pitchFamily="50" charset="-128"/>
            </a:endParaRPr>
          </a:p>
          <a:p>
            <a:pPr algn="ctr"/>
            <a:r>
              <a:rPr kumimoji="1" lang="ja-JP" altLang="en-US" sz="1200" b="1" dirty="0">
                <a:latin typeface="メイリオ" panose="020B0604030504040204" pitchFamily="50" charset="-128"/>
                <a:ea typeface="メイリオ" panose="020B0604030504040204" pitchFamily="50" charset="-128"/>
              </a:rPr>
              <a:t>に関わらず</a:t>
            </a:r>
          </a:p>
        </p:txBody>
      </p:sp>
      <p:sp>
        <p:nvSpPr>
          <p:cNvPr id="23" name="正方形/長方形 22"/>
          <p:cNvSpPr/>
          <p:nvPr/>
        </p:nvSpPr>
        <p:spPr>
          <a:xfrm>
            <a:off x="3939660" y="3618602"/>
            <a:ext cx="4164923" cy="523220"/>
          </a:xfrm>
          <a:prstGeom prst="rect">
            <a:avLst/>
          </a:prstGeom>
        </p:spPr>
        <p:txBody>
          <a:bodyPr wrap="none" anchor="ctr">
            <a:spAutoFit/>
          </a:bodyPr>
          <a:lstStyle/>
          <a:p>
            <a:r>
              <a:rPr lang="ja-JP" altLang="en-US" sz="1400" dirty="0">
                <a:latin typeface="メイリオ" panose="020B0604030504040204" pitchFamily="50" charset="-128"/>
                <a:ea typeface="メイリオ" panose="020B0604030504040204" pitchFamily="50" charset="-128"/>
              </a:rPr>
              <a:t>定期投稿、シナリオ、リッチメニュー等に設定の</a:t>
            </a:r>
            <a:endParaRPr lang="en-US" altLang="ja-JP" sz="1400" dirty="0">
              <a:latin typeface="メイリオ" panose="020B0604030504040204" pitchFamily="50" charset="-128"/>
              <a:ea typeface="メイリオ" panose="020B0604030504040204" pitchFamily="50" charset="-128"/>
            </a:endParaRPr>
          </a:p>
          <a:p>
            <a:r>
              <a:rPr lang="ja-JP" altLang="en-US" sz="1400" dirty="0">
                <a:latin typeface="メイリオ" panose="020B0604030504040204" pitchFamily="50" charset="-128"/>
                <a:ea typeface="メイリオ" panose="020B0604030504040204" pitchFamily="50" charset="-128"/>
              </a:rPr>
              <a:t>リンクについて、</a:t>
            </a:r>
            <a:r>
              <a:rPr lang="en-US" altLang="ja-JP" sz="1400" dirty="0">
                <a:solidFill>
                  <a:srgbClr val="FF0000"/>
                </a:solidFill>
                <a:latin typeface="メイリオ" panose="020B0604030504040204" pitchFamily="50" charset="-128"/>
                <a:ea typeface="メイリオ" panose="020B0604030504040204" pitchFamily="50" charset="-128"/>
              </a:rPr>
              <a:t>GA</a:t>
            </a:r>
            <a:r>
              <a:rPr lang="ja-JP" altLang="en-US" sz="1400" dirty="0" err="1">
                <a:solidFill>
                  <a:srgbClr val="FF0000"/>
                </a:solidFill>
                <a:latin typeface="メイリオ" panose="020B0604030504040204" pitchFamily="50" charset="-128"/>
                <a:ea typeface="メイリオ" panose="020B0604030504040204" pitchFamily="50" charset="-128"/>
              </a:rPr>
              <a:t>、</a:t>
            </a:r>
            <a:r>
              <a:rPr lang="en-US" altLang="ja-JP" sz="1400" dirty="0">
                <a:solidFill>
                  <a:srgbClr val="FF0000"/>
                </a:solidFill>
                <a:latin typeface="メイリオ" panose="020B0604030504040204" pitchFamily="50" charset="-128"/>
                <a:ea typeface="メイリオ" panose="020B0604030504040204" pitchFamily="50" charset="-128"/>
              </a:rPr>
              <a:t>MA</a:t>
            </a:r>
            <a:r>
              <a:rPr lang="ja-JP" altLang="en-US" sz="1400" dirty="0">
                <a:solidFill>
                  <a:srgbClr val="FF0000"/>
                </a:solidFill>
                <a:latin typeface="メイリオ" panose="020B0604030504040204" pitchFamily="50" charset="-128"/>
                <a:ea typeface="メイリオ" panose="020B0604030504040204" pitchFamily="50" charset="-128"/>
              </a:rPr>
              <a:t>ツールでの計測可能</a:t>
            </a:r>
            <a:r>
              <a:rPr lang="ja-JP" altLang="en-US" sz="1400" dirty="0">
                <a:latin typeface="メイリオ" panose="020B0604030504040204" pitchFamily="50" charset="-128"/>
                <a:ea typeface="メイリオ" panose="020B0604030504040204" pitchFamily="50" charset="-128"/>
              </a:rPr>
              <a:t>に</a:t>
            </a:r>
          </a:p>
        </p:txBody>
      </p:sp>
      <p:sp>
        <p:nvSpPr>
          <p:cNvPr id="24" name="正方形/長方形 23"/>
          <p:cNvSpPr/>
          <p:nvPr/>
        </p:nvSpPr>
        <p:spPr>
          <a:xfrm>
            <a:off x="571292" y="3649379"/>
            <a:ext cx="693973" cy="369332"/>
          </a:xfrm>
          <a:prstGeom prst="rect">
            <a:avLst/>
          </a:prstGeom>
        </p:spPr>
        <p:txBody>
          <a:bodyPr wrap="none">
            <a:spAutoFit/>
          </a:bodyPr>
          <a:lstStyle/>
          <a:p>
            <a:pPr algn="ctr"/>
            <a:r>
              <a:rPr lang="en-US" altLang="ja-JP" dirty="0">
                <a:latin typeface="メイリオ" panose="020B0604030504040204" pitchFamily="50" charset="-128"/>
                <a:ea typeface="メイリオ" panose="020B0604030504040204" pitchFamily="50" charset="-128"/>
              </a:rPr>
              <a:t>DYM</a:t>
            </a:r>
            <a:endParaRPr lang="ja-JP" altLang="en-US" dirty="0">
              <a:latin typeface="メイリオ" panose="020B0604030504040204" pitchFamily="50" charset="-128"/>
              <a:ea typeface="メイリオ" panose="020B0604030504040204" pitchFamily="50" charset="-128"/>
            </a:endParaRPr>
          </a:p>
        </p:txBody>
      </p:sp>
      <p:pic>
        <p:nvPicPr>
          <p:cNvPr id="27" name="図 26"/>
          <p:cNvPicPr>
            <a:picLocks noChangeAspect="1"/>
          </p:cNvPicPr>
          <p:nvPr/>
        </p:nvPicPr>
        <p:blipFill>
          <a:blip r:embed="rId4"/>
          <a:stretch>
            <a:fillRect/>
          </a:stretch>
        </p:blipFill>
        <p:spPr>
          <a:xfrm>
            <a:off x="5173537" y="4510754"/>
            <a:ext cx="4219164" cy="1912981"/>
          </a:xfrm>
          <a:prstGeom prst="rect">
            <a:avLst/>
          </a:prstGeom>
        </p:spPr>
      </p:pic>
      <p:sp>
        <p:nvSpPr>
          <p:cNvPr id="29" name="正方形/長方形 28"/>
          <p:cNvSpPr/>
          <p:nvPr/>
        </p:nvSpPr>
        <p:spPr>
          <a:xfrm>
            <a:off x="372964" y="4445247"/>
            <a:ext cx="4546440"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正方形/長方形 29"/>
          <p:cNvSpPr/>
          <p:nvPr/>
        </p:nvSpPr>
        <p:spPr>
          <a:xfrm>
            <a:off x="5141643" y="4445246"/>
            <a:ext cx="4282952"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正方形/長方形 30"/>
          <p:cNvSpPr/>
          <p:nvPr/>
        </p:nvSpPr>
        <p:spPr>
          <a:xfrm>
            <a:off x="788187"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レポート（日次）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kumimoji="1"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2" name="正方形/長方形 31"/>
          <p:cNvSpPr/>
          <p:nvPr/>
        </p:nvSpPr>
        <p:spPr>
          <a:xfrm>
            <a:off x="5453208"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レポート（月次）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3" name="正方形/長方形 32"/>
          <p:cNvSpPr/>
          <p:nvPr/>
        </p:nvSpPr>
        <p:spPr>
          <a:xfrm>
            <a:off x="258794" y="776172"/>
            <a:ext cx="9230264" cy="523220"/>
          </a:xfrm>
          <a:prstGeom prst="rect">
            <a:avLst/>
          </a:prstGeom>
        </p:spPr>
        <p:txBody>
          <a:bodyPr wrap="square" anchor="ctr">
            <a:spAutoFit/>
          </a:bodyPr>
          <a:lstStyle/>
          <a:p>
            <a:pPr algn="ctr"/>
            <a:r>
              <a:rPr lang="ja-JP" altLang="en-US" sz="1400" dirty="0">
                <a:latin typeface="メイリオ" panose="020B0604030504040204" pitchFamily="50" charset="-128"/>
                <a:ea typeface="メイリオ" panose="020B0604030504040204" pitchFamily="50" charset="-128"/>
              </a:rPr>
              <a:t>コンサル費用＋アカウント費用に対する効果を可視化し、課題点を都度確認できる体制に。</a:t>
            </a:r>
            <a:endParaRPr lang="en-US" altLang="ja-JP" sz="1400" dirty="0">
              <a:latin typeface="メイリオ" panose="020B0604030504040204" pitchFamily="50" charset="-128"/>
              <a:ea typeface="メイリオ" panose="020B0604030504040204" pitchFamily="50" charset="-128"/>
            </a:endParaRPr>
          </a:p>
          <a:p>
            <a:pPr algn="ctr"/>
            <a:r>
              <a:rPr lang="ja-JP" altLang="en-US" sz="1400" dirty="0">
                <a:latin typeface="メイリオ" panose="020B0604030504040204" pitchFamily="50" charset="-128"/>
                <a:ea typeface="メイリオ" panose="020B0604030504040204" pitchFamily="50" charset="-128"/>
              </a:rPr>
              <a:t>投稿別</a:t>
            </a:r>
            <a:r>
              <a:rPr lang="en-US" altLang="ja-JP" sz="1400" dirty="0">
                <a:latin typeface="メイリオ" panose="020B0604030504040204" pitchFamily="50" charset="-128"/>
                <a:ea typeface="メイリオ" panose="020B0604030504040204" pitchFamily="50" charset="-128"/>
              </a:rPr>
              <a:t>×</a:t>
            </a:r>
            <a:r>
              <a:rPr lang="ja-JP" altLang="en-US" sz="1400" dirty="0">
                <a:latin typeface="メイリオ" panose="020B0604030504040204" pitchFamily="50" charset="-128"/>
                <a:ea typeface="メイリオ" panose="020B0604030504040204" pitchFamily="50" charset="-128"/>
              </a:rPr>
              <a:t>セグメント別でデータ化でき、</a:t>
            </a:r>
            <a:r>
              <a:rPr lang="en-US" altLang="ja-JP" sz="1400" dirty="0">
                <a:latin typeface="メイリオ" panose="020B0604030504040204" pitchFamily="50" charset="-128"/>
                <a:ea typeface="メイリオ" panose="020B0604030504040204" pitchFamily="50" charset="-128"/>
              </a:rPr>
              <a:t>AB</a:t>
            </a:r>
            <a:r>
              <a:rPr lang="ja-JP" altLang="en-US" sz="1400" dirty="0">
                <a:latin typeface="メイリオ" panose="020B0604030504040204" pitchFamily="50" charset="-128"/>
                <a:ea typeface="メイリオ" panose="020B0604030504040204" pitchFamily="50" charset="-128"/>
              </a:rPr>
              <a:t>テストとクリエイティブ検証を細かく実施。</a:t>
            </a:r>
          </a:p>
        </p:txBody>
      </p:sp>
      <p:sp>
        <p:nvSpPr>
          <p:cNvPr id="4" name="Google Shape;156;p7">
            <a:extLst>
              <a:ext uri="{FF2B5EF4-FFF2-40B4-BE49-F238E27FC236}">
                <a16:creationId xmlns:a16="http://schemas.microsoft.com/office/drawing/2014/main" id="{260430EB-E69F-64B3-39EC-6A753FA8A5B0}"/>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Tree>
    <p:extLst>
      <p:ext uri="{BB962C8B-B14F-4D97-AF65-F5344CB8AC3E}">
        <p14:creationId xmlns:p14="http://schemas.microsoft.com/office/powerpoint/2010/main" val="378692469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2F862-6825-0A25-E527-0C644CE20321}"/>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1B95EDD6-658F-4CEF-BC87-63AE1294A97D}"/>
              </a:ext>
            </a:extLst>
          </p:cNvPr>
          <p:cNvSpPr/>
          <p:nvPr/>
        </p:nvSpPr>
        <p:spPr>
          <a:xfrm>
            <a:off x="253638" y="835690"/>
            <a:ext cx="2541320"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弊社体制図</a:t>
            </a:r>
            <a:endParaRPr kumimoji="1" lang="ja-JP" altLang="en-US" sz="1600" b="1" dirty="0">
              <a:latin typeface="メイリオ" panose="020B0604030504040204" pitchFamily="50" charset="-128"/>
              <a:ea typeface="メイリオ" panose="020B0604030504040204" pitchFamily="50" charset="-128"/>
            </a:endParaRPr>
          </a:p>
        </p:txBody>
      </p:sp>
      <p:sp>
        <p:nvSpPr>
          <p:cNvPr id="6" name="Google Shape;156;p7">
            <a:extLst>
              <a:ext uri="{FF2B5EF4-FFF2-40B4-BE49-F238E27FC236}">
                <a16:creationId xmlns:a16="http://schemas.microsoft.com/office/drawing/2014/main" id="{3BA0E9AE-61D3-01E9-521B-2E5746D00D89}"/>
              </a:ext>
            </a:extLst>
          </p:cNvPr>
          <p:cNvSpPr txBox="1"/>
          <p:nvPr/>
        </p:nvSpPr>
        <p:spPr>
          <a:xfrm>
            <a:off x="2857804" y="786210"/>
            <a:ext cx="7217767" cy="584735"/>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chemeClr val="tx1">
                    <a:lumMod val="65000"/>
                    <a:lumOff val="35000"/>
                  </a:schemeClr>
                </a:solidFill>
                <a:latin typeface="Meiryo"/>
                <a:ea typeface="Meiryo"/>
                <a:cs typeface="Meiryo"/>
                <a:sym typeface="Meiryo"/>
              </a:rPr>
              <a:t>GA</a:t>
            </a:r>
            <a:r>
              <a:rPr lang="ja-JP" altLang="en-US" sz="1600" b="1" dirty="0">
                <a:solidFill>
                  <a:schemeClr val="tx1">
                    <a:lumMod val="65000"/>
                    <a:lumOff val="35000"/>
                  </a:schemeClr>
                </a:solidFill>
                <a:latin typeface="Meiryo"/>
                <a:ea typeface="Meiryo"/>
                <a:cs typeface="Meiryo"/>
                <a:sym typeface="Meiryo"/>
              </a:rPr>
              <a:t>及び</a:t>
            </a:r>
            <a:r>
              <a:rPr lang="en-US" altLang="ja-JP" sz="1600" b="1" dirty="0">
                <a:solidFill>
                  <a:schemeClr val="tx1">
                    <a:lumMod val="65000"/>
                    <a:lumOff val="35000"/>
                  </a:schemeClr>
                </a:solidFill>
                <a:latin typeface="Meiryo"/>
                <a:ea typeface="Meiryo"/>
                <a:cs typeface="Meiryo"/>
                <a:sym typeface="Meiryo"/>
              </a:rPr>
              <a:t>MA</a:t>
            </a:r>
            <a:r>
              <a:rPr lang="ja-JP" altLang="en-US" sz="1600" b="1" dirty="0">
                <a:solidFill>
                  <a:schemeClr val="tx1">
                    <a:lumMod val="65000"/>
                    <a:lumOff val="35000"/>
                  </a:schemeClr>
                </a:solidFill>
                <a:latin typeface="Meiryo"/>
                <a:ea typeface="Meiryo"/>
                <a:cs typeface="Meiryo"/>
                <a:sym typeface="Meiryo"/>
              </a:rPr>
              <a:t>ツール両面での計測ができるようパラメータ管理。</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公式アカウントの管理画面には出ない、サイト上の結果を紐づけ。</a:t>
            </a:r>
            <a:endParaRPr sz="1600" b="1" dirty="0">
              <a:solidFill>
                <a:schemeClr val="tx1">
                  <a:lumMod val="65000"/>
                  <a:lumOff val="35000"/>
                </a:schemeClr>
              </a:solidFill>
              <a:latin typeface="Meiryo"/>
              <a:ea typeface="Meiryo"/>
              <a:cs typeface="Meiryo"/>
              <a:sym typeface="Meiryo"/>
            </a:endParaRPr>
          </a:p>
        </p:txBody>
      </p:sp>
      <p:sp>
        <p:nvSpPr>
          <p:cNvPr id="12" name="Google Shape;156;p7">
            <a:extLst>
              <a:ext uri="{FF2B5EF4-FFF2-40B4-BE49-F238E27FC236}">
                <a16:creationId xmlns:a16="http://schemas.microsoft.com/office/drawing/2014/main" id="{C5C4EFC6-EAB9-6A05-AE92-8FF390EDDDE3}"/>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体制図（イメージ）</a:t>
            </a:r>
            <a:endParaRPr sz="1600" b="1" dirty="0">
              <a:solidFill>
                <a:srgbClr val="002060"/>
              </a:solidFill>
              <a:latin typeface="Meiryo"/>
              <a:ea typeface="Meiryo"/>
              <a:cs typeface="Meiryo"/>
              <a:sym typeface="Meiryo"/>
            </a:endParaRPr>
          </a:p>
        </p:txBody>
      </p:sp>
      <p:sp>
        <p:nvSpPr>
          <p:cNvPr id="8" name="Shape 6"/>
          <p:cNvSpPr/>
          <p:nvPr/>
        </p:nvSpPr>
        <p:spPr>
          <a:xfrm>
            <a:off x="621091" y="3084378"/>
            <a:ext cx="4674326" cy="738321"/>
          </a:xfrm>
          <a:prstGeom prst="rect">
            <a:avLst/>
          </a:prstGeom>
          <a:solidFill>
            <a:srgbClr val="FFFFFF"/>
          </a:solidFill>
          <a:ln w="12700">
            <a:solidFill>
              <a:srgbClr val="C0CEDE"/>
            </a:solidFill>
            <a:prstDash val="solid"/>
          </a:ln>
        </p:spPr>
        <p:txBody>
          <a:bodyPr anchor="ctr"/>
          <a:lstStyle/>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endParaRPr lang="en-US" altLang="ja-JP" sz="1200" dirty="0">
              <a:latin typeface="メイリオ" panose="020B0604030504040204" pitchFamily="50" charset="-128"/>
              <a:ea typeface="メイリオ" panose="020B0604030504040204" pitchFamily="50" charset="-128"/>
            </a:endParaRPr>
          </a:p>
        </p:txBody>
      </p:sp>
      <p:sp>
        <p:nvSpPr>
          <p:cNvPr id="3" name="Shape 15"/>
          <p:cNvSpPr/>
          <p:nvPr/>
        </p:nvSpPr>
        <p:spPr>
          <a:xfrm>
            <a:off x="660472" y="4383083"/>
            <a:ext cx="2148840" cy="578878"/>
          </a:xfrm>
          <a:prstGeom prst="rect">
            <a:avLst/>
          </a:prstGeom>
          <a:solidFill>
            <a:srgbClr val="FFFFFF"/>
          </a:solidFill>
          <a:ln w="12700">
            <a:solidFill>
              <a:srgbClr val="C0CEDE"/>
            </a:solidFill>
            <a:prstDash val="solid"/>
          </a:ln>
        </p:spPr>
        <p:txBody>
          <a:bodyPr anchor="ctr"/>
          <a:lstStyle/>
          <a:p>
            <a:endParaRPr lang="en-US" altLang="ja-JP" sz="3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latin typeface="メイリオ" panose="020B0604030504040204" pitchFamily="50" charset="-128"/>
              <a:ea typeface="メイリオ" panose="020B0604030504040204" pitchFamily="50" charset="-128"/>
            </a:endParaRPr>
          </a:p>
        </p:txBody>
      </p:sp>
      <p:sp>
        <p:nvSpPr>
          <p:cNvPr id="18" name="Shape 16"/>
          <p:cNvSpPr/>
          <p:nvPr/>
        </p:nvSpPr>
        <p:spPr>
          <a:xfrm>
            <a:off x="645163" y="4065900"/>
            <a:ext cx="2148840" cy="347472"/>
          </a:xfrm>
          <a:prstGeom prst="rect">
            <a:avLst/>
          </a:prstGeom>
          <a:solidFill>
            <a:srgbClr val="1F3864"/>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リス・</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SNS運用</a:t>
            </a:r>
            <a:endParaRPr lang="en-US" altLang="ja-JP" sz="1350" dirty="0">
              <a:latin typeface="メイリオ" panose="020B0604030504040204" pitchFamily="50" charset="-128"/>
              <a:ea typeface="メイリオ" panose="020B0604030504040204" pitchFamily="50" charset="-128"/>
            </a:endParaRPr>
          </a:p>
        </p:txBody>
      </p:sp>
      <p:sp>
        <p:nvSpPr>
          <p:cNvPr id="28" name="Shape 26"/>
          <p:cNvSpPr/>
          <p:nvPr/>
        </p:nvSpPr>
        <p:spPr>
          <a:xfrm>
            <a:off x="633127" y="5566878"/>
            <a:ext cx="2140131" cy="626818"/>
          </a:xfrm>
          <a:prstGeom prst="rect">
            <a:avLst/>
          </a:prstGeom>
          <a:solidFill>
            <a:srgbClr val="FFFFFF"/>
          </a:solidFill>
          <a:ln w="12700">
            <a:solidFill>
              <a:srgbClr val="C0CEDE"/>
            </a:solidFill>
            <a:prstDash val="solid"/>
          </a:ln>
        </p:spPr>
        <p:txBody>
          <a:bodyPr anchor="ctr"/>
          <a:lstStyle/>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入稿作業</a:t>
            </a:r>
            <a:endParaRPr lang="en-US" altLang="ja-JP" sz="1200" dirty="0">
              <a:latin typeface="メイリオ" panose="020B0604030504040204" pitchFamily="50" charset="-128"/>
              <a:ea typeface="メイリオ" panose="020B0604030504040204" pitchFamily="50" charset="-128"/>
            </a:endParaRPr>
          </a:p>
        </p:txBody>
      </p:sp>
      <p:sp>
        <p:nvSpPr>
          <p:cNvPr id="29" name="Shape 27"/>
          <p:cNvSpPr/>
          <p:nvPr/>
        </p:nvSpPr>
        <p:spPr>
          <a:xfrm>
            <a:off x="633127" y="5231331"/>
            <a:ext cx="2140131" cy="347472"/>
          </a:xfrm>
          <a:prstGeom prst="rect">
            <a:avLst/>
          </a:prstGeom>
          <a:solidFill>
            <a:srgbClr val="1F3864"/>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運用サポート</a:t>
            </a:r>
            <a:endParaRPr lang="en-US" altLang="ja-JP" sz="1200" dirty="0">
              <a:latin typeface="メイリオ" panose="020B0604030504040204" pitchFamily="50" charset="-128"/>
              <a:ea typeface="メイリオ" panose="020B0604030504040204" pitchFamily="50" charset="-128"/>
            </a:endParaRPr>
          </a:p>
        </p:txBody>
      </p:sp>
      <p:sp>
        <p:nvSpPr>
          <p:cNvPr id="30" name="Text 28"/>
          <p:cNvSpPr/>
          <p:nvPr/>
        </p:nvSpPr>
        <p:spPr>
          <a:xfrm>
            <a:off x="633128" y="5231331"/>
            <a:ext cx="2140131" cy="347472"/>
          </a:xfrm>
          <a:prstGeom prst="rect">
            <a:avLst/>
          </a:prstGeom>
          <a:noFill/>
          <a:ln/>
        </p:spPr>
        <p:txBody>
          <a:bodyPr wrap="square" lIns="0" tIns="0" rIns="0" bIns="0" rtlCol="0" anchor="ctr"/>
          <a:lstStyle/>
          <a:p>
            <a:pPr marL="0" indent="0" algn="ctr">
              <a:buNone/>
            </a:pPr>
            <a:endParaRPr lang="en-US" sz="1050" dirty="0">
              <a:latin typeface="メイリオ" panose="020B0604030504040204" pitchFamily="50" charset="-128"/>
              <a:ea typeface="メイリオ" panose="020B0604030504040204" pitchFamily="50" charset="-128"/>
            </a:endParaRPr>
          </a:p>
        </p:txBody>
      </p:sp>
      <p:sp>
        <p:nvSpPr>
          <p:cNvPr id="33" name="Shape 31"/>
          <p:cNvSpPr/>
          <p:nvPr/>
        </p:nvSpPr>
        <p:spPr>
          <a:xfrm>
            <a:off x="2921304" y="5532054"/>
            <a:ext cx="2386149" cy="641636"/>
          </a:xfrm>
          <a:prstGeom prst="rect">
            <a:avLst/>
          </a:prstGeom>
          <a:solidFill>
            <a:srgbClr val="FFFFFF"/>
          </a:solidFill>
          <a:ln w="12700">
            <a:solidFill>
              <a:srgbClr val="C0CEDE"/>
            </a:solidFill>
            <a:prstDash val="solid"/>
          </a:ln>
        </p:spPr>
        <p:txBody>
          <a:bodyPr anchor="ct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バナー制作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LP制作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動画制作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p:txBody>
      </p:sp>
      <p:sp>
        <p:nvSpPr>
          <p:cNvPr id="34" name="Shape 32"/>
          <p:cNvSpPr/>
          <p:nvPr/>
        </p:nvSpPr>
        <p:spPr>
          <a:xfrm>
            <a:off x="2921304" y="5221392"/>
            <a:ext cx="2386149" cy="347472"/>
          </a:xfrm>
          <a:prstGeom prst="rect">
            <a:avLst/>
          </a:prstGeom>
          <a:solidFill>
            <a:schemeClr val="bg1">
              <a:lumMod val="65000"/>
            </a:schemeClr>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制作</a:t>
            </a:r>
            <a:endParaRPr lang="en-US" altLang="ja-JP" sz="1200" dirty="0">
              <a:latin typeface="メイリオ" panose="020B0604030504040204" pitchFamily="50" charset="-128"/>
              <a:ea typeface="メイリオ" panose="020B0604030504040204" pitchFamily="50" charset="-128"/>
            </a:endParaRPr>
          </a:p>
        </p:txBody>
      </p:sp>
      <p:sp>
        <p:nvSpPr>
          <p:cNvPr id="40" name="Shape 38"/>
          <p:cNvSpPr/>
          <p:nvPr/>
        </p:nvSpPr>
        <p:spPr>
          <a:xfrm>
            <a:off x="5740699" y="4097070"/>
            <a:ext cx="3293358" cy="347472"/>
          </a:xfrm>
          <a:prstGeom prst="rect">
            <a:avLst/>
          </a:prstGeom>
          <a:solidFill>
            <a:srgbClr val="8496B8"/>
          </a:solidFill>
          <a:ln w="12700">
            <a:solidFill>
              <a:srgbClr val="8496B8"/>
            </a:solidFill>
            <a:prstDash val="solid"/>
          </a:ln>
        </p:spPr>
        <p:txBody>
          <a:bodyPr anchor="ctr"/>
          <a:lstStyle/>
          <a:p>
            <a:pPr algn="ctr"/>
            <a:r>
              <a:rPr lang="ja-JP" altLang="en-US" sz="1200" dirty="0">
                <a:solidFill>
                  <a:schemeClr val="bg1"/>
                </a:solidFill>
                <a:latin typeface="メイリオ" panose="020B0604030504040204" pitchFamily="50" charset="-128"/>
                <a:ea typeface="メイリオ" panose="020B0604030504040204" pitchFamily="50" charset="-128"/>
              </a:rPr>
              <a:t>媒体担当</a:t>
            </a:r>
          </a:p>
        </p:txBody>
      </p:sp>
      <p:sp>
        <p:nvSpPr>
          <p:cNvPr id="75" name="Shape 20">
            <a:extLst>
              <a:ext uri="{FF2B5EF4-FFF2-40B4-BE49-F238E27FC236}">
                <a16:creationId xmlns:a16="http://schemas.microsoft.com/office/drawing/2014/main" id="{9B35F62E-D565-EC7D-5BED-9E3AD8414C54}"/>
              </a:ext>
            </a:extLst>
          </p:cNvPr>
          <p:cNvSpPr/>
          <p:nvPr/>
        </p:nvSpPr>
        <p:spPr>
          <a:xfrm>
            <a:off x="2930013" y="4391542"/>
            <a:ext cx="2377440" cy="578878"/>
          </a:xfrm>
          <a:prstGeom prst="rect">
            <a:avLst/>
          </a:prstGeom>
          <a:solidFill>
            <a:srgbClr val="FFFFFF"/>
          </a:solidFill>
          <a:ln w="12700">
            <a:solidFill>
              <a:srgbClr val="C0CEDE"/>
            </a:solidFill>
            <a:prstDash val="solid"/>
          </a:ln>
        </p:spPr>
        <p:txBody>
          <a:bodyPr anchor="ctr"/>
          <a:lstStyle/>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r>
              <a:rPr lang="ja-JP" altLang="en-US"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クリエイティブディレクション</a:t>
            </a:r>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p:txBody>
      </p:sp>
      <p:sp>
        <p:nvSpPr>
          <p:cNvPr id="76" name="Shape 21">
            <a:extLst>
              <a:ext uri="{FF2B5EF4-FFF2-40B4-BE49-F238E27FC236}">
                <a16:creationId xmlns:a16="http://schemas.microsoft.com/office/drawing/2014/main" id="{0A9AF3DD-64DC-1BF0-8119-2924ECA0B69F}"/>
              </a:ext>
            </a:extLst>
          </p:cNvPr>
          <p:cNvSpPr/>
          <p:nvPr/>
        </p:nvSpPr>
        <p:spPr>
          <a:xfrm>
            <a:off x="2930013" y="4059656"/>
            <a:ext cx="2377440" cy="347472"/>
          </a:xfrm>
          <a:prstGeom prst="rect">
            <a:avLst/>
          </a:prstGeom>
          <a:solidFill>
            <a:srgbClr val="FFC000"/>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LINEOA運用</a:t>
            </a:r>
            <a:endParaRPr lang="en-US" altLang="ja-JP" sz="1350" dirty="0">
              <a:latin typeface="メイリオ" panose="020B0604030504040204" pitchFamily="50" charset="-128"/>
              <a:ea typeface="メイリオ" panose="020B0604030504040204" pitchFamily="50" charset="-128"/>
            </a:endParaRPr>
          </a:p>
        </p:txBody>
      </p:sp>
      <p:sp>
        <p:nvSpPr>
          <p:cNvPr id="5" name="Shape 6">
            <a:extLst>
              <a:ext uri="{FF2B5EF4-FFF2-40B4-BE49-F238E27FC236}">
                <a16:creationId xmlns:a16="http://schemas.microsoft.com/office/drawing/2014/main" id="{85CDFD14-B545-2394-79CD-B4BB79EC6A1B}"/>
              </a:ext>
            </a:extLst>
          </p:cNvPr>
          <p:cNvSpPr/>
          <p:nvPr/>
        </p:nvSpPr>
        <p:spPr>
          <a:xfrm>
            <a:off x="5425961" y="3084378"/>
            <a:ext cx="3557928" cy="738321"/>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貴社担当との連絡やり取り全般</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・書</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類</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の作成等、事務面までサポート</a:t>
            </a:r>
            <a:endParaRPr lang="en-US" altLang="ja-JP" sz="1200" dirty="0">
              <a:latin typeface="メイリオ" panose="020B0604030504040204" pitchFamily="50" charset="-128"/>
              <a:ea typeface="メイリオ" panose="020B0604030504040204" pitchFamily="50" charset="-128"/>
            </a:endParaRPr>
          </a:p>
        </p:txBody>
      </p:sp>
      <p:sp>
        <p:nvSpPr>
          <p:cNvPr id="7" name="Shape 7">
            <a:extLst>
              <a:ext uri="{FF2B5EF4-FFF2-40B4-BE49-F238E27FC236}">
                <a16:creationId xmlns:a16="http://schemas.microsoft.com/office/drawing/2014/main" id="{DE68CBB6-5454-1932-8D24-8CA86C03FDAF}"/>
              </a:ext>
            </a:extLst>
          </p:cNvPr>
          <p:cNvSpPr/>
          <p:nvPr/>
        </p:nvSpPr>
        <p:spPr>
          <a:xfrm>
            <a:off x="5425961" y="2849521"/>
            <a:ext cx="3557928"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フロント対応（サブ</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endParaRPr lang="en-US" altLang="ja-JP" sz="1350" dirty="0">
              <a:latin typeface="メイリオ" panose="020B0604030504040204" pitchFamily="50" charset="-128"/>
              <a:ea typeface="メイリオ" panose="020B0604030504040204" pitchFamily="50" charset="-128"/>
            </a:endParaRPr>
          </a:p>
        </p:txBody>
      </p:sp>
      <p:sp>
        <p:nvSpPr>
          <p:cNvPr id="20" name="Shape 7"/>
          <p:cNvSpPr/>
          <p:nvPr/>
        </p:nvSpPr>
        <p:spPr>
          <a:xfrm>
            <a:off x="612383" y="2849521"/>
            <a:ext cx="4683034" cy="347472"/>
          </a:xfrm>
          <a:prstGeom prst="rect">
            <a:avLst/>
          </a:prstGeom>
          <a:solidFill>
            <a:schemeClr val="accent1">
              <a:lumMod val="75000"/>
            </a:schemeClr>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広告運用統括・コンサル</a:t>
            </a:r>
            <a:endParaRPr lang="en-US" altLang="ja-JP" sz="1350" dirty="0">
              <a:latin typeface="メイリオ" panose="020B0604030504040204" pitchFamily="50" charset="-128"/>
              <a:ea typeface="メイリオ" panose="020B0604030504040204" pitchFamily="50" charset="-128"/>
            </a:endParaRPr>
          </a:p>
        </p:txBody>
      </p:sp>
      <p:sp>
        <p:nvSpPr>
          <p:cNvPr id="31" name="Shape 6">
            <a:extLst>
              <a:ext uri="{FF2B5EF4-FFF2-40B4-BE49-F238E27FC236}">
                <a16:creationId xmlns:a16="http://schemas.microsoft.com/office/drawing/2014/main" id="{40835ECB-DBED-5389-F67F-16368EB09190}"/>
              </a:ext>
            </a:extLst>
          </p:cNvPr>
          <p:cNvSpPr/>
          <p:nvPr/>
        </p:nvSpPr>
        <p:spPr>
          <a:xfrm>
            <a:off x="548883" y="1995744"/>
            <a:ext cx="8545959" cy="615505"/>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・貴社ご担当者様との連絡やり取り全般</a:t>
            </a:r>
            <a:endParaRPr lang="en-US" altLang="ja-JP" sz="12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67B490AF-C245-DAC8-B203-E07692B565EF}"/>
              </a:ext>
            </a:extLst>
          </p:cNvPr>
          <p:cNvSpPr/>
          <p:nvPr/>
        </p:nvSpPr>
        <p:spPr>
          <a:xfrm>
            <a:off x="548883" y="1729963"/>
            <a:ext cx="4073917"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全体統括</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　</a:t>
            </a:r>
            <a:endParaRPr lang="en-US" altLang="ja-JP" sz="1350" dirty="0">
              <a:latin typeface="メイリオ" panose="020B0604030504040204" pitchFamily="50" charset="-128"/>
              <a:ea typeface="メイリオ" panose="020B0604030504040204" pitchFamily="50" charset="-128"/>
            </a:endParaRPr>
          </a:p>
        </p:txBody>
      </p:sp>
      <p:sp>
        <p:nvSpPr>
          <p:cNvPr id="35" name="Shape 38">
            <a:extLst>
              <a:ext uri="{FF2B5EF4-FFF2-40B4-BE49-F238E27FC236}">
                <a16:creationId xmlns:a16="http://schemas.microsoft.com/office/drawing/2014/main" id="{0C1173B9-EECF-693B-9E7D-0C69C5B122BF}"/>
              </a:ext>
            </a:extLst>
          </p:cNvPr>
          <p:cNvSpPr/>
          <p:nvPr/>
        </p:nvSpPr>
        <p:spPr>
          <a:xfrm>
            <a:off x="5740699" y="4509077"/>
            <a:ext cx="3293358" cy="1146893"/>
          </a:xfrm>
          <a:prstGeom prst="rect">
            <a:avLst/>
          </a:prstGeom>
          <a:solidFill>
            <a:schemeClr val="accent1">
              <a:lumMod val="20000"/>
              <a:lumOff val="80000"/>
            </a:schemeClr>
          </a:solidFill>
          <a:ln w="12700">
            <a:solidFill>
              <a:srgbClr val="8496B8"/>
            </a:solidFill>
            <a:prstDash val="solid"/>
          </a:ln>
        </p:spPr>
        <p:txBody>
          <a:bodyPr anchor="ctr"/>
          <a:lstStyle/>
          <a:p>
            <a:pPr algn="ct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36" name="矢印: 下 35">
            <a:extLst>
              <a:ext uri="{FF2B5EF4-FFF2-40B4-BE49-F238E27FC236}">
                <a16:creationId xmlns:a16="http://schemas.microsoft.com/office/drawing/2014/main" id="{7CCB5C34-442B-3398-0780-2D0336E6D4ED}"/>
              </a:ext>
            </a:extLst>
          </p:cNvPr>
          <p:cNvSpPr/>
          <p:nvPr/>
        </p:nvSpPr>
        <p:spPr>
          <a:xfrm>
            <a:off x="1528292" y="373514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矢印: 下 36">
            <a:extLst>
              <a:ext uri="{FF2B5EF4-FFF2-40B4-BE49-F238E27FC236}">
                <a16:creationId xmlns:a16="http://schemas.microsoft.com/office/drawing/2014/main" id="{F4FC4967-B41B-4444-4ADE-4F30B9156CB8}"/>
              </a:ext>
            </a:extLst>
          </p:cNvPr>
          <p:cNvSpPr/>
          <p:nvPr/>
        </p:nvSpPr>
        <p:spPr>
          <a:xfrm>
            <a:off x="3987378" y="374025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6" name="Picture 2">
            <a:extLst>
              <a:ext uri="{FF2B5EF4-FFF2-40B4-BE49-F238E27FC236}">
                <a16:creationId xmlns:a16="http://schemas.microsoft.com/office/drawing/2014/main" id="{AC3EAB26-5599-F35D-4523-6C68BD69EF6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49980" y="4692784"/>
            <a:ext cx="570053" cy="3762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ロゴガイドライン｜LINEヤフー for Business">
            <a:extLst>
              <a:ext uri="{FF2B5EF4-FFF2-40B4-BE49-F238E27FC236}">
                <a16:creationId xmlns:a16="http://schemas.microsoft.com/office/drawing/2014/main" id="{CEFB2BC3-422C-45B1-E9EF-4EF91F4D989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72902" y="4459743"/>
            <a:ext cx="2357368" cy="855810"/>
          </a:xfrm>
          <a:prstGeom prst="rect">
            <a:avLst/>
          </a:prstGeom>
          <a:noFill/>
          <a:extLst>
            <a:ext uri="{909E8E84-426E-40DD-AFC4-6F175D3DCCD1}">
              <a14:hiddenFill xmlns:a14="http://schemas.microsoft.com/office/drawing/2010/main">
                <a:solidFill>
                  <a:srgbClr val="FFFFFF"/>
                </a:solidFill>
              </a14:hiddenFill>
            </a:ext>
          </a:extLst>
        </p:spPr>
      </p:pic>
      <p:pic>
        <p:nvPicPr>
          <p:cNvPr id="49" name="図 48">
            <a:extLst>
              <a:ext uri="{FF2B5EF4-FFF2-40B4-BE49-F238E27FC236}">
                <a16:creationId xmlns:a16="http://schemas.microsoft.com/office/drawing/2014/main" id="{C827C962-E7C6-7341-785B-5CEA2F163BA9}"/>
              </a:ext>
            </a:extLst>
          </p:cNvPr>
          <p:cNvPicPr>
            <a:picLocks noChangeAspect="1"/>
          </p:cNvPicPr>
          <p:nvPr/>
        </p:nvPicPr>
        <p:blipFill>
          <a:blip r:embed="rId5" cstate="print">
            <a:extLst>
              <a:ext uri="{28A0092B-C50C-407E-A947-70E740481C1C}">
                <a14:useLocalDpi xmlns:a14="http://schemas.microsoft.com/office/drawing/2010/main" val="0"/>
              </a:ext>
            </a:extLst>
          </a:blip>
          <a:srcRect l="10032" t="9688" r="9713" b="9686"/>
          <a:stretch>
            <a:fillRect/>
          </a:stretch>
        </p:blipFill>
        <p:spPr>
          <a:xfrm>
            <a:off x="7294243" y="4673418"/>
            <a:ext cx="411545" cy="413459"/>
          </a:xfrm>
          <a:prstGeom prst="rect">
            <a:avLst/>
          </a:prstGeom>
        </p:spPr>
      </p:pic>
      <p:pic>
        <p:nvPicPr>
          <p:cNvPr id="1034" name="Picture 10" descr="Google ロゴ（グーグル） – ICONLAB（アイコンラボ）">
            <a:extLst>
              <a:ext uri="{FF2B5EF4-FFF2-40B4-BE49-F238E27FC236}">
                <a16:creationId xmlns:a16="http://schemas.microsoft.com/office/drawing/2014/main" id="{EF486F86-4362-411E-58E4-AF8FA89FFB1A}"/>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916281" y="5170783"/>
            <a:ext cx="1167467" cy="383075"/>
          </a:xfrm>
          <a:prstGeom prst="rect">
            <a:avLst/>
          </a:prstGeom>
          <a:noFill/>
          <a:extLst>
            <a:ext uri="{909E8E84-426E-40DD-AFC4-6F175D3DCCD1}">
              <a14:hiddenFill xmlns:a14="http://schemas.microsoft.com/office/drawing/2010/main">
                <a:solidFill>
                  <a:srgbClr val="FFFFFF"/>
                </a:solidFill>
              </a14:hiddenFill>
            </a:ext>
          </a:extLst>
        </p:spPr>
      </p:pic>
      <p:sp>
        <p:nvSpPr>
          <p:cNvPr id="52" name="AutoShape 16" descr="TikTok Vector Logo - Download Free SVG Icon | Worldvectorlogo">
            <a:extLst>
              <a:ext uri="{FF2B5EF4-FFF2-40B4-BE49-F238E27FC236}">
                <a16:creationId xmlns:a16="http://schemas.microsoft.com/office/drawing/2014/main" id="{FC9F455A-4712-6D98-BB84-88AB6130694C}"/>
              </a:ext>
            </a:extLst>
          </p:cNvPr>
          <p:cNvSpPr>
            <a:spLocks noChangeAspect="1" noChangeArrowheads="1"/>
          </p:cNvSpPr>
          <p:nvPr/>
        </p:nvSpPr>
        <p:spPr bwMode="auto">
          <a:xfrm>
            <a:off x="4800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pic>
        <p:nvPicPr>
          <p:cNvPr id="55" name="グラフィックス 54">
            <a:extLst>
              <a:ext uri="{FF2B5EF4-FFF2-40B4-BE49-F238E27FC236}">
                <a16:creationId xmlns:a16="http://schemas.microsoft.com/office/drawing/2014/main" id="{236DDCA7-2D38-04D7-5FB4-240CFC7457D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915162" y="4592565"/>
            <a:ext cx="431326" cy="494866"/>
          </a:xfrm>
          <a:prstGeom prst="rect">
            <a:avLst/>
          </a:prstGeom>
        </p:spPr>
      </p:pic>
      <p:pic>
        <p:nvPicPr>
          <p:cNvPr id="1042" name="Picture 18" descr="スマートニュースはSNSでも情報を発信しています">
            <a:extLst>
              <a:ext uri="{FF2B5EF4-FFF2-40B4-BE49-F238E27FC236}">
                <a16:creationId xmlns:a16="http://schemas.microsoft.com/office/drawing/2014/main" id="{4F12F3EC-DFC2-4480-39CA-8C4C8AE3C056}"/>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r="70053"/>
          <a:stretch>
            <a:fillRect/>
          </a:stretch>
        </p:blipFill>
        <p:spPr bwMode="auto">
          <a:xfrm>
            <a:off x="8334066" y="4584625"/>
            <a:ext cx="564335" cy="580417"/>
          </a:xfrm>
          <a:prstGeom prst="rect">
            <a:avLst/>
          </a:prstGeom>
          <a:noFill/>
          <a:extLst>
            <a:ext uri="{909E8E84-426E-40DD-AFC4-6F175D3DCCD1}">
              <a14:hiddenFill xmlns:a14="http://schemas.microsoft.com/office/drawing/2010/main">
                <a:solidFill>
                  <a:srgbClr val="FFFFFF"/>
                </a:solidFill>
              </a14:hiddenFill>
            </a:ext>
          </a:extLst>
        </p:spPr>
      </p:pic>
      <p:sp>
        <p:nvSpPr>
          <p:cNvPr id="56" name="矢印: 下 55">
            <a:extLst>
              <a:ext uri="{FF2B5EF4-FFF2-40B4-BE49-F238E27FC236}">
                <a16:creationId xmlns:a16="http://schemas.microsoft.com/office/drawing/2014/main" id="{E75D1A0F-AE27-48A1-23FB-0EB865F9868F}"/>
              </a:ext>
            </a:extLst>
          </p:cNvPr>
          <p:cNvSpPr/>
          <p:nvPr/>
        </p:nvSpPr>
        <p:spPr>
          <a:xfrm>
            <a:off x="2694214" y="252912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矢印: 下 56">
            <a:extLst>
              <a:ext uri="{FF2B5EF4-FFF2-40B4-BE49-F238E27FC236}">
                <a16:creationId xmlns:a16="http://schemas.microsoft.com/office/drawing/2014/main" id="{45EAB25F-C320-6516-2457-A8EC46BA5759}"/>
              </a:ext>
            </a:extLst>
          </p:cNvPr>
          <p:cNvSpPr/>
          <p:nvPr/>
        </p:nvSpPr>
        <p:spPr>
          <a:xfrm>
            <a:off x="7125416" y="2500315"/>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矢印: 下 57">
            <a:extLst>
              <a:ext uri="{FF2B5EF4-FFF2-40B4-BE49-F238E27FC236}">
                <a16:creationId xmlns:a16="http://schemas.microsoft.com/office/drawing/2014/main" id="{D4C3E4FB-FBBD-F807-4224-633D3437041D}"/>
              </a:ext>
            </a:extLst>
          </p:cNvPr>
          <p:cNvSpPr/>
          <p:nvPr/>
        </p:nvSpPr>
        <p:spPr>
          <a:xfrm>
            <a:off x="7077925" y="3692382"/>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矢印: 下 58">
            <a:extLst>
              <a:ext uri="{FF2B5EF4-FFF2-40B4-BE49-F238E27FC236}">
                <a16:creationId xmlns:a16="http://schemas.microsoft.com/office/drawing/2014/main" id="{101128B9-99D7-A912-7FA8-A54843D9D245}"/>
              </a:ext>
            </a:extLst>
          </p:cNvPr>
          <p:cNvSpPr/>
          <p:nvPr/>
        </p:nvSpPr>
        <p:spPr>
          <a:xfrm>
            <a:off x="1531548" y="494319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下 59">
            <a:extLst>
              <a:ext uri="{FF2B5EF4-FFF2-40B4-BE49-F238E27FC236}">
                <a16:creationId xmlns:a16="http://schemas.microsoft.com/office/drawing/2014/main" id="{98D6B609-F1DC-B6C8-DC56-54C22972DE71}"/>
              </a:ext>
            </a:extLst>
          </p:cNvPr>
          <p:cNvSpPr/>
          <p:nvPr/>
        </p:nvSpPr>
        <p:spPr>
          <a:xfrm>
            <a:off x="3985192" y="4946879"/>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1" name="矢印: 下 60">
            <a:extLst>
              <a:ext uri="{FF2B5EF4-FFF2-40B4-BE49-F238E27FC236}">
                <a16:creationId xmlns:a16="http://schemas.microsoft.com/office/drawing/2014/main" id="{CBA9CA06-6F9A-2C27-90F1-49EDB667ED05}"/>
              </a:ext>
            </a:extLst>
          </p:cNvPr>
          <p:cNvSpPr/>
          <p:nvPr/>
        </p:nvSpPr>
        <p:spPr>
          <a:xfrm rot="17888006">
            <a:off x="5384120" y="4622183"/>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下 61">
            <a:extLst>
              <a:ext uri="{FF2B5EF4-FFF2-40B4-BE49-F238E27FC236}">
                <a16:creationId xmlns:a16="http://schemas.microsoft.com/office/drawing/2014/main" id="{50FA0F8D-4B66-B543-827F-E62BB2D7A5C7}"/>
              </a:ext>
            </a:extLst>
          </p:cNvPr>
          <p:cNvSpPr/>
          <p:nvPr/>
        </p:nvSpPr>
        <p:spPr>
          <a:xfrm rot="7261747">
            <a:off x="5310324" y="4360130"/>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54400245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運用スケジュール</a:t>
            </a:r>
            <a:endParaRPr sz="1600" b="1" dirty="0">
              <a:solidFill>
                <a:srgbClr val="002060"/>
              </a:solidFill>
              <a:latin typeface="Meiryo"/>
              <a:ea typeface="Meiryo"/>
              <a:cs typeface="Meiryo"/>
              <a:sym typeface="Meiryo"/>
            </a:endParaRPr>
          </a:p>
        </p:txBody>
      </p:sp>
      <p:sp>
        <p:nvSpPr>
          <p:cNvPr id="28" name="角丸四角形 27"/>
          <p:cNvSpPr/>
          <p:nvPr/>
        </p:nvSpPr>
        <p:spPr>
          <a:xfrm>
            <a:off x="910833" y="19940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STEP1</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9" name="角丸四角形 28"/>
          <p:cNvSpPr/>
          <p:nvPr/>
        </p:nvSpPr>
        <p:spPr>
          <a:xfrm>
            <a:off x="910833" y="353713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STEP3</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1" name="角丸四角形 30"/>
          <p:cNvSpPr/>
          <p:nvPr/>
        </p:nvSpPr>
        <p:spPr>
          <a:xfrm>
            <a:off x="910833" y="276560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STEP2</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2" name="角丸四角形 31"/>
          <p:cNvSpPr/>
          <p:nvPr/>
        </p:nvSpPr>
        <p:spPr>
          <a:xfrm>
            <a:off x="910833" y="430865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STEP4</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3" name="角丸四角形 32"/>
          <p:cNvSpPr/>
          <p:nvPr/>
        </p:nvSpPr>
        <p:spPr>
          <a:xfrm>
            <a:off x="910833" y="50801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STEP5</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 name="正方形/長方形 1"/>
          <p:cNvSpPr/>
          <p:nvPr/>
        </p:nvSpPr>
        <p:spPr>
          <a:xfrm>
            <a:off x="4600923" y="2266950"/>
            <a:ext cx="1638300" cy="39164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角丸四角形 39"/>
          <p:cNvSpPr/>
          <p:nvPr/>
        </p:nvSpPr>
        <p:spPr>
          <a:xfrm>
            <a:off x="3133924" y="19940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お申込み（書類締結）</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1" name="角丸四角形 40"/>
          <p:cNvSpPr/>
          <p:nvPr/>
        </p:nvSpPr>
        <p:spPr>
          <a:xfrm>
            <a:off x="3133924" y="353713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連携の設定 </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 </a:t>
            </a: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タグ確認</a:t>
            </a:r>
          </a:p>
        </p:txBody>
      </p:sp>
      <p:sp>
        <p:nvSpPr>
          <p:cNvPr id="42" name="角丸四角形 41"/>
          <p:cNvSpPr/>
          <p:nvPr/>
        </p:nvSpPr>
        <p:spPr>
          <a:xfrm>
            <a:off x="3133924" y="276560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キックオフ</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MTG</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4" name="角丸四角形 43"/>
          <p:cNvSpPr/>
          <p:nvPr/>
        </p:nvSpPr>
        <p:spPr>
          <a:xfrm>
            <a:off x="3133924" y="430865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初期設計の構築</a:t>
            </a:r>
          </a:p>
        </p:txBody>
      </p:sp>
      <p:sp>
        <p:nvSpPr>
          <p:cNvPr id="45" name="角丸四角形 44"/>
          <p:cNvSpPr/>
          <p:nvPr/>
        </p:nvSpPr>
        <p:spPr>
          <a:xfrm>
            <a:off x="3133924" y="50801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運用開始</a:t>
            </a:r>
          </a:p>
        </p:txBody>
      </p:sp>
      <p:sp>
        <p:nvSpPr>
          <p:cNvPr id="19" name="正方形/長方形 18"/>
          <p:cNvSpPr/>
          <p:nvPr/>
        </p:nvSpPr>
        <p:spPr>
          <a:xfrm>
            <a:off x="548883" y="1033120"/>
            <a:ext cx="8921032" cy="461665"/>
          </a:xfrm>
          <a:prstGeom prst="rect">
            <a:avLst/>
          </a:prstGeom>
        </p:spPr>
        <p:txBody>
          <a:bodyPr wrap="none">
            <a:spAutoFit/>
          </a:bodyPr>
          <a:lstStyle/>
          <a:p>
            <a:r>
              <a:rPr lang="ja-JP" altLang="en-US" sz="2400" dirty="0">
                <a:latin typeface="メイリオ" panose="020B0604030504040204" pitchFamily="50" charset="-128"/>
                <a:ea typeface="メイリオ" panose="020B0604030504040204" pitchFamily="50" charset="-128"/>
              </a:rPr>
              <a:t>サイト</a:t>
            </a:r>
            <a:r>
              <a:rPr lang="en-US" altLang="ja-JP" sz="2400" dirty="0">
                <a:latin typeface="メイリオ" panose="020B0604030504040204" pitchFamily="50" charset="-128"/>
                <a:ea typeface="メイリオ" panose="020B0604030504040204" pitchFamily="50" charset="-128"/>
              </a:rPr>
              <a:t>/LINE</a:t>
            </a:r>
            <a:r>
              <a:rPr lang="ja-JP" altLang="en-US" sz="2400" dirty="0">
                <a:latin typeface="メイリオ" panose="020B0604030504040204" pitchFamily="50" charset="-128"/>
                <a:ea typeface="メイリオ" panose="020B0604030504040204" pitchFamily="50" charset="-128"/>
              </a:rPr>
              <a:t>上への実装については、約</a:t>
            </a:r>
            <a:r>
              <a:rPr lang="en-US" altLang="ja-JP" sz="2400" dirty="0">
                <a:latin typeface="メイリオ" panose="020B0604030504040204" pitchFamily="50" charset="-128"/>
                <a:ea typeface="メイリオ" panose="020B0604030504040204" pitchFamily="50" charset="-128"/>
              </a:rPr>
              <a:t>1</a:t>
            </a:r>
            <a:r>
              <a:rPr lang="ja-JP" altLang="en-US" sz="2400" dirty="0">
                <a:latin typeface="メイリオ" panose="020B0604030504040204" pitchFamily="50" charset="-128"/>
                <a:ea typeface="メイリオ" panose="020B0604030504040204" pitchFamily="50" charset="-128"/>
              </a:rPr>
              <a:t>か月程度を頂き進行。</a:t>
            </a:r>
            <a:endParaRPr lang="ja-JP" altLang="en-US" sz="2400" dirty="0"/>
          </a:p>
        </p:txBody>
      </p:sp>
      <p:sp>
        <p:nvSpPr>
          <p:cNvPr id="20" name="正方形/長方形 19"/>
          <p:cNvSpPr/>
          <p:nvPr/>
        </p:nvSpPr>
        <p:spPr>
          <a:xfrm>
            <a:off x="4708989" y="5841409"/>
            <a:ext cx="4955203" cy="276999"/>
          </a:xfrm>
          <a:prstGeom prst="rect">
            <a:avLst/>
          </a:prstGeom>
        </p:spPr>
        <p:txBody>
          <a:bodyPr wrap="none">
            <a:spAutoFit/>
          </a:bodyPr>
          <a:lstStyle/>
          <a:p>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貴社作業・確認にかかる時間により前後する可能性がございます。</a:t>
            </a:r>
          </a:p>
        </p:txBody>
      </p:sp>
      <p:cxnSp>
        <p:nvCxnSpPr>
          <p:cNvPr id="21" name="直線矢印コネクタ 20"/>
          <p:cNvCxnSpPr/>
          <p:nvPr/>
        </p:nvCxnSpPr>
        <p:spPr>
          <a:xfrm>
            <a:off x="6985106" y="2256762"/>
            <a:ext cx="0" cy="3086100"/>
          </a:xfrm>
          <a:prstGeom prst="straightConnector1">
            <a:avLst/>
          </a:prstGeom>
          <a:ln w="38100">
            <a:solidFill>
              <a:schemeClr val="tx1">
                <a:lumMod val="75000"/>
                <a:lumOff val="2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2" name="正方形/長方形 21"/>
          <p:cNvSpPr/>
          <p:nvPr/>
        </p:nvSpPr>
        <p:spPr>
          <a:xfrm>
            <a:off x="7042256" y="2130871"/>
            <a:ext cx="742511" cy="276999"/>
          </a:xfrm>
          <a:prstGeom prst="rect">
            <a:avLst/>
          </a:prstGeom>
          <a:solidFill>
            <a:schemeClr val="accent1">
              <a:lumMod val="20000"/>
              <a:lumOff val="80000"/>
            </a:schemeClr>
          </a:solidFill>
        </p:spPr>
        <p:txBody>
          <a:bodyPr wrap="none">
            <a:spAutoFit/>
          </a:bodyPr>
          <a:lstStyle/>
          <a:p>
            <a:r>
              <a:rPr lang="ja-JP" altLang="en-US" sz="1200" dirty="0">
                <a:latin typeface="メイリオ" panose="020B0604030504040204" pitchFamily="50" charset="-128"/>
                <a:ea typeface="メイリオ" panose="020B0604030504040204" pitchFamily="50" charset="-128"/>
              </a:rPr>
              <a:t>約</a:t>
            </a:r>
            <a:r>
              <a:rPr lang="en-US" altLang="ja-JP" sz="1200" dirty="0">
                <a:latin typeface="メイリオ" panose="020B0604030504040204" pitchFamily="50" charset="-128"/>
                <a:ea typeface="メイリオ" panose="020B0604030504040204" pitchFamily="50" charset="-128"/>
              </a:rPr>
              <a:t>1</a:t>
            </a:r>
            <a:r>
              <a:rPr lang="ja-JP" altLang="en-US" sz="1200" dirty="0">
                <a:latin typeface="メイリオ" panose="020B0604030504040204" pitchFamily="50" charset="-128"/>
                <a:ea typeface="メイリオ" panose="020B0604030504040204" pitchFamily="50" charset="-128"/>
              </a:rPr>
              <a:t>か月</a:t>
            </a:r>
            <a:endParaRPr lang="ja-JP" altLang="en-US" sz="1200" dirty="0"/>
          </a:p>
        </p:txBody>
      </p:sp>
      <p:sp>
        <p:nvSpPr>
          <p:cNvPr id="3" name="正方形/長方形 2"/>
          <p:cNvSpPr/>
          <p:nvPr/>
        </p:nvSpPr>
        <p:spPr>
          <a:xfrm>
            <a:off x="7902506" y="3514209"/>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オーディエンスリスト作成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タグ設定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GA</a:t>
            </a:r>
            <a:r>
              <a:rPr lang="ja-JP" altLang="en-US" sz="800" dirty="0">
                <a:solidFill>
                  <a:schemeClr val="bg1">
                    <a:lumMod val="50000"/>
                  </a:schemeClr>
                </a:solidFill>
                <a:latin typeface="メイリオ" panose="020B0604030504040204" pitchFamily="50" charset="-128"/>
                <a:ea typeface="メイリオ" panose="020B0604030504040204" pitchFamily="50" charset="-128"/>
              </a:rPr>
              <a:t>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
        <p:nvSpPr>
          <p:cNvPr id="24" name="正方形/長方形 23"/>
          <p:cNvSpPr/>
          <p:nvPr/>
        </p:nvSpPr>
        <p:spPr>
          <a:xfrm>
            <a:off x="7897281" y="4276528"/>
            <a:ext cx="1107996"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リッチメニュー作成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アンケート設計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シナリオ設計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Tree>
    <p:extLst>
      <p:ext uri="{BB962C8B-B14F-4D97-AF65-F5344CB8AC3E}">
        <p14:creationId xmlns:p14="http://schemas.microsoft.com/office/powerpoint/2010/main" val="212143481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E9651-D02B-F1D5-7974-8EFB42339FA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D14D38F-F567-ACF2-CDEB-76004FDB5B5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36C1E2A-AC35-76CA-EBEE-CAD4F26CF45A}"/>
              </a:ext>
            </a:extLst>
          </p:cNvPr>
          <p:cNvSpPr/>
          <p:nvPr/>
        </p:nvSpPr>
        <p:spPr>
          <a:xfrm>
            <a:off x="1460711" y="3038203"/>
            <a:ext cx="6984604" cy="584775"/>
          </a:xfrm>
          <a:prstGeom prst="rect">
            <a:avLst/>
          </a:prstGeom>
        </p:spPr>
        <p:txBody>
          <a:bodyPr wrap="none">
            <a:spAutoFit/>
          </a:bodyPr>
          <a:lstStyle/>
          <a:p>
            <a:pPr algn="ct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公式アカウント運用のメリット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70954333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離脱防止 </a:t>
            </a:r>
            <a:r>
              <a:rPr lang="en-US" altLang="ja-JP" sz="1400" dirty="0">
                <a:solidFill>
                  <a:srgbClr val="343434"/>
                </a:solidFill>
                <a:latin typeface="メイリオ" panose="020B0604030504040204" pitchFamily="50" charset="-128"/>
                <a:ea typeface="メイリオ" panose="020B0604030504040204" pitchFamily="50" charset="-128"/>
              </a:rPr>
              <a:t>&gt;&gt; </a:t>
            </a:r>
            <a:r>
              <a:rPr lang="ja-JP" altLang="en-US" sz="1400" dirty="0">
                <a:solidFill>
                  <a:srgbClr val="343434"/>
                </a:solidFill>
                <a:latin typeface="メイリオ" panose="020B0604030504040204" pitchFamily="50" charset="-128"/>
                <a:ea typeface="メイリオ" panose="020B0604030504040204" pitchFamily="50" charset="-128"/>
              </a:rPr>
              <a:t>友だち追加 </a:t>
            </a:r>
            <a:r>
              <a:rPr lang="en-US" altLang="ja-JP" sz="1400" dirty="0">
                <a:solidFill>
                  <a:srgbClr val="343434"/>
                </a:solidFill>
                <a:latin typeface="メイリオ" panose="020B0604030504040204" pitchFamily="50" charset="-128"/>
                <a:ea typeface="メイリオ" panose="020B0604030504040204" pitchFamily="50" charset="-128"/>
              </a:rPr>
              <a:t>&gt;&gt; LINE</a:t>
            </a:r>
            <a:r>
              <a:rPr lang="ja-JP" altLang="en-US" sz="1400" dirty="0">
                <a:solidFill>
                  <a:srgbClr val="343434"/>
                </a:solidFill>
                <a:latin typeface="メイリオ" panose="020B0604030504040204" pitchFamily="50" charset="-128"/>
                <a:ea typeface="メイリオ" panose="020B0604030504040204" pitchFamily="50" charset="-128"/>
              </a:rPr>
              <a:t>で学習 </a:t>
            </a:r>
            <a:r>
              <a:rPr lang="en-US" altLang="ja-JP" sz="1400" dirty="0">
                <a:solidFill>
                  <a:srgbClr val="343434"/>
                </a:solidFill>
                <a:latin typeface="メイリオ" panose="020B0604030504040204" pitchFamily="50" charset="-128"/>
                <a:ea typeface="メイリオ" panose="020B0604030504040204" pitchFamily="50" charset="-128"/>
              </a:rPr>
              <a:t>&gt;&gt; </a:t>
            </a:r>
            <a:r>
              <a:rPr lang="ja-JP" altLang="en-US" sz="1400" dirty="0">
                <a:solidFill>
                  <a:srgbClr val="343434"/>
                </a:solidFill>
                <a:latin typeface="メイリオ" panose="020B0604030504040204" pitchFamily="50" charset="-128"/>
                <a:ea typeface="メイリオ" panose="020B0604030504040204" pitchFamily="50" charset="-128"/>
              </a:rPr>
              <a:t>リード獲得・利用 の導線設計でハードルを抑えつつ運用することが可能。</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021152"/>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655205" y="4152765"/>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a:t>
            </a:r>
            <a:r>
              <a:rPr kumimoji="1" lang="ja-JP" altLang="en-US" sz="900" b="1" dirty="0">
                <a:solidFill>
                  <a:schemeClr val="bg1"/>
                </a:solidFill>
                <a:latin typeface="メイリオ" panose="020B0604030504040204" pitchFamily="50" charset="-128"/>
                <a:ea typeface="メイリオ" panose="020B0604030504040204" pitchFamily="50" charset="-128"/>
              </a:rPr>
              <a:t>過去の顧客データを活用</a:t>
            </a: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32031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55205" y="337704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離脱防止バナーにて</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検討段階ユーザーを</a:t>
            </a:r>
            <a:r>
              <a:rPr lang="en-US" altLang="ja-JP" sz="900" b="1" dirty="0">
                <a:solidFill>
                  <a:schemeClr val="bg1"/>
                </a:solidFill>
                <a:latin typeface="メイリオ" panose="020B0604030504040204" pitchFamily="50" charset="-128"/>
                <a:ea typeface="メイリオ" panose="020B0604030504040204" pitchFamily="50" charset="-128"/>
              </a:rPr>
              <a:t>LINE</a:t>
            </a:r>
            <a:r>
              <a:rPr lang="ja-JP" altLang="en-US" sz="900" b="1" dirty="0">
                <a:solidFill>
                  <a:schemeClr val="bg1"/>
                </a:solidFill>
                <a:latin typeface="メイリオ" panose="020B0604030504040204" pitchFamily="50" charset="-128"/>
                <a:ea typeface="メイリオ" panose="020B0604030504040204" pitchFamily="50" charset="-128"/>
              </a:rPr>
              <a:t>誘導</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55205" y="231376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接触、詳細ページ閲覧</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の動線での</a:t>
            </a:r>
            <a:r>
              <a:rPr lang="en-US" altLang="ja-JP" sz="900" b="1" dirty="0">
                <a:solidFill>
                  <a:schemeClr val="bg1"/>
                </a:solidFill>
                <a:latin typeface="メイリオ" panose="020B0604030504040204" pitchFamily="50" charset="-128"/>
                <a:ea typeface="メイリオ" panose="020B0604030504040204" pitchFamily="50" charset="-128"/>
              </a:rPr>
              <a:t>LINE</a:t>
            </a:r>
            <a:r>
              <a:rPr lang="ja-JP" altLang="en-US" sz="900" b="1" dirty="0">
                <a:solidFill>
                  <a:schemeClr val="bg1"/>
                </a:solidFill>
                <a:latin typeface="メイリオ" panose="020B0604030504040204" pitchFamily="50" charset="-128"/>
                <a:ea typeface="メイリオ" panose="020B0604030504040204" pitchFamily="50" charset="-128"/>
              </a:rPr>
              <a:t>誘導を整備</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DYM</a:t>
            </a:r>
            <a:r>
              <a:rPr lang="ja-JP" altLang="en-US" sz="1200" dirty="0">
                <a:solidFill>
                  <a:schemeClr val="bg1"/>
                </a:solidFill>
                <a:latin typeface="メイリオ" panose="020B0604030504040204" pitchFamily="50" charset="-128"/>
                <a:ea typeface="メイリオ" panose="020B0604030504040204" pitchFamily="50" charset="-128"/>
              </a:rPr>
              <a:t>施策</a:t>
            </a:r>
            <a:endParaRPr lang="ja-JP" altLang="en-US" sz="1200" dirty="0">
              <a:solidFill>
                <a:schemeClr val="bg1"/>
              </a:solidFill>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現状施策</a:t>
            </a:r>
            <a:endParaRPr lang="ja-JP" altLang="en-US" sz="1200" dirty="0">
              <a:solidFill>
                <a:schemeClr val="bg1"/>
              </a:solidFill>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55205" y="5785358"/>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定期購入・クロスセル</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商材への動線設計</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55205" y="5315094"/>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※ID</a:t>
            </a:r>
            <a:r>
              <a:rPr kumimoji="1" lang="ja-JP" altLang="en-US" sz="900" b="1" dirty="0">
                <a:solidFill>
                  <a:schemeClr val="bg1"/>
                </a:solidFill>
                <a:latin typeface="メイリオ" panose="020B0604030504040204" pitchFamily="50" charset="-128"/>
                <a:ea typeface="メイリオ" panose="020B0604030504040204" pitchFamily="50" charset="-128"/>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55205" y="4814700"/>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a:t>
            </a:r>
            <a:r>
              <a:rPr kumimoji="1" lang="ja-JP" altLang="en-US" sz="900" b="1" dirty="0">
                <a:solidFill>
                  <a:schemeClr val="bg1"/>
                </a:solidFill>
                <a:latin typeface="メイリオ" panose="020B0604030504040204" pitchFamily="50" charset="-128"/>
                <a:ea typeface="メイリオ" panose="020B0604030504040204" pitchFamily="50" charset="-128"/>
              </a:rPr>
              <a:t>ミニアプリ・診断 →</a:t>
            </a:r>
            <a:r>
              <a:rPr lang="en-US" altLang="ja-JP" sz="900" b="1" dirty="0">
                <a:solidFill>
                  <a:schemeClr val="bg1"/>
                </a:solidFill>
                <a:latin typeface="メイリオ" panose="020B0604030504040204" pitchFamily="50" charset="-128"/>
                <a:ea typeface="メイリオ" panose="020B0604030504040204" pitchFamily="50" charset="-128"/>
              </a:rPr>
              <a:t> </a:t>
            </a:r>
            <a:r>
              <a:rPr lang="ja-JP" altLang="en-US" sz="900" b="1" dirty="0">
                <a:solidFill>
                  <a:schemeClr val="bg1"/>
                </a:solidFill>
                <a:latin typeface="メイリオ" panose="020B0604030504040204" pitchFamily="50" charset="-128"/>
                <a:ea typeface="メイリオ" panose="020B0604030504040204" pitchFamily="50" charset="-128"/>
              </a:rPr>
              <a:t>特典</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46221"/>
          </a:xfrm>
          <a:prstGeom prst="rect">
            <a:avLst/>
          </a:prstGeom>
          <a:noFill/>
        </p:spPr>
        <p:txBody>
          <a:bodyPr wrap="square">
            <a:spAutoFit/>
          </a:body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a:t>
            </a:r>
            <a:r>
              <a:rPr kumimoji="1" lang="ja-JP" altLang="en-US" sz="1000" dirty="0">
                <a:solidFill>
                  <a:schemeClr val="bg1"/>
                </a:solidFill>
                <a:latin typeface="メイリオ" panose="020B0604030504040204" pitchFamily="50" charset="-128"/>
                <a:ea typeface="メイリオ" panose="020B0604030504040204" pitchFamily="50" charset="-128"/>
              </a:rPr>
              <a:t>長期施策として想定</a:t>
            </a:r>
          </a:p>
        </p:txBody>
      </p:sp>
      <p:sp>
        <p:nvSpPr>
          <p:cNvPr id="38" name="台形 37">
            <a:extLst>
              <a:ext uri="{FF2B5EF4-FFF2-40B4-BE49-F238E27FC236}">
                <a16:creationId xmlns:a16="http://schemas.microsoft.com/office/drawing/2014/main" id="{E53AF788-4E7A-2498-3387-439141AF8B85}"/>
              </a:ext>
            </a:extLst>
          </p:cNvPr>
          <p:cNvSpPr/>
          <p:nvPr/>
        </p:nvSpPr>
        <p:spPr>
          <a:xfrm rot="10800000" flipV="1">
            <a:off x="5413000" y="2265395"/>
            <a:ext cx="1826395" cy="3929946"/>
          </a:xfrm>
          <a:prstGeom prst="trapezoid">
            <a:avLst>
              <a:gd name="adj" fmla="val 0"/>
            </a:avLst>
          </a:prstGeom>
          <a:solidFill>
            <a:schemeClr val="bg1">
              <a:lumMod val="95000"/>
              <a:alpha val="67000"/>
            </a:schemeClr>
          </a:solidFill>
          <a:ln w="952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rPr>
              <a:t>ヒアリングの上</a:t>
            </a:r>
            <a:endParaRPr lang="en-US" altLang="ja-JP" sz="105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050" b="1" dirty="0">
                <a:solidFill>
                  <a:schemeClr val="tx1"/>
                </a:solidFill>
                <a:latin typeface="メイリオ" panose="020B0604030504040204" pitchFamily="50" charset="-128"/>
                <a:ea typeface="メイリオ" panose="020B0604030504040204" pitchFamily="50" charset="-128"/>
              </a:rPr>
              <a:t>確定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 </a:t>
            </a:r>
            <a:r>
              <a:rPr kumimoji="1" lang="ja-JP" altLang="en-US" sz="1200" b="1" dirty="0">
                <a:latin typeface="メイリオ" panose="020B0604030504040204" pitchFamily="50" charset="-128"/>
                <a:ea typeface="メイリオ" panose="020B0604030504040204" pitchFamily="50" charset="-128"/>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85871" y="5900751"/>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自社</a:t>
            </a:r>
            <a:r>
              <a:rPr kumimoji="1" lang="en-US" altLang="ja-JP" sz="1200" b="1" dirty="0">
                <a:latin typeface="メイリオ" panose="020B0604030504040204" pitchFamily="50" charset="-128"/>
                <a:ea typeface="メイリオ" panose="020B0604030504040204" pitchFamily="50" charset="-128"/>
              </a:rPr>
              <a:t>App/</a:t>
            </a:r>
            <a:r>
              <a:rPr kumimoji="1" lang="ja-JP" altLang="en-US" sz="1200" b="1" dirty="0">
                <a:latin typeface="メイリオ" panose="020B0604030504040204" pitchFamily="50" charset="-128"/>
                <a:ea typeface="メイリオ" panose="020B0604030504040204" pitchFamily="50" charset="-128"/>
              </a:rPr>
              <a:t>ネットワーク</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a:t>
            </a:r>
            <a:r>
              <a:rPr lang="en-US" altLang="ja-JP" sz="1200" b="1" dirty="0">
                <a:latin typeface="メイリオ" panose="020B0604030504040204" pitchFamily="50" charset="-128"/>
                <a:ea typeface="メイリオ" panose="020B0604030504040204" pitchFamily="50" charset="-128"/>
              </a:rPr>
              <a:t>ID</a:t>
            </a:r>
            <a:r>
              <a:rPr lang="ja-JP" altLang="en-US" sz="1200" b="1" dirty="0">
                <a:latin typeface="メイリオ" panose="020B0604030504040204" pitchFamily="50" charset="-128"/>
                <a:ea typeface="メイリオ" panose="020B0604030504040204" pitchFamily="50" charset="-128"/>
              </a:rPr>
              <a:t>連携等の開発）</a:t>
            </a:r>
            <a:endParaRPr kumimoji="1" lang="ja-JP" altLang="en-US"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でログイン</a:t>
            </a:r>
          </a:p>
        </p:txBody>
      </p:sp>
    </p:spTree>
    <p:extLst>
      <p:ext uri="{BB962C8B-B14F-4D97-AF65-F5344CB8AC3E}">
        <p14:creationId xmlns:p14="http://schemas.microsoft.com/office/powerpoint/2010/main" val="426513679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BCB9F207-E933-48A8-A62B-47A12C4BFADB}"/>
              </a:ext>
            </a:extLst>
          </p:cNvPr>
          <p:cNvSpPr/>
          <p:nvPr/>
        </p:nvSpPr>
        <p:spPr>
          <a:xfrm>
            <a:off x="788963" y="824934"/>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ユーザーコミュニケーションに、</a:t>
            </a:r>
            <a:r>
              <a:rPr lang="en-US" altLang="ja-JP" sz="1400" dirty="0" err="1">
                <a:solidFill>
                  <a:srgbClr val="343434"/>
                </a:solidFill>
                <a:latin typeface="メイリオ" panose="020B0604030504040204" pitchFamily="50" charset="-128"/>
                <a:ea typeface="メイリオ" panose="020B0604030504040204" pitchFamily="50" charset="-128"/>
              </a:rPr>
              <a:t>LINE公式アカウントを導入する</a:t>
            </a:r>
            <a:r>
              <a:rPr lang="ja-JP" altLang="en-US" sz="1400" dirty="0">
                <a:solidFill>
                  <a:srgbClr val="343434"/>
                </a:solidFill>
                <a:latin typeface="メイリオ" panose="020B0604030504040204" pitchFamily="50" charset="-128"/>
                <a:ea typeface="メイリオ" panose="020B0604030504040204" pitchFamily="50" charset="-128"/>
              </a:rPr>
              <a:t>法人</a:t>
            </a:r>
            <a:r>
              <a:rPr lang="en-US" altLang="ja-JP" sz="1400" dirty="0">
                <a:solidFill>
                  <a:srgbClr val="343434"/>
                </a:solidFill>
                <a:latin typeface="メイリオ" panose="020B0604030504040204" pitchFamily="50" charset="-128"/>
                <a:ea typeface="メイリオ" panose="020B0604030504040204" pitchFamily="50" charset="-128"/>
              </a:rPr>
              <a:t>が</a:t>
            </a:r>
            <a:r>
              <a:rPr lang="ja-JP" altLang="en-US" sz="1400" dirty="0">
                <a:solidFill>
                  <a:srgbClr val="343434"/>
                </a:solidFill>
                <a:latin typeface="メイリオ" panose="020B0604030504040204" pitchFamily="50" charset="-128"/>
                <a:ea typeface="メイリオ" panose="020B0604030504040204" pitchFamily="50" charset="-128"/>
              </a:rPr>
              <a:t>増加傾向</a:t>
            </a:r>
            <a:r>
              <a:rPr lang="en-US" altLang="ja-JP" sz="1400" dirty="0">
                <a:solidFill>
                  <a:srgbClr val="343434"/>
                </a:solidFill>
                <a:latin typeface="メイリオ" panose="020B0604030504040204" pitchFamily="50" charset="-128"/>
                <a:ea typeface="メイリオ" panose="020B0604030504040204" pitchFamily="50" charset="-128"/>
              </a:rPr>
              <a:t>。</a:t>
            </a:r>
          </a:p>
          <a:p>
            <a:pPr algn="ctr">
              <a:lnSpc>
                <a:spcPts val="2455"/>
              </a:lnSpc>
            </a:pPr>
            <a:r>
              <a:rPr lang="en-US" altLang="ja-JP" sz="1400" b="1" dirty="0">
                <a:solidFill>
                  <a:srgbClr val="343434"/>
                </a:solidFill>
                <a:latin typeface="メイリオ" panose="020B0604030504040204" pitchFamily="50" charset="-128"/>
                <a:ea typeface="メイリオ" panose="020B0604030504040204" pitchFamily="50" charset="-128"/>
              </a:rPr>
              <a:t>開封率に関してはメールマガジンの6倍を誇る</a:t>
            </a:r>
            <a:r>
              <a:rPr lang="en-US" altLang="ja-JP" sz="1400" dirty="0">
                <a:solidFill>
                  <a:srgbClr val="343434"/>
                </a:solidFill>
                <a:latin typeface="メイリオ" panose="020B0604030504040204" pitchFamily="50" charset="-128"/>
                <a:ea typeface="メイリオ" panose="020B0604030504040204" pitchFamily="50" charset="-128"/>
              </a:rPr>
              <a:t>と言われています。</a:t>
            </a:r>
          </a:p>
        </p:txBody>
      </p:sp>
      <p:cxnSp>
        <p:nvCxnSpPr>
          <p:cNvPr id="9" name="直線コネクタ 8">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10" name="Group 2">
            <a:extLst>
              <a:ext uri="{FF2B5EF4-FFF2-40B4-BE49-F238E27FC236}">
                <a16:creationId xmlns:a16="http://schemas.microsoft.com/office/drawing/2014/main" id="{8411FB04-4378-9C1F-7198-DA25276CF8E2}"/>
              </a:ext>
            </a:extLst>
          </p:cNvPr>
          <p:cNvGrpSpPr/>
          <p:nvPr/>
        </p:nvGrpSpPr>
        <p:grpSpPr>
          <a:xfrm>
            <a:off x="788963" y="1653447"/>
            <a:ext cx="8366061" cy="731867"/>
            <a:chOff x="0" y="0"/>
            <a:chExt cx="3130995" cy="273901"/>
          </a:xfrm>
        </p:grpSpPr>
        <p:sp>
          <p:nvSpPr>
            <p:cNvPr id="11" name="Freeform 3">
              <a:extLst>
                <a:ext uri="{FF2B5EF4-FFF2-40B4-BE49-F238E27FC236}">
                  <a16:creationId xmlns:a16="http://schemas.microsoft.com/office/drawing/2014/main" id="{DA30BE06-7392-13FD-69EB-48890255A158}"/>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12" name="TextBox 4">
              <a:extLst>
                <a:ext uri="{FF2B5EF4-FFF2-40B4-BE49-F238E27FC236}">
                  <a16:creationId xmlns:a16="http://schemas.microsoft.com/office/drawing/2014/main" id="{C283FFE9-487F-ECFB-11D7-47B424A23DE5}"/>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dirty="0">
                  <a:solidFill>
                    <a:srgbClr val="040606"/>
                  </a:solidFill>
                  <a:latin typeface="メイリオ" panose="020B0604030504040204" pitchFamily="50" charset="-128"/>
                  <a:ea typeface="メイリオ" panose="020B0604030504040204" pitchFamily="50" charset="-128"/>
                </a:rPr>
                <a:t>　　　　</a:t>
              </a:r>
              <a:r>
                <a:rPr lang="en-US" sz="1400" dirty="0" err="1">
                  <a:solidFill>
                    <a:srgbClr val="040606"/>
                  </a:solidFill>
                  <a:latin typeface="メイリオ" panose="020B0604030504040204" pitchFamily="50" charset="-128"/>
                  <a:ea typeface="メイリオ" panose="020B0604030504040204" pitchFamily="50" charset="-128"/>
                </a:rPr>
                <a:t>メールマガジン</a:t>
              </a:r>
              <a:r>
                <a:rPr lang="ja-JP" altLang="en-US" sz="1400" dirty="0" err="1">
                  <a:solidFill>
                    <a:srgbClr val="040606"/>
                  </a:solidFill>
                  <a:latin typeface="メイリオ" panose="020B0604030504040204" pitchFamily="50" charset="-128"/>
                  <a:ea typeface="メイリオ" panose="020B0604030504040204" pitchFamily="50" charset="-128"/>
                </a:rPr>
                <a:t>、</a:t>
              </a:r>
              <a:r>
                <a:rPr lang="ja-JP" altLang="en-US" sz="1400" dirty="0">
                  <a:solidFill>
                    <a:srgbClr val="040606"/>
                  </a:solidFill>
                  <a:latin typeface="メイリオ" panose="020B0604030504040204" pitchFamily="50" charset="-128"/>
                  <a:ea typeface="メイリオ" panose="020B0604030504040204" pitchFamily="50" charset="-128"/>
                </a:rPr>
                <a:t>テレマーケティング </a:t>
              </a:r>
              <a:r>
                <a:rPr lang="en-US" sz="1400" dirty="0" err="1">
                  <a:solidFill>
                    <a:srgbClr val="040606"/>
                  </a:solidFill>
                  <a:latin typeface="メイリオ" panose="020B0604030504040204" pitchFamily="50" charset="-128"/>
                  <a:ea typeface="メイリオ" panose="020B0604030504040204" pitchFamily="50" charset="-128"/>
                </a:rPr>
                <a:t>が主流</a:t>
              </a:r>
              <a:endParaRPr lang="en-US" sz="1400" dirty="0">
                <a:solidFill>
                  <a:srgbClr val="040606"/>
                </a:solidFill>
                <a:latin typeface="メイリオ" panose="020B0604030504040204" pitchFamily="50" charset="-128"/>
                <a:ea typeface="メイリオ" panose="020B0604030504040204" pitchFamily="50" charset="-128"/>
              </a:endParaRPr>
            </a:p>
          </p:txBody>
        </p:sp>
      </p:grpSp>
      <p:sp>
        <p:nvSpPr>
          <p:cNvPr id="13" name="Freeform 5">
            <a:extLst>
              <a:ext uri="{FF2B5EF4-FFF2-40B4-BE49-F238E27FC236}">
                <a16:creationId xmlns:a16="http://schemas.microsoft.com/office/drawing/2014/main" id="{92B274FD-6C4B-BF09-92C7-B918BFE86EBE}"/>
              </a:ext>
            </a:extLst>
          </p:cNvPr>
          <p:cNvSpPr/>
          <p:nvPr/>
        </p:nvSpPr>
        <p:spPr>
          <a:xfrm>
            <a:off x="1044952" y="1864063"/>
            <a:ext cx="586512" cy="415690"/>
          </a:xfrm>
          <a:custGeom>
            <a:avLst/>
            <a:gdLst/>
            <a:ahLst/>
            <a:cxnLst/>
            <a:rect l="l" t="t" r="r" b="b"/>
            <a:pathLst>
              <a:path w="586512" h="415690">
                <a:moveTo>
                  <a:pt x="0" y="0"/>
                </a:moveTo>
                <a:lnTo>
                  <a:pt x="586512" y="0"/>
                </a:lnTo>
                <a:lnTo>
                  <a:pt x="586512" y="415691"/>
                </a:lnTo>
                <a:lnTo>
                  <a:pt x="0" y="415691"/>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14" name="Freeform 6">
            <a:extLst>
              <a:ext uri="{FF2B5EF4-FFF2-40B4-BE49-F238E27FC236}">
                <a16:creationId xmlns:a16="http://schemas.microsoft.com/office/drawing/2014/main" id="{BE4175CE-3408-B9E2-6CB8-BAD8904A8563}"/>
              </a:ext>
            </a:extLst>
          </p:cNvPr>
          <p:cNvSpPr/>
          <p:nvPr/>
        </p:nvSpPr>
        <p:spPr>
          <a:xfrm>
            <a:off x="1828420" y="1769085"/>
            <a:ext cx="385149" cy="302824"/>
          </a:xfrm>
          <a:custGeom>
            <a:avLst/>
            <a:gdLst/>
            <a:ahLst/>
            <a:cxnLst/>
            <a:rect l="l" t="t" r="r" b="b"/>
            <a:pathLst>
              <a:path w="385149" h="302824">
                <a:moveTo>
                  <a:pt x="0" y="0"/>
                </a:moveTo>
                <a:lnTo>
                  <a:pt x="385150" y="0"/>
                </a:lnTo>
                <a:lnTo>
                  <a:pt x="385150" y="302824"/>
                </a:lnTo>
                <a:lnTo>
                  <a:pt x="0" y="302824"/>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grpSp>
        <p:nvGrpSpPr>
          <p:cNvPr id="15" name="Group 7">
            <a:extLst>
              <a:ext uri="{FF2B5EF4-FFF2-40B4-BE49-F238E27FC236}">
                <a16:creationId xmlns:a16="http://schemas.microsoft.com/office/drawing/2014/main" id="{0D673740-D652-7CA2-D522-30AA6E6BB082}"/>
              </a:ext>
            </a:extLst>
          </p:cNvPr>
          <p:cNvGrpSpPr/>
          <p:nvPr/>
        </p:nvGrpSpPr>
        <p:grpSpPr>
          <a:xfrm>
            <a:off x="4762596" y="2450266"/>
            <a:ext cx="418793" cy="197815"/>
            <a:chOff x="0" y="0"/>
            <a:chExt cx="812800" cy="383922"/>
          </a:xfrm>
        </p:grpSpPr>
        <p:sp>
          <p:nvSpPr>
            <p:cNvPr id="16" name="Freeform 8">
              <a:extLst>
                <a:ext uri="{FF2B5EF4-FFF2-40B4-BE49-F238E27FC236}">
                  <a16:creationId xmlns:a16="http://schemas.microsoft.com/office/drawing/2014/main" id="{EC35FB35-F0A3-935B-D05E-B8D1AE53C824}"/>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7" name="TextBox 9">
              <a:extLst>
                <a:ext uri="{FF2B5EF4-FFF2-40B4-BE49-F238E27FC236}">
                  <a16:creationId xmlns:a16="http://schemas.microsoft.com/office/drawing/2014/main" id="{C69E28B5-A3A4-36F5-01DB-CB6A9BEF984F}"/>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a:latin typeface="メイリオ" panose="020B0604030504040204" pitchFamily="50" charset="-128"/>
                <a:ea typeface="メイリオ" panose="020B0604030504040204" pitchFamily="50" charset="-128"/>
              </a:endParaRPr>
            </a:p>
          </p:txBody>
        </p:sp>
      </p:grpSp>
      <p:grpSp>
        <p:nvGrpSpPr>
          <p:cNvPr id="18" name="Group 10">
            <a:extLst>
              <a:ext uri="{FF2B5EF4-FFF2-40B4-BE49-F238E27FC236}">
                <a16:creationId xmlns:a16="http://schemas.microsoft.com/office/drawing/2014/main" id="{2D0D8876-267F-8994-0640-F07758F8E631}"/>
              </a:ext>
            </a:extLst>
          </p:cNvPr>
          <p:cNvGrpSpPr/>
          <p:nvPr/>
        </p:nvGrpSpPr>
        <p:grpSpPr>
          <a:xfrm>
            <a:off x="788963" y="2722429"/>
            <a:ext cx="8366061" cy="731867"/>
            <a:chOff x="0" y="0"/>
            <a:chExt cx="3130995" cy="273901"/>
          </a:xfrm>
        </p:grpSpPr>
        <p:sp>
          <p:nvSpPr>
            <p:cNvPr id="19" name="Freeform 11">
              <a:extLst>
                <a:ext uri="{FF2B5EF4-FFF2-40B4-BE49-F238E27FC236}">
                  <a16:creationId xmlns:a16="http://schemas.microsoft.com/office/drawing/2014/main" id="{C5CB9F64-A605-7D94-6D58-E12CBE069A72}"/>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0" name="TextBox 12">
              <a:extLst>
                <a:ext uri="{FF2B5EF4-FFF2-40B4-BE49-F238E27FC236}">
                  <a16:creationId xmlns:a16="http://schemas.microsoft.com/office/drawing/2014/main" id="{8175F01D-919F-5A71-EF4D-6A5F56166D72}"/>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b="1" dirty="0">
                  <a:solidFill>
                    <a:srgbClr val="00B900"/>
                  </a:solidFill>
                  <a:latin typeface="メイリオ" panose="020B0604030504040204" pitchFamily="50" charset="-128"/>
                  <a:ea typeface="メイリオ" panose="020B0604030504040204" pitchFamily="50" charset="-128"/>
                </a:rPr>
                <a:t>　　　　＋</a:t>
              </a:r>
              <a:r>
                <a:rPr lang="en-US" sz="1400" b="1" dirty="0">
                  <a:solidFill>
                    <a:srgbClr val="00B900"/>
                  </a:solidFill>
                  <a:latin typeface="メイリオ" panose="020B0604030504040204" pitchFamily="50" charset="-128"/>
                  <a:ea typeface="メイリオ" panose="020B0604030504040204" pitchFamily="50" charset="-128"/>
                </a:rPr>
                <a:t>LINE</a:t>
              </a:r>
              <a:r>
                <a:rPr lang="ja-JP" altLang="en-US" sz="1400" b="1" dirty="0">
                  <a:solidFill>
                    <a:srgbClr val="00B900"/>
                  </a:solidFill>
                  <a:latin typeface="メイリオ" panose="020B0604030504040204" pitchFamily="50" charset="-128"/>
                  <a:ea typeface="メイリオ" panose="020B0604030504040204" pitchFamily="50" charset="-128"/>
                </a:rPr>
                <a:t>公式アカウント</a:t>
              </a:r>
              <a:r>
                <a:rPr lang="en-US" sz="1400" b="1" dirty="0">
                  <a:solidFill>
                    <a:srgbClr val="00B900"/>
                  </a:solidFill>
                  <a:latin typeface="メイリオ" panose="020B0604030504040204" pitchFamily="50" charset="-128"/>
                  <a:ea typeface="メイリオ" panose="020B0604030504040204" pitchFamily="50" charset="-128"/>
                </a:rPr>
                <a:t> </a:t>
              </a:r>
              <a:r>
                <a:rPr lang="en-US" sz="1400" dirty="0" err="1">
                  <a:solidFill>
                    <a:srgbClr val="00B900"/>
                  </a:solidFill>
                  <a:latin typeface="メイリオ" panose="020B0604030504040204" pitchFamily="50" charset="-128"/>
                  <a:ea typeface="メイリオ" panose="020B0604030504040204" pitchFamily="50" charset="-128"/>
                </a:rPr>
                <a:t>が主流</a:t>
              </a:r>
              <a:endParaRPr lang="en-US" sz="1400" dirty="0">
                <a:solidFill>
                  <a:srgbClr val="00B900"/>
                </a:solidFill>
                <a:latin typeface="メイリオ" panose="020B0604030504040204" pitchFamily="50" charset="-128"/>
                <a:ea typeface="メイリオ" panose="020B0604030504040204" pitchFamily="50" charset="-128"/>
              </a:endParaRPr>
            </a:p>
          </p:txBody>
        </p:sp>
      </p:grpSp>
      <p:sp>
        <p:nvSpPr>
          <p:cNvPr id="21" name="Freeform 13">
            <a:extLst>
              <a:ext uri="{FF2B5EF4-FFF2-40B4-BE49-F238E27FC236}">
                <a16:creationId xmlns:a16="http://schemas.microsoft.com/office/drawing/2014/main" id="{6FCF9A47-57C4-D983-7A09-62A1C2DDB6B4}"/>
              </a:ext>
            </a:extLst>
          </p:cNvPr>
          <p:cNvSpPr/>
          <p:nvPr/>
        </p:nvSpPr>
        <p:spPr>
          <a:xfrm>
            <a:off x="1184666" y="2810458"/>
            <a:ext cx="307084" cy="555808"/>
          </a:xfrm>
          <a:custGeom>
            <a:avLst/>
            <a:gdLst/>
            <a:ahLst/>
            <a:cxnLst/>
            <a:rect l="l" t="t" r="r" b="b"/>
            <a:pathLst>
              <a:path w="307084" h="555808">
                <a:moveTo>
                  <a:pt x="0" y="0"/>
                </a:moveTo>
                <a:lnTo>
                  <a:pt x="307084" y="0"/>
                </a:lnTo>
                <a:lnTo>
                  <a:pt x="307084" y="555808"/>
                </a:lnTo>
                <a:lnTo>
                  <a:pt x="0" y="555808"/>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Freeform 14">
            <a:extLst>
              <a:ext uri="{FF2B5EF4-FFF2-40B4-BE49-F238E27FC236}">
                <a16:creationId xmlns:a16="http://schemas.microsoft.com/office/drawing/2014/main" id="{EFB8EAC2-A5C6-6450-209B-316F851133C9}"/>
              </a:ext>
            </a:extLst>
          </p:cNvPr>
          <p:cNvSpPr/>
          <p:nvPr/>
        </p:nvSpPr>
        <p:spPr>
          <a:xfrm>
            <a:off x="1815677" y="2807175"/>
            <a:ext cx="397893" cy="397893"/>
          </a:xfrm>
          <a:custGeom>
            <a:avLst/>
            <a:gdLst/>
            <a:ahLst/>
            <a:cxnLst/>
            <a:rect l="l" t="t" r="r" b="b"/>
            <a:pathLst>
              <a:path w="397893" h="397893">
                <a:moveTo>
                  <a:pt x="0" y="0"/>
                </a:moveTo>
                <a:lnTo>
                  <a:pt x="397893" y="0"/>
                </a:lnTo>
                <a:lnTo>
                  <a:pt x="397893" y="397892"/>
                </a:lnTo>
                <a:lnTo>
                  <a:pt x="0" y="397892"/>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24" name="TextBox 16">
            <a:extLst>
              <a:ext uri="{FF2B5EF4-FFF2-40B4-BE49-F238E27FC236}">
                <a16:creationId xmlns:a16="http://schemas.microsoft.com/office/drawing/2014/main" id="{654B7271-F862-F3D1-E65A-6C75F2F9021C}"/>
              </a:ext>
            </a:extLst>
          </p:cNvPr>
          <p:cNvSpPr txBox="1"/>
          <p:nvPr/>
        </p:nvSpPr>
        <p:spPr>
          <a:xfrm>
            <a:off x="2903784" y="3579302"/>
            <a:ext cx="2520582" cy="302006"/>
          </a:xfrm>
          <a:prstGeom prst="rect">
            <a:avLst/>
          </a:prstGeom>
        </p:spPr>
        <p:txBody>
          <a:bodyPr lIns="0" tIns="0" rIns="0" bIns="0" rtlCol="0" anchor="t">
            <a:spAutoFit/>
          </a:bodyPr>
          <a:lstStyle/>
          <a:p>
            <a:pPr algn="ctr">
              <a:lnSpc>
                <a:spcPts val="2455"/>
              </a:lnSpc>
            </a:pPr>
            <a:r>
              <a:rPr lang="en-US" sz="1400">
                <a:solidFill>
                  <a:srgbClr val="040606"/>
                </a:solidFill>
                <a:latin typeface="メイリオ" panose="020B0604030504040204" pitchFamily="50" charset="-128"/>
                <a:ea typeface="メイリオ" panose="020B0604030504040204" pitchFamily="50" charset="-128"/>
              </a:rPr>
              <a:t>メールマガジン</a:t>
            </a:r>
          </a:p>
        </p:txBody>
      </p:sp>
      <p:grpSp>
        <p:nvGrpSpPr>
          <p:cNvPr id="26" name="Group 18">
            <a:extLst>
              <a:ext uri="{FF2B5EF4-FFF2-40B4-BE49-F238E27FC236}">
                <a16:creationId xmlns:a16="http://schemas.microsoft.com/office/drawing/2014/main" id="{E238BF15-71F6-4126-96D0-3C58C8B7CB25}"/>
              </a:ext>
            </a:extLst>
          </p:cNvPr>
          <p:cNvGrpSpPr/>
          <p:nvPr/>
        </p:nvGrpSpPr>
        <p:grpSpPr>
          <a:xfrm>
            <a:off x="4026555" y="3972737"/>
            <a:ext cx="275039" cy="129913"/>
            <a:chOff x="0" y="0"/>
            <a:chExt cx="812800" cy="383922"/>
          </a:xfrm>
        </p:grpSpPr>
        <p:sp>
          <p:nvSpPr>
            <p:cNvPr id="27" name="Freeform 19">
              <a:extLst>
                <a:ext uri="{FF2B5EF4-FFF2-40B4-BE49-F238E27FC236}">
                  <a16:creationId xmlns:a16="http://schemas.microsoft.com/office/drawing/2014/main" id="{49FE6727-4EE8-5C24-6048-CAC6C3CB48D0}"/>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0000"/>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8" name="TextBox 20">
              <a:extLst>
                <a:ext uri="{FF2B5EF4-FFF2-40B4-BE49-F238E27FC236}">
                  <a16:creationId xmlns:a16="http://schemas.microsoft.com/office/drawing/2014/main" id="{D00B2C25-C04A-579B-6514-18301F922DD2}"/>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a:latin typeface="メイリオ" panose="020B0604030504040204" pitchFamily="50" charset="-128"/>
                <a:ea typeface="メイリオ" panose="020B0604030504040204" pitchFamily="50" charset="-128"/>
              </a:endParaRPr>
            </a:p>
          </p:txBody>
        </p:sp>
      </p:grpSp>
      <p:sp>
        <p:nvSpPr>
          <p:cNvPr id="32" name="AutoShape 24">
            <a:extLst>
              <a:ext uri="{FF2B5EF4-FFF2-40B4-BE49-F238E27FC236}">
                <a16:creationId xmlns:a16="http://schemas.microsoft.com/office/drawing/2014/main" id="{E12D8DCD-6939-B3D3-8747-7AB267084175}"/>
              </a:ext>
            </a:extLst>
          </p:cNvPr>
          <p:cNvSpPr/>
          <p:nvPr/>
        </p:nvSpPr>
        <p:spPr>
          <a:xfrm>
            <a:off x="1044962" y="4660284"/>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3" name="TextBox 25">
            <a:extLst>
              <a:ext uri="{FF2B5EF4-FFF2-40B4-BE49-F238E27FC236}">
                <a16:creationId xmlns:a16="http://schemas.microsoft.com/office/drawing/2014/main" id="{27ACB4CE-9593-D530-6FC9-45474D0A87C8}"/>
              </a:ext>
            </a:extLst>
          </p:cNvPr>
          <p:cNvSpPr txBox="1"/>
          <p:nvPr/>
        </p:nvSpPr>
        <p:spPr>
          <a:xfrm>
            <a:off x="2752051" y="4197408"/>
            <a:ext cx="2937353" cy="302006"/>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入力が面倒・間違いが発生</a:t>
            </a:r>
          </a:p>
        </p:txBody>
      </p:sp>
      <p:sp>
        <p:nvSpPr>
          <p:cNvPr id="34" name="AutoShape 26">
            <a:extLst>
              <a:ext uri="{FF2B5EF4-FFF2-40B4-BE49-F238E27FC236}">
                <a16:creationId xmlns:a16="http://schemas.microsoft.com/office/drawing/2014/main" id="{9DFA3AA3-EC46-59A7-ACD8-CFBFB3E6AC42}"/>
              </a:ext>
            </a:extLst>
          </p:cNvPr>
          <p:cNvSpPr/>
          <p:nvPr/>
        </p:nvSpPr>
        <p:spPr>
          <a:xfrm>
            <a:off x="2752093" y="3967169"/>
            <a:ext cx="2952531" cy="11138"/>
          </a:xfrm>
          <a:prstGeom prst="line">
            <a:avLst/>
          </a:prstGeom>
          <a:ln w="19050" cap="flat">
            <a:solidFill>
              <a:srgbClr val="000000"/>
            </a:solidFill>
            <a:prstDash val="solid"/>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5" name="TextBox 27">
            <a:extLst>
              <a:ext uri="{FF2B5EF4-FFF2-40B4-BE49-F238E27FC236}">
                <a16:creationId xmlns:a16="http://schemas.microsoft.com/office/drawing/2014/main" id="{8CBB54AF-4E8A-1541-1FBC-0122997F4D92}"/>
              </a:ext>
            </a:extLst>
          </p:cNvPr>
          <p:cNvSpPr txBox="1"/>
          <p:nvPr/>
        </p:nvSpPr>
        <p:spPr>
          <a:xfrm>
            <a:off x="2752051" y="477562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迷惑メールなどに入る</a:t>
            </a:r>
          </a:p>
        </p:txBody>
      </p:sp>
      <p:sp>
        <p:nvSpPr>
          <p:cNvPr id="36" name="TextBox 28">
            <a:extLst>
              <a:ext uri="{FF2B5EF4-FFF2-40B4-BE49-F238E27FC236}">
                <a16:creationId xmlns:a16="http://schemas.microsoft.com/office/drawing/2014/main" id="{1890926C-AAF3-81C2-B57E-1FF89EF56E37}"/>
              </a:ext>
            </a:extLst>
          </p:cNvPr>
          <p:cNvSpPr txBox="1"/>
          <p:nvPr/>
        </p:nvSpPr>
        <p:spPr>
          <a:xfrm>
            <a:off x="2752051" y="535477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10％</a:t>
            </a:r>
          </a:p>
        </p:txBody>
      </p:sp>
      <p:sp>
        <p:nvSpPr>
          <p:cNvPr id="37" name="TextBox 29">
            <a:extLst>
              <a:ext uri="{FF2B5EF4-FFF2-40B4-BE49-F238E27FC236}">
                <a16:creationId xmlns:a16="http://schemas.microsoft.com/office/drawing/2014/main" id="{EBE70ABF-86A0-2A2F-6768-A1AE13D1152D}"/>
              </a:ext>
            </a:extLst>
          </p:cNvPr>
          <p:cNvSpPr txBox="1"/>
          <p:nvPr/>
        </p:nvSpPr>
        <p:spPr>
          <a:xfrm>
            <a:off x="2752051"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1時間</a:t>
            </a:r>
          </a:p>
        </p:txBody>
      </p:sp>
      <p:sp>
        <p:nvSpPr>
          <p:cNvPr id="38" name="AutoShape 30">
            <a:extLst>
              <a:ext uri="{FF2B5EF4-FFF2-40B4-BE49-F238E27FC236}">
                <a16:creationId xmlns:a16="http://schemas.microsoft.com/office/drawing/2014/main" id="{2AEB91F9-20AE-78E3-90FC-95BDACB17800}"/>
              </a:ext>
            </a:extLst>
          </p:cNvPr>
          <p:cNvSpPr/>
          <p:nvPr/>
        </p:nvSpPr>
        <p:spPr>
          <a:xfrm>
            <a:off x="1044994" y="5247985"/>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9" name="AutoShape 31">
            <a:extLst>
              <a:ext uri="{FF2B5EF4-FFF2-40B4-BE49-F238E27FC236}">
                <a16:creationId xmlns:a16="http://schemas.microsoft.com/office/drawing/2014/main" id="{8CA9232F-EFCD-0685-4172-87FA8B803443}"/>
              </a:ext>
            </a:extLst>
          </p:cNvPr>
          <p:cNvSpPr/>
          <p:nvPr/>
        </p:nvSpPr>
        <p:spPr>
          <a:xfrm>
            <a:off x="1044952" y="5806130"/>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40" name="TextBox 32">
            <a:extLst>
              <a:ext uri="{FF2B5EF4-FFF2-40B4-BE49-F238E27FC236}">
                <a16:creationId xmlns:a16="http://schemas.microsoft.com/office/drawing/2014/main" id="{0A70F695-8166-2256-5FDF-4F5178646823}"/>
              </a:ext>
            </a:extLst>
          </p:cNvPr>
          <p:cNvSpPr txBox="1"/>
          <p:nvPr/>
        </p:nvSpPr>
        <p:spPr>
          <a:xfrm>
            <a:off x="1184666" y="477916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到達</a:t>
            </a:r>
          </a:p>
        </p:txBody>
      </p:sp>
      <p:sp>
        <p:nvSpPr>
          <p:cNvPr id="41" name="TextBox 33">
            <a:extLst>
              <a:ext uri="{FF2B5EF4-FFF2-40B4-BE49-F238E27FC236}">
                <a16:creationId xmlns:a16="http://schemas.microsoft.com/office/drawing/2014/main" id="{85D3D6AF-3D79-C393-385D-3C63168F89A4}"/>
              </a:ext>
            </a:extLst>
          </p:cNvPr>
          <p:cNvSpPr txBox="1"/>
          <p:nvPr/>
        </p:nvSpPr>
        <p:spPr>
          <a:xfrm>
            <a:off x="1184666" y="5352087"/>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開封率</a:t>
            </a:r>
          </a:p>
        </p:txBody>
      </p:sp>
      <p:sp>
        <p:nvSpPr>
          <p:cNvPr id="42" name="TextBox 34">
            <a:extLst>
              <a:ext uri="{FF2B5EF4-FFF2-40B4-BE49-F238E27FC236}">
                <a16:creationId xmlns:a16="http://schemas.microsoft.com/office/drawing/2014/main" id="{C2F1559D-703E-EACC-8125-BCED5B42B895}"/>
              </a:ext>
            </a:extLst>
          </p:cNvPr>
          <p:cNvSpPr txBox="1"/>
          <p:nvPr/>
        </p:nvSpPr>
        <p:spPr>
          <a:xfrm>
            <a:off x="1184666"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開封まで</a:t>
            </a:r>
          </a:p>
        </p:txBody>
      </p:sp>
      <p:sp>
        <p:nvSpPr>
          <p:cNvPr id="47"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正方形/長方形 1">
            <a:extLst>
              <a:ext uri="{FF2B5EF4-FFF2-40B4-BE49-F238E27FC236}">
                <a16:creationId xmlns:a16="http://schemas.microsoft.com/office/drawing/2014/main" id="{89DE5776-5C26-CF86-01D7-D84844A782CF}"/>
              </a:ext>
            </a:extLst>
          </p:cNvPr>
          <p:cNvSpPr/>
          <p:nvPr/>
        </p:nvSpPr>
        <p:spPr>
          <a:xfrm>
            <a:off x="5783983" y="3545570"/>
            <a:ext cx="3333054" cy="282252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b="1"/>
          </a:p>
        </p:txBody>
      </p:sp>
      <p:sp>
        <p:nvSpPr>
          <p:cNvPr id="3" name="AutoShape 15">
            <a:extLst>
              <a:ext uri="{FF2B5EF4-FFF2-40B4-BE49-F238E27FC236}">
                <a16:creationId xmlns:a16="http://schemas.microsoft.com/office/drawing/2014/main" id="{0D44F6AF-095D-1CA0-2D98-25F7DB03466E}"/>
              </a:ext>
            </a:extLst>
          </p:cNvPr>
          <p:cNvSpPr/>
          <p:nvPr/>
        </p:nvSpPr>
        <p:spPr>
          <a:xfrm>
            <a:off x="5946513" y="3983875"/>
            <a:ext cx="2952531" cy="11137"/>
          </a:xfrm>
          <a:prstGeom prst="line">
            <a:avLst/>
          </a:prstGeom>
          <a:ln w="19050" cap="flat">
            <a:solidFill>
              <a:srgbClr val="00B900"/>
            </a:solidFill>
            <a:prstDash val="solid"/>
            <a:headEnd type="none" w="sm" len="sm"/>
            <a:tailEnd type="none" w="sm" len="sm"/>
          </a:ln>
        </p:spPr>
        <p:txBody>
          <a:bodyPr/>
          <a:lstStyle/>
          <a:p>
            <a:endParaRPr lang="ja-JP" altLang="en-US" sz="1400" b="1">
              <a:latin typeface="メイリオ" panose="020B0604030504040204" pitchFamily="50" charset="-128"/>
              <a:ea typeface="メイリオ" panose="020B0604030504040204" pitchFamily="50" charset="-128"/>
            </a:endParaRPr>
          </a:p>
        </p:txBody>
      </p:sp>
      <p:sp>
        <p:nvSpPr>
          <p:cNvPr id="4" name="TextBox 17">
            <a:extLst>
              <a:ext uri="{FF2B5EF4-FFF2-40B4-BE49-F238E27FC236}">
                <a16:creationId xmlns:a16="http://schemas.microsoft.com/office/drawing/2014/main" id="{53BD49FD-8C06-FB39-06D6-3CC078F782FE}"/>
              </a:ext>
            </a:extLst>
          </p:cNvPr>
          <p:cNvSpPr txBox="1"/>
          <p:nvPr/>
        </p:nvSpPr>
        <p:spPr>
          <a:xfrm>
            <a:off x="6162487" y="3579302"/>
            <a:ext cx="2520582" cy="294311"/>
          </a:xfrm>
          <a:prstGeom prst="rect">
            <a:avLst/>
          </a:prstGeom>
        </p:spPr>
        <p:txBody>
          <a:bodyPr lIns="0" tIns="0" rIns="0" bIns="0" rtlCol="0" anchor="t">
            <a:spAutoFit/>
          </a:bodyPr>
          <a:lstStyle/>
          <a:p>
            <a:pPr algn="ctr">
              <a:lnSpc>
                <a:spcPts val="2455"/>
              </a:lnSpc>
            </a:pPr>
            <a:r>
              <a:rPr lang="en-US" sz="1400" b="1">
                <a:solidFill>
                  <a:srgbClr val="00B449"/>
                </a:solidFill>
                <a:latin typeface="メイリオ" panose="020B0604030504040204" pitchFamily="50" charset="-128"/>
                <a:ea typeface="メイリオ" panose="020B0604030504040204" pitchFamily="50" charset="-128"/>
              </a:rPr>
              <a:t>LINE</a:t>
            </a:r>
          </a:p>
        </p:txBody>
      </p:sp>
      <p:grpSp>
        <p:nvGrpSpPr>
          <p:cNvPr id="5" name="Group 21">
            <a:extLst>
              <a:ext uri="{FF2B5EF4-FFF2-40B4-BE49-F238E27FC236}">
                <a16:creationId xmlns:a16="http://schemas.microsoft.com/office/drawing/2014/main" id="{365678CD-DBE8-11A0-DE97-1E3489051004}"/>
              </a:ext>
            </a:extLst>
          </p:cNvPr>
          <p:cNvGrpSpPr/>
          <p:nvPr/>
        </p:nvGrpSpPr>
        <p:grpSpPr>
          <a:xfrm>
            <a:off x="7261679" y="3983875"/>
            <a:ext cx="322198" cy="152188"/>
            <a:chOff x="0" y="0"/>
            <a:chExt cx="812800" cy="383922"/>
          </a:xfrm>
        </p:grpSpPr>
        <p:sp>
          <p:nvSpPr>
            <p:cNvPr id="6" name="Freeform 22">
              <a:extLst>
                <a:ext uri="{FF2B5EF4-FFF2-40B4-BE49-F238E27FC236}">
                  <a16:creationId xmlns:a16="http://schemas.microsoft.com/office/drawing/2014/main" id="{FF803387-EA72-D3D7-22AE-52C01E0790A8}"/>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sz="1400" b="1">
                <a:latin typeface="メイリオ" panose="020B0604030504040204" pitchFamily="50" charset="-128"/>
                <a:ea typeface="メイリオ" panose="020B0604030504040204" pitchFamily="50" charset="-128"/>
              </a:endParaRPr>
            </a:p>
          </p:txBody>
        </p:sp>
        <p:sp>
          <p:nvSpPr>
            <p:cNvPr id="7" name="TextBox 23">
              <a:extLst>
                <a:ext uri="{FF2B5EF4-FFF2-40B4-BE49-F238E27FC236}">
                  <a16:creationId xmlns:a16="http://schemas.microsoft.com/office/drawing/2014/main" id="{268D41FC-63F5-2C69-D721-47F5A47AB26E}"/>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b="1">
                <a:latin typeface="メイリオ" panose="020B0604030504040204" pitchFamily="50" charset="-128"/>
                <a:ea typeface="メイリオ" panose="020B0604030504040204" pitchFamily="50" charset="-128"/>
              </a:endParaRPr>
            </a:p>
          </p:txBody>
        </p:sp>
      </p:grpSp>
      <p:sp>
        <p:nvSpPr>
          <p:cNvPr id="48" name="TextBox 35">
            <a:extLst>
              <a:ext uri="{FF2B5EF4-FFF2-40B4-BE49-F238E27FC236}">
                <a16:creationId xmlns:a16="http://schemas.microsoft.com/office/drawing/2014/main" id="{EF42718D-116E-9F31-BBCC-5F9118C59FCF}"/>
              </a:ext>
            </a:extLst>
          </p:cNvPr>
          <p:cNvSpPr txBox="1"/>
          <p:nvPr/>
        </p:nvSpPr>
        <p:spPr>
          <a:xfrm>
            <a:off x="5961733" y="4772936"/>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確実に届く</a:t>
            </a:r>
          </a:p>
        </p:txBody>
      </p:sp>
      <p:sp>
        <p:nvSpPr>
          <p:cNvPr id="49" name="TextBox 36">
            <a:extLst>
              <a:ext uri="{FF2B5EF4-FFF2-40B4-BE49-F238E27FC236}">
                <a16:creationId xmlns:a16="http://schemas.microsoft.com/office/drawing/2014/main" id="{BE477B33-5D35-D414-030E-C48CB175247D}"/>
              </a:ext>
            </a:extLst>
          </p:cNvPr>
          <p:cNvSpPr txBox="1"/>
          <p:nvPr/>
        </p:nvSpPr>
        <p:spPr>
          <a:xfrm>
            <a:off x="5961733" y="535208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60％</a:t>
            </a:r>
          </a:p>
        </p:txBody>
      </p:sp>
      <p:sp>
        <p:nvSpPr>
          <p:cNvPr id="50" name="TextBox 37">
            <a:extLst>
              <a:ext uri="{FF2B5EF4-FFF2-40B4-BE49-F238E27FC236}">
                <a16:creationId xmlns:a16="http://schemas.microsoft.com/office/drawing/2014/main" id="{0A436778-3336-3714-957B-826DFB9FCDBE}"/>
              </a:ext>
            </a:extLst>
          </p:cNvPr>
          <p:cNvSpPr txBox="1"/>
          <p:nvPr/>
        </p:nvSpPr>
        <p:spPr>
          <a:xfrm>
            <a:off x="5961733" y="593123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15分</a:t>
            </a:r>
          </a:p>
        </p:txBody>
      </p:sp>
      <p:sp>
        <p:nvSpPr>
          <p:cNvPr id="51" name="TextBox 38">
            <a:extLst>
              <a:ext uri="{FF2B5EF4-FFF2-40B4-BE49-F238E27FC236}">
                <a16:creationId xmlns:a16="http://schemas.microsoft.com/office/drawing/2014/main" id="{A5A10008-8C16-4E94-CB60-09FD258B3234}"/>
              </a:ext>
            </a:extLst>
          </p:cNvPr>
          <p:cNvSpPr txBox="1"/>
          <p:nvPr/>
        </p:nvSpPr>
        <p:spPr>
          <a:xfrm>
            <a:off x="5961733" y="4206140"/>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ワンタップで追加</a:t>
            </a:r>
          </a:p>
        </p:txBody>
      </p:sp>
    </p:spTree>
    <p:extLst>
      <p:ext uri="{BB962C8B-B14F-4D97-AF65-F5344CB8AC3E}">
        <p14:creationId xmlns:p14="http://schemas.microsoft.com/office/powerpoint/2010/main" val="175429713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0E416A61-B302-4BF8-8730-14A0C8808AB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BCB9F207-E933-48A8-A62B-47A12C4BFADB}"/>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en-US" altLang="ja-JP" sz="1400" dirty="0">
                <a:solidFill>
                  <a:srgbClr val="343434"/>
                </a:solidFill>
                <a:latin typeface="メイリオ" panose="020B0604030504040204" pitchFamily="50" charset="-128"/>
                <a:ea typeface="メイリオ" panose="020B0604030504040204" pitchFamily="50" charset="-128"/>
              </a:rPr>
              <a:t>「</a:t>
            </a:r>
            <a:r>
              <a:rPr lang="en-US" altLang="ja-JP" sz="1400" dirty="0" err="1">
                <a:solidFill>
                  <a:srgbClr val="343434"/>
                </a:solidFill>
                <a:latin typeface="メイリオ" panose="020B0604030504040204" pitchFamily="50" charset="-128"/>
                <a:ea typeface="メイリオ" panose="020B0604030504040204" pitchFamily="50" charset="-128"/>
              </a:rPr>
              <a:t>今すぐ客」以外の</a:t>
            </a:r>
            <a:r>
              <a:rPr lang="ja-JP" altLang="en-US" sz="1400" dirty="0">
                <a:solidFill>
                  <a:srgbClr val="343434"/>
                </a:solidFill>
                <a:latin typeface="メイリオ" panose="020B0604030504040204" pitchFamily="50" charset="-128"/>
                <a:ea typeface="メイリオ" panose="020B0604030504040204" pitchFamily="50" charset="-128"/>
              </a:rPr>
              <a:t>約</a:t>
            </a:r>
            <a:r>
              <a:rPr lang="en-US" altLang="ja-JP" sz="1400" dirty="0">
                <a:solidFill>
                  <a:srgbClr val="343434"/>
                </a:solidFill>
                <a:latin typeface="メイリオ" panose="020B0604030504040204" pitchFamily="50" charset="-128"/>
                <a:ea typeface="メイリオ" panose="020B0604030504040204" pitchFamily="50" charset="-128"/>
              </a:rPr>
              <a:t>99％の層をリストマーケティングで顧客に引き上げることが重要。</a:t>
            </a:r>
          </a:p>
          <a:p>
            <a:pPr algn="ctr">
              <a:lnSpc>
                <a:spcPts val="2455"/>
              </a:lnSpc>
            </a:pPr>
            <a:r>
              <a:rPr lang="en-US" altLang="ja-JP" sz="1400" dirty="0" err="1">
                <a:solidFill>
                  <a:srgbClr val="343434"/>
                </a:solidFill>
                <a:latin typeface="メイリオ" panose="020B0604030504040204" pitchFamily="50" charset="-128"/>
                <a:ea typeface="メイリオ" panose="020B0604030504040204" pitchFamily="50" charset="-128"/>
              </a:rPr>
              <a:t>結果として</a:t>
            </a:r>
            <a:r>
              <a:rPr lang="ja-JP" altLang="en-US" sz="1400" dirty="0" err="1">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リード獲得率向上、</a:t>
            </a:r>
            <a:r>
              <a:rPr lang="en-US" altLang="ja-JP" sz="1400" dirty="0" err="1">
                <a:solidFill>
                  <a:srgbClr val="343434"/>
                </a:solidFill>
                <a:latin typeface="メイリオ" panose="020B0604030504040204" pitchFamily="50" charset="-128"/>
                <a:ea typeface="メイリオ" panose="020B0604030504040204" pitchFamily="50" charset="-128"/>
              </a:rPr>
              <a:t>リピート率向上、売上向上に繋</a:t>
            </a:r>
            <a:r>
              <a:rPr lang="ja-JP" altLang="en-US" sz="1400" dirty="0">
                <a:solidFill>
                  <a:srgbClr val="343434"/>
                </a:solidFill>
                <a:latin typeface="メイリオ" panose="020B0604030504040204" pitchFamily="50" charset="-128"/>
                <a:ea typeface="メイリオ" panose="020B0604030504040204" pitchFamily="50" charset="-128"/>
              </a:rPr>
              <a:t>げ</a:t>
            </a:r>
            <a:r>
              <a:rPr lang="en-US" altLang="ja-JP" sz="1400" dirty="0">
                <a:solidFill>
                  <a:srgbClr val="343434"/>
                </a:solidFill>
                <a:latin typeface="メイリオ" panose="020B0604030504040204" pitchFamily="50" charset="-128"/>
                <a:ea typeface="メイリオ" panose="020B0604030504040204" pitchFamily="50" charset="-128"/>
              </a:rPr>
              <a:t>る。</a:t>
            </a:r>
          </a:p>
        </p:txBody>
      </p:sp>
      <p:cxnSp>
        <p:nvCxnSpPr>
          <p:cNvPr id="5" name="直線コネクタ 4">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6" name="Group 11">
            <a:extLst>
              <a:ext uri="{FF2B5EF4-FFF2-40B4-BE49-F238E27FC236}">
                <a16:creationId xmlns:a16="http://schemas.microsoft.com/office/drawing/2014/main" id="{FD51838A-D34F-466B-3A5A-09652D900BEB}"/>
              </a:ext>
            </a:extLst>
          </p:cNvPr>
          <p:cNvGrpSpPr/>
          <p:nvPr/>
        </p:nvGrpSpPr>
        <p:grpSpPr>
          <a:xfrm>
            <a:off x="3049695" y="2975186"/>
            <a:ext cx="1458934" cy="913844"/>
            <a:chOff x="0" y="0"/>
            <a:chExt cx="617887" cy="387031"/>
          </a:xfrm>
        </p:grpSpPr>
        <p:sp>
          <p:nvSpPr>
            <p:cNvPr id="8" name="Freeform 12">
              <a:extLst>
                <a:ext uri="{FF2B5EF4-FFF2-40B4-BE49-F238E27FC236}">
                  <a16:creationId xmlns:a16="http://schemas.microsoft.com/office/drawing/2014/main" id="{361A24A3-498E-8CCA-072B-BFF0D43720CF}"/>
                </a:ext>
              </a:extLst>
            </p:cNvPr>
            <p:cNvSpPr/>
            <p:nvPr/>
          </p:nvSpPr>
          <p:spPr>
            <a:xfrm>
              <a:off x="0" y="0"/>
              <a:ext cx="617887" cy="387031"/>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9" name="TextBox 13">
              <a:extLst>
                <a:ext uri="{FF2B5EF4-FFF2-40B4-BE49-F238E27FC236}">
                  <a16:creationId xmlns:a16="http://schemas.microsoft.com/office/drawing/2014/main" id="{2F7982DD-8DDE-BE65-D1C8-38F017EFAA9E}"/>
                </a:ext>
              </a:extLst>
            </p:cNvPr>
            <p:cNvSpPr txBox="1"/>
            <p:nvPr/>
          </p:nvSpPr>
          <p:spPr>
            <a:xfrm>
              <a:off x="0" y="-38100"/>
              <a:ext cx="617887"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10" name="AutoShape 14">
            <a:extLst>
              <a:ext uri="{FF2B5EF4-FFF2-40B4-BE49-F238E27FC236}">
                <a16:creationId xmlns:a16="http://schemas.microsoft.com/office/drawing/2014/main" id="{59178687-7B87-9112-285E-3FE124A7840D}"/>
              </a:ext>
            </a:extLst>
          </p:cNvPr>
          <p:cNvSpPr/>
          <p:nvPr/>
        </p:nvSpPr>
        <p:spPr>
          <a:xfrm flipV="1">
            <a:off x="637708" y="2862215"/>
            <a:ext cx="0" cy="3496153"/>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11" name="AutoShape 15">
            <a:extLst>
              <a:ext uri="{FF2B5EF4-FFF2-40B4-BE49-F238E27FC236}">
                <a16:creationId xmlns:a16="http://schemas.microsoft.com/office/drawing/2014/main" id="{2E944E85-C1E7-F939-7840-FEE3895A6217}"/>
              </a:ext>
            </a:extLst>
          </p:cNvPr>
          <p:cNvSpPr/>
          <p:nvPr/>
        </p:nvSpPr>
        <p:spPr>
          <a:xfrm>
            <a:off x="272396" y="6045613"/>
            <a:ext cx="4516804" cy="0"/>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endParaRPr>
          </a:p>
        </p:txBody>
      </p:sp>
      <p:grpSp>
        <p:nvGrpSpPr>
          <p:cNvPr id="12" name="Group 16">
            <a:extLst>
              <a:ext uri="{FF2B5EF4-FFF2-40B4-BE49-F238E27FC236}">
                <a16:creationId xmlns:a16="http://schemas.microsoft.com/office/drawing/2014/main" id="{ED4AC5BA-40AB-055B-93BE-A426AB6D2DD1}"/>
              </a:ext>
            </a:extLst>
          </p:cNvPr>
          <p:cNvGrpSpPr/>
          <p:nvPr/>
        </p:nvGrpSpPr>
        <p:grpSpPr>
          <a:xfrm>
            <a:off x="964199" y="2975186"/>
            <a:ext cx="1770851" cy="913844"/>
            <a:chOff x="0" y="0"/>
            <a:chExt cx="749990" cy="387031"/>
          </a:xfrm>
        </p:grpSpPr>
        <p:sp>
          <p:nvSpPr>
            <p:cNvPr id="13" name="Freeform 17">
              <a:extLst>
                <a:ext uri="{FF2B5EF4-FFF2-40B4-BE49-F238E27FC236}">
                  <a16:creationId xmlns:a16="http://schemas.microsoft.com/office/drawing/2014/main" id="{37852D43-B89A-3E8A-340C-86DBCB7EAE2C}"/>
                </a:ext>
              </a:extLst>
            </p:cNvPr>
            <p:cNvSpPr/>
            <p:nvPr/>
          </p:nvSpPr>
          <p:spPr>
            <a:xfrm>
              <a:off x="0" y="0"/>
              <a:ext cx="749990" cy="387031"/>
            </a:xfrm>
            <a:custGeom>
              <a:avLst/>
              <a:gdLst/>
              <a:ahLst/>
              <a:cxnLst/>
              <a:rect l="l" t="t" r="r" b="b"/>
              <a:pathLst>
                <a:path w="749990" h="387031">
                  <a:moveTo>
                    <a:pt x="0" y="0"/>
                  </a:moveTo>
                  <a:lnTo>
                    <a:pt x="749990" y="0"/>
                  </a:lnTo>
                  <a:lnTo>
                    <a:pt x="749990" y="387031"/>
                  </a:lnTo>
                  <a:lnTo>
                    <a:pt x="0" y="387031"/>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4" name="TextBox 18">
              <a:extLst>
                <a:ext uri="{FF2B5EF4-FFF2-40B4-BE49-F238E27FC236}">
                  <a16:creationId xmlns:a16="http://schemas.microsoft.com/office/drawing/2014/main" id="{0038C48A-D57E-4C03-47F9-21556A2A60B4}"/>
                </a:ext>
              </a:extLst>
            </p:cNvPr>
            <p:cNvSpPr txBox="1"/>
            <p:nvPr/>
          </p:nvSpPr>
          <p:spPr>
            <a:xfrm>
              <a:off x="0" y="-38100"/>
              <a:ext cx="749990"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15" name="Group 19">
            <a:extLst>
              <a:ext uri="{FF2B5EF4-FFF2-40B4-BE49-F238E27FC236}">
                <a16:creationId xmlns:a16="http://schemas.microsoft.com/office/drawing/2014/main" id="{3507EDCA-E3B7-016A-2C53-E70338EE7F9D}"/>
              </a:ext>
            </a:extLst>
          </p:cNvPr>
          <p:cNvGrpSpPr/>
          <p:nvPr/>
        </p:nvGrpSpPr>
        <p:grpSpPr>
          <a:xfrm>
            <a:off x="964199" y="4203123"/>
            <a:ext cx="1770851" cy="1544458"/>
            <a:chOff x="0" y="0"/>
            <a:chExt cx="749990" cy="654108"/>
          </a:xfrm>
        </p:grpSpPr>
        <p:sp>
          <p:nvSpPr>
            <p:cNvPr id="16" name="Freeform 20">
              <a:extLst>
                <a:ext uri="{FF2B5EF4-FFF2-40B4-BE49-F238E27FC236}">
                  <a16:creationId xmlns:a16="http://schemas.microsoft.com/office/drawing/2014/main" id="{EDDE50AF-2F17-77D4-19B1-742225FD70A2}"/>
                </a:ext>
              </a:extLst>
            </p:cNvPr>
            <p:cNvSpPr/>
            <p:nvPr/>
          </p:nvSpPr>
          <p:spPr>
            <a:xfrm>
              <a:off x="0" y="0"/>
              <a:ext cx="749990" cy="654108"/>
            </a:xfrm>
            <a:custGeom>
              <a:avLst/>
              <a:gdLst/>
              <a:ahLst/>
              <a:cxnLst/>
              <a:rect l="l" t="t" r="r" b="b"/>
              <a:pathLst>
                <a:path w="749990" h="654108">
                  <a:moveTo>
                    <a:pt x="0" y="0"/>
                  </a:moveTo>
                  <a:lnTo>
                    <a:pt x="749990" y="0"/>
                  </a:lnTo>
                  <a:lnTo>
                    <a:pt x="749990" y="654108"/>
                  </a:lnTo>
                  <a:lnTo>
                    <a:pt x="0" y="654108"/>
                  </a:lnTo>
                  <a:close/>
                </a:path>
              </a:pathLst>
            </a:custGeom>
            <a:solidFill>
              <a:srgbClr val="025D27"/>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7" name="TextBox 21">
              <a:extLst>
                <a:ext uri="{FF2B5EF4-FFF2-40B4-BE49-F238E27FC236}">
                  <a16:creationId xmlns:a16="http://schemas.microsoft.com/office/drawing/2014/main" id="{7F07540F-73B0-D716-1131-982594039AED}"/>
                </a:ext>
              </a:extLst>
            </p:cNvPr>
            <p:cNvSpPr txBox="1"/>
            <p:nvPr/>
          </p:nvSpPr>
          <p:spPr>
            <a:xfrm>
              <a:off x="0" y="-38100"/>
              <a:ext cx="749990"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18" name="Group 22">
            <a:extLst>
              <a:ext uri="{FF2B5EF4-FFF2-40B4-BE49-F238E27FC236}">
                <a16:creationId xmlns:a16="http://schemas.microsoft.com/office/drawing/2014/main" id="{281B028B-385E-F452-024D-8BB94F4D83B8}"/>
              </a:ext>
            </a:extLst>
          </p:cNvPr>
          <p:cNvGrpSpPr/>
          <p:nvPr/>
        </p:nvGrpSpPr>
        <p:grpSpPr>
          <a:xfrm>
            <a:off x="3049695" y="4203123"/>
            <a:ext cx="1458934" cy="1544458"/>
            <a:chOff x="0" y="0"/>
            <a:chExt cx="617887" cy="654108"/>
          </a:xfrm>
        </p:grpSpPr>
        <p:sp>
          <p:nvSpPr>
            <p:cNvPr id="19" name="Freeform 23">
              <a:extLst>
                <a:ext uri="{FF2B5EF4-FFF2-40B4-BE49-F238E27FC236}">
                  <a16:creationId xmlns:a16="http://schemas.microsoft.com/office/drawing/2014/main" id="{22B22B83-BF89-287F-782C-53EFBE5EE2C9}"/>
                </a:ext>
              </a:extLst>
            </p:cNvPr>
            <p:cNvSpPr/>
            <p:nvPr/>
          </p:nvSpPr>
          <p:spPr>
            <a:xfrm>
              <a:off x="0" y="0"/>
              <a:ext cx="617887" cy="654108"/>
            </a:xfrm>
            <a:custGeom>
              <a:avLst/>
              <a:gdLst/>
              <a:ahLst/>
              <a:cxnLst/>
              <a:rect l="l" t="t" r="r" b="b"/>
              <a:pathLst>
                <a:path w="617887" h="654108">
                  <a:moveTo>
                    <a:pt x="0" y="0"/>
                  </a:moveTo>
                  <a:lnTo>
                    <a:pt x="617887" y="0"/>
                  </a:lnTo>
                  <a:lnTo>
                    <a:pt x="617887" y="654108"/>
                  </a:lnTo>
                  <a:lnTo>
                    <a:pt x="0" y="654108"/>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20" name="TextBox 24">
              <a:extLst>
                <a:ext uri="{FF2B5EF4-FFF2-40B4-BE49-F238E27FC236}">
                  <a16:creationId xmlns:a16="http://schemas.microsoft.com/office/drawing/2014/main" id="{9342B319-ADE7-C21F-2EC5-DC47280C7AA5}"/>
                </a:ext>
              </a:extLst>
            </p:cNvPr>
            <p:cNvSpPr txBox="1"/>
            <p:nvPr/>
          </p:nvSpPr>
          <p:spPr>
            <a:xfrm>
              <a:off x="0" y="-38100"/>
              <a:ext cx="617887"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21" name="Group 25">
            <a:extLst>
              <a:ext uri="{FF2B5EF4-FFF2-40B4-BE49-F238E27FC236}">
                <a16:creationId xmlns:a16="http://schemas.microsoft.com/office/drawing/2014/main" id="{269BA4E8-CBA1-17CF-4B27-5586E44C9042}"/>
              </a:ext>
            </a:extLst>
          </p:cNvPr>
          <p:cNvGrpSpPr/>
          <p:nvPr/>
        </p:nvGrpSpPr>
        <p:grpSpPr>
          <a:xfrm rot="5400000">
            <a:off x="5145798" y="3131429"/>
            <a:ext cx="301414" cy="601358"/>
            <a:chOff x="0" y="0"/>
            <a:chExt cx="452282" cy="902360"/>
          </a:xfrm>
        </p:grpSpPr>
        <p:sp>
          <p:nvSpPr>
            <p:cNvPr id="22"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23"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24" name="TextBox 28">
            <a:extLst>
              <a:ext uri="{FF2B5EF4-FFF2-40B4-BE49-F238E27FC236}">
                <a16:creationId xmlns:a16="http://schemas.microsoft.com/office/drawing/2014/main" id="{5E157642-2D9B-689A-C2B2-A7717A07260A}"/>
              </a:ext>
            </a:extLst>
          </p:cNvPr>
          <p:cNvSpPr txBox="1"/>
          <p:nvPr/>
        </p:nvSpPr>
        <p:spPr>
          <a:xfrm>
            <a:off x="239660" y="4103553"/>
            <a:ext cx="187572" cy="654025"/>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rPr>
              <a:t>必要性</a:t>
            </a:r>
          </a:p>
        </p:txBody>
      </p:sp>
      <p:sp>
        <p:nvSpPr>
          <p:cNvPr id="25" name="TextBox 29">
            <a:extLst>
              <a:ext uri="{FF2B5EF4-FFF2-40B4-BE49-F238E27FC236}">
                <a16:creationId xmlns:a16="http://schemas.microsoft.com/office/drawing/2014/main" id="{E542051B-CCE6-131D-3645-4C3C8932C9AF}"/>
              </a:ext>
            </a:extLst>
          </p:cNvPr>
          <p:cNvSpPr txBox="1"/>
          <p:nvPr/>
        </p:nvSpPr>
        <p:spPr>
          <a:xfrm>
            <a:off x="2530798" y="6132696"/>
            <a:ext cx="633665" cy="218008"/>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rPr>
              <a:t>緊急性</a:t>
            </a:r>
          </a:p>
        </p:txBody>
      </p:sp>
      <p:sp>
        <p:nvSpPr>
          <p:cNvPr id="26" name="TextBox 30">
            <a:extLst>
              <a:ext uri="{FF2B5EF4-FFF2-40B4-BE49-F238E27FC236}">
                <a16:creationId xmlns:a16="http://schemas.microsoft.com/office/drawing/2014/main" id="{789AA7FE-BAB1-3DE7-B600-0D2687AE8FEF}"/>
              </a:ext>
            </a:extLst>
          </p:cNvPr>
          <p:cNvSpPr txBox="1"/>
          <p:nvPr/>
        </p:nvSpPr>
        <p:spPr>
          <a:xfrm>
            <a:off x="3462330" y="3120281"/>
            <a:ext cx="633665"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今すぐ客</a:t>
            </a:r>
          </a:p>
        </p:txBody>
      </p:sp>
      <p:sp>
        <p:nvSpPr>
          <p:cNvPr id="27" name="TextBox 31">
            <a:extLst>
              <a:ext uri="{FF2B5EF4-FFF2-40B4-BE49-F238E27FC236}">
                <a16:creationId xmlns:a16="http://schemas.microsoft.com/office/drawing/2014/main" id="{95B912FE-88DA-75EB-2906-07FA329A9879}"/>
              </a:ext>
            </a:extLst>
          </p:cNvPr>
          <p:cNvSpPr txBox="1"/>
          <p:nvPr/>
        </p:nvSpPr>
        <p:spPr>
          <a:xfrm>
            <a:off x="1381753" y="311530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そのうち客</a:t>
            </a:r>
          </a:p>
        </p:txBody>
      </p:sp>
      <p:sp>
        <p:nvSpPr>
          <p:cNvPr id="28" name="TextBox 32">
            <a:extLst>
              <a:ext uri="{FF2B5EF4-FFF2-40B4-BE49-F238E27FC236}">
                <a16:creationId xmlns:a16="http://schemas.microsoft.com/office/drawing/2014/main" id="{59D328C3-F2B3-6E79-96BF-D71386F2B39C}"/>
              </a:ext>
            </a:extLst>
          </p:cNvPr>
          <p:cNvSpPr txBox="1"/>
          <p:nvPr/>
        </p:nvSpPr>
        <p:spPr>
          <a:xfrm>
            <a:off x="1415156"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FFFFFF"/>
                </a:solidFill>
                <a:latin typeface="メイリオ" panose="020B0604030504040204" pitchFamily="50" charset="-128"/>
                <a:ea typeface="メイリオ" panose="020B0604030504040204" pitchFamily="50" charset="-128"/>
              </a:rPr>
              <a:t>まだまだ客</a:t>
            </a:r>
          </a:p>
        </p:txBody>
      </p:sp>
      <p:sp>
        <p:nvSpPr>
          <p:cNvPr id="29" name="TextBox 33">
            <a:extLst>
              <a:ext uri="{FF2B5EF4-FFF2-40B4-BE49-F238E27FC236}">
                <a16:creationId xmlns:a16="http://schemas.microsoft.com/office/drawing/2014/main" id="{877B9BED-D0F9-E0E6-43A4-64BB48000261}"/>
              </a:ext>
            </a:extLst>
          </p:cNvPr>
          <p:cNvSpPr txBox="1"/>
          <p:nvPr/>
        </p:nvSpPr>
        <p:spPr>
          <a:xfrm>
            <a:off x="3344694"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お悩み客</a:t>
            </a:r>
          </a:p>
        </p:txBody>
      </p:sp>
      <p:sp>
        <p:nvSpPr>
          <p:cNvPr id="30" name="TextBox 34">
            <a:extLst>
              <a:ext uri="{FF2B5EF4-FFF2-40B4-BE49-F238E27FC236}">
                <a16:creationId xmlns:a16="http://schemas.microsoft.com/office/drawing/2014/main" id="{0401D261-C9B9-D74A-1CE2-30812B0B4154}"/>
              </a:ext>
            </a:extLst>
          </p:cNvPr>
          <p:cNvSpPr txBox="1"/>
          <p:nvPr/>
        </p:nvSpPr>
        <p:spPr>
          <a:xfrm>
            <a:off x="3462330" y="3384483"/>
            <a:ext cx="633665" cy="282129"/>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rPr>
              <a:t>1-2％</a:t>
            </a:r>
          </a:p>
        </p:txBody>
      </p:sp>
      <p:sp>
        <p:nvSpPr>
          <p:cNvPr id="31" name="TextBox 35">
            <a:extLst>
              <a:ext uri="{FF2B5EF4-FFF2-40B4-BE49-F238E27FC236}">
                <a16:creationId xmlns:a16="http://schemas.microsoft.com/office/drawing/2014/main" id="{D2A4C54E-2F37-07C2-DE48-A2E382EA3FF7}"/>
              </a:ext>
            </a:extLst>
          </p:cNvPr>
          <p:cNvSpPr txBox="1"/>
          <p:nvPr/>
        </p:nvSpPr>
        <p:spPr>
          <a:xfrm>
            <a:off x="1385749" y="3384483"/>
            <a:ext cx="927750" cy="564257"/>
          </a:xfrm>
          <a:prstGeom prst="rect">
            <a:avLst/>
          </a:prstGeom>
        </p:spPr>
        <p:txBody>
          <a:bodyPr wrap="square" lIns="0" tIns="0" rIns="0" bIns="0" rtlCol="0" anchor="t">
            <a:spAutoFit/>
          </a:bodyPr>
          <a:lstStyle/>
          <a:p>
            <a:pPr algn="ctr">
              <a:lnSpc>
                <a:spcPts val="2176"/>
              </a:lnSpc>
              <a:spcBef>
                <a:spcPct val="0"/>
              </a:spcBef>
            </a:pPr>
            <a:r>
              <a:rPr lang="en-US" altLang="ja-JP" sz="1554" dirty="0">
                <a:solidFill>
                  <a:srgbClr val="494848"/>
                </a:solidFill>
                <a:latin typeface="メイリオ" panose="020B0604030504040204" pitchFamily="50" charset="-128"/>
                <a:ea typeface="メイリオ" panose="020B0604030504040204" pitchFamily="50" charset="-128"/>
              </a:rPr>
              <a:t>9-</a:t>
            </a:r>
            <a:r>
              <a:rPr lang="en-US" sz="1554" dirty="0">
                <a:solidFill>
                  <a:srgbClr val="494848"/>
                </a:solidFill>
                <a:latin typeface="メイリオ" panose="020B0604030504040204" pitchFamily="50" charset="-128"/>
                <a:ea typeface="メイリオ" panose="020B0604030504040204" pitchFamily="50" charset="-128"/>
              </a:rPr>
              <a:t>9.5％</a:t>
            </a:r>
          </a:p>
        </p:txBody>
      </p:sp>
      <p:sp>
        <p:nvSpPr>
          <p:cNvPr id="32" name="TextBox 36">
            <a:extLst>
              <a:ext uri="{FF2B5EF4-FFF2-40B4-BE49-F238E27FC236}">
                <a16:creationId xmlns:a16="http://schemas.microsoft.com/office/drawing/2014/main" id="{E5AC4649-00C6-4888-D80C-1A7202D4D61C}"/>
              </a:ext>
            </a:extLst>
          </p:cNvPr>
          <p:cNvSpPr txBox="1"/>
          <p:nvPr/>
        </p:nvSpPr>
        <p:spPr>
          <a:xfrm>
            <a:off x="3315287" y="4823293"/>
            <a:ext cx="927750" cy="564257"/>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rPr>
              <a:t>9-9.5％</a:t>
            </a:r>
          </a:p>
        </p:txBody>
      </p:sp>
      <p:sp>
        <p:nvSpPr>
          <p:cNvPr id="33" name="TextBox 37">
            <a:extLst>
              <a:ext uri="{FF2B5EF4-FFF2-40B4-BE49-F238E27FC236}">
                <a16:creationId xmlns:a16="http://schemas.microsoft.com/office/drawing/2014/main" id="{F710B60A-9E92-C96A-5B26-805DEEDE4E80}"/>
              </a:ext>
            </a:extLst>
          </p:cNvPr>
          <p:cNvSpPr txBox="1"/>
          <p:nvPr/>
        </p:nvSpPr>
        <p:spPr>
          <a:xfrm>
            <a:off x="1532792" y="4823293"/>
            <a:ext cx="633665" cy="282129"/>
          </a:xfrm>
          <a:prstGeom prst="rect">
            <a:avLst/>
          </a:prstGeom>
        </p:spPr>
        <p:txBody>
          <a:bodyPr wrap="square" lIns="0" tIns="0" rIns="0" bIns="0" rtlCol="0" anchor="t">
            <a:spAutoFit/>
          </a:bodyPr>
          <a:lstStyle/>
          <a:p>
            <a:pPr algn="ctr">
              <a:lnSpc>
                <a:spcPts val="2176"/>
              </a:lnSpc>
              <a:spcBef>
                <a:spcPct val="0"/>
              </a:spcBef>
            </a:pPr>
            <a:r>
              <a:rPr lang="en-US" sz="1554">
                <a:solidFill>
                  <a:srgbClr val="FFFFFF"/>
                </a:solidFill>
                <a:latin typeface="メイリオ" panose="020B0604030504040204" pitchFamily="50" charset="-128"/>
                <a:ea typeface="メイリオ" panose="020B0604030504040204" pitchFamily="50" charset="-128"/>
              </a:rPr>
              <a:t>80％</a:t>
            </a:r>
          </a:p>
        </p:txBody>
      </p:sp>
      <p:sp>
        <p:nvSpPr>
          <p:cNvPr id="34" name="TextBox 38">
            <a:extLst>
              <a:ext uri="{FF2B5EF4-FFF2-40B4-BE49-F238E27FC236}">
                <a16:creationId xmlns:a16="http://schemas.microsoft.com/office/drawing/2014/main" id="{5DBC0D5A-D55C-257A-51E2-CC2A6B58B8CE}"/>
              </a:ext>
            </a:extLst>
          </p:cNvPr>
          <p:cNvSpPr txBox="1"/>
          <p:nvPr/>
        </p:nvSpPr>
        <p:spPr>
          <a:xfrm>
            <a:off x="5800858" y="3159765"/>
            <a:ext cx="3788946" cy="539891"/>
          </a:xfrm>
          <a:prstGeom prst="rect">
            <a:avLst/>
          </a:prstGeom>
        </p:spPr>
        <p:txBody>
          <a:bodyPr wrap="square" lIns="0" tIns="0" rIns="0" bIns="0" rtlCol="0" anchor="t">
            <a:spAutoFit/>
          </a:bodyPr>
          <a:lstStyle/>
          <a:p>
            <a:pPr>
              <a:lnSpc>
                <a:spcPts val="2176"/>
              </a:lnSpc>
            </a:pPr>
            <a:r>
              <a:rPr lang="en-US" sz="1200" b="1" dirty="0">
                <a:solidFill>
                  <a:srgbClr val="494848"/>
                </a:solidFill>
                <a:latin typeface="メイリオ" panose="020B0604030504040204" pitchFamily="50" charset="-128"/>
                <a:ea typeface="メイリオ" panose="020B0604030504040204" pitchFamily="50" charset="-128"/>
              </a:rPr>
              <a:t>「</a:t>
            </a:r>
            <a:r>
              <a:rPr lang="en-US" sz="1200" b="1" dirty="0" err="1">
                <a:solidFill>
                  <a:srgbClr val="494848"/>
                </a:solidFill>
                <a:latin typeface="メイリオ" panose="020B0604030504040204" pitchFamily="50" charset="-128"/>
                <a:ea typeface="メイリオ" panose="020B0604030504040204" pitchFamily="50" charset="-128"/>
              </a:rPr>
              <a:t>今すぐ</a:t>
            </a:r>
            <a:r>
              <a:rPr lang="ja-JP" altLang="en-US" sz="1200" b="1" dirty="0">
                <a:solidFill>
                  <a:srgbClr val="494848"/>
                </a:solidFill>
                <a:latin typeface="メイリオ" panose="020B0604030504040204" pitchFamily="50" charset="-128"/>
                <a:ea typeface="メイリオ" panose="020B0604030504040204" pitchFamily="50" charset="-128"/>
              </a:rPr>
              <a:t>顧</a:t>
            </a:r>
            <a:r>
              <a:rPr lang="en-US" sz="1200" b="1" dirty="0" err="1">
                <a:solidFill>
                  <a:srgbClr val="494848"/>
                </a:solidFill>
                <a:latin typeface="メイリオ" panose="020B0604030504040204" pitchFamily="50" charset="-128"/>
                <a:ea typeface="メイリオ" panose="020B0604030504040204" pitchFamily="50" charset="-128"/>
              </a:rPr>
              <a:t>客」を高い広告費を投資して獲得する</a:t>
            </a:r>
            <a:r>
              <a:rPr lang="ja-JP" altLang="en-US" sz="1200" b="1" dirty="0" err="1">
                <a:solidFill>
                  <a:srgbClr val="494848"/>
                </a:solidFill>
                <a:latin typeface="メイリオ" panose="020B0604030504040204" pitchFamily="50" charset="-128"/>
                <a:ea typeface="メイリオ" panose="020B0604030504040204" pitchFamily="50" charset="-128"/>
              </a:rPr>
              <a:t>のは</a:t>
            </a:r>
            <a:r>
              <a:rPr lang="ja-JP" altLang="en-US" sz="1200" b="1" dirty="0">
                <a:solidFill>
                  <a:srgbClr val="494848"/>
                </a:solidFill>
                <a:latin typeface="メイリオ" panose="020B0604030504040204" pitchFamily="50" charset="-128"/>
                <a:ea typeface="メイリオ" panose="020B0604030504040204" pitchFamily="50" charset="-128"/>
              </a:rPr>
              <a:t>リスクが大きい。</a:t>
            </a:r>
            <a:endParaRPr lang="en-US" sz="1200" b="1" dirty="0">
              <a:solidFill>
                <a:srgbClr val="494848"/>
              </a:solidFill>
              <a:latin typeface="メイリオ" panose="020B0604030504040204" pitchFamily="50" charset="-128"/>
              <a:ea typeface="メイリオ" panose="020B0604030504040204" pitchFamily="50" charset="-128"/>
            </a:endParaRPr>
          </a:p>
        </p:txBody>
      </p:sp>
      <p:sp>
        <p:nvSpPr>
          <p:cNvPr id="36" name="Freeform 40">
            <a:extLst>
              <a:ext uri="{FF2B5EF4-FFF2-40B4-BE49-F238E27FC236}">
                <a16:creationId xmlns:a16="http://schemas.microsoft.com/office/drawing/2014/main" id="{5A77A5D7-0DDE-21C2-51A5-84842B7243A6}"/>
              </a:ext>
            </a:extLst>
          </p:cNvPr>
          <p:cNvSpPr/>
          <p:nvPr/>
        </p:nvSpPr>
        <p:spPr>
          <a:xfrm rot="5400000">
            <a:off x="5145798" y="4206671"/>
            <a:ext cx="301414" cy="601358"/>
          </a:xfrm>
          <a:custGeom>
            <a:avLst/>
            <a:gdLst/>
            <a:ahLst/>
            <a:cxnLst/>
            <a:rect l="l" t="t" r="r" b="b"/>
            <a:pathLst>
              <a:path w="452282" h="902360">
                <a:moveTo>
                  <a:pt x="226141" y="0"/>
                </a:moveTo>
                <a:lnTo>
                  <a:pt x="452282" y="902360"/>
                </a:lnTo>
                <a:lnTo>
                  <a:pt x="0" y="902360"/>
                </a:lnTo>
                <a:lnTo>
                  <a:pt x="226141" y="0"/>
                </a:lnTo>
                <a:close/>
              </a:path>
            </a:pathLst>
          </a:custGeom>
          <a:solidFill>
            <a:srgbClr val="00FF00"/>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8" name="TextBox 42">
            <a:extLst>
              <a:ext uri="{FF2B5EF4-FFF2-40B4-BE49-F238E27FC236}">
                <a16:creationId xmlns:a16="http://schemas.microsoft.com/office/drawing/2014/main" id="{8A119429-976A-2BD7-EDD0-0C402786F523}"/>
              </a:ext>
            </a:extLst>
          </p:cNvPr>
          <p:cNvSpPr txBox="1"/>
          <p:nvPr/>
        </p:nvSpPr>
        <p:spPr>
          <a:xfrm>
            <a:off x="5800858" y="4237404"/>
            <a:ext cx="3889580" cy="539891"/>
          </a:xfrm>
          <a:prstGeom prst="rect">
            <a:avLst/>
          </a:prstGeom>
        </p:spPr>
        <p:txBody>
          <a:bodyPr wrap="square" lIns="0" tIns="0" rIns="0" bIns="0" rtlCol="0" anchor="t">
            <a:spAutoFit/>
          </a:bodyPr>
          <a:lstStyle/>
          <a:p>
            <a:pPr>
              <a:lnSpc>
                <a:spcPts val="2176"/>
              </a:lnSpc>
            </a:pPr>
            <a:r>
              <a:rPr lang="en-US" sz="1200" b="1" dirty="0" err="1">
                <a:solidFill>
                  <a:srgbClr val="494848"/>
                </a:solidFill>
                <a:latin typeface="メイリオ" panose="020B0604030504040204" pitchFamily="50" charset="-128"/>
                <a:ea typeface="メイリオ" panose="020B0604030504040204" pitchFamily="50" charset="-128"/>
              </a:rPr>
              <a:t>リストとして獲得するだけでなく</a:t>
            </a:r>
            <a:endParaRPr lang="en-US" sz="1200" b="1" dirty="0">
              <a:solidFill>
                <a:srgbClr val="494848"/>
              </a:solidFill>
              <a:latin typeface="メイリオ" panose="020B0604030504040204" pitchFamily="50" charset="-128"/>
              <a:ea typeface="メイリオ" panose="020B0604030504040204" pitchFamily="50" charset="-128"/>
            </a:endParaRPr>
          </a:p>
          <a:p>
            <a:pPr>
              <a:lnSpc>
                <a:spcPts val="2176"/>
              </a:lnSpc>
            </a:pPr>
            <a:r>
              <a:rPr lang="en-US" sz="1200" b="1" dirty="0">
                <a:solidFill>
                  <a:srgbClr val="494848"/>
                </a:solidFill>
                <a:latin typeface="メイリオ" panose="020B0604030504040204" pitchFamily="50" charset="-128"/>
                <a:ea typeface="メイリオ" panose="020B0604030504040204" pitchFamily="50" charset="-128"/>
              </a:rPr>
              <a:t>「</a:t>
            </a:r>
            <a:r>
              <a:rPr lang="ja-JP" altLang="en-US" sz="1200" b="1" dirty="0">
                <a:solidFill>
                  <a:srgbClr val="494848"/>
                </a:solidFill>
                <a:latin typeface="メイリオ" panose="020B0604030504040204" pitchFamily="50" charset="-128"/>
                <a:ea typeface="メイリオ" panose="020B0604030504040204" pitchFamily="50" charset="-128"/>
              </a:rPr>
              <a:t>将来的な顧</a:t>
            </a:r>
            <a:r>
              <a:rPr lang="en-US" sz="1200" b="1" dirty="0" err="1">
                <a:solidFill>
                  <a:srgbClr val="494848"/>
                </a:solidFill>
                <a:latin typeface="メイリオ" panose="020B0604030504040204" pitchFamily="50" charset="-128"/>
                <a:ea typeface="メイリオ" panose="020B0604030504040204" pitchFamily="50" charset="-128"/>
              </a:rPr>
              <a:t>客」教育をLINE</a:t>
            </a:r>
            <a:r>
              <a:rPr lang="ja-JP" altLang="en-US" sz="1200" b="1" dirty="0">
                <a:solidFill>
                  <a:srgbClr val="494848"/>
                </a:solidFill>
                <a:latin typeface="メイリオ" panose="020B0604030504040204" pitchFamily="50" charset="-128"/>
                <a:ea typeface="メイリオ" panose="020B0604030504040204" pitchFamily="50" charset="-128"/>
              </a:rPr>
              <a:t>上で構築し</a:t>
            </a:r>
            <a:r>
              <a:rPr lang="en-US" sz="1200" b="1" dirty="0">
                <a:solidFill>
                  <a:srgbClr val="494848"/>
                </a:solidFill>
                <a:latin typeface="メイリオ" panose="020B0604030504040204" pitchFamily="50" charset="-128"/>
                <a:ea typeface="メイリオ" panose="020B0604030504040204" pitchFamily="50" charset="-128"/>
              </a:rPr>
              <a:t>行</a:t>
            </a:r>
            <a:r>
              <a:rPr lang="ja-JP" altLang="en-US" sz="1200" b="1" dirty="0">
                <a:solidFill>
                  <a:srgbClr val="494848"/>
                </a:solidFill>
                <a:latin typeface="メイリオ" panose="020B0604030504040204" pitchFamily="50" charset="-128"/>
                <a:ea typeface="メイリオ" panose="020B0604030504040204" pitchFamily="50" charset="-128"/>
              </a:rPr>
              <a:t>う。</a:t>
            </a:r>
            <a:endParaRPr lang="en-US" sz="1200" b="1" dirty="0">
              <a:solidFill>
                <a:srgbClr val="494848"/>
              </a:solidFill>
              <a:latin typeface="メイリオ" panose="020B0604030504040204" pitchFamily="50" charset="-128"/>
              <a:ea typeface="メイリオ" panose="020B0604030504040204" pitchFamily="50" charset="-128"/>
            </a:endParaRPr>
          </a:p>
        </p:txBody>
      </p:sp>
      <p:sp>
        <p:nvSpPr>
          <p:cNvPr id="39" name="AutoShape 43">
            <a:extLst>
              <a:ext uri="{FF2B5EF4-FFF2-40B4-BE49-F238E27FC236}">
                <a16:creationId xmlns:a16="http://schemas.microsoft.com/office/drawing/2014/main" id="{BAFE21F2-B11C-C6C6-4A68-B44BBEB51A4E}"/>
              </a:ext>
            </a:extLst>
          </p:cNvPr>
          <p:cNvSpPr/>
          <p:nvPr/>
        </p:nvSpPr>
        <p:spPr>
          <a:xfrm>
            <a:off x="837672" y="2859077"/>
            <a:ext cx="2060521"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0" name="AutoShape 44">
            <a:extLst>
              <a:ext uri="{FF2B5EF4-FFF2-40B4-BE49-F238E27FC236}">
                <a16:creationId xmlns:a16="http://schemas.microsoft.com/office/drawing/2014/main" id="{2CDA6644-C37D-611D-E0EA-EDDC28827BA0}"/>
              </a:ext>
            </a:extLst>
          </p:cNvPr>
          <p:cNvSpPr/>
          <p:nvPr/>
        </p:nvSpPr>
        <p:spPr>
          <a:xfrm>
            <a:off x="828963" y="5877316"/>
            <a:ext cx="3810830"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1" name="AutoShape 45">
            <a:extLst>
              <a:ext uri="{FF2B5EF4-FFF2-40B4-BE49-F238E27FC236}">
                <a16:creationId xmlns:a16="http://schemas.microsoft.com/office/drawing/2014/main" id="{1127F3C8-7A7B-61A4-7E40-223286E1D74F}"/>
              </a:ext>
            </a:extLst>
          </p:cNvPr>
          <p:cNvSpPr/>
          <p:nvPr/>
        </p:nvSpPr>
        <p:spPr>
          <a:xfrm>
            <a:off x="2889484" y="4056689"/>
            <a:ext cx="1750309"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2" name="AutoShape 46">
            <a:extLst>
              <a:ext uri="{FF2B5EF4-FFF2-40B4-BE49-F238E27FC236}">
                <a16:creationId xmlns:a16="http://schemas.microsoft.com/office/drawing/2014/main" id="{67E01EC4-C522-4365-750F-36BD973DD207}"/>
              </a:ext>
            </a:extLst>
          </p:cNvPr>
          <p:cNvSpPr/>
          <p:nvPr/>
        </p:nvSpPr>
        <p:spPr>
          <a:xfrm>
            <a:off x="4639793" y="4062682"/>
            <a:ext cx="0" cy="1826059"/>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3" name="AutoShape 47">
            <a:extLst>
              <a:ext uri="{FF2B5EF4-FFF2-40B4-BE49-F238E27FC236}">
                <a16:creationId xmlns:a16="http://schemas.microsoft.com/office/drawing/2014/main" id="{3E4AE2CB-A28C-E78F-2537-02549A8EA7AB}"/>
              </a:ext>
            </a:extLst>
          </p:cNvPr>
          <p:cNvSpPr/>
          <p:nvPr/>
        </p:nvSpPr>
        <p:spPr>
          <a:xfrm>
            <a:off x="2901330" y="2853320"/>
            <a:ext cx="0" cy="1217836"/>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4" name="AutoShape 48">
            <a:extLst>
              <a:ext uri="{FF2B5EF4-FFF2-40B4-BE49-F238E27FC236}">
                <a16:creationId xmlns:a16="http://schemas.microsoft.com/office/drawing/2014/main" id="{BDF7967C-8276-F30B-0E4E-4BFC7A91F312}"/>
              </a:ext>
            </a:extLst>
          </p:cNvPr>
          <p:cNvSpPr/>
          <p:nvPr/>
        </p:nvSpPr>
        <p:spPr>
          <a:xfrm>
            <a:off x="840809" y="2862215"/>
            <a:ext cx="0" cy="3015101"/>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grpSp>
        <p:nvGrpSpPr>
          <p:cNvPr id="2" name="Group 25">
            <a:extLst>
              <a:ext uri="{FF2B5EF4-FFF2-40B4-BE49-F238E27FC236}">
                <a16:creationId xmlns:a16="http://schemas.microsoft.com/office/drawing/2014/main" id="{B0E7D26F-11A3-5FBC-5353-A2EB828FFE48}"/>
              </a:ext>
            </a:extLst>
          </p:cNvPr>
          <p:cNvGrpSpPr/>
          <p:nvPr/>
        </p:nvGrpSpPr>
        <p:grpSpPr>
          <a:xfrm rot="5400000">
            <a:off x="5145798" y="5317353"/>
            <a:ext cx="301414" cy="601358"/>
            <a:chOff x="0" y="0"/>
            <a:chExt cx="452282" cy="902360"/>
          </a:xfrm>
        </p:grpSpPr>
        <p:sp>
          <p:nvSpPr>
            <p:cNvPr id="35" name="Freeform 26">
              <a:extLst>
                <a:ext uri="{FF2B5EF4-FFF2-40B4-BE49-F238E27FC236}">
                  <a16:creationId xmlns:a16="http://schemas.microsoft.com/office/drawing/2014/main" id="{CDCF4F9F-A96D-47F0-B2E9-BCCD3E29956A}"/>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7" name="TextBox 27">
              <a:extLst>
                <a:ext uri="{FF2B5EF4-FFF2-40B4-BE49-F238E27FC236}">
                  <a16:creationId xmlns:a16="http://schemas.microsoft.com/office/drawing/2014/main" id="{6966F572-AC3F-D92B-3752-A94BD979EB99}"/>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6" name="TextBox 38">
            <a:extLst>
              <a:ext uri="{FF2B5EF4-FFF2-40B4-BE49-F238E27FC236}">
                <a16:creationId xmlns:a16="http://schemas.microsoft.com/office/drawing/2014/main" id="{64F1097F-60BC-270D-2F02-2726FEAC05DF}"/>
              </a:ext>
            </a:extLst>
          </p:cNvPr>
          <p:cNvSpPr txBox="1"/>
          <p:nvPr/>
        </p:nvSpPr>
        <p:spPr>
          <a:xfrm>
            <a:off x="5800858" y="5349271"/>
            <a:ext cx="3788946" cy="539891"/>
          </a:xfrm>
          <a:prstGeom prst="rect">
            <a:avLst/>
          </a:prstGeom>
        </p:spPr>
        <p:txBody>
          <a:bodyPr wrap="square" lIns="0" tIns="0" rIns="0" bIns="0" rtlCol="0" anchor="t">
            <a:spAutoFit/>
          </a:bodyPr>
          <a:lstStyle/>
          <a:p>
            <a:pPr>
              <a:lnSpc>
                <a:spcPts val="2176"/>
              </a:lnSpc>
            </a:pPr>
            <a:r>
              <a:rPr lang="ja-JP" altLang="en-US" sz="1200" b="1" dirty="0">
                <a:solidFill>
                  <a:srgbClr val="494848"/>
                </a:solidFill>
                <a:latin typeface="メイリオ" panose="020B0604030504040204" pitchFamily="50" charset="-128"/>
                <a:ea typeface="メイリオ" panose="020B0604030504040204" pitchFamily="50" charset="-128"/>
              </a:rPr>
              <a:t>広告審査がないうえに、ユーザー接点を早めることで大量かつ高効率での獲得を見込むことが出来る。</a:t>
            </a:r>
            <a:endParaRPr lang="en-US" altLang="ja-JP" sz="1200" b="1" dirty="0">
              <a:solidFill>
                <a:srgbClr val="494848"/>
              </a:solidFill>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77B39B6D-C944-4A06-0278-EC4EB8161426}"/>
              </a:ext>
            </a:extLst>
          </p:cNvPr>
          <p:cNvSpPr/>
          <p:nvPr/>
        </p:nvSpPr>
        <p:spPr>
          <a:xfrm>
            <a:off x="0" y="1550126"/>
            <a:ext cx="9906000" cy="99817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正方形/長方形 68">
            <a:extLst>
              <a:ext uri="{FF2B5EF4-FFF2-40B4-BE49-F238E27FC236}">
                <a16:creationId xmlns:a16="http://schemas.microsoft.com/office/drawing/2014/main" id="{5E7B95DC-CC66-6E85-612E-16DD030F6207}"/>
              </a:ext>
            </a:extLst>
          </p:cNvPr>
          <p:cNvSpPr/>
          <p:nvPr/>
        </p:nvSpPr>
        <p:spPr>
          <a:xfrm>
            <a:off x="1415156" y="1777768"/>
            <a:ext cx="3135795" cy="523220"/>
          </a:xfrm>
          <a:prstGeom prst="rect">
            <a:avLst/>
          </a:prstGeom>
        </p:spPr>
        <p:txBody>
          <a:bodyPr wrap="none">
            <a:spAutoFit/>
          </a:bodyPr>
          <a:lstStyle/>
          <a:p>
            <a:pPr algn="ctr"/>
            <a:r>
              <a:rPr lang="en-US" altLang="ja-JP" sz="1400" dirty="0">
                <a:latin typeface="Meiryo"/>
                <a:ea typeface="Meiryo"/>
                <a:cs typeface="Meiryo"/>
                <a:sym typeface="Meiryo"/>
              </a:rPr>
              <a:t>WEB</a:t>
            </a:r>
            <a:r>
              <a:rPr lang="ja-JP" altLang="en-US" sz="1400" dirty="0">
                <a:latin typeface="Meiryo"/>
                <a:ea typeface="Meiryo"/>
                <a:cs typeface="Meiryo"/>
                <a:sym typeface="Meiryo"/>
              </a:rPr>
              <a:t>広告における</a:t>
            </a:r>
            <a:r>
              <a:rPr lang="ja-JP" altLang="en-US" sz="1400" b="1" dirty="0">
                <a:latin typeface="Meiryo"/>
                <a:ea typeface="Meiryo"/>
                <a:cs typeface="Meiryo"/>
                <a:sym typeface="Meiryo"/>
              </a:rPr>
              <a:t>競合性が高</a:t>
            </a:r>
            <a:r>
              <a:rPr lang="ja-JP" altLang="en-US" sz="1400" dirty="0">
                <a:latin typeface="Meiryo"/>
                <a:ea typeface="Meiryo"/>
                <a:cs typeface="Meiryo"/>
                <a:sym typeface="Meiryo"/>
              </a:rPr>
              <a:t>くなり</a:t>
            </a:r>
            <a:endParaRPr lang="en-US" altLang="ja-JP" sz="1400" dirty="0">
              <a:latin typeface="Meiryo"/>
              <a:ea typeface="Meiryo"/>
              <a:cs typeface="Meiryo"/>
              <a:sym typeface="Meiryo"/>
            </a:endParaRPr>
          </a:p>
          <a:p>
            <a:pPr algn="ctr"/>
            <a:r>
              <a:rPr lang="ja-JP" altLang="en-US" sz="1400" b="1" dirty="0">
                <a:solidFill>
                  <a:srgbClr val="FF0000"/>
                </a:solidFill>
                <a:latin typeface="Meiryo"/>
                <a:ea typeface="Meiryo"/>
                <a:cs typeface="Meiryo"/>
                <a:sym typeface="Meiryo"/>
              </a:rPr>
              <a:t>単価指標（</a:t>
            </a:r>
            <a:r>
              <a:rPr lang="en-US" altLang="ja-JP" sz="1400" b="1" dirty="0">
                <a:solidFill>
                  <a:srgbClr val="FF0000"/>
                </a:solidFill>
                <a:latin typeface="Meiryo"/>
                <a:ea typeface="Meiryo"/>
                <a:cs typeface="Meiryo"/>
                <a:sym typeface="Meiryo"/>
              </a:rPr>
              <a:t>CPC</a:t>
            </a:r>
            <a:r>
              <a:rPr lang="ja-JP" altLang="en-US" sz="1400" b="1" dirty="0">
                <a:solidFill>
                  <a:srgbClr val="FF0000"/>
                </a:solidFill>
                <a:latin typeface="Meiryo"/>
                <a:ea typeface="Meiryo"/>
                <a:cs typeface="Meiryo"/>
                <a:sym typeface="Meiryo"/>
              </a:rPr>
              <a:t>及び</a:t>
            </a:r>
            <a:r>
              <a:rPr lang="en-US" altLang="ja-JP" sz="1400" b="1" dirty="0">
                <a:solidFill>
                  <a:srgbClr val="FF0000"/>
                </a:solidFill>
                <a:latin typeface="Meiryo"/>
                <a:ea typeface="Meiryo"/>
                <a:cs typeface="Meiryo"/>
                <a:sym typeface="Meiryo"/>
              </a:rPr>
              <a:t>CPA</a:t>
            </a:r>
            <a:r>
              <a:rPr lang="ja-JP" altLang="en-US" sz="1400" b="1" dirty="0">
                <a:solidFill>
                  <a:srgbClr val="FF0000"/>
                </a:solidFill>
                <a:latin typeface="Meiryo"/>
                <a:ea typeface="Meiryo"/>
                <a:cs typeface="Meiryo"/>
                <a:sym typeface="Meiryo"/>
              </a:rPr>
              <a:t>）が高騰</a:t>
            </a:r>
            <a:r>
              <a:rPr lang="ja-JP" altLang="en-US" sz="1400" dirty="0">
                <a:latin typeface="Meiryo"/>
                <a:ea typeface="Meiryo"/>
                <a:cs typeface="Meiryo"/>
                <a:sym typeface="Meiryo"/>
              </a:rPr>
              <a:t>。</a:t>
            </a:r>
            <a:endParaRPr lang="en-US" altLang="ja-JP" sz="1400" dirty="0">
              <a:latin typeface="Meiryo"/>
              <a:ea typeface="Meiryo"/>
              <a:cs typeface="Meiryo"/>
              <a:sym typeface="Meiryo"/>
            </a:endParaRPr>
          </a:p>
        </p:txBody>
      </p:sp>
      <p:sp>
        <p:nvSpPr>
          <p:cNvPr id="71" name="正方形/長方形 70">
            <a:extLst>
              <a:ext uri="{FF2B5EF4-FFF2-40B4-BE49-F238E27FC236}">
                <a16:creationId xmlns:a16="http://schemas.microsoft.com/office/drawing/2014/main" id="{8E05BE0D-9D83-9FD4-8701-8FD707FC6BF5}"/>
              </a:ext>
            </a:extLst>
          </p:cNvPr>
          <p:cNvSpPr/>
          <p:nvPr/>
        </p:nvSpPr>
        <p:spPr>
          <a:xfrm>
            <a:off x="5717891" y="1781471"/>
            <a:ext cx="3773790" cy="523220"/>
          </a:xfrm>
          <a:prstGeom prst="rect">
            <a:avLst/>
          </a:prstGeom>
        </p:spPr>
        <p:txBody>
          <a:bodyPr wrap="none">
            <a:spAutoFit/>
          </a:bodyPr>
          <a:lstStyle/>
          <a:p>
            <a:pPr algn="ctr"/>
            <a:r>
              <a:rPr lang="ja-JP" altLang="en-US" sz="1400" dirty="0">
                <a:latin typeface="Meiryo"/>
                <a:ea typeface="Meiryo"/>
                <a:sym typeface="Meiryo"/>
              </a:rPr>
              <a:t>集客施策における</a:t>
            </a:r>
            <a:r>
              <a:rPr lang="en-US" altLang="ja-JP" sz="1400" b="1" dirty="0">
                <a:latin typeface="Meiryo"/>
                <a:ea typeface="Meiryo"/>
                <a:sym typeface="Meiryo"/>
              </a:rPr>
              <a:t>CVR</a:t>
            </a:r>
            <a:r>
              <a:rPr lang="ja-JP" altLang="en-US" sz="1400" b="1" dirty="0">
                <a:latin typeface="Meiryo"/>
                <a:ea typeface="Meiryo"/>
                <a:sym typeface="Meiryo"/>
              </a:rPr>
              <a:t>は高くても</a:t>
            </a:r>
            <a:r>
              <a:rPr lang="en-US" altLang="ja-JP" sz="1400" b="1" dirty="0">
                <a:latin typeface="Meiryo"/>
                <a:ea typeface="Meiryo"/>
                <a:sym typeface="Meiryo"/>
              </a:rPr>
              <a:t>2%</a:t>
            </a:r>
            <a:r>
              <a:rPr lang="ja-JP" altLang="en-US" sz="1400" b="1" dirty="0">
                <a:latin typeface="Meiryo"/>
                <a:ea typeface="Meiryo"/>
                <a:sym typeface="Meiryo"/>
              </a:rPr>
              <a:t>程度</a:t>
            </a:r>
            <a:r>
              <a:rPr lang="ja-JP" altLang="en-US" sz="1400" dirty="0">
                <a:latin typeface="Meiryo"/>
                <a:ea typeface="Meiryo"/>
                <a:sym typeface="Meiryo"/>
              </a:rPr>
              <a:t>。</a:t>
            </a:r>
            <a:endParaRPr lang="en-US" altLang="ja-JP" sz="1400" dirty="0">
              <a:latin typeface="Meiryo"/>
              <a:ea typeface="Meiryo"/>
              <a:sym typeface="Meiryo"/>
            </a:endParaRPr>
          </a:p>
          <a:p>
            <a:pPr algn="ctr"/>
            <a:r>
              <a:rPr lang="en-US" altLang="ja-JP" sz="1400" dirty="0">
                <a:solidFill>
                  <a:srgbClr val="FF0000"/>
                </a:solidFill>
                <a:latin typeface="Meiryo"/>
                <a:ea typeface="Meiryo"/>
                <a:sym typeface="Meiryo"/>
              </a:rPr>
              <a:t>CV</a:t>
            </a:r>
            <a:r>
              <a:rPr lang="ja-JP" altLang="en-US" sz="1400" dirty="0">
                <a:solidFill>
                  <a:srgbClr val="FF0000"/>
                </a:solidFill>
                <a:latin typeface="Meiryo"/>
                <a:ea typeface="Meiryo"/>
                <a:sym typeface="Meiryo"/>
              </a:rPr>
              <a:t>に至らず離脱するユーザーが大部分</a:t>
            </a:r>
            <a:r>
              <a:rPr lang="ja-JP" altLang="en-US" sz="1400" dirty="0">
                <a:latin typeface="Meiryo"/>
                <a:ea typeface="Meiryo"/>
                <a:sym typeface="Meiryo"/>
              </a:rPr>
              <a:t>。</a:t>
            </a:r>
            <a:endParaRPr lang="ja-JP" altLang="en-US" sz="1400" dirty="0"/>
          </a:p>
        </p:txBody>
      </p:sp>
      <p:sp>
        <p:nvSpPr>
          <p:cNvPr id="73" name="Freeform 12">
            <a:extLst>
              <a:ext uri="{FF2B5EF4-FFF2-40B4-BE49-F238E27FC236}">
                <a16:creationId xmlns:a16="http://schemas.microsoft.com/office/drawing/2014/main" id="{E8D769AF-3EE9-8FD1-96E2-AA6FB90CAF13}"/>
              </a:ext>
            </a:extLst>
          </p:cNvPr>
          <p:cNvSpPr/>
          <p:nvPr/>
        </p:nvSpPr>
        <p:spPr>
          <a:xfrm>
            <a:off x="4853067" y="1823015"/>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rPr>
              <a:t>CVR</a:t>
            </a:r>
            <a:endParaRPr lang="ja-JP" altLang="en-US" b="1" dirty="0">
              <a:latin typeface="メイリオ" panose="020B0604030504040204" pitchFamily="50" charset="-128"/>
              <a:ea typeface="メイリオ" panose="020B0604030504040204" pitchFamily="50" charset="-128"/>
            </a:endParaRPr>
          </a:p>
        </p:txBody>
      </p:sp>
      <p:sp>
        <p:nvSpPr>
          <p:cNvPr id="75" name="Freeform 12">
            <a:extLst>
              <a:ext uri="{FF2B5EF4-FFF2-40B4-BE49-F238E27FC236}">
                <a16:creationId xmlns:a16="http://schemas.microsoft.com/office/drawing/2014/main" id="{952D530B-C759-C959-90BD-289EC5DBA890}"/>
              </a:ext>
            </a:extLst>
          </p:cNvPr>
          <p:cNvSpPr/>
          <p:nvPr/>
        </p:nvSpPr>
        <p:spPr>
          <a:xfrm>
            <a:off x="555048" y="1808923"/>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rPr>
              <a:t>CPC</a:t>
            </a:r>
            <a:endParaRPr lang="ja-JP" altLang="en-US"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6214849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88C4-8CFA-2C0E-C230-F47FCA10FFC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634DA306-8233-CC88-65A5-36654C66652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0CB02FD4-701A-71CE-F43E-33D8F9E44E7B}"/>
              </a:ext>
            </a:extLst>
          </p:cNvPr>
          <p:cNvSpPr/>
          <p:nvPr/>
        </p:nvSpPr>
        <p:spPr>
          <a:xfrm>
            <a:off x="796379" y="635062"/>
            <a:ext cx="8328074"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利用年齢層により変動はするものの、</a:t>
            </a:r>
            <a:r>
              <a:rPr lang="en-US" altLang="ja-JP" sz="1400" dirty="0">
                <a:solidFill>
                  <a:srgbClr val="343434"/>
                </a:solidFill>
                <a:latin typeface="メイリオ" panose="020B0604030504040204" pitchFamily="50" charset="-128"/>
                <a:ea typeface="メイリオ" panose="020B0604030504040204" pitchFamily="50" charset="-128"/>
              </a:rPr>
              <a:t>10-40</a:t>
            </a:r>
            <a:r>
              <a:rPr lang="ja-JP" altLang="en-US" sz="1400" dirty="0">
                <a:solidFill>
                  <a:srgbClr val="343434"/>
                </a:solidFill>
                <a:latin typeface="メイリオ" panose="020B0604030504040204" pitchFamily="50" charset="-128"/>
                <a:ea typeface="メイリオ" panose="020B0604030504040204" pitchFamily="50" charset="-128"/>
              </a:rPr>
              <a:t>代を中心に電話、メールを忌避する動きが強まっている。</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b="1" dirty="0">
                <a:solidFill>
                  <a:srgbClr val="343434"/>
                </a:solidFill>
                <a:latin typeface="メイリオ" panose="020B0604030504040204" pitchFamily="50" charset="-128"/>
                <a:ea typeface="メイリオ" panose="020B0604030504040204" pitchFamily="50" charset="-128"/>
              </a:rPr>
              <a:t>既存ユーザー以外の年齢層の獲得にあたって、利用率の高い</a:t>
            </a:r>
            <a:r>
              <a:rPr lang="en-US" altLang="ja-JP" sz="1400" b="1" dirty="0">
                <a:solidFill>
                  <a:srgbClr val="343434"/>
                </a:solidFill>
                <a:latin typeface="メイリオ" panose="020B0604030504040204" pitchFamily="50" charset="-128"/>
                <a:ea typeface="メイリオ" panose="020B0604030504040204" pitchFamily="50" charset="-128"/>
              </a:rPr>
              <a:t>LINEOA</a:t>
            </a:r>
            <a:r>
              <a:rPr lang="ja-JP" altLang="en-US" sz="1400" b="1" dirty="0">
                <a:solidFill>
                  <a:srgbClr val="343434"/>
                </a:solidFill>
                <a:latin typeface="メイリオ" panose="020B0604030504040204" pitchFamily="50" charset="-128"/>
                <a:ea typeface="メイリオ" panose="020B0604030504040204" pitchFamily="50" charset="-128"/>
              </a:rPr>
              <a:t>施策が非常に重要と想定</a:t>
            </a:r>
            <a:r>
              <a:rPr lang="ja-JP" altLang="en-US" sz="1400" dirty="0">
                <a:solidFill>
                  <a:srgbClr val="343434"/>
                </a:solidFill>
                <a:latin typeface="メイリオ" panose="020B0604030504040204" pitchFamily="50" charset="-128"/>
                <a:ea typeface="メイリオ" panose="020B0604030504040204" pitchFamily="50" charset="-128"/>
              </a:rPr>
              <a:t>される。</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F214699F-6602-F0D9-7DE6-2A3BDFB291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37B7BC17-B92E-ED23-C69B-F5A79154E50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graphicFrame>
        <p:nvGraphicFramePr>
          <p:cNvPr id="50" name="表 49">
            <a:extLst>
              <a:ext uri="{FF2B5EF4-FFF2-40B4-BE49-F238E27FC236}">
                <a16:creationId xmlns:a16="http://schemas.microsoft.com/office/drawing/2014/main" id="{F4041BC0-327B-67FB-AC18-60C96EAE8809}"/>
              </a:ext>
            </a:extLst>
          </p:cNvPr>
          <p:cNvGraphicFramePr>
            <a:graphicFrameLocks noGrp="1"/>
          </p:cNvGraphicFramePr>
          <p:nvPr/>
        </p:nvGraphicFramePr>
        <p:xfrm>
          <a:off x="367528" y="1662925"/>
          <a:ext cx="9168355" cy="4494024"/>
        </p:xfrm>
        <a:graphic>
          <a:graphicData uri="http://schemas.openxmlformats.org/drawingml/2006/table">
            <a:tbl>
              <a:tblPr/>
              <a:tblGrid>
                <a:gridCol w="1833671">
                  <a:extLst>
                    <a:ext uri="{9D8B030D-6E8A-4147-A177-3AD203B41FA5}">
                      <a16:colId xmlns:a16="http://schemas.microsoft.com/office/drawing/2014/main" val="1559461290"/>
                    </a:ext>
                  </a:extLst>
                </a:gridCol>
                <a:gridCol w="1833671">
                  <a:extLst>
                    <a:ext uri="{9D8B030D-6E8A-4147-A177-3AD203B41FA5}">
                      <a16:colId xmlns:a16="http://schemas.microsoft.com/office/drawing/2014/main" val="4043568489"/>
                    </a:ext>
                  </a:extLst>
                </a:gridCol>
                <a:gridCol w="1833671">
                  <a:extLst>
                    <a:ext uri="{9D8B030D-6E8A-4147-A177-3AD203B41FA5}">
                      <a16:colId xmlns:a16="http://schemas.microsoft.com/office/drawing/2014/main" val="377063127"/>
                    </a:ext>
                  </a:extLst>
                </a:gridCol>
                <a:gridCol w="1833671">
                  <a:extLst>
                    <a:ext uri="{9D8B030D-6E8A-4147-A177-3AD203B41FA5}">
                      <a16:colId xmlns:a16="http://schemas.microsoft.com/office/drawing/2014/main" val="2814255100"/>
                    </a:ext>
                  </a:extLst>
                </a:gridCol>
                <a:gridCol w="1833671">
                  <a:extLst>
                    <a:ext uri="{9D8B030D-6E8A-4147-A177-3AD203B41FA5}">
                      <a16:colId xmlns:a16="http://schemas.microsoft.com/office/drawing/2014/main" val="3083523150"/>
                    </a:ext>
                  </a:extLst>
                </a:gridCol>
              </a:tblGrid>
              <a:tr h="499336">
                <a:tc>
                  <a:txBody>
                    <a:bodyPr/>
                    <a:lstStyle/>
                    <a:p>
                      <a:pPr algn="ctr"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年齢層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LINE</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・チャット系</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ja-JP" altLang="en-US"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メール・メルマガ</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電話</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主要な特徴・</a:t>
                      </a: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SNS</a:t>
                      </a: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extLst>
                  <a:ext uri="{0D108BD9-81ED-4DB2-BD59-A6C34878D82A}">
                    <a16:rowId xmlns:a16="http://schemas.microsoft.com/office/drawing/2014/main" val="3477182699"/>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10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〜20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　</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利用率：極めて低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err="1">
                          <a:solidFill>
                            <a:srgbClr val="000000"/>
                          </a:solidFill>
                          <a:effectLst/>
                          <a:latin typeface="メイリオ" panose="020B0604030504040204" pitchFamily="50" charset="-128"/>
                          <a:ea typeface="メイリオ" panose="020B0604030504040204" pitchFamily="50" charset="-128"/>
                        </a:rPr>
                        <a:t>Tiktok</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 YouTube</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が情報収集の起点。</a:t>
                      </a:r>
                      <a:b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b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Instagram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の</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DM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連絡網として活用。</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5522484"/>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日常連絡の絶対的インフラ。</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企業や公式からの連絡は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読まれない傾向。</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「電話恐怖症」を持つ人も。</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1705581114"/>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30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〜40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a:solidFill>
                            <a:srgbClr val="000000"/>
                          </a:solidFill>
                          <a:effectLst/>
                          <a:latin typeface="メイリオ" panose="020B0604030504040204" pitchFamily="50" charset="-128"/>
                          <a:ea typeface="メイリオ" panose="020B0604030504040204" pitchFamily="50" charset="-128"/>
                        </a:rPr>
                        <a:t>利用率：中</a:t>
                      </a:r>
                      <a:r>
                        <a:rPr lang="en-US" altLang="ja-JP" sz="1000" b="1" i="0" u="none" strike="noStrike">
                          <a:solidFill>
                            <a:srgbClr val="000000"/>
                          </a:solidFill>
                          <a:effectLst/>
                          <a:latin typeface="メイリオ" panose="020B0604030504040204" pitchFamily="50" charset="-128"/>
                          <a:ea typeface="メイリオ" panose="020B0604030504040204" pitchFamily="50" charset="-128"/>
                        </a:rPr>
                        <a:t>〜</a:t>
                      </a:r>
                      <a:r>
                        <a:rPr lang="ja-JP" altLang="en-US" sz="1000" b="1" i="0" u="none" strike="noStrike">
                          <a:solidFill>
                            <a:srgbClr val="000000"/>
                          </a:solidFill>
                          <a:effectLst/>
                          <a:latin typeface="メイリオ" panose="020B0604030504040204" pitchFamily="50" charset="-128"/>
                          <a:ea typeface="メイリオ" panose="020B0604030504040204" pitchFamily="50" charset="-128"/>
                        </a:rPr>
                        <a:t>高</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利用率：中</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Facebook</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や</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での情報収集が活発。</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13153412"/>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プライベートの連絡網。</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仕事や、メルマガでの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セールス情報に抵抗なし。</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プライベートでは減少傾向も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仕事では必須。</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3489989836"/>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50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〜60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80%〜90%</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YouTube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での趣味動画視聴も普及。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76969856"/>
                  </a:ext>
                </a:extLst>
              </a:tr>
              <a:tr h="499336">
                <a:tc vMerge="1">
                  <a:txBody>
                    <a:bodyPr/>
                    <a:lstStyle/>
                    <a:p>
                      <a:endParaRPr kumimoji="1" lang="ja-JP" altLang="en-US"/>
                    </a:p>
                  </a:txBody>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家族や友人との連絡で定着。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最も好まれる企業からの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情報受取ツール。</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予約や急ぎの用件で信頼性が高い。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2832446328"/>
                  </a:ext>
                </a:extLst>
              </a:tr>
              <a:tr h="499336">
                <a:tc rowSpan="2">
                  <a:txBody>
                    <a:bodyPr/>
                    <a:lstStyle/>
                    <a:p>
                      <a:pPr algn="ctr" fontAlgn="ctr">
                        <a:buNone/>
                      </a:pP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70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70%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前後</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利用率：低い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利用率：最も高い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連絡手段としての電話が</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最優先される層。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79922214"/>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高齢者層にも普及が進む。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操作に不慣れで到達率が下がる。</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重要な連絡や問い合わせは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電話がメイン。</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14424828"/>
                  </a:ext>
                </a:extLst>
              </a:tr>
            </a:tbl>
          </a:graphicData>
        </a:graphic>
      </p:graphicFrame>
    </p:spTree>
    <p:extLst>
      <p:ext uri="{BB962C8B-B14F-4D97-AF65-F5344CB8AC3E}">
        <p14:creationId xmlns:p14="http://schemas.microsoft.com/office/powerpoint/2010/main" val="78327988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0E1BE-EA97-1C99-EC9B-9162DE48D9C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61F3EB4-5BDD-9E9F-8965-BA311951E81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p>
        </p:txBody>
      </p:sp>
      <p:sp>
        <p:nvSpPr>
          <p:cNvPr id="2" name="Google Shape;752;p28">
            <a:extLst>
              <a:ext uri="{FF2B5EF4-FFF2-40B4-BE49-F238E27FC236}">
                <a16:creationId xmlns:a16="http://schemas.microsoft.com/office/drawing/2014/main" id="{903AB3A7-E543-27E0-6B76-9022EAF2AAFA}"/>
              </a:ext>
            </a:extLst>
          </p:cNvPr>
          <p:cNvSpPr txBox="1"/>
          <p:nvPr/>
        </p:nvSpPr>
        <p:spPr>
          <a:xfrm>
            <a:off x="711353" y="96941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Meiryo"/>
                <a:sym typeface="Meiryo"/>
              </a:rPr>
              <a:t>LINE</a:t>
            </a:r>
            <a:r>
              <a:rPr lang="ja-JP" altLang="en-US" sz="1400" dirty="0">
                <a:latin typeface="メイリオ" panose="020B0604030504040204" pitchFamily="50" charset="-128"/>
                <a:ea typeface="メイリオ" panose="020B0604030504040204" pitchFamily="50" charset="-128"/>
                <a:cs typeface="Meiryo"/>
                <a:sym typeface="Meiryo"/>
              </a:rPr>
              <a:t>公式アカウントの施策内（開封率、クリック率、</a:t>
            </a:r>
            <a:r>
              <a:rPr lang="en-US" altLang="ja-JP" sz="1400" dirty="0">
                <a:latin typeface="メイリオ" panose="020B0604030504040204" pitchFamily="50" charset="-128"/>
                <a:ea typeface="メイリオ" panose="020B0604030504040204" pitchFamily="50" charset="-128"/>
                <a:cs typeface="Meiryo"/>
                <a:sym typeface="Meiryo"/>
              </a:rPr>
              <a:t>CV</a:t>
            </a:r>
            <a:r>
              <a:rPr lang="ja-JP" altLang="en-US" sz="1400" dirty="0">
                <a:latin typeface="メイリオ" panose="020B0604030504040204" pitchFamily="50" charset="-128"/>
                <a:ea typeface="メイリオ" panose="020B0604030504040204" pitchFamily="50" charset="-128"/>
                <a:cs typeface="Meiryo"/>
                <a:sym typeface="Meiryo"/>
              </a:rPr>
              <a:t>率）で高い水準の施策をご提供。</a:t>
            </a:r>
            <a:endParaRPr lang="en-US" altLang="ja-JP" sz="1400" dirty="0">
              <a:latin typeface="メイリオ" panose="020B0604030504040204" pitchFamily="50" charset="-128"/>
              <a:ea typeface="メイリオ" panose="020B0604030504040204" pitchFamily="50" charset="-128"/>
              <a:cs typeface="Meiryo"/>
              <a:sym typeface="Meiryo"/>
            </a:endParaRPr>
          </a:p>
          <a:p>
            <a:pPr lvl="0" algn="ctr"/>
            <a:r>
              <a:rPr lang="ja-JP" altLang="en-US" sz="1400" dirty="0">
                <a:latin typeface="メイリオ" panose="020B0604030504040204" pitchFamily="50" charset="-128"/>
                <a:ea typeface="メイリオ" panose="020B0604030504040204" pitchFamily="50" charset="-128"/>
                <a:cs typeface="Meiryo"/>
                <a:sym typeface="Meiryo"/>
              </a:rPr>
              <a:t>初期設計のみのご依頼でも、大きく数値改善できるポイントの導入支援が可能です。</a:t>
            </a:r>
            <a:endParaRPr lang="en-US" altLang="ja-JP" sz="1400" dirty="0">
              <a:latin typeface="メイリオ" panose="020B0604030504040204" pitchFamily="50" charset="-128"/>
              <a:ea typeface="メイリオ" panose="020B0604030504040204" pitchFamily="50" charset="-128"/>
              <a:cs typeface="Meiryo"/>
              <a:sym typeface="Meiryo"/>
            </a:endParaRPr>
          </a:p>
        </p:txBody>
      </p:sp>
      <p:sp>
        <p:nvSpPr>
          <p:cNvPr id="5" name="正方形/長方形 4">
            <a:extLst>
              <a:ext uri="{FF2B5EF4-FFF2-40B4-BE49-F238E27FC236}">
                <a16:creationId xmlns:a16="http://schemas.microsoft.com/office/drawing/2014/main" id="{C953AFCB-1DF4-3DF6-FD0A-5FA8B9829345}"/>
              </a:ext>
            </a:extLst>
          </p:cNvPr>
          <p:cNvSpPr/>
          <p:nvPr/>
        </p:nvSpPr>
        <p:spPr>
          <a:xfrm>
            <a:off x="7833676" y="2844726"/>
            <a:ext cx="1438656" cy="268338"/>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endParaRPr kumimoji="1" lang="ja-JP" altLang="en-US" sz="1050" b="1" dirty="0">
              <a:solidFill>
                <a:schemeClr val="bg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AA0FC5BF-544B-2CE7-3D6D-05C5FCBA0558}"/>
              </a:ext>
            </a:extLst>
          </p:cNvPr>
          <p:cNvSpPr/>
          <p:nvPr/>
        </p:nvSpPr>
        <p:spPr>
          <a:xfrm>
            <a:off x="7833676" y="2532843"/>
            <a:ext cx="1438656" cy="268338"/>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営業トスアップ</a:t>
            </a:r>
          </a:p>
        </p:txBody>
      </p:sp>
      <p:cxnSp>
        <p:nvCxnSpPr>
          <p:cNvPr id="16" name="直線矢印コネクタ 15">
            <a:extLst>
              <a:ext uri="{FF2B5EF4-FFF2-40B4-BE49-F238E27FC236}">
                <a16:creationId xmlns:a16="http://schemas.microsoft.com/office/drawing/2014/main" id="{94BB7063-D344-7388-DC5C-AB2163552A18}"/>
              </a:ext>
            </a:extLst>
          </p:cNvPr>
          <p:cNvCxnSpPr>
            <a:cxnSpLocks/>
          </p:cNvCxnSpPr>
          <p:nvPr/>
        </p:nvCxnSpPr>
        <p:spPr>
          <a:xfrm>
            <a:off x="387956" y="2801181"/>
            <a:ext cx="7250805" cy="0"/>
          </a:xfrm>
          <a:prstGeom prst="straightConnector1">
            <a:avLst/>
          </a:prstGeom>
          <a:ln w="28575">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1" name="正方形/長方形 20">
            <a:extLst>
              <a:ext uri="{FF2B5EF4-FFF2-40B4-BE49-F238E27FC236}">
                <a16:creationId xmlns:a16="http://schemas.microsoft.com/office/drawing/2014/main" id="{49A8005B-FA05-AC0F-4885-3EB9D9E7F271}"/>
              </a:ext>
            </a:extLst>
          </p:cNvPr>
          <p:cNvSpPr/>
          <p:nvPr/>
        </p:nvSpPr>
        <p:spPr>
          <a:xfrm>
            <a:off x="7663263" y="2057611"/>
            <a:ext cx="1820092" cy="1128395"/>
          </a:xfrm>
          <a:prstGeom prst="rect">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43461C80-3343-B710-9ADB-76DB69B61EAF}"/>
              </a:ext>
            </a:extLst>
          </p:cNvPr>
          <p:cNvSpPr txBox="1"/>
          <p:nvPr/>
        </p:nvSpPr>
        <p:spPr>
          <a:xfrm>
            <a:off x="8033166" y="2122574"/>
            <a:ext cx="1080286" cy="261610"/>
          </a:xfrm>
          <a:prstGeom prst="rect">
            <a:avLst/>
          </a:prstGeom>
          <a:noFill/>
        </p:spPr>
        <p:txBody>
          <a:bodyPr wrap="square">
            <a:spAutoFit/>
          </a:bodyPr>
          <a:lstStyle/>
          <a:p>
            <a:pPr algn="ctr"/>
            <a:r>
              <a:rPr kumimoji="1" lang="ja-JP" altLang="en-US" sz="1100" dirty="0">
                <a:solidFill>
                  <a:srgbClr val="FF0000"/>
                </a:solidFill>
                <a:latin typeface="メイリオ" panose="020B0604030504040204" pitchFamily="50" charset="-128"/>
                <a:ea typeface="メイリオ" panose="020B0604030504040204" pitchFamily="50" charset="-128"/>
              </a:rPr>
              <a:t>（成果地点）</a:t>
            </a:r>
          </a:p>
        </p:txBody>
      </p:sp>
      <p:sp>
        <p:nvSpPr>
          <p:cNvPr id="46" name="正方形/長方形 45">
            <a:extLst>
              <a:ext uri="{FF2B5EF4-FFF2-40B4-BE49-F238E27FC236}">
                <a16:creationId xmlns:a16="http://schemas.microsoft.com/office/drawing/2014/main" id="{68EF36FD-0665-96DB-08B6-92F8F12DC27E}"/>
              </a:ext>
            </a:extLst>
          </p:cNvPr>
          <p:cNvSpPr/>
          <p:nvPr/>
        </p:nvSpPr>
        <p:spPr>
          <a:xfrm>
            <a:off x="2496412" y="2062968"/>
            <a:ext cx="4888178"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正方形/長方形 46">
            <a:extLst>
              <a:ext uri="{FF2B5EF4-FFF2-40B4-BE49-F238E27FC236}">
                <a16:creationId xmlns:a16="http://schemas.microsoft.com/office/drawing/2014/main" id="{1B4C640C-D32C-D834-8B9B-538AEF528437}"/>
              </a:ext>
            </a:extLst>
          </p:cNvPr>
          <p:cNvSpPr/>
          <p:nvPr/>
        </p:nvSpPr>
        <p:spPr>
          <a:xfrm>
            <a:off x="2727621"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48" name="正方形/長方形 47">
            <a:extLst>
              <a:ext uri="{FF2B5EF4-FFF2-40B4-BE49-F238E27FC236}">
                <a16:creationId xmlns:a16="http://schemas.microsoft.com/office/drawing/2014/main" id="{B779420D-D103-81E4-5973-9C543E915ED9}"/>
              </a:ext>
            </a:extLst>
          </p:cNvPr>
          <p:cNvSpPr/>
          <p:nvPr/>
        </p:nvSpPr>
        <p:spPr>
          <a:xfrm>
            <a:off x="4236068"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49" name="正方形/長方形 48">
            <a:extLst>
              <a:ext uri="{FF2B5EF4-FFF2-40B4-BE49-F238E27FC236}">
                <a16:creationId xmlns:a16="http://schemas.microsoft.com/office/drawing/2014/main" id="{79F9C4D6-EE41-0712-7E02-3613A29A0277}"/>
              </a:ext>
            </a:extLst>
          </p:cNvPr>
          <p:cNvSpPr/>
          <p:nvPr/>
        </p:nvSpPr>
        <p:spPr>
          <a:xfrm>
            <a:off x="5744515"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0" name="正方形/長方形 49">
            <a:extLst>
              <a:ext uri="{FF2B5EF4-FFF2-40B4-BE49-F238E27FC236}">
                <a16:creationId xmlns:a16="http://schemas.microsoft.com/office/drawing/2014/main" id="{63D97449-C5FF-7125-1910-BF401BE155D3}"/>
              </a:ext>
            </a:extLst>
          </p:cNvPr>
          <p:cNvSpPr/>
          <p:nvPr/>
        </p:nvSpPr>
        <p:spPr>
          <a:xfrm>
            <a:off x="2635396" y="2541859"/>
            <a:ext cx="4617897" cy="268338"/>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通常メッセージ（企画投稿）</a:t>
            </a:r>
          </a:p>
        </p:txBody>
      </p:sp>
      <p:sp>
        <p:nvSpPr>
          <p:cNvPr id="51" name="正方形/長方形 50">
            <a:extLst>
              <a:ext uri="{FF2B5EF4-FFF2-40B4-BE49-F238E27FC236}">
                <a16:creationId xmlns:a16="http://schemas.microsoft.com/office/drawing/2014/main" id="{0FEAAD04-7412-6C00-12C5-668087B3187D}"/>
              </a:ext>
            </a:extLst>
          </p:cNvPr>
          <p:cNvSpPr/>
          <p:nvPr/>
        </p:nvSpPr>
        <p:spPr>
          <a:xfrm>
            <a:off x="2727621"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52" name="正方形/長方形 51">
            <a:extLst>
              <a:ext uri="{FF2B5EF4-FFF2-40B4-BE49-F238E27FC236}">
                <a16:creationId xmlns:a16="http://schemas.microsoft.com/office/drawing/2014/main" id="{16300100-5CAE-C822-F497-9A928E7568CE}"/>
              </a:ext>
            </a:extLst>
          </p:cNvPr>
          <p:cNvSpPr/>
          <p:nvPr/>
        </p:nvSpPr>
        <p:spPr>
          <a:xfrm>
            <a:off x="4236068"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53" name="正方形/長方形 52">
            <a:extLst>
              <a:ext uri="{FF2B5EF4-FFF2-40B4-BE49-F238E27FC236}">
                <a16:creationId xmlns:a16="http://schemas.microsoft.com/office/drawing/2014/main" id="{BAABA8F7-038F-8934-7296-51B7E190F8F6}"/>
              </a:ext>
            </a:extLst>
          </p:cNvPr>
          <p:cNvSpPr/>
          <p:nvPr/>
        </p:nvSpPr>
        <p:spPr>
          <a:xfrm>
            <a:off x="5744515"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4" name="正方形/長方形 53">
            <a:extLst>
              <a:ext uri="{FF2B5EF4-FFF2-40B4-BE49-F238E27FC236}">
                <a16:creationId xmlns:a16="http://schemas.microsoft.com/office/drawing/2014/main" id="{FFA1928D-294F-EEFC-2C8F-4A612343D93B}"/>
              </a:ext>
            </a:extLst>
          </p:cNvPr>
          <p:cNvSpPr/>
          <p:nvPr/>
        </p:nvSpPr>
        <p:spPr>
          <a:xfrm>
            <a:off x="2635396" y="3211261"/>
            <a:ext cx="4617897" cy="268338"/>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通常メッセージ（ステップ配信投稿）</a:t>
            </a:r>
          </a:p>
        </p:txBody>
      </p:sp>
      <p:sp>
        <p:nvSpPr>
          <p:cNvPr id="55" name="正方形/長方形 54">
            <a:extLst>
              <a:ext uri="{FF2B5EF4-FFF2-40B4-BE49-F238E27FC236}">
                <a16:creationId xmlns:a16="http://schemas.microsoft.com/office/drawing/2014/main" id="{C60EF948-7D0E-221F-F7C3-9EA4070D13D5}"/>
              </a:ext>
            </a:extLst>
          </p:cNvPr>
          <p:cNvSpPr/>
          <p:nvPr/>
        </p:nvSpPr>
        <p:spPr>
          <a:xfrm>
            <a:off x="2727621"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56" name="正方形/長方形 55">
            <a:extLst>
              <a:ext uri="{FF2B5EF4-FFF2-40B4-BE49-F238E27FC236}">
                <a16:creationId xmlns:a16="http://schemas.microsoft.com/office/drawing/2014/main" id="{0A26395C-F3D5-A8C3-4036-5A461E8AEB95}"/>
              </a:ext>
            </a:extLst>
          </p:cNvPr>
          <p:cNvSpPr/>
          <p:nvPr/>
        </p:nvSpPr>
        <p:spPr>
          <a:xfrm>
            <a:off x="4236068"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57" name="正方形/長方形 56">
            <a:extLst>
              <a:ext uri="{FF2B5EF4-FFF2-40B4-BE49-F238E27FC236}">
                <a16:creationId xmlns:a16="http://schemas.microsoft.com/office/drawing/2014/main" id="{258779A5-C321-795D-FAE9-C3DA7EDE5D3F}"/>
              </a:ext>
            </a:extLst>
          </p:cNvPr>
          <p:cNvSpPr/>
          <p:nvPr/>
        </p:nvSpPr>
        <p:spPr>
          <a:xfrm>
            <a:off x="5744515"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8" name="正方形/長方形 57">
            <a:extLst>
              <a:ext uri="{FF2B5EF4-FFF2-40B4-BE49-F238E27FC236}">
                <a16:creationId xmlns:a16="http://schemas.microsoft.com/office/drawing/2014/main" id="{10A67980-B163-BD77-6B0F-32FBA0EAD741}"/>
              </a:ext>
            </a:extLst>
          </p:cNvPr>
          <p:cNvSpPr/>
          <p:nvPr/>
        </p:nvSpPr>
        <p:spPr>
          <a:xfrm>
            <a:off x="2635396" y="3865286"/>
            <a:ext cx="4617897" cy="268338"/>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その他指標（リッチメニュー、プロフ、挨拶メッセ）</a:t>
            </a:r>
          </a:p>
        </p:txBody>
      </p:sp>
      <p:sp>
        <p:nvSpPr>
          <p:cNvPr id="59" name="テキスト ボックス 58">
            <a:extLst>
              <a:ext uri="{FF2B5EF4-FFF2-40B4-BE49-F238E27FC236}">
                <a16:creationId xmlns:a16="http://schemas.microsoft.com/office/drawing/2014/main" id="{5568B802-79BB-89D9-41B1-B8211A23D3E1}"/>
              </a:ext>
            </a:extLst>
          </p:cNvPr>
          <p:cNvSpPr txBox="1"/>
          <p:nvPr/>
        </p:nvSpPr>
        <p:spPr>
          <a:xfrm>
            <a:off x="4152577" y="2126463"/>
            <a:ext cx="1581648" cy="261610"/>
          </a:xfrm>
          <a:prstGeom prst="rect">
            <a:avLst/>
          </a:prstGeom>
          <a:noFill/>
        </p:spPr>
        <p:txBody>
          <a:bodyPr wrap="square">
            <a:spAutoFit/>
          </a:bodyPr>
          <a:lstStyle/>
          <a:p>
            <a:pPr algn="ctr"/>
            <a:r>
              <a:rPr lang="ja-JP" altLang="en-US" sz="1100" dirty="0">
                <a:solidFill>
                  <a:schemeClr val="tx2"/>
                </a:solidFill>
                <a:latin typeface="メイリオ" panose="020B0604030504040204" pitchFamily="50" charset="-128"/>
                <a:ea typeface="メイリオ" panose="020B0604030504040204" pitchFamily="50" charset="-128"/>
              </a:rPr>
              <a:t>（</a:t>
            </a:r>
            <a:r>
              <a:rPr kumimoji="1" lang="en-US" altLang="ja-JP" sz="1100" dirty="0">
                <a:solidFill>
                  <a:schemeClr val="tx2"/>
                </a:solidFill>
                <a:latin typeface="メイリオ" panose="020B0604030504040204" pitchFamily="50" charset="-128"/>
                <a:ea typeface="メイリオ" panose="020B0604030504040204" pitchFamily="50" charset="-128"/>
              </a:rPr>
              <a:t>LINE</a:t>
            </a:r>
            <a:r>
              <a:rPr kumimoji="1" lang="ja-JP" altLang="en-US" sz="1100" dirty="0">
                <a:solidFill>
                  <a:schemeClr val="tx2"/>
                </a:solidFill>
                <a:latin typeface="メイリオ" panose="020B0604030504040204" pitchFamily="50" charset="-128"/>
                <a:ea typeface="メイリオ" panose="020B0604030504040204" pitchFamily="50" charset="-128"/>
              </a:rPr>
              <a:t>施策内</a:t>
            </a:r>
            <a:r>
              <a:rPr lang="ja-JP" altLang="en-US" sz="1100" dirty="0">
                <a:solidFill>
                  <a:schemeClr val="tx2"/>
                </a:solidFill>
                <a:latin typeface="メイリオ" panose="020B0604030504040204" pitchFamily="50" charset="-128"/>
                <a:ea typeface="メイリオ" panose="020B0604030504040204" pitchFamily="50" charset="-128"/>
              </a:rPr>
              <a:t>）</a:t>
            </a:r>
            <a:endParaRPr kumimoji="1" lang="ja-JP" altLang="en-US" sz="1100" dirty="0">
              <a:solidFill>
                <a:schemeClr val="tx2"/>
              </a:solidFill>
              <a:latin typeface="メイリオ" panose="020B0604030504040204" pitchFamily="50" charset="-128"/>
              <a:ea typeface="メイリオ" panose="020B0604030504040204" pitchFamily="50" charset="-128"/>
            </a:endParaRPr>
          </a:p>
        </p:txBody>
      </p:sp>
      <p:sp>
        <p:nvSpPr>
          <p:cNvPr id="65" name="正方形/長方形 64">
            <a:extLst>
              <a:ext uri="{FF2B5EF4-FFF2-40B4-BE49-F238E27FC236}">
                <a16:creationId xmlns:a16="http://schemas.microsoft.com/office/drawing/2014/main" id="{F955D004-F2E0-9106-46D0-01B91AAAC48C}"/>
              </a:ext>
            </a:extLst>
          </p:cNvPr>
          <p:cNvSpPr/>
          <p:nvPr/>
        </p:nvSpPr>
        <p:spPr>
          <a:xfrm>
            <a:off x="632050" y="2062968"/>
            <a:ext cx="1581647"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正方形/長方形 65">
            <a:extLst>
              <a:ext uri="{FF2B5EF4-FFF2-40B4-BE49-F238E27FC236}">
                <a16:creationId xmlns:a16="http://schemas.microsoft.com/office/drawing/2014/main" id="{39800BBF-7F74-6827-30AB-067A9B79B2FB}"/>
              </a:ext>
            </a:extLst>
          </p:cNvPr>
          <p:cNvSpPr/>
          <p:nvPr/>
        </p:nvSpPr>
        <p:spPr>
          <a:xfrm>
            <a:off x="703546" y="2667012"/>
            <a:ext cx="1438656" cy="268338"/>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友だち追加</a:t>
            </a:r>
          </a:p>
        </p:txBody>
      </p:sp>
      <p:sp>
        <p:nvSpPr>
          <p:cNvPr id="67" name="テキスト ボックス 66">
            <a:extLst>
              <a:ext uri="{FF2B5EF4-FFF2-40B4-BE49-F238E27FC236}">
                <a16:creationId xmlns:a16="http://schemas.microsoft.com/office/drawing/2014/main" id="{5C2F9AAE-62F2-1C25-6B2F-275B20FB2668}"/>
              </a:ext>
            </a:extLst>
          </p:cNvPr>
          <p:cNvSpPr txBox="1"/>
          <p:nvPr/>
        </p:nvSpPr>
        <p:spPr>
          <a:xfrm>
            <a:off x="632050" y="3030925"/>
            <a:ext cx="1581647" cy="369332"/>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rPr>
              <a:t>アクティブ数</a:t>
            </a:r>
            <a:endParaRPr kumimoji="1" lang="en-US" altLang="ja-JP" sz="1000" b="1" dirty="0">
              <a:latin typeface="メイリオ" panose="020B0604030504040204" pitchFamily="50" charset="-128"/>
              <a:ea typeface="メイリオ" panose="020B0604030504040204" pitchFamily="50" charset="-128"/>
            </a:endParaRPr>
          </a:p>
          <a:p>
            <a:pPr algn="ctr"/>
            <a:r>
              <a:rPr kumimoji="1" lang="ja-JP" altLang="en-US" sz="800" dirty="0">
                <a:latin typeface="メイリオ" panose="020B0604030504040204" pitchFamily="50" charset="-128"/>
                <a:ea typeface="メイリオ" panose="020B0604030504040204" pitchFamily="50" charset="-128"/>
              </a:rPr>
              <a:t>（非ブロック率）</a:t>
            </a:r>
          </a:p>
        </p:txBody>
      </p:sp>
      <p:sp>
        <p:nvSpPr>
          <p:cNvPr id="68" name="テキスト ボックス 67">
            <a:extLst>
              <a:ext uri="{FF2B5EF4-FFF2-40B4-BE49-F238E27FC236}">
                <a16:creationId xmlns:a16="http://schemas.microsoft.com/office/drawing/2014/main" id="{D723F77C-494C-4598-FEF1-6B884D04A448}"/>
              </a:ext>
            </a:extLst>
          </p:cNvPr>
          <p:cNvSpPr txBox="1"/>
          <p:nvPr/>
        </p:nvSpPr>
        <p:spPr>
          <a:xfrm>
            <a:off x="632050" y="3492489"/>
            <a:ext cx="1581647" cy="553998"/>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rPr>
              <a:t>セグメント率</a:t>
            </a:r>
            <a:endParaRPr kumimoji="1" lang="en-US" altLang="ja-JP" sz="1000" b="1" dirty="0">
              <a:latin typeface="メイリオ" panose="020B0604030504040204" pitchFamily="50" charset="-128"/>
              <a:ea typeface="メイリオ" panose="020B0604030504040204" pitchFamily="50" charset="-128"/>
            </a:endParaRPr>
          </a:p>
          <a:p>
            <a:pPr algn="ctr"/>
            <a:r>
              <a:rPr lang="en-US" altLang="ja-JP" sz="1000" dirty="0">
                <a:latin typeface="メイリオ" panose="020B0604030504040204" pitchFamily="50" charset="-128"/>
                <a:ea typeface="メイリオ" panose="020B0604030504040204" pitchFamily="50" charset="-128"/>
              </a:rPr>
              <a:t>or</a:t>
            </a:r>
          </a:p>
          <a:p>
            <a:pPr algn="ctr"/>
            <a:r>
              <a:rPr kumimoji="1" lang="ja-JP" altLang="en-US" sz="1000" b="1" dirty="0">
                <a:latin typeface="メイリオ" panose="020B0604030504040204" pitchFamily="50" charset="-128"/>
                <a:ea typeface="メイリオ" panose="020B0604030504040204" pitchFamily="50" charset="-128"/>
              </a:rPr>
              <a:t>ステップ配信設定数</a:t>
            </a:r>
          </a:p>
        </p:txBody>
      </p:sp>
      <p:sp>
        <p:nvSpPr>
          <p:cNvPr id="69" name="テキスト ボックス 68">
            <a:extLst>
              <a:ext uri="{FF2B5EF4-FFF2-40B4-BE49-F238E27FC236}">
                <a16:creationId xmlns:a16="http://schemas.microsoft.com/office/drawing/2014/main" id="{83F40BCD-888E-2A85-0E72-CECDC4CEFCE7}"/>
              </a:ext>
            </a:extLst>
          </p:cNvPr>
          <p:cNvSpPr txBox="1"/>
          <p:nvPr/>
        </p:nvSpPr>
        <p:spPr>
          <a:xfrm>
            <a:off x="632049" y="2122574"/>
            <a:ext cx="1581648" cy="261610"/>
          </a:xfrm>
          <a:prstGeom prst="rect">
            <a:avLst/>
          </a:prstGeom>
          <a:noFill/>
        </p:spPr>
        <p:txBody>
          <a:bodyPr wrap="square">
            <a:spAutoFit/>
          </a:bodyPr>
          <a:lstStyle/>
          <a:p>
            <a:pPr algn="ctr"/>
            <a:r>
              <a:rPr lang="ja-JP" altLang="en-US" sz="1100" dirty="0">
                <a:solidFill>
                  <a:srgbClr val="00B050"/>
                </a:solidFill>
                <a:latin typeface="メイリオ" panose="020B0604030504040204" pitchFamily="50" charset="-128"/>
                <a:ea typeface="メイリオ" panose="020B0604030504040204" pitchFamily="50" charset="-128"/>
              </a:rPr>
              <a:t>（ターゲット戦略）</a:t>
            </a:r>
            <a:endParaRPr kumimoji="1" lang="ja-JP" altLang="en-US" sz="1100" dirty="0">
              <a:solidFill>
                <a:srgbClr val="00B050"/>
              </a:solidFill>
              <a:latin typeface="メイリオ" panose="020B0604030504040204" pitchFamily="50" charset="-128"/>
              <a:ea typeface="メイリオ" panose="020B0604030504040204" pitchFamily="50" charset="-128"/>
            </a:endParaRPr>
          </a:p>
        </p:txBody>
      </p:sp>
      <p:sp>
        <p:nvSpPr>
          <p:cNvPr id="70" name="正方形/長方形 69">
            <a:extLst>
              <a:ext uri="{FF2B5EF4-FFF2-40B4-BE49-F238E27FC236}">
                <a16:creationId xmlns:a16="http://schemas.microsoft.com/office/drawing/2014/main" id="{A282801A-6F7E-2812-60DE-D9BD30E96635}"/>
              </a:ext>
            </a:extLst>
          </p:cNvPr>
          <p:cNvSpPr/>
          <p:nvPr/>
        </p:nvSpPr>
        <p:spPr>
          <a:xfrm>
            <a:off x="828387" y="4167605"/>
            <a:ext cx="1188972" cy="268338"/>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月間通数</a:t>
            </a:r>
          </a:p>
        </p:txBody>
      </p:sp>
      <p:sp>
        <p:nvSpPr>
          <p:cNvPr id="3" name="正方形/長方形 2">
            <a:extLst>
              <a:ext uri="{FF2B5EF4-FFF2-40B4-BE49-F238E27FC236}">
                <a16:creationId xmlns:a16="http://schemas.microsoft.com/office/drawing/2014/main" id="{DEF078B1-2A45-316B-F6D4-2929C807201E}"/>
              </a:ext>
            </a:extLst>
          </p:cNvPr>
          <p:cNvSpPr/>
          <p:nvPr/>
        </p:nvSpPr>
        <p:spPr>
          <a:xfrm>
            <a:off x="619696" y="2055027"/>
            <a:ext cx="1613438" cy="2508602"/>
          </a:xfrm>
          <a:prstGeom prst="rect">
            <a:avLst/>
          </a:prstGeom>
          <a:solidFill>
            <a:schemeClr val="bg1">
              <a:alpha val="65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吹き出し: 角を丸めた四角形 21">
            <a:extLst>
              <a:ext uri="{FF2B5EF4-FFF2-40B4-BE49-F238E27FC236}">
                <a16:creationId xmlns:a16="http://schemas.microsoft.com/office/drawing/2014/main" id="{72F45E26-7BF4-E2ED-9A7A-1F4668D22973}"/>
              </a:ext>
            </a:extLst>
          </p:cNvPr>
          <p:cNvSpPr/>
          <p:nvPr/>
        </p:nvSpPr>
        <p:spPr>
          <a:xfrm>
            <a:off x="1422873" y="4756716"/>
            <a:ext cx="6798018" cy="1723684"/>
          </a:xfrm>
          <a:prstGeom prst="wedgeRoundRectCallout">
            <a:avLst>
              <a:gd name="adj1" fmla="val -8535"/>
              <a:gd name="adj2" fmla="val -65828"/>
              <a:gd name="adj3" fmla="val 16667"/>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正方形/長方形 23">
            <a:extLst>
              <a:ext uri="{FF2B5EF4-FFF2-40B4-BE49-F238E27FC236}">
                <a16:creationId xmlns:a16="http://schemas.microsoft.com/office/drawing/2014/main" id="{4E48C706-01F7-97BF-6029-19C07E10A157}"/>
              </a:ext>
            </a:extLst>
          </p:cNvPr>
          <p:cNvSpPr/>
          <p:nvPr/>
        </p:nvSpPr>
        <p:spPr>
          <a:xfrm>
            <a:off x="314498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25" name="正方形/長方形 24">
            <a:extLst>
              <a:ext uri="{FF2B5EF4-FFF2-40B4-BE49-F238E27FC236}">
                <a16:creationId xmlns:a16="http://schemas.microsoft.com/office/drawing/2014/main" id="{691F0267-60AB-455D-B6F1-6559EBCD5D65}"/>
              </a:ext>
            </a:extLst>
          </p:cNvPr>
          <p:cNvSpPr/>
          <p:nvPr/>
        </p:nvSpPr>
        <p:spPr>
          <a:xfrm>
            <a:off x="488224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26" name="正方形/長方形 25">
            <a:extLst>
              <a:ext uri="{FF2B5EF4-FFF2-40B4-BE49-F238E27FC236}">
                <a16:creationId xmlns:a16="http://schemas.microsoft.com/office/drawing/2014/main" id="{D9156083-EC1B-F8D0-1360-7F5BEA5CB663}"/>
              </a:ext>
            </a:extLst>
          </p:cNvPr>
          <p:cNvSpPr/>
          <p:nvPr/>
        </p:nvSpPr>
        <p:spPr>
          <a:xfrm>
            <a:off x="6594510"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27" name="正方形/長方形 26">
            <a:extLst>
              <a:ext uri="{FF2B5EF4-FFF2-40B4-BE49-F238E27FC236}">
                <a16:creationId xmlns:a16="http://schemas.microsoft.com/office/drawing/2014/main" id="{B0EDDD6B-F76F-0F36-49FD-6D63CEA4F456}"/>
              </a:ext>
            </a:extLst>
          </p:cNvPr>
          <p:cNvSpPr/>
          <p:nvPr/>
        </p:nvSpPr>
        <p:spPr>
          <a:xfrm>
            <a:off x="314498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600" b="1" dirty="0">
                <a:solidFill>
                  <a:srgbClr val="FF0000"/>
                </a:solidFill>
                <a:latin typeface="メイリオ" panose="020B0604030504040204" pitchFamily="50" charset="-128"/>
                <a:ea typeface="メイリオ" panose="020B0604030504040204" pitchFamily="50" charset="-128"/>
              </a:rPr>
              <a:t>85 </a:t>
            </a:r>
            <a:r>
              <a:rPr lang="en-US" altLang="ja-JP" sz="1400" b="1" dirty="0">
                <a:solidFill>
                  <a:srgbClr val="FF0000"/>
                </a:solidFill>
                <a:latin typeface="メイリオ" panose="020B0604030504040204" pitchFamily="50" charset="-128"/>
                <a:ea typeface="メイリオ" panose="020B0604030504040204" pitchFamily="50" charset="-128"/>
              </a:rPr>
              <a:t>%</a:t>
            </a:r>
            <a:endParaRPr kumimoji="1"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28" name="正方形/長方形 27">
            <a:extLst>
              <a:ext uri="{FF2B5EF4-FFF2-40B4-BE49-F238E27FC236}">
                <a16:creationId xmlns:a16="http://schemas.microsoft.com/office/drawing/2014/main" id="{FD41B1A7-59DC-DE5C-69C2-F913EA082034}"/>
              </a:ext>
            </a:extLst>
          </p:cNvPr>
          <p:cNvSpPr/>
          <p:nvPr/>
        </p:nvSpPr>
        <p:spPr>
          <a:xfrm>
            <a:off x="488224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dirty="0">
                <a:solidFill>
                  <a:srgbClr val="FF0000"/>
                </a:solidFill>
                <a:latin typeface="メイリオ" panose="020B0604030504040204" pitchFamily="50" charset="-128"/>
                <a:ea typeface="メイリオ" panose="020B0604030504040204" pitchFamily="50" charset="-128"/>
              </a:rPr>
              <a:t>12.5 </a:t>
            </a:r>
            <a:r>
              <a:rPr lang="en-US" altLang="ja-JP" sz="1400" b="1" dirty="0">
                <a:solidFill>
                  <a:srgbClr val="FF0000"/>
                </a:solidFill>
                <a:latin typeface="メイリオ" panose="020B0604030504040204" pitchFamily="50" charset="-128"/>
                <a:ea typeface="メイリオ" panose="020B0604030504040204" pitchFamily="50" charset="-128"/>
              </a:rPr>
              <a:t>%</a:t>
            </a:r>
            <a:endParaRPr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29" name="正方形/長方形 28">
            <a:extLst>
              <a:ext uri="{FF2B5EF4-FFF2-40B4-BE49-F238E27FC236}">
                <a16:creationId xmlns:a16="http://schemas.microsoft.com/office/drawing/2014/main" id="{2885A2E9-9449-3650-0E4A-5A9BF2D80E32}"/>
              </a:ext>
            </a:extLst>
          </p:cNvPr>
          <p:cNvSpPr/>
          <p:nvPr/>
        </p:nvSpPr>
        <p:spPr>
          <a:xfrm>
            <a:off x="6594510"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solidFill>
                  <a:srgbClr val="FF0000"/>
                </a:solidFill>
                <a:latin typeface="メイリオ" panose="020B0604030504040204" pitchFamily="50" charset="-128"/>
                <a:ea typeface="メイリオ" panose="020B0604030504040204" pitchFamily="50" charset="-128"/>
              </a:rPr>
              <a:t>0.5</a:t>
            </a:r>
            <a:r>
              <a:rPr kumimoji="1" lang="en-US" altLang="ja-JP" sz="1400" b="1" dirty="0">
                <a:solidFill>
                  <a:srgbClr val="FF0000"/>
                </a:solidFill>
                <a:latin typeface="メイリオ" panose="020B0604030504040204" pitchFamily="50" charset="-128"/>
                <a:ea typeface="メイリオ" panose="020B0604030504040204" pitchFamily="50" charset="-128"/>
              </a:rPr>
              <a:t> %</a:t>
            </a:r>
            <a:endParaRPr kumimoji="1"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30" name="正方形/長方形 29">
            <a:extLst>
              <a:ext uri="{FF2B5EF4-FFF2-40B4-BE49-F238E27FC236}">
                <a16:creationId xmlns:a16="http://schemas.microsoft.com/office/drawing/2014/main" id="{317ECBDF-09D3-257E-8F4A-E037F6ADBAAE}"/>
              </a:ext>
            </a:extLst>
          </p:cNvPr>
          <p:cNvSpPr/>
          <p:nvPr/>
        </p:nvSpPr>
        <p:spPr>
          <a:xfrm>
            <a:off x="314498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rPr>
              <a:t>70 %</a:t>
            </a:r>
            <a:endParaRPr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1" name="正方形/長方形 30">
            <a:extLst>
              <a:ext uri="{FF2B5EF4-FFF2-40B4-BE49-F238E27FC236}">
                <a16:creationId xmlns:a16="http://schemas.microsoft.com/office/drawing/2014/main" id="{DA54FC15-4562-C68F-C13B-F3AB00F5F82F}"/>
              </a:ext>
            </a:extLst>
          </p:cNvPr>
          <p:cNvSpPr/>
          <p:nvPr/>
        </p:nvSpPr>
        <p:spPr>
          <a:xfrm>
            <a:off x="488224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rPr>
              <a:t>8.25 %</a:t>
            </a:r>
            <a:endParaRPr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382D3CC2-0AA1-6B39-8315-AC41101F88FE}"/>
              </a:ext>
            </a:extLst>
          </p:cNvPr>
          <p:cNvSpPr/>
          <p:nvPr/>
        </p:nvSpPr>
        <p:spPr>
          <a:xfrm>
            <a:off x="6594510"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solidFill>
                  <a:schemeClr val="tx1"/>
                </a:solidFill>
                <a:latin typeface="メイリオ" panose="020B0604030504040204" pitchFamily="50" charset="-128"/>
                <a:ea typeface="メイリオ" panose="020B0604030504040204" pitchFamily="50" charset="-128"/>
              </a:rPr>
              <a:t>0.3 %</a:t>
            </a:r>
            <a:endParaRPr kumimoji="1"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3" name="正方形/長方形 32">
            <a:extLst>
              <a:ext uri="{FF2B5EF4-FFF2-40B4-BE49-F238E27FC236}">
                <a16:creationId xmlns:a16="http://schemas.microsoft.com/office/drawing/2014/main" id="{5C344B7F-D598-9707-1687-34DC19B638F6}"/>
              </a:ext>
            </a:extLst>
          </p:cNvPr>
          <p:cNvSpPr/>
          <p:nvPr/>
        </p:nvSpPr>
        <p:spPr>
          <a:xfrm>
            <a:off x="1569529" y="5226753"/>
            <a:ext cx="1438656" cy="522965"/>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C000"/>
                </a:solidFill>
                <a:latin typeface="メイリオ" panose="020B0604030504040204" pitchFamily="50" charset="-128"/>
                <a:ea typeface="メイリオ" panose="020B0604030504040204" pitchFamily="50" charset="-128"/>
              </a:rPr>
              <a:t>DYM</a:t>
            </a:r>
            <a:r>
              <a:rPr kumimoji="1" lang="ja-JP" altLang="en-US" sz="1200" b="1" dirty="0">
                <a:solidFill>
                  <a:srgbClr val="FFC000"/>
                </a:solidFill>
                <a:latin typeface="メイリオ" panose="020B0604030504040204" pitchFamily="50" charset="-128"/>
                <a:ea typeface="メイリオ" panose="020B0604030504040204" pitchFamily="50" charset="-128"/>
              </a:rPr>
              <a:t>実績</a:t>
            </a:r>
          </a:p>
        </p:txBody>
      </p:sp>
      <p:sp>
        <p:nvSpPr>
          <p:cNvPr id="34" name="正方形/長方形 33">
            <a:extLst>
              <a:ext uri="{FF2B5EF4-FFF2-40B4-BE49-F238E27FC236}">
                <a16:creationId xmlns:a16="http://schemas.microsoft.com/office/drawing/2014/main" id="{93D563E7-193E-0293-8E0E-7C2E3C5192BF}"/>
              </a:ext>
            </a:extLst>
          </p:cNvPr>
          <p:cNvSpPr/>
          <p:nvPr/>
        </p:nvSpPr>
        <p:spPr>
          <a:xfrm>
            <a:off x="1569529" y="5809052"/>
            <a:ext cx="1438656" cy="522965"/>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rPr>
              <a:t>業界平均</a:t>
            </a:r>
            <a:endParaRPr lang="en-US" altLang="ja-JP" sz="1200" b="1" dirty="0">
              <a:solidFill>
                <a:schemeClr val="bg1"/>
              </a:solidFill>
              <a:latin typeface="メイリオ" panose="020B0604030504040204" pitchFamily="50" charset="-128"/>
              <a:ea typeface="メイリオ" panose="020B0604030504040204" pitchFamily="50" charset="-128"/>
            </a:endParaRPr>
          </a:p>
          <a:p>
            <a:pPr algn="ctr"/>
            <a:r>
              <a:rPr lang="en-US" altLang="ja-JP" sz="800" b="1" dirty="0">
                <a:solidFill>
                  <a:schemeClr val="bg1"/>
                </a:solidFill>
                <a:latin typeface="メイリオ" panose="020B0604030504040204" pitchFamily="50" charset="-128"/>
                <a:ea typeface="メイリオ" panose="020B0604030504040204" pitchFamily="50" charset="-128"/>
              </a:rPr>
              <a:t>(LINE</a:t>
            </a:r>
            <a:r>
              <a:rPr lang="ja-JP" altLang="en-US" sz="800" b="1" dirty="0">
                <a:solidFill>
                  <a:schemeClr val="bg1"/>
                </a:solidFill>
                <a:latin typeface="メイリオ" panose="020B0604030504040204" pitchFamily="50" charset="-128"/>
                <a:ea typeface="メイリオ" panose="020B0604030504040204" pitchFamily="50" charset="-128"/>
              </a:rPr>
              <a:t>ヤフー社より共有）</a:t>
            </a:r>
          </a:p>
        </p:txBody>
      </p:sp>
      <p:sp>
        <p:nvSpPr>
          <p:cNvPr id="35" name="正方形/長方形 34">
            <a:extLst>
              <a:ext uri="{FF2B5EF4-FFF2-40B4-BE49-F238E27FC236}">
                <a16:creationId xmlns:a16="http://schemas.microsoft.com/office/drawing/2014/main" id="{A58F3C16-C1CC-3071-6630-130857C0B7D1}"/>
              </a:ext>
            </a:extLst>
          </p:cNvPr>
          <p:cNvSpPr/>
          <p:nvPr/>
        </p:nvSpPr>
        <p:spPr>
          <a:xfrm>
            <a:off x="564095" y="1666793"/>
            <a:ext cx="8989207" cy="32813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rgbClr val="FFC000"/>
                </a:solidFill>
                <a:latin typeface="メイリオ" panose="020B0604030504040204" pitchFamily="50" charset="-128"/>
                <a:ea typeface="メイリオ" panose="020B0604030504040204" pitchFamily="50" charset="-128"/>
              </a:rPr>
              <a:t>施策の流れ</a:t>
            </a:r>
          </a:p>
        </p:txBody>
      </p:sp>
    </p:spTree>
    <p:extLst>
      <p:ext uri="{BB962C8B-B14F-4D97-AF65-F5344CB8AC3E}">
        <p14:creationId xmlns:p14="http://schemas.microsoft.com/office/powerpoint/2010/main" val="242184237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業態平均で</a:t>
            </a:r>
            <a:r>
              <a:rPr lang="ja-JP" altLang="en-US" sz="1400" b="1" dirty="0">
                <a:solidFill>
                  <a:srgbClr val="FF0000"/>
                </a:solidFill>
                <a:latin typeface="メイリオ" panose="020B0604030504040204" pitchFamily="50" charset="-128"/>
                <a:ea typeface="メイリオ" panose="020B0604030504040204" pitchFamily="50" charset="-128"/>
              </a:rPr>
              <a:t>最大３</a:t>
            </a:r>
            <a:r>
              <a:rPr lang="en-US" altLang="ja-JP" sz="1400" b="1" dirty="0">
                <a:solidFill>
                  <a:srgbClr val="FF0000"/>
                </a:solidFill>
                <a:latin typeface="メイリオ" panose="020B0604030504040204" pitchFamily="50" charset="-128"/>
                <a:ea typeface="メイリオ" panose="020B0604030504040204" pitchFamily="50" charset="-128"/>
              </a:rPr>
              <a:t>%</a:t>
            </a:r>
            <a:r>
              <a:rPr lang="ja-JP" altLang="en-US" sz="1400" b="1" dirty="0">
                <a:solidFill>
                  <a:srgbClr val="FF0000"/>
                </a:solidFill>
                <a:latin typeface="メイリオ" panose="020B0604030504040204" pitchFamily="50" charset="-128"/>
                <a:ea typeface="メイリオ" panose="020B0604030504040204" pitchFamily="50" charset="-128"/>
              </a:rPr>
              <a:t>のユーザーは有効化</a:t>
            </a:r>
            <a:r>
              <a:rPr lang="en-US" altLang="ja-JP" sz="1400" b="1" dirty="0">
                <a:solidFill>
                  <a:srgbClr val="FF0000"/>
                </a:solidFill>
                <a:latin typeface="メイリオ" panose="020B0604030504040204" pitchFamily="50" charset="-128"/>
                <a:ea typeface="メイリオ" panose="020B0604030504040204" pitchFamily="50" charset="-128"/>
              </a:rPr>
              <a:t>/</a:t>
            </a:r>
            <a:r>
              <a:rPr lang="ja-JP" altLang="en-US" sz="1400" b="1" dirty="0">
                <a:solidFill>
                  <a:srgbClr val="FF0000"/>
                </a:solidFill>
                <a:latin typeface="メイリオ" panose="020B0604030504040204" pitchFamily="50" charset="-128"/>
                <a:ea typeface="メイリオ" panose="020B0604030504040204" pitchFamily="50" charset="-128"/>
              </a:rPr>
              <a:t>マネタイズ可能</a:t>
            </a:r>
            <a:r>
              <a:rPr lang="ja-JP" altLang="en-US" sz="1400" dirty="0">
                <a:solidFill>
                  <a:srgbClr val="343434"/>
                </a:solidFill>
                <a:latin typeface="メイリオ" panose="020B0604030504040204" pitchFamily="50" charset="-128"/>
                <a:ea typeface="メイリオ" panose="020B0604030504040204" pitchFamily="50" charset="-128"/>
              </a:rPr>
              <a:t> とされている。</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貴社集客課題に合わせて、</a:t>
            </a:r>
            <a:r>
              <a:rPr lang="en-US" altLang="ja-JP" sz="1400" dirty="0">
                <a:solidFill>
                  <a:srgbClr val="343434"/>
                </a:solidFill>
                <a:latin typeface="メイリオ" panose="020B0604030504040204" pitchFamily="50" charset="-128"/>
                <a:ea typeface="メイリオ" panose="020B0604030504040204" pitchFamily="50" charset="-128"/>
              </a:rPr>
              <a:t>LINE</a:t>
            </a:r>
            <a:r>
              <a:rPr lang="ja-JP" altLang="en-US" sz="1400" dirty="0">
                <a:solidFill>
                  <a:srgbClr val="343434"/>
                </a:solidFill>
                <a:latin typeface="メイリオ" panose="020B0604030504040204" pitchFamily="50" charset="-128"/>
                <a:ea typeface="メイリオ" panose="020B0604030504040204" pitchFamily="50" charset="-128"/>
              </a:rPr>
              <a:t>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437755" y="1606187"/>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939984" y="1606186"/>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442213" y="1606186"/>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latin typeface="メイリオ" panose="020B0604030504040204" pitchFamily="50" charset="-128"/>
                <a:ea typeface="メイリオ" panose="020B0604030504040204" pitchFamily="50" charset="-128"/>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a:extLst>
              <a:ext uri="{FF2B5EF4-FFF2-40B4-BE49-F238E27FC236}">
                <a16:creationId xmlns:a16="http://schemas.microsoft.com/office/drawing/2014/main" id="{FD70E0F9-3A37-9791-A2F1-DB53DFA521CA}"/>
              </a:ext>
            </a:extLst>
          </p:cNvPr>
          <p:cNvSpPr/>
          <p:nvPr/>
        </p:nvSpPr>
        <p:spPr>
          <a:xfrm>
            <a:off x="1939984" y="20145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939984" y="262776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437755" y="20145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437755" y="262776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442213" y="2009121"/>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437755" y="3888359"/>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437755" y="3240953"/>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939984" y="397723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437755" y="397723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442212" y="324095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442212" y="397723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9751A61D-8342-2E71-49E2-6F2A585210CF}"/>
              </a:ext>
            </a:extLst>
          </p:cNvPr>
          <p:cNvSpPr/>
          <p:nvPr/>
        </p:nvSpPr>
        <p:spPr>
          <a:xfrm>
            <a:off x="1939984" y="45958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437755" y="45958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437755" y="521452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437755" y="583317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939983" y="521452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939983" y="583317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442212" y="459588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442212" y="5214528"/>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442212" y="582224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6" name="Shape 17">
            <a:extLst>
              <a:ext uri="{FF2B5EF4-FFF2-40B4-BE49-F238E27FC236}">
                <a16:creationId xmlns:a16="http://schemas.microsoft.com/office/drawing/2014/main" id="{B77E1FF1-F589-36AA-D779-FABB807F9501}"/>
              </a:ext>
            </a:extLst>
          </p:cNvPr>
          <p:cNvSpPr/>
          <p:nvPr/>
        </p:nvSpPr>
        <p:spPr>
          <a:xfrm>
            <a:off x="3636262" y="2079998"/>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88" name="Shape 18">
            <a:extLst>
              <a:ext uri="{FF2B5EF4-FFF2-40B4-BE49-F238E27FC236}">
                <a16:creationId xmlns:a16="http://schemas.microsoft.com/office/drawing/2014/main" id="{CA0F439F-8568-5F59-980B-81BDBE16E656}"/>
              </a:ext>
            </a:extLst>
          </p:cNvPr>
          <p:cNvSpPr/>
          <p:nvPr/>
        </p:nvSpPr>
        <p:spPr>
          <a:xfrm>
            <a:off x="5685390" y="2079998"/>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416731" y="2304248"/>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636262" y="2614185"/>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85390" y="2614185"/>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商談・申込への誘導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a:off x="5399749" y="284743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FF0000"/>
                </a:solidFill>
                <a:latin typeface="メイリオ" panose="020B0604030504040204" pitchFamily="50" charset="-128"/>
                <a:ea typeface="メイリオ" panose="020B0604030504040204" pitchFamily="50" charset="-128"/>
              </a:rPr>
              <a:t>CV</a:t>
            </a:r>
            <a:r>
              <a:rPr kumimoji="1" lang="ja-JP" altLang="en-US" sz="1100" b="1" dirty="0">
                <a:solidFill>
                  <a:srgbClr val="FF0000"/>
                </a:solidFill>
                <a:latin typeface="メイリオ" panose="020B0604030504040204" pitchFamily="50" charset="-128"/>
                <a:ea typeface="メイリオ" panose="020B0604030504040204" pitchFamily="50" charset="-128"/>
              </a:rPr>
              <a:t>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FF0000"/>
                </a:solidFill>
                <a:latin typeface="メイリオ" panose="020B0604030504040204" pitchFamily="50" charset="-128"/>
                <a:ea typeface="メイリオ" panose="020B0604030504040204" pitchFamily="50" charset="-128"/>
              </a:rPr>
              <a:t>※</a:t>
            </a:r>
            <a:r>
              <a:rPr lang="ja-JP" altLang="en-US" sz="1000" dirty="0">
                <a:solidFill>
                  <a:srgbClr val="FF0000"/>
                </a:solidFill>
                <a:latin typeface="メイリオ" panose="020B0604030504040204" pitchFamily="50" charset="-128"/>
                <a:ea typeface="メイリオ" panose="020B0604030504040204" pitchFamily="50" charset="-128"/>
              </a:rPr>
              <a:t>平均値</a:t>
            </a:r>
            <a:endParaRPr kumimoji="1" lang="ja-JP" altLang="en-US" sz="1000" dirty="0">
              <a:solidFill>
                <a:srgbClr val="FF0000"/>
              </a:solidFill>
              <a:latin typeface="メイリオ" panose="020B0604030504040204" pitchFamily="50" charset="-128"/>
              <a:ea typeface="メイリオ" panose="020B0604030504040204" pitchFamily="50" charset="-128"/>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FF0000"/>
                </a:solidFill>
                <a:latin typeface="メイリオ" panose="020B0604030504040204" pitchFamily="50" charset="-128"/>
                <a:ea typeface="メイリオ" panose="020B0604030504040204" pitchFamily="50" charset="-128"/>
              </a:rPr>
              <a:t>３</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1.5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6" name="Shape 17">
            <a:extLst>
              <a:ext uri="{FF2B5EF4-FFF2-40B4-BE49-F238E27FC236}">
                <a16:creationId xmlns:a16="http://schemas.microsoft.com/office/drawing/2014/main" id="{1CA555AB-71AF-EB14-1D64-C35A07A084CC}"/>
              </a:ext>
            </a:extLst>
          </p:cNvPr>
          <p:cNvSpPr/>
          <p:nvPr/>
        </p:nvSpPr>
        <p:spPr>
          <a:xfrm>
            <a:off x="3636262" y="3291869"/>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85390" y="3291869"/>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99749" y="35251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636262" y="4032727"/>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85390" y="4032727"/>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99749" y="426597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636262" y="4639113"/>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85390" y="4639113"/>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商談・再購入誘導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99749" y="487235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636262" y="5262884"/>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85390" y="5262884"/>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99749" y="5496130"/>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636262" y="5871273"/>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（特典訴求で友だち追加促進）</a:t>
            </a:r>
          </a:p>
        </p:txBody>
      </p:sp>
      <p:sp>
        <p:nvSpPr>
          <p:cNvPr id="129" name="Shape 18">
            <a:extLst>
              <a:ext uri="{FF2B5EF4-FFF2-40B4-BE49-F238E27FC236}">
                <a16:creationId xmlns:a16="http://schemas.microsoft.com/office/drawing/2014/main" id="{496CBE75-90FF-44E1-05AA-F85C409960A4}"/>
              </a:ext>
            </a:extLst>
          </p:cNvPr>
          <p:cNvSpPr/>
          <p:nvPr/>
        </p:nvSpPr>
        <p:spPr>
          <a:xfrm>
            <a:off x="5685390" y="5871273"/>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99749" y="610451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988837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7A8046-1654-094B-8F5D-E4DEE374596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70E0618D-3216-35E4-D4C4-66DD232D827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87478A58-B30A-B13E-22E3-8D83CCAF592E}"/>
              </a:ext>
            </a:extLst>
          </p:cNvPr>
          <p:cNvSpPr/>
          <p:nvPr/>
        </p:nvSpPr>
        <p:spPr>
          <a:xfrm>
            <a:off x="2808838" y="3038203"/>
            <a:ext cx="4288353"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中長期施策として</a:t>
            </a: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400066798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94FE7-6D4B-4888-997F-23D957A67FB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5E998200-CD1E-9377-8F8E-91B67A682AE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　</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[CRM</a:t>
            </a:r>
            <a:r>
              <a:rPr lang="ja-JP" altLang="en-US" sz="1400" b="1" dirty="0">
                <a:solidFill>
                  <a:srgbClr val="FF0000"/>
                </a:solidFill>
                <a:latin typeface="メイリオ" panose="020B0604030504040204" pitchFamily="50" charset="-128"/>
                <a:ea typeface="メイリオ" panose="020B0604030504040204" pitchFamily="50" charset="-128"/>
                <a:cs typeface="Meiryo"/>
                <a:sym typeface="Meiryo"/>
              </a:rPr>
              <a:t>及び</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API</a:t>
            </a:r>
            <a:r>
              <a:rPr lang="ja-JP" altLang="en-US" sz="1400" b="1" dirty="0">
                <a:solidFill>
                  <a:srgbClr val="FF0000"/>
                </a:solidFill>
                <a:latin typeface="メイリオ" panose="020B0604030504040204" pitchFamily="50" charset="-128"/>
                <a:ea typeface="メイリオ" panose="020B0604030504040204" pitchFamily="50" charset="-128"/>
                <a:cs typeface="Meiryo"/>
                <a:sym typeface="Meiryo"/>
              </a:rPr>
              <a:t>ツールとの連携</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a:t>
            </a:r>
            <a:endPar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endParaRPr>
          </a:p>
        </p:txBody>
      </p:sp>
      <p:sp>
        <p:nvSpPr>
          <p:cNvPr id="2" name="正方形/長方形 1">
            <a:extLst>
              <a:ext uri="{FF2B5EF4-FFF2-40B4-BE49-F238E27FC236}">
                <a16:creationId xmlns:a16="http://schemas.microsoft.com/office/drawing/2014/main" id="{529B047E-CF1E-2AB0-E618-76435731185A}"/>
              </a:ext>
            </a:extLst>
          </p:cNvPr>
          <p:cNvSpPr/>
          <p:nvPr/>
        </p:nvSpPr>
        <p:spPr>
          <a:xfrm>
            <a:off x="804889" y="5113292"/>
            <a:ext cx="3834166" cy="825268"/>
          </a:xfrm>
          <a:prstGeom prst="rect">
            <a:avLst/>
          </a:prstGeom>
          <a:solidFill>
            <a:schemeClr val="accent1">
              <a:lumMod val="20000"/>
              <a:lumOff val="80000"/>
            </a:schemeClr>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dirty="0">
                <a:solidFill>
                  <a:srgbClr val="073763"/>
                </a:solidFill>
                <a:latin typeface="メイリオ" panose="020B0604030504040204" pitchFamily="50" charset="-128"/>
                <a:ea typeface="メイリオ" panose="020B0604030504040204" pitchFamily="50" charset="-128"/>
              </a:rPr>
              <a:t>「</a:t>
            </a:r>
            <a:r>
              <a:rPr kumimoji="1" lang="en-US" altLang="ja-JP" sz="1400" dirty="0">
                <a:solidFill>
                  <a:srgbClr val="073763"/>
                </a:solidFill>
                <a:latin typeface="メイリオ" panose="020B0604030504040204" pitchFamily="50" charset="-128"/>
                <a:ea typeface="メイリオ" panose="020B0604030504040204" pitchFamily="50" charset="-128"/>
              </a:rPr>
              <a:t>CRM</a:t>
            </a:r>
            <a:r>
              <a:rPr kumimoji="1" lang="ja-JP" altLang="en-US" sz="1400" dirty="0">
                <a:solidFill>
                  <a:srgbClr val="073763"/>
                </a:solidFill>
                <a:latin typeface="メイリオ" panose="020B0604030504040204" pitchFamily="50" charset="-128"/>
                <a:ea typeface="メイリオ" panose="020B0604030504040204" pitchFamily="50" charset="-128"/>
              </a:rPr>
              <a:t>側でどんな情報を取りたいか」</a:t>
            </a:r>
            <a:r>
              <a:rPr lang="ja-JP" altLang="en-US" sz="1400" dirty="0">
                <a:solidFill>
                  <a:srgbClr val="073763"/>
                </a:solidFill>
                <a:latin typeface="メイリオ" panose="020B0604030504040204" pitchFamily="50" charset="-128"/>
                <a:ea typeface="メイリオ" panose="020B0604030504040204" pitchFamily="50" charset="-128"/>
              </a:rPr>
              <a:t>が重要</a:t>
            </a:r>
            <a:br>
              <a:rPr lang="en-US" altLang="ja-JP" sz="1400" dirty="0">
                <a:solidFill>
                  <a:srgbClr val="073763"/>
                </a:solidFill>
                <a:latin typeface="メイリオ" panose="020B0604030504040204" pitchFamily="50" charset="-128"/>
                <a:ea typeface="メイリオ" panose="020B0604030504040204" pitchFamily="50" charset="-128"/>
              </a:rPr>
            </a:br>
            <a:r>
              <a:rPr lang="ja-JP" altLang="en-US" sz="1400" b="1" dirty="0">
                <a:solidFill>
                  <a:srgbClr val="073763"/>
                </a:solidFill>
                <a:latin typeface="メイリオ" panose="020B0604030504040204" pitchFamily="50" charset="-128"/>
                <a:ea typeface="メイリオ" panose="020B0604030504040204" pitchFamily="50" charset="-128"/>
              </a:rPr>
              <a:t>要件定義</a:t>
            </a:r>
            <a:r>
              <a:rPr lang="ja-JP" altLang="en-US" sz="1400" dirty="0">
                <a:solidFill>
                  <a:srgbClr val="073763"/>
                </a:solidFill>
                <a:latin typeface="メイリオ" panose="020B0604030504040204" pitchFamily="50" charset="-128"/>
                <a:ea typeface="メイリオ" panose="020B0604030504040204" pitchFamily="50" charset="-128"/>
              </a:rPr>
              <a:t>を先にする必要がある</a:t>
            </a:r>
            <a:endParaRPr kumimoji="1" lang="ja-JP" altLang="en-US" sz="1400" dirty="0">
              <a:solidFill>
                <a:srgbClr val="073763"/>
              </a:solidFill>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C7D9704D-BB8D-31FA-D577-9838EADFB52F}"/>
              </a:ext>
            </a:extLst>
          </p:cNvPr>
          <p:cNvSpPr/>
          <p:nvPr/>
        </p:nvSpPr>
        <p:spPr>
          <a:xfrm>
            <a:off x="548883"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CR</a:t>
            </a:r>
            <a:r>
              <a:rPr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M</a:t>
            </a:r>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によるセグメント配信の違い</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DEDA1867-168F-C6E6-0B48-C791330A0A1C}"/>
              </a:ext>
            </a:extLst>
          </p:cNvPr>
          <p:cNvSpPr/>
          <p:nvPr/>
        </p:nvSpPr>
        <p:spPr>
          <a:xfrm>
            <a:off x="4855489" y="1681759"/>
            <a:ext cx="1637212"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pic>
        <p:nvPicPr>
          <p:cNvPr id="6" name="図 5">
            <a:extLst>
              <a:ext uri="{FF2B5EF4-FFF2-40B4-BE49-F238E27FC236}">
                <a16:creationId xmlns:a16="http://schemas.microsoft.com/office/drawing/2014/main" id="{3E9A497F-26C3-7713-AA96-7B5A48F56252}"/>
              </a:ext>
            </a:extLst>
          </p:cNvPr>
          <p:cNvPicPr>
            <a:picLocks noChangeAspect="1"/>
          </p:cNvPicPr>
          <p:nvPr/>
        </p:nvPicPr>
        <p:blipFill>
          <a:blip r:embed="rId2"/>
          <a:stretch>
            <a:fillRect/>
          </a:stretch>
        </p:blipFill>
        <p:spPr>
          <a:xfrm>
            <a:off x="767879" y="2097602"/>
            <a:ext cx="1748922" cy="1226856"/>
          </a:xfrm>
          <a:prstGeom prst="rect">
            <a:avLst/>
          </a:prstGeom>
        </p:spPr>
      </p:pic>
      <p:pic>
        <p:nvPicPr>
          <p:cNvPr id="7" name="図 6">
            <a:extLst>
              <a:ext uri="{FF2B5EF4-FFF2-40B4-BE49-F238E27FC236}">
                <a16:creationId xmlns:a16="http://schemas.microsoft.com/office/drawing/2014/main" id="{AAF48BB3-9A38-696F-FC70-5DEE4C4078CF}"/>
              </a:ext>
            </a:extLst>
          </p:cNvPr>
          <p:cNvPicPr>
            <a:picLocks noChangeAspect="1"/>
          </p:cNvPicPr>
          <p:nvPr/>
        </p:nvPicPr>
        <p:blipFill>
          <a:blip r:embed="rId3"/>
          <a:stretch>
            <a:fillRect/>
          </a:stretch>
        </p:blipFill>
        <p:spPr>
          <a:xfrm>
            <a:off x="2629285" y="2290287"/>
            <a:ext cx="2166018" cy="762483"/>
          </a:xfrm>
          <a:prstGeom prst="rect">
            <a:avLst/>
          </a:prstGeom>
        </p:spPr>
      </p:pic>
      <p:pic>
        <p:nvPicPr>
          <p:cNvPr id="8" name="図 7">
            <a:extLst>
              <a:ext uri="{FF2B5EF4-FFF2-40B4-BE49-F238E27FC236}">
                <a16:creationId xmlns:a16="http://schemas.microsoft.com/office/drawing/2014/main" id="{84D1E44E-92B8-B060-DC73-7A65C3C6173F}"/>
              </a:ext>
            </a:extLst>
          </p:cNvPr>
          <p:cNvPicPr>
            <a:picLocks noChangeAspect="1"/>
          </p:cNvPicPr>
          <p:nvPr/>
        </p:nvPicPr>
        <p:blipFill>
          <a:blip r:embed="rId4"/>
          <a:stretch>
            <a:fillRect/>
          </a:stretch>
        </p:blipFill>
        <p:spPr>
          <a:xfrm>
            <a:off x="732463" y="3382653"/>
            <a:ext cx="1896822" cy="592757"/>
          </a:xfrm>
          <a:prstGeom prst="rect">
            <a:avLst/>
          </a:prstGeom>
        </p:spPr>
      </p:pic>
      <p:pic>
        <p:nvPicPr>
          <p:cNvPr id="10" name="図 9">
            <a:extLst>
              <a:ext uri="{FF2B5EF4-FFF2-40B4-BE49-F238E27FC236}">
                <a16:creationId xmlns:a16="http://schemas.microsoft.com/office/drawing/2014/main" id="{41BDD745-D379-657E-EEF9-DAE4405410CE}"/>
              </a:ext>
            </a:extLst>
          </p:cNvPr>
          <p:cNvPicPr>
            <a:picLocks noChangeAspect="1"/>
          </p:cNvPicPr>
          <p:nvPr/>
        </p:nvPicPr>
        <p:blipFill>
          <a:blip r:embed="rId5"/>
          <a:stretch>
            <a:fillRect/>
          </a:stretch>
        </p:blipFill>
        <p:spPr>
          <a:xfrm>
            <a:off x="2774924" y="3271855"/>
            <a:ext cx="1980643" cy="825268"/>
          </a:xfrm>
          <a:prstGeom prst="rect">
            <a:avLst/>
          </a:prstGeom>
        </p:spPr>
      </p:pic>
      <p:sp>
        <p:nvSpPr>
          <p:cNvPr id="11" name="二等辺三角形 10">
            <a:extLst>
              <a:ext uri="{FF2B5EF4-FFF2-40B4-BE49-F238E27FC236}">
                <a16:creationId xmlns:a16="http://schemas.microsoft.com/office/drawing/2014/main" id="{DE45D7C0-7CD3-BE83-DB56-A8A9A887F251}"/>
              </a:ext>
            </a:extLst>
          </p:cNvPr>
          <p:cNvSpPr/>
          <p:nvPr/>
        </p:nvSpPr>
        <p:spPr>
          <a:xfrm flipV="1">
            <a:off x="2404365" y="4661972"/>
            <a:ext cx="635214" cy="243054"/>
          </a:xfrm>
          <a:prstGeom prst="triangl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12" name="正方形/長方形 11">
            <a:extLst>
              <a:ext uri="{FF2B5EF4-FFF2-40B4-BE49-F238E27FC236}">
                <a16:creationId xmlns:a16="http://schemas.microsoft.com/office/drawing/2014/main" id="{7FB401AD-59C1-FD46-42C1-D7E7B4A5CBEF}"/>
              </a:ext>
            </a:extLst>
          </p:cNvPr>
          <p:cNvSpPr/>
          <p:nvPr/>
        </p:nvSpPr>
        <p:spPr>
          <a:xfrm>
            <a:off x="5088187"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▼参考：</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L</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ステップ</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連携機能</a:t>
            </a:r>
          </a:p>
        </p:txBody>
      </p:sp>
      <p:pic>
        <p:nvPicPr>
          <p:cNvPr id="13" name="図 12">
            <a:extLst>
              <a:ext uri="{FF2B5EF4-FFF2-40B4-BE49-F238E27FC236}">
                <a16:creationId xmlns:a16="http://schemas.microsoft.com/office/drawing/2014/main" id="{CAF63C84-7FEF-612A-E123-4983B7F28BAA}"/>
              </a:ext>
            </a:extLst>
          </p:cNvPr>
          <p:cNvPicPr>
            <a:picLocks noChangeAspect="1"/>
          </p:cNvPicPr>
          <p:nvPr/>
        </p:nvPicPr>
        <p:blipFill>
          <a:blip r:embed="rId6"/>
          <a:stretch>
            <a:fillRect/>
          </a:stretch>
        </p:blipFill>
        <p:spPr>
          <a:xfrm>
            <a:off x="5088187" y="2053900"/>
            <a:ext cx="4493959" cy="4306708"/>
          </a:xfrm>
          <a:prstGeom prst="rect">
            <a:avLst/>
          </a:prstGeom>
        </p:spPr>
      </p:pic>
      <p:sp>
        <p:nvSpPr>
          <p:cNvPr id="14" name="Google Shape;752;p28">
            <a:extLst>
              <a:ext uri="{FF2B5EF4-FFF2-40B4-BE49-F238E27FC236}">
                <a16:creationId xmlns:a16="http://schemas.microsoft.com/office/drawing/2014/main" id="{87B68C46-3A5D-A74F-1932-7FA2CEB38DBA}"/>
              </a:ext>
            </a:extLst>
          </p:cNvPr>
          <p:cNvSpPr txBox="1"/>
          <p:nvPr/>
        </p:nvSpPr>
        <p:spPr>
          <a:xfrm>
            <a:off x="776105" y="86442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Meiryo"/>
                <a:sym typeface="Meiryo"/>
              </a:rPr>
              <a:t>CRM</a:t>
            </a:r>
            <a:r>
              <a:rPr lang="ja-JP" altLang="en-US" sz="1400" dirty="0">
                <a:latin typeface="メイリオ" panose="020B0604030504040204" pitchFamily="50" charset="-128"/>
                <a:ea typeface="メイリオ" panose="020B0604030504040204" pitchFamily="50" charset="-128"/>
                <a:cs typeface="Meiryo"/>
                <a:sym typeface="Meiryo"/>
              </a:rPr>
              <a:t>、</a:t>
            </a:r>
            <a:r>
              <a:rPr lang="en-US" altLang="ja-JP" sz="1400" dirty="0">
                <a:latin typeface="メイリオ" panose="020B0604030504040204" pitchFamily="50" charset="-128"/>
                <a:ea typeface="メイリオ" panose="020B0604030504040204" pitchFamily="50" charset="-128"/>
                <a:cs typeface="Meiryo"/>
                <a:sym typeface="Meiryo"/>
              </a:rPr>
              <a:t>API</a:t>
            </a:r>
            <a:r>
              <a:rPr lang="ja-JP" altLang="en-US" sz="1400" dirty="0">
                <a:latin typeface="メイリオ" panose="020B0604030504040204" pitchFamily="50" charset="-128"/>
                <a:ea typeface="メイリオ" panose="020B0604030504040204" pitchFamily="50" charset="-128"/>
                <a:cs typeface="Meiryo"/>
                <a:sym typeface="Meiryo"/>
              </a:rPr>
              <a:t>ツールで要件定義を行いつつ、効率化及び詳細なセグメント設計を目的として、</a:t>
            </a:r>
            <a:endParaRPr lang="en-US" altLang="ja-JP" sz="1400" dirty="0">
              <a:latin typeface="メイリオ" panose="020B0604030504040204" pitchFamily="50" charset="-128"/>
              <a:ea typeface="メイリオ" panose="020B0604030504040204" pitchFamily="50" charset="-128"/>
              <a:cs typeface="Meiryo"/>
              <a:sym typeface="Meiryo"/>
            </a:endParaRPr>
          </a:p>
          <a:p>
            <a:pPr lvl="0" algn="ctr"/>
            <a:r>
              <a:rPr lang="ja-JP" altLang="en-US" sz="1400" dirty="0">
                <a:latin typeface="メイリオ" panose="020B0604030504040204" pitchFamily="50" charset="-128"/>
                <a:ea typeface="メイリオ" panose="020B0604030504040204" pitchFamily="50" charset="-128"/>
                <a:cs typeface="Meiryo"/>
                <a:sym typeface="Meiryo"/>
              </a:rPr>
              <a:t>貴社内の顧客管理（</a:t>
            </a:r>
            <a:r>
              <a:rPr lang="en-US" altLang="ja-JP" sz="1400" dirty="0">
                <a:latin typeface="メイリオ" panose="020B0604030504040204" pitchFamily="50" charset="-128"/>
                <a:ea typeface="メイリオ" panose="020B0604030504040204" pitchFamily="50" charset="-128"/>
                <a:cs typeface="Meiryo"/>
                <a:sym typeface="Meiryo"/>
              </a:rPr>
              <a:t>CRM</a:t>
            </a:r>
            <a:r>
              <a:rPr lang="ja-JP" altLang="en-US" sz="1400" dirty="0">
                <a:latin typeface="メイリオ" panose="020B0604030504040204" pitchFamily="50" charset="-128"/>
                <a:ea typeface="メイリオ" panose="020B0604030504040204" pitchFamily="50" charset="-128"/>
                <a:cs typeface="Meiryo"/>
                <a:sym typeface="Meiryo"/>
              </a:rPr>
              <a:t>）ツールとの連携の実施も可能です。</a:t>
            </a:r>
            <a:r>
              <a:rPr lang="ja-JP" altLang="en-US" sz="1100" dirty="0">
                <a:solidFill>
                  <a:srgbClr val="FF0000"/>
                </a:solidFill>
                <a:latin typeface="メイリオ" panose="020B0604030504040204" pitchFamily="50" charset="-128"/>
                <a:ea typeface="メイリオ" panose="020B0604030504040204" pitchFamily="50" charset="-128"/>
                <a:cs typeface="Meiryo"/>
                <a:sym typeface="Meiryo"/>
              </a:rPr>
              <a:t> </a:t>
            </a:r>
            <a:r>
              <a:rPr lang="en-US" altLang="ja-JP" sz="11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100" dirty="0">
                <a:solidFill>
                  <a:srgbClr val="FF0000"/>
                </a:solidFill>
                <a:latin typeface="メイリオ" panose="020B0604030504040204" pitchFamily="50" charset="-128"/>
                <a:ea typeface="メイリオ" panose="020B0604030504040204" pitchFamily="50" charset="-128"/>
                <a:cs typeface="Meiryo"/>
                <a:sym typeface="Meiryo"/>
              </a:rPr>
              <a:t>開発は別途費用</a:t>
            </a:r>
            <a:endParaRPr lang="en-US" altLang="ja-JP" sz="1400" dirty="0">
              <a:solidFill>
                <a:srgbClr val="FF0000"/>
              </a:solidFill>
              <a:latin typeface="メイリオ" panose="020B0604030504040204" pitchFamily="50" charset="-128"/>
              <a:ea typeface="メイリオ" panose="020B0604030504040204" pitchFamily="50" charset="-128"/>
              <a:cs typeface="Meiryo"/>
              <a:sym typeface="Meiryo"/>
            </a:endParaRPr>
          </a:p>
        </p:txBody>
      </p:sp>
      <p:pic>
        <p:nvPicPr>
          <p:cNvPr id="16" name="図 15">
            <a:extLst>
              <a:ext uri="{FF2B5EF4-FFF2-40B4-BE49-F238E27FC236}">
                <a16:creationId xmlns:a16="http://schemas.microsoft.com/office/drawing/2014/main" id="{03191DAC-E9A0-5CCA-8AC1-DD7587146EC0}"/>
              </a:ext>
            </a:extLst>
          </p:cNvPr>
          <p:cNvPicPr>
            <a:picLocks noChangeAspect="1"/>
          </p:cNvPicPr>
          <p:nvPr/>
        </p:nvPicPr>
        <p:blipFill>
          <a:blip r:embed="rId7"/>
          <a:stretch>
            <a:fillRect/>
          </a:stretch>
        </p:blipFill>
        <p:spPr>
          <a:xfrm>
            <a:off x="8356962" y="3138694"/>
            <a:ext cx="1225184" cy="371527"/>
          </a:xfrm>
          <a:prstGeom prst="rect">
            <a:avLst/>
          </a:prstGeom>
        </p:spPr>
      </p:pic>
      <p:sp>
        <p:nvSpPr>
          <p:cNvPr id="18" name="正方形/長方形 17">
            <a:extLst>
              <a:ext uri="{FF2B5EF4-FFF2-40B4-BE49-F238E27FC236}">
                <a16:creationId xmlns:a16="http://schemas.microsoft.com/office/drawing/2014/main" id="{6556E7C3-00CD-61AD-290A-ADC705BB4ED2}"/>
              </a:ext>
            </a:extLst>
          </p:cNvPr>
          <p:cNvSpPr/>
          <p:nvPr/>
        </p:nvSpPr>
        <p:spPr>
          <a:xfrm>
            <a:off x="7392816" y="2667912"/>
            <a:ext cx="1404514" cy="70467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LINE</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公式と</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ツール間の</a:t>
            </a:r>
            <a:endPar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情報連携</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9" name="正方形/長方形 18">
            <a:extLst>
              <a:ext uri="{FF2B5EF4-FFF2-40B4-BE49-F238E27FC236}">
                <a16:creationId xmlns:a16="http://schemas.microsoft.com/office/drawing/2014/main" id="{ECFC83DD-87A7-DC53-4B5A-DD088FDF4D20}"/>
              </a:ext>
            </a:extLst>
          </p:cNvPr>
          <p:cNvSpPr/>
          <p:nvPr/>
        </p:nvSpPr>
        <p:spPr>
          <a:xfrm>
            <a:off x="5873920" y="2711430"/>
            <a:ext cx="989184" cy="42376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メッセ送信</a:t>
            </a:r>
          </a:p>
        </p:txBody>
      </p:sp>
    </p:spTree>
    <p:extLst>
      <p:ext uri="{BB962C8B-B14F-4D97-AF65-F5344CB8AC3E}">
        <p14:creationId xmlns:p14="http://schemas.microsoft.com/office/powerpoint/2010/main" val="98264973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 代表的な活用機能</a:t>
            </a:r>
            <a:endParaRPr sz="1600" b="1" dirty="0">
              <a:solidFill>
                <a:srgbClr val="002060"/>
              </a:solidFill>
              <a:latin typeface="Meiryo"/>
              <a:ea typeface="Meiryo"/>
              <a:cs typeface="Meiryo"/>
              <a:sym typeface="Meiryo"/>
            </a:endParaRPr>
          </a:p>
        </p:txBody>
      </p:sp>
      <p:sp>
        <p:nvSpPr>
          <p:cNvPr id="8" name="正方形/長方形 7"/>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ミニアプリ</a:t>
            </a:r>
            <a:endParaRPr lang="en-US" altLang="ja-JP" sz="1600" b="1" dirty="0">
              <a:latin typeface="メイリオ" panose="020B0604030504040204" pitchFamily="50" charset="-128"/>
              <a:ea typeface="メイリオ" panose="020B0604030504040204" pitchFamily="50" charset="-128"/>
            </a:endParaRPr>
          </a:p>
        </p:txBody>
      </p:sp>
      <p:pic>
        <p:nvPicPr>
          <p:cNvPr id="15" name="図 14"/>
          <p:cNvPicPr>
            <a:picLocks noChangeAspect="1"/>
          </p:cNvPicPr>
          <p:nvPr/>
        </p:nvPicPr>
        <p:blipFill>
          <a:blip r:embed="rId2"/>
          <a:stretch>
            <a:fillRect/>
          </a:stretch>
        </p:blipFill>
        <p:spPr>
          <a:xfrm>
            <a:off x="395078" y="4223656"/>
            <a:ext cx="4883652" cy="2255298"/>
          </a:xfrm>
          <a:prstGeom prst="rect">
            <a:avLst/>
          </a:prstGeom>
        </p:spPr>
      </p:pic>
      <p:pic>
        <p:nvPicPr>
          <p:cNvPr id="16" name="図 15"/>
          <p:cNvPicPr>
            <a:picLocks noChangeAspect="1"/>
          </p:cNvPicPr>
          <p:nvPr/>
        </p:nvPicPr>
        <p:blipFill>
          <a:blip r:embed="rId3"/>
          <a:stretch>
            <a:fillRect/>
          </a:stretch>
        </p:blipFill>
        <p:spPr>
          <a:xfrm>
            <a:off x="5447610" y="4291935"/>
            <a:ext cx="4377759" cy="1962444"/>
          </a:xfrm>
          <a:prstGeom prst="rect">
            <a:avLst/>
          </a:prstGeom>
        </p:spPr>
      </p:pic>
      <p:pic>
        <p:nvPicPr>
          <p:cNvPr id="17" name="図 16"/>
          <p:cNvPicPr>
            <a:picLocks noChangeAspect="1"/>
          </p:cNvPicPr>
          <p:nvPr/>
        </p:nvPicPr>
        <p:blipFill>
          <a:blip r:embed="rId4"/>
          <a:stretch>
            <a:fillRect/>
          </a:stretch>
        </p:blipFill>
        <p:spPr>
          <a:xfrm>
            <a:off x="295583" y="1824445"/>
            <a:ext cx="5881033" cy="2266757"/>
          </a:xfrm>
          <a:prstGeom prst="rect">
            <a:avLst/>
          </a:prstGeom>
        </p:spPr>
      </p:pic>
      <p:sp>
        <p:nvSpPr>
          <p:cNvPr id="2" name="正方形/長方形 1"/>
          <p:cNvSpPr/>
          <p:nvPr/>
        </p:nvSpPr>
        <p:spPr>
          <a:xfrm>
            <a:off x="2971109" y="823033"/>
            <a:ext cx="6669279" cy="584775"/>
          </a:xfrm>
          <a:prstGeom prst="rect">
            <a:avLst/>
          </a:prstGeom>
        </p:spPr>
        <p:txBody>
          <a:bodyPr wrap="square">
            <a:spAutoFit/>
          </a:body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内で活用できるミニアプリでは、ゲームや抽選といった機能を</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アプリ開発よりも大幅に格安な価格帯で利用できるサービス。</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393999798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5022E-E793-10B7-A063-757EDCFFDB08}"/>
            </a:ext>
          </a:extLst>
        </p:cNvPr>
        <p:cNvGrpSpPr/>
        <p:nvPr/>
      </p:nvGrpSpPr>
      <p:grpSpPr>
        <a:xfrm>
          <a:off x="0" y="0"/>
          <a:ext cx="0" cy="0"/>
          <a:chOff x="0" y="0"/>
          <a:chExt cx="0" cy="0"/>
        </a:xfrm>
      </p:grpSpPr>
      <p:sp>
        <p:nvSpPr>
          <p:cNvPr id="43"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28" name="正方形/長方形 27"/>
          <p:cNvSpPr/>
          <p:nvPr/>
        </p:nvSpPr>
        <p:spPr>
          <a:xfrm>
            <a:off x="209578" y="1455366"/>
            <a:ext cx="716093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チャット</a:t>
            </a:r>
            <a:r>
              <a:rPr lang="en-US" altLang="ja-JP" sz="1600" b="1" dirty="0">
                <a:solidFill>
                  <a:schemeClr val="tx1">
                    <a:lumMod val="65000"/>
                    <a:lumOff val="35000"/>
                  </a:schemeClr>
                </a:solidFill>
                <a:latin typeface="Meiryo"/>
                <a:ea typeface="Meiryo"/>
                <a:cs typeface="Meiryo"/>
                <a:sym typeface="Meiryo"/>
              </a:rPr>
              <a:t>Plus</a:t>
            </a:r>
            <a:r>
              <a:rPr lang="ja-JP" altLang="en-US" sz="1600" b="1" dirty="0">
                <a:solidFill>
                  <a:schemeClr val="tx1">
                    <a:lumMod val="65000"/>
                    <a:lumOff val="35000"/>
                  </a:schemeClr>
                </a:solidFill>
                <a:latin typeface="Meiryo"/>
                <a:ea typeface="Meiryo"/>
                <a:cs typeface="Meiryo"/>
                <a:sym typeface="Meiryo"/>
              </a:rPr>
              <a:t>」は、</a:t>
            </a:r>
            <a:r>
              <a:rPr lang="en-US" altLang="ja-JP" sz="1600" b="1" dirty="0">
                <a:solidFill>
                  <a:schemeClr val="tx1">
                    <a:lumMod val="65000"/>
                    <a:lumOff val="35000"/>
                  </a:schemeClr>
                </a:solidFill>
                <a:latin typeface="Meiryo"/>
                <a:ea typeface="Meiryo"/>
                <a:cs typeface="Meiryo"/>
                <a:sym typeface="Meiryo"/>
              </a:rPr>
              <a:t>FAQ</a:t>
            </a:r>
            <a:r>
              <a:rPr lang="ja-JP" altLang="en-US" sz="1600" b="1" dirty="0">
                <a:solidFill>
                  <a:schemeClr val="tx1">
                    <a:lumMod val="65000"/>
                    <a:lumOff val="35000"/>
                  </a:schemeClr>
                </a:solidFill>
                <a:latin typeface="Meiryo"/>
                <a:ea typeface="Meiryo"/>
                <a:cs typeface="Meiryo"/>
                <a:sym typeface="Meiryo"/>
              </a:rPr>
              <a:t>をもとにした</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による自動応答や、</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有人でのチャット対応による細かなサポートを可能にするオプション機能。</a:t>
            </a:r>
            <a:endParaRPr lang="en-US" altLang="ja-JP" sz="1600" b="1" dirty="0">
              <a:solidFill>
                <a:schemeClr val="tx1">
                  <a:lumMod val="65000"/>
                  <a:lumOff val="35000"/>
                </a:schemeClr>
              </a:solidFill>
              <a:latin typeface="Meiryo"/>
              <a:ea typeface="Meiryo"/>
              <a:cs typeface="Meiryo"/>
              <a:sym typeface="Meiryo"/>
            </a:endParaRPr>
          </a:p>
        </p:txBody>
      </p:sp>
      <p:sp>
        <p:nvSpPr>
          <p:cNvPr id="29" name="正方形/長方形 28"/>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a:t>
            </a:r>
            <a:r>
              <a:rPr lang="en-US" altLang="ja-JP" sz="1600" b="1" dirty="0" err="1">
                <a:latin typeface="メイリオ" panose="020B0604030504040204" pitchFamily="50" charset="-128"/>
                <a:ea typeface="メイリオ" panose="020B0604030504040204" pitchFamily="50" charset="-128"/>
              </a:rPr>
              <a:t>LINE】Chat</a:t>
            </a:r>
            <a:r>
              <a:rPr lang="en-US" altLang="ja-JP" sz="1600" b="1" dirty="0">
                <a:latin typeface="メイリオ" panose="020B0604030504040204" pitchFamily="50" charset="-128"/>
                <a:ea typeface="メイリオ" panose="020B0604030504040204" pitchFamily="50" charset="-128"/>
              </a:rPr>
              <a:t> Plus</a:t>
            </a:r>
          </a:p>
        </p:txBody>
      </p:sp>
      <p:sp>
        <p:nvSpPr>
          <p:cNvPr id="30" name="角丸四角形 29"/>
          <p:cNvSpPr/>
          <p:nvPr/>
        </p:nvSpPr>
        <p:spPr>
          <a:xfrm>
            <a:off x="548883" y="2287502"/>
            <a:ext cx="4031506" cy="419913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pic>
        <p:nvPicPr>
          <p:cNvPr id="3" name="図 2"/>
          <p:cNvPicPr>
            <a:picLocks noChangeAspect="1"/>
          </p:cNvPicPr>
          <p:nvPr/>
        </p:nvPicPr>
        <p:blipFill rotWithShape="1">
          <a:blip r:embed="rId2" cstate="print">
            <a:extLst>
              <a:ext uri="{28A0092B-C50C-407E-A947-70E740481C1C}">
                <a14:useLocalDpi xmlns:a14="http://schemas.microsoft.com/office/drawing/2010/main" val="0"/>
              </a:ext>
            </a:extLst>
          </a:blip>
          <a:srcRect t="34310" b="34334"/>
          <a:stretch/>
        </p:blipFill>
        <p:spPr>
          <a:xfrm>
            <a:off x="683491" y="2611441"/>
            <a:ext cx="3762290" cy="2097249"/>
          </a:xfrm>
          <a:prstGeom prst="rect">
            <a:avLst/>
          </a:prstGeom>
        </p:spPr>
      </p:pic>
      <p:sp>
        <p:nvSpPr>
          <p:cNvPr id="33" name="正方形/長方形 32"/>
          <p:cNvSpPr/>
          <p:nvPr/>
        </p:nvSpPr>
        <p:spPr>
          <a:xfrm>
            <a:off x="830828" y="5032628"/>
            <a:ext cx="3467616" cy="830997"/>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ホームページから気軽にチャットで</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問い合わせができるようになり</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資料請求や商品の購入に繋がる。</a:t>
            </a:r>
            <a:endParaRPr lang="en-US" altLang="ja-JP" sz="1600" b="1" dirty="0">
              <a:solidFill>
                <a:schemeClr val="tx1">
                  <a:lumMod val="65000"/>
                  <a:lumOff val="35000"/>
                </a:schemeClr>
              </a:solidFill>
              <a:latin typeface="Meiryo"/>
              <a:ea typeface="Meiryo"/>
              <a:cs typeface="Meiryo"/>
              <a:sym typeface="Meiryo"/>
            </a:endParaRPr>
          </a:p>
        </p:txBody>
      </p:sp>
      <p:grpSp>
        <p:nvGrpSpPr>
          <p:cNvPr id="34" name="Group 25">
            <a:extLst>
              <a:ext uri="{FF2B5EF4-FFF2-40B4-BE49-F238E27FC236}">
                <a16:creationId xmlns:a16="http://schemas.microsoft.com/office/drawing/2014/main" id="{269BA4E8-CBA1-17CF-4B27-5586E44C9042}"/>
              </a:ext>
            </a:extLst>
          </p:cNvPr>
          <p:cNvGrpSpPr/>
          <p:nvPr/>
        </p:nvGrpSpPr>
        <p:grpSpPr>
          <a:xfrm rot="5400000">
            <a:off x="5120631" y="2997089"/>
            <a:ext cx="301414" cy="601358"/>
            <a:chOff x="0" y="0"/>
            <a:chExt cx="452282" cy="902360"/>
          </a:xfrm>
        </p:grpSpPr>
        <p:sp>
          <p:nvSpPr>
            <p:cNvPr id="35"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6"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37" name="TextBox 38">
            <a:extLst>
              <a:ext uri="{FF2B5EF4-FFF2-40B4-BE49-F238E27FC236}">
                <a16:creationId xmlns:a16="http://schemas.microsoft.com/office/drawing/2014/main" id="{5DBC0D5A-D55C-257A-51E2-CC2A6B58B8CE}"/>
              </a:ext>
            </a:extLst>
          </p:cNvPr>
          <p:cNvSpPr txBox="1"/>
          <p:nvPr/>
        </p:nvSpPr>
        <p:spPr>
          <a:xfrm>
            <a:off x="5836651" y="3018835"/>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自動応答と有人応答を使い分けることが</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できる</a:t>
            </a:r>
            <a:endParaRPr lang="en-US" sz="1554" b="1" dirty="0">
              <a:solidFill>
                <a:srgbClr val="494848"/>
              </a:solidFill>
              <a:latin typeface="メイリオ" panose="020B0604030504040204" pitchFamily="50" charset="-128"/>
              <a:ea typeface="メイリオ" panose="020B0604030504040204" pitchFamily="50" charset="-128"/>
            </a:endParaRPr>
          </a:p>
        </p:txBody>
      </p:sp>
      <p:grpSp>
        <p:nvGrpSpPr>
          <p:cNvPr id="38" name="Group 25">
            <a:extLst>
              <a:ext uri="{FF2B5EF4-FFF2-40B4-BE49-F238E27FC236}">
                <a16:creationId xmlns:a16="http://schemas.microsoft.com/office/drawing/2014/main" id="{269BA4E8-CBA1-17CF-4B27-5586E44C9042}"/>
              </a:ext>
            </a:extLst>
          </p:cNvPr>
          <p:cNvGrpSpPr/>
          <p:nvPr/>
        </p:nvGrpSpPr>
        <p:grpSpPr>
          <a:xfrm rot="5400000">
            <a:off x="5120631" y="3995552"/>
            <a:ext cx="301414" cy="601358"/>
            <a:chOff x="0" y="0"/>
            <a:chExt cx="452282" cy="902360"/>
          </a:xfrm>
        </p:grpSpPr>
        <p:sp>
          <p:nvSpPr>
            <p:cNvPr id="39"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40"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1" name="TextBox 38">
            <a:extLst>
              <a:ext uri="{FF2B5EF4-FFF2-40B4-BE49-F238E27FC236}">
                <a16:creationId xmlns:a16="http://schemas.microsoft.com/office/drawing/2014/main" id="{5DBC0D5A-D55C-257A-51E2-CC2A6B58B8CE}"/>
              </a:ext>
            </a:extLst>
          </p:cNvPr>
          <p:cNvSpPr txBox="1"/>
          <p:nvPr/>
        </p:nvSpPr>
        <p:spPr>
          <a:xfrm>
            <a:off x="5836651" y="4017298"/>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「訪問者管理機能」により、ホームページに訪れたユーザーを一覧で見ることが可能</a:t>
            </a:r>
            <a:endParaRPr lang="en-US" sz="1554" b="1" dirty="0">
              <a:solidFill>
                <a:srgbClr val="494848"/>
              </a:solidFill>
              <a:latin typeface="メイリオ" panose="020B0604030504040204" pitchFamily="50" charset="-128"/>
              <a:ea typeface="メイリオ" panose="020B0604030504040204" pitchFamily="50" charset="-128"/>
            </a:endParaRPr>
          </a:p>
        </p:txBody>
      </p:sp>
      <p:grpSp>
        <p:nvGrpSpPr>
          <p:cNvPr id="42" name="Group 25">
            <a:extLst>
              <a:ext uri="{FF2B5EF4-FFF2-40B4-BE49-F238E27FC236}">
                <a16:creationId xmlns:a16="http://schemas.microsoft.com/office/drawing/2014/main" id="{269BA4E8-CBA1-17CF-4B27-5586E44C9042}"/>
              </a:ext>
            </a:extLst>
          </p:cNvPr>
          <p:cNvGrpSpPr/>
          <p:nvPr/>
        </p:nvGrpSpPr>
        <p:grpSpPr>
          <a:xfrm rot="5400000">
            <a:off x="5120631" y="4994015"/>
            <a:ext cx="301414" cy="601358"/>
            <a:chOff x="0" y="0"/>
            <a:chExt cx="452282" cy="902360"/>
          </a:xfrm>
        </p:grpSpPr>
        <p:sp>
          <p:nvSpPr>
            <p:cNvPr id="44"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6" name="TextBox 38">
            <a:extLst>
              <a:ext uri="{FF2B5EF4-FFF2-40B4-BE49-F238E27FC236}">
                <a16:creationId xmlns:a16="http://schemas.microsoft.com/office/drawing/2014/main" id="{5DBC0D5A-D55C-257A-51E2-CC2A6B58B8CE}"/>
              </a:ext>
            </a:extLst>
          </p:cNvPr>
          <p:cNvSpPr txBox="1"/>
          <p:nvPr/>
        </p:nvSpPr>
        <p:spPr>
          <a:xfrm>
            <a:off x="5836651" y="5015761"/>
            <a:ext cx="3788946" cy="846386"/>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公式</a:t>
            </a:r>
            <a:r>
              <a:rPr lang="en-US" altLang="ja-JP" sz="1554" b="1" dirty="0">
                <a:solidFill>
                  <a:srgbClr val="494848"/>
                </a:solidFill>
                <a:latin typeface="メイリオ" panose="020B0604030504040204" pitchFamily="50" charset="-128"/>
                <a:ea typeface="メイリオ" panose="020B0604030504040204" pitchFamily="50" charset="-128"/>
              </a:rPr>
              <a:t>LINE</a:t>
            </a:r>
            <a:r>
              <a:rPr lang="ja-JP" altLang="en-US" sz="1554" b="1" dirty="0">
                <a:solidFill>
                  <a:srgbClr val="494848"/>
                </a:solidFill>
                <a:latin typeface="メイリオ" panose="020B0604030504040204" pitchFamily="50" charset="-128"/>
                <a:ea typeface="メイリオ" panose="020B0604030504040204" pitchFamily="50" charset="-128"/>
              </a:rPr>
              <a:t>とチャットボットを連携し</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en-US" altLang="ja-JP" sz="1554" b="1" dirty="0">
                <a:solidFill>
                  <a:srgbClr val="494848"/>
                </a:solidFill>
                <a:latin typeface="メイリオ" panose="020B0604030504040204" pitchFamily="50" charset="-128"/>
                <a:ea typeface="メイリオ" panose="020B0604030504040204" pitchFamily="50" charset="-128"/>
              </a:rPr>
              <a:t>LINE</a:t>
            </a:r>
            <a:r>
              <a:rPr lang="ja-JP" altLang="en-US" sz="1554" b="1" dirty="0">
                <a:solidFill>
                  <a:srgbClr val="494848"/>
                </a:solidFill>
                <a:latin typeface="メイリオ" panose="020B0604030504040204" pitchFamily="50" charset="-128"/>
                <a:ea typeface="メイリオ" panose="020B0604030504040204" pitchFamily="50" charset="-128"/>
              </a:rPr>
              <a:t>上でも同じチャットボットを活用</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できる</a:t>
            </a:r>
            <a:endParaRPr lang="en-US" sz="1554" b="1" dirty="0">
              <a:solidFill>
                <a:srgbClr val="494848"/>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69276659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20026D-0FAA-76C0-699F-5C95EE2044C4}"/>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C5E2E585-BC17-9ECA-2598-27E9D406C15A}"/>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4" name="正方形/長方形 3">
            <a:extLst>
              <a:ext uri="{FF2B5EF4-FFF2-40B4-BE49-F238E27FC236}">
                <a16:creationId xmlns:a16="http://schemas.microsoft.com/office/drawing/2014/main" id="{E05B90A4-AED6-B19A-AEE0-64B5142381A5}"/>
              </a:ext>
            </a:extLst>
          </p:cNvPr>
          <p:cNvSpPr/>
          <p:nvPr/>
        </p:nvSpPr>
        <p:spPr>
          <a:xfrm>
            <a:off x="209578" y="1455366"/>
            <a:ext cx="7689926"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コール</a:t>
            </a:r>
            <a:r>
              <a:rPr lang="en-US" altLang="ja-JP" sz="1600" b="1" dirty="0">
                <a:solidFill>
                  <a:schemeClr val="tx1">
                    <a:lumMod val="65000"/>
                    <a:lumOff val="35000"/>
                  </a:schemeClr>
                </a:solidFill>
                <a:latin typeface="Meiryo"/>
                <a:ea typeface="Meiryo"/>
                <a:cs typeface="Meiryo"/>
                <a:sym typeface="Meiryo"/>
              </a:rPr>
              <a:t>Plus</a:t>
            </a:r>
            <a:r>
              <a:rPr lang="ja-JP" altLang="en-US" sz="1600" b="1" dirty="0">
                <a:solidFill>
                  <a:schemeClr val="tx1">
                    <a:lumMod val="65000"/>
                    <a:lumOff val="35000"/>
                  </a:schemeClr>
                </a:solidFill>
                <a:latin typeface="Meiryo"/>
                <a:ea typeface="Meiryo"/>
                <a:cs typeface="Meiryo"/>
                <a:sym typeface="Meiryo"/>
              </a:rPr>
              <a:t>」は、</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公式アカウントの有料オプション機能で、</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公式アカウントからユーザーがカスタマーサポートに電話できるサービス。</a:t>
            </a:r>
            <a:endParaRPr lang="en-US" altLang="ja-JP" sz="1600" b="1" dirty="0">
              <a:solidFill>
                <a:schemeClr val="tx1">
                  <a:lumMod val="65000"/>
                  <a:lumOff val="35000"/>
                </a:schemeClr>
              </a:solidFill>
              <a:latin typeface="Meiryo"/>
              <a:ea typeface="Meiryo"/>
              <a:cs typeface="Meiryo"/>
              <a:sym typeface="Meiryo"/>
            </a:endParaRPr>
          </a:p>
        </p:txBody>
      </p:sp>
      <p:sp>
        <p:nvSpPr>
          <p:cNvPr id="5" name="正方形/長方形 4">
            <a:extLst>
              <a:ext uri="{FF2B5EF4-FFF2-40B4-BE49-F238E27FC236}">
                <a16:creationId xmlns:a16="http://schemas.microsoft.com/office/drawing/2014/main" id="{381E56F1-6DB4-770A-F040-6633F4E7E2B0}"/>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a:t>
            </a:r>
            <a:r>
              <a:rPr lang="en-US" altLang="ja-JP" sz="1600" b="1" dirty="0" err="1">
                <a:latin typeface="メイリオ" panose="020B0604030504040204" pitchFamily="50" charset="-128"/>
                <a:ea typeface="メイリオ" panose="020B0604030504040204" pitchFamily="50" charset="-128"/>
              </a:rPr>
              <a:t>LINE】Call</a:t>
            </a:r>
            <a:r>
              <a:rPr lang="en-US" altLang="ja-JP" sz="1600" b="1" dirty="0">
                <a:latin typeface="メイリオ" panose="020B0604030504040204" pitchFamily="50" charset="-128"/>
                <a:ea typeface="メイリオ" panose="020B0604030504040204" pitchFamily="50" charset="-128"/>
              </a:rPr>
              <a:t> Plus</a:t>
            </a:r>
          </a:p>
        </p:txBody>
      </p:sp>
      <p:pic>
        <p:nvPicPr>
          <p:cNvPr id="6" name="図 5">
            <a:extLst>
              <a:ext uri="{FF2B5EF4-FFF2-40B4-BE49-F238E27FC236}">
                <a16:creationId xmlns:a16="http://schemas.microsoft.com/office/drawing/2014/main" id="{A4DCE6F0-EC2D-892A-88B0-8516B660CB73}"/>
              </a:ext>
            </a:extLst>
          </p:cNvPr>
          <p:cNvPicPr>
            <a:picLocks noChangeAspect="1"/>
          </p:cNvPicPr>
          <p:nvPr/>
        </p:nvPicPr>
        <p:blipFill>
          <a:blip r:embed="rId2"/>
          <a:stretch>
            <a:fillRect/>
          </a:stretch>
        </p:blipFill>
        <p:spPr>
          <a:xfrm>
            <a:off x="668697" y="2287502"/>
            <a:ext cx="8332001" cy="2953508"/>
          </a:xfrm>
          <a:prstGeom prst="rect">
            <a:avLst/>
          </a:prstGeom>
        </p:spPr>
      </p:pic>
      <p:sp>
        <p:nvSpPr>
          <p:cNvPr id="7" name="角丸四角形 7">
            <a:extLst>
              <a:ext uri="{FF2B5EF4-FFF2-40B4-BE49-F238E27FC236}">
                <a16:creationId xmlns:a16="http://schemas.microsoft.com/office/drawing/2014/main" id="{D9E83488-E9DE-A2BA-7266-DA0D65822773}"/>
              </a:ext>
            </a:extLst>
          </p:cNvPr>
          <p:cNvSpPr/>
          <p:nvPr/>
        </p:nvSpPr>
        <p:spPr>
          <a:xfrm>
            <a:off x="548883" y="5241010"/>
            <a:ext cx="8720952" cy="1245629"/>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正方形/長方形 7">
            <a:extLst>
              <a:ext uri="{FF2B5EF4-FFF2-40B4-BE49-F238E27FC236}">
                <a16:creationId xmlns:a16="http://schemas.microsoft.com/office/drawing/2014/main" id="{71E1C361-AEEF-C8A2-A1E4-44AF984285D5}"/>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Meiryo"/>
                <a:ea typeface="Meiryo"/>
                <a:cs typeface="Meiryo"/>
                <a:sym typeface="Meiryo"/>
              </a:rPr>
              <a:t>引用：</a:t>
            </a:r>
            <a:r>
              <a:rPr lang="en-US" altLang="ja-JP" sz="1000" b="1" dirty="0">
                <a:solidFill>
                  <a:schemeClr val="tx1">
                    <a:lumMod val="65000"/>
                    <a:lumOff val="35000"/>
                  </a:schemeClr>
                </a:solidFill>
                <a:latin typeface="Meiryo"/>
                <a:ea typeface="Meiryo"/>
                <a:cs typeface="Meiryo"/>
                <a:sym typeface="Meiryo"/>
              </a:rPr>
              <a:t>https://prtimes.jp/main/html/rd/p/000003920.000001594.html</a:t>
            </a:r>
          </a:p>
        </p:txBody>
      </p:sp>
      <p:sp>
        <p:nvSpPr>
          <p:cNvPr id="9" name="正方形/長方形 8">
            <a:extLst>
              <a:ext uri="{FF2B5EF4-FFF2-40B4-BE49-F238E27FC236}">
                <a16:creationId xmlns:a16="http://schemas.microsoft.com/office/drawing/2014/main" id="{F798F716-4AF6-5FA7-044B-E98F33F1C04B}"/>
              </a:ext>
            </a:extLst>
          </p:cNvPr>
          <p:cNvSpPr/>
          <p:nvPr/>
        </p:nvSpPr>
        <p:spPr>
          <a:xfrm>
            <a:off x="859212" y="5571436"/>
            <a:ext cx="798949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さらに「</a:t>
            </a:r>
            <a:r>
              <a:rPr lang="en-US" altLang="ja-JP" sz="1600" b="1" dirty="0">
                <a:solidFill>
                  <a:schemeClr val="tx1">
                    <a:lumMod val="65000"/>
                    <a:lumOff val="35000"/>
                  </a:schemeClr>
                </a:solidFill>
                <a:latin typeface="Meiryo"/>
                <a:ea typeface="Meiryo"/>
                <a:cs typeface="Meiryo"/>
                <a:sym typeface="Meiryo"/>
              </a:rPr>
              <a:t>LINE Ai Call</a:t>
            </a:r>
            <a:r>
              <a:rPr lang="ja-JP" altLang="en-US" sz="1600" b="1" dirty="0">
                <a:solidFill>
                  <a:schemeClr val="tx1">
                    <a:lumMod val="65000"/>
                    <a:lumOff val="35000"/>
                  </a:schemeClr>
                </a:solidFill>
                <a:latin typeface="Meiryo"/>
                <a:ea typeface="Meiryo"/>
                <a:cs typeface="Meiryo"/>
                <a:sym typeface="Meiryo"/>
              </a:rPr>
              <a:t>」を活用するとユーザーの要望に対して</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による自然な</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対話応答が可能に。要件に応じて</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と有人オペレータの振り分け業務効率化を支援。</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25245541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1520D-5D7C-2BDD-908B-6251C4BD5729}"/>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D9975C92-DB69-EFCA-815F-DEDCC99A793F}"/>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5" name="正方形/長方形 4">
            <a:extLst>
              <a:ext uri="{FF2B5EF4-FFF2-40B4-BE49-F238E27FC236}">
                <a16:creationId xmlns:a16="http://schemas.microsoft.com/office/drawing/2014/main" id="{B925A5A4-A739-9AD7-5D18-2E4781D36898}"/>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でログイン</a:t>
            </a:r>
            <a:endParaRPr lang="en-US" altLang="ja-JP" sz="1600" b="1"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7C64DE5F-370C-8EB5-6D0C-7DDEB12A3E16}"/>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Meiryo"/>
                <a:ea typeface="Meiryo"/>
                <a:cs typeface="Meiryo"/>
                <a:sym typeface="Meiryo"/>
              </a:rPr>
              <a:t>引用：</a:t>
            </a:r>
            <a:r>
              <a:rPr lang="en-US" altLang="ja-JP" sz="1000" b="1" dirty="0">
                <a:solidFill>
                  <a:schemeClr val="tx1">
                    <a:lumMod val="65000"/>
                    <a:lumOff val="35000"/>
                  </a:schemeClr>
                </a:solidFill>
                <a:latin typeface="Meiryo"/>
                <a:ea typeface="Meiryo"/>
                <a:cs typeface="Meiryo"/>
                <a:sym typeface="Meiryo"/>
              </a:rPr>
              <a:t>https://prtimes.jp/main/html/rd/p/000003920.000001594.html</a:t>
            </a:r>
          </a:p>
        </p:txBody>
      </p:sp>
      <p:pic>
        <p:nvPicPr>
          <p:cNvPr id="3" name="図 2">
            <a:extLst>
              <a:ext uri="{FF2B5EF4-FFF2-40B4-BE49-F238E27FC236}">
                <a16:creationId xmlns:a16="http://schemas.microsoft.com/office/drawing/2014/main" id="{2F4170E7-BAC4-FD12-01C2-903FF75F192F}"/>
              </a:ext>
            </a:extLst>
          </p:cNvPr>
          <p:cNvPicPr>
            <a:picLocks noChangeAspect="1"/>
          </p:cNvPicPr>
          <p:nvPr/>
        </p:nvPicPr>
        <p:blipFill>
          <a:blip r:embed="rId2"/>
          <a:stretch>
            <a:fillRect/>
          </a:stretch>
        </p:blipFill>
        <p:spPr>
          <a:xfrm>
            <a:off x="414007" y="1995020"/>
            <a:ext cx="9077986" cy="4550342"/>
          </a:xfrm>
          <a:prstGeom prst="rect">
            <a:avLst/>
          </a:prstGeom>
        </p:spPr>
      </p:pic>
      <p:sp>
        <p:nvSpPr>
          <p:cNvPr id="4" name="正方形/長方形 3">
            <a:extLst>
              <a:ext uri="{FF2B5EF4-FFF2-40B4-BE49-F238E27FC236}">
                <a16:creationId xmlns:a16="http://schemas.microsoft.com/office/drawing/2014/main" id="{33EC1AF8-7A08-D8F6-3DC4-3EBE18410E78}"/>
              </a:ext>
            </a:extLst>
          </p:cNvPr>
          <p:cNvSpPr/>
          <p:nvPr/>
        </p:nvSpPr>
        <p:spPr>
          <a:xfrm>
            <a:off x="209578" y="1455366"/>
            <a:ext cx="8925841"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でログイン」は、</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上のユーザー情報を活用して</a:t>
            </a:r>
            <a:r>
              <a:rPr lang="en-US" altLang="ja-JP" sz="1600" b="1" dirty="0">
                <a:solidFill>
                  <a:schemeClr val="tx1">
                    <a:lumMod val="65000"/>
                    <a:lumOff val="35000"/>
                  </a:schemeClr>
                </a:solidFill>
                <a:latin typeface="Meiryo"/>
                <a:ea typeface="Meiryo"/>
                <a:cs typeface="Meiryo"/>
                <a:sym typeface="Meiryo"/>
              </a:rPr>
              <a:t>WEB</a:t>
            </a:r>
            <a:r>
              <a:rPr lang="ja-JP" altLang="en-US" sz="1600" b="1" dirty="0">
                <a:solidFill>
                  <a:schemeClr val="tx1">
                    <a:lumMod val="65000"/>
                    <a:lumOff val="35000"/>
                  </a:schemeClr>
                </a:solidFill>
                <a:latin typeface="Meiryo"/>
                <a:ea typeface="Meiryo"/>
                <a:cs typeface="Meiryo"/>
                <a:sym typeface="Meiryo"/>
              </a:rPr>
              <a:t>サイト登録が出来る仕組み。</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ID</a:t>
            </a:r>
            <a:r>
              <a:rPr lang="ja-JP" altLang="en-US" sz="1600" b="1" dirty="0">
                <a:solidFill>
                  <a:schemeClr val="tx1">
                    <a:lumMod val="65000"/>
                    <a:lumOff val="35000"/>
                  </a:schemeClr>
                </a:solidFill>
                <a:latin typeface="Meiryo"/>
                <a:ea typeface="Meiryo"/>
                <a:cs typeface="Meiryo"/>
                <a:sym typeface="Meiryo"/>
              </a:rPr>
              <a:t>連携を完了することにより、サービス</a:t>
            </a:r>
            <a:r>
              <a:rPr lang="en-US" altLang="ja-JP" sz="1600" b="1" dirty="0">
                <a:solidFill>
                  <a:schemeClr val="tx1">
                    <a:lumMod val="65000"/>
                    <a:lumOff val="35000"/>
                  </a:schemeClr>
                </a:solidFill>
                <a:latin typeface="Meiryo"/>
                <a:ea typeface="Meiryo"/>
                <a:cs typeface="Meiryo"/>
                <a:sym typeface="Meiryo"/>
              </a:rPr>
              <a:t>(WEB) </a:t>
            </a:r>
            <a:r>
              <a:rPr lang="ja-JP" altLang="en-US" sz="1600" b="1" dirty="0">
                <a:solidFill>
                  <a:schemeClr val="tx1">
                    <a:lumMod val="65000"/>
                    <a:lumOff val="35000"/>
                  </a:schemeClr>
                </a:solidFill>
                <a:latin typeface="Meiryo"/>
                <a:ea typeface="Meiryo"/>
                <a:cs typeface="Meiryo"/>
                <a:sym typeface="Meiryo"/>
              </a:rPr>
              <a:t>⇔ </a:t>
            </a:r>
            <a:r>
              <a:rPr lang="en-US" altLang="ja-JP" sz="1600" b="1" dirty="0">
                <a:solidFill>
                  <a:schemeClr val="tx1">
                    <a:lumMod val="65000"/>
                    <a:lumOff val="35000"/>
                  </a:schemeClr>
                </a:solidFill>
                <a:latin typeface="Meiryo"/>
                <a:ea typeface="Meiryo"/>
                <a:cs typeface="Meiryo"/>
                <a:sym typeface="Meiryo"/>
              </a:rPr>
              <a:t>LINE </a:t>
            </a:r>
            <a:r>
              <a:rPr lang="ja-JP" altLang="en-US" sz="1600" b="1" dirty="0">
                <a:solidFill>
                  <a:schemeClr val="tx1">
                    <a:lumMod val="65000"/>
                    <a:lumOff val="35000"/>
                  </a:schemeClr>
                </a:solidFill>
                <a:latin typeface="Meiryo"/>
                <a:ea typeface="Meiryo"/>
                <a:cs typeface="Meiryo"/>
                <a:sym typeface="Meiryo"/>
              </a:rPr>
              <a:t>での効果的なメッセージが可能に。</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419406833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オフライン動線</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400" b="1" dirty="0">
                <a:solidFill>
                  <a:srgbClr val="002060"/>
                </a:solidFill>
                <a:latin typeface="Meiryo"/>
                <a:ea typeface="Meiryo"/>
                <a:cs typeface="Meiryo"/>
                <a:sym typeface="Meiryo"/>
              </a:rPr>
              <a:t>ニュースリリース等</a:t>
            </a:r>
            <a:endParaRPr lang="en-US" altLang="ja-JP" sz="1400" b="1" dirty="0">
              <a:solidFill>
                <a:srgbClr val="002060"/>
              </a:solidFill>
              <a:latin typeface="Meiryo"/>
              <a:ea typeface="Meiryo"/>
              <a:cs typeface="Meiryo"/>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WEB</a:t>
            </a:r>
            <a:r>
              <a:rPr lang="ja-JP" altLang="en-US" sz="2000" b="1" dirty="0">
                <a:solidFill>
                  <a:srgbClr val="002060"/>
                </a:solidFill>
                <a:latin typeface="Meiryo"/>
                <a:ea typeface="Meiryo"/>
                <a:cs typeface="Meiryo"/>
                <a:sym typeface="Meiryo"/>
              </a:rPr>
              <a:t>サイト動線整備</a:t>
            </a:r>
            <a:endParaRPr lang="en-US" altLang="ja-JP" sz="2000" b="1" dirty="0">
              <a:solidFill>
                <a:srgbClr val="002060"/>
              </a:solidFill>
              <a:latin typeface="Meiryo"/>
              <a:ea typeface="Meiryo"/>
              <a:cs typeface="Meiryo"/>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友だち紹介</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200" b="1" dirty="0">
                <a:solidFill>
                  <a:srgbClr val="002060"/>
                </a:solidFill>
                <a:latin typeface="Meiryo"/>
                <a:ea typeface="Meiryo"/>
                <a:cs typeface="Meiryo"/>
                <a:sym typeface="Meiryo"/>
              </a:rPr>
              <a:t>（</a:t>
            </a:r>
            <a:r>
              <a:rPr lang="en-US" altLang="ja-JP" sz="1200" b="1" dirty="0">
                <a:solidFill>
                  <a:srgbClr val="002060"/>
                </a:solidFill>
                <a:latin typeface="Meiryo"/>
                <a:ea typeface="Meiryo"/>
                <a:cs typeface="Meiryo"/>
                <a:sym typeface="Meiryo"/>
              </a:rPr>
              <a:t>LINE</a:t>
            </a:r>
            <a:r>
              <a:rPr lang="ja-JP" altLang="en-US" sz="1200" b="1" dirty="0">
                <a:solidFill>
                  <a:srgbClr val="002060"/>
                </a:solidFill>
                <a:latin typeface="Meiryo"/>
                <a:ea typeface="Meiryo"/>
                <a:cs typeface="Meiryo"/>
                <a:sym typeface="Meiryo"/>
              </a:rPr>
              <a:t>ポイントコネクト）</a:t>
            </a:r>
            <a:endParaRPr lang="en-US" altLang="ja-JP" sz="1200" b="1" dirty="0">
              <a:solidFill>
                <a:srgbClr val="002060"/>
              </a:solidFill>
              <a:latin typeface="Meiryo"/>
              <a:ea typeface="Meiryo"/>
              <a:cs typeface="Meiryo"/>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ポイント</a:t>
            </a:r>
            <a:r>
              <a:rPr lang="en-US" altLang="ja-JP" sz="2000" b="1" dirty="0">
                <a:solidFill>
                  <a:srgbClr val="002060"/>
                </a:solidFill>
                <a:latin typeface="Meiryo"/>
                <a:ea typeface="Meiryo"/>
                <a:cs typeface="Meiryo"/>
                <a:sym typeface="Meiryo"/>
              </a:rPr>
              <a:t>Ads</a:t>
            </a:r>
            <a:endParaRPr lang="en-US" altLang="ja-JP" sz="1400" b="1" dirty="0">
              <a:solidFill>
                <a:srgbClr val="002060"/>
              </a:solidFill>
              <a:latin typeface="Meiryo"/>
              <a:ea typeface="Meiryo"/>
              <a:cs typeface="Meiryo"/>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スタンプ施策</a:t>
            </a:r>
            <a:endParaRPr lang="en-US" altLang="ja-JP" sz="2000" b="1" dirty="0">
              <a:solidFill>
                <a:srgbClr val="002060"/>
              </a:solidFill>
              <a:latin typeface="Meiryo"/>
              <a:ea typeface="Meiryo"/>
              <a:cs typeface="Meiryo"/>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1200" b="1" dirty="0">
              <a:solidFill>
                <a:srgbClr val="002060"/>
              </a:solidFill>
              <a:latin typeface="Meiryo"/>
              <a:ea typeface="Meiryo"/>
              <a:cs typeface="Meiryo"/>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Meiryo"/>
                <a:ea typeface="Meiryo"/>
                <a:sym typeface="Meiryo"/>
              </a:rPr>
              <a:t>サービス停止中</a:t>
            </a:r>
            <a:endParaRPr lang="ja-JP" altLang="en-US" b="1" dirty="0">
              <a:solidFill>
                <a:schemeClr val="tx1">
                  <a:lumMod val="50000"/>
                  <a:lumOff val="50000"/>
                </a:schemeClr>
              </a:solidFill>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a:t>
            </a:r>
            <a:r>
              <a:rPr lang="en-US" altLang="ja-JP" sz="1200" dirty="0">
                <a:latin typeface="Meiryo"/>
                <a:ea typeface="Meiryo"/>
                <a:sym typeface="Meiryo"/>
              </a:rPr>
              <a:t>1</a:t>
            </a:r>
            <a:r>
              <a:rPr lang="ja-JP" altLang="en-US" sz="1200" dirty="0">
                <a:latin typeface="Meiryo"/>
                <a:ea typeface="Meiryo"/>
                <a:sym typeface="Meiryo"/>
              </a:rPr>
              <a:t>ヶ月</a:t>
            </a:r>
            <a:r>
              <a:rPr lang="en-US" altLang="ja-JP" sz="1200" dirty="0">
                <a:latin typeface="Meiryo"/>
                <a:ea typeface="Meiryo"/>
                <a:sym typeface="Meiryo"/>
              </a:rPr>
              <a:t>~</a:t>
            </a:r>
            <a:r>
              <a:rPr lang="ja-JP" altLang="en-US" sz="1200" dirty="0">
                <a:latin typeface="Meiryo"/>
                <a:ea typeface="Meiryo"/>
                <a:sym typeface="Meiryo"/>
              </a:rPr>
              <a:t>）</a:t>
            </a:r>
            <a:endParaRPr lang="ja-JP" altLang="en-US" sz="2000" dirty="0">
              <a:solidFill>
                <a:srgbClr val="FF0000"/>
              </a:solidFill>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600" b="1" dirty="0">
                <a:solidFill>
                  <a:schemeClr val="tx1">
                    <a:lumMod val="65000"/>
                    <a:lumOff val="35000"/>
                  </a:schemeClr>
                </a:solidFill>
                <a:latin typeface="Meiryo"/>
                <a:ea typeface="Meiryo"/>
                <a:cs typeface="Meiryo"/>
                <a:sym typeface="Meiryo"/>
              </a:rPr>
              <a:t>各拡張施策についても</a:t>
            </a:r>
            <a:r>
              <a:rPr lang="en-US" altLang="ja-JP" sz="1600" b="1" dirty="0">
                <a:solidFill>
                  <a:schemeClr val="tx1">
                    <a:lumMod val="65000"/>
                    <a:lumOff val="35000"/>
                  </a:schemeClr>
                </a:solidFill>
                <a:latin typeface="Meiryo"/>
                <a:ea typeface="Meiryo"/>
                <a:cs typeface="Meiryo"/>
                <a:sym typeface="Meiryo"/>
              </a:rPr>
              <a:t>MIN</a:t>
            </a:r>
            <a:r>
              <a:rPr lang="ja-JP" altLang="en-US" sz="1600" b="1" dirty="0">
                <a:solidFill>
                  <a:schemeClr val="tx1">
                    <a:lumMod val="65000"/>
                    <a:lumOff val="35000"/>
                  </a:schemeClr>
                </a:solidFill>
                <a:latin typeface="Meiryo"/>
                <a:ea typeface="Meiryo"/>
                <a:cs typeface="Meiryo"/>
                <a:sym typeface="Meiryo"/>
              </a:rPr>
              <a:t>金額からの発注、動線設計が可能です。</a:t>
            </a:r>
            <a:endParaRPr lang="en-US" altLang="ja-JP" sz="1600" b="1" dirty="0">
              <a:solidFill>
                <a:schemeClr val="tx1">
                  <a:lumMod val="65000"/>
                  <a:lumOff val="35000"/>
                </a:schemeClr>
              </a:solidFill>
              <a:latin typeface="Meiryo"/>
              <a:ea typeface="Meiryo"/>
              <a:cs typeface="Meiryo"/>
              <a:sym typeface="Meiryo"/>
            </a:endParaRPr>
          </a:p>
          <a:p>
            <a:pPr lvl="0" algn="ctr">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300670347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0CEAE-3814-32E7-D45E-2C4EC8610FF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広告</a:t>
            </a:r>
            <a:r>
              <a:rPr lang="ja-JP" altLang="en-US" sz="1200" b="1" dirty="0">
                <a:latin typeface="メイリオ" panose="020B0604030504040204" pitchFamily="50" charset="-128"/>
                <a:ea typeface="メイリオ" panose="020B0604030504040204" pitchFamily="50" charset="-128"/>
              </a:rPr>
              <a:t>（友だち追加）</a:t>
            </a:r>
            <a:endParaRPr lang="en-US" altLang="ja-JP" sz="1200" b="1" dirty="0">
              <a:latin typeface="メイリオ" panose="020B0604030504040204" pitchFamily="50" charset="-128"/>
              <a:ea typeface="メイリオ" panose="020B0604030504040204" pitchFamily="50" charset="-128"/>
            </a:endParaRPr>
          </a:p>
          <a:p>
            <a:pPr algn="ctr"/>
            <a:r>
              <a:rPr lang="en-US" altLang="ja-JP" sz="1200" b="1" dirty="0">
                <a:solidFill>
                  <a:srgbClr val="FFFF00"/>
                </a:solidFill>
                <a:latin typeface="メイリオ" panose="020B0604030504040204" pitchFamily="50" charset="-128"/>
                <a:ea typeface="メイリオ" panose="020B0604030504040204" pitchFamily="50" charset="-128"/>
              </a:rPr>
              <a:t>※CPF</a:t>
            </a:r>
            <a:r>
              <a:rPr lang="ja-JP" altLang="en-US" sz="1200" b="1" dirty="0">
                <a:solidFill>
                  <a:srgbClr val="FFFF00"/>
                </a:solidFill>
                <a:latin typeface="メイリオ" panose="020B0604030504040204" pitchFamily="50" charset="-128"/>
                <a:ea typeface="メイリオ" panose="020B0604030504040204" pitchFamily="50" charset="-128"/>
              </a:rPr>
              <a:t>広告</a:t>
            </a:r>
            <a:r>
              <a:rPr lang="en-US" altLang="ja-JP" sz="1200" b="1" dirty="0">
                <a:solidFill>
                  <a:srgbClr val="FFFF00"/>
                </a:solidFill>
                <a:latin typeface="メイリオ" panose="020B0604030504040204" pitchFamily="50" charset="-128"/>
                <a:ea typeface="メイリオ" panose="020B0604030504040204" pitchFamily="50" charset="-128"/>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公式アカウントの友だちを増やすための広告を、</a:t>
            </a:r>
            <a:br>
              <a:rPr lang="en-US" altLang="ja-JP" sz="1600" b="1" dirty="0">
                <a:solidFill>
                  <a:schemeClr val="tx1">
                    <a:lumMod val="65000"/>
                    <a:lumOff val="35000"/>
                  </a:schemeClr>
                </a:solidFill>
                <a:latin typeface="Meiryo"/>
                <a:ea typeface="Meiryo"/>
                <a:cs typeface="Meiryo"/>
                <a:sym typeface="Meiryo"/>
              </a:rPr>
            </a:b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広告の管理画面より</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アプリ内で掲載できる機能。</a:t>
            </a:r>
            <a:endParaRPr lang="en-US" altLang="ja-JP" sz="1600" b="1" dirty="0">
              <a:solidFill>
                <a:schemeClr val="tx1">
                  <a:lumMod val="65000"/>
                  <a:lumOff val="35000"/>
                </a:schemeClr>
              </a:solidFill>
              <a:latin typeface="Meiryo"/>
              <a:ea typeface="Meiryo"/>
              <a:cs typeface="Meiryo"/>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en-US" altLang="ja-JP" sz="1200" b="1" dirty="0">
                  <a:solidFill>
                    <a:srgbClr val="0070C0"/>
                  </a:solidFill>
                  <a:latin typeface="Meiryo"/>
                  <a:ea typeface="Meiryo"/>
                  <a:cs typeface="Meiryo"/>
                  <a:sym typeface="Meiryo"/>
                </a:rPr>
                <a:t>LINE</a:t>
              </a:r>
              <a:r>
                <a:rPr lang="ja-JP" altLang="en-US" sz="1200" b="1" dirty="0">
                  <a:solidFill>
                    <a:srgbClr val="0070C0"/>
                  </a:solidFill>
                  <a:latin typeface="Meiryo"/>
                  <a:ea typeface="Meiryo"/>
                  <a:cs typeface="Meiryo"/>
                  <a:sym typeface="Meiryo"/>
                </a:rPr>
                <a:t>公式アカウントまでの導線</a:t>
              </a:r>
              <a:endParaRPr lang="en-US" altLang="ja-JP" sz="1200" b="1" dirty="0">
                <a:solidFill>
                  <a:srgbClr val="0070C0"/>
                </a:solidFill>
                <a:latin typeface="Meiryo"/>
                <a:ea typeface="Meiryo"/>
                <a:cs typeface="Meiryo"/>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200" b="1" dirty="0">
                  <a:solidFill>
                    <a:srgbClr val="0070C0"/>
                  </a:solidFill>
                  <a:latin typeface="Meiryo"/>
                  <a:ea typeface="Meiryo"/>
                  <a:cs typeface="Meiryo"/>
                  <a:sym typeface="Meiryo"/>
                </a:rPr>
                <a:t>「友だち追加広告」との違い</a:t>
              </a:r>
              <a:endParaRPr lang="en-US" altLang="ja-JP" sz="1200" b="1" dirty="0">
                <a:solidFill>
                  <a:srgbClr val="0070C0"/>
                </a:solidFill>
                <a:latin typeface="Meiryo"/>
                <a:ea typeface="Meiryo"/>
                <a:cs typeface="Meiryo"/>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kumimoji="1" lang="en-US" altLang="ja-JP" sz="1200" dirty="0">
                <a:latin typeface="メイリオ" panose="020B0604030504040204" pitchFamily="50" charset="-128"/>
                <a:ea typeface="メイリオ" panose="020B0604030504040204" pitchFamily="50" charset="-128"/>
              </a:rPr>
              <a:t>LINE</a:t>
            </a:r>
            <a:r>
              <a:rPr kumimoji="1" lang="ja-JP" altLang="en-US" sz="1200" dirty="0">
                <a:latin typeface="メイリオ" panose="020B0604030504040204" pitchFamily="50" charset="-128"/>
                <a:ea typeface="メイリオ" panose="020B0604030504040204" pitchFamily="50" charset="-128"/>
              </a:rPr>
              <a:t>アプリ内から</a:t>
            </a:r>
            <a:br>
              <a:rPr kumimoji="1" lang="en-US" altLang="ja-JP" sz="1200" dirty="0">
                <a:latin typeface="メイリオ" panose="020B0604030504040204" pitchFamily="50" charset="-128"/>
                <a:ea typeface="メイリオ" panose="020B0604030504040204" pitchFamily="50" charset="-128"/>
              </a:rPr>
            </a:br>
            <a:r>
              <a:rPr kumimoji="1" lang="ja-JP" altLang="en-US" sz="1200" dirty="0">
                <a:latin typeface="メイリオ" panose="020B0604030504040204" pitchFamily="50" charset="-128"/>
                <a:ea typeface="メイリオ" panose="020B0604030504040204" pitchFamily="50" charset="-128"/>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600" b="1" dirty="0">
                <a:solidFill>
                  <a:srgbClr val="33CC33"/>
                </a:solidFill>
                <a:latin typeface="メイリオ" panose="020B0604030504040204" pitchFamily="50" charset="-128"/>
                <a:ea typeface="メイリオ" panose="020B0604030504040204" pitchFamily="50" charset="-128"/>
              </a:rPr>
              <a:t>直接</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200" dirty="0">
                <a:latin typeface="メイリオ" panose="020B0604030504040204" pitchFamily="50" charset="-128"/>
                <a:ea typeface="メイリオ" panose="020B0604030504040204" pitchFamily="50" charset="-128"/>
              </a:rPr>
              <a:t>誘導</a:t>
            </a:r>
            <a:endParaRPr kumimoji="1" lang="en-US" altLang="ja-JP"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70600817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143132</TotalTime>
  <Words>6356</Words>
  <Application>Microsoft Office PowerPoint</Application>
  <PresentationFormat>A4 210 x 297 mm</PresentationFormat>
  <Paragraphs>1611</Paragraphs>
  <Slides>59</Slides>
  <Notes>28</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59</vt:i4>
      </vt:variant>
    </vt:vector>
  </HeadingPairs>
  <TitlesOfParts>
    <vt:vector size="66" baseType="lpstr">
      <vt:lpstr>メイリオ</vt:lpstr>
      <vt:lpstr>メイリオ</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1954</cp:revision>
  <cp:lastPrinted>2022-11-01T11:38:14Z</cp:lastPrinted>
  <dcterms:created xsi:type="dcterms:W3CDTF">2015-09-04T09:21:15Z</dcterms:created>
  <dcterms:modified xsi:type="dcterms:W3CDTF">2026-09-24T02:24:12Z</dcterms:modified>
</cp:coreProperties>
</file>