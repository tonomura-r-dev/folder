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2"/>
  </p:notesMasterIdLst>
  <p:handoutMasterIdLst>
    <p:handoutMasterId r:id="rId63"/>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2908" r:id="rId23"/>
    <p:sldId id="2998" r:id="rId24"/>
    <p:sldId id="2990" r:id="rId25"/>
    <p:sldId id="3005" r:id="rId26"/>
    <p:sldId id="2986" r:id="rId27"/>
    <p:sldId id="3006" r:id="rId28"/>
    <p:sldId id="2991" r:id="rId29"/>
    <p:sldId id="2737" r:id="rId30"/>
    <p:sldId id="2989" r:id="rId31"/>
    <p:sldId id="2563" r:id="rId32"/>
    <p:sldId id="2959" r:id="rId33"/>
    <p:sldId id="2970" r:id="rId34"/>
    <p:sldId id="2968" r:id="rId35"/>
    <p:sldId id="2969" r:id="rId36"/>
    <p:sldId id="2639" r:id="rId37"/>
    <p:sldId id="2957" r:id="rId38"/>
    <p:sldId id="2951" r:id="rId39"/>
    <p:sldId id="2841" r:id="rId40"/>
    <p:sldId id="2734" r:id="rId41"/>
    <p:sldId id="2595" r:id="rId42"/>
    <p:sldId id="2566" r:id="rId43"/>
    <p:sldId id="2915" r:id="rId44"/>
    <p:sldId id="2619" r:id="rId45"/>
    <p:sldId id="2761" r:id="rId46"/>
    <p:sldId id="2935" r:id="rId47"/>
    <p:sldId id="2919" r:id="rId48"/>
    <p:sldId id="2519" r:id="rId49"/>
    <p:sldId id="2931" r:id="rId50"/>
    <p:sldId id="2749" r:id="rId51"/>
    <p:sldId id="2950" r:id="rId52"/>
    <p:sldId id="2961" r:id="rId53"/>
    <p:sldId id="2849" r:id="rId54"/>
    <p:sldId id="2904" r:id="rId55"/>
    <p:sldId id="2905" r:id="rId56"/>
    <p:sldId id="2906" r:id="rId57"/>
    <p:sldId id="2907" r:id="rId58"/>
    <p:sldId id="2575" r:id="rId59"/>
    <p:sldId id="2910" r:id="rId60"/>
    <p:sldId id="1169" r:id="rId6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59</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jpe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jpeg"/><Relationship Id="rId7" Type="http://schemas.openxmlformats.org/officeDocument/2006/relationships/image" Target="../media/image35.png"/><Relationship Id="rId2" Type="http://schemas.openxmlformats.org/officeDocument/2006/relationships/image" Target="../media/image30.jpeg"/><Relationship Id="rId1" Type="http://schemas.openxmlformats.org/officeDocument/2006/relationships/slideLayout" Target="../slideLayouts/slideLayout2.xml"/><Relationship Id="rId6" Type="http://schemas.openxmlformats.org/officeDocument/2006/relationships/image" Target="../media/image34.jpeg"/><Relationship Id="rId5" Type="http://schemas.openxmlformats.org/officeDocument/2006/relationships/image" Target="../media/image33.png"/><Relationship Id="rId10" Type="http://schemas.openxmlformats.org/officeDocument/2006/relationships/image" Target="../media/image38.jpeg"/><Relationship Id="rId4" Type="http://schemas.openxmlformats.org/officeDocument/2006/relationships/image" Target="../media/image32.png"/><Relationship Id="rId9"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5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5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image" Target="../media/image3.emf"/><Relationship Id="rId7" Type="http://schemas.openxmlformats.org/officeDocument/2006/relationships/image" Target="../media/image77.jpe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76.jpeg"/><Relationship Id="rId5" Type="http://schemas.openxmlformats.org/officeDocument/2006/relationships/image" Target="../media/image75.jpeg"/><Relationship Id="rId4" Type="http://schemas.openxmlformats.org/officeDocument/2006/relationships/image" Target="../media/image7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584775"/>
          </a:xfrm>
          <a:prstGeom prst="rect">
            <a:avLst/>
          </a:prstGeom>
          <a:noFill/>
        </p:spPr>
        <p:txBody>
          <a:bodyPr wrap="square">
            <a:spAutoFit/>
          </a:bodyPr>
          <a:lstStyle/>
          <a:p>
            <a:pPr algn="ctr"/>
            <a:r>
              <a:rPr sz="1600" b="0" dirty="0" err="1">
                <a:solidFill>
                  <a:srgbClr val="333333"/>
                </a:solidFill>
                <a:latin typeface="メイリオ"/>
                <a:ea typeface="メイリオ"/>
                <a:cs typeface="メイリオ"/>
              </a:rPr>
              <a:t>一度つながれば、接点を持ち続けられる。情報を渡し続けられる</a:t>
            </a:r>
            <a:r>
              <a:rPr sz="1600" b="0" dirty="0">
                <a:solidFill>
                  <a:srgbClr val="333333"/>
                </a:solidFill>
                <a:latin typeface="メイリオ"/>
                <a:ea typeface="メイリオ"/>
                <a:cs typeface="メイリオ"/>
              </a:rPr>
              <a:t>。</a:t>
            </a:r>
          </a:p>
          <a:p>
            <a:pPr algn="ctr"/>
            <a:r>
              <a:rPr sz="1600" b="0" dirty="0" err="1">
                <a:solidFill>
                  <a:srgbClr val="333333"/>
                </a:solidFill>
                <a:latin typeface="メイリオ"/>
                <a:ea typeface="メイリオ"/>
                <a:cs typeface="メイリオ"/>
              </a:rPr>
              <a:t>体験予約で終わらず、来場</a:t>
            </a:r>
            <a:r>
              <a:rPr sz="1600" b="0" dirty="0">
                <a:solidFill>
                  <a:srgbClr val="333333"/>
                </a:solidFill>
                <a:latin typeface="メイリオ"/>
                <a:ea typeface="メイリオ"/>
                <a:cs typeface="メイリオ"/>
              </a:rPr>
              <a:t> → </a:t>
            </a:r>
            <a:r>
              <a:rPr sz="1600" b="0" dirty="0" err="1">
                <a:solidFill>
                  <a:srgbClr val="333333"/>
                </a:solidFill>
                <a:latin typeface="メイリオ"/>
                <a:ea typeface="メイリオ"/>
                <a:cs typeface="メイリオ"/>
              </a:rPr>
              <a:t>入会</a:t>
            </a:r>
            <a:r>
              <a:rPr sz="1600" b="0" dirty="0">
                <a:solidFill>
                  <a:srgbClr val="333333"/>
                </a:solidFill>
                <a:latin typeface="メイリオ"/>
                <a:ea typeface="メイリオ"/>
                <a:cs typeface="メイリオ"/>
              </a:rPr>
              <a:t> → </a:t>
            </a:r>
            <a:r>
              <a:rPr sz="1600" b="0" dirty="0" err="1">
                <a:solidFill>
                  <a:srgbClr val="333333"/>
                </a:solidFill>
                <a:latin typeface="メイリオ"/>
                <a:ea typeface="メイリオ"/>
                <a:cs typeface="メイリオ"/>
              </a:rPr>
              <a:t>継続まで並走できる</a:t>
            </a:r>
            <a:r>
              <a:rPr sz="1600" b="0" dirty="0">
                <a:solidFill>
                  <a:srgbClr val="333333"/>
                </a:solidFill>
                <a:latin typeface="メイリオ"/>
                <a:ea typeface="メイリオ"/>
                <a:cs typeface="メイリオ"/>
              </a:rPr>
              <a:t>——</a:t>
            </a:r>
            <a:r>
              <a:rPr sz="1600" b="0" dirty="0" err="1">
                <a:solidFill>
                  <a:srgbClr val="333333"/>
                </a:solidFill>
                <a:latin typeface="メイリオ"/>
                <a:ea typeface="メイリオ"/>
                <a:cs typeface="メイリオ"/>
              </a:rPr>
              <a:t>これがLINE最大の魅力です</a:t>
            </a:r>
            <a:r>
              <a:rPr sz="1600" b="0" dirty="0">
                <a:solidFill>
                  <a:srgbClr val="333333"/>
                </a:solidFill>
                <a:latin typeface="メイリオ"/>
                <a:ea typeface="メイリオ"/>
                <a:cs typeface="メイリオ"/>
              </a:rPr>
              <a:t>。</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4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42336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42245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52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52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52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dirty="0" err="1">
                          <a:solidFill>
                            <a:srgbClr val="FFFFFF"/>
                          </a:solidFill>
                          <a:latin typeface="Meiryo"/>
                          <a:ea typeface="メイリオ"/>
                          <a:cs typeface="Meiryo"/>
                        </a:rPr>
                        <a:t>LINE公式アカウント</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忍者ナインとの比較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Meiryo"/>
                          <a:ea typeface="メイリオ"/>
                          <a:cs typeface="Meiryo"/>
                        </a:rPr>
                        <a:t>コナミスポーツクラブ</a:t>
                      </a:r>
                      <a:r>
                        <a:rPr sz="1200" b="0" dirty="0">
                          <a:solidFill>
                            <a:srgbClr val="333333"/>
                          </a:solidFill>
                          <a:latin typeface="Meiryo"/>
                          <a:ea typeface="メイリオ"/>
                          <a:cs typeface="Meiryo"/>
                        </a:rPr>
                        <a:t> </a:t>
                      </a:r>
                      <a:r>
                        <a:rPr sz="1200" b="0" dirty="0" err="1">
                          <a:solidFill>
                            <a:srgbClr val="333333"/>
                          </a:solidFill>
                          <a:latin typeface="Meiryo"/>
                          <a:ea typeface="メイリオ"/>
                          <a:cs typeface="Meiryo"/>
                        </a:rPr>
                        <a:t>運動塾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4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4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4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4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4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4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4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実際の実装可能領域によって変動する為、すり合わせの上で</a:t>
            </a: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4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4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4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4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2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までの導線を最適化する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向上させる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2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4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なし </a:t>
            </a:r>
            <a:r>
              <a:rPr lang="en-US" altLang="ja-JP" sz="1050" dirty="0">
                <a:solidFill>
                  <a:srgbClr val="FFFFFF"/>
                </a:solidFill>
                <a:latin typeface="メイリオ" panose="020B0604030504040204" pitchFamily="50" charset="-128"/>
                <a:ea typeface="メイリオ" panose="020B0604030504040204" pitchFamily="50" charset="-128"/>
              </a:rPr>
              <a:t>※OAM</a:t>
            </a:r>
            <a:r>
              <a:rPr lang="ja-JP" altLang="en-US" sz="1050" dirty="0">
                <a:solidFill>
                  <a:srgbClr val="FFFFFF"/>
                </a:solidFill>
                <a:latin typeface="メイリオ" panose="020B0604030504040204" pitchFamily="50" charset="-128"/>
                <a:ea typeface="メイリオ" panose="020B0604030504040204" pitchFamily="50" charset="-128"/>
              </a:rPr>
              <a:t>にて運用する</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あり</a:t>
            </a:r>
            <a:r>
              <a:rPr lang="ja-JP" altLang="en-US" sz="16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rPr>
              <a:t>や、詳細なセグメント設定</a:t>
            </a:r>
            <a:r>
              <a:rPr lang="ja-JP" sz="1400" dirty="0">
                <a:solidFill>
                  <a:srgbClr val="333333"/>
                </a:solidFill>
                <a:latin typeface="メイリオ" panose="020B0604030504040204" pitchFamily="50" charset="-128"/>
                <a:ea typeface="メイリオ" panose="020B0604030504040204" pitchFamily="50" charset="-128"/>
              </a:rPr>
              <a:t>を左右する</a:t>
            </a:r>
            <a:r>
              <a:rPr lang="ja-JP" altLang="en-US" sz="1400" dirty="0">
                <a:solidFill>
                  <a:srgbClr val="333333"/>
                </a:solidFill>
                <a:latin typeface="メイリオ" panose="020B0604030504040204" pitchFamily="50" charset="-128"/>
                <a:ea typeface="メイリオ" panose="020B0604030504040204" pitchFamily="50" charset="-128"/>
              </a:rPr>
              <a:t>。</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フローを踏みたいところ。</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デメリット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診断結果配信＋タイプ別おすすめ種目紹介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同タイプの在籍生の声・成長エピソード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a:t>
                      </a:r>
                      <a:r>
                        <a:rPr sz="1400" b="0" dirty="0" err="1">
                          <a:solidFill>
                            <a:srgbClr val="333333"/>
                          </a:solidFill>
                          <a:latin typeface="Meiryo"/>
                          <a:ea typeface="メイリオ"/>
                          <a:cs typeface="Meiryo"/>
                        </a:rPr>
                        <a:t>非認知能力」訴求コンテンツ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保護者の疑問Q&amp;A（月謝・送迎・振替等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入会引き上げ率40% ＝ 入会17件として算出</a:t>
            </a:r>
          </a:p>
          <a:p>
            <a:r>
              <a:rPr sz="1200" b="1" dirty="0" err="1">
                <a:solidFill>
                  <a:srgbClr val="BF4E0E"/>
                </a:solidFill>
                <a:latin typeface="Meiryo"/>
                <a:ea typeface="メイリオ"/>
                <a:cs typeface="Meiryo"/>
              </a:rPr>
              <a:t>予約で止めず、入会までLINEで追いきります</a:t>
            </a:r>
            <a:endParaRPr lang="en-US" sz="1200" b="1" dirty="0">
              <a:solidFill>
                <a:srgbClr val="BF4E0E"/>
              </a:solidFill>
              <a:latin typeface="Meiryo"/>
              <a:ea typeface="メイリオ"/>
              <a:cs typeface="Meiryo"/>
            </a:endParaRPr>
          </a:p>
          <a:p>
            <a:r>
              <a:rPr sz="1200" b="1" dirty="0">
                <a:solidFill>
                  <a:srgbClr val="BF4E0E"/>
                </a:solidFill>
                <a:latin typeface="Meiryo"/>
                <a:ea typeface="メイリオ"/>
                <a:cs typeface="Meiryo"/>
              </a:rPr>
              <a:t>（</a:t>
            </a:r>
            <a:r>
              <a:rPr sz="1200" b="1" dirty="0" err="1">
                <a:solidFill>
                  <a:srgbClr val="BF4E0E"/>
                </a:solidFill>
                <a:latin typeface="Meiryo"/>
                <a:ea typeface="メイリオ"/>
                <a:cs typeface="Meiryo"/>
              </a:rPr>
              <a:t>体験前リマインド→当日案内→体験後フォロ</a:t>
            </a:r>
            <a:r>
              <a:rPr sz="1200" b="1" dirty="0">
                <a:solidFill>
                  <a:srgbClr val="BF4E0E"/>
                </a:solidFill>
                <a:latin typeface="Meiryo"/>
                <a:ea typeface="メイリオ"/>
                <a:cs typeface="Meiryo"/>
              </a:rPr>
              <a:t>ー→</a:t>
            </a:r>
            <a:r>
              <a:rPr sz="1200" b="1" dirty="0" err="1">
                <a:solidFill>
                  <a:srgbClr val="BF4E0E"/>
                </a:solidFill>
                <a:latin typeface="Meiryo"/>
                <a:ea typeface="メイリオ"/>
                <a:cs typeface="Meiryo"/>
              </a:rPr>
              <a:t>入会のご案内を別シナリオで配信</a:t>
            </a:r>
            <a:r>
              <a:rPr sz="12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a:solidFill>
                            <a:srgbClr val="333333"/>
                          </a:solidFill>
                          <a:latin typeface="Meiryo"/>
                          <a:ea typeface="メイリオ"/>
                          <a:cs typeface="Meiryo"/>
                        </a:rPr>
                        <a:t>全員</a:t>
                      </a:r>
                    </a:p>
                  </a:txBody>
                  <a:tcPr>
                    <a:solidFill>
                      <a:srgbClr val="FFFFFF"/>
                    </a:solidFill>
                  </a:tcPr>
                </a:tc>
                <a:tc>
                  <a:txBody>
                    <a:bodyPr/>
                    <a:lstStyle/>
                    <a:p>
                      <a:r>
                        <a:rPr sz="140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a:solidFill>
                            <a:srgbClr val="333333"/>
                          </a:solidFill>
                          <a:latin typeface="Meiryo"/>
                          <a:ea typeface="メイリオ"/>
                          <a:cs typeface="Meiryo"/>
                        </a:rPr>
                        <a:t>診断未回答者</a:t>
                      </a:r>
                    </a:p>
                  </a:txBody>
                  <a:tcPr>
                    <a:solidFill>
                      <a:srgbClr val="FFFFFF"/>
                    </a:solidFill>
                  </a:tcPr>
                </a:tc>
                <a:tc>
                  <a:txBody>
                    <a:bodyPr/>
                    <a:lstStyle/>
                    <a:p>
                      <a:r>
                        <a:rPr sz="140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同タイプの卒業生・在籍生の声</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保護者の疑問Q&amp;A（費用・年齢・通塾頻度等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入会引き上げ率25% ＝ 入会12件として算出</a:t>
            </a:r>
          </a:p>
          <a:p>
            <a:r>
              <a:rPr sz="1400" b="1" dirty="0" err="1">
                <a:solidFill>
                  <a:srgbClr val="BF4E0E"/>
                </a:solidFill>
                <a:latin typeface="Meiryo"/>
                <a:ea typeface="メイリオ"/>
                <a:cs typeface="Meiryo"/>
              </a:rPr>
              <a:t>予約で止めず、入会までLINEで追いきります</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新学年スタート訴求</a:t>
                      </a:r>
                    </a:p>
                  </a:txBody>
                  <a:tcPr>
                    <a:solidFill>
                      <a:srgbClr val="FFFFFF"/>
                    </a:solidFill>
                  </a:tcPr>
                </a:tc>
                <a:tc>
                  <a:txBody>
                    <a:bodyPr/>
                    <a:lstStyle/>
                    <a:p>
                      <a:r>
                        <a:rPr sz="140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4-5月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dirty="0" err="1">
                          <a:solidFill>
                            <a:srgbClr val="333333"/>
                          </a:solidFill>
                          <a:latin typeface="Meiryo"/>
                          <a:ea typeface="メイリオ"/>
                          <a:cs typeface="Meiryo"/>
                        </a:rPr>
                        <a:t>LINEリサーチでニーズ収集</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複合種目デー投稿</a:t>
                      </a:r>
                    </a:p>
                  </a:txBody>
                  <a:tcPr>
                    <a:solidFill>
                      <a:srgbClr val="FFFFFF"/>
                    </a:solidFill>
                  </a:tcPr>
                </a:tc>
                <a:tc>
                  <a:txBody>
                    <a:bodyPr/>
                    <a:lstStyle/>
                    <a:p>
                      <a:r>
                        <a:rPr sz="140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8月</a:t>
                      </a:r>
                    </a:p>
                  </a:txBody>
                  <a:tcPr>
                    <a:solidFill>
                      <a:srgbClr val="FFFFFF"/>
                    </a:solidFill>
                  </a:tcPr>
                </a:tc>
                <a:tc>
                  <a:txBody>
                    <a:bodyPr/>
                    <a:lstStyle/>
                    <a:p>
                      <a:r>
                        <a:rPr sz="1400" b="0" dirty="0" err="1">
                          <a:solidFill>
                            <a:srgbClr val="333333"/>
                          </a:solidFill>
                          <a:latin typeface="Meiryo"/>
                          <a:ea typeface="メイリオ"/>
                          <a:cs typeface="Meiryo"/>
                        </a:rPr>
                        <a:t>短期集中イベント＋先着特典</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運動会シーズン訴求</a:t>
                      </a:r>
                    </a:p>
                  </a:txBody>
                  <a:tcPr>
                    <a:solidFill>
                      <a:srgbClr val="FFFFFF"/>
                    </a:solidFill>
                  </a:tcPr>
                </a:tc>
                <a:tc>
                  <a:txBody>
                    <a:bodyPr/>
                    <a:lstStyle/>
                    <a:p>
                      <a:r>
                        <a:rPr sz="1400" b="0" dirty="0" err="1">
                          <a:solidFill>
                            <a:srgbClr val="333333"/>
                          </a:solidFill>
                          <a:latin typeface="Meiryo"/>
                          <a:ea typeface="メイリオ"/>
                          <a:cs typeface="Meiryo"/>
                        </a:rPr>
                        <a:t>運動会に向けた訴求コンテンツ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運動能力の見える化企画</a:t>
                      </a:r>
                    </a:p>
                  </a:txBody>
                  <a:tcPr>
                    <a:solidFill>
                      <a:srgbClr val="FFFFFF"/>
                    </a:solidFill>
                  </a:tcPr>
                </a:tc>
                <a:tc>
                  <a:txBody>
                    <a:bodyPr/>
                    <a:lstStyle/>
                    <a:p>
                      <a:r>
                        <a:rPr sz="1400" b="0" dirty="0" err="1">
                          <a:solidFill>
                            <a:srgbClr val="333333"/>
                          </a:solidFill>
                          <a:latin typeface="Meiryo"/>
                          <a:ea typeface="メイリオ"/>
                          <a:cs typeface="Meiryo"/>
                        </a:rPr>
                        <a:t>入会時と現在の適性診断結果を比較</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11-12月</a:t>
                      </a:r>
                    </a:p>
                  </a:txBody>
                  <a:tcPr>
                    <a:solidFill>
                      <a:srgbClr val="FFFFFF"/>
                    </a:solidFill>
                  </a:tcPr>
                </a:tc>
                <a:tc>
                  <a:txBody>
                    <a:bodyPr/>
                    <a:lstStyle/>
                    <a:p>
                      <a:r>
                        <a:rPr sz="1400" b="0">
                          <a:solidFill>
                            <a:srgbClr val="333333"/>
                          </a:solidFill>
                          <a:latin typeface="Meiryo"/>
                          <a:ea typeface="メイリオ"/>
                          <a:cs typeface="Meiryo"/>
                        </a:rPr>
                        <a:t>短期集中イベント＋先着特典</a:t>
                      </a:r>
                    </a:p>
                  </a:txBody>
                  <a:tcPr>
                    <a:solidFill>
                      <a:srgbClr val="FFFFFF"/>
                    </a:solidFill>
                  </a:tcPr>
                </a:tc>
                <a:tc>
                  <a:txBody>
                    <a:bodyPr/>
                    <a:lstStyle/>
                    <a:p>
                      <a:r>
                        <a:rPr sz="1400" b="0" dirty="0" err="1">
                          <a:solidFill>
                            <a:srgbClr val="333333"/>
                          </a:solidFill>
                          <a:latin typeface="Meiryo"/>
                          <a:ea typeface="メイリオ"/>
                          <a:cs typeface="Meiryo"/>
                        </a:rPr>
                        <a:t>冬休み短期教室の告知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合格実績・成長エピソード配信</a:t>
                      </a:r>
                    </a:p>
                  </a:txBody>
                  <a:tcPr>
                    <a:solidFill>
                      <a:srgbClr val="FFFFFF"/>
                    </a:solidFill>
                  </a:tcPr>
                </a:tc>
                <a:tc>
                  <a:txBody>
                    <a:bodyPr/>
                    <a:lstStyle/>
                    <a:p>
                      <a:r>
                        <a:rPr sz="140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2-3月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4月</a:t>
                      </a:r>
                    </a:p>
                  </a:txBody>
                  <a:tcPr>
                    <a:solidFill>
                      <a:srgbClr val="FFFFFF"/>
                    </a:solidFill>
                  </a:tcPr>
                </a:tc>
                <a:tc>
                  <a:txBody>
                    <a:bodyPr/>
                    <a:lstStyle/>
                    <a:p>
                      <a:r>
                        <a:rPr sz="1400" b="0" dirty="0" err="1">
                          <a:solidFill>
                            <a:srgbClr val="333333"/>
                          </a:solidFill>
                          <a:latin typeface="Meiryo"/>
                          <a:ea typeface="メイリオ"/>
                          <a:cs typeface="Meiryo"/>
                        </a:rPr>
                        <a:t>ショップカード機能の継続特典</a:t>
                      </a:r>
                      <a:endParaRPr lang="en-US" sz="1400" b="0" dirty="0">
                        <a:solidFill>
                          <a:srgbClr val="333333"/>
                        </a:solidFill>
                        <a:latin typeface="Meiryo"/>
                        <a:ea typeface="メイリオ"/>
                        <a:cs typeface="Meiryo"/>
                      </a:endParaRPr>
                    </a:p>
                    <a:p>
                      <a:r>
                        <a:rPr sz="1400" b="0" dirty="0" err="1">
                          <a:solidFill>
                            <a:srgbClr val="333333"/>
                          </a:solidFill>
                          <a:latin typeface="Meiryo"/>
                          <a:ea typeface="メイリオ"/>
                          <a:cs typeface="Meiryo"/>
                        </a:rPr>
                        <a:t>スタート告知</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5-6月</a:t>
                      </a:r>
                    </a:p>
                  </a:txBody>
                  <a:tcPr>
                    <a:solidFill>
                      <a:srgbClr val="FFFFFF"/>
                    </a:solidFill>
                  </a:tcPr>
                </a:tc>
                <a:tc>
                  <a:txBody>
                    <a:bodyPr/>
                    <a:lstStyle/>
                    <a:p>
                      <a:r>
                        <a:rPr sz="140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40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400" b="0" dirty="0" err="1">
                          <a:solidFill>
                            <a:srgbClr val="333333"/>
                          </a:solidFill>
                          <a:latin typeface="Meiryo"/>
                          <a:ea typeface="メイリオ"/>
                          <a:cs typeface="Meiryo"/>
                        </a:rPr>
                        <a:t>受験直前期の相談会導線</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9-11月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dirty="0" err="1">
                          <a:solidFill>
                            <a:srgbClr val="333333"/>
                          </a:solidFill>
                          <a:latin typeface="Meiryo"/>
                          <a:ea typeface="メイリオ"/>
                          <a:cs typeface="Meiryo"/>
                        </a:rPr>
                        <a:t>受験本番に向け母数を増やす</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地域別・体験レッスン</a:t>
            </a:r>
            <a:r>
              <a:rPr lang="ja-JP" altLang="en-US" sz="1050" b="0" strike="noStrike" spc="-1" dirty="0">
                <a:solidFill>
                  <a:srgbClr val="333333"/>
                </a:solidFill>
                <a:latin typeface="メイリオ" panose="020B0604030504040204" pitchFamily="50" charset="-128"/>
                <a:ea typeface="メイリオ" panose="020B0604030504040204" pitchFamily="50" charset="-128"/>
              </a:rPr>
              <a:t>の</a:t>
            </a:r>
            <a:endParaRPr lang="en-US" altLang="ja-JP" sz="1050" b="0" strike="noStrike" spc="-1" dirty="0">
              <a:solidFill>
                <a:srgbClr val="333333"/>
              </a:solidFill>
              <a:latin typeface="メイリオ" panose="020B0604030504040204" pitchFamily="50" charset="-128"/>
              <a:ea typeface="メイリオ" panose="020B0604030504040204" pitchFamily="50" charset="-128"/>
            </a:endParaRPr>
          </a:p>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WEB申込キャンペーン</a:t>
            </a:r>
            <a:endParaRPr lang="en-US" sz="1050" b="0" strike="noStrike" spc="-1" dirty="0">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制作業務を一部抽出してご依頼いただくことも可能です。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143154</TotalTime>
  <Words>6371</Words>
  <Application>Microsoft Office PowerPoint</Application>
  <PresentationFormat>A4 210 x 297 mm</PresentationFormat>
  <Paragraphs>1619</Paragraphs>
  <Slides>59</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59</vt:i4>
      </vt:variant>
    </vt:vector>
  </HeadingPairs>
  <TitlesOfParts>
    <vt:vector size="66"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1955</cp:revision>
  <cp:lastPrinted>2022-11-01T11:38:14Z</cp:lastPrinted>
  <dcterms:created xsi:type="dcterms:W3CDTF">2015-09-04T09:21:15Z</dcterms:created>
  <dcterms:modified xsi:type="dcterms:W3CDTF">2026-09-24T04:36:13Z</dcterms:modified>
</cp:coreProperties>
</file>