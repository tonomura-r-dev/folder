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1"/>
  </p:notesMasterIdLst>
  <p:handoutMasterIdLst>
    <p:handoutMasterId r:id="rId62"/>
  </p:handoutMasterIdLst>
  <p:sldIdLst>
    <p:sldId id="2363" r:id="rId3"/>
    <p:sldId id="2971" r:id="rId4"/>
    <p:sldId id="2993" r:id="rId5"/>
    <p:sldId id="2972" r:id="rId6"/>
    <p:sldId id="3007" r:id="rId67"/>
    <p:sldId id="2994" r:id="rId7"/>
    <p:sldId id="2995" r:id="rId8"/>
    <p:sldId id="3003" r:id="rId9"/>
    <p:sldId id="3002" r:id="rId10"/>
    <p:sldId id="3001" r:id="rId11"/>
    <p:sldId id="2999" r:id="rId12"/>
    <p:sldId id="3004" r:id="rId13"/>
    <p:sldId id="2736" r:id="rId14"/>
    <p:sldId id="2987" r:id="rId15"/>
    <p:sldId id="2997" r:id="rId16"/>
    <p:sldId id="2996" r:id="rId17"/>
    <p:sldId id="2973" r:id="rId18"/>
    <p:sldId id="2977" r:id="rId19"/>
    <p:sldId id="2979" r:id="rId20"/>
    <p:sldId id="3000" r:id="rId21"/>
    <p:sldId id="2908" r:id="rId22"/>
    <p:sldId id="2998" r:id="rId23"/>
    <p:sldId id="2990" r:id="rId24"/>
    <p:sldId id="3005" r:id="rId25"/>
    <p:sldId id="2986" r:id="rId26"/>
    <p:sldId id="3006" r:id="rId27"/>
    <p:sldId id="2991" r:id="rId28"/>
    <p:sldId id="2737" r:id="rId29"/>
    <p:sldId id="2989" r:id="rId30"/>
    <p:sldId id="2563" r:id="rId31"/>
    <p:sldId id="2959" r:id="rId32"/>
    <p:sldId id="2970" r:id="rId33"/>
    <p:sldId id="2968" r:id="rId34"/>
    <p:sldId id="2969" r:id="rId35"/>
    <p:sldId id="2639" r:id="rId36"/>
    <p:sldId id="2957" r:id="rId37"/>
    <p:sldId id="2951" r:id="rId38"/>
    <p:sldId id="2841" r:id="rId39"/>
    <p:sldId id="2734" r:id="rId40"/>
    <p:sldId id="2595" r:id="rId41"/>
    <p:sldId id="2566" r:id="rId42"/>
    <p:sldId id="2915" r:id="rId43"/>
    <p:sldId id="2619" r:id="rId44"/>
    <p:sldId id="2761" r:id="rId45"/>
    <p:sldId id="2935" r:id="rId46"/>
    <p:sldId id="2919" r:id="rId47"/>
    <p:sldId id="2519" r:id="rId48"/>
    <p:sldId id="2931" r:id="rId49"/>
    <p:sldId id="2749" r:id="rId50"/>
    <p:sldId id="2950" r:id="rId51"/>
    <p:sldId id="2961" r:id="rId52"/>
    <p:sldId id="2849" r:id="rId53"/>
    <p:sldId id="2904" r:id="rId54"/>
    <p:sldId id="2905" r:id="rId55"/>
    <p:sldId id="2906" r:id="rId56"/>
    <p:sldId id="2907" r:id="rId57"/>
    <p:sldId id="2575" r:id="rId58"/>
    <p:sldId id="2910" r:id="rId59"/>
    <p:sldId id="1169" r:id="rId6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openxmlformats.org/officeDocument/2006/relationships/slide" Target="slides/slide5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58</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58614"/>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2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200" b="0" dirty="0" err="1">
                <a:solidFill>
                  <a:srgbClr val="5A6378"/>
                </a:solidFill>
                <a:latin typeface="メイリオ" panose="020B0604030504040204" pitchFamily="50" charset="-128"/>
                <a:ea typeface="メイリオ" panose="020B0604030504040204" pitchFamily="50" charset="-128"/>
              </a:rPr>
              <a:t>が中心だが</a:t>
            </a:r>
            <a:r>
              <a:rPr sz="1200" b="0" dirty="0">
                <a:solidFill>
                  <a:srgbClr val="5A6378"/>
                </a:solidFill>
                <a:latin typeface="メイリオ" panose="020B0604030504040204" pitchFamily="50" charset="-128"/>
                <a:ea typeface="メイリオ" panose="020B0604030504040204" pitchFamily="50" charset="-128"/>
              </a:rPr>
              <a:t>、</a:t>
            </a:r>
            <a:endParaRPr lang="en-US" sz="12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200" dirty="0">
                <a:solidFill>
                  <a:srgbClr val="5A6378"/>
                </a:solidFill>
                <a:latin typeface="メイリオ" panose="020B0604030504040204" pitchFamily="50" charset="-128"/>
                <a:ea typeface="メイリオ" panose="020B0604030504040204" pitchFamily="50" charset="-128"/>
              </a:rPr>
              <a:t>　</a:t>
            </a:r>
            <a:r>
              <a:rPr sz="12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dirty="0" err="1">
                <a:solidFill>
                  <a:srgbClr val="9AA1AE"/>
                </a:solidFill>
                <a:latin typeface="メイリオ" panose="020B0604030504040204" pitchFamily="50" charset="-128"/>
                <a:ea typeface="メイリオ" panose="020B0604030504040204" pitchFamily="50" charset="-128"/>
              </a:rPr>
              <a:t>出典</a:t>
            </a:r>
            <a:r>
              <a:rPr sz="850" b="0" dirty="0">
                <a:solidFill>
                  <a:srgbClr val="9AA1AE"/>
                </a:solidFill>
                <a:latin typeface="メイリオ" panose="020B0604030504040204" pitchFamily="50" charset="-128"/>
                <a:ea typeface="メイリオ" panose="020B0604030504040204" pitchFamily="50" charset="-128"/>
              </a:rPr>
              <a:t>：①np-labo.com（2023年10月, N=300）　②統計データ（4〜6歳 回答者数103）　③マイナビウーマン（2022年8月, N=300）</a:t>
            </a:r>
          </a:p>
          <a:p>
            <a:pPr algn="l">
              <a:lnSpc>
                <a:spcPct val="120000"/>
              </a:lnSpc>
            </a:pPr>
            <a:r>
              <a:rPr sz="850" b="0" dirty="0">
                <a:solidFill>
                  <a:srgbClr val="9AA1AE"/>
                </a:solidFill>
                <a:latin typeface="メイリオ" panose="020B0604030504040204" pitchFamily="50" charset="-128"/>
                <a:ea typeface="メイリオ" panose="020B0604030504040204" pitchFamily="50" charset="-128"/>
              </a:rPr>
              <a:t>④babytech.jp「未就学児の習い事事情2025」（N=1,436）　⑤PR </a:t>
            </a:r>
            <a:r>
              <a:rPr sz="850" b="0" dirty="0" err="1">
                <a:solidFill>
                  <a:srgbClr val="9AA1AE"/>
                </a:solidFill>
                <a:latin typeface="メイリオ" panose="020B0604030504040204" pitchFamily="50" charset="-128"/>
                <a:ea typeface="メイリオ" panose="020B0604030504040204" pitchFamily="50" charset="-128"/>
              </a:rPr>
              <a:t>TIMES（学年別</a:t>
            </a:r>
            <a:r>
              <a:rPr sz="850" b="0" dirty="0">
                <a:solidFill>
                  <a:srgbClr val="9AA1AE"/>
                </a:solidFill>
                <a:latin typeface="メイリオ" panose="020B0604030504040204" pitchFamily="50" charset="-128"/>
                <a:ea typeface="メイリオ" panose="020B0604030504040204" pitchFamily="50" charset="-128"/>
              </a:rPr>
              <a:t> </a:t>
            </a:r>
            <a:r>
              <a:rPr sz="850" b="0" dirty="0" err="1">
                <a:solidFill>
                  <a:srgbClr val="9AA1AE"/>
                </a:solidFill>
                <a:latin typeface="メイリオ" panose="020B0604030504040204" pitchFamily="50" charset="-128"/>
                <a:ea typeface="メイリオ" panose="020B0604030504040204" pitchFamily="50" charset="-128"/>
              </a:rPr>
              <a:t>週あたり実施日数</a:t>
            </a:r>
            <a:r>
              <a:rPr sz="850" b="0" dirty="0">
                <a:solidFill>
                  <a:srgbClr val="9AA1AE"/>
                </a:solidFill>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2CA316B7-4505-4337-6433-44B8AC8C958C}"/>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pic>
        <p:nvPicPr>
          <p:cNvPr id="4" name="図 3">
            <a:extLst>
              <a:ext uri="{FF2B5EF4-FFF2-40B4-BE49-F238E27FC236}">
                <a16:creationId xmlns:a16="http://schemas.microsoft.com/office/drawing/2014/main" id="{4511DE82-BBD2-B022-1764-353E066B0E7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FACBC0F7-0441-2179-B969-6950551697D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BA0EB23A-0A83-01D0-64EB-40B1ED3DCA8F}"/>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6238FDAF-4FF9-608B-5C45-81FE7C1A6423}"/>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DA7B2989-9F56-5DD7-1256-E2B61CE5E5FC}"/>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558A8417-6060-6DF0-8F12-53B3635C9DC0}"/>
              </a:ext>
            </a:extLst>
          </p:cNvPr>
          <p:cNvSpPr txBox="1"/>
          <p:nvPr/>
        </p:nvSpPr>
        <p:spPr>
          <a:xfrm>
            <a:off x="5172524" y="5312731"/>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141D629D-A515-AE4F-E000-57CAEA1B1B70}"/>
              </a:ext>
            </a:extLst>
          </p:cNvPr>
          <p:cNvSpPr txBox="1"/>
          <p:nvPr/>
        </p:nvSpPr>
        <p:spPr>
          <a:xfrm>
            <a:off x="6850077" y="5871117"/>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1439330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D6FF840-BD2A-C9D2-6742-4C0E533AE4B4}"/>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700" dirty="0">
                <a:solidFill>
                  <a:schemeClr val="tx1"/>
                </a:solidFill>
              </a:rPr>
              <a:t>LINE</a:t>
            </a:r>
            <a:r>
              <a:rPr lang="ja-JP" altLang="en-US" sz="1700" dirty="0">
                <a:solidFill>
                  <a:schemeClr val="tx1"/>
                </a:solidFill>
              </a:rPr>
              <a:t>ヤフー社提供の前後検索クエリより（クエリ：習い事）</a:t>
            </a:r>
            <a:endParaRPr lang="en-US" altLang="ja-JP" sz="1700" dirty="0">
              <a:solidFill>
                <a:schemeClr val="tx1"/>
              </a:solidFill>
            </a:endParaRPr>
          </a:p>
        </p:txBody>
      </p:sp>
      <p:pic>
        <p:nvPicPr>
          <p:cNvPr id="7" name="図 6">
            <a:extLst>
              <a:ext uri="{FF2B5EF4-FFF2-40B4-BE49-F238E27FC236}">
                <a16:creationId xmlns:a16="http://schemas.microsoft.com/office/drawing/2014/main" id="{A59C6DB9-8735-BD98-C3AA-EB4C5D2F08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49872CA8-26BB-EE48-3AD2-11D59C4D0C0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CA0DB759-B7B4-7F5D-1A6C-EA4B3D364ECD}"/>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7AF1380E-3FB7-14CD-2323-DE614D5319B0}"/>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16AF5040-A8C5-8998-7D9E-E6C6B73FFFDB}"/>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F412C162-0E63-74C5-29D8-B8BA9075D080}"/>
              </a:ext>
            </a:extLst>
          </p:cNvPr>
          <p:cNvSpPr txBox="1"/>
          <p:nvPr/>
        </p:nvSpPr>
        <p:spPr>
          <a:xfrm>
            <a:off x="5172524" y="5312731"/>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D32726F4-505A-F02B-9214-D435615CB4EF}"/>
              </a:ext>
            </a:extLst>
          </p:cNvPr>
          <p:cNvSpPr txBox="1"/>
          <p:nvPr/>
        </p:nvSpPr>
        <p:spPr>
          <a:xfrm>
            <a:off x="6850077" y="5871117"/>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315413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700" b="1" dirty="0">
                <a:solidFill>
                  <a:schemeClr val="tx1"/>
                </a:solidFill>
                <a:latin typeface="Meiryo" pitchFamily="34" charset="0"/>
                <a:ea typeface="Meiryo" pitchFamily="34" charset="-122"/>
                <a:cs typeface="Meiryo" pitchFamily="34" charset="-120"/>
              </a:rPr>
              <a:t>自社リストとの親和性が高いため、</a:t>
            </a:r>
            <a:endParaRPr lang="en-US" altLang="ja-JP" sz="1700" b="1" dirty="0">
              <a:solidFill>
                <a:schemeClr val="tx1"/>
              </a:solidFill>
              <a:latin typeface="Meiryo" pitchFamily="34" charset="0"/>
              <a:ea typeface="Meiryo" pitchFamily="34" charset="-122"/>
              <a:cs typeface="Meiryo" pitchFamily="34" charset="-120"/>
            </a:endParaRPr>
          </a:p>
          <a:p>
            <a:pPr marL="0" indent="0" algn="ctr">
              <a:buNone/>
            </a:pPr>
            <a:r>
              <a:rPr lang="ja-JP" altLang="en-US" sz="1700" b="1" dirty="0">
                <a:solidFill>
                  <a:schemeClr val="tx1"/>
                </a:solidFill>
                <a:latin typeface="Meiryo" pitchFamily="34" charset="0"/>
                <a:ea typeface="Meiryo" pitchFamily="34" charset="-122"/>
                <a:cs typeface="Meiryo" pitchFamily="34" charset="-120"/>
              </a:rPr>
              <a:t>検索・リターゲティングを中心に、来場意向の高い層から獲得します。</a:t>
            </a:r>
            <a:endParaRPr lang="en-US" sz="1700" dirty="0">
              <a:solidFill>
                <a:schemeClr val="tx1"/>
              </a:solidFill>
            </a:endParaRPr>
          </a:p>
        </p:txBody>
      </p:sp>
      <p:sp>
        <p:nvSpPr>
          <p:cNvPr id="2" name="Card1_Num">
            <a:extLst>
              <a:ext uri="{FF2B5EF4-FFF2-40B4-BE49-F238E27FC236}">
                <a16:creationId xmlns:a16="http://schemas.microsoft.com/office/drawing/2014/main" id="{458FBD00-4511-C2DA-7A2C-8BED4B530910}"/>
              </a:ext>
            </a:extLst>
          </p:cNvPr>
          <p:cNvSpPr txBox="1"/>
          <p:nvPr/>
        </p:nvSpPr>
        <p:spPr>
          <a:xfrm>
            <a:off x="376428" y="1612900"/>
            <a:ext cx="2921000" cy="635000"/>
          </a:xfrm>
          <a:prstGeom prst="rect">
            <a:avLst/>
          </a:prstGeom>
          <a:solidFill>
            <a:srgbClr val="1F2A5C"/>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01</a:t>
            </a:r>
          </a:p>
        </p:txBody>
      </p:sp>
      <p:sp>
        <p:nvSpPr>
          <p:cNvPr id="3" name="Card1_Title">
            <a:extLst>
              <a:ext uri="{FF2B5EF4-FFF2-40B4-BE49-F238E27FC236}">
                <a16:creationId xmlns:a16="http://schemas.microsoft.com/office/drawing/2014/main" id="{577BC0BB-DDFC-C752-2C5E-6C6A56BFB727}"/>
              </a:ext>
            </a:extLst>
          </p:cNvPr>
          <p:cNvSpPr txBox="1"/>
          <p:nvPr/>
        </p:nvSpPr>
        <p:spPr>
          <a:xfrm>
            <a:off x="376428" y="2247900"/>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1F2A5C"/>
                </a:solidFill>
                <a:latin typeface="メイリオ" panose="020B0604030504040204" pitchFamily="50" charset="-128"/>
                <a:ea typeface="メイリオ" panose="020B0604030504040204" pitchFamily="50" charset="-128"/>
              </a:rPr>
              <a:t>検索前（-15〜-1日）</a:t>
            </a:r>
          </a:p>
        </p:txBody>
      </p:sp>
      <p:sp>
        <p:nvSpPr>
          <p:cNvPr id="4" name="Card1_Body">
            <a:extLst>
              <a:ext uri="{FF2B5EF4-FFF2-40B4-BE49-F238E27FC236}">
                <a16:creationId xmlns:a16="http://schemas.microsoft.com/office/drawing/2014/main" id="{F66C2B6C-8A62-F1D5-3789-4CFE0E0B226E}"/>
              </a:ext>
            </a:extLst>
          </p:cNvPr>
          <p:cNvSpPr txBox="1"/>
          <p:nvPr/>
        </p:nvSpPr>
        <p:spPr>
          <a:xfrm>
            <a:off x="376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「こどもちゃれんじ」「スマイルゼミ」「西松屋」「ランドセル」「スタジオアリス」</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→通信教育・育児用品・記念撮影など、育児全般への関心が先行。習い事はまだ選択肢の一つ</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「趣味」「ヤマハ音楽教室」「パソコン教室」「学研教室」「公文」</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→大人・子ども問わず、幅広い習い事ジャンルへの関心が入り口となる</a:t>
            </a:r>
          </a:p>
          <a:p>
            <a:pPr>
              <a:spcBef>
                <a:spcPts val="200"/>
              </a:spcBef>
              <a:buClr>
                <a:srgbClr val="1F2A5C"/>
              </a:buClr>
            </a:pPr>
            <a:endParaRPr lang="ja-JP" altLang="en-US"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6" name="Card2_Num">
            <a:extLst>
              <a:ext uri="{FF2B5EF4-FFF2-40B4-BE49-F238E27FC236}">
                <a16:creationId xmlns:a16="http://schemas.microsoft.com/office/drawing/2014/main" id="{9B15FF73-FFAB-10D6-FD84-3F7EECB12537}"/>
              </a:ext>
            </a:extLst>
          </p:cNvPr>
          <p:cNvSpPr txBox="1"/>
          <p:nvPr/>
        </p:nvSpPr>
        <p:spPr>
          <a:xfrm>
            <a:off x="3487928" y="1612900"/>
            <a:ext cx="2921000" cy="635000"/>
          </a:xfrm>
          <a:prstGeom prst="rect">
            <a:avLst/>
          </a:prstGeom>
          <a:solidFill>
            <a:srgbClr val="4A6FA5"/>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02</a:t>
            </a:r>
          </a:p>
        </p:txBody>
      </p:sp>
      <p:sp>
        <p:nvSpPr>
          <p:cNvPr id="7" name="Card2_Title">
            <a:extLst>
              <a:ext uri="{FF2B5EF4-FFF2-40B4-BE49-F238E27FC236}">
                <a16:creationId xmlns:a16="http://schemas.microsoft.com/office/drawing/2014/main" id="{E5B870C4-7A3E-285A-5B84-0E50317E3240}"/>
              </a:ext>
            </a:extLst>
          </p:cNvPr>
          <p:cNvSpPr txBox="1"/>
          <p:nvPr/>
        </p:nvSpPr>
        <p:spPr>
          <a:xfrm>
            <a:off x="3487928" y="2247900"/>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4A6FA5"/>
                </a:solidFill>
                <a:latin typeface="メイリオ" panose="020B0604030504040204" pitchFamily="50" charset="-128"/>
                <a:ea typeface="メイリオ" panose="020B0604030504040204" pitchFamily="50" charset="-128"/>
              </a:rPr>
              <a:t>検索起点（0日）</a:t>
            </a:r>
          </a:p>
        </p:txBody>
      </p:sp>
      <p:sp>
        <p:nvSpPr>
          <p:cNvPr id="8" name="Card2_Body">
            <a:extLst>
              <a:ext uri="{FF2B5EF4-FFF2-40B4-BE49-F238E27FC236}">
                <a16:creationId xmlns:a16="http://schemas.microsoft.com/office/drawing/2014/main" id="{FEA95593-2E6F-A99B-1221-F11A9C632380}"/>
              </a:ext>
            </a:extLst>
          </p:cNvPr>
          <p:cNvSpPr txBox="1"/>
          <p:nvPr/>
        </p:nvSpPr>
        <p:spPr>
          <a:xfrm>
            <a:off x="34879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「rsウイルス」「ヤマハ音楽教室」「習い事」「ピアノ」「イトマンスイミングスクール」</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→体調・成長面の気づきと同時に、具体的な習い事ブランド名の検索が急増</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「習い事ランキング」「くもん」「ピアノ教室」「体操教室」「そろばん」「スイミング」</a:t>
            </a: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→具体的な習い事ジャンル・ブランドの比較が本格化するタイミング</a:t>
            </a:r>
          </a:p>
          <a:p>
            <a:pPr marL="171450" indent="-171450">
              <a:spcBef>
                <a:spcPts val="200"/>
              </a:spcBef>
              <a:buClr>
                <a:srgbClr val="4A6FA5"/>
              </a:buClr>
              <a:buFont typeface="Arial"/>
              <a:buChar char="•"/>
            </a:pPr>
            <a:endParaRPr lang="ja-JP" altLang="en-US"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9" name="Card3_Num">
            <a:extLst>
              <a:ext uri="{FF2B5EF4-FFF2-40B4-BE49-F238E27FC236}">
                <a16:creationId xmlns:a16="http://schemas.microsoft.com/office/drawing/2014/main" id="{0C40B463-4F3B-44D4-1B1F-77ECB562B4D3}"/>
              </a:ext>
            </a:extLst>
          </p:cNvPr>
          <p:cNvSpPr txBox="1"/>
          <p:nvPr/>
        </p:nvSpPr>
        <p:spPr>
          <a:xfrm>
            <a:off x="6599428" y="1612900"/>
            <a:ext cx="2921000" cy="635000"/>
          </a:xfrm>
          <a:prstGeom prst="rect">
            <a:avLst/>
          </a:prstGeom>
          <a:solidFill>
            <a:schemeClr val="accent1"/>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03</a:t>
            </a:r>
          </a:p>
        </p:txBody>
      </p:sp>
      <p:sp>
        <p:nvSpPr>
          <p:cNvPr id="10" name="Card3_Title">
            <a:extLst>
              <a:ext uri="{FF2B5EF4-FFF2-40B4-BE49-F238E27FC236}">
                <a16:creationId xmlns:a16="http://schemas.microsoft.com/office/drawing/2014/main" id="{2C1CA6A1-A949-A3B7-C542-DD0F8779E908}"/>
              </a:ext>
            </a:extLst>
          </p:cNvPr>
          <p:cNvSpPr txBox="1"/>
          <p:nvPr/>
        </p:nvSpPr>
        <p:spPr>
          <a:xfrm>
            <a:off x="6599428" y="2247900"/>
            <a:ext cx="2921000" cy="457200"/>
          </a:xfrm>
          <a:prstGeom prst="rect">
            <a:avLst/>
          </a:prstGeom>
          <a:noFill/>
          <a:ln w="6350">
            <a:solidFill>
              <a:schemeClr val="accent1"/>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chemeClr val="accent1"/>
                </a:solidFill>
                <a:latin typeface="メイリオ" panose="020B0604030504040204" pitchFamily="50" charset="-128"/>
                <a:ea typeface="メイリオ" panose="020B0604030504040204" pitchFamily="50" charset="-128"/>
              </a:rPr>
              <a:t>検索後（+1〜+15日）</a:t>
            </a:r>
          </a:p>
        </p:txBody>
      </p:sp>
      <p:sp>
        <p:nvSpPr>
          <p:cNvPr id="11" name="Card3_Body">
            <a:extLst>
              <a:ext uri="{FF2B5EF4-FFF2-40B4-BE49-F238E27FC236}">
                <a16:creationId xmlns:a16="http://schemas.microsoft.com/office/drawing/2014/main" id="{FFDFD9AC-AC03-4CF4-2FB8-A97D8E41B3D4}"/>
              </a:ext>
            </a:extLst>
          </p:cNvPr>
          <p:cNvSpPr txBox="1"/>
          <p:nvPr/>
        </p:nvSpPr>
        <p:spPr>
          <a:xfrm>
            <a:off x="6599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「くもん」「児童手当」「七五三」「ポケモンセンター」「ハーモニーランド」</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→特定ブランドの比較検討、給付金等の家計情報収集、家族レジャーへと関心が拡散</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「忍者ナイン 評判」「</a:t>
            </a:r>
            <a:r>
              <a:rPr lang="en-US" altLang="ja-JP" sz="1200" dirty="0" err="1">
                <a:solidFill>
                  <a:srgbClr val="333333"/>
                </a:solidFill>
                <a:latin typeface="メイリオ" panose="020B0604030504040204" pitchFamily="50" charset="-128"/>
                <a:ea typeface="メイリオ" panose="020B0604030504040204" pitchFamily="50" charset="-128"/>
              </a:rPr>
              <a:t>qq</a:t>
            </a:r>
            <a:r>
              <a:rPr lang="ja-JP" altLang="en-US" sz="1200" dirty="0">
                <a:solidFill>
                  <a:srgbClr val="333333"/>
                </a:solidFill>
                <a:latin typeface="メイリオ" panose="020B0604030504040204" pitchFamily="50" charset="-128"/>
                <a:ea typeface="メイリオ" panose="020B0604030504040204" pitchFamily="50" charset="-128"/>
              </a:rPr>
              <a:t>キッズ」「ロボット教室」「小学生 習い事 いくつ」</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→ブランド名指名＋評判確認の段階。競合と並んで自社ブランドが検索されている</a:t>
            </a:r>
          </a:p>
          <a:p>
            <a:pPr marL="171450" indent="-171450">
              <a:spcBef>
                <a:spcPts val="200"/>
              </a:spcBef>
              <a:buClr>
                <a:srgbClr val="C8102E"/>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0C3A4AA5-7859-52AB-440C-E7AD4F70CCD0}"/>
              </a:ext>
            </a:extLst>
          </p:cNvPr>
          <p:cNvCxnSpPr>
            <a:cxnSpLocks/>
          </p:cNvCxnSpPr>
          <p:nvPr/>
        </p:nvCxnSpPr>
        <p:spPr>
          <a:xfrm>
            <a:off x="650633" y="5511800"/>
            <a:ext cx="5484091" cy="0"/>
          </a:xfrm>
          <a:prstGeom prst="straightConnector1">
            <a:avLst/>
          </a:prstGeom>
          <a:ln w="28575">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2483494-D7A4-6D48-9329-B4102E1A5D75}"/>
              </a:ext>
            </a:extLst>
          </p:cNvPr>
          <p:cNvCxnSpPr/>
          <p:nvPr/>
        </p:nvCxnSpPr>
        <p:spPr>
          <a:xfrm>
            <a:off x="5441805" y="5905500"/>
            <a:ext cx="2114354" cy="0"/>
          </a:xfrm>
          <a:prstGeom prst="straightConnector1">
            <a:avLst/>
          </a:prstGeom>
          <a:ln w="28575">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2FF51894-3F3A-9A5A-439B-95852B99E283}"/>
              </a:ext>
            </a:extLst>
          </p:cNvPr>
          <p:cNvCxnSpPr/>
          <p:nvPr/>
        </p:nvCxnSpPr>
        <p:spPr>
          <a:xfrm>
            <a:off x="6908863" y="6311900"/>
            <a:ext cx="2533039" cy="0"/>
          </a:xfrm>
          <a:prstGeom prst="straightConnector1">
            <a:avLst/>
          </a:prstGeom>
          <a:ln w="28575">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8153B628-1E22-2A01-D787-9CB98A0EA6BC}"/>
              </a:ext>
            </a:extLst>
          </p:cNvPr>
          <p:cNvSpPr txBox="1"/>
          <p:nvPr/>
        </p:nvSpPr>
        <p:spPr>
          <a:xfrm>
            <a:off x="892556" y="5132457"/>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9" name="テキスト ボックス 18">
            <a:extLst>
              <a:ext uri="{FF2B5EF4-FFF2-40B4-BE49-F238E27FC236}">
                <a16:creationId xmlns:a16="http://schemas.microsoft.com/office/drawing/2014/main" id="{67A098E9-C1F6-8AE5-ACAA-5CED5AB70567}"/>
              </a:ext>
            </a:extLst>
          </p:cNvPr>
          <p:cNvSpPr txBox="1"/>
          <p:nvPr/>
        </p:nvSpPr>
        <p:spPr>
          <a:xfrm>
            <a:off x="5096324" y="5525328"/>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21" name="テキスト ボックス 20">
            <a:extLst>
              <a:ext uri="{FF2B5EF4-FFF2-40B4-BE49-F238E27FC236}">
                <a16:creationId xmlns:a16="http://schemas.microsoft.com/office/drawing/2014/main" id="{B07A593F-9910-E2FC-321D-E0114EDC5BCC}"/>
              </a:ext>
            </a:extLst>
          </p:cNvPr>
          <p:cNvSpPr txBox="1"/>
          <p:nvPr/>
        </p:nvSpPr>
        <p:spPr>
          <a:xfrm>
            <a:off x="6773877" y="5931314"/>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995195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857182221"/>
              </p:ext>
            </p:extLst>
          </p:nvPr>
        </p:nvGraphicFramePr>
        <p:xfrm>
          <a:off x="384048" y="1600199"/>
          <a:ext cx="9134854" cy="3030315"/>
        </p:xfrm>
        <a:graphic>
          <a:graphicData uri="http://schemas.openxmlformats.org/drawingml/2006/table">
            <a:tbl>
              <a:tblPr firstRow="1" bandRow="1">
                <a:tableStyleId>{5C22544A-7EE6-4342-B048-85BDC9FD1C3A}</a:tableStyleId>
              </a:tblPr>
              <a:tblGrid>
                <a:gridCol w="2192365">
                  <a:extLst>
                    <a:ext uri="{9D8B030D-6E8A-4147-A177-3AD203B41FA5}">
                      <a16:colId xmlns:a16="http://schemas.microsoft.com/office/drawing/2014/main" val="20000"/>
                    </a:ext>
                  </a:extLst>
                </a:gridCol>
                <a:gridCol w="1978334">
                  <a:extLst>
                    <a:ext uri="{9D8B030D-6E8A-4147-A177-3AD203B41FA5}">
                      <a16:colId xmlns:a16="http://schemas.microsoft.com/office/drawing/2014/main" val="20001"/>
                    </a:ext>
                  </a:extLst>
                </a:gridCol>
                <a:gridCol w="2303253">
                  <a:extLst>
                    <a:ext uri="{9D8B030D-6E8A-4147-A177-3AD203B41FA5}">
                      <a16:colId xmlns:a16="http://schemas.microsoft.com/office/drawing/2014/main" val="20002"/>
                    </a:ext>
                  </a:extLst>
                </a:gridCol>
                <a:gridCol w="2660902">
                  <a:extLst>
                    <a:ext uri="{9D8B030D-6E8A-4147-A177-3AD203B41FA5}">
                      <a16:colId xmlns:a16="http://schemas.microsoft.com/office/drawing/2014/main" val="20003"/>
                    </a:ext>
                  </a:extLst>
                </a:gridCol>
              </a:tblGrid>
              <a:tr h="478047">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dirty="0" err="1">
                          <a:solidFill>
                            <a:srgbClr val="FFFFFF"/>
                          </a:solidFill>
                          <a:latin typeface="Meiryo"/>
                          <a:ea typeface="メイリオ"/>
                          <a:cs typeface="Meiryo"/>
                        </a:rPr>
                        <a:t>訴求</a:t>
                      </a:r>
                      <a:endParaRPr sz="1100" b="1" dirty="0">
                        <a:solidFill>
                          <a:srgbClr val="FFFFFF"/>
                        </a:solidFill>
                        <a:latin typeface="Meiryo"/>
                        <a:ea typeface="メイリオ"/>
                        <a:cs typeface="Meiryo"/>
                      </a:endParaRPr>
                    </a:p>
                  </a:txBody>
                  <a:tcPr>
                    <a:solidFill>
                      <a:srgbClr val="1F2A5C"/>
                    </a:solidFill>
                  </a:tcPr>
                </a:tc>
                <a:tc>
                  <a:txBody>
                    <a:bodyPr/>
                    <a:lstStyle/>
                    <a:p>
                      <a:r>
                        <a:rPr sz="1100" b="1">
                          <a:solidFill>
                            <a:srgbClr val="FFFFFF"/>
                          </a:solidFill>
                          <a:latin typeface="Meiryo"/>
                          <a:ea typeface="メイリオ"/>
                          <a:cs typeface="Meiryo"/>
                        </a:rPr>
                        <a:t>忍者ナインとの比較</a:t>
                      </a:r>
                    </a:p>
                  </a:txBody>
                  <a:tcPr>
                    <a:solidFill>
                      <a:srgbClr val="1F2A5C"/>
                    </a:solidFill>
                  </a:tcPr>
                </a:tc>
                <a:extLst>
                  <a:ext uri="{0D108BD9-81ED-4DB2-BD59-A6C34878D82A}">
                    <a16:rowId xmlns:a16="http://schemas.microsoft.com/office/drawing/2014/main" val="10000"/>
                  </a:ext>
                </a:extLst>
              </a:tr>
              <a:tr h="478047">
                <a:tc>
                  <a:txBody>
                    <a:bodyPr/>
                    <a:lstStyle/>
                    <a:p>
                      <a:r>
                        <a:rPr sz="1200" b="0" dirty="0" err="1">
                          <a:solidFill>
                            <a:srgbClr val="333333"/>
                          </a:solidFill>
                          <a:latin typeface="Meiryo"/>
                          <a:ea typeface="メイリオ"/>
                          <a:cs typeface="Meiryo"/>
                        </a:rPr>
                        <a:t>biima</a:t>
                      </a:r>
                      <a:r>
                        <a:rPr sz="1200" b="0" dirty="0">
                          <a:solidFill>
                            <a:srgbClr val="333333"/>
                          </a:solidFill>
                          <a:latin typeface="Meiryo"/>
                          <a:ea typeface="メイリオ"/>
                          <a:cs typeface="Meiryo"/>
                        </a:rPr>
                        <a:t> sports</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非認知能力×複合種目</a:t>
                      </a:r>
                    </a:p>
                  </a:txBody>
                  <a:tcPr>
                    <a:solidFill>
                      <a:srgbClr val="FFFFFF"/>
                    </a:solidFill>
                  </a:tcPr>
                </a:tc>
                <a:tc>
                  <a:txBody>
                    <a:bodyPr/>
                    <a:lstStyle/>
                    <a:p>
                      <a:r>
                        <a:rPr sz="1200" b="0" dirty="0" err="1">
                          <a:solidFill>
                            <a:srgbClr val="333333"/>
                          </a:solidFill>
                          <a:latin typeface="Meiryo"/>
                          <a:ea typeface="メイリオ"/>
                          <a:cs typeface="Meiryo"/>
                        </a:rPr>
                        <a:t>最も近いポジションだが</a:t>
                      </a:r>
                      <a:r>
                        <a:rPr lang="ja-JP" altLang="en-US"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LINE未活用</a:t>
                      </a:r>
                      <a:r>
                        <a:rPr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先行できる</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78047">
                <a:tc>
                  <a:txBody>
                    <a:bodyPr/>
                    <a:lstStyle/>
                    <a:p>
                      <a:r>
                        <a:rPr sz="1200" b="0">
                          <a:solidFill>
                            <a:srgbClr val="333333"/>
                          </a:solidFill>
                          <a:latin typeface="Meiryo"/>
                          <a:ea typeface="メイリオ"/>
                          <a:cs typeface="Meiryo"/>
                        </a:rPr>
                        <a:t>ジャクパ</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園内開催・体操/サッカー中心</a:t>
                      </a:r>
                    </a:p>
                  </a:txBody>
                  <a:tcPr>
                    <a:solidFill>
                      <a:srgbClr val="FFFFFF"/>
                    </a:solidFill>
                  </a:tcPr>
                </a:tc>
                <a:tc>
                  <a:txBody>
                    <a:bodyPr/>
                    <a:lstStyle/>
                    <a:p>
                      <a:r>
                        <a:rPr sz="1200" b="0" dirty="0" err="1">
                          <a:solidFill>
                            <a:srgbClr val="333333"/>
                          </a:solidFill>
                          <a:latin typeface="Meiryo"/>
                          <a:ea typeface="メイリオ"/>
                          <a:cs typeface="Meiryo"/>
                        </a:rPr>
                        <a:t>低コストが強みだが</a:t>
                      </a:r>
                      <a:r>
                        <a:rPr lang="ja-JP" altLang="en-US" sz="1200" b="0" dirty="0">
                          <a:solidFill>
                            <a:srgbClr val="333333"/>
                          </a:solidFill>
                          <a:latin typeface="Meiryo"/>
                          <a:ea typeface="メイリオ"/>
                          <a:cs typeface="Meiryo"/>
                        </a:rPr>
                        <a:t>、</a:t>
                      </a:r>
                      <a:endParaRPr lang="en-US" altLang="ja-JP"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デジタル接点は薄い</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78047">
                <a:tc>
                  <a:txBody>
                    <a:bodyPr/>
                    <a:lstStyle/>
                    <a:p>
                      <a:r>
                        <a:rPr sz="1200" b="0">
                          <a:solidFill>
                            <a:srgbClr val="333333"/>
                          </a:solidFill>
                          <a:latin typeface="Meiryo"/>
                          <a:ea typeface="メイリオ"/>
                          <a:cs typeface="Meiryo"/>
                        </a:rPr>
                        <a:t>コナミスポーツクラブ 運動塾</a:t>
                      </a: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大手施設・進級テスト制度</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施設力はあるが</a:t>
                      </a:r>
                      <a:r>
                        <a:rPr lang="ja-JP" altLang="en-US" sz="1200" b="0" dirty="0">
                          <a:solidFill>
                            <a:srgbClr val="333333"/>
                          </a:solidFill>
                          <a:latin typeface="Meiryo"/>
                          <a:ea typeface="メイリオ"/>
                          <a:cs typeface="Meiryo"/>
                        </a:rPr>
                        <a:t>、</a:t>
                      </a:r>
                      <a:r>
                        <a:rPr sz="1200" b="0" dirty="0" err="1">
                          <a:solidFill>
                            <a:srgbClr val="333333"/>
                          </a:solidFill>
                          <a:latin typeface="Meiryo"/>
                          <a:ea typeface="メイリオ"/>
                          <a:cs typeface="Meiryo"/>
                        </a:rPr>
                        <a:t>LINE未運用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78047">
                <a:tc>
                  <a:txBody>
                    <a:bodyPr/>
                    <a:lstStyle/>
                    <a:p>
                      <a:r>
                        <a:rPr sz="1200" b="0">
                          <a:solidFill>
                            <a:srgbClr val="333333"/>
                          </a:solidFill>
                          <a:latin typeface="Meiryo"/>
                          <a:ea typeface="メイリオ"/>
                          <a:cs typeface="Meiryo"/>
                        </a:rPr>
                        <a:t>スポーツクラブ ルネサンス</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エンジョイ重視・生きる力</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78047">
                <a:tc>
                  <a:txBody>
                    <a:bodyPr/>
                    <a:lstStyle/>
                    <a:p>
                      <a:r>
                        <a:rPr sz="1200" b="0" dirty="0" err="1">
                          <a:solidFill>
                            <a:srgbClr val="1F2A5C"/>
                          </a:solidFill>
                          <a:latin typeface="Meiryo"/>
                          <a:ea typeface="メイリオ"/>
                          <a:cs typeface="Meiryo"/>
                        </a:rPr>
                        <a:t>セントラルスポーツ</a:t>
                      </a:r>
                      <a:r>
                        <a:rPr sz="1200" b="0" dirty="0">
                          <a:solidFill>
                            <a:srgbClr val="1F2A5C"/>
                          </a:solidFill>
                          <a:latin typeface="Meiryo"/>
                          <a:ea typeface="メイリオ"/>
                          <a:cs typeface="Meiryo"/>
                        </a:rPr>
                        <a:t> </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キッズスクール</a:t>
                      </a:r>
                      <a:endParaRPr sz="1200" b="0" dirty="0">
                        <a:solidFill>
                          <a:srgbClr val="1F2A5C"/>
                        </a:solidFill>
                        <a:latin typeface="Meiryo"/>
                        <a:ea typeface="メイリオ"/>
                        <a:cs typeface="Meiryo"/>
                      </a:endParaRPr>
                    </a:p>
                  </a:txBody>
                  <a:tcPr>
                    <a:solidFill>
                      <a:srgbClr val="FFF3E0"/>
                    </a:solidFill>
                  </a:tcPr>
                </a:tc>
                <a:tc>
                  <a:txBody>
                    <a:bodyPr/>
                    <a:lstStyle/>
                    <a:p>
                      <a:r>
                        <a:rPr sz="1200" b="1" dirty="0">
                          <a:solidFill>
                            <a:srgbClr val="1F2A5C"/>
                          </a:solidFill>
                          <a:latin typeface="Meiryo"/>
                          <a:ea typeface="メイリオ"/>
                          <a:cs typeface="Meiryo"/>
                        </a:rPr>
                        <a:t>あり（友だち82,953人）</a:t>
                      </a:r>
                    </a:p>
                  </a:txBody>
                  <a:tcPr>
                    <a:solidFill>
                      <a:srgbClr val="FFF3E0"/>
                    </a:solidFill>
                  </a:tcPr>
                </a:tc>
                <a:tc>
                  <a:txBody>
                    <a:bodyPr/>
                    <a:lstStyle/>
                    <a:p>
                      <a:r>
                        <a:rPr sz="1200" b="0">
                          <a:solidFill>
                            <a:srgbClr val="1F2A5C"/>
                          </a:solidFill>
                          <a:latin typeface="Meiryo"/>
                          <a:ea typeface="メイリオ"/>
                          <a:cs typeface="Meiryo"/>
                        </a:rPr>
                        <a:t>体育補完・進級チェック制度</a:t>
                      </a:r>
                    </a:p>
                  </a:txBody>
                  <a:tcPr>
                    <a:solidFill>
                      <a:srgbClr val="FFF3E0"/>
                    </a:solidFill>
                  </a:tcPr>
                </a:tc>
                <a:tc>
                  <a:txBody>
                    <a:bodyPr/>
                    <a:lstStyle/>
                    <a:p>
                      <a:r>
                        <a:rPr sz="1200" b="0" dirty="0" err="1">
                          <a:solidFill>
                            <a:srgbClr val="1F2A5C"/>
                          </a:solidFill>
                          <a:latin typeface="Meiryo"/>
                          <a:ea typeface="メイリオ"/>
                          <a:cs typeface="Meiryo"/>
                        </a:rPr>
                        <a:t>業界内で唯一LINEを大規模運用</a:t>
                      </a:r>
                      <a:r>
                        <a:rPr sz="1200" b="0" dirty="0">
                          <a:solidFill>
                            <a:srgbClr val="1F2A5C"/>
                          </a:solidFill>
                          <a:latin typeface="Meiryo"/>
                          <a:ea typeface="メイリオ"/>
                          <a:cs typeface="Meiryo"/>
                        </a:rPr>
                        <a:t>。</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水準のベンチマーク</a:t>
                      </a:r>
                      <a:endParaRPr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4919247"/>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833546804"/>
              </p:ext>
            </p:extLst>
          </p:nvPr>
        </p:nvGraphicFramePr>
        <p:xfrm>
          <a:off x="384048" y="1600200"/>
          <a:ext cx="9134854" cy="2480095"/>
        </p:xfrm>
        <a:graphic>
          <a:graphicData uri="http://schemas.openxmlformats.org/drawingml/2006/table">
            <a:tbl>
              <a:tblPr firstRow="1" bandRow="1">
                <a:tableStyleId>{5C22544A-7EE6-4342-B048-85BDC9FD1C3A}</a:tableStyleId>
              </a:tblPr>
              <a:tblGrid>
                <a:gridCol w="1979590">
                  <a:extLst>
                    <a:ext uri="{9D8B030D-6E8A-4147-A177-3AD203B41FA5}">
                      <a16:colId xmlns:a16="http://schemas.microsoft.com/office/drawing/2014/main" val="20000"/>
                    </a:ext>
                  </a:extLst>
                </a:gridCol>
                <a:gridCol w="1871932">
                  <a:extLst>
                    <a:ext uri="{9D8B030D-6E8A-4147-A177-3AD203B41FA5}">
                      <a16:colId xmlns:a16="http://schemas.microsoft.com/office/drawing/2014/main" val="20001"/>
                    </a:ext>
                  </a:extLst>
                </a:gridCol>
                <a:gridCol w="2355011">
                  <a:extLst>
                    <a:ext uri="{9D8B030D-6E8A-4147-A177-3AD203B41FA5}">
                      <a16:colId xmlns:a16="http://schemas.microsoft.com/office/drawing/2014/main" val="20002"/>
                    </a:ext>
                  </a:extLst>
                </a:gridCol>
                <a:gridCol w="2928321">
                  <a:extLst>
                    <a:ext uri="{9D8B030D-6E8A-4147-A177-3AD203B41FA5}">
                      <a16:colId xmlns:a16="http://schemas.microsoft.com/office/drawing/2014/main" val="20003"/>
                    </a:ext>
                  </a:extLst>
                </a:gridCol>
              </a:tblGrid>
              <a:tr h="496019">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dirty="0" err="1">
                          <a:solidFill>
                            <a:srgbClr val="FFFFFF"/>
                          </a:solidFill>
                          <a:latin typeface="Meiryo"/>
                          <a:ea typeface="メイリオ"/>
                          <a:cs typeface="Meiryo"/>
                        </a:rPr>
                        <a:t>チャイルドアイズとの比較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96019">
                <a:tc>
                  <a:txBody>
                    <a:bodyPr/>
                    <a:lstStyle/>
                    <a:p>
                      <a:r>
                        <a:rPr sz="1200" b="0" dirty="0" err="1">
                          <a:solidFill>
                            <a:srgbClr val="333333"/>
                          </a:solidFill>
                          <a:latin typeface="Meiryo"/>
                          <a:ea typeface="メイリオ"/>
                          <a:cs typeface="Meiryo"/>
                        </a:rPr>
                        <a:t>ベビーパーク</a:t>
                      </a:r>
                      <a:endParaRPr lang="en-US" sz="1200" b="0" dirty="0">
                        <a:solidFill>
                          <a:srgbClr val="333333"/>
                        </a:solidFill>
                        <a:latin typeface="Meiryo"/>
                        <a:ea typeface="メイリオ"/>
                        <a:cs typeface="Meiryo"/>
                      </a:endParaRPr>
                    </a:p>
                    <a:p>
                      <a:r>
                        <a:rPr lang="ja-JP" altLang="en-US" sz="1200" b="0" dirty="0">
                          <a:solidFill>
                            <a:srgbClr val="333333"/>
                          </a:solidFill>
                          <a:latin typeface="Meiryo"/>
                          <a:ea typeface="メイリオ"/>
                          <a:cs typeface="Meiryo"/>
                        </a:rPr>
                        <a:t>キ</a:t>
                      </a:r>
                      <a:r>
                        <a:rPr sz="1200" b="0" dirty="0" err="1">
                          <a:solidFill>
                            <a:srgbClr val="333333"/>
                          </a:solidFill>
                          <a:latin typeface="Meiryo"/>
                          <a:ea typeface="メイリオ"/>
                          <a:cs typeface="Meiryo"/>
                        </a:rPr>
                        <a:t>ッズアカデミ</a:t>
                      </a:r>
                      <a:r>
                        <a:rPr sz="1200" b="0" dirty="0">
                          <a:solidFill>
                            <a:srgbClr val="333333"/>
                          </a:solidFill>
                          <a:latin typeface="Meiryo"/>
                          <a:ea typeface="メイリオ"/>
                          <a:cs typeface="Meiryo"/>
                        </a:rPr>
                        <a:t>ー</a:t>
                      </a: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a:solidFill>
                            <a:srgbClr val="333333"/>
                          </a:solidFill>
                          <a:latin typeface="Meiryo"/>
                          <a:ea typeface="メイリオ"/>
                          <a:cs typeface="Meiryo"/>
                        </a:rPr>
                        <a:t>知育特化・超早期（0歳〜）</a:t>
                      </a:r>
                    </a:p>
                  </a:txBody>
                  <a:tcPr>
                    <a:solidFill>
                      <a:srgbClr val="FFFFFF"/>
                    </a:solidFill>
                  </a:tcPr>
                </a:tc>
                <a:tc>
                  <a:txBody>
                    <a:bodyPr/>
                    <a:lstStyle/>
                    <a:p>
                      <a:r>
                        <a:rPr sz="12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96019">
                <a:tc>
                  <a:txBody>
                    <a:bodyPr/>
                    <a:lstStyle/>
                    <a:p>
                      <a:r>
                        <a:rPr sz="1200" b="0">
                          <a:solidFill>
                            <a:srgbClr val="333333"/>
                          </a:solidFill>
                          <a:latin typeface="Meiryo"/>
                          <a:ea typeface="メイリオ"/>
                          <a:cs typeface="Meiryo"/>
                        </a:rPr>
                        <a:t>伸芽会</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受験対策特化・名門校実績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LINE未活用。ブランド力で先行</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96019">
                <a:tc>
                  <a:txBody>
                    <a:bodyPr/>
                    <a:lstStyle/>
                    <a:p>
                      <a:r>
                        <a:rPr sz="1200" b="0">
                          <a:solidFill>
                            <a:srgbClr val="1F2A5C"/>
                          </a:solidFill>
                          <a:latin typeface="Meiryo"/>
                          <a:ea typeface="メイリオ"/>
                          <a:cs typeface="Meiryo"/>
                        </a:rPr>
                        <a:t>理英会</a:t>
                      </a:r>
                    </a:p>
                  </a:txBody>
                  <a:tcPr>
                    <a:solidFill>
                      <a:srgbClr val="FFF3E0"/>
                    </a:solidFill>
                  </a:tcPr>
                </a:tc>
                <a:tc>
                  <a:txBody>
                    <a:bodyPr/>
                    <a:lstStyle/>
                    <a:p>
                      <a:r>
                        <a:rPr sz="1200" b="1">
                          <a:solidFill>
                            <a:srgbClr val="1F2A5C"/>
                          </a:solidFill>
                          <a:latin typeface="Meiryo"/>
                          <a:ea typeface="メイリオ"/>
                          <a:cs typeface="Meiryo"/>
                        </a:rPr>
                        <a:t>あり（友だち4,475人）</a:t>
                      </a:r>
                    </a:p>
                  </a:txBody>
                  <a:tcPr>
                    <a:solidFill>
                      <a:srgbClr val="FFF3E0"/>
                    </a:solidFill>
                  </a:tcPr>
                </a:tc>
                <a:tc>
                  <a:txBody>
                    <a:bodyPr/>
                    <a:lstStyle/>
                    <a:p>
                      <a:r>
                        <a:rPr sz="1200" b="0">
                          <a:solidFill>
                            <a:srgbClr val="1F2A5C"/>
                          </a:solidFill>
                          <a:latin typeface="Meiryo"/>
                          <a:ea typeface="メイリオ"/>
                          <a:cs typeface="Meiryo"/>
                        </a:rPr>
                        <a:t>受験ノウハウ配信・体験会案内</a:t>
                      </a:r>
                    </a:p>
                  </a:txBody>
                  <a:tcPr>
                    <a:solidFill>
                      <a:srgbClr val="FFF3E0"/>
                    </a:solidFill>
                  </a:tcPr>
                </a:tc>
                <a:tc>
                  <a:txBody>
                    <a:bodyPr/>
                    <a:lstStyle/>
                    <a:p>
                      <a:r>
                        <a:rPr sz="12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96019">
                <a:tc>
                  <a:txBody>
                    <a:bodyPr/>
                    <a:lstStyle/>
                    <a:p>
                      <a:r>
                        <a:rPr sz="1200" b="0">
                          <a:solidFill>
                            <a:srgbClr val="1F2A5C"/>
                          </a:solidFill>
                          <a:latin typeface="Meiryo"/>
                          <a:ea typeface="メイリオ"/>
                          <a:cs typeface="Meiryo"/>
                        </a:rPr>
                        <a:t>どんちゃか幼児教室</a:t>
                      </a:r>
                    </a:p>
                  </a:txBody>
                  <a:tcPr>
                    <a:solidFill>
                      <a:srgbClr val="FFF3E0"/>
                    </a:solidFill>
                  </a:tcPr>
                </a:tc>
                <a:tc>
                  <a:txBody>
                    <a:bodyPr/>
                    <a:lstStyle/>
                    <a:p>
                      <a:r>
                        <a:rPr sz="1200" b="1">
                          <a:solidFill>
                            <a:srgbClr val="1F2A5C"/>
                          </a:solidFill>
                          <a:latin typeface="Meiryo"/>
                          <a:ea typeface="メイリオ"/>
                          <a:cs typeface="Meiryo"/>
                        </a:rPr>
                        <a:t>あり（友だち2,550人）</a:t>
                      </a:r>
                    </a:p>
                  </a:txBody>
                  <a:tcPr>
                    <a:solidFill>
                      <a:srgbClr val="FFF3E0"/>
                    </a:solidFill>
                  </a:tcPr>
                </a:tc>
                <a:tc>
                  <a:txBody>
                    <a:bodyPr/>
                    <a:lstStyle/>
                    <a:p>
                      <a:r>
                        <a:rPr sz="1200" b="0" dirty="0" err="1">
                          <a:solidFill>
                            <a:srgbClr val="1F2A5C"/>
                          </a:solidFill>
                          <a:latin typeface="Meiryo"/>
                          <a:ea typeface="メイリオ"/>
                          <a:cs typeface="Meiryo"/>
                        </a:rPr>
                        <a:t>育児コラム・季節講習案内</a:t>
                      </a:r>
                      <a:endParaRPr sz="1200" b="0" dirty="0">
                        <a:solidFill>
                          <a:srgbClr val="1F2A5C"/>
                        </a:solidFill>
                        <a:latin typeface="Meiryo"/>
                        <a:ea typeface="メイリオ"/>
                        <a:cs typeface="Meiryo"/>
                      </a:endParaRPr>
                    </a:p>
                  </a:txBody>
                  <a:tcPr>
                    <a:solidFill>
                      <a:srgbClr val="FFF3E0"/>
                    </a:solidFill>
                  </a:tcPr>
                </a:tc>
                <a:tc>
                  <a:txBody>
                    <a:bodyPr/>
                    <a:lstStyle/>
                    <a:p>
                      <a:r>
                        <a:rPr sz="1200" b="0" dirty="0" err="1">
                          <a:solidFill>
                            <a:srgbClr val="1F2A5C"/>
                          </a:solidFill>
                          <a:latin typeface="Meiryo"/>
                          <a:ea typeface="メイリオ"/>
                          <a:cs typeface="Meiryo"/>
                        </a:rPr>
                        <a:t>理英会と同一グループ</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乳幼児期の入口として運用</a:t>
                      </a:r>
                      <a:endParaRPr lang="en-US"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525417"/>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によって変動する為、すり合わせの上で</a:t>
            </a: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2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1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1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企画配信で、開封〜CVまでの導線を最適化する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1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個別チャット対応でユーザー体験を向上させる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1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では基本的に①②の施策を中心に展開をさせていただきながら、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なし </a:t>
            </a:r>
            <a:r>
              <a:rPr lang="en-US" altLang="ja-JP" sz="1000" dirty="0">
                <a:solidFill>
                  <a:srgbClr val="FFFFFF"/>
                </a:solidFill>
                <a:latin typeface="メイリオ" panose="020B0604030504040204" pitchFamily="50" charset="-128"/>
                <a:ea typeface="メイリオ" panose="020B0604030504040204" pitchFamily="50" charset="-128"/>
              </a:rPr>
              <a:t>※OAM</a:t>
            </a:r>
            <a:r>
              <a:rPr lang="ja-JP" altLang="en-US" sz="10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100" dirty="0">
                <a:solidFill>
                  <a:srgbClr val="FFFFFF"/>
                </a:solidFill>
                <a:latin typeface="メイリオ" panose="020B0604030504040204" pitchFamily="50" charset="-128"/>
                <a:ea typeface="メイリオ" panose="020B0604030504040204" pitchFamily="50" charset="-128"/>
              </a:rPr>
              <a:t>※</a:t>
            </a:r>
            <a:r>
              <a:rPr lang="en-US" altLang="ja-JP" sz="1100" dirty="0" err="1">
                <a:solidFill>
                  <a:srgbClr val="FFFFFF"/>
                </a:solidFill>
                <a:latin typeface="メイリオ" panose="020B0604030504040204" pitchFamily="50" charset="-128"/>
                <a:ea typeface="メイリオ" panose="020B0604030504040204" pitchFamily="50" charset="-128"/>
              </a:rPr>
              <a:t>Lstep</a:t>
            </a:r>
            <a:r>
              <a:rPr lang="ja-JP" altLang="en-US" sz="11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2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200" dirty="0">
                <a:solidFill>
                  <a:srgbClr val="333333"/>
                </a:solidFill>
                <a:latin typeface="メイリオ" panose="020B0604030504040204" pitchFamily="50" charset="-128"/>
                <a:ea typeface="メイリオ" panose="020B0604030504040204" pitchFamily="50" charset="-128"/>
              </a:rPr>
              <a:t>。詳細なセグメント設定</a:t>
            </a:r>
            <a:r>
              <a:rPr lang="ja-JP" sz="1200" dirty="0">
                <a:solidFill>
                  <a:srgbClr val="333333"/>
                </a:solidFill>
                <a:latin typeface="メイリオ" panose="020B0604030504040204" pitchFamily="50" charset="-128"/>
                <a:ea typeface="メイリオ" panose="020B0604030504040204" pitchFamily="50" charset="-128"/>
              </a:rPr>
              <a:t>を左右する</a:t>
            </a:r>
            <a:r>
              <a:rPr lang="ja-JP" altLang="en-US" sz="12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①離脱ユーザーの再学習による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約1,100人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78%</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約620件/月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12〜13件/月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（CVR：約2%／半年累計44件）</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26585262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診断結果配信＋タイプ別おすすめ種目紹介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同タイプの在籍生の声・成長エピソード</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「非認知能力」訴求コンテンツ</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保護者の疑問Q&amp;A（月謝・送迎・振替等）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入会引き上げ率40% ＝ 入会17件として算出</a:t>
            </a:r>
          </a:p>
          <a:p>
            <a:r>
              <a:rPr sz="1150" b="1">
                <a:solidFill>
                  <a:srgbClr val="BF4E0E"/>
                </a:solidFill>
                <a:latin typeface="Meiryo"/>
                <a:ea typeface="メイリオ"/>
                <a:cs typeface="Meiryo"/>
              </a:rPr>
              <a:t>予約で止めず、入会までLINEで追いきります（体験前リマインド→当日案内→体験後フォロー→入会のご案内を別シナリオで配信）</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a:t>
            </a:r>
          </a:p>
        </p:txBody>
      </p:sp>
    </p:spTree>
    <p:extLst>
      <p:ext uri="{BB962C8B-B14F-4D97-AF65-F5344CB8AC3E}">
        <p14:creationId xmlns:p14="http://schemas.microsoft.com/office/powerpoint/2010/main" val="14519451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同タイプの卒業生・在籍生の声</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保護者の疑問Q&amp;A（費用・年齢・通塾頻度等）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入会引き上げ率25% ＝ 入会12件として算出</a:t>
            </a:r>
          </a:p>
          <a:p>
            <a:r>
              <a:rPr sz="1150" b="1">
                <a:solidFill>
                  <a:srgbClr val="BF4E0E"/>
                </a:solidFill>
                <a:latin typeface="Meiryo"/>
                <a:ea typeface="メイリオ"/>
                <a:cs typeface="Meiryo"/>
              </a:rPr>
              <a:t>予約で止めず、入会までLINEで追いきります（体験前リマインド→当日案内→体験後フォロー→入会のご案内を別シナリオで配信）</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新学年スタート訴求</a:t>
                      </a:r>
                    </a:p>
                  </a:txBody>
                  <a:tcPr>
                    <a:solidFill>
                      <a:srgbClr val="FFFFFF"/>
                    </a:solidFill>
                  </a:tcPr>
                </a:tc>
                <a:tc>
                  <a:txBody>
                    <a:bodyPr/>
                    <a:lstStyle/>
                    <a:p>
                      <a:r>
                        <a:rPr sz="105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4-5月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6月</a:t>
                      </a:r>
                    </a:p>
                  </a:txBody>
                  <a:tcPr>
                    <a:solidFill>
                      <a:srgbClr val="FFFFFF"/>
                    </a:solidFill>
                  </a:tcPr>
                </a:tc>
                <a:tc>
                  <a:txBody>
                    <a:bodyPr/>
                    <a:lstStyle/>
                    <a:p>
                      <a:r>
                        <a:rPr sz="1050" b="0">
                          <a:solidFill>
                            <a:srgbClr val="333333"/>
                          </a:solidFill>
                          <a:latin typeface="Meiryo"/>
                          <a:ea typeface="メイリオ"/>
                          <a:cs typeface="Meiryo"/>
                        </a:rPr>
                        <a:t>LINEリサーチでニーズ収集</a:t>
                      </a:r>
                    </a:p>
                  </a:txBody>
                  <a:tcPr>
                    <a:solidFill>
                      <a:srgbClr val="FFFFFF"/>
                    </a:solidFill>
                  </a:tcPr>
                </a:tc>
                <a:tc>
                  <a:txBody>
                    <a:bodyPr/>
                    <a:lstStyle/>
                    <a:p>
                      <a:r>
                        <a:rPr sz="105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複合種目デー投稿</a:t>
                      </a:r>
                    </a:p>
                  </a:txBody>
                  <a:tcPr>
                    <a:solidFill>
                      <a:srgbClr val="FFFFFF"/>
                    </a:solidFill>
                  </a:tcPr>
                </a:tc>
                <a:tc>
                  <a:txBody>
                    <a:bodyPr/>
                    <a:lstStyle/>
                    <a:p>
                      <a:r>
                        <a:rPr sz="105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8月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夏休み短期教室の告知</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運動会シーズン訴求</a:t>
                      </a:r>
                    </a:p>
                  </a:txBody>
                  <a:tcPr>
                    <a:solidFill>
                      <a:srgbClr val="FFFFFF"/>
                    </a:solidFill>
                  </a:tcPr>
                </a:tc>
                <a:tc>
                  <a:txBody>
                    <a:bodyPr/>
                    <a:lstStyle/>
                    <a:p>
                      <a:r>
                        <a:rPr sz="1050" b="0">
                          <a:solidFill>
                            <a:srgbClr val="333333"/>
                          </a:solidFill>
                          <a:latin typeface="Meiryo"/>
                          <a:ea typeface="メイリオ"/>
                          <a:cs typeface="Meiryo"/>
                        </a:rPr>
                        <a:t>運動会に向けた訴求コンテンツ</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運動能力の見える化企画</a:t>
                      </a:r>
                    </a:p>
                  </a:txBody>
                  <a:tcPr>
                    <a:solidFill>
                      <a:srgbClr val="FFFFFF"/>
                    </a:solidFill>
                  </a:tcPr>
                </a:tc>
                <a:tc>
                  <a:txBody>
                    <a:bodyPr/>
                    <a:lstStyle/>
                    <a:p>
                      <a:r>
                        <a:rPr sz="1050" b="0">
                          <a:solidFill>
                            <a:srgbClr val="333333"/>
                          </a:solidFill>
                          <a:latin typeface="Meiryo"/>
                          <a:ea typeface="メイリオ"/>
                          <a:cs typeface="Meiryo"/>
                        </a:rPr>
                        <a:t>入会時と現在の適性診断結果を比較</a:t>
                      </a:r>
                    </a:p>
                  </a:txBody>
                  <a:tcPr>
                    <a:solidFill>
                      <a:srgbClr val="FFFFFF"/>
                    </a:solidFill>
                  </a:tcPr>
                </a:tc>
                <a:extLst>
                  <a:ext uri="{0D108BD9-81ED-4DB2-BD59-A6C34878D82A}">
                    <a16:rowId xmlns:a16="http://schemas.microsoft.com/office/drawing/2014/main" val="10008"/>
                  </a:ext>
                </a:extLst>
              </a:tr>
              <a:tr h="411480">
                <a:tc>
                  <a:txBody>
                    <a:bodyPr/>
                    <a:lstStyle/>
                    <a:p>
                      <a:r>
                        <a:rPr sz="1050" b="0">
                          <a:solidFill>
                            <a:srgbClr val="333333"/>
                          </a:solidFill>
                          <a:latin typeface="Meiryo"/>
                          <a:ea typeface="メイリオ"/>
                          <a:cs typeface="Meiryo"/>
                        </a:rPr>
                        <a:t>11-12月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冬休み短期教室の告知</a:t>
                      </a: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288036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1-2月</a:t>
                      </a:r>
                    </a:p>
                  </a:txBody>
                  <a:tcPr>
                    <a:solidFill>
                      <a:srgbClr val="FFFFFF"/>
                    </a:solidFill>
                  </a:tcPr>
                </a:tc>
                <a:tc>
                  <a:txBody>
                    <a:bodyPr/>
                    <a:lstStyle/>
                    <a:p>
                      <a:r>
                        <a:rPr sz="1050" b="0">
                          <a:solidFill>
                            <a:srgbClr val="333333"/>
                          </a:solidFill>
                          <a:latin typeface="Meiryo"/>
                          <a:ea typeface="メイリオ"/>
                          <a:cs typeface="Meiryo"/>
                        </a:rPr>
                        <a:t>合格実績・成長エピソード配信</a:t>
                      </a:r>
                    </a:p>
                  </a:txBody>
                  <a:tcPr>
                    <a:solidFill>
                      <a:srgbClr val="FFFFFF"/>
                    </a:solidFill>
                  </a:tcPr>
                </a:tc>
                <a:tc>
                  <a:txBody>
                    <a:bodyPr/>
                    <a:lstStyle/>
                    <a:p>
                      <a:r>
                        <a:rPr sz="105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2-3月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4月</a:t>
                      </a:r>
                    </a:p>
                  </a:txBody>
                  <a:tcPr>
                    <a:solidFill>
                      <a:srgbClr val="FFFFFF"/>
                    </a:solidFill>
                  </a:tcPr>
                </a:tc>
                <a:tc>
                  <a:txBody>
                    <a:bodyPr/>
                    <a:lstStyle/>
                    <a:p>
                      <a:r>
                        <a:rPr sz="1050" b="0">
                          <a:solidFill>
                            <a:srgbClr val="333333"/>
                          </a:solidFill>
                          <a:latin typeface="Meiryo"/>
                          <a:ea typeface="メイリオ"/>
                          <a:cs typeface="Meiryo"/>
                        </a:rPr>
                        <a:t>ショップカード機能の継続特典スタート告知</a:t>
                      </a:r>
                    </a:p>
                  </a:txBody>
                  <a:tcPr>
                    <a:solidFill>
                      <a:srgbClr val="FFFFFF"/>
                    </a:solidFill>
                  </a:tcPr>
                </a:tc>
                <a:tc>
                  <a:txBody>
                    <a:bodyPr/>
                    <a:lstStyle/>
                    <a:p>
                      <a:r>
                        <a:rPr sz="105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5-6月</a:t>
                      </a:r>
                    </a:p>
                  </a:txBody>
                  <a:tcPr>
                    <a:solidFill>
                      <a:srgbClr val="FFFFFF"/>
                    </a:solidFill>
                  </a:tcPr>
                </a:tc>
                <a:tc>
                  <a:txBody>
                    <a:bodyPr/>
                    <a:lstStyle/>
                    <a:p>
                      <a:r>
                        <a:rPr sz="105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05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050" b="0">
                          <a:solidFill>
                            <a:srgbClr val="333333"/>
                          </a:solidFill>
                          <a:latin typeface="Meiryo"/>
                          <a:ea typeface="メイリオ"/>
                          <a:cs typeface="Meiryo"/>
                        </a:rPr>
                        <a:t>受験直前期の相談会導線</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9-11月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受験本番に向け母数を増やす</a:t>
                      </a: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・料金・使用量等のよくある質問にLINEチャットボットで自動回答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・暮らしスマイルアンケートをLINEリサーチ機能で実施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マイサーラ会員登録案内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地域別WEB申込キャンペーン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822960"/>
          </a:xfrm>
          <a:prstGeom prst="rect">
            <a:avLst/>
          </a:prstGeom>
          <a:noFill/>
        </p:spPr>
        <p:txBody>
          <a:bodyPr wrap="square">
            <a:spAutoFit/>
          </a:bodyPr>
          <a:lstStyle/>
          <a:p>
            <a:pPr algn="ctr"/>
            <a:r>
              <a:rPr sz="1400" b="0">
                <a:solidFill>
                  <a:srgbClr val="333333"/>
                </a:solidFill>
                <a:latin typeface="メイリオ"/>
                <a:ea typeface="メイリオ"/>
                <a:cs typeface="メイリオ"/>
              </a:rPr>
              <a:t>一度つながれば、接点を持ち続けられる。情報を渡し続けられる。</a:t>
            </a:r>
          </a:p>
          <a:p>
            <a:pPr algn="ctr"/>
            <a:r>
              <a:rPr sz="1400" b="0">
                <a:solidFill>
                  <a:srgbClr val="333333"/>
                </a:solidFill>
                <a:latin typeface="メイリオ"/>
                <a:ea typeface="メイリオ"/>
                <a:cs typeface="メイリオ"/>
              </a:rPr>
              <a:t>体験予約で終わらず、来場 → 入会 → 継続まで並走できる——これがLINE最大の魅力です。</a:t>
            </a:r>
          </a:p>
        </p:txBody>
      </p:sp>
      <p:sp>
        <p:nvSpPr>
          <p:cNvPr id="6" name="TextBox 5"/>
          <p:cNvSpPr txBox="1"/>
          <p:nvPr/>
        </p:nvSpPr>
        <p:spPr>
          <a:xfrm>
            <a:off x="640080" y="4206240"/>
            <a:ext cx="822960" cy="365760"/>
          </a:xfrm>
          <a:prstGeom prst="rect">
            <a:avLst/>
          </a:prstGeom>
          <a:noFill/>
        </p:spPr>
        <p:txBody>
          <a:bodyPr wrap="square">
            <a:spAutoFit/>
          </a:bodyPr>
          <a:lstStyle/>
          <a:p>
            <a:pPr algn="l"/>
            <a:r>
              <a:rPr sz="1400" b="1">
                <a:solidFill>
                  <a:srgbClr val="333333"/>
                </a:solidFill>
                <a:latin typeface="メイリオ"/>
                <a:ea typeface="メイリオ"/>
                <a:cs typeface="メイリオ"/>
              </a:rPr>
              <a:t>広告</a:t>
            </a:r>
          </a:p>
        </p:txBody>
      </p:sp>
      <p:sp>
        <p:nvSpPr>
          <p:cNvPr id="7" name="Rounded Rectangle 6"/>
          <p:cNvSpPr/>
          <p:nvPr/>
        </p:nvSpPr>
        <p:spPr>
          <a:xfrm>
            <a:off x="1554480" y="41605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33333"/>
                </a:solidFill>
                <a:latin typeface="メイリオ"/>
                <a:ea typeface="メイリオ"/>
                <a:cs typeface="メイリオ"/>
              </a:rPr>
              <a:t>接触</a:t>
            </a:r>
          </a:p>
        </p:txBody>
      </p:sp>
      <p:sp>
        <p:nvSpPr>
          <p:cNvPr id="8" name="TextBox 7"/>
          <p:cNvSpPr txBox="1"/>
          <p:nvPr/>
        </p:nvSpPr>
        <p:spPr>
          <a:xfrm>
            <a:off x="2907792" y="423367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9" name="Rounded Rectangle 8"/>
          <p:cNvSpPr/>
          <p:nvPr/>
        </p:nvSpPr>
        <p:spPr>
          <a:xfrm>
            <a:off x="3218688" y="41605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33333"/>
                </a:solidFill>
                <a:latin typeface="メイリオ"/>
                <a:ea typeface="メイリオ"/>
                <a:cs typeface="メイリオ"/>
              </a:rPr>
              <a:t>体験予約（CV）</a:t>
            </a:r>
          </a:p>
        </p:txBody>
      </p:sp>
      <p:sp>
        <p:nvSpPr>
          <p:cNvPr id="10" name="TextBox 9"/>
          <p:cNvSpPr txBox="1"/>
          <p:nvPr/>
        </p:nvSpPr>
        <p:spPr>
          <a:xfrm>
            <a:off x="5166360" y="4224528"/>
            <a:ext cx="3108960" cy="365760"/>
          </a:xfrm>
          <a:prstGeom prst="rect">
            <a:avLst/>
          </a:prstGeom>
          <a:noFill/>
        </p:spPr>
        <p:txBody>
          <a:bodyPr wrap="square">
            <a:spAutoFit/>
          </a:bodyPr>
          <a:lstStyle/>
          <a:p>
            <a:pPr algn="l"/>
            <a:r>
              <a:rPr sz="1300" b="1">
                <a:solidFill>
                  <a:srgbClr val="C00000"/>
                </a:solidFill>
                <a:latin typeface="メイリオ"/>
                <a:ea typeface="メイリオ"/>
                <a:cs typeface="メイリオ"/>
              </a:rPr>
              <a:t>✕ ここで接点が途切れる</a:t>
            </a:r>
          </a:p>
        </p:txBody>
      </p:sp>
      <p:sp>
        <p:nvSpPr>
          <p:cNvPr id="11" name="TextBox 10"/>
          <p:cNvSpPr txBox="1"/>
          <p:nvPr/>
        </p:nvSpPr>
        <p:spPr>
          <a:xfrm>
            <a:off x="640080" y="52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51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接触</a:t>
            </a:r>
          </a:p>
        </p:txBody>
      </p:sp>
      <p:sp>
        <p:nvSpPr>
          <p:cNvPr id="13" name="TextBox 12"/>
          <p:cNvSpPr txBox="1"/>
          <p:nvPr/>
        </p:nvSpPr>
        <p:spPr>
          <a:xfrm>
            <a:off x="2907792"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4" name="Rounded Rectangle 13"/>
          <p:cNvSpPr/>
          <p:nvPr/>
        </p:nvSpPr>
        <p:spPr>
          <a:xfrm>
            <a:off x="3218688" y="51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体験予約（CV）</a:t>
            </a:r>
          </a:p>
        </p:txBody>
      </p:sp>
      <p:sp>
        <p:nvSpPr>
          <p:cNvPr id="15" name="TextBox 14"/>
          <p:cNvSpPr txBox="1"/>
          <p:nvPr/>
        </p:nvSpPr>
        <p:spPr>
          <a:xfrm>
            <a:off x="4983480"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6" name="Rounded Rectangle 15"/>
          <p:cNvSpPr/>
          <p:nvPr/>
        </p:nvSpPr>
        <p:spPr>
          <a:xfrm>
            <a:off x="5294376" y="51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来場</a:t>
            </a:r>
          </a:p>
        </p:txBody>
      </p:sp>
      <p:sp>
        <p:nvSpPr>
          <p:cNvPr id="17" name="TextBox 16"/>
          <p:cNvSpPr txBox="1"/>
          <p:nvPr/>
        </p:nvSpPr>
        <p:spPr>
          <a:xfrm>
            <a:off x="6419088"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8" name="Rounded Rectangle 17"/>
          <p:cNvSpPr/>
          <p:nvPr/>
        </p:nvSpPr>
        <p:spPr>
          <a:xfrm>
            <a:off x="6729984" y="51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メイリオ"/>
                <a:ea typeface="メイリオ"/>
                <a:cs typeface="メイリオ"/>
              </a:rPr>
              <a:t>入会</a:t>
            </a:r>
          </a:p>
        </p:txBody>
      </p:sp>
      <p:sp>
        <p:nvSpPr>
          <p:cNvPr id="19" name="TextBox 18"/>
          <p:cNvSpPr txBox="1"/>
          <p:nvPr/>
        </p:nvSpPr>
        <p:spPr>
          <a:xfrm>
            <a:off x="7854696"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20" name="Rounded Rectangle 19"/>
          <p:cNvSpPr/>
          <p:nvPr/>
        </p:nvSpPr>
        <p:spPr>
          <a:xfrm>
            <a:off x="8165592" y="51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継続・紹介</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143129</TotalTime>
  <Words>6329</Words>
  <Application>Microsoft Office PowerPoint</Application>
  <PresentationFormat>A4 210 x 297 mm</PresentationFormat>
  <Paragraphs>1593</Paragraphs>
  <Slides>58</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58</vt:i4>
      </vt:variant>
    </vt:vector>
  </HeadingPairs>
  <TitlesOfParts>
    <vt:vector size="65"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1954</cp:revision>
  <cp:lastPrinted>2022-11-01T11:38:14Z</cp:lastPrinted>
  <dcterms:created xsi:type="dcterms:W3CDTF">2015-09-04T09:21:15Z</dcterms:created>
  <dcterms:modified xsi:type="dcterms:W3CDTF">2026-09-19T04:08:40Z</dcterms:modified>
</cp:coreProperties>
</file>