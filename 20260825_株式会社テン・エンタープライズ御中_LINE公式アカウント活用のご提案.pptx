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0"/>
  </p:notesMasterIdLst>
  <p:handoutMasterIdLst>
    <p:handoutMasterId r:id="rId31"/>
  </p:handoutMasterIdLst>
  <p:sldIdLst>
    <p:sldId id="2363" r:id="rId3"/>
    <p:sldId id="2721" r:id="rId4"/>
    <p:sldId id="2714" r:id="rId5"/>
    <p:sldId id="2761" r:id="rId6"/>
    <p:sldId id="3007" r:id="rId7"/>
    <p:sldId id="2519" r:id="rId8"/>
    <p:sldId id="2749" r:id="rId9"/>
    <p:sldId id="2736" r:id="rId10"/>
    <p:sldId id="2996" r:id="rId11"/>
    <p:sldId id="3011" r:id="rId14"/>
    <p:sldId id="2997" r:id="rId15"/>
    <p:sldId id="2998" r:id="rId16"/>
    <p:sldId id="3000" r:id="rId18"/>
    <p:sldId id="2841" r:id="rId19"/>
    <p:sldId id="3003" r:id="rId20"/>
    <p:sldId id="3001" r:id="rId21"/>
    <p:sldId id="2959" r:id="rId22"/>
    <p:sldId id="2957" r:id="rId23"/>
    <p:sldId id="3004" r:id="rId24"/>
    <p:sldId id="3013" r:id="rId13"/>
    <p:sldId id="3012" r:id="rId17"/>
    <p:sldId id="2951" r:id="rId25"/>
    <p:sldId id="3005" r:id="rId26"/>
    <p:sldId id="3006" r:id="rId27"/>
    <p:sldId id="2619" r:id="rId28"/>
    <p:sldId id="3008" r:id="rId2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99" autoAdjust="0"/>
    <p:restoredTop sz="94424" autoAdjust="0"/>
  </p:normalViewPr>
  <p:slideViewPr>
    <p:cSldViewPr snapToGrid="0">
      <p:cViewPr varScale="1">
        <p:scale>
          <a:sx n="74" d="100"/>
          <a:sy n="74" d="100"/>
        </p:scale>
        <p:origin x="680"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3" Type="http://schemas.openxmlformats.org/officeDocument/2006/relationships/slide" Target="slides/slide20.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21.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notesMaster" Target="notesMasters/notesMaster1.xml"/><Relationship Id="rId31" Type="http://schemas.openxmlformats.org/officeDocument/2006/relationships/handoutMaster" Target="handoutMasters/handout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2026/8/19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27</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9.svg"/><Relationship Id="rId4" Type="http://schemas.openxmlformats.org/officeDocument/2006/relationships/image" Target="../media/image10.svg"/><Relationship Id="rId5" Type="http://schemas.openxmlformats.org/officeDocument/2006/relationships/image" Target="../media/image11.svg"/><Relationship Id="rId6" Type="http://schemas.openxmlformats.org/officeDocument/2006/relationships/image" Target="../media/image12.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emf"/><Relationship Id="rId4" Type="http://schemas.openxmlformats.org/officeDocument/2006/relationships/image" Target="../media/image21.jpeg"/><Relationship Id="rId5" Type="http://schemas.openxmlformats.org/officeDocument/2006/relationships/image" Target="../media/image22.jpeg"/><Relationship Id="rId6" Type="http://schemas.openxmlformats.org/officeDocument/2006/relationships/image" Target="../media/image23.jpeg"/><Relationship Id="rId7" Type="http://schemas.openxmlformats.org/officeDocument/2006/relationships/image" Target="../media/image24.jpeg"/><Relationship Id="rId8"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18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LINE公式アカウント活用のご提案</a:t>
            </a: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株式会社テン・エンタープライズ様向け</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978408" y="3910946"/>
            <a:ext cx="7955279"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〜「友だち12,000人のLINE資産」をセミナー申込とEC購入に変えるご提案〜</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401568" y="4341752"/>
            <a:ext cx="31089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2026年8月｜株式会社DYM</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公式アカウントの取扱社数は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spTree>
    <p:extLst>
      <p:ext uri="{BB962C8B-B14F-4D97-AF65-F5344CB8AC3E}">
        <p14:creationId xmlns:p14="http://schemas.microsoft.com/office/powerpoint/2010/main" val="2814499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t="757"/>
          <a:stretch/>
        </p:blipFill>
        <p:spPr>
          <a:xfrm>
            <a:off x="295976" y="1434465"/>
            <a:ext cx="9387073" cy="4996347"/>
          </a:xfrm>
          <a:prstGeom prst="rect">
            <a:avLst/>
          </a:prstGeom>
        </p:spPr>
      </p:pic>
      <p:sp>
        <p:nvSpPr>
          <p:cNvPr id="4" name="Google Shape;752;p28">
            <a:extLst>
              <a:ext uri="{FF2B5EF4-FFF2-40B4-BE49-F238E27FC236}">
                <a16:creationId xmlns:a16="http://schemas.microsoft.com/office/drawing/2014/main" id="{FDC206AF-704B-C667-AC7C-8A98250C47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弊社の強み</a:t>
            </a:r>
          </a:p>
        </p:txBody>
      </p:sp>
      <p:sp>
        <p:nvSpPr>
          <p:cNvPr id="7" name="正方形/長方形 6">
            <a:extLst>
              <a:ext uri="{FF2B5EF4-FFF2-40B4-BE49-F238E27FC236}">
                <a16:creationId xmlns:a16="http://schemas.microsoft.com/office/drawing/2014/main" id="{5B599DE5-990B-7CA4-B34C-8BC9D9739CAB}"/>
              </a:ext>
            </a:extLst>
          </p:cNvPr>
          <p:cNvSpPr/>
          <p:nvPr/>
        </p:nvSpPr>
        <p:spPr>
          <a:xfrm>
            <a:off x="486784" y="613850"/>
            <a:ext cx="9005456" cy="6777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プランニング</a:t>
            </a:r>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運用・クリエイティブを一気通貫で行うことで、成果にコミットしやすい体制。</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貴社としても窓口・依頼の工数を大きく削減しながらの施策スタートが可能です。</a:t>
            </a:r>
          </a:p>
        </p:txBody>
      </p:sp>
    </p:spTree>
    <p:extLst>
      <p:ext uri="{BB962C8B-B14F-4D97-AF65-F5344CB8AC3E}">
        <p14:creationId xmlns:p14="http://schemas.microsoft.com/office/powerpoint/2010/main" val="2911739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2891609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DYMによる想定施策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現状分析｜テン・エンタープライズ様の現状と課題</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800" b="1">
                <a:solidFill>
                  <a:srgbClr val="333333"/>
                </a:solidFill>
                <a:latin typeface="メイリオ"/>
                <a:ea typeface="メイリオ"/>
                <a:cs typeface="メイリオ"/>
              </a:rPr>
              <a:t>友だち約12,000人・広告費約250万円/月という資産がありながら、LINEが「セミナー告知」だけに使われている状態です。</a:t>
            </a:r>
          </a:p>
        </p:txBody>
      </p:sp>
      <p:sp>
        <p:nvSpPr>
          <p:cNvPr id="4" name="TextBox 3"/>
          <p:cNvSpPr txBox="1"/>
          <p:nvPr/>
        </p:nvSpPr>
        <p:spPr>
          <a:xfrm>
            <a:off x="548640" y="1298448"/>
            <a:ext cx="4206240" cy="292608"/>
          </a:xfrm>
          <a:prstGeom prst="rect">
            <a:avLst/>
          </a:prstGeom>
          <a:noFill/>
        </p:spPr>
        <p:txBody>
          <a:bodyPr wrap="square" lIns="0" tIns="36576" rIns="73152" bIns="36576" anchor="t">
            <a:spAutoFit/>
          </a:bodyPr>
          <a:lstStyle/>
          <a:p>
            <a:pPr algn="l"/>
            <a:r>
              <a:rPr sz="1400" b="1">
                <a:solidFill>
                  <a:srgbClr val="1F285A"/>
                </a:solidFill>
                <a:latin typeface="メイリオ"/>
                <a:ea typeface="メイリオ"/>
                <a:cs typeface="メイリオ"/>
              </a:rPr>
              <a:t>テン・エンタープライズ様の保有資産</a:t>
            </a:r>
          </a:p>
        </p:txBody>
      </p:sp>
      <p:sp>
        <p:nvSpPr>
          <p:cNvPr id="5" name="Rounded Rectangle 4"/>
          <p:cNvSpPr/>
          <p:nvPr/>
        </p:nvSpPr>
        <p:spPr>
          <a:xfrm>
            <a:off x="548640" y="1664208"/>
            <a:ext cx="4206240" cy="67665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bIns="0" rtlCol="0" anchor="ctr"/>
          <a:lstStyle/>
          <a:p>
            <a:pPr algn="l"/>
            <a:r>
              <a:rPr sz="1400">
                <a:solidFill>
                  <a:srgbClr val="333333"/>
                </a:solidFill>
                <a:latin typeface="メイリオ"/>
                <a:ea typeface="メイリオ"/>
                <a:cs typeface="メイリオ"/>
              </a:rPr>
              <a:t>LINE友だち　</a:t>
            </a:r>
            <a:r>
              <a:rPr sz="1700" b="1">
                <a:solidFill>
                  <a:srgbClr val="1F285A"/>
                </a:solidFill>
                <a:latin typeface="メイリオ"/>
                <a:ea typeface="メイリオ"/>
                <a:cs typeface="メイリオ"/>
              </a:rPr>
              <a:t>約12,000人</a:t>
            </a:r>
          </a:p>
        </p:txBody>
      </p:sp>
      <p:sp>
        <p:nvSpPr>
          <p:cNvPr id="6" name="Rounded Rectangle 5"/>
          <p:cNvSpPr/>
          <p:nvPr/>
        </p:nvSpPr>
        <p:spPr>
          <a:xfrm>
            <a:off x="548640" y="2450592"/>
            <a:ext cx="4206240" cy="67665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bIns="0" rtlCol="0" anchor="ctr"/>
          <a:lstStyle/>
          <a:p>
            <a:pPr algn="l"/>
            <a:r>
              <a:rPr sz="1400">
                <a:solidFill>
                  <a:srgbClr val="333333"/>
                </a:solidFill>
                <a:latin typeface="メイリオ"/>
                <a:ea typeface="メイリオ"/>
                <a:cs typeface="メイリオ"/>
              </a:rPr>
              <a:t>WEB広告費　</a:t>
            </a:r>
            <a:r>
              <a:rPr sz="1700" b="1">
                <a:solidFill>
                  <a:srgbClr val="1F285A"/>
                </a:solidFill>
                <a:latin typeface="メイリオ"/>
                <a:ea typeface="メイリオ"/>
                <a:cs typeface="メイリオ"/>
              </a:rPr>
              <a:t>約250万円/月</a:t>
            </a:r>
          </a:p>
        </p:txBody>
      </p:sp>
      <p:sp>
        <p:nvSpPr>
          <p:cNvPr id="7" name="Rounded Rectangle 6"/>
          <p:cNvSpPr/>
          <p:nvPr/>
        </p:nvSpPr>
        <p:spPr>
          <a:xfrm>
            <a:off x="548640" y="3236976"/>
            <a:ext cx="4206240" cy="67665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bIns="0" rtlCol="0" anchor="ctr"/>
          <a:lstStyle/>
          <a:p>
            <a:pPr algn="l"/>
            <a:r>
              <a:rPr sz="1400">
                <a:solidFill>
                  <a:srgbClr val="333333"/>
                </a:solidFill>
                <a:latin typeface="メイリオ"/>
                <a:ea typeface="メイリオ"/>
                <a:cs typeface="メイリオ"/>
              </a:rPr>
              <a:t>酵素教室セミナー　</a:t>
            </a:r>
            <a:r>
              <a:rPr sz="1700" b="1">
                <a:solidFill>
                  <a:srgbClr val="1F285A"/>
                </a:solidFill>
                <a:latin typeface="メイリオ"/>
                <a:ea typeface="メイリオ"/>
                <a:cs typeface="メイリオ"/>
              </a:rPr>
              <a:t>申込 月50件規模</a:t>
            </a:r>
          </a:p>
        </p:txBody>
      </p:sp>
      <p:sp>
        <p:nvSpPr>
          <p:cNvPr id="8" name="TextBox 7"/>
          <p:cNvSpPr txBox="1"/>
          <p:nvPr/>
        </p:nvSpPr>
        <p:spPr>
          <a:xfrm>
            <a:off x="548640" y="4828032"/>
            <a:ext cx="4206240" cy="365760"/>
          </a:xfrm>
          <a:prstGeom prst="rect">
            <a:avLst/>
          </a:prstGeom>
          <a:noFill/>
        </p:spPr>
        <p:txBody>
          <a:bodyPr wrap="square" lIns="0" tIns="36576" rIns="73152" bIns="36576" anchor="t">
            <a:spAutoFit/>
          </a:bodyPr>
          <a:lstStyle/>
          <a:p>
            <a:pPr algn="l"/>
            <a:r>
              <a:rPr sz="1400">
                <a:solidFill>
                  <a:srgbClr val="333333"/>
                </a:solidFill>
                <a:latin typeface="メイリオ"/>
                <a:ea typeface="メイリオ"/>
                <a:cs typeface="メイリオ"/>
              </a:rPr>
              <a:t>広告はROAS1000%超と好調。ECにはCBD・スプレー等のリピート商材。資産は揃っているが、LINEで売上をつくる設計がない。</a:t>
            </a:r>
          </a:p>
        </p:txBody>
      </p:sp>
      <p:sp>
        <p:nvSpPr>
          <p:cNvPr id="9" name="TextBox 8"/>
          <p:cNvSpPr txBox="1"/>
          <p:nvPr/>
        </p:nvSpPr>
        <p:spPr>
          <a:xfrm>
            <a:off x="5074920" y="1298448"/>
            <a:ext cx="4251960" cy="292608"/>
          </a:xfrm>
          <a:prstGeom prst="rect">
            <a:avLst/>
          </a:prstGeom>
          <a:noFill/>
        </p:spPr>
        <p:txBody>
          <a:bodyPr wrap="square" lIns="0" tIns="36576" rIns="73152" bIns="36576" anchor="t">
            <a:spAutoFit/>
          </a:bodyPr>
          <a:lstStyle/>
          <a:p>
            <a:pPr algn="l"/>
            <a:r>
              <a:rPr sz="1400" b="1">
                <a:solidFill>
                  <a:srgbClr val="C00000"/>
                </a:solidFill>
                <a:latin typeface="メイリオ"/>
                <a:ea typeface="メイリオ"/>
                <a:cs typeface="メイリオ"/>
              </a:rPr>
              <a:t>ボトルネック（LINE活用フェーズ）</a:t>
            </a:r>
          </a:p>
        </p:txBody>
      </p:sp>
      <p:sp>
        <p:nvSpPr>
          <p:cNvPr id="10" name="Rounded Rectangle 9"/>
          <p:cNvSpPr/>
          <p:nvPr/>
        </p:nvSpPr>
        <p:spPr>
          <a:xfrm>
            <a:off x="5074920" y="1664208"/>
            <a:ext cx="4251960" cy="1170432"/>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dirty="0" err="1">
                <a:solidFill>
                  <a:srgbClr val="C00000"/>
                </a:solidFill>
                <a:latin typeface="メイリオ"/>
                <a:ea typeface="メイリオ"/>
                <a:cs typeface="メイリオ"/>
              </a:rPr>
              <a:t>課題</a:t>
            </a:r>
            <a:r>
              <a:rPr sz="1400" b="1" dirty="0">
                <a:solidFill>
                  <a:srgbClr val="C00000"/>
                </a:solidFill>
                <a:latin typeface="メイリオ"/>
                <a:ea typeface="メイリオ"/>
                <a:cs typeface="メイリオ"/>
              </a:rPr>
              <a:t>① </a:t>
            </a:r>
            <a:r>
              <a:rPr sz="1400" b="1" dirty="0" err="1">
                <a:solidFill>
                  <a:srgbClr val="C00000"/>
                </a:solidFill>
                <a:latin typeface="メイリオ"/>
                <a:ea typeface="メイリオ"/>
                <a:cs typeface="メイリオ"/>
              </a:rPr>
              <a:t>配信とメニューがチグハグ</a:t>
            </a:r>
            <a:endParaRPr sz="1400" b="1" dirty="0">
              <a:solidFill>
                <a:srgbClr val="C00000"/>
              </a:solidFill>
              <a:latin typeface="メイリオ"/>
              <a:ea typeface="メイリオ"/>
              <a:cs typeface="メイリオ"/>
            </a:endParaRPr>
          </a:p>
          <a:p>
            <a:pPr algn="l">
              <a:lnSpc>
                <a:spcPct val="115000"/>
              </a:lnSpc>
            </a:pPr>
            <a:r>
              <a:rPr sz="1400" dirty="0">
                <a:solidFill>
                  <a:srgbClr val="333333"/>
                </a:solidFill>
                <a:latin typeface="メイリオ"/>
                <a:ea typeface="メイリオ"/>
                <a:cs typeface="メイリオ"/>
              </a:rPr>
              <a:t>メニューには「オンラインストア」「酵素教室」の2導線があるのに、配信はセミナー告知に偏っている。</a:t>
            </a:r>
          </a:p>
        </p:txBody>
      </p:sp>
      <p:sp>
        <p:nvSpPr>
          <p:cNvPr id="11" name="Rounded Rectangle 10"/>
          <p:cNvSpPr/>
          <p:nvPr/>
        </p:nvSpPr>
        <p:spPr>
          <a:xfrm>
            <a:off x="5074920" y="2944368"/>
            <a:ext cx="4251960" cy="1170432"/>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C00000"/>
                </a:solidFill>
                <a:latin typeface="メイリオ"/>
                <a:ea typeface="メイリオ"/>
                <a:cs typeface="メイリオ"/>
              </a:rPr>
              <a:t>課題② 12,000人が「告知先」止まり</a:t>
            </a:r>
          </a:p>
          <a:p>
            <a:pPr algn="l">
              <a:lnSpc>
                <a:spcPct val="115000"/>
              </a:lnSpc>
            </a:pPr>
            <a:r>
              <a:rPr sz="1400">
                <a:solidFill>
                  <a:srgbClr val="333333"/>
                </a:solidFill>
                <a:latin typeface="メイリオ"/>
                <a:ea typeface="メイリオ"/>
                <a:cs typeface="メイリオ"/>
              </a:rPr>
              <a:t>セグメントもステップ配信もなく、全員に同じ内容を一斉配信。CVを取る設計がない。</a:t>
            </a:r>
          </a:p>
        </p:txBody>
      </p:sp>
      <p:sp>
        <p:nvSpPr>
          <p:cNvPr id="12" name="Rounded Rectangle 11"/>
          <p:cNvSpPr/>
          <p:nvPr/>
        </p:nvSpPr>
        <p:spPr>
          <a:xfrm>
            <a:off x="5074920" y="4224528"/>
            <a:ext cx="4251960" cy="1170432"/>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C00000"/>
                </a:solidFill>
                <a:latin typeface="メイリオ"/>
                <a:ea typeface="メイリオ"/>
                <a:cs typeface="メイリオ"/>
              </a:rPr>
              <a:t>課題③ ECの計測が壊れている</a:t>
            </a:r>
          </a:p>
          <a:p>
            <a:pPr algn="l">
              <a:lnSpc>
                <a:spcPct val="115000"/>
              </a:lnSpc>
            </a:pPr>
            <a:r>
              <a:rPr sz="1400">
                <a:solidFill>
                  <a:srgbClr val="333333"/>
                </a:solidFill>
                <a:latin typeface="メイリオ"/>
                <a:ea typeface="メイリオ"/>
                <a:cs typeface="メイリオ"/>
              </a:rPr>
              <a:t>LINE経由の購入が計測できず、成果も改善も追えない状態。</a:t>
            </a:r>
          </a:p>
        </p:txBody>
      </p:sp>
      <p:sp>
        <p:nvSpPr>
          <p:cNvPr id="13" name="Rounded Rectangle 12"/>
          <p:cNvSpPr/>
          <p:nvPr/>
        </p:nvSpPr>
        <p:spPr>
          <a:xfrm>
            <a:off x="548640" y="5577840"/>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課題は「集客」ではなく、「12,000人の友だち資産を売上に変える設計」にある</a:t>
            </a:r>
          </a:p>
        </p:txBody>
      </p:sp>
      <p:sp>
        <p:nvSpPr>
          <p:cNvPr id="14" name="TextBox 13"/>
          <p:cNvSpPr txBox="1"/>
          <p:nvPr/>
        </p:nvSpPr>
        <p:spPr>
          <a:xfrm>
            <a:off x="548640" y="6272784"/>
            <a:ext cx="8778240" cy="274320"/>
          </a:xfrm>
          <a:prstGeom prst="rect">
            <a:avLst/>
          </a:prstGeom>
          <a:noFill/>
        </p:spPr>
        <p:txBody>
          <a:bodyPr wrap="square" lIns="0" tIns="36576" rIns="73152" bIns="36576" anchor="t">
            <a:spAutoFit/>
          </a:bodyPr>
          <a:lstStyle/>
          <a:p>
            <a:pPr algn="l"/>
            <a:r>
              <a:rPr sz="900">
                <a:solidFill>
                  <a:srgbClr val="808080"/>
                </a:solidFill>
                <a:latin typeface="メイリオ"/>
                <a:ea typeface="メイリオ"/>
                <a:cs typeface="メイリオ"/>
              </a:rPr>
              <a:t>参照元：貴社ヒアリングおよび貴社LINE公式アカウント実機確認（2026年8月）。友だち数は商談時に管理画面で実数を確認します。</a:t>
            </a:r>
          </a:p>
        </p:txBody>
      </p:sp>
      <p:sp>
        <p:nvSpPr>
          <p:cNvPr id="15" name="Rounded Rectangle 6"/>
          <p:cNvSpPr/>
          <p:nvPr/>
        </p:nvSpPr>
        <p:spPr>
          <a:xfrm>
            <a:off x="548640" y="4023360"/>
            <a:ext cx="4206240" cy="67665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bIns="0" rtlCol="0" anchor="ctr"/>
          <a:lstStyle/>
          <a:p>
            <a:pPr algn="l"/>
            <a:r>
              <a:rPr sz="1400">
                <a:solidFill>
                  <a:srgbClr val="333333"/>
                </a:solidFill>
                <a:latin typeface="メイリオ"/>
                <a:ea typeface="メイリオ"/>
                <a:cs typeface="メイリオ"/>
              </a:rPr>
              <a:t>配信外注費　</a:t>
            </a:r>
            <a:r>
              <a:rPr sz="1700" b="1">
                <a:solidFill>
                  <a:srgbClr val="1F285A"/>
                </a:solidFill>
                <a:latin typeface="メイリオ"/>
                <a:ea typeface="メイリオ"/>
                <a:cs typeface="メイリオ"/>
              </a:rPr>
              <a:t>3〜4万円/回</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tIns="0" bIns="0" anchor="t">
            <a:spAutoFit/>
          </a:bodyPr>
          <a:lstStyle/>
          <a:p>
            <a:pPr algn="l"/>
            <a:r>
              <a:rPr sz="2000" b="1">
                <a:solidFill>
                  <a:srgbClr val="002060"/>
                </a:solidFill>
                <a:latin typeface="メイリオ"/>
                <a:ea typeface="メイリオ"/>
              </a:rPr>
              <a:t>本提案の目的｜何を解決し、どこへ到達するか</a:t>
            </a:r>
          </a:p>
        </p:txBody>
      </p:sp>
      <p:sp>
        <p:nvSpPr>
          <p:cNvPr id="3" name="TextBox 2"/>
          <p:cNvSpPr txBox="1"/>
          <p:nvPr/>
        </p:nvSpPr>
        <p:spPr>
          <a:xfrm>
            <a:off x="548640" y="640080"/>
            <a:ext cx="9052560" cy="365760"/>
          </a:xfrm>
          <a:prstGeom prst="rect">
            <a:avLst/>
          </a:prstGeom>
          <a:noFill/>
        </p:spPr>
        <p:txBody>
          <a:bodyPr wrap="square" tIns="0" bIns="0" anchor="t">
            <a:spAutoFit/>
          </a:bodyPr>
          <a:lstStyle/>
          <a:p>
            <a:pPr algn="l"/>
            <a:r>
              <a:rPr sz="1800" b="1">
                <a:solidFill>
                  <a:srgbClr val="333333"/>
                </a:solidFill>
                <a:latin typeface="メイリオ"/>
                <a:ea typeface="メイリオ"/>
              </a:rPr>
              <a:t>12,000人の友だち資産に「セミナー」「EC」2つのCV導線を通し、売上をつくり続ける仕組みにすることが目的です。</a:t>
            </a:r>
          </a:p>
        </p:txBody>
      </p:sp>
      <p:sp>
        <p:nvSpPr>
          <p:cNvPr id="4" name="Rounded Rectangle 3"/>
          <p:cNvSpPr/>
          <p:nvPr/>
        </p:nvSpPr>
        <p:spPr>
          <a:xfrm>
            <a:off x="384048" y="1225296"/>
            <a:ext cx="3017520" cy="3749039"/>
          </a:xfrm>
          <a:prstGeom prst="roundRect">
            <a:avLst>
              <a:gd name="adj" fmla="val 8000"/>
            </a:avLst>
          </a:prstGeom>
          <a:no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12064" y="1371600"/>
            <a:ext cx="2761487" cy="475488"/>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12064" y="1444752"/>
            <a:ext cx="2761487" cy="347472"/>
          </a:xfrm>
          <a:prstGeom prst="rect">
            <a:avLst/>
          </a:prstGeom>
          <a:noFill/>
        </p:spPr>
        <p:txBody>
          <a:bodyPr wrap="square" tIns="0" bIns="0" anchor="t">
            <a:spAutoFit/>
          </a:bodyPr>
          <a:lstStyle/>
          <a:p>
            <a:pPr algn="ctr"/>
            <a:r>
              <a:rPr sz="1500" b="1">
                <a:solidFill>
                  <a:srgbClr val="FFFFFF"/>
                </a:solidFill>
                <a:latin typeface="メイリオ"/>
                <a:ea typeface="メイリオ"/>
              </a:rPr>
              <a:t>①　ここが課題です</a:t>
            </a:r>
          </a:p>
        </p:txBody>
      </p:sp>
      <p:sp>
        <p:nvSpPr>
          <p:cNvPr id="7" name="TextBox 6"/>
          <p:cNvSpPr txBox="1"/>
          <p:nvPr/>
        </p:nvSpPr>
        <p:spPr>
          <a:xfrm>
            <a:off x="640080" y="2048256"/>
            <a:ext cx="2560320" cy="274320"/>
          </a:xfrm>
          <a:prstGeom prst="rect">
            <a:avLst/>
          </a:prstGeom>
          <a:noFill/>
        </p:spPr>
        <p:txBody>
          <a:bodyPr wrap="square" tIns="0" bIns="0" anchor="t">
            <a:spAutoFit/>
          </a:bodyPr>
          <a:lstStyle/>
          <a:p>
            <a:pPr algn="l"/>
            <a:r>
              <a:rPr sz="1300" b="0">
                <a:solidFill>
                  <a:srgbClr val="333333"/>
                </a:solidFill>
                <a:latin typeface="メイリオ"/>
                <a:ea typeface="メイリオ"/>
              </a:rPr>
              <a:t>12,000人の友だちに</a:t>
            </a:r>
          </a:p>
        </p:txBody>
      </p:sp>
      <p:sp>
        <p:nvSpPr>
          <p:cNvPr id="8" name="TextBox 7"/>
          <p:cNvSpPr txBox="1"/>
          <p:nvPr/>
        </p:nvSpPr>
        <p:spPr>
          <a:xfrm>
            <a:off x="640080" y="2322576"/>
            <a:ext cx="2560320" cy="310896"/>
          </a:xfrm>
          <a:prstGeom prst="rect">
            <a:avLst/>
          </a:prstGeom>
          <a:noFill/>
        </p:spPr>
        <p:txBody>
          <a:bodyPr wrap="square" tIns="0" bIns="0" anchor="t">
            <a:spAutoFit/>
          </a:bodyPr>
          <a:lstStyle/>
          <a:p>
            <a:pPr algn="l"/>
            <a:r>
              <a:rPr sz="1350" b="1">
                <a:solidFill>
                  <a:srgbClr val="333333"/>
                </a:solidFill>
                <a:latin typeface="メイリオ"/>
                <a:ea typeface="メイリオ"/>
              </a:rPr>
              <a:t>CVを取る配信設計がない</a:t>
            </a:r>
          </a:p>
        </p:txBody>
      </p:sp>
      <p:cxnSp>
        <p:nvCxnSpPr>
          <p:cNvPr id="9" name="Connector 8"/>
          <p:cNvCxnSpPr/>
          <p:nvPr/>
        </p:nvCxnSpPr>
        <p:spPr>
          <a:xfrm>
            <a:off x="640080" y="2761488"/>
            <a:ext cx="2505455"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0080" y="2980944"/>
            <a:ext cx="2560320" cy="274320"/>
          </a:xfrm>
          <a:prstGeom prst="rect">
            <a:avLst/>
          </a:prstGeom>
          <a:noFill/>
        </p:spPr>
        <p:txBody>
          <a:bodyPr wrap="square" tIns="0" bIns="0" anchor="t">
            <a:spAutoFit/>
          </a:bodyPr>
          <a:lstStyle/>
          <a:p>
            <a:pPr algn="l"/>
            <a:r>
              <a:rPr sz="1300" b="0">
                <a:solidFill>
                  <a:srgbClr val="333333"/>
                </a:solidFill>
                <a:latin typeface="メイリオ"/>
                <a:ea typeface="メイリオ"/>
              </a:rPr>
              <a:t>ECメニューはあるのに</a:t>
            </a:r>
          </a:p>
        </p:txBody>
      </p:sp>
      <p:sp>
        <p:nvSpPr>
          <p:cNvPr id="11" name="TextBox 10"/>
          <p:cNvSpPr txBox="1"/>
          <p:nvPr/>
        </p:nvSpPr>
        <p:spPr>
          <a:xfrm>
            <a:off x="640080" y="3255264"/>
            <a:ext cx="2560320" cy="310896"/>
          </a:xfrm>
          <a:prstGeom prst="rect">
            <a:avLst/>
          </a:prstGeom>
          <a:noFill/>
        </p:spPr>
        <p:txBody>
          <a:bodyPr wrap="square" tIns="0" bIns="0" anchor="t">
            <a:spAutoFit/>
          </a:bodyPr>
          <a:lstStyle/>
          <a:p>
            <a:pPr algn="l"/>
            <a:r>
              <a:rPr sz="1350" b="1">
                <a:solidFill>
                  <a:srgbClr val="333333"/>
                </a:solidFill>
                <a:latin typeface="メイリオ"/>
                <a:ea typeface="メイリオ"/>
              </a:rPr>
              <a:t>配信で案内されていない</a:t>
            </a:r>
          </a:p>
        </p:txBody>
      </p:sp>
      <p:cxnSp>
        <p:nvCxnSpPr>
          <p:cNvPr id="12" name="Connector 11"/>
          <p:cNvCxnSpPr/>
          <p:nvPr/>
        </p:nvCxnSpPr>
        <p:spPr>
          <a:xfrm>
            <a:off x="640080" y="3694176"/>
            <a:ext cx="2505455"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3913632"/>
            <a:ext cx="2560320" cy="274320"/>
          </a:xfrm>
          <a:prstGeom prst="rect">
            <a:avLst/>
          </a:prstGeom>
          <a:noFill/>
        </p:spPr>
        <p:txBody>
          <a:bodyPr wrap="square" tIns="0" bIns="0" anchor="t">
            <a:spAutoFit/>
          </a:bodyPr>
          <a:lstStyle/>
          <a:p>
            <a:pPr algn="l"/>
            <a:r>
              <a:rPr sz="1300" b="0">
                <a:solidFill>
                  <a:srgbClr val="333333"/>
                </a:solidFill>
                <a:latin typeface="メイリオ"/>
                <a:ea typeface="メイリオ"/>
              </a:rPr>
              <a:t>LINE経由ECの計測が壊れ</a:t>
            </a:r>
          </a:p>
        </p:txBody>
      </p:sp>
      <p:sp>
        <p:nvSpPr>
          <p:cNvPr id="14" name="TextBox 13"/>
          <p:cNvSpPr txBox="1"/>
          <p:nvPr/>
        </p:nvSpPr>
        <p:spPr>
          <a:xfrm>
            <a:off x="640080" y="4187952"/>
            <a:ext cx="2560320" cy="310896"/>
          </a:xfrm>
          <a:prstGeom prst="rect">
            <a:avLst/>
          </a:prstGeom>
          <a:noFill/>
        </p:spPr>
        <p:txBody>
          <a:bodyPr wrap="square" tIns="0" bIns="0" anchor="t">
            <a:spAutoFit/>
          </a:bodyPr>
          <a:lstStyle/>
          <a:p>
            <a:pPr algn="l"/>
            <a:r>
              <a:rPr sz="1350" b="1">
                <a:solidFill>
                  <a:srgbClr val="333333"/>
                </a:solidFill>
                <a:latin typeface="メイリオ"/>
                <a:ea typeface="メイリオ"/>
              </a:rPr>
              <a:t>成果を追えない</a:t>
            </a:r>
          </a:p>
        </p:txBody>
      </p:sp>
      <p:sp>
        <p:nvSpPr>
          <p:cNvPr id="15" name="TextBox 14"/>
          <p:cNvSpPr txBox="1"/>
          <p:nvPr/>
        </p:nvSpPr>
        <p:spPr>
          <a:xfrm>
            <a:off x="3438144" y="2871216"/>
            <a:ext cx="201168" cy="402336"/>
          </a:xfrm>
          <a:prstGeom prst="rect">
            <a:avLst/>
          </a:prstGeom>
          <a:noFill/>
        </p:spPr>
        <p:txBody>
          <a:bodyPr wrap="square" tIns="0" bIns="0" anchor="t">
            <a:spAutoFit/>
          </a:bodyPr>
          <a:lstStyle/>
          <a:p>
            <a:pPr algn="ctr"/>
            <a:r>
              <a:rPr sz="1700" b="1">
                <a:solidFill>
                  <a:srgbClr val="1F285A"/>
                </a:solidFill>
                <a:latin typeface="メイリオ"/>
                <a:ea typeface="メイリオ"/>
              </a:rPr>
              <a:t>▶</a:t>
            </a:r>
          </a:p>
        </p:txBody>
      </p:sp>
      <p:sp>
        <p:nvSpPr>
          <p:cNvPr id="16" name="Rounded Rectangle 15"/>
          <p:cNvSpPr/>
          <p:nvPr/>
        </p:nvSpPr>
        <p:spPr>
          <a:xfrm>
            <a:off x="3621024" y="1225296"/>
            <a:ext cx="3017520" cy="3749039"/>
          </a:xfrm>
          <a:prstGeom prst="roundRect">
            <a:avLst>
              <a:gd name="adj" fmla="val 8000"/>
            </a:avLst>
          </a:prstGeom>
          <a:no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749039" y="1371600"/>
            <a:ext cx="2761487" cy="475488"/>
          </a:xfrm>
          <a:prstGeom prst="roundRect">
            <a:avLst>
              <a:gd name="adj" fmla="val 14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49039" y="1444752"/>
            <a:ext cx="2761487" cy="347472"/>
          </a:xfrm>
          <a:prstGeom prst="rect">
            <a:avLst/>
          </a:prstGeom>
          <a:noFill/>
        </p:spPr>
        <p:txBody>
          <a:bodyPr wrap="square" tIns="0" bIns="0" anchor="t">
            <a:spAutoFit/>
          </a:bodyPr>
          <a:lstStyle/>
          <a:p>
            <a:pPr algn="ctr"/>
            <a:r>
              <a:rPr sz="1500" b="1">
                <a:solidFill>
                  <a:srgbClr val="FFFFFF"/>
                </a:solidFill>
                <a:latin typeface="メイリオ"/>
                <a:ea typeface="メイリオ"/>
              </a:rPr>
              <a:t>②　LINEでこう対策します</a:t>
            </a:r>
          </a:p>
        </p:txBody>
      </p:sp>
      <p:sp>
        <p:nvSpPr>
          <p:cNvPr id="19" name="TextBox 18"/>
          <p:cNvSpPr txBox="1"/>
          <p:nvPr/>
        </p:nvSpPr>
        <p:spPr>
          <a:xfrm>
            <a:off x="3877056" y="2048256"/>
            <a:ext cx="2560320" cy="274320"/>
          </a:xfrm>
          <a:prstGeom prst="rect">
            <a:avLst/>
          </a:prstGeom>
          <a:noFill/>
        </p:spPr>
        <p:txBody>
          <a:bodyPr wrap="square" tIns="0" bIns="0" anchor="t">
            <a:spAutoFit/>
          </a:bodyPr>
          <a:lstStyle/>
          <a:p>
            <a:pPr algn="l"/>
            <a:r>
              <a:rPr sz="1300" b="0">
                <a:solidFill>
                  <a:srgbClr val="333333"/>
                </a:solidFill>
                <a:latin typeface="メイリオ"/>
                <a:ea typeface="メイリオ"/>
              </a:rPr>
              <a:t>ステップ＋セグメント配信で</a:t>
            </a:r>
          </a:p>
        </p:txBody>
      </p:sp>
      <p:sp>
        <p:nvSpPr>
          <p:cNvPr id="20" name="TextBox 19"/>
          <p:cNvSpPr txBox="1"/>
          <p:nvPr/>
        </p:nvSpPr>
        <p:spPr>
          <a:xfrm>
            <a:off x="3877056" y="2322576"/>
            <a:ext cx="2560320" cy="310896"/>
          </a:xfrm>
          <a:prstGeom prst="rect">
            <a:avLst/>
          </a:prstGeom>
          <a:noFill/>
        </p:spPr>
        <p:txBody>
          <a:bodyPr wrap="square" tIns="0" bIns="0" anchor="t">
            <a:spAutoFit/>
          </a:bodyPr>
          <a:lstStyle/>
          <a:p>
            <a:pPr algn="l"/>
            <a:r>
              <a:rPr sz="1350" b="1">
                <a:solidFill>
                  <a:srgbClr val="1F285A"/>
                </a:solidFill>
                <a:latin typeface="メイリオ"/>
                <a:ea typeface="メイリオ"/>
              </a:rPr>
              <a:t>セミナー申込へ誘導</a:t>
            </a:r>
          </a:p>
        </p:txBody>
      </p:sp>
      <p:cxnSp>
        <p:nvCxnSpPr>
          <p:cNvPr id="21" name="Connector 20"/>
          <p:cNvCxnSpPr/>
          <p:nvPr/>
        </p:nvCxnSpPr>
        <p:spPr>
          <a:xfrm>
            <a:off x="3877056" y="2761488"/>
            <a:ext cx="2505456"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877056" y="2980944"/>
            <a:ext cx="2560320" cy="274320"/>
          </a:xfrm>
          <a:prstGeom prst="rect">
            <a:avLst/>
          </a:prstGeom>
          <a:noFill/>
        </p:spPr>
        <p:txBody>
          <a:bodyPr wrap="square" tIns="0" bIns="0" anchor="t">
            <a:spAutoFit/>
          </a:bodyPr>
          <a:lstStyle/>
          <a:p>
            <a:pPr algn="l"/>
            <a:r>
              <a:rPr sz="1300" b="0">
                <a:solidFill>
                  <a:srgbClr val="333333"/>
                </a:solidFill>
                <a:latin typeface="メイリオ"/>
                <a:ea typeface="メイリオ"/>
              </a:rPr>
              <a:t>リッチメニュー再設計と</a:t>
            </a:r>
          </a:p>
        </p:txBody>
      </p:sp>
      <p:sp>
        <p:nvSpPr>
          <p:cNvPr id="23" name="TextBox 22"/>
          <p:cNvSpPr txBox="1"/>
          <p:nvPr/>
        </p:nvSpPr>
        <p:spPr>
          <a:xfrm>
            <a:off x="3877056" y="3255264"/>
            <a:ext cx="2560320" cy="310896"/>
          </a:xfrm>
          <a:prstGeom prst="rect">
            <a:avLst/>
          </a:prstGeom>
          <a:noFill/>
        </p:spPr>
        <p:txBody>
          <a:bodyPr wrap="square" tIns="0" bIns="0" anchor="t">
            <a:spAutoFit/>
          </a:bodyPr>
          <a:lstStyle/>
          <a:p>
            <a:pPr algn="l"/>
            <a:r>
              <a:rPr sz="1350" b="1">
                <a:solidFill>
                  <a:srgbClr val="1F285A"/>
                </a:solidFill>
                <a:latin typeface="メイリオ"/>
                <a:ea typeface="メイリオ"/>
              </a:rPr>
              <a:t>EC企画配信で相互送客</a:t>
            </a:r>
          </a:p>
        </p:txBody>
      </p:sp>
      <p:cxnSp>
        <p:nvCxnSpPr>
          <p:cNvPr id="24" name="Connector 23"/>
          <p:cNvCxnSpPr/>
          <p:nvPr/>
        </p:nvCxnSpPr>
        <p:spPr>
          <a:xfrm>
            <a:off x="3877056" y="3694176"/>
            <a:ext cx="2505456"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877056" y="3913632"/>
            <a:ext cx="2560320" cy="274320"/>
          </a:xfrm>
          <a:prstGeom prst="rect">
            <a:avLst/>
          </a:prstGeom>
          <a:noFill/>
        </p:spPr>
        <p:txBody>
          <a:bodyPr wrap="square" tIns="0" bIns="0" anchor="t">
            <a:spAutoFit/>
          </a:bodyPr>
          <a:lstStyle/>
          <a:p>
            <a:pPr algn="l"/>
            <a:r>
              <a:rPr sz="1300" b="0">
                <a:solidFill>
                  <a:srgbClr val="333333"/>
                </a:solidFill>
                <a:latin typeface="メイリオ"/>
                <a:ea typeface="メイリオ"/>
              </a:rPr>
              <a:t>UTM設計で計測を整備し</a:t>
            </a:r>
          </a:p>
        </p:txBody>
      </p:sp>
      <p:sp>
        <p:nvSpPr>
          <p:cNvPr id="26" name="TextBox 25"/>
          <p:cNvSpPr txBox="1"/>
          <p:nvPr/>
        </p:nvSpPr>
        <p:spPr>
          <a:xfrm>
            <a:off x="3877056" y="4187952"/>
            <a:ext cx="2560320" cy="310896"/>
          </a:xfrm>
          <a:prstGeom prst="rect">
            <a:avLst/>
          </a:prstGeom>
          <a:noFill/>
        </p:spPr>
        <p:txBody>
          <a:bodyPr wrap="square" tIns="0" bIns="0" anchor="t">
            <a:spAutoFit/>
          </a:bodyPr>
          <a:lstStyle/>
          <a:p>
            <a:pPr algn="l"/>
            <a:r>
              <a:rPr sz="1350" b="1">
                <a:solidFill>
                  <a:srgbClr val="1F285A"/>
                </a:solidFill>
                <a:latin typeface="メイリオ"/>
                <a:ea typeface="メイリオ"/>
              </a:rPr>
              <a:t>購入とLTVを可視化</a:t>
            </a:r>
          </a:p>
        </p:txBody>
      </p:sp>
      <p:sp>
        <p:nvSpPr>
          <p:cNvPr id="27" name="TextBox 26"/>
          <p:cNvSpPr txBox="1"/>
          <p:nvPr/>
        </p:nvSpPr>
        <p:spPr>
          <a:xfrm>
            <a:off x="6675120" y="2871216"/>
            <a:ext cx="201168" cy="402336"/>
          </a:xfrm>
          <a:prstGeom prst="rect">
            <a:avLst/>
          </a:prstGeom>
          <a:noFill/>
        </p:spPr>
        <p:txBody>
          <a:bodyPr wrap="square" tIns="0" bIns="0" anchor="t">
            <a:spAutoFit/>
          </a:bodyPr>
          <a:lstStyle/>
          <a:p>
            <a:pPr algn="ctr"/>
            <a:r>
              <a:rPr sz="1700" b="1">
                <a:solidFill>
                  <a:srgbClr val="1F285A"/>
                </a:solidFill>
                <a:latin typeface="メイリオ"/>
                <a:ea typeface="メイリオ"/>
              </a:rPr>
              <a:t>▶</a:t>
            </a:r>
          </a:p>
        </p:txBody>
      </p:sp>
      <p:sp>
        <p:nvSpPr>
          <p:cNvPr id="28" name="Rounded Rectangle 27"/>
          <p:cNvSpPr/>
          <p:nvPr/>
        </p:nvSpPr>
        <p:spPr>
          <a:xfrm>
            <a:off x="6858000" y="1225296"/>
            <a:ext cx="3017520" cy="3749039"/>
          </a:xfrm>
          <a:prstGeom prst="roundRect">
            <a:avLst>
              <a:gd name="adj" fmla="val 8000"/>
            </a:avLst>
          </a:prstGeom>
          <a:solidFill>
            <a:srgbClr val="E8EEF7"/>
          </a:solidFill>
          <a:ln w="22225">
            <a:solidFill>
              <a:srgbClr val="008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986016" y="1371600"/>
            <a:ext cx="2761487" cy="475488"/>
          </a:xfrm>
          <a:prstGeom prst="roundRect">
            <a:avLst>
              <a:gd name="adj" fmla="val 14000"/>
            </a:avLst>
          </a:prstGeom>
          <a:solidFill>
            <a:srgbClr val="00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86016" y="1444752"/>
            <a:ext cx="2761487" cy="347472"/>
          </a:xfrm>
          <a:prstGeom prst="rect">
            <a:avLst/>
          </a:prstGeom>
          <a:noFill/>
        </p:spPr>
        <p:txBody>
          <a:bodyPr wrap="square" tIns="0" bIns="0" anchor="t">
            <a:spAutoFit/>
          </a:bodyPr>
          <a:lstStyle/>
          <a:p>
            <a:pPr algn="ctr"/>
            <a:r>
              <a:rPr sz="1500" b="1">
                <a:solidFill>
                  <a:srgbClr val="FFFFFF"/>
                </a:solidFill>
                <a:latin typeface="メイリオ"/>
                <a:ea typeface="メイリオ"/>
              </a:rPr>
              <a:t>③　その結果こうなります</a:t>
            </a:r>
          </a:p>
        </p:txBody>
      </p:sp>
      <p:sp>
        <p:nvSpPr>
          <p:cNvPr id="31" name="TextBox 30"/>
          <p:cNvSpPr txBox="1"/>
          <p:nvPr/>
        </p:nvSpPr>
        <p:spPr>
          <a:xfrm>
            <a:off x="7114032" y="2048256"/>
            <a:ext cx="2560320" cy="274320"/>
          </a:xfrm>
          <a:prstGeom prst="rect">
            <a:avLst/>
          </a:prstGeom>
          <a:noFill/>
        </p:spPr>
        <p:txBody>
          <a:bodyPr wrap="square" tIns="0" bIns="0" anchor="t">
            <a:spAutoFit/>
          </a:bodyPr>
          <a:lstStyle/>
          <a:p>
            <a:pPr algn="l"/>
            <a:r>
              <a:rPr sz="1300" b="0">
                <a:solidFill>
                  <a:srgbClr val="333333"/>
                </a:solidFill>
                <a:latin typeface="メイリオ"/>
                <a:ea typeface="メイリオ"/>
              </a:rPr>
              <a:t>セミナー申込</a:t>
            </a:r>
          </a:p>
        </p:txBody>
      </p:sp>
      <p:sp>
        <p:nvSpPr>
          <p:cNvPr id="32" name="TextBox 31"/>
          <p:cNvSpPr txBox="1"/>
          <p:nvPr/>
        </p:nvSpPr>
        <p:spPr>
          <a:xfrm>
            <a:off x="7114032" y="2322576"/>
            <a:ext cx="2560320" cy="310896"/>
          </a:xfrm>
          <a:prstGeom prst="rect">
            <a:avLst/>
          </a:prstGeom>
          <a:noFill/>
        </p:spPr>
        <p:txBody>
          <a:bodyPr wrap="square" tIns="0" bIns="0" anchor="t">
            <a:spAutoFit/>
          </a:bodyPr>
          <a:lstStyle/>
          <a:p>
            <a:pPr algn="l"/>
            <a:r>
              <a:rPr sz="1350" b="1">
                <a:solidFill>
                  <a:srgbClr val="008A45"/>
                </a:solidFill>
                <a:latin typeface="メイリオ"/>
                <a:ea typeface="メイリオ"/>
              </a:rPr>
              <a:t>半年40件を上乗せ</a:t>
            </a:r>
          </a:p>
        </p:txBody>
      </p:sp>
      <p:cxnSp>
        <p:nvCxnSpPr>
          <p:cNvPr id="33" name="Connector 32"/>
          <p:cNvCxnSpPr/>
          <p:nvPr/>
        </p:nvCxnSpPr>
        <p:spPr>
          <a:xfrm>
            <a:off x="7114032" y="2761488"/>
            <a:ext cx="2505456"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114032" y="2980944"/>
            <a:ext cx="2560320" cy="274320"/>
          </a:xfrm>
          <a:prstGeom prst="rect">
            <a:avLst/>
          </a:prstGeom>
          <a:noFill/>
        </p:spPr>
        <p:txBody>
          <a:bodyPr wrap="square" tIns="0" bIns="0" anchor="t">
            <a:spAutoFit/>
          </a:bodyPr>
          <a:lstStyle/>
          <a:p>
            <a:pPr algn="l"/>
            <a:r>
              <a:rPr sz="1300" b="0">
                <a:solidFill>
                  <a:srgbClr val="333333"/>
                </a:solidFill>
                <a:latin typeface="メイリオ"/>
                <a:ea typeface="メイリオ"/>
              </a:rPr>
              <a:t>EC購入</a:t>
            </a:r>
          </a:p>
        </p:txBody>
      </p:sp>
      <p:sp>
        <p:nvSpPr>
          <p:cNvPr id="35" name="TextBox 34"/>
          <p:cNvSpPr txBox="1"/>
          <p:nvPr/>
        </p:nvSpPr>
        <p:spPr>
          <a:xfrm>
            <a:off x="7114032" y="3255264"/>
            <a:ext cx="2560320" cy="310896"/>
          </a:xfrm>
          <a:prstGeom prst="rect">
            <a:avLst/>
          </a:prstGeom>
          <a:noFill/>
        </p:spPr>
        <p:txBody>
          <a:bodyPr wrap="square" tIns="0" bIns="0" anchor="t">
            <a:spAutoFit/>
          </a:bodyPr>
          <a:lstStyle/>
          <a:p>
            <a:pPr algn="l"/>
            <a:r>
              <a:rPr sz="1350" b="1">
                <a:solidFill>
                  <a:srgbClr val="008A45"/>
                </a:solidFill>
                <a:latin typeface="メイリオ"/>
                <a:ea typeface="メイリオ"/>
              </a:rPr>
              <a:t>半年72件を創出</a:t>
            </a:r>
          </a:p>
        </p:txBody>
      </p:sp>
      <p:cxnSp>
        <p:nvCxnSpPr>
          <p:cNvPr id="36" name="Connector 35"/>
          <p:cNvCxnSpPr/>
          <p:nvPr/>
        </p:nvCxnSpPr>
        <p:spPr>
          <a:xfrm>
            <a:off x="7114032" y="3694176"/>
            <a:ext cx="2505456"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114032" y="3913632"/>
            <a:ext cx="2560320" cy="274320"/>
          </a:xfrm>
          <a:prstGeom prst="rect">
            <a:avLst/>
          </a:prstGeom>
          <a:noFill/>
        </p:spPr>
        <p:txBody>
          <a:bodyPr wrap="square" tIns="0" bIns="0" anchor="t">
            <a:spAutoFit/>
          </a:bodyPr>
          <a:lstStyle/>
          <a:p>
            <a:pPr algn="l"/>
            <a:r>
              <a:rPr sz="1300" b="0">
                <a:solidFill>
                  <a:srgbClr val="333333"/>
                </a:solidFill>
                <a:latin typeface="メイリオ"/>
                <a:ea typeface="メイリオ"/>
              </a:rPr>
              <a:t>成果が数字で見え</a:t>
            </a:r>
          </a:p>
        </p:txBody>
      </p:sp>
      <p:sp>
        <p:nvSpPr>
          <p:cNvPr id="38" name="TextBox 37"/>
          <p:cNvSpPr txBox="1"/>
          <p:nvPr/>
        </p:nvSpPr>
        <p:spPr>
          <a:xfrm>
            <a:off x="7114032" y="4187952"/>
            <a:ext cx="2560320" cy="310896"/>
          </a:xfrm>
          <a:prstGeom prst="rect">
            <a:avLst/>
          </a:prstGeom>
          <a:noFill/>
        </p:spPr>
        <p:txBody>
          <a:bodyPr wrap="square" tIns="0" bIns="0" anchor="t">
            <a:spAutoFit/>
          </a:bodyPr>
          <a:lstStyle/>
          <a:p>
            <a:pPr algn="l"/>
            <a:r>
              <a:rPr sz="1350" b="1">
                <a:solidFill>
                  <a:srgbClr val="008A45"/>
                </a:solidFill>
                <a:latin typeface="メイリオ"/>
                <a:ea typeface="メイリオ"/>
              </a:rPr>
              <a:t>改善サイクルが回る</a:t>
            </a:r>
          </a:p>
        </p:txBody>
      </p:sp>
      <p:sp>
        <p:nvSpPr>
          <p:cNvPr id="39" name="Rounded Rectangle 38"/>
          <p:cNvSpPr/>
          <p:nvPr/>
        </p:nvSpPr>
        <p:spPr>
          <a:xfrm>
            <a:off x="384048" y="5175504"/>
            <a:ext cx="9134856" cy="530352"/>
          </a:xfrm>
          <a:prstGeom prst="roundRect">
            <a:avLst>
              <a:gd name="adj" fmla="val 1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メイリオ"/>
                <a:ea typeface="メイリオ"/>
              </a:rPr>
              <a:t>「配信すれば届く12,000人」を、売上をつくる資産に変えます</a:t>
            </a:r>
          </a:p>
        </p:txBody>
      </p:sp>
      <p:sp>
        <p:nvSpPr>
          <p:cNvPr id="40" name="TextBox 39"/>
          <p:cNvSpPr txBox="1"/>
          <p:nvPr/>
        </p:nvSpPr>
        <p:spPr>
          <a:xfrm>
            <a:off x="384048" y="5870448"/>
            <a:ext cx="9134856" cy="548640"/>
          </a:xfrm>
          <a:prstGeom prst="rect">
            <a:avLst/>
          </a:prstGeom>
          <a:noFill/>
        </p:spPr>
        <p:txBody>
          <a:bodyPr wrap="square" tIns="0" bIns="0" anchor="t">
            <a:spAutoFit/>
          </a:bodyPr>
          <a:lstStyle/>
          <a:p>
            <a:pPr algn="l"/>
            <a:r>
              <a:rPr sz="900" b="0">
                <a:solidFill>
                  <a:srgbClr val="808080"/>
                </a:solidFill>
                <a:latin typeface="メイリオ"/>
                <a:ea typeface="メイリオ"/>
              </a:rPr>
              <a:t>※数値は本資料のシミュレーション（成果報酬プラン）に基づく想定値です。友だち数は貴社実数にて補正します。</a:t>
            </a:r>
          </a:p>
          <a:p>
            <a:pPr algn="l"/>
            <a:r>
              <a:rPr sz="900" b="0">
                <a:solidFill>
                  <a:srgbClr val="808080"/>
                </a:solidFill>
                <a:latin typeface="メイリオ"/>
                <a:ea typeface="メイリオ"/>
              </a:rPr>
              <a:t>※EC購入の成果カウントは、UTM計測整備の完了後から開始します。</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解決の方向性</a:t>
            </a:r>
          </a:p>
        </p:txBody>
      </p:sp>
      <p:sp>
        <p:nvSpPr>
          <p:cNvPr id="3" name="TextBox 2"/>
          <p:cNvSpPr txBox="1"/>
          <p:nvPr/>
        </p:nvSpPr>
        <p:spPr>
          <a:xfrm>
            <a:off x="548640" y="640080"/>
            <a:ext cx="8778240" cy="530352"/>
          </a:xfrm>
          <a:prstGeom prst="rect">
            <a:avLst/>
          </a:prstGeom>
          <a:noFill/>
        </p:spPr>
        <p:txBody>
          <a:bodyPr wrap="square" lIns="0" tIns="18288" rIns="0" bIns="18288" anchor="ctr">
            <a:spAutoFit/>
          </a:bodyPr>
          <a:lstStyle/>
          <a:p>
            <a:pPr algn="l">
              <a:lnSpc>
                <a:spcPct val="110000"/>
              </a:lnSpc>
            </a:pPr>
            <a:r>
              <a:rPr sz="1800" b="1">
                <a:solidFill>
                  <a:srgbClr val="333333"/>
                </a:solidFill>
                <a:latin typeface="メイリオ"/>
                <a:ea typeface="メイリオ"/>
                <a:cs typeface="メイリオ"/>
              </a:rPr>
              <a:t>12,000人の友だち資産に2つのCV導線を通し、月次で申込と購入を積み上げます。</a:t>
            </a:r>
          </a:p>
        </p:txBody>
      </p:sp>
      <p:sp>
        <p:nvSpPr>
          <p:cNvPr id="4" name="Rounded Rectangle 3"/>
          <p:cNvSpPr/>
          <p:nvPr/>
        </p:nvSpPr>
        <p:spPr>
          <a:xfrm>
            <a:off x="548640" y="1371600"/>
            <a:ext cx="2377440" cy="1051560"/>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200"/>
              </a:spcAft>
            </a:pPr>
            <a:r>
              <a:rPr sz="1400" b="1">
                <a:solidFill>
                  <a:srgbClr val="C00000"/>
                </a:solidFill>
                <a:latin typeface="メイリオ"/>
                <a:ea typeface="メイリオ"/>
                <a:cs typeface="メイリオ"/>
              </a:rPr>
              <a:t>課題①</a:t>
            </a:r>
          </a:p>
          <a:p>
            <a:pPr algn="ctr"/>
            <a:r>
              <a:rPr sz="1400" b="1">
                <a:solidFill>
                  <a:srgbClr val="C00000"/>
                </a:solidFill>
                <a:latin typeface="メイリオ"/>
                <a:ea typeface="メイリオ"/>
                <a:cs typeface="メイリオ"/>
              </a:rPr>
              <a:t>配信設計がない</a:t>
            </a:r>
          </a:p>
        </p:txBody>
      </p:sp>
      <p:sp>
        <p:nvSpPr>
          <p:cNvPr id="5" name="Right Arrow 4"/>
          <p:cNvSpPr/>
          <p:nvPr/>
        </p:nvSpPr>
        <p:spPr>
          <a:xfrm>
            <a:off x="3035808" y="1700784"/>
            <a:ext cx="475488" cy="402336"/>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11880" y="1371600"/>
            <a:ext cx="57150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1F285A"/>
                </a:solidFill>
                <a:latin typeface="メイリオ"/>
                <a:ea typeface="メイリオ"/>
                <a:cs typeface="メイリオ"/>
              </a:rPr>
              <a:t>① ステップ×セグメント配信</a:t>
            </a:r>
          </a:p>
          <a:p>
            <a:pPr algn="l">
              <a:lnSpc>
                <a:spcPct val="115000"/>
              </a:lnSpc>
            </a:pPr>
            <a:r>
              <a:rPr sz="1400">
                <a:solidFill>
                  <a:srgbClr val="333333"/>
                </a:solidFill>
                <a:latin typeface="メイリオ"/>
                <a:ea typeface="メイリオ"/>
                <a:cs typeface="メイリオ"/>
              </a:rPr>
              <a:t>追加直後から、興味別にセミナー案内とEC企画を出し分ける。</a:t>
            </a:r>
          </a:p>
        </p:txBody>
      </p:sp>
      <p:sp>
        <p:nvSpPr>
          <p:cNvPr id="7" name="Rounded Rectangle 6"/>
          <p:cNvSpPr/>
          <p:nvPr/>
        </p:nvSpPr>
        <p:spPr>
          <a:xfrm>
            <a:off x="548640" y="2578608"/>
            <a:ext cx="2377440" cy="1051560"/>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200"/>
              </a:spcAft>
            </a:pPr>
            <a:r>
              <a:rPr sz="1400" b="1">
                <a:solidFill>
                  <a:srgbClr val="C00000"/>
                </a:solidFill>
                <a:latin typeface="メイリオ"/>
                <a:ea typeface="メイリオ"/>
                <a:cs typeface="メイリオ"/>
              </a:rPr>
              <a:t>課題②</a:t>
            </a:r>
          </a:p>
          <a:p>
            <a:pPr algn="ctr"/>
            <a:r>
              <a:rPr sz="1400" b="1">
                <a:solidFill>
                  <a:srgbClr val="C00000"/>
                </a:solidFill>
                <a:latin typeface="メイリオ"/>
                <a:ea typeface="メイリオ"/>
                <a:cs typeface="メイリオ"/>
              </a:rPr>
              <a:t>導線がチグハグ</a:t>
            </a:r>
          </a:p>
        </p:txBody>
      </p:sp>
      <p:sp>
        <p:nvSpPr>
          <p:cNvPr id="8" name="Right Arrow 7"/>
          <p:cNvSpPr/>
          <p:nvPr/>
        </p:nvSpPr>
        <p:spPr>
          <a:xfrm>
            <a:off x="3035808" y="2907792"/>
            <a:ext cx="475488" cy="402336"/>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611880" y="2578608"/>
            <a:ext cx="57150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1F285A"/>
                </a:solidFill>
                <a:latin typeface="メイリオ"/>
                <a:ea typeface="メイリオ"/>
                <a:cs typeface="メイリオ"/>
              </a:rPr>
              <a:t>② リッチメニュー再設計</a:t>
            </a:r>
          </a:p>
          <a:p>
            <a:pPr algn="l">
              <a:lnSpc>
                <a:spcPct val="115000"/>
              </a:lnSpc>
            </a:pPr>
            <a:r>
              <a:rPr sz="1400">
                <a:solidFill>
                  <a:srgbClr val="333333"/>
                </a:solidFill>
                <a:latin typeface="メイリオ"/>
                <a:ea typeface="メイリオ"/>
                <a:cs typeface="メイリオ"/>
              </a:rPr>
              <a:t>セミナー面とEC面をタブで整理し、「いま押してほしいボタン」を明確に。</a:t>
            </a:r>
          </a:p>
        </p:txBody>
      </p:sp>
      <p:sp>
        <p:nvSpPr>
          <p:cNvPr id="10" name="Rounded Rectangle 9"/>
          <p:cNvSpPr/>
          <p:nvPr/>
        </p:nvSpPr>
        <p:spPr>
          <a:xfrm>
            <a:off x="548640" y="3785616"/>
            <a:ext cx="2377440" cy="1051560"/>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spcAft>
                <a:spcPts val="200"/>
              </a:spcAft>
            </a:pPr>
            <a:r>
              <a:rPr sz="1400" b="1">
                <a:solidFill>
                  <a:srgbClr val="C00000"/>
                </a:solidFill>
                <a:latin typeface="メイリオ"/>
                <a:ea typeface="メイリオ"/>
                <a:cs typeface="メイリオ"/>
              </a:rPr>
              <a:t>課題③</a:t>
            </a:r>
          </a:p>
          <a:p>
            <a:pPr algn="ctr"/>
            <a:r>
              <a:rPr sz="1400" b="1">
                <a:solidFill>
                  <a:srgbClr val="C00000"/>
                </a:solidFill>
                <a:latin typeface="メイリオ"/>
                <a:ea typeface="メイリオ"/>
                <a:cs typeface="メイリオ"/>
              </a:rPr>
              <a:t>計測が壊れている</a:t>
            </a:r>
          </a:p>
        </p:txBody>
      </p:sp>
      <p:sp>
        <p:nvSpPr>
          <p:cNvPr id="11" name="Right Arrow 10"/>
          <p:cNvSpPr/>
          <p:nvPr/>
        </p:nvSpPr>
        <p:spPr>
          <a:xfrm>
            <a:off x="3035808" y="4114800"/>
            <a:ext cx="475488" cy="402336"/>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611880" y="3785616"/>
            <a:ext cx="57150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1F285A"/>
                </a:solidFill>
                <a:latin typeface="メイリオ"/>
                <a:ea typeface="メイリオ"/>
                <a:cs typeface="メイリオ"/>
              </a:rPr>
              <a:t>③ UTM計測整備</a:t>
            </a:r>
          </a:p>
          <a:p>
            <a:pPr algn="l">
              <a:lnSpc>
                <a:spcPct val="115000"/>
              </a:lnSpc>
            </a:pPr>
            <a:r>
              <a:rPr sz="1400">
                <a:solidFill>
                  <a:srgbClr val="333333"/>
                </a:solidFill>
                <a:latin typeface="メイリオ"/>
                <a:ea typeface="メイリオ"/>
                <a:cs typeface="メイリオ"/>
              </a:rPr>
              <a:t>LINE経由の申込・購入を計測できる状態にし、改善を回す。</a:t>
            </a:r>
          </a:p>
        </p:txBody>
      </p:sp>
      <p:sp>
        <p:nvSpPr>
          <p:cNvPr id="13" name="Rounded Rectangle 12"/>
          <p:cNvSpPr/>
          <p:nvPr/>
        </p:nvSpPr>
        <p:spPr>
          <a:xfrm>
            <a:off x="548640" y="5047488"/>
            <a:ext cx="8778240" cy="1005840"/>
          </a:xfrm>
          <a:prstGeom prst="roundRect">
            <a:avLst>
              <a:gd name="adj" fmla="val 8000"/>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400"/>
              </a:spcAft>
            </a:pPr>
            <a:r>
              <a:rPr sz="1400" b="1">
                <a:solidFill>
                  <a:srgbClr val="1F285A"/>
                </a:solidFill>
                <a:latin typeface="メイリオ"/>
                <a:ea typeface="メイリオ"/>
                <a:cs typeface="メイリオ"/>
              </a:rPr>
              <a:t>目標効果</a:t>
            </a:r>
          </a:p>
          <a:p>
            <a:pPr algn="ctr"/>
            <a:r>
              <a:rPr sz="1400">
                <a:solidFill>
                  <a:srgbClr val="333333"/>
                </a:solidFill>
                <a:latin typeface="メイリオ"/>
                <a:ea typeface="メイリオ"/>
                <a:cs typeface="メイリオ"/>
              </a:rPr>
              <a:t>CV獲得（セミナー申込＋EC購入）　</a:t>
            </a:r>
            <a:r>
              <a:rPr sz="1400" b="1">
                <a:solidFill>
                  <a:srgbClr val="333333"/>
                </a:solidFill>
                <a:latin typeface="メイリオ"/>
                <a:ea typeface="メイリオ"/>
                <a:cs typeface="メイリオ"/>
              </a:rPr>
              <a:t>月11 〜 26件</a:t>
            </a:r>
            <a:r>
              <a:rPr sz="1400">
                <a:solidFill>
                  <a:srgbClr val="808080"/>
                </a:solidFill>
                <a:latin typeface="メイリオ"/>
                <a:ea typeface="メイリオ"/>
                <a:cs typeface="メイリオ"/>
              </a:rPr>
              <a:t/>
            </a:r>
            <a:r>
              <a:rPr sz="2400" b="1">
                <a:solidFill>
                  <a:srgbClr val="1F285A"/>
                </a:solidFill>
                <a:latin typeface="メイリオ"/>
                <a:ea typeface="メイリオ"/>
                <a:cs typeface="メイリオ"/>
              </a:rPr>
              <a:t/>
            </a:r>
            <a:r>
              <a:rPr sz="1400">
                <a:solidFill>
                  <a:srgbClr val="333333"/>
                </a:solidFill>
                <a:latin typeface="メイリオ"/>
                <a:ea typeface="メイリオ"/>
                <a:cs typeface="メイリオ"/>
              </a:rPr>
              <a:t>　（半年 112件）</a:t>
            </a:r>
          </a:p>
        </p:txBody>
      </p:sp>
      <p:sp>
        <p:nvSpPr>
          <p:cNvPr id="14" name="TextBox 13"/>
          <p:cNvSpPr txBox="1"/>
          <p:nvPr/>
        </p:nvSpPr>
        <p:spPr>
          <a:xfrm>
            <a:off x="548640" y="6272784"/>
            <a:ext cx="8778240" cy="274320"/>
          </a:xfrm>
          <a:prstGeom prst="rect">
            <a:avLst/>
          </a:prstGeom>
          <a:noFill/>
        </p:spPr>
        <p:txBody>
          <a:bodyPr wrap="square" lIns="0" tIns="27432" rIns="0" bIns="27432" anchor="t">
            <a:spAutoFit/>
          </a:bodyPr>
          <a:lstStyle/>
          <a:p>
            <a:pPr algn="l">
              <a:lnSpc>
                <a:spcPct val="105000"/>
              </a:lnSpc>
            </a:pPr>
            <a:r>
              <a:rPr sz="900">
                <a:solidFill>
                  <a:srgbClr val="808080"/>
                </a:solidFill>
                <a:latin typeface="メイリオ"/>
                <a:ea typeface="メイリオ"/>
                <a:cs typeface="メイリオ"/>
              </a:rPr>
              <a:t>※本資料のシミュレーション（成果報酬プラン）に基づく想定値。配信数・CVRはいずれも業界水準の範囲内で設計しています。</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27432" rIns="0" bIns="27432" anchor="ctr">
            <a:spAutoFit/>
          </a:bodyPr>
          <a:lstStyle/>
          <a:p>
            <a:pPr algn="l"/>
            <a:r>
              <a:rPr sz="2000" b="1">
                <a:solidFill>
                  <a:srgbClr val="002060"/>
                </a:solidFill>
                <a:latin typeface="メイリオ"/>
                <a:ea typeface="メイリオ"/>
                <a:cs typeface="メイリオ"/>
              </a:rPr>
              <a:t>施策の全体像　配信設計 Before / After</a:t>
            </a:r>
          </a:p>
        </p:txBody>
      </p:sp>
      <p:sp>
        <p:nvSpPr>
          <p:cNvPr id="3" name="TextBox 2"/>
          <p:cNvSpPr txBox="1"/>
          <p:nvPr/>
        </p:nvSpPr>
        <p:spPr>
          <a:xfrm>
            <a:off x="548640" y="621792"/>
            <a:ext cx="8778240" cy="502920"/>
          </a:xfrm>
          <a:prstGeom prst="rect">
            <a:avLst/>
          </a:prstGeom>
          <a:noFill/>
        </p:spPr>
        <p:txBody>
          <a:bodyPr wrap="square" lIns="0" tIns="27432" rIns="0" bIns="27432" anchor="ctr">
            <a:spAutoFit/>
          </a:bodyPr>
          <a:lstStyle/>
          <a:p>
            <a:pPr algn="l">
              <a:lnSpc>
                <a:spcPct val="105000"/>
              </a:lnSpc>
            </a:pPr>
            <a:r>
              <a:rPr sz="1800" b="1">
                <a:solidFill>
                  <a:srgbClr val="333333"/>
                </a:solidFill>
                <a:latin typeface="メイリオ"/>
                <a:ea typeface="メイリオ"/>
                <a:cs typeface="メイリオ"/>
              </a:rPr>
              <a:t>「全員に同じセミナー告知」から「興味に合わせた2導線の配信」へ。同じ12,000人でも、届け方で成果は変わります。</a:t>
            </a:r>
          </a:p>
        </p:txBody>
      </p:sp>
      <p:sp>
        <p:nvSpPr>
          <p:cNvPr id="4" name="Rectangle 3"/>
          <p:cNvSpPr/>
          <p:nvPr/>
        </p:nvSpPr>
        <p:spPr>
          <a:xfrm>
            <a:off x="548640" y="1243584"/>
            <a:ext cx="416052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Before（現状）</a:t>
            </a:r>
          </a:p>
        </p:txBody>
      </p:sp>
      <p:sp>
        <p:nvSpPr>
          <p:cNvPr id="5" name="TextBox 4"/>
          <p:cNvSpPr txBox="1"/>
          <p:nvPr/>
        </p:nvSpPr>
        <p:spPr>
          <a:xfrm>
            <a:off x="548640" y="2421090"/>
            <a:ext cx="2331720" cy="3291840"/>
          </a:xfrm>
          <a:prstGeom prst="rect">
            <a:avLst/>
          </a:prstGeom>
          <a:noFill/>
        </p:spPr>
        <p:txBody>
          <a:bodyPr wrap="square" lIns="18288" tIns="27432" rIns="54864" bIns="27432" anchor="t">
            <a:spAutoFit/>
          </a:bodyPr>
          <a:lstStyle/>
          <a:p>
            <a:pPr algn="l">
              <a:lnSpc>
                <a:spcPct val="115000"/>
              </a:lnSpc>
              <a:spcAft>
                <a:spcPts val="700"/>
              </a:spcAft>
            </a:pPr>
            <a:r>
              <a:rPr sz="1400" dirty="0">
                <a:solidFill>
                  <a:srgbClr val="333333"/>
                </a:solidFill>
                <a:latin typeface="メイリオ"/>
                <a:ea typeface="メイリオ"/>
                <a:cs typeface="メイリオ"/>
              </a:rPr>
              <a:t>・配信はセミナー告知に偏り、ECはメニューに置かれているだけ</a:t>
            </a:r>
            <a:endParaRPr sz="1100" dirty="0">
              <a:solidFill>
                <a:srgbClr val="333333"/>
              </a:solidFill>
              <a:latin typeface="メイリオ"/>
              <a:ea typeface="メイリオ"/>
              <a:cs typeface="メイリオ"/>
            </a:endParaRPr>
          </a:p>
          <a:p>
            <a:pPr algn="l">
              <a:lnSpc>
                <a:spcPct val="115000"/>
              </a:lnSpc>
              <a:spcAft>
                <a:spcPts val="700"/>
              </a:spcAft>
            </a:pPr>
            <a:r>
              <a:rPr sz="1400" dirty="0">
                <a:solidFill>
                  <a:srgbClr val="333333"/>
                </a:solidFill>
                <a:latin typeface="メイリオ"/>
                <a:ea typeface="メイリオ"/>
                <a:cs typeface="メイリオ"/>
              </a:rPr>
              <a:t>・12,000人全員に同じ内容を一斉配信</a:t>
            </a:r>
            <a:endParaRPr sz="1100" dirty="0">
              <a:solidFill>
                <a:srgbClr val="333333"/>
              </a:solidFill>
              <a:latin typeface="メイリオ"/>
              <a:ea typeface="メイリオ"/>
              <a:cs typeface="メイリオ"/>
            </a:endParaRPr>
          </a:p>
          <a:p>
            <a:pPr algn="l">
              <a:lnSpc>
                <a:spcPct val="115000"/>
              </a:lnSpc>
              <a:spcAft>
                <a:spcPts val="7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LINE経由の購入・申込が計測できない</a:t>
            </a:r>
            <a:endParaRPr sz="1100" dirty="0">
              <a:solidFill>
                <a:srgbClr val="333333"/>
              </a:solidFill>
              <a:latin typeface="メイリオ"/>
              <a:ea typeface="メイリオ"/>
              <a:cs typeface="メイリオ"/>
            </a:endParaRPr>
          </a:p>
        </p:txBody>
      </p:sp>
      <p:sp>
        <p:nvSpPr>
          <p:cNvPr id="7" name="TextBox 6"/>
          <p:cNvSpPr txBox="1"/>
          <p:nvPr/>
        </p:nvSpPr>
        <p:spPr>
          <a:xfrm>
            <a:off x="3017520" y="4882896"/>
            <a:ext cx="1527048" cy="219456"/>
          </a:xfrm>
          <a:prstGeom prst="rect">
            <a:avLst/>
          </a:prstGeom>
          <a:noFill/>
        </p:spPr>
        <p:txBody>
          <a:bodyPr wrap="square" lIns="0" tIns="27432" rIns="0" bIns="27432" anchor="ctr">
            <a:spAutoFit/>
          </a:bodyPr>
          <a:lstStyle/>
          <a:p>
            <a:pPr algn="ctr"/>
            <a:r>
              <a:rPr sz="1200">
                <a:solidFill>
                  <a:srgbClr val="808080"/>
                </a:solidFill>
                <a:latin typeface="メイリオ"/>
                <a:ea typeface="メイリオ"/>
                <a:cs typeface="メイリオ"/>
              </a:rPr>
              <a:t>▲ 現状の配信（再現イメージ）</a:t>
            </a:r>
          </a:p>
        </p:txBody>
      </p:sp>
      <p:sp>
        <p:nvSpPr>
          <p:cNvPr id="8" name="Rectangle 7"/>
          <p:cNvSpPr/>
          <p:nvPr/>
        </p:nvSpPr>
        <p:spPr>
          <a:xfrm>
            <a:off x="5166360" y="1243584"/>
            <a:ext cx="4160520" cy="420624"/>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After（改善後）</a:t>
            </a:r>
          </a:p>
        </p:txBody>
      </p:sp>
      <p:sp>
        <p:nvSpPr>
          <p:cNvPr id="9" name="TextBox 8"/>
          <p:cNvSpPr txBox="1"/>
          <p:nvPr/>
        </p:nvSpPr>
        <p:spPr>
          <a:xfrm>
            <a:off x="5166360" y="2421090"/>
            <a:ext cx="2331720" cy="3291840"/>
          </a:xfrm>
          <a:prstGeom prst="rect">
            <a:avLst/>
          </a:prstGeom>
          <a:noFill/>
        </p:spPr>
        <p:txBody>
          <a:bodyPr wrap="square" lIns="18288" tIns="27432" rIns="54864" bIns="27432" anchor="t">
            <a:spAutoFit/>
          </a:bodyPr>
          <a:lstStyle/>
          <a:p>
            <a:pPr algn="l">
              <a:lnSpc>
                <a:spcPct val="115000"/>
              </a:lnSpc>
              <a:spcAft>
                <a:spcPts val="7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追加直後・既存向けアンケートで興味を取得</a:t>
            </a:r>
            <a:r>
              <a:rPr sz="1400" dirty="0">
                <a:solidFill>
                  <a:srgbClr val="333333"/>
                </a:solidFill>
                <a:latin typeface="メイリオ"/>
                <a:ea typeface="メイリオ"/>
                <a:cs typeface="メイリオ"/>
              </a:rPr>
              <a:t/>
            </a:r>
          </a:p>
          <a:p>
            <a:pPr algn="l">
              <a:lnSpc>
                <a:spcPct val="115000"/>
              </a:lnSpc>
              <a:spcAft>
                <a:spcPts val="7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興味別にセミナー案内とEC企画を出し分け</a:t>
            </a:r>
            <a:endParaRPr sz="1100" dirty="0">
              <a:solidFill>
                <a:srgbClr val="333333"/>
              </a:solidFill>
              <a:latin typeface="メイリオ"/>
              <a:ea typeface="メイリオ"/>
              <a:cs typeface="メイリオ"/>
            </a:endParaRPr>
          </a:p>
          <a:p>
            <a:pPr algn="l">
              <a:lnSpc>
                <a:spcPct val="115000"/>
              </a:lnSpc>
              <a:spcAft>
                <a:spcPts val="7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セミナー参加者にはEC、購入者にはセミナーを相互案内</a:t>
            </a:r>
            <a:endParaRPr sz="1100" dirty="0">
              <a:solidFill>
                <a:srgbClr val="333333"/>
              </a:solidFill>
              <a:latin typeface="メイリオ"/>
              <a:ea typeface="メイリオ"/>
              <a:cs typeface="メイリオ"/>
            </a:endParaRPr>
          </a:p>
          <a:p>
            <a:pPr algn="l">
              <a:lnSpc>
                <a:spcPct val="115000"/>
              </a:lnSpc>
              <a:spcAft>
                <a:spcPts val="7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UTM付きリンクで申込・購入を計測</a:t>
            </a:r>
            <a:endParaRPr sz="1100" dirty="0">
              <a:solidFill>
                <a:srgbClr val="333333"/>
              </a:solidFill>
              <a:latin typeface="メイリオ"/>
              <a:ea typeface="メイリオ"/>
              <a:cs typeface="メイリオ"/>
            </a:endParaRPr>
          </a:p>
        </p:txBody>
      </p:sp>
      <p:sp>
        <p:nvSpPr>
          <p:cNvPr id="11" name="TextBox 10"/>
          <p:cNvSpPr txBox="1"/>
          <p:nvPr/>
        </p:nvSpPr>
        <p:spPr>
          <a:xfrm>
            <a:off x="7635240" y="5029200"/>
            <a:ext cx="1600200" cy="219456"/>
          </a:xfrm>
          <a:prstGeom prst="rect">
            <a:avLst/>
          </a:prstGeom>
          <a:noFill/>
        </p:spPr>
        <p:txBody>
          <a:bodyPr wrap="square" lIns="0" tIns="27432" rIns="0" bIns="27432" anchor="ctr">
            <a:spAutoFit/>
          </a:bodyPr>
          <a:lstStyle/>
          <a:p>
            <a:pPr algn="ctr"/>
            <a:r>
              <a:rPr sz="1200">
                <a:solidFill>
                  <a:srgbClr val="808080"/>
                </a:solidFill>
                <a:latin typeface="メイリオ"/>
                <a:ea typeface="メイリオ"/>
                <a:cs typeface="メイリオ"/>
              </a:rPr>
              <a:t>▲ 改善後イメージ</a:t>
            </a:r>
          </a:p>
        </p:txBody>
      </p:sp>
      <p:sp>
        <p:nvSpPr>
          <p:cNvPr id="12" name="Rectangle 11"/>
          <p:cNvSpPr/>
          <p:nvPr/>
        </p:nvSpPr>
        <p:spPr>
          <a:xfrm>
            <a:off x="548640" y="5468112"/>
            <a:ext cx="877824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「誰に何を届けるか」の設計が、12,000人の価値を左右する</a:t>
            </a:r>
          </a:p>
        </p:txBody>
      </p:sp>
      <p:pic>
        <p:nvPicPr>
          <p:cNvPr id="16" name="Picture 15" descr="ten_haishin_mock.png"/>
          <p:cNvPicPr>
            <a:picLocks noChangeAspect="1"/>
          </p:cNvPicPr>
          <p:nvPr/>
        </p:nvPicPr>
        <p:blipFill>
          <a:blip r:embed="rId4"/>
          <a:stretch>
            <a:fillRect/>
          </a:stretch>
        </p:blipFill>
        <p:spPr>
          <a:xfrm>
            <a:off x="7635240" y="1773936"/>
            <a:ext cx="1600200" cy="3200400"/>
          </a:xfrm>
          <a:prstGeom prst="rect">
            <a:avLst/>
          </a:prstGeom>
        </p:spPr>
      </p:pic>
      <p:pic>
        <p:nvPicPr>
          <p:cNvPr id="17" name="Picture 16" descr="ten_mock_before.png"/>
          <p:cNvPicPr>
            <a:picLocks noChangeAspect="1"/>
          </p:cNvPicPr>
          <p:nvPr/>
        </p:nvPicPr>
        <p:blipFill>
          <a:blip r:embed="rId5"/>
          <a:stretch>
            <a:fillRect/>
          </a:stretch>
        </p:blipFill>
        <p:spPr>
          <a:xfrm>
            <a:off x="3017520" y="1773936"/>
            <a:ext cx="1527048" cy="30540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27432" rIns="0" bIns="27432" anchor="ctr">
            <a:spAutoFit/>
          </a:bodyPr>
          <a:lstStyle/>
          <a:p>
            <a:pPr algn="l"/>
            <a:r>
              <a:rPr sz="2000" b="1">
                <a:solidFill>
                  <a:srgbClr val="002060"/>
                </a:solidFill>
                <a:latin typeface="メイリオ"/>
                <a:ea typeface="メイリオ"/>
                <a:cs typeface="メイリオ"/>
              </a:rPr>
              <a:t>具体施策① 3問アンケートで「興味タグ」を取得</a:t>
            </a:r>
          </a:p>
        </p:txBody>
      </p:sp>
      <p:sp>
        <p:nvSpPr>
          <p:cNvPr id="3" name="TextBox 2"/>
          <p:cNvSpPr txBox="1"/>
          <p:nvPr/>
        </p:nvSpPr>
        <p:spPr>
          <a:xfrm>
            <a:off x="548640" y="621792"/>
            <a:ext cx="8778240" cy="502920"/>
          </a:xfrm>
          <a:prstGeom prst="rect">
            <a:avLst/>
          </a:prstGeom>
          <a:noFill/>
        </p:spPr>
        <p:txBody>
          <a:bodyPr wrap="square" lIns="0" tIns="27432" rIns="0" bIns="27432" anchor="ctr">
            <a:spAutoFit/>
          </a:bodyPr>
          <a:lstStyle/>
          <a:p>
            <a:pPr algn="l">
              <a:lnSpc>
                <a:spcPct val="105000"/>
              </a:lnSpc>
            </a:pPr>
            <a:r>
              <a:rPr sz="1800" b="1">
                <a:solidFill>
                  <a:srgbClr val="333333"/>
                </a:solidFill>
                <a:latin typeface="メイリオ"/>
                <a:ea typeface="メイリオ"/>
                <a:cs typeface="メイリオ"/>
              </a:rPr>
              <a:t>「3問30秒のアンケート」で12,000人をセミナー派・EC派に仕分けし、配信の出し分けに活用します。</a:t>
            </a:r>
          </a:p>
        </p:txBody>
      </p:sp>
      <p:sp>
        <p:nvSpPr>
          <p:cNvPr id="5" name="TextBox 4"/>
          <p:cNvSpPr txBox="1"/>
          <p:nvPr/>
        </p:nvSpPr>
        <p:spPr>
          <a:xfrm>
            <a:off x="548640" y="5047488"/>
            <a:ext cx="1883664" cy="219456"/>
          </a:xfrm>
          <a:prstGeom prst="rect">
            <a:avLst/>
          </a:prstGeom>
          <a:noFill/>
        </p:spPr>
        <p:txBody>
          <a:bodyPr wrap="square" lIns="0" tIns="27432" rIns="0" bIns="27432" anchor="ctr">
            <a:spAutoFit/>
          </a:bodyPr>
          <a:lstStyle/>
          <a:p>
            <a:pPr algn="ctr"/>
            <a:r>
              <a:rPr sz="1200">
                <a:solidFill>
                  <a:srgbClr val="808080"/>
                </a:solidFill>
                <a:latin typeface="メイリオ"/>
                <a:ea typeface="メイリオ"/>
                <a:cs typeface="メイリオ"/>
              </a:rPr>
              <a:t>▲ ボタン選択式で30秒</a:t>
            </a:r>
          </a:p>
        </p:txBody>
      </p:sp>
      <p:sp>
        <p:nvSpPr>
          <p:cNvPr id="6" name="TextBox 5"/>
          <p:cNvSpPr txBox="1"/>
          <p:nvPr/>
        </p:nvSpPr>
        <p:spPr>
          <a:xfrm>
            <a:off x="2697480" y="1243584"/>
            <a:ext cx="3017520" cy="274320"/>
          </a:xfrm>
          <a:prstGeom prst="rect">
            <a:avLst/>
          </a:prstGeom>
          <a:noFill/>
        </p:spPr>
        <p:txBody>
          <a:bodyPr wrap="square" lIns="0" tIns="27432" rIns="54864" bIns="27432" anchor="t">
            <a:spAutoFit/>
          </a:bodyPr>
          <a:lstStyle/>
          <a:p>
            <a:pPr algn="l"/>
            <a:r>
              <a:rPr sz="1400" b="1">
                <a:solidFill>
                  <a:srgbClr val="1F285A"/>
                </a:solidFill>
                <a:latin typeface="メイリオ"/>
                <a:ea typeface="メイリオ"/>
                <a:cs typeface="メイリオ"/>
              </a:rPr>
              <a:t>アンケート設問（案）</a:t>
            </a:r>
          </a:p>
        </p:txBody>
      </p:sp>
      <p:sp>
        <p:nvSpPr>
          <p:cNvPr id="7" name="Rectangle 6"/>
          <p:cNvSpPr/>
          <p:nvPr/>
        </p:nvSpPr>
        <p:spPr>
          <a:xfrm>
            <a:off x="2697480" y="1591056"/>
            <a:ext cx="3017520" cy="1042415"/>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spcAft>
                <a:spcPts val="400"/>
              </a:spcAft>
            </a:pPr>
            <a:r>
              <a:rPr sz="1400" b="1">
                <a:solidFill>
                  <a:srgbClr val="1F285A"/>
                </a:solidFill>
                <a:latin typeface="メイリオ"/>
                <a:ea typeface="メイリオ"/>
                <a:cs typeface="メイリオ"/>
              </a:rPr>
              <a:t>Q1　</a:t>
            </a:r>
            <a:r>
              <a:rPr sz="1400" b="1">
                <a:solidFill>
                  <a:srgbClr val="333333"/>
                </a:solidFill>
                <a:latin typeface="メイリオ"/>
                <a:ea typeface="メイリオ"/>
                <a:cs typeface="メイリオ"/>
              </a:rPr>
              <a:t>ご利用いただいたことは？</a:t>
            </a:r>
          </a:p>
          <a:p>
            <a:pPr algn="l">
              <a:lnSpc>
                <a:spcPct val="115000"/>
              </a:lnSpc>
            </a:pPr>
            <a:r>
              <a:rPr sz="1200">
                <a:solidFill>
                  <a:srgbClr val="333333"/>
                </a:solidFill>
                <a:latin typeface="メイリオ"/>
                <a:ea typeface="メイリオ"/>
                <a:cs typeface="メイリオ"/>
              </a:rPr>
              <a:t>酵素教室セミナー／オンラインストア／どちらもまだ</a:t>
            </a:r>
          </a:p>
        </p:txBody>
      </p:sp>
      <p:sp>
        <p:nvSpPr>
          <p:cNvPr id="8" name="Rectangle 7"/>
          <p:cNvSpPr/>
          <p:nvPr/>
        </p:nvSpPr>
        <p:spPr>
          <a:xfrm>
            <a:off x="2697480" y="2798064"/>
            <a:ext cx="3017520" cy="1042415"/>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spcAft>
                <a:spcPts val="400"/>
              </a:spcAft>
            </a:pPr>
            <a:r>
              <a:rPr sz="1400" b="1">
                <a:solidFill>
                  <a:srgbClr val="1F285A"/>
                </a:solidFill>
                <a:latin typeface="メイリオ"/>
                <a:ea typeface="メイリオ"/>
                <a:cs typeface="メイリオ"/>
              </a:rPr>
              <a:t>Q2　</a:t>
            </a:r>
            <a:r>
              <a:rPr sz="1400" b="1">
                <a:solidFill>
                  <a:srgbClr val="333333"/>
                </a:solidFill>
                <a:latin typeface="メイリオ"/>
                <a:ea typeface="メイリオ"/>
                <a:cs typeface="メイリオ"/>
              </a:rPr>
              <a:t>いま興味があるのは？</a:t>
            </a:r>
          </a:p>
          <a:p>
            <a:pPr algn="l">
              <a:lnSpc>
                <a:spcPct val="115000"/>
              </a:lnSpc>
            </a:pPr>
            <a:r>
              <a:rPr sz="1200">
                <a:solidFill>
                  <a:srgbClr val="333333"/>
                </a:solidFill>
                <a:latin typeface="メイリオ"/>
                <a:ea typeface="メイリオ"/>
                <a:cs typeface="メイリオ"/>
              </a:rPr>
              <a:t>健康セミナー・学び／CBD・健康商品／どちらも</a:t>
            </a:r>
          </a:p>
        </p:txBody>
      </p:sp>
      <p:sp>
        <p:nvSpPr>
          <p:cNvPr id="9" name="Rectangle 8"/>
          <p:cNvSpPr/>
          <p:nvPr/>
        </p:nvSpPr>
        <p:spPr>
          <a:xfrm>
            <a:off x="2697480" y="4005072"/>
            <a:ext cx="3017520" cy="1042415"/>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spcAft>
                <a:spcPts val="400"/>
              </a:spcAft>
            </a:pPr>
            <a:r>
              <a:rPr sz="1400" b="1">
                <a:solidFill>
                  <a:srgbClr val="1F285A"/>
                </a:solidFill>
                <a:latin typeface="メイリオ"/>
                <a:ea typeface="メイリオ"/>
                <a:cs typeface="メイリオ"/>
              </a:rPr>
              <a:t>Q3　</a:t>
            </a:r>
            <a:r>
              <a:rPr sz="1400" b="1">
                <a:solidFill>
                  <a:srgbClr val="333333"/>
                </a:solidFill>
                <a:latin typeface="メイリオ"/>
                <a:ea typeface="メイリオ"/>
                <a:cs typeface="メイリオ"/>
              </a:rPr>
              <a:t>ご案内の頻度は？</a:t>
            </a:r>
          </a:p>
          <a:p>
            <a:pPr algn="l">
              <a:lnSpc>
                <a:spcPct val="115000"/>
              </a:lnSpc>
            </a:pPr>
            <a:r>
              <a:rPr sz="1200">
                <a:solidFill>
                  <a:srgbClr val="333333"/>
                </a:solidFill>
                <a:latin typeface="メイリオ"/>
                <a:ea typeface="メイリオ"/>
                <a:cs typeface="メイリオ"/>
              </a:rPr>
              <a:t>こまめに／月2回程度／お得な時だけ</a:t>
            </a:r>
          </a:p>
        </p:txBody>
      </p:sp>
      <p:sp>
        <p:nvSpPr>
          <p:cNvPr id="10" name="TextBox 9"/>
          <p:cNvSpPr txBox="1"/>
          <p:nvPr/>
        </p:nvSpPr>
        <p:spPr>
          <a:xfrm>
            <a:off x="5989320" y="1243584"/>
            <a:ext cx="3337560" cy="274320"/>
          </a:xfrm>
          <a:prstGeom prst="rect">
            <a:avLst/>
          </a:prstGeom>
          <a:noFill/>
        </p:spPr>
        <p:txBody>
          <a:bodyPr wrap="square" lIns="0" tIns="27432" rIns="54864" bIns="27432" anchor="t">
            <a:spAutoFit/>
          </a:bodyPr>
          <a:lstStyle/>
          <a:p>
            <a:pPr algn="l"/>
            <a:r>
              <a:rPr sz="1400" b="1">
                <a:solidFill>
                  <a:srgbClr val="1F285A"/>
                </a:solidFill>
                <a:latin typeface="メイリオ"/>
                <a:ea typeface="メイリオ"/>
                <a:cs typeface="メイリオ"/>
              </a:rPr>
              <a:t>取得した回答の活用</a:t>
            </a:r>
          </a:p>
        </p:txBody>
      </p:sp>
      <p:sp>
        <p:nvSpPr>
          <p:cNvPr id="11" name="Rectangle 10"/>
          <p:cNvSpPr/>
          <p:nvPr/>
        </p:nvSpPr>
        <p:spPr>
          <a:xfrm>
            <a:off x="5989320" y="1591056"/>
            <a:ext cx="3337560" cy="1042415"/>
          </a:xfrm>
          <a:prstGeom prst="rect">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spcAft>
                <a:spcPts val="400"/>
              </a:spcAft>
            </a:pPr>
            <a:r>
              <a:rPr sz="1400" b="1">
                <a:solidFill>
                  <a:srgbClr val="1F285A"/>
                </a:solidFill>
                <a:latin typeface="メイリオ"/>
                <a:ea typeface="メイリオ"/>
                <a:cs typeface="メイリオ"/>
              </a:rPr>
              <a:t>① タグ付けによる自動仕分け</a:t>
            </a:r>
          </a:p>
          <a:p>
            <a:pPr algn="l">
              <a:lnSpc>
                <a:spcPct val="115000"/>
              </a:lnSpc>
            </a:pPr>
            <a:r>
              <a:rPr sz="1400">
                <a:solidFill>
                  <a:srgbClr val="333333"/>
                </a:solidFill>
                <a:latin typeface="メイリオ"/>
                <a:ea typeface="メイリオ"/>
                <a:cs typeface="メイリオ"/>
              </a:rPr>
              <a:t>回答をタグとして自動付与し、セミナー派・EC派にリスト化。</a:t>
            </a:r>
          </a:p>
        </p:txBody>
      </p:sp>
      <p:sp>
        <p:nvSpPr>
          <p:cNvPr id="12" name="Rectangle 11"/>
          <p:cNvSpPr/>
          <p:nvPr/>
        </p:nvSpPr>
        <p:spPr>
          <a:xfrm>
            <a:off x="5989320" y="2798064"/>
            <a:ext cx="3337560" cy="1042415"/>
          </a:xfrm>
          <a:prstGeom prst="rect">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spcAft>
                <a:spcPts val="400"/>
              </a:spcAft>
            </a:pPr>
            <a:r>
              <a:rPr sz="1400" b="1">
                <a:solidFill>
                  <a:srgbClr val="1F285A"/>
                </a:solidFill>
                <a:latin typeface="メイリオ"/>
                <a:ea typeface="メイリオ"/>
                <a:cs typeface="メイリオ"/>
              </a:rPr>
              <a:t>② セグメント配信</a:t>
            </a:r>
          </a:p>
          <a:p>
            <a:pPr algn="l">
              <a:lnSpc>
                <a:spcPct val="115000"/>
              </a:lnSpc>
            </a:pPr>
            <a:r>
              <a:rPr sz="1400">
                <a:solidFill>
                  <a:srgbClr val="333333"/>
                </a:solidFill>
                <a:latin typeface="メイリオ"/>
                <a:ea typeface="メイリオ"/>
                <a:cs typeface="メイリオ"/>
              </a:rPr>
              <a:t>セミナー派には開催案内、EC派には商品企画だけを届ける。</a:t>
            </a:r>
          </a:p>
        </p:txBody>
      </p:sp>
      <p:sp>
        <p:nvSpPr>
          <p:cNvPr id="13" name="Rectangle 12"/>
          <p:cNvSpPr/>
          <p:nvPr/>
        </p:nvSpPr>
        <p:spPr>
          <a:xfrm>
            <a:off x="5989320" y="4005072"/>
            <a:ext cx="3337560" cy="1042415"/>
          </a:xfrm>
          <a:prstGeom prst="rect">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46304" tIns="54864" rIns="109728" bIns="54864" rtlCol="0" anchor="ctr"/>
          <a:lstStyle/>
          <a:p>
            <a:pPr algn="l">
              <a:spcAft>
                <a:spcPts val="400"/>
              </a:spcAft>
            </a:pPr>
            <a:r>
              <a:rPr sz="1400" b="1">
                <a:solidFill>
                  <a:srgbClr val="1F285A"/>
                </a:solidFill>
                <a:latin typeface="メイリオ"/>
                <a:ea typeface="メイリオ"/>
                <a:cs typeface="メイリオ"/>
              </a:rPr>
              <a:t>③ 既存12,000人にも配信</a:t>
            </a:r>
          </a:p>
          <a:p>
            <a:pPr algn="l">
              <a:lnSpc>
                <a:spcPct val="115000"/>
              </a:lnSpc>
            </a:pPr>
            <a:r>
              <a:rPr sz="1400">
                <a:solidFill>
                  <a:srgbClr val="333333"/>
                </a:solidFill>
                <a:latin typeface="メイリオ"/>
                <a:ea typeface="メイリオ"/>
                <a:cs typeface="メイリオ"/>
              </a:rPr>
              <a:t>新規だけでなく既存友だちにも実施し「使える名簿」に変える。</a:t>
            </a:r>
          </a:p>
        </p:txBody>
      </p:sp>
      <p:sp>
        <p:nvSpPr>
          <p:cNvPr id="14" name="Rectangle 13"/>
          <p:cNvSpPr/>
          <p:nvPr/>
        </p:nvSpPr>
        <p:spPr>
          <a:xfrm>
            <a:off x="548640" y="5486400"/>
            <a:ext cx="877824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アンケートは「聞く」ためではなく、配信を当てるための設計</a:t>
            </a:r>
          </a:p>
        </p:txBody>
      </p:sp>
      <p:sp>
        <p:nvSpPr>
          <p:cNvPr id="15" name="Rounded Rectangle 14"/>
          <p:cNvSpPr/>
          <p:nvPr/>
        </p:nvSpPr>
        <p:spPr>
          <a:xfrm>
            <a:off x="548640" y="1225296"/>
            <a:ext cx="1883664" cy="3767328"/>
          </a:xfrm>
          <a:prstGeom prst="roundRect">
            <a:avLst/>
          </a:prstGeom>
          <a:solidFill>
            <a:srgbClr val="F2F2F2"/>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777777"/>
                </a:solidFill>
                <a:latin typeface="メイリオ"/>
                <a:ea typeface="メイリオ"/>
              </a:rPr>
              <a:t>【アンケート画面
イメージ】</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27432" rIns="0" bIns="27432" anchor="ctr">
            <a:spAutoFit/>
          </a:bodyPr>
          <a:lstStyle/>
          <a:p>
            <a:pPr algn="l"/>
            <a:r>
              <a:rPr sz="2000" b="1">
                <a:solidFill>
                  <a:srgbClr val="002060"/>
                </a:solidFill>
                <a:latin typeface="メイリオ"/>
                <a:ea typeface="メイリオ"/>
                <a:cs typeface="メイリオ"/>
              </a:rPr>
              <a:t>具体施策② リッチメニュー再設計（タブ切替）</a:t>
            </a:r>
          </a:p>
        </p:txBody>
      </p:sp>
      <p:sp>
        <p:nvSpPr>
          <p:cNvPr id="3" name="TextBox 2"/>
          <p:cNvSpPr txBox="1"/>
          <p:nvPr/>
        </p:nvSpPr>
        <p:spPr>
          <a:xfrm>
            <a:off x="548640" y="621792"/>
            <a:ext cx="8778240" cy="502920"/>
          </a:xfrm>
          <a:prstGeom prst="rect">
            <a:avLst/>
          </a:prstGeom>
          <a:noFill/>
        </p:spPr>
        <p:txBody>
          <a:bodyPr wrap="square" lIns="0" tIns="27432" rIns="0" bIns="27432" anchor="ctr">
            <a:spAutoFit/>
          </a:bodyPr>
          <a:lstStyle/>
          <a:p>
            <a:pPr algn="l">
              <a:lnSpc>
                <a:spcPct val="105000"/>
              </a:lnSpc>
            </a:pPr>
            <a:r>
              <a:rPr sz="1800" b="1">
                <a:solidFill>
                  <a:srgbClr val="333333"/>
                </a:solidFill>
                <a:latin typeface="メイリオ"/>
                <a:ea typeface="メイリオ"/>
                <a:cs typeface="メイリオ"/>
              </a:rPr>
              <a:t>配信と連動して「いま押してほしいボタン」を左上に置き、セミナーとECどちらにも最短導線をつくります。</a:t>
            </a:r>
          </a:p>
        </p:txBody>
      </p:sp>
      <p:sp>
        <p:nvSpPr>
          <p:cNvPr id="5" name="TextBox 4"/>
          <p:cNvSpPr txBox="1"/>
          <p:nvPr/>
        </p:nvSpPr>
        <p:spPr>
          <a:xfrm>
            <a:off x="685800" y="5084064"/>
            <a:ext cx="1947672" cy="219456"/>
          </a:xfrm>
          <a:prstGeom prst="rect">
            <a:avLst/>
          </a:prstGeom>
          <a:noFill/>
        </p:spPr>
        <p:txBody>
          <a:bodyPr wrap="square" lIns="0" tIns="27432" rIns="0" bIns="27432" anchor="ctr">
            <a:spAutoFit/>
          </a:bodyPr>
          <a:lstStyle/>
          <a:p>
            <a:pPr algn="ctr"/>
            <a:r>
              <a:rPr sz="1200">
                <a:solidFill>
                  <a:srgbClr val="808080"/>
                </a:solidFill>
                <a:latin typeface="メイリオ"/>
                <a:ea typeface="メイリオ"/>
                <a:cs typeface="メイリオ"/>
              </a:rPr>
              <a:t>▲ 左上が主役</a:t>
            </a:r>
          </a:p>
        </p:txBody>
      </p:sp>
      <p:sp>
        <p:nvSpPr>
          <p:cNvPr id="6" name="Rectangle 5"/>
          <p:cNvSpPr/>
          <p:nvPr/>
        </p:nvSpPr>
        <p:spPr>
          <a:xfrm>
            <a:off x="3246120" y="1261872"/>
            <a:ext cx="6080760" cy="1188720"/>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lgn="l">
              <a:spcAft>
                <a:spcPts val="400"/>
              </a:spcAft>
            </a:pPr>
            <a:r>
              <a:rPr sz="1400" b="1">
                <a:solidFill>
                  <a:srgbClr val="1F285A"/>
                </a:solidFill>
                <a:latin typeface="メイリオ"/>
                <a:ea typeface="メイリオ"/>
                <a:cs typeface="メイリオ"/>
              </a:rPr>
              <a:t>① セミナー面</a:t>
            </a:r>
            <a:r>
              <a:rPr sz="1400">
                <a:solidFill>
                  <a:srgbClr val="808080"/>
                </a:solidFill>
                <a:latin typeface="メイリオ"/>
                <a:ea typeface="メイリオ"/>
                <a:cs typeface="メイリオ"/>
              </a:rPr>
              <a:t>　／　</a:t>
            </a:r>
            <a:r>
              <a:rPr sz="1400" b="1">
                <a:solidFill>
                  <a:srgbClr val="333333"/>
                </a:solidFill>
                <a:latin typeface="メイリオ"/>
                <a:ea typeface="メイリオ"/>
                <a:cs typeface="メイリオ"/>
              </a:rPr>
              <a:t>左上＝次回セミナー予約</a:t>
            </a:r>
          </a:p>
          <a:p>
            <a:pPr algn="l">
              <a:lnSpc>
                <a:spcPct val="115000"/>
              </a:lnSpc>
            </a:pPr>
            <a:r>
              <a:rPr sz="1400">
                <a:solidFill>
                  <a:srgbClr val="333333"/>
                </a:solidFill>
                <a:latin typeface="メイリオ"/>
                <a:ea typeface="メイリオ"/>
                <a:cs typeface="メイリオ"/>
              </a:rPr>
              <a:t>開催日程・会場を明示し、申込までの距離を最短にする。</a:t>
            </a:r>
          </a:p>
        </p:txBody>
      </p:sp>
      <p:sp>
        <p:nvSpPr>
          <p:cNvPr id="7" name="Rectangle 6"/>
          <p:cNvSpPr/>
          <p:nvPr/>
        </p:nvSpPr>
        <p:spPr>
          <a:xfrm>
            <a:off x="3246120" y="2596896"/>
            <a:ext cx="6080760" cy="1188720"/>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lgn="l">
              <a:spcAft>
                <a:spcPts val="400"/>
              </a:spcAft>
            </a:pPr>
            <a:r>
              <a:rPr sz="1400" b="1">
                <a:solidFill>
                  <a:srgbClr val="1F285A"/>
                </a:solidFill>
                <a:latin typeface="メイリオ"/>
                <a:ea typeface="メイリオ"/>
                <a:cs typeface="メイリオ"/>
              </a:rPr>
              <a:t>② EC面</a:t>
            </a:r>
            <a:r>
              <a:rPr sz="1400">
                <a:solidFill>
                  <a:srgbClr val="808080"/>
                </a:solidFill>
                <a:latin typeface="メイリオ"/>
                <a:ea typeface="メイリオ"/>
                <a:cs typeface="メイリオ"/>
              </a:rPr>
              <a:t>　／　</a:t>
            </a:r>
            <a:r>
              <a:rPr sz="1400" b="1">
                <a:solidFill>
                  <a:srgbClr val="333333"/>
                </a:solidFill>
                <a:latin typeface="メイリオ"/>
                <a:ea typeface="メイリオ"/>
                <a:cs typeface="メイリオ"/>
              </a:rPr>
              <a:t>左上＝今月のおすすめ商品</a:t>
            </a:r>
          </a:p>
          <a:p>
            <a:pPr algn="l">
              <a:lnSpc>
                <a:spcPct val="115000"/>
              </a:lnSpc>
            </a:pPr>
            <a:r>
              <a:rPr sz="1400">
                <a:solidFill>
                  <a:srgbClr val="333333"/>
                </a:solidFill>
                <a:latin typeface="メイリオ"/>
                <a:ea typeface="メイリオ"/>
                <a:cs typeface="メイリオ"/>
              </a:rPr>
              <a:t>配信と同じ企画をメニューにも置き、購入への迷いをなくす。</a:t>
            </a:r>
          </a:p>
        </p:txBody>
      </p:sp>
      <p:sp>
        <p:nvSpPr>
          <p:cNvPr id="8" name="Rectangle 7"/>
          <p:cNvSpPr/>
          <p:nvPr/>
        </p:nvSpPr>
        <p:spPr>
          <a:xfrm>
            <a:off x="3246120" y="3931920"/>
            <a:ext cx="6080760" cy="1188720"/>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54864" rIns="128016" bIns="54864" rtlCol="0" anchor="ctr"/>
          <a:lstStyle/>
          <a:p>
            <a:pPr algn="l">
              <a:spcAft>
                <a:spcPts val="400"/>
              </a:spcAft>
            </a:pPr>
            <a:r>
              <a:rPr sz="1400" b="1">
                <a:solidFill>
                  <a:srgbClr val="1F285A"/>
                </a:solidFill>
                <a:latin typeface="メイリオ"/>
                <a:ea typeface="メイリオ"/>
                <a:cs typeface="メイリオ"/>
              </a:rPr>
              <a:t>③ 参加後・購入後</a:t>
            </a:r>
            <a:r>
              <a:rPr sz="1400">
                <a:solidFill>
                  <a:srgbClr val="808080"/>
                </a:solidFill>
                <a:latin typeface="メイリオ"/>
                <a:ea typeface="メイリオ"/>
                <a:cs typeface="メイリオ"/>
              </a:rPr>
              <a:t>　／　</a:t>
            </a:r>
            <a:r>
              <a:rPr sz="1400" b="1">
                <a:solidFill>
                  <a:srgbClr val="333333"/>
                </a:solidFill>
                <a:latin typeface="メイリオ"/>
                <a:ea typeface="メイリオ"/>
                <a:cs typeface="メイリオ"/>
              </a:rPr>
              <a:t>左上＝次のアクション</a:t>
            </a:r>
          </a:p>
          <a:p>
            <a:pPr algn="l">
              <a:lnSpc>
                <a:spcPct val="115000"/>
              </a:lnSpc>
            </a:pPr>
            <a:r>
              <a:rPr sz="1400">
                <a:solidFill>
                  <a:srgbClr val="333333"/>
                </a:solidFill>
                <a:latin typeface="メイリオ"/>
                <a:ea typeface="メイリオ"/>
                <a:cs typeface="メイリオ"/>
              </a:rPr>
              <a:t>参加者にはEC、購入者には次回セミナーを提示（相互送客）。</a:t>
            </a:r>
          </a:p>
        </p:txBody>
      </p:sp>
      <p:sp>
        <p:nvSpPr>
          <p:cNvPr id="9" name="TextBox 8"/>
          <p:cNvSpPr txBox="1"/>
          <p:nvPr/>
        </p:nvSpPr>
        <p:spPr>
          <a:xfrm>
            <a:off x="3246120" y="5285232"/>
            <a:ext cx="6080760" cy="274320"/>
          </a:xfrm>
          <a:prstGeom prst="rect">
            <a:avLst/>
          </a:prstGeom>
          <a:noFill/>
        </p:spPr>
        <p:txBody>
          <a:bodyPr wrap="square" lIns="0" tIns="27432" rIns="54864" bIns="27432" anchor="t">
            <a:spAutoFit/>
          </a:bodyPr>
          <a:lstStyle/>
          <a:p>
            <a:pPr algn="l">
              <a:lnSpc>
                <a:spcPct val="115000"/>
              </a:lnSpc>
            </a:pPr>
            <a:r>
              <a:rPr sz="900">
                <a:solidFill>
                  <a:srgbClr val="808080"/>
                </a:solidFill>
                <a:latin typeface="メイリオ"/>
                <a:ea typeface="メイリオ"/>
                <a:cs typeface="メイリオ"/>
              </a:rPr>
              <a:t>タブ形式でユーザー自身も切替可能。画像制作のみで、追加費用は不要です。</a:t>
            </a:r>
          </a:p>
        </p:txBody>
      </p:sp>
      <p:sp>
        <p:nvSpPr>
          <p:cNvPr id="10" name="Rectangle 9"/>
          <p:cNvSpPr/>
          <p:nvPr/>
        </p:nvSpPr>
        <p:spPr>
          <a:xfrm>
            <a:off x="548640" y="5687568"/>
            <a:ext cx="8778240" cy="43891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メニューは「置き場」ではなく、配信と連動する売り場にする</a:t>
            </a:r>
          </a:p>
        </p:txBody>
      </p:sp>
      <p:sp>
        <p:nvSpPr>
          <p:cNvPr id="11" name="TextBox 10"/>
          <p:cNvSpPr txBox="1"/>
          <p:nvPr/>
        </p:nvSpPr>
        <p:spPr>
          <a:xfrm>
            <a:off x="685800" y="1280160"/>
            <a:ext cx="1947672" cy="182880"/>
          </a:xfrm>
          <a:prstGeom prst="rect">
            <a:avLst/>
          </a:prstGeom>
          <a:noFill/>
        </p:spPr>
        <p:txBody>
          <a:bodyPr wrap="none" lIns="0" tIns="0" bIns="0">
            <a:spAutoFit/>
          </a:bodyPr>
          <a:lstStyle/>
          <a:p>
            <a:r>
              <a:rPr sz="1100" b="1">
                <a:solidFill>
                  <a:srgbClr val="1F285A"/>
                </a:solidFill>
                <a:latin typeface="メイリオ"/>
                <a:ea typeface="メイリオ"/>
              </a:rPr>
              <a:t>① セミナー面</a:t>
            </a:r>
          </a:p>
        </p:txBody>
      </p:sp>
      <p:sp>
        <p:nvSpPr>
          <p:cNvPr id="12" name="Rectangle 11"/>
          <p:cNvSpPr/>
          <p:nvPr/>
        </p:nvSpPr>
        <p:spPr>
          <a:xfrm>
            <a:off x="685800" y="1481328"/>
            <a:ext cx="649224" cy="457200"/>
          </a:xfrm>
          <a:prstGeom prst="rect">
            <a:avLst/>
          </a:prstGeom>
          <a:solidFill>
            <a:srgbClr val="1F285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FFFFFF"/>
                </a:solidFill>
                <a:latin typeface="メイリオ"/>
                <a:ea typeface="メイリオ"/>
              </a:rPr>
              <a:t>セミナー予約</a:t>
            </a:r>
          </a:p>
        </p:txBody>
      </p:sp>
      <p:sp>
        <p:nvSpPr>
          <p:cNvPr id="13" name="Rectangle 12"/>
          <p:cNvSpPr/>
          <p:nvPr/>
        </p:nvSpPr>
        <p:spPr>
          <a:xfrm>
            <a:off x="1335024" y="148132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開催日程</a:t>
            </a:r>
          </a:p>
        </p:txBody>
      </p:sp>
      <p:sp>
        <p:nvSpPr>
          <p:cNvPr id="14" name="Rectangle 13"/>
          <p:cNvSpPr/>
          <p:nvPr/>
        </p:nvSpPr>
        <p:spPr>
          <a:xfrm>
            <a:off x="1984248" y="148132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講師紹介</a:t>
            </a:r>
          </a:p>
        </p:txBody>
      </p:sp>
      <p:sp>
        <p:nvSpPr>
          <p:cNvPr id="15" name="Rectangle 14"/>
          <p:cNvSpPr/>
          <p:nvPr/>
        </p:nvSpPr>
        <p:spPr>
          <a:xfrm>
            <a:off x="685800" y="193852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ストアへ</a:t>
            </a:r>
          </a:p>
        </p:txBody>
      </p:sp>
      <p:sp>
        <p:nvSpPr>
          <p:cNvPr id="16" name="Rectangle 15"/>
          <p:cNvSpPr/>
          <p:nvPr/>
        </p:nvSpPr>
        <p:spPr>
          <a:xfrm>
            <a:off x="1335024" y="193852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会員特典</a:t>
            </a:r>
          </a:p>
        </p:txBody>
      </p:sp>
      <p:sp>
        <p:nvSpPr>
          <p:cNvPr id="17" name="Rectangle 16"/>
          <p:cNvSpPr/>
          <p:nvPr/>
        </p:nvSpPr>
        <p:spPr>
          <a:xfrm>
            <a:off x="1984248" y="193852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FAQ</a:t>
            </a:r>
          </a:p>
        </p:txBody>
      </p:sp>
      <p:sp>
        <p:nvSpPr>
          <p:cNvPr id="18" name="TextBox 17"/>
          <p:cNvSpPr txBox="1"/>
          <p:nvPr/>
        </p:nvSpPr>
        <p:spPr>
          <a:xfrm>
            <a:off x="685800" y="2606040"/>
            <a:ext cx="1947672" cy="182880"/>
          </a:xfrm>
          <a:prstGeom prst="rect">
            <a:avLst/>
          </a:prstGeom>
          <a:noFill/>
        </p:spPr>
        <p:txBody>
          <a:bodyPr wrap="none" lIns="0" tIns="0" bIns="0">
            <a:spAutoFit/>
          </a:bodyPr>
          <a:lstStyle/>
          <a:p>
            <a:r>
              <a:rPr sz="1100" b="1">
                <a:solidFill>
                  <a:srgbClr val="1F285A"/>
                </a:solidFill>
                <a:latin typeface="メイリオ"/>
                <a:ea typeface="メイリオ"/>
              </a:rPr>
              <a:t>② EC面</a:t>
            </a:r>
          </a:p>
        </p:txBody>
      </p:sp>
      <p:sp>
        <p:nvSpPr>
          <p:cNvPr id="19" name="Rectangle 18"/>
          <p:cNvSpPr/>
          <p:nvPr/>
        </p:nvSpPr>
        <p:spPr>
          <a:xfrm>
            <a:off x="685800" y="2807208"/>
            <a:ext cx="649224" cy="457200"/>
          </a:xfrm>
          <a:prstGeom prst="rect">
            <a:avLst/>
          </a:prstGeom>
          <a:solidFill>
            <a:srgbClr val="1F285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FFFFFF"/>
                </a:solidFill>
                <a:latin typeface="メイリオ"/>
                <a:ea typeface="メイリオ"/>
              </a:rPr>
              <a:t>おすすめ商品</a:t>
            </a:r>
          </a:p>
        </p:txBody>
      </p:sp>
      <p:sp>
        <p:nvSpPr>
          <p:cNvPr id="20" name="Rectangle 19"/>
          <p:cNvSpPr/>
          <p:nvPr/>
        </p:nvSpPr>
        <p:spPr>
          <a:xfrm>
            <a:off x="1335024" y="280720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定期購入</a:t>
            </a:r>
          </a:p>
        </p:txBody>
      </p:sp>
      <p:sp>
        <p:nvSpPr>
          <p:cNvPr id="21" name="Rectangle 20"/>
          <p:cNvSpPr/>
          <p:nvPr/>
        </p:nvSpPr>
        <p:spPr>
          <a:xfrm>
            <a:off x="1984248" y="280720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レビュー</a:t>
            </a:r>
          </a:p>
        </p:txBody>
      </p:sp>
      <p:sp>
        <p:nvSpPr>
          <p:cNvPr id="22" name="Rectangle 21"/>
          <p:cNvSpPr/>
          <p:nvPr/>
        </p:nvSpPr>
        <p:spPr>
          <a:xfrm>
            <a:off x="685800" y="326440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セミナー予約</a:t>
            </a:r>
          </a:p>
        </p:txBody>
      </p:sp>
      <p:sp>
        <p:nvSpPr>
          <p:cNvPr id="23" name="Rectangle 22"/>
          <p:cNvSpPr/>
          <p:nvPr/>
        </p:nvSpPr>
        <p:spPr>
          <a:xfrm>
            <a:off x="1335024" y="326440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クーポン</a:t>
            </a:r>
          </a:p>
        </p:txBody>
      </p:sp>
      <p:sp>
        <p:nvSpPr>
          <p:cNvPr id="24" name="Rectangle 23"/>
          <p:cNvSpPr/>
          <p:nvPr/>
        </p:nvSpPr>
        <p:spPr>
          <a:xfrm>
            <a:off x="1984248" y="326440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FAQ</a:t>
            </a:r>
          </a:p>
        </p:txBody>
      </p:sp>
      <p:sp>
        <p:nvSpPr>
          <p:cNvPr id="25" name="TextBox 24"/>
          <p:cNvSpPr txBox="1"/>
          <p:nvPr/>
        </p:nvSpPr>
        <p:spPr>
          <a:xfrm>
            <a:off x="685800" y="3931920"/>
            <a:ext cx="1947672" cy="182880"/>
          </a:xfrm>
          <a:prstGeom prst="rect">
            <a:avLst/>
          </a:prstGeom>
          <a:noFill/>
        </p:spPr>
        <p:txBody>
          <a:bodyPr wrap="none" lIns="0" tIns="0" bIns="0">
            <a:spAutoFit/>
          </a:bodyPr>
          <a:lstStyle/>
          <a:p>
            <a:r>
              <a:rPr sz="1100" b="1">
                <a:solidFill>
                  <a:srgbClr val="1F285A"/>
                </a:solidFill>
                <a:latin typeface="メイリオ"/>
                <a:ea typeface="メイリオ"/>
              </a:rPr>
              <a:t>③ 参加後・購入後</a:t>
            </a:r>
          </a:p>
        </p:txBody>
      </p:sp>
      <p:sp>
        <p:nvSpPr>
          <p:cNvPr id="26" name="Rectangle 25"/>
          <p:cNvSpPr/>
          <p:nvPr/>
        </p:nvSpPr>
        <p:spPr>
          <a:xfrm>
            <a:off x="685800" y="4133087"/>
            <a:ext cx="649224" cy="457200"/>
          </a:xfrm>
          <a:prstGeom prst="rect">
            <a:avLst/>
          </a:prstGeom>
          <a:solidFill>
            <a:srgbClr val="1F285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FFFFFF"/>
                </a:solidFill>
                <a:latin typeface="メイリオ"/>
                <a:ea typeface="メイリオ"/>
              </a:rPr>
              <a:t>次回セミナー</a:t>
            </a:r>
          </a:p>
        </p:txBody>
      </p:sp>
      <p:sp>
        <p:nvSpPr>
          <p:cNvPr id="27" name="Rectangle 26"/>
          <p:cNvSpPr/>
          <p:nvPr/>
        </p:nvSpPr>
        <p:spPr>
          <a:xfrm>
            <a:off x="1335024" y="4133087"/>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おすすめ商品</a:t>
            </a:r>
          </a:p>
        </p:txBody>
      </p:sp>
      <p:sp>
        <p:nvSpPr>
          <p:cNvPr id="28" name="Rectangle 27"/>
          <p:cNvSpPr/>
          <p:nvPr/>
        </p:nvSpPr>
        <p:spPr>
          <a:xfrm>
            <a:off x="1984248" y="4133087"/>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クーポン</a:t>
            </a:r>
          </a:p>
        </p:txBody>
      </p:sp>
      <p:sp>
        <p:nvSpPr>
          <p:cNvPr id="29" name="Rectangle 28"/>
          <p:cNvSpPr/>
          <p:nvPr/>
        </p:nvSpPr>
        <p:spPr>
          <a:xfrm>
            <a:off x="685800" y="459028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アクセス</a:t>
            </a:r>
          </a:p>
        </p:txBody>
      </p:sp>
      <p:sp>
        <p:nvSpPr>
          <p:cNvPr id="30" name="Rectangle 29"/>
          <p:cNvSpPr/>
          <p:nvPr/>
        </p:nvSpPr>
        <p:spPr>
          <a:xfrm>
            <a:off x="1335024" y="459028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会員特典</a:t>
            </a:r>
          </a:p>
        </p:txBody>
      </p:sp>
      <p:sp>
        <p:nvSpPr>
          <p:cNvPr id="31" name="Rectangle 30"/>
          <p:cNvSpPr/>
          <p:nvPr/>
        </p:nvSpPr>
        <p:spPr>
          <a:xfrm>
            <a:off x="1984248" y="4590288"/>
            <a:ext cx="649224" cy="457200"/>
          </a:xfrm>
          <a:prstGeom prst="rect">
            <a:avLst/>
          </a:prstGeom>
          <a:solidFill>
            <a:srgbClr val="E8EEF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1F285A"/>
                </a:solidFill>
                <a:latin typeface="メイリオ"/>
                <a:ea typeface="メイリオ"/>
              </a:rPr>
              <a:t>FAQ</a:t>
            </a:r>
          </a:p>
        </p:txBody>
      </p:sp>
    </p:spTree>
    <p:extLst>
      <p:ext uri="{BB962C8B-B14F-4D97-AF65-F5344CB8AC3E}">
        <p14:creationId xmlns:p14="http://schemas.microsoft.com/office/powerpoint/2010/main" val="288088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具体施策③ 月次の運用サイクル</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800" b="1">
                <a:solidFill>
                  <a:srgbClr val="333333"/>
                </a:solidFill>
                <a:latin typeface="メイリオ"/>
                <a:ea typeface="メイリオ"/>
                <a:cs typeface="メイリオ"/>
              </a:rPr>
              <a:t>「計測整備→アンケート→出し分け配信→改善」を毎月回し、申込と購入を積み上げます。</a:t>
            </a:r>
          </a:p>
        </p:txBody>
      </p:sp>
      <p:sp>
        <p:nvSpPr>
          <p:cNvPr id="4" name="Rectangle 3"/>
          <p:cNvSpPr/>
          <p:nvPr/>
        </p:nvSpPr>
        <p:spPr>
          <a:xfrm>
            <a:off x="548640"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FFFFFF"/>
                </a:solidFill>
                <a:latin typeface="メイリオ"/>
                <a:ea typeface="メイリオ"/>
                <a:cs typeface="メイリオ"/>
              </a:rPr>
              <a:t>① 計測整備期</a:t>
            </a:r>
          </a:p>
          <a:p>
            <a:pPr algn="ctr"/>
            <a:r>
              <a:rPr sz="1200">
                <a:solidFill>
                  <a:srgbClr val="FFFFFF"/>
                </a:solidFill>
                <a:latin typeface="メイリオ"/>
                <a:ea typeface="メイリオ"/>
                <a:cs typeface="メイリオ"/>
              </a:rPr>
              <a:t>1ヶ月目</a:t>
            </a:r>
          </a:p>
        </p:txBody>
      </p:sp>
      <p:sp>
        <p:nvSpPr>
          <p:cNvPr id="5" name="Right Arrow 4"/>
          <p:cNvSpPr/>
          <p:nvPr/>
        </p:nvSpPr>
        <p:spPr>
          <a:xfrm>
            <a:off x="2651760" y="1499616"/>
            <a:ext cx="128016"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09728" bIns="36576" rtlCol="0" anchor="t"/>
          <a:lstStyle/>
          <a:p>
            <a:pPr algn="l">
              <a:lnSpc>
                <a:spcPct val="120000"/>
              </a:lnSpc>
            </a:pPr>
            <a:r>
              <a:rPr sz="1400">
                <a:solidFill>
                  <a:srgbClr val="333333"/>
                </a:solidFill>
                <a:latin typeface="メイリオ"/>
                <a:ea typeface="メイリオ"/>
                <a:cs typeface="メイリオ"/>
              </a:rPr>
              <a:t>UTM設計・リッチメニュー再設計・アンケート配信で、測れる土台を整える。</a:t>
            </a:r>
          </a:p>
        </p:txBody>
      </p:sp>
      <p:sp>
        <p:nvSpPr>
          <p:cNvPr id="7" name="Rectangle 6"/>
          <p:cNvSpPr/>
          <p:nvPr/>
        </p:nvSpPr>
        <p:spPr>
          <a:xfrm>
            <a:off x="2798064"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FFFFFF"/>
                </a:solidFill>
                <a:latin typeface="メイリオ"/>
                <a:ea typeface="メイリオ"/>
                <a:cs typeface="メイリオ"/>
              </a:rPr>
              <a:t>② 配信開始期</a:t>
            </a:r>
          </a:p>
          <a:p>
            <a:pPr algn="ctr"/>
            <a:r>
              <a:rPr sz="1200">
                <a:solidFill>
                  <a:srgbClr val="FFFFFF"/>
                </a:solidFill>
                <a:latin typeface="メイリオ"/>
                <a:ea typeface="メイリオ"/>
                <a:cs typeface="メイリオ"/>
              </a:rPr>
              <a:t>2ヶ月目</a:t>
            </a:r>
          </a:p>
        </p:txBody>
      </p:sp>
      <p:sp>
        <p:nvSpPr>
          <p:cNvPr id="8" name="Right Arrow 7"/>
          <p:cNvSpPr/>
          <p:nvPr/>
        </p:nvSpPr>
        <p:spPr>
          <a:xfrm>
            <a:off x="4901183" y="1499616"/>
            <a:ext cx="128016"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98064"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09728" bIns="36576" rtlCol="0" anchor="t"/>
          <a:lstStyle/>
          <a:p>
            <a:pPr algn="l">
              <a:lnSpc>
                <a:spcPct val="120000"/>
              </a:lnSpc>
            </a:pPr>
            <a:r>
              <a:rPr sz="1400">
                <a:solidFill>
                  <a:srgbClr val="333333"/>
                </a:solidFill>
                <a:latin typeface="メイリオ"/>
                <a:ea typeface="メイリオ"/>
                <a:cs typeface="メイリオ"/>
              </a:rPr>
              <a:t>セミナー・ECの2導線で、出し分け配信を開始する。</a:t>
            </a:r>
          </a:p>
        </p:txBody>
      </p:sp>
      <p:sp>
        <p:nvSpPr>
          <p:cNvPr id="10" name="Rectangle 9"/>
          <p:cNvSpPr/>
          <p:nvPr/>
        </p:nvSpPr>
        <p:spPr>
          <a:xfrm>
            <a:off x="5047488"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FFFFFF"/>
                </a:solidFill>
                <a:latin typeface="メイリオ"/>
                <a:ea typeface="メイリオ"/>
                <a:cs typeface="メイリオ"/>
              </a:rPr>
              <a:t>③ 相互送客期</a:t>
            </a:r>
          </a:p>
          <a:p>
            <a:pPr algn="ctr"/>
            <a:r>
              <a:rPr sz="1200">
                <a:solidFill>
                  <a:srgbClr val="FFFFFF"/>
                </a:solidFill>
                <a:latin typeface="メイリオ"/>
                <a:ea typeface="メイリオ"/>
                <a:cs typeface="メイリオ"/>
              </a:rPr>
              <a:t>3ヶ月目〜</a:t>
            </a:r>
          </a:p>
        </p:txBody>
      </p:sp>
      <p:sp>
        <p:nvSpPr>
          <p:cNvPr id="11" name="Right Arrow 10"/>
          <p:cNvSpPr/>
          <p:nvPr/>
        </p:nvSpPr>
        <p:spPr>
          <a:xfrm>
            <a:off x="7150607" y="1499616"/>
            <a:ext cx="128016"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47488"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09728" bIns="36576" rtlCol="0" anchor="t"/>
          <a:lstStyle/>
          <a:p>
            <a:pPr algn="l">
              <a:lnSpc>
                <a:spcPct val="120000"/>
              </a:lnSpc>
            </a:pPr>
            <a:r>
              <a:rPr sz="1400">
                <a:solidFill>
                  <a:srgbClr val="333333"/>
                </a:solidFill>
                <a:latin typeface="メイリオ"/>
                <a:ea typeface="メイリオ"/>
                <a:cs typeface="メイリオ"/>
              </a:rPr>
              <a:t>参加者→EC、購入者→セミナーのクロス配信で1人あたりの価値を上げる。</a:t>
            </a:r>
          </a:p>
        </p:txBody>
      </p:sp>
      <p:sp>
        <p:nvSpPr>
          <p:cNvPr id="13" name="Rectangle 12"/>
          <p:cNvSpPr/>
          <p:nvPr/>
        </p:nvSpPr>
        <p:spPr>
          <a:xfrm>
            <a:off x="7296912"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FFFFFF"/>
                </a:solidFill>
                <a:latin typeface="メイリオ"/>
                <a:ea typeface="メイリオ"/>
                <a:cs typeface="メイリオ"/>
              </a:rPr>
              <a:t>④ 改善運用</a:t>
            </a:r>
          </a:p>
          <a:p>
            <a:pPr algn="ctr"/>
            <a:r>
              <a:rPr sz="1200">
                <a:solidFill>
                  <a:srgbClr val="FFFFFF"/>
                </a:solidFill>
                <a:latin typeface="メイリオ"/>
                <a:ea typeface="メイリオ"/>
                <a:cs typeface="メイリオ"/>
              </a:rPr>
              <a:t>毎月</a:t>
            </a:r>
          </a:p>
        </p:txBody>
      </p:sp>
      <p:sp>
        <p:nvSpPr>
          <p:cNvPr id="14" name="Rounded Rectangle 13"/>
          <p:cNvSpPr/>
          <p:nvPr/>
        </p:nvSpPr>
        <p:spPr>
          <a:xfrm>
            <a:off x="7296912"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09728" bIns="36576" rtlCol="0" anchor="t"/>
          <a:lstStyle/>
          <a:p>
            <a:pPr algn="l">
              <a:lnSpc>
                <a:spcPct val="120000"/>
              </a:lnSpc>
            </a:pPr>
            <a:r>
              <a:rPr sz="1400">
                <a:solidFill>
                  <a:srgbClr val="333333"/>
                </a:solidFill>
                <a:latin typeface="メイリオ"/>
                <a:ea typeface="メイリオ"/>
                <a:cs typeface="メイリオ"/>
              </a:rPr>
              <a:t>開封・クリック・CVを見て、企画と文面を月次で改善。</a:t>
            </a:r>
          </a:p>
        </p:txBody>
      </p:sp>
      <p:sp>
        <p:nvSpPr>
          <p:cNvPr id="15" name="TextBox 14"/>
          <p:cNvSpPr txBox="1"/>
          <p:nvPr/>
        </p:nvSpPr>
        <p:spPr>
          <a:xfrm>
            <a:off x="548640" y="3749039"/>
            <a:ext cx="8778240" cy="310896"/>
          </a:xfrm>
          <a:prstGeom prst="rect">
            <a:avLst/>
          </a:prstGeom>
          <a:noFill/>
        </p:spPr>
        <p:txBody>
          <a:bodyPr wrap="square" lIns="0" tIns="36576" rIns="73152" bIns="36576" anchor="t">
            <a:spAutoFit/>
          </a:bodyPr>
          <a:lstStyle/>
          <a:p>
            <a:pPr algn="l"/>
            <a:r>
              <a:rPr sz="1400" b="1">
                <a:solidFill>
                  <a:srgbClr val="1F285A"/>
                </a:solidFill>
                <a:latin typeface="メイリオ"/>
                <a:ea typeface="メイリオ"/>
                <a:cs typeface="メイリオ"/>
              </a:rPr>
              <a:t>2026年 秋の実施スケジュール</a:t>
            </a:r>
          </a:p>
        </p:txBody>
      </p:sp>
      <p:sp>
        <p:nvSpPr>
          <p:cNvPr id="16" name="Rounded Rectangle 15"/>
          <p:cNvSpPr/>
          <p:nvPr/>
        </p:nvSpPr>
        <p:spPr>
          <a:xfrm>
            <a:off x="54864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1F285A"/>
                </a:solidFill>
                <a:latin typeface="メイリオ"/>
                <a:ea typeface="メイリオ"/>
                <a:cs typeface="メイリオ"/>
              </a:rPr>
              <a:t>9月上旬</a:t>
            </a:r>
          </a:p>
          <a:p>
            <a:pPr algn="ctr"/>
            <a:r>
              <a:rPr sz="1400">
                <a:solidFill>
                  <a:srgbClr val="333333"/>
                </a:solidFill>
                <a:latin typeface="メイリオ"/>
                <a:ea typeface="メイリオ"/>
                <a:cs typeface="メイリオ"/>
              </a:rPr>
              <a:t>契約・キックオフ</a:t>
            </a:r>
          </a:p>
        </p:txBody>
      </p:sp>
      <p:sp>
        <p:nvSpPr>
          <p:cNvPr id="17" name="Rounded Rectangle 16"/>
          <p:cNvSpPr/>
          <p:nvPr/>
        </p:nvSpPr>
        <p:spPr>
          <a:xfrm>
            <a:off x="233172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1F285A"/>
                </a:solidFill>
                <a:latin typeface="メイリオ"/>
                <a:ea typeface="メイリオ"/>
                <a:cs typeface="メイリオ"/>
              </a:rPr>
              <a:t>9月中</a:t>
            </a:r>
          </a:p>
          <a:p>
            <a:pPr algn="ctr"/>
            <a:r>
              <a:rPr sz="1400">
                <a:solidFill>
                  <a:srgbClr val="333333"/>
                </a:solidFill>
                <a:latin typeface="メイリオ"/>
                <a:ea typeface="メイリオ"/>
                <a:cs typeface="メイリオ"/>
              </a:rPr>
              <a:t>構築・計測整備</a:t>
            </a:r>
          </a:p>
        </p:txBody>
      </p:sp>
      <p:sp>
        <p:nvSpPr>
          <p:cNvPr id="18" name="Rounded Rectangle 17"/>
          <p:cNvSpPr/>
          <p:nvPr/>
        </p:nvSpPr>
        <p:spPr>
          <a:xfrm>
            <a:off x="411480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1F285A"/>
                </a:solidFill>
                <a:latin typeface="メイリオ"/>
                <a:ea typeface="メイリオ"/>
                <a:cs typeface="メイリオ"/>
              </a:rPr>
              <a:t>9月末</a:t>
            </a:r>
          </a:p>
          <a:p>
            <a:pPr algn="ctr"/>
            <a:r>
              <a:rPr sz="1400">
                <a:solidFill>
                  <a:srgbClr val="333333"/>
                </a:solidFill>
                <a:latin typeface="メイリオ"/>
                <a:ea typeface="メイリオ"/>
                <a:cs typeface="メイリオ"/>
              </a:rPr>
              <a:t>アンケート配信</a:t>
            </a:r>
          </a:p>
        </p:txBody>
      </p:sp>
      <p:sp>
        <p:nvSpPr>
          <p:cNvPr id="19" name="Rounded Rectangle 18"/>
          <p:cNvSpPr/>
          <p:nvPr/>
        </p:nvSpPr>
        <p:spPr>
          <a:xfrm>
            <a:off x="5897879"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1F285A"/>
                </a:solidFill>
                <a:latin typeface="メイリオ"/>
                <a:ea typeface="メイリオ"/>
                <a:cs typeface="メイリオ"/>
              </a:rPr>
              <a:t>10月</a:t>
            </a:r>
          </a:p>
          <a:p>
            <a:pPr algn="ctr"/>
            <a:r>
              <a:rPr sz="1400">
                <a:solidFill>
                  <a:srgbClr val="333333"/>
                </a:solidFill>
                <a:latin typeface="メイリオ"/>
                <a:ea typeface="メイリオ"/>
                <a:cs typeface="メイリオ"/>
              </a:rPr>
              <a:t>2導線 配信開始</a:t>
            </a:r>
          </a:p>
        </p:txBody>
      </p:sp>
      <p:sp>
        <p:nvSpPr>
          <p:cNvPr id="20" name="Rounded Rectangle 19"/>
          <p:cNvSpPr/>
          <p:nvPr/>
        </p:nvSpPr>
        <p:spPr>
          <a:xfrm>
            <a:off x="768096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200"/>
              </a:spcAft>
            </a:pPr>
            <a:r>
              <a:rPr sz="1400" b="1">
                <a:solidFill>
                  <a:srgbClr val="1F285A"/>
                </a:solidFill>
                <a:latin typeface="メイリオ"/>
                <a:ea typeface="メイリオ"/>
                <a:cs typeface="メイリオ"/>
              </a:rPr>
              <a:t>11月〜</a:t>
            </a:r>
          </a:p>
          <a:p>
            <a:pPr algn="ctr"/>
            <a:r>
              <a:rPr sz="1400">
                <a:solidFill>
                  <a:srgbClr val="333333"/>
                </a:solidFill>
                <a:latin typeface="メイリオ"/>
                <a:ea typeface="メイリオ"/>
                <a:cs typeface="メイリオ"/>
              </a:rPr>
              <a:t>相互送客・改善</a:t>
            </a:r>
          </a:p>
        </p:txBody>
      </p:sp>
      <p:sp>
        <p:nvSpPr>
          <p:cNvPr id="21" name="TextBox 20"/>
          <p:cNvSpPr txBox="1"/>
          <p:nvPr/>
        </p:nvSpPr>
        <p:spPr>
          <a:xfrm>
            <a:off x="548640" y="4956048"/>
            <a:ext cx="8778240" cy="512064"/>
          </a:xfrm>
          <a:prstGeom prst="rect">
            <a:avLst/>
          </a:prstGeom>
          <a:noFill/>
        </p:spPr>
        <p:txBody>
          <a:bodyPr wrap="square" lIns="0" tIns="36576" rIns="73152" bIns="36576" anchor="t">
            <a:spAutoFit/>
          </a:bodyPr>
          <a:lstStyle/>
          <a:p>
            <a:pPr algn="l">
              <a:lnSpc>
                <a:spcPct val="120000"/>
              </a:lnSpc>
            </a:pPr>
            <a:r>
              <a:rPr sz="1400">
                <a:solidFill>
                  <a:srgbClr val="333333"/>
                </a:solidFill>
                <a:latin typeface="メイリオ"/>
                <a:ea typeface="メイリオ"/>
                <a:cs typeface="メイリオ"/>
              </a:rPr>
              <a:t>構築と計測整備を9月中に終えれば、10月からの配信はすべて「成果としてカウントできる状態」で始められます。EC成果は計測整備の完了後からのカウントとし、揉めない形でスタートします。</a:t>
            </a:r>
          </a:p>
        </p:txBody>
      </p:sp>
      <p:sp>
        <p:nvSpPr>
          <p:cNvPr id="22" name="Rounded Rectangle 21"/>
          <p:cNvSpPr/>
          <p:nvPr/>
        </p:nvSpPr>
        <p:spPr>
          <a:xfrm>
            <a:off x="548640" y="5614416"/>
            <a:ext cx="8778240" cy="438912"/>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初月で「測れる土台」を整え、2ヶ月目から成果を積み上げる</a:t>
            </a:r>
          </a:p>
        </p:txBody>
      </p:sp>
      <p:sp>
        <p:nvSpPr>
          <p:cNvPr id="23" name="TextBox 22"/>
          <p:cNvSpPr txBox="1"/>
          <p:nvPr/>
        </p:nvSpPr>
        <p:spPr>
          <a:xfrm>
            <a:off x="548640" y="6272784"/>
            <a:ext cx="8778240" cy="274320"/>
          </a:xfrm>
          <a:prstGeom prst="rect">
            <a:avLst/>
          </a:prstGeom>
          <a:noFill/>
        </p:spPr>
        <p:txBody>
          <a:bodyPr wrap="square" lIns="0" tIns="36576" rIns="73152" bIns="36576" anchor="t">
            <a:spAutoFit/>
          </a:bodyPr>
          <a:lstStyle/>
          <a:p>
            <a:pPr algn="l"/>
            <a:r>
              <a:rPr sz="900">
                <a:solidFill>
                  <a:srgbClr val="808080"/>
                </a:solidFill>
                <a:latin typeface="メイリオ"/>
                <a:ea typeface="メイリオ"/>
                <a:cs typeface="メイリオ"/>
              </a:rPr>
              <a:t>出典：貴社ヒアリングおよび貴社LINE公式アカウント実機確認（2026年8月）</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18288" rIns="0" bIns="18288" anchor="ctr">
            <a:spAutoFit/>
          </a:bodyPr>
          <a:lstStyle/>
          <a:p>
            <a:pPr algn="l"/>
            <a:r>
              <a:rPr sz="2000" b="1">
                <a:solidFill>
                  <a:srgbClr val="002060"/>
                </a:solidFill>
                <a:latin typeface="メイリオ"/>
                <a:ea typeface="メイリオ"/>
                <a:cs typeface="メイリオ"/>
              </a:rPr>
              <a:t>具体施策④ ステップ配信設計（Day 0 〜 Day 14）</a:t>
            </a:r>
          </a:p>
        </p:txBody>
      </p:sp>
      <p:sp>
        <p:nvSpPr>
          <p:cNvPr id="3" name="TextBox 2"/>
          <p:cNvSpPr txBox="1"/>
          <p:nvPr/>
        </p:nvSpPr>
        <p:spPr>
          <a:xfrm>
            <a:off x="548640" y="621792"/>
            <a:ext cx="8778240" cy="502920"/>
          </a:xfrm>
          <a:prstGeom prst="rect">
            <a:avLst/>
          </a:prstGeom>
          <a:noFill/>
        </p:spPr>
        <p:txBody>
          <a:bodyPr wrap="square" lIns="0" tIns="18288" rIns="0" bIns="18288" anchor="ctr">
            <a:spAutoFit/>
          </a:bodyPr>
          <a:lstStyle/>
          <a:p>
            <a:pPr algn="l">
              <a:lnSpc>
                <a:spcPct val="105000"/>
              </a:lnSpc>
            </a:pPr>
            <a:r>
              <a:rPr sz="1800" b="1">
                <a:solidFill>
                  <a:srgbClr val="333333"/>
                </a:solidFill>
                <a:latin typeface="メイリオ"/>
                <a:ea typeface="メイリオ"/>
                <a:cs typeface="メイリオ"/>
              </a:rPr>
              <a:t>アクティブ率が最も高い追加直後に価値を渡し、全8通で「登録→セミナー申込・EC購入」まで自動で運びます。</a:t>
            </a:r>
          </a:p>
        </p:txBody>
      </p:sp>
      <p:sp>
        <p:nvSpPr>
          <p:cNvPr id="4" name="Rectangle 3"/>
          <p:cNvSpPr/>
          <p:nvPr/>
        </p:nvSpPr>
        <p:spPr>
          <a:xfrm>
            <a:off x="548640" y="1207008"/>
            <a:ext cx="1051560" cy="31089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FFFFFF"/>
                </a:solidFill>
                <a:latin typeface="メイリオ"/>
                <a:ea typeface="メイリオ"/>
                <a:cs typeface="メイリオ"/>
              </a:rPr>
              <a:t>Day 0</a:t>
            </a:r>
          </a:p>
        </p:txBody>
      </p:sp>
      <p:sp>
        <p:nvSpPr>
          <p:cNvPr id="5" name="TextBox 4"/>
          <p:cNvSpPr txBox="1"/>
          <p:nvPr/>
        </p:nvSpPr>
        <p:spPr>
          <a:xfrm>
            <a:off x="548640" y="1536192"/>
            <a:ext cx="1051560" cy="237744"/>
          </a:xfrm>
          <a:prstGeom prst="rect">
            <a:avLst/>
          </a:prstGeom>
          <a:noFill/>
        </p:spPr>
        <p:txBody>
          <a:bodyPr wrap="square" lIns="0" tIns="18288" rIns="0" bIns="18288" anchor="ctr">
            <a:spAutoFit/>
          </a:bodyPr>
          <a:lstStyle/>
          <a:p>
            <a:pPr algn="ctr"/>
            <a:r>
              <a:rPr sz="1150">
                <a:solidFill>
                  <a:srgbClr val="333333"/>
                </a:solidFill>
                <a:latin typeface="メイリオ"/>
                <a:ea typeface="メイリオ"/>
                <a:cs typeface="メイリオ"/>
              </a:rPr>
              <a:t>特典＋3問</a:t>
            </a:r>
          </a:p>
        </p:txBody>
      </p:sp>
      <p:sp>
        <p:nvSpPr>
          <p:cNvPr id="6" name="Right Arrow 5"/>
          <p:cNvSpPr/>
          <p:nvPr/>
        </p:nvSpPr>
        <p:spPr>
          <a:xfrm>
            <a:off x="1655064" y="1298448"/>
            <a:ext cx="128016" cy="14630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37943" y="1207008"/>
            <a:ext cx="1051560" cy="310896"/>
          </a:xfrm>
          <a:prstGeom prst="rect">
            <a:avLst/>
          </a:prstGeom>
          <a:solidFill>
            <a:srgbClr val="8A9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FFFFFF"/>
                </a:solidFill>
                <a:latin typeface="メイリオ"/>
                <a:ea typeface="メイリオ"/>
                <a:cs typeface="メイリオ"/>
              </a:rPr>
              <a:t>Day 1</a:t>
            </a:r>
          </a:p>
        </p:txBody>
      </p:sp>
      <p:sp>
        <p:nvSpPr>
          <p:cNvPr id="8" name="TextBox 7"/>
          <p:cNvSpPr txBox="1"/>
          <p:nvPr/>
        </p:nvSpPr>
        <p:spPr>
          <a:xfrm>
            <a:off x="1837943" y="1536192"/>
            <a:ext cx="1051560" cy="237744"/>
          </a:xfrm>
          <a:prstGeom prst="rect">
            <a:avLst/>
          </a:prstGeom>
          <a:noFill/>
        </p:spPr>
        <p:txBody>
          <a:bodyPr wrap="square" lIns="0" tIns="18288" rIns="0" bIns="18288" anchor="ctr">
            <a:spAutoFit/>
          </a:bodyPr>
          <a:lstStyle/>
          <a:p>
            <a:pPr algn="ctr"/>
            <a:r>
              <a:rPr sz="1150">
                <a:solidFill>
                  <a:srgbClr val="333333"/>
                </a:solidFill>
                <a:latin typeface="メイリオ"/>
                <a:ea typeface="メイリオ"/>
                <a:cs typeface="メイリオ"/>
              </a:rPr>
              <a:t>アンケート結果</a:t>
            </a:r>
          </a:p>
        </p:txBody>
      </p:sp>
      <p:sp>
        <p:nvSpPr>
          <p:cNvPr id="9" name="Right Arrow 8"/>
          <p:cNvSpPr/>
          <p:nvPr/>
        </p:nvSpPr>
        <p:spPr>
          <a:xfrm>
            <a:off x="2944368" y="1298448"/>
            <a:ext cx="128016" cy="14630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127248" y="1207008"/>
            <a:ext cx="1051560" cy="310896"/>
          </a:xfrm>
          <a:prstGeom prst="rect">
            <a:avLst/>
          </a:prstGeom>
          <a:solidFill>
            <a:srgbClr val="8A9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FFFFFF"/>
                </a:solidFill>
                <a:latin typeface="メイリオ"/>
                <a:ea typeface="メイリオ"/>
                <a:cs typeface="メイリオ"/>
              </a:rPr>
              <a:t>Day 3</a:t>
            </a:r>
          </a:p>
        </p:txBody>
      </p:sp>
      <p:sp>
        <p:nvSpPr>
          <p:cNvPr id="11" name="TextBox 10"/>
          <p:cNvSpPr txBox="1"/>
          <p:nvPr/>
        </p:nvSpPr>
        <p:spPr>
          <a:xfrm>
            <a:off x="3127248" y="1536192"/>
            <a:ext cx="1051560" cy="237744"/>
          </a:xfrm>
          <a:prstGeom prst="rect">
            <a:avLst/>
          </a:prstGeom>
          <a:noFill/>
        </p:spPr>
        <p:txBody>
          <a:bodyPr wrap="square" lIns="0" tIns="18288" rIns="0" bIns="18288" anchor="ctr">
            <a:spAutoFit/>
          </a:bodyPr>
          <a:lstStyle/>
          <a:p>
            <a:pPr algn="ctr"/>
            <a:r>
              <a:rPr sz="1150">
                <a:solidFill>
                  <a:srgbClr val="333333"/>
                </a:solidFill>
                <a:latin typeface="メイリオ"/>
                <a:ea typeface="メイリオ"/>
                <a:cs typeface="メイリオ"/>
              </a:rPr>
              <a:t>お役立ち配信</a:t>
            </a:r>
          </a:p>
        </p:txBody>
      </p:sp>
      <p:sp>
        <p:nvSpPr>
          <p:cNvPr id="12" name="Right Arrow 11"/>
          <p:cNvSpPr/>
          <p:nvPr/>
        </p:nvSpPr>
        <p:spPr>
          <a:xfrm>
            <a:off x="4233672" y="1298448"/>
            <a:ext cx="128016" cy="14630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16551" y="1207008"/>
            <a:ext cx="1051560" cy="310896"/>
          </a:xfrm>
          <a:prstGeom prst="rect">
            <a:avLst/>
          </a:prstGeom>
          <a:solidFill>
            <a:srgbClr val="8A9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FFFFFF"/>
                </a:solidFill>
                <a:latin typeface="メイリオ"/>
                <a:ea typeface="メイリオ"/>
                <a:cs typeface="メイリオ"/>
              </a:rPr>
              <a:t>Day 5</a:t>
            </a:r>
          </a:p>
        </p:txBody>
      </p:sp>
      <p:sp>
        <p:nvSpPr>
          <p:cNvPr id="14" name="TextBox 13"/>
          <p:cNvSpPr txBox="1"/>
          <p:nvPr/>
        </p:nvSpPr>
        <p:spPr>
          <a:xfrm>
            <a:off x="4416551" y="1536192"/>
            <a:ext cx="1051560" cy="237744"/>
          </a:xfrm>
          <a:prstGeom prst="rect">
            <a:avLst/>
          </a:prstGeom>
          <a:noFill/>
        </p:spPr>
        <p:txBody>
          <a:bodyPr wrap="square" lIns="0" tIns="18288" rIns="0" bIns="18288" anchor="ctr">
            <a:spAutoFit/>
          </a:bodyPr>
          <a:lstStyle/>
          <a:p>
            <a:pPr algn="ctr"/>
            <a:r>
              <a:rPr sz="1150">
                <a:solidFill>
                  <a:srgbClr val="333333"/>
                </a:solidFill>
                <a:latin typeface="メイリオ"/>
                <a:ea typeface="メイリオ"/>
                <a:cs typeface="メイリオ"/>
              </a:rPr>
              <a:t>利用者の声</a:t>
            </a:r>
          </a:p>
        </p:txBody>
      </p:sp>
      <p:sp>
        <p:nvSpPr>
          <p:cNvPr id="15" name="Right Arrow 14"/>
          <p:cNvSpPr/>
          <p:nvPr/>
        </p:nvSpPr>
        <p:spPr>
          <a:xfrm>
            <a:off x="5522975" y="1298448"/>
            <a:ext cx="128016" cy="14630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705855" y="1207008"/>
            <a:ext cx="1051560" cy="31089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FFFFFF"/>
                </a:solidFill>
                <a:latin typeface="メイリオ"/>
                <a:ea typeface="メイリオ"/>
                <a:cs typeface="メイリオ"/>
              </a:rPr>
              <a:t>Day 7</a:t>
            </a:r>
          </a:p>
        </p:txBody>
      </p:sp>
      <p:sp>
        <p:nvSpPr>
          <p:cNvPr id="17" name="TextBox 16"/>
          <p:cNvSpPr txBox="1"/>
          <p:nvPr/>
        </p:nvSpPr>
        <p:spPr>
          <a:xfrm>
            <a:off x="5705855" y="1536192"/>
            <a:ext cx="1051560" cy="237744"/>
          </a:xfrm>
          <a:prstGeom prst="rect">
            <a:avLst/>
          </a:prstGeom>
          <a:noFill/>
        </p:spPr>
        <p:txBody>
          <a:bodyPr wrap="square" lIns="0" tIns="18288" rIns="0" bIns="18288" anchor="ctr">
            <a:spAutoFit/>
          </a:bodyPr>
          <a:lstStyle/>
          <a:p>
            <a:pPr algn="ctr"/>
            <a:r>
              <a:rPr sz="1150">
                <a:solidFill>
                  <a:srgbClr val="333333"/>
                </a:solidFill>
                <a:latin typeface="メイリオ"/>
                <a:ea typeface="メイリオ"/>
                <a:cs typeface="メイリオ"/>
              </a:rPr>
              <a:t>2導線の案内</a:t>
            </a:r>
          </a:p>
        </p:txBody>
      </p:sp>
      <p:sp>
        <p:nvSpPr>
          <p:cNvPr id="18" name="Right Arrow 17"/>
          <p:cNvSpPr/>
          <p:nvPr/>
        </p:nvSpPr>
        <p:spPr>
          <a:xfrm>
            <a:off x="6812279" y="1298448"/>
            <a:ext cx="128016" cy="14630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995159" y="1207008"/>
            <a:ext cx="1051560" cy="310896"/>
          </a:xfrm>
          <a:prstGeom prst="rect">
            <a:avLst/>
          </a:prstGeom>
          <a:solidFill>
            <a:srgbClr val="8A93A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FFFFFF"/>
                </a:solidFill>
                <a:latin typeface="メイリオ"/>
                <a:ea typeface="メイリオ"/>
                <a:cs typeface="メイリオ"/>
              </a:rPr>
              <a:t>Day 10</a:t>
            </a:r>
          </a:p>
        </p:txBody>
      </p:sp>
      <p:sp>
        <p:nvSpPr>
          <p:cNvPr id="20" name="TextBox 19"/>
          <p:cNvSpPr txBox="1"/>
          <p:nvPr/>
        </p:nvSpPr>
        <p:spPr>
          <a:xfrm>
            <a:off x="6995159" y="1536192"/>
            <a:ext cx="1051560" cy="237744"/>
          </a:xfrm>
          <a:prstGeom prst="rect">
            <a:avLst/>
          </a:prstGeom>
          <a:noFill/>
        </p:spPr>
        <p:txBody>
          <a:bodyPr wrap="square" lIns="0" tIns="18288" rIns="0" bIns="18288" anchor="ctr">
            <a:spAutoFit/>
          </a:bodyPr>
          <a:lstStyle/>
          <a:p>
            <a:pPr algn="ctr"/>
            <a:r>
              <a:rPr sz="1150">
                <a:solidFill>
                  <a:srgbClr val="333333"/>
                </a:solidFill>
                <a:latin typeface="メイリオ"/>
                <a:ea typeface="メイリオ"/>
                <a:cs typeface="メイリオ"/>
              </a:rPr>
              <a:t>特典で後押し</a:t>
            </a:r>
          </a:p>
        </p:txBody>
      </p:sp>
      <p:sp>
        <p:nvSpPr>
          <p:cNvPr id="21" name="Right Arrow 20"/>
          <p:cNvSpPr/>
          <p:nvPr/>
        </p:nvSpPr>
        <p:spPr>
          <a:xfrm>
            <a:off x="8101583" y="1298448"/>
            <a:ext cx="128016" cy="14630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84463" y="1207008"/>
            <a:ext cx="1051560" cy="310896"/>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FFFFFF"/>
                </a:solidFill>
                <a:latin typeface="メイリオ"/>
                <a:ea typeface="メイリオ"/>
                <a:cs typeface="メイリオ"/>
              </a:rPr>
              <a:t>Day 14</a:t>
            </a:r>
          </a:p>
        </p:txBody>
      </p:sp>
      <p:sp>
        <p:nvSpPr>
          <p:cNvPr id="23" name="TextBox 22"/>
          <p:cNvSpPr txBox="1"/>
          <p:nvPr/>
        </p:nvSpPr>
        <p:spPr>
          <a:xfrm>
            <a:off x="8284463" y="1536192"/>
            <a:ext cx="1051560" cy="237744"/>
          </a:xfrm>
          <a:prstGeom prst="rect">
            <a:avLst/>
          </a:prstGeom>
          <a:noFill/>
        </p:spPr>
        <p:txBody>
          <a:bodyPr wrap="square" lIns="0" tIns="18288" rIns="0" bIns="18288" anchor="ctr">
            <a:spAutoFit/>
          </a:bodyPr>
          <a:lstStyle/>
          <a:p>
            <a:pPr algn="ctr"/>
            <a:r>
              <a:rPr sz="1150">
                <a:solidFill>
                  <a:srgbClr val="333333"/>
                </a:solidFill>
                <a:latin typeface="メイリオ"/>
                <a:ea typeface="メイリオ"/>
                <a:cs typeface="メイリオ"/>
              </a:rPr>
              <a:t>ラストコール</a:t>
            </a:r>
          </a:p>
        </p:txBody>
      </p:sp>
      <p:sp>
        <p:nvSpPr>
          <p:cNvPr id="24" name="Rectangle 23"/>
          <p:cNvSpPr/>
          <p:nvPr/>
        </p:nvSpPr>
        <p:spPr>
          <a:xfrm>
            <a:off x="548640" y="1901952"/>
            <a:ext cx="2907792" cy="38404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1300" b="1">
                <a:solidFill>
                  <a:srgbClr val="FFFFFF"/>
                </a:solidFill>
                <a:latin typeface="メイリオ"/>
                <a:ea typeface="メイリオ"/>
                <a:cs typeface="メイリオ"/>
              </a:rPr>
              <a:t>Day 0　</a:t>
            </a:r>
            <a:r>
              <a:rPr sz="1150">
                <a:solidFill>
                  <a:srgbClr val="FFFFFF"/>
                </a:solidFill>
                <a:latin typeface="メイリオ"/>
                <a:ea typeface="メイリオ"/>
                <a:cs typeface="メイリオ"/>
              </a:rPr>
              <a:t>登録直後（2通）</a:t>
            </a:r>
          </a:p>
        </p:txBody>
      </p:sp>
      <p:sp>
        <p:nvSpPr>
          <p:cNvPr id="25" name="Rectangle 24"/>
          <p:cNvSpPr/>
          <p:nvPr/>
        </p:nvSpPr>
        <p:spPr>
          <a:xfrm>
            <a:off x="548640" y="2286000"/>
            <a:ext cx="2907792" cy="310896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675887" y="1901952"/>
            <a:ext cx="2907792" cy="38404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1300" b="1">
                <a:solidFill>
                  <a:srgbClr val="FFFFFF"/>
                </a:solidFill>
                <a:latin typeface="メイリオ"/>
                <a:ea typeface="メイリオ"/>
                <a:cs typeface="メイリオ"/>
              </a:rPr>
              <a:t>Day 7　</a:t>
            </a:r>
            <a:r>
              <a:rPr sz="1150">
                <a:solidFill>
                  <a:srgbClr val="FFFFFF"/>
                </a:solidFill>
                <a:latin typeface="メイリオ"/>
                <a:ea typeface="メイリオ"/>
                <a:cs typeface="メイリオ"/>
              </a:rPr>
              <a:t>週末の夜 20時台</a:t>
            </a:r>
          </a:p>
        </p:txBody>
      </p:sp>
      <p:sp>
        <p:nvSpPr>
          <p:cNvPr id="27" name="Rectangle 26"/>
          <p:cNvSpPr/>
          <p:nvPr/>
        </p:nvSpPr>
        <p:spPr>
          <a:xfrm>
            <a:off x="3675887" y="2286000"/>
            <a:ext cx="2907792" cy="310896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803136" y="1901952"/>
            <a:ext cx="2907792" cy="38404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1300" b="1">
                <a:solidFill>
                  <a:srgbClr val="FFFFFF"/>
                </a:solidFill>
                <a:latin typeface="メイリオ"/>
                <a:ea typeface="メイリオ"/>
                <a:cs typeface="メイリオ"/>
              </a:rPr>
              <a:t>Day 14　</a:t>
            </a:r>
            <a:r>
              <a:rPr sz="1150">
                <a:solidFill>
                  <a:srgbClr val="FFFFFF"/>
                </a:solidFill>
                <a:latin typeface="メイリオ"/>
                <a:ea typeface="メイリオ"/>
                <a:cs typeface="メイリオ"/>
              </a:rPr>
              <a:t>ラストコール</a:t>
            </a:r>
          </a:p>
        </p:txBody>
      </p:sp>
      <p:sp>
        <p:nvSpPr>
          <p:cNvPr id="29" name="Rectangle 28"/>
          <p:cNvSpPr/>
          <p:nvPr/>
        </p:nvSpPr>
        <p:spPr>
          <a:xfrm>
            <a:off x="6803136" y="2286000"/>
            <a:ext cx="2907792" cy="310896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03503" y="4562856"/>
            <a:ext cx="2798064"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30936" y="4590288"/>
            <a:ext cx="896112" cy="34747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FFFFFF"/>
                </a:solidFill>
                <a:latin typeface="メイリオ"/>
                <a:ea typeface="メイリオ"/>
                <a:cs typeface="メイリオ"/>
              </a:rPr>
              <a:t>セミナー予約</a:t>
            </a:r>
          </a:p>
        </p:txBody>
      </p:sp>
      <p:sp>
        <p:nvSpPr>
          <p:cNvPr id="32" name="Rectangle 31"/>
          <p:cNvSpPr/>
          <p:nvPr/>
        </p:nvSpPr>
        <p:spPr>
          <a:xfrm>
            <a:off x="1554480" y="4590288"/>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開催日程</a:t>
            </a:r>
          </a:p>
        </p:txBody>
      </p:sp>
      <p:sp>
        <p:nvSpPr>
          <p:cNvPr id="33" name="Rectangle 32"/>
          <p:cNvSpPr/>
          <p:nvPr/>
        </p:nvSpPr>
        <p:spPr>
          <a:xfrm>
            <a:off x="2478024" y="4590288"/>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講師紹介</a:t>
            </a:r>
          </a:p>
        </p:txBody>
      </p:sp>
      <p:sp>
        <p:nvSpPr>
          <p:cNvPr id="34" name="Rectangle 33"/>
          <p:cNvSpPr/>
          <p:nvPr/>
        </p:nvSpPr>
        <p:spPr>
          <a:xfrm>
            <a:off x="630936" y="4965192"/>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ストアへ</a:t>
            </a:r>
          </a:p>
        </p:txBody>
      </p:sp>
      <p:sp>
        <p:nvSpPr>
          <p:cNvPr id="35" name="Rectangle 34"/>
          <p:cNvSpPr/>
          <p:nvPr/>
        </p:nvSpPr>
        <p:spPr>
          <a:xfrm>
            <a:off x="1554480" y="4965192"/>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会員特典</a:t>
            </a:r>
          </a:p>
        </p:txBody>
      </p:sp>
      <p:sp>
        <p:nvSpPr>
          <p:cNvPr id="36" name="Rectangle 35"/>
          <p:cNvSpPr/>
          <p:nvPr/>
        </p:nvSpPr>
        <p:spPr>
          <a:xfrm>
            <a:off x="2478024" y="4965192"/>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FAQ</a:t>
            </a:r>
          </a:p>
        </p:txBody>
      </p:sp>
      <p:sp>
        <p:nvSpPr>
          <p:cNvPr id="37" name="TextBox 36"/>
          <p:cNvSpPr txBox="1"/>
          <p:nvPr/>
        </p:nvSpPr>
        <p:spPr>
          <a:xfrm>
            <a:off x="548640" y="5394960"/>
            <a:ext cx="2907792" cy="219456"/>
          </a:xfrm>
          <a:prstGeom prst="rect">
            <a:avLst/>
          </a:prstGeom>
          <a:noFill/>
        </p:spPr>
        <p:txBody>
          <a:bodyPr wrap="square" lIns="0" tIns="18288" rIns="0" bIns="18288" anchor="ctr">
            <a:spAutoFit/>
          </a:bodyPr>
          <a:lstStyle/>
          <a:p>
            <a:pPr algn="ctr"/>
            <a:r>
              <a:rPr sz="1200">
                <a:solidFill>
                  <a:srgbClr val="808080"/>
                </a:solidFill>
                <a:latin typeface="メイリオ"/>
                <a:ea typeface="メイリオ"/>
                <a:cs typeface="メイリオ"/>
              </a:rPr>
              <a:t>▲ リッチメニュー：セミナー面</a:t>
            </a:r>
          </a:p>
        </p:txBody>
      </p:sp>
      <p:sp>
        <p:nvSpPr>
          <p:cNvPr id="38" name="Rectangle 37"/>
          <p:cNvSpPr/>
          <p:nvPr/>
        </p:nvSpPr>
        <p:spPr>
          <a:xfrm>
            <a:off x="3730751" y="4562856"/>
            <a:ext cx="2798064"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758183" y="4590288"/>
            <a:ext cx="896112" cy="34747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FFFFFF"/>
                </a:solidFill>
                <a:latin typeface="メイリオ"/>
                <a:ea typeface="メイリオ"/>
                <a:cs typeface="メイリオ"/>
              </a:rPr>
              <a:t>おすすめ商品</a:t>
            </a:r>
          </a:p>
        </p:txBody>
      </p:sp>
      <p:sp>
        <p:nvSpPr>
          <p:cNvPr id="40" name="Rectangle 39"/>
          <p:cNvSpPr/>
          <p:nvPr/>
        </p:nvSpPr>
        <p:spPr>
          <a:xfrm>
            <a:off x="4681727" y="4590288"/>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定期購入</a:t>
            </a:r>
          </a:p>
        </p:txBody>
      </p:sp>
      <p:sp>
        <p:nvSpPr>
          <p:cNvPr id="41" name="Rectangle 40"/>
          <p:cNvSpPr/>
          <p:nvPr/>
        </p:nvSpPr>
        <p:spPr>
          <a:xfrm>
            <a:off x="5605271" y="4590288"/>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レビュー</a:t>
            </a:r>
          </a:p>
        </p:txBody>
      </p:sp>
      <p:sp>
        <p:nvSpPr>
          <p:cNvPr id="42" name="Rectangle 41"/>
          <p:cNvSpPr/>
          <p:nvPr/>
        </p:nvSpPr>
        <p:spPr>
          <a:xfrm>
            <a:off x="3758183" y="4965192"/>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セミナー予約</a:t>
            </a:r>
          </a:p>
        </p:txBody>
      </p:sp>
      <p:sp>
        <p:nvSpPr>
          <p:cNvPr id="43" name="Rectangle 42"/>
          <p:cNvSpPr/>
          <p:nvPr/>
        </p:nvSpPr>
        <p:spPr>
          <a:xfrm>
            <a:off x="4681727" y="4965192"/>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クーポン</a:t>
            </a:r>
          </a:p>
        </p:txBody>
      </p:sp>
      <p:sp>
        <p:nvSpPr>
          <p:cNvPr id="44" name="Rectangle 43"/>
          <p:cNvSpPr/>
          <p:nvPr/>
        </p:nvSpPr>
        <p:spPr>
          <a:xfrm>
            <a:off x="5605271" y="4965192"/>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FAQ</a:t>
            </a:r>
          </a:p>
        </p:txBody>
      </p:sp>
      <p:sp>
        <p:nvSpPr>
          <p:cNvPr id="45" name="TextBox 44"/>
          <p:cNvSpPr txBox="1"/>
          <p:nvPr/>
        </p:nvSpPr>
        <p:spPr>
          <a:xfrm>
            <a:off x="3675887" y="5394960"/>
            <a:ext cx="2907792" cy="219456"/>
          </a:xfrm>
          <a:prstGeom prst="rect">
            <a:avLst/>
          </a:prstGeom>
          <a:noFill/>
        </p:spPr>
        <p:txBody>
          <a:bodyPr wrap="square" lIns="0" tIns="18288" rIns="0" bIns="18288" anchor="ctr">
            <a:spAutoFit/>
          </a:bodyPr>
          <a:lstStyle/>
          <a:p>
            <a:pPr algn="ctr"/>
            <a:r>
              <a:rPr sz="1200">
                <a:solidFill>
                  <a:srgbClr val="808080"/>
                </a:solidFill>
                <a:latin typeface="メイリオ"/>
                <a:ea typeface="メイリオ"/>
                <a:cs typeface="メイリオ"/>
              </a:rPr>
              <a:t>▲ リッチメニュー：EC面</a:t>
            </a:r>
          </a:p>
        </p:txBody>
      </p:sp>
      <p:sp>
        <p:nvSpPr>
          <p:cNvPr id="46" name="Rectangle 45"/>
          <p:cNvSpPr/>
          <p:nvPr/>
        </p:nvSpPr>
        <p:spPr>
          <a:xfrm>
            <a:off x="6858000" y="4562856"/>
            <a:ext cx="2798064"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885432" y="4590288"/>
            <a:ext cx="896112" cy="34747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FFFFFF"/>
                </a:solidFill>
                <a:latin typeface="メイリオ"/>
                <a:ea typeface="メイリオ"/>
                <a:cs typeface="メイリオ"/>
              </a:rPr>
              <a:t>次回セミナー</a:t>
            </a:r>
          </a:p>
        </p:txBody>
      </p:sp>
      <p:sp>
        <p:nvSpPr>
          <p:cNvPr id="48" name="Rectangle 47"/>
          <p:cNvSpPr/>
          <p:nvPr/>
        </p:nvSpPr>
        <p:spPr>
          <a:xfrm>
            <a:off x="7808976" y="4590288"/>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おすすめ商品</a:t>
            </a:r>
          </a:p>
        </p:txBody>
      </p:sp>
      <p:sp>
        <p:nvSpPr>
          <p:cNvPr id="49" name="Rectangle 48"/>
          <p:cNvSpPr/>
          <p:nvPr/>
        </p:nvSpPr>
        <p:spPr>
          <a:xfrm>
            <a:off x="8732520" y="4590288"/>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クーポン</a:t>
            </a:r>
          </a:p>
        </p:txBody>
      </p:sp>
      <p:sp>
        <p:nvSpPr>
          <p:cNvPr id="50" name="Rectangle 49"/>
          <p:cNvSpPr/>
          <p:nvPr/>
        </p:nvSpPr>
        <p:spPr>
          <a:xfrm>
            <a:off x="6885432" y="4965192"/>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アクセス</a:t>
            </a:r>
          </a:p>
        </p:txBody>
      </p:sp>
      <p:sp>
        <p:nvSpPr>
          <p:cNvPr id="51" name="Rectangle 50"/>
          <p:cNvSpPr/>
          <p:nvPr/>
        </p:nvSpPr>
        <p:spPr>
          <a:xfrm>
            <a:off x="7808976" y="4965192"/>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会員特典</a:t>
            </a:r>
          </a:p>
        </p:txBody>
      </p:sp>
      <p:sp>
        <p:nvSpPr>
          <p:cNvPr id="52" name="Rectangle 51"/>
          <p:cNvSpPr/>
          <p:nvPr/>
        </p:nvSpPr>
        <p:spPr>
          <a:xfrm>
            <a:off x="8732520" y="4965192"/>
            <a:ext cx="896112" cy="347472"/>
          </a:xfrm>
          <a:prstGeom prst="rect">
            <a:avLst/>
          </a:prstGeom>
          <a:solidFill>
            <a:srgbClr val="DDE5F5"/>
          </a:solidFill>
          <a:ln>
            <a:no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850" b="1">
                <a:solidFill>
                  <a:srgbClr val="1F285A"/>
                </a:solidFill>
                <a:latin typeface="メイリオ"/>
                <a:ea typeface="メイリオ"/>
                <a:cs typeface="メイリオ"/>
              </a:rPr>
              <a:t>FAQ</a:t>
            </a:r>
          </a:p>
        </p:txBody>
      </p:sp>
      <p:sp>
        <p:nvSpPr>
          <p:cNvPr id="53" name="TextBox 52"/>
          <p:cNvSpPr txBox="1"/>
          <p:nvPr/>
        </p:nvSpPr>
        <p:spPr>
          <a:xfrm>
            <a:off x="6803136" y="5394960"/>
            <a:ext cx="2907792" cy="219456"/>
          </a:xfrm>
          <a:prstGeom prst="rect">
            <a:avLst/>
          </a:prstGeom>
          <a:noFill/>
        </p:spPr>
        <p:txBody>
          <a:bodyPr wrap="square" lIns="0" tIns="18288" rIns="0" bIns="18288" anchor="ctr">
            <a:spAutoFit/>
          </a:bodyPr>
          <a:lstStyle/>
          <a:p>
            <a:pPr algn="ctr"/>
            <a:r>
              <a:rPr sz="1200">
                <a:solidFill>
                  <a:srgbClr val="808080"/>
                </a:solidFill>
                <a:latin typeface="メイリオ"/>
                <a:ea typeface="メイリオ"/>
                <a:cs typeface="メイリオ"/>
              </a:rPr>
              <a:t>▲ リッチメニュー：参加後・購入後</a:t>
            </a:r>
          </a:p>
        </p:txBody>
      </p:sp>
      <p:sp>
        <p:nvSpPr>
          <p:cNvPr id="54" name="Rounded Rectangle 53"/>
          <p:cNvSpPr/>
          <p:nvPr/>
        </p:nvSpPr>
        <p:spPr>
          <a:xfrm>
            <a:off x="658368" y="2395728"/>
            <a:ext cx="2212848" cy="466344"/>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18288" rIns="64008" bIns="18288" rtlCol="0" anchor="ctr"/>
          <a:lstStyle/>
          <a:p>
            <a:pPr algn="l">
              <a:lnSpc>
                <a:spcPct val="95000"/>
              </a:lnSpc>
            </a:pPr>
            <a:r>
              <a:rPr sz="1100">
                <a:solidFill>
                  <a:srgbClr val="333333"/>
                </a:solidFill>
                <a:latin typeface="メイリオ"/>
                <a:ea typeface="メイリオ"/>
                <a:cs typeface="メイリオ"/>
              </a:rPr>
              <a:t>ご登録ありがとうございます</a:t>
            </a:r>
          </a:p>
          <a:p>
            <a:pPr algn="l">
              <a:lnSpc>
                <a:spcPct val="95000"/>
              </a:lnSpc>
            </a:pPr>
            <a:r>
              <a:rPr sz="1100">
                <a:solidFill>
                  <a:srgbClr val="333333"/>
                </a:solidFill>
                <a:latin typeface="メイリオ"/>
                <a:ea typeface="メイリオ"/>
                <a:cs typeface="メイリオ"/>
              </a:rPr>
              <a:t>特典をお送りします</a:t>
            </a:r>
          </a:p>
        </p:txBody>
      </p:sp>
      <p:sp>
        <p:nvSpPr>
          <p:cNvPr id="55" name="Rounded Rectangle 54"/>
          <p:cNvSpPr/>
          <p:nvPr/>
        </p:nvSpPr>
        <p:spPr>
          <a:xfrm>
            <a:off x="658368" y="2916936"/>
            <a:ext cx="2212848" cy="214884"/>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58368" y="2916936"/>
            <a:ext cx="2212848" cy="214884"/>
          </a:xfrm>
          <a:prstGeom prst="rect">
            <a:avLst/>
          </a:prstGeom>
          <a:noFill/>
        </p:spPr>
        <p:txBody>
          <a:bodyPr wrap="square" lIns="18288" tIns="0" rIns="18288" bIns="0" anchor="ctr">
            <a:spAutoFit/>
          </a:bodyPr>
          <a:lstStyle/>
          <a:p>
            <a:pPr algn="ctr"/>
            <a:r>
              <a:rPr sz="1150" b="1">
                <a:solidFill>
                  <a:srgbClr val="06C755"/>
                </a:solidFill>
                <a:latin typeface="メイリオ"/>
                <a:ea typeface="メイリオ"/>
                <a:cs typeface="メイリオ"/>
              </a:rPr>
              <a:t>受け取る</a:t>
            </a:r>
          </a:p>
        </p:txBody>
      </p:sp>
      <p:sp>
        <p:nvSpPr>
          <p:cNvPr id="57" name="Rounded Rectangle 56"/>
          <p:cNvSpPr/>
          <p:nvPr/>
        </p:nvSpPr>
        <p:spPr>
          <a:xfrm>
            <a:off x="658368" y="3223260"/>
            <a:ext cx="2212848" cy="466344"/>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18288" rIns="64008" bIns="18288" rtlCol="0" anchor="ctr"/>
          <a:lstStyle/>
          <a:p>
            <a:pPr algn="l">
              <a:lnSpc>
                <a:spcPct val="95000"/>
              </a:lnSpc>
            </a:pPr>
            <a:r>
              <a:rPr sz="1100">
                <a:solidFill>
                  <a:srgbClr val="333333"/>
                </a:solidFill>
                <a:latin typeface="メイリオ"/>
                <a:ea typeface="メイリオ"/>
                <a:cs typeface="メイリオ"/>
              </a:rPr>
              <a:t>合うご案内をするため</a:t>
            </a:r>
          </a:p>
          <a:p>
            <a:pPr algn="l">
              <a:lnSpc>
                <a:spcPct val="95000"/>
              </a:lnSpc>
            </a:pPr>
            <a:r>
              <a:rPr sz="1100">
                <a:solidFill>
                  <a:srgbClr val="333333"/>
                </a:solidFill>
                <a:latin typeface="メイリオ"/>
                <a:ea typeface="メイリオ"/>
                <a:cs typeface="メイリオ"/>
              </a:rPr>
              <a:t>3つだけ教えてください</a:t>
            </a:r>
          </a:p>
        </p:txBody>
      </p:sp>
      <p:sp>
        <p:nvSpPr>
          <p:cNvPr id="58" name="Rounded Rectangle 57"/>
          <p:cNvSpPr/>
          <p:nvPr/>
        </p:nvSpPr>
        <p:spPr>
          <a:xfrm>
            <a:off x="658368" y="3744468"/>
            <a:ext cx="2212848" cy="644652"/>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58368" y="3744468"/>
            <a:ext cx="2212848" cy="214884"/>
          </a:xfrm>
          <a:prstGeom prst="rect">
            <a:avLst/>
          </a:prstGeom>
          <a:noFill/>
        </p:spPr>
        <p:txBody>
          <a:bodyPr wrap="square" lIns="18288" tIns="0" rIns="18288" bIns="0" anchor="ctr">
            <a:spAutoFit/>
          </a:bodyPr>
          <a:lstStyle/>
          <a:p>
            <a:pPr algn="ctr"/>
            <a:r>
              <a:rPr sz="1150" b="1">
                <a:solidFill>
                  <a:srgbClr val="06C755"/>
                </a:solidFill>
                <a:latin typeface="メイリオ"/>
                <a:ea typeface="メイリオ"/>
                <a:cs typeface="メイリオ"/>
              </a:rPr>
              <a:t>セミナー派</a:t>
            </a:r>
          </a:p>
        </p:txBody>
      </p:sp>
      <p:sp>
        <p:nvSpPr>
          <p:cNvPr id="60" name="Rectangle 59"/>
          <p:cNvSpPr/>
          <p:nvPr/>
        </p:nvSpPr>
        <p:spPr>
          <a:xfrm>
            <a:off x="713232" y="3959352"/>
            <a:ext cx="2103120"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58368" y="3959352"/>
            <a:ext cx="2212848" cy="214884"/>
          </a:xfrm>
          <a:prstGeom prst="rect">
            <a:avLst/>
          </a:prstGeom>
          <a:noFill/>
        </p:spPr>
        <p:txBody>
          <a:bodyPr wrap="square" lIns="18288" tIns="0" rIns="18288" bIns="0" anchor="ctr">
            <a:spAutoFit/>
          </a:bodyPr>
          <a:lstStyle/>
          <a:p>
            <a:pPr algn="ctr"/>
            <a:r>
              <a:rPr sz="1150" b="1">
                <a:solidFill>
                  <a:srgbClr val="06C755"/>
                </a:solidFill>
                <a:latin typeface="メイリオ"/>
                <a:ea typeface="メイリオ"/>
                <a:cs typeface="メイリオ"/>
              </a:rPr>
              <a:t>EC・商品派</a:t>
            </a:r>
          </a:p>
        </p:txBody>
      </p:sp>
      <p:sp>
        <p:nvSpPr>
          <p:cNvPr id="62" name="Rectangle 61"/>
          <p:cNvSpPr/>
          <p:nvPr/>
        </p:nvSpPr>
        <p:spPr>
          <a:xfrm>
            <a:off x="713232" y="4174235"/>
            <a:ext cx="2103120" cy="731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58368" y="4174235"/>
            <a:ext cx="2212848" cy="214884"/>
          </a:xfrm>
          <a:prstGeom prst="rect">
            <a:avLst/>
          </a:prstGeom>
          <a:noFill/>
        </p:spPr>
        <p:txBody>
          <a:bodyPr wrap="square" lIns="18288" tIns="0" rIns="18288" bIns="0" anchor="ctr">
            <a:spAutoFit/>
          </a:bodyPr>
          <a:lstStyle/>
          <a:p>
            <a:pPr algn="ctr"/>
            <a:r>
              <a:rPr sz="1150" b="1">
                <a:solidFill>
                  <a:srgbClr val="06C755"/>
                </a:solidFill>
                <a:latin typeface="メイリオ"/>
                <a:ea typeface="メイリオ"/>
                <a:cs typeface="メイリオ"/>
              </a:rPr>
              <a:t>どちらも</a:t>
            </a:r>
          </a:p>
        </p:txBody>
      </p:sp>
      <p:sp>
        <p:nvSpPr>
          <p:cNvPr id="64" name="Rounded Rectangle 63"/>
          <p:cNvSpPr/>
          <p:nvPr/>
        </p:nvSpPr>
        <p:spPr>
          <a:xfrm>
            <a:off x="3785615" y="2468880"/>
            <a:ext cx="2212848" cy="89154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18288" rIns="64008" bIns="18288" rtlCol="0" anchor="ctr"/>
          <a:lstStyle/>
          <a:p>
            <a:pPr algn="l">
              <a:lnSpc>
                <a:spcPct val="95000"/>
              </a:lnSpc>
            </a:pPr>
            <a:r>
              <a:rPr sz="1100">
                <a:solidFill>
                  <a:srgbClr val="333333"/>
                </a:solidFill>
                <a:latin typeface="メイリオ"/>
                <a:ea typeface="メイリオ"/>
                <a:cs typeface="メイリオ"/>
              </a:rPr>
              <a:t>次回セミナーのご案内</a:t>
            </a:r>
          </a:p>
          <a:p>
            <a:pPr algn="l">
              <a:lnSpc>
                <a:spcPct val="95000"/>
              </a:lnSpc>
            </a:pPr>
            <a:endParaRPr sz="850">
              <a:solidFill>
                <a:srgbClr val="333333"/>
              </a:solidFill>
              <a:latin typeface="メイリオ"/>
              <a:ea typeface="メイリオ"/>
              <a:cs typeface="メイリオ"/>
            </a:endParaRPr>
          </a:p>
          <a:p>
            <a:pPr algn="l">
              <a:lnSpc>
                <a:spcPct val="95000"/>
              </a:lnSpc>
            </a:pPr>
            <a:r>
              <a:rPr sz="1100">
                <a:solidFill>
                  <a:srgbClr val="333333"/>
                </a:solidFill>
                <a:latin typeface="メイリオ"/>
                <a:ea typeface="メイリオ"/>
                <a:cs typeface="メイリオ"/>
              </a:rPr>
              <a:t>▼LINE友だち限定の優先枠</a:t>
            </a:r>
          </a:p>
          <a:p>
            <a:pPr algn="l">
              <a:lnSpc>
                <a:spcPct val="95000"/>
              </a:lnSpc>
            </a:pPr>
            <a:r>
              <a:rPr sz="1100">
                <a:solidFill>
                  <a:srgbClr val="333333"/>
                </a:solidFill>
                <a:latin typeface="メイリオ"/>
                <a:ea typeface="メイリオ"/>
                <a:cs typeface="メイリオ"/>
              </a:rPr>
              <a:t>　満席の回が出ています</a:t>
            </a:r>
          </a:p>
          <a:p>
            <a:pPr algn="l">
              <a:lnSpc>
                <a:spcPct val="95000"/>
              </a:lnSpc>
            </a:pPr>
            <a:r>
              <a:rPr sz="1100">
                <a:solidFill>
                  <a:srgbClr val="333333"/>
                </a:solidFill>
                <a:latin typeface="メイリオ"/>
                <a:ea typeface="メイリオ"/>
                <a:cs typeface="メイリオ"/>
              </a:rPr>
              <a:t>　お早めにご予約ください</a:t>
            </a:r>
          </a:p>
        </p:txBody>
      </p:sp>
      <p:sp>
        <p:nvSpPr>
          <p:cNvPr id="65" name="Rounded Rectangle 64"/>
          <p:cNvSpPr/>
          <p:nvPr/>
        </p:nvSpPr>
        <p:spPr>
          <a:xfrm>
            <a:off x="3785615" y="3433572"/>
            <a:ext cx="2212848" cy="466344"/>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18288" rIns="64008" bIns="18288" rtlCol="0" anchor="ctr"/>
          <a:lstStyle/>
          <a:p>
            <a:pPr algn="l">
              <a:lnSpc>
                <a:spcPct val="95000"/>
              </a:lnSpc>
            </a:pPr>
            <a:r>
              <a:rPr sz="1100">
                <a:solidFill>
                  <a:srgbClr val="333333"/>
                </a:solidFill>
                <a:latin typeface="メイリオ"/>
                <a:ea typeface="メイリオ"/>
                <a:cs typeface="メイリオ"/>
              </a:rPr>
              <a:t>ご都合が合わない方は</a:t>
            </a:r>
          </a:p>
          <a:p>
            <a:pPr algn="l">
              <a:lnSpc>
                <a:spcPct val="95000"/>
              </a:lnSpc>
            </a:pPr>
            <a:r>
              <a:rPr sz="1100">
                <a:solidFill>
                  <a:srgbClr val="333333"/>
                </a:solidFill>
                <a:latin typeface="メイリオ"/>
                <a:ea typeface="メイリオ"/>
                <a:cs typeface="メイリオ"/>
              </a:rPr>
              <a:t>『オンラインストア』もどうぞ</a:t>
            </a:r>
          </a:p>
        </p:txBody>
      </p:sp>
      <p:sp>
        <p:nvSpPr>
          <p:cNvPr id="66" name="Rounded Rectangle 65"/>
          <p:cNvSpPr/>
          <p:nvPr/>
        </p:nvSpPr>
        <p:spPr>
          <a:xfrm>
            <a:off x="3785615" y="3973068"/>
            <a:ext cx="2212848" cy="214884"/>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785615" y="3973068"/>
            <a:ext cx="2212848" cy="214884"/>
          </a:xfrm>
          <a:prstGeom prst="rect">
            <a:avLst/>
          </a:prstGeom>
          <a:noFill/>
        </p:spPr>
        <p:txBody>
          <a:bodyPr wrap="square" lIns="18288" tIns="0" rIns="18288" bIns="0" anchor="ctr">
            <a:spAutoFit/>
          </a:bodyPr>
          <a:lstStyle/>
          <a:p>
            <a:pPr algn="ctr"/>
            <a:r>
              <a:rPr sz="1200" b="1">
                <a:solidFill>
                  <a:srgbClr val="06C755"/>
                </a:solidFill>
                <a:latin typeface="メイリオ"/>
                <a:ea typeface="メイリオ"/>
                <a:cs typeface="メイリオ"/>
              </a:rPr>
              <a:t>予約する</a:t>
            </a:r>
          </a:p>
        </p:txBody>
      </p:sp>
      <p:sp>
        <p:nvSpPr>
          <p:cNvPr id="68" name="Rounded Rectangle 67"/>
          <p:cNvSpPr/>
          <p:nvPr/>
        </p:nvSpPr>
        <p:spPr>
          <a:xfrm>
            <a:off x="6912864" y="2487168"/>
            <a:ext cx="2212848" cy="749808"/>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18288" rIns="64008" bIns="18288" rtlCol="0" anchor="ctr"/>
          <a:lstStyle/>
          <a:p>
            <a:pPr algn="l">
              <a:lnSpc>
                <a:spcPct val="95000"/>
              </a:lnSpc>
            </a:pPr>
            <a:r>
              <a:rPr sz="1100">
                <a:solidFill>
                  <a:srgbClr val="333333"/>
                </a:solidFill>
                <a:latin typeface="メイリオ"/>
                <a:ea typeface="メイリオ"/>
                <a:cs typeface="メイリオ"/>
              </a:rPr>
              <a:t>優先案内は今週まで</a:t>
            </a:r>
          </a:p>
          <a:p>
            <a:pPr algn="l">
              <a:lnSpc>
                <a:spcPct val="95000"/>
              </a:lnSpc>
            </a:pPr>
            <a:endParaRPr sz="850">
              <a:solidFill>
                <a:srgbClr val="333333"/>
              </a:solidFill>
              <a:latin typeface="メイリオ"/>
              <a:ea typeface="メイリオ"/>
              <a:cs typeface="メイリオ"/>
            </a:endParaRPr>
          </a:p>
          <a:p>
            <a:pPr algn="l">
              <a:lnSpc>
                <a:spcPct val="95000"/>
              </a:lnSpc>
            </a:pPr>
            <a:r>
              <a:rPr sz="1100">
                <a:solidFill>
                  <a:srgbClr val="333333"/>
                </a:solidFill>
                <a:latin typeface="メイリオ"/>
                <a:ea typeface="メイリオ"/>
                <a:cs typeface="メイリオ"/>
              </a:rPr>
              <a:t>次回セミナーは満席が</a:t>
            </a:r>
          </a:p>
          <a:p>
            <a:pPr algn="l">
              <a:lnSpc>
                <a:spcPct val="95000"/>
              </a:lnSpc>
            </a:pPr>
            <a:r>
              <a:rPr sz="1100">
                <a:solidFill>
                  <a:srgbClr val="333333"/>
                </a:solidFill>
                <a:latin typeface="メイリオ"/>
                <a:ea typeface="メイリオ"/>
                <a:cs typeface="メイリオ"/>
              </a:rPr>
              <a:t>予想されます</a:t>
            </a:r>
          </a:p>
        </p:txBody>
      </p:sp>
      <p:sp>
        <p:nvSpPr>
          <p:cNvPr id="69" name="Rounded Rectangle 68"/>
          <p:cNvSpPr/>
          <p:nvPr/>
        </p:nvSpPr>
        <p:spPr>
          <a:xfrm>
            <a:off x="6912864" y="3328416"/>
            <a:ext cx="2212848" cy="214884"/>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912864" y="3328416"/>
            <a:ext cx="2212848" cy="214884"/>
          </a:xfrm>
          <a:prstGeom prst="rect">
            <a:avLst/>
          </a:prstGeom>
          <a:noFill/>
        </p:spPr>
        <p:txBody>
          <a:bodyPr wrap="square" lIns="18288" tIns="0" rIns="18288" bIns="0" anchor="ctr">
            <a:spAutoFit/>
          </a:bodyPr>
          <a:lstStyle/>
          <a:p>
            <a:pPr algn="ctr"/>
            <a:r>
              <a:rPr sz="1200" b="1">
                <a:solidFill>
                  <a:srgbClr val="06C755"/>
                </a:solidFill>
                <a:latin typeface="メイリオ"/>
                <a:ea typeface="メイリオ"/>
                <a:cs typeface="メイリオ"/>
              </a:rPr>
              <a:t>予約する</a:t>
            </a:r>
          </a:p>
        </p:txBody>
      </p:sp>
      <p:sp>
        <p:nvSpPr>
          <p:cNvPr id="71" name="Rounded Rectangle 70"/>
          <p:cNvSpPr/>
          <p:nvPr/>
        </p:nvSpPr>
        <p:spPr>
          <a:xfrm>
            <a:off x="7936992" y="3689604"/>
            <a:ext cx="1188720" cy="237744"/>
          </a:xfrm>
          <a:prstGeom prst="roundRect">
            <a:avLst>
              <a:gd name="adj" fmla="val 18000"/>
            </a:avLst>
          </a:prstGeom>
          <a:solidFill>
            <a:srgbClr val="8DE055"/>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1000">
                <a:solidFill>
                  <a:srgbClr val="333333"/>
                </a:solidFill>
                <a:latin typeface="メイリオ"/>
                <a:ea typeface="メイリオ"/>
                <a:cs typeface="メイリオ"/>
              </a:rPr>
              <a:t>今回は見送る</a:t>
            </a:r>
          </a:p>
        </p:txBody>
      </p:sp>
      <p:sp>
        <p:nvSpPr>
          <p:cNvPr id="72" name="TextBox 71"/>
          <p:cNvSpPr txBox="1"/>
          <p:nvPr/>
        </p:nvSpPr>
        <p:spPr>
          <a:xfrm>
            <a:off x="7552944" y="3689604"/>
            <a:ext cx="347472" cy="237744"/>
          </a:xfrm>
          <a:prstGeom prst="rect">
            <a:avLst/>
          </a:prstGeom>
          <a:noFill/>
        </p:spPr>
        <p:txBody>
          <a:bodyPr wrap="square" lIns="0" tIns="18288" rIns="0" bIns="18288" anchor="ctr">
            <a:spAutoFit/>
          </a:bodyPr>
          <a:lstStyle/>
          <a:p>
            <a:pPr algn="r"/>
            <a:r>
              <a:rPr sz="650">
                <a:solidFill>
                  <a:srgbClr val="808080"/>
                </a:solidFill>
                <a:latin typeface="メイリオ"/>
                <a:ea typeface="メイリオ"/>
                <a:cs typeface="メイリオ"/>
              </a:rPr>
              <a:t>既読</a:t>
            </a:r>
          </a:p>
        </p:txBody>
      </p:sp>
      <p:sp>
        <p:nvSpPr>
          <p:cNvPr id="73" name="Rectangle 72"/>
          <p:cNvSpPr/>
          <p:nvPr/>
        </p:nvSpPr>
        <p:spPr>
          <a:xfrm>
            <a:off x="548640" y="5669280"/>
            <a:ext cx="8778240" cy="566928"/>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36576" rIns="128016" bIns="36576" rtlCol="0" anchor="ctr"/>
          <a:lstStyle/>
          <a:p>
            <a:pPr algn="l">
              <a:lnSpc>
                <a:spcPct val="115000"/>
              </a:lnSpc>
            </a:pPr>
            <a:r>
              <a:rPr sz="1400" b="1">
                <a:solidFill>
                  <a:srgbClr val="1F285A"/>
                </a:solidFill>
                <a:latin typeface="メイリオ"/>
                <a:ea typeface="メイリオ"/>
                <a:cs typeface="メイリオ"/>
              </a:rPr>
              <a:t>分岐の設計　</a:t>
            </a:r>
            <a:r>
              <a:rPr sz="1200">
                <a:solidFill>
                  <a:srgbClr val="333333"/>
                </a:solidFill>
                <a:latin typeface="メイリオ"/>
                <a:ea typeface="メイリオ"/>
                <a:cs typeface="メイリオ"/>
              </a:rPr>
              <a:t>申込・購入の時点でステップを停止　／　Day 14まで未反応はセグメント配信（月次企画）へ切替　／　配信頻度はアンケート回答に合わせて調整</a:t>
            </a:r>
          </a:p>
        </p:txBody>
      </p:sp>
      <p:sp>
        <p:nvSpPr>
          <p:cNvPr id="74" name="TextBox 73"/>
          <p:cNvSpPr txBox="1"/>
          <p:nvPr/>
        </p:nvSpPr>
        <p:spPr>
          <a:xfrm>
            <a:off x="548640" y="6345936"/>
            <a:ext cx="8778240" cy="237744"/>
          </a:xfrm>
          <a:prstGeom prst="rect">
            <a:avLst/>
          </a:prstGeom>
          <a:noFill/>
        </p:spPr>
        <p:txBody>
          <a:bodyPr wrap="square" lIns="0" tIns="18288" rIns="45720" bIns="18288" anchor="t">
            <a:spAutoFit/>
          </a:bodyPr>
          <a:lstStyle/>
          <a:p>
            <a:pPr algn="l"/>
            <a:r>
              <a:rPr sz="900">
                <a:solidFill>
                  <a:srgbClr val="808080"/>
                </a:solidFill>
                <a:latin typeface="メイリオ"/>
                <a:ea typeface="メイリオ"/>
                <a:cs typeface="メイリオ"/>
              </a:rPr>
              <a:t>※セミナー申込者への前日リマインドは、開催日起点の配信として別途実施します。</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具体施策⑤ サイト離脱防止ポップアップ・LINE誘導導線</a:t>
            </a:r>
          </a:p>
        </p:txBody>
      </p:sp>
      <p:sp>
        <p:nvSpPr>
          <p:cNvPr id="3" name="TextBox 2"/>
          <p:cNvSpPr txBox="1"/>
          <p:nvPr/>
        </p:nvSpPr>
        <p:spPr>
          <a:xfrm>
            <a:off x="548640" y="640080"/>
            <a:ext cx="8778240" cy="530352"/>
          </a:xfrm>
          <a:prstGeom prst="rect">
            <a:avLst/>
          </a:prstGeom>
          <a:noFill/>
        </p:spPr>
        <p:txBody>
          <a:bodyPr wrap="square" lIns="0" tIns="36576" rIns="0" bIns="36576" anchor="ctr">
            <a:spAutoFit/>
          </a:bodyPr>
          <a:lstStyle/>
          <a:p>
            <a:pPr algn="l">
              <a:lnSpc>
                <a:spcPct val="110000"/>
              </a:lnSpc>
            </a:pPr>
            <a:r>
              <a:rPr sz="1800" b="1">
                <a:solidFill>
                  <a:srgbClr val="333333"/>
                </a:solidFill>
                <a:latin typeface="メイリオ"/>
                <a:ea typeface="メイリオ"/>
                <a:cs typeface="メイリオ"/>
              </a:rPr>
              <a:t>購入・申込に至らなかったサイト訪問者を、特典をフックに友だち資産へ変えます。</a:t>
            </a:r>
          </a:p>
        </p:txBody>
      </p:sp>
      <p:sp>
        <p:nvSpPr>
          <p:cNvPr id="4" name="Rounded Rectangle 3"/>
          <p:cNvSpPr/>
          <p:nvPr/>
        </p:nvSpPr>
        <p:spPr>
          <a:xfrm>
            <a:off x="548640" y="1325880"/>
            <a:ext cx="2103120" cy="2103120"/>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2880" tIns="128016" rIns="146304" bIns="36576" rtlCol="0" anchor="t"/>
          <a:lstStyle/>
          <a:p>
            <a:pPr algn="l">
              <a:spcAft>
                <a:spcPts val="600"/>
              </a:spcAft>
            </a:pPr>
            <a:r>
              <a:rPr sz="1400" b="1">
                <a:solidFill>
                  <a:srgbClr val="C00000"/>
                </a:solidFill>
                <a:latin typeface="メイリオ"/>
                <a:ea typeface="メイリオ"/>
                <a:cs typeface="メイリオ"/>
              </a:rPr>
              <a:t>Before（現状）</a:t>
            </a:r>
          </a:p>
          <a:p>
            <a:pPr algn="l">
              <a:lnSpc>
                <a:spcPct val="115000"/>
              </a:lnSpc>
              <a:spcAft>
                <a:spcPts val="400"/>
              </a:spcAft>
            </a:pPr>
            <a:r>
              <a:rPr sz="1400">
                <a:solidFill>
                  <a:srgbClr val="333333"/>
                </a:solidFill>
                <a:latin typeface="メイリオ"/>
                <a:ea typeface="メイリオ"/>
                <a:cs typeface="メイリオ"/>
              </a:rPr>
              <a:t>・サイトのLINE導線が弱い</a:t>
            </a:r>
          </a:p>
          <a:p>
            <a:pPr algn="l">
              <a:lnSpc>
                <a:spcPct val="115000"/>
              </a:lnSpc>
              <a:spcAft>
                <a:spcPts val="400"/>
              </a:spcAft>
            </a:pPr>
            <a:r>
              <a:rPr sz="1400">
                <a:solidFill>
                  <a:srgbClr val="333333"/>
                </a:solidFill>
                <a:latin typeface="メイリオ"/>
                <a:ea typeface="メイリオ"/>
                <a:cs typeface="メイリオ"/>
              </a:rPr>
              <a:t>・登録するメリットが無い</a:t>
            </a:r>
          </a:p>
          <a:p>
            <a:pPr algn="l">
              <a:lnSpc>
                <a:spcPct val="115000"/>
              </a:lnSpc>
            </a:pPr>
            <a:r>
              <a:rPr sz="1400">
                <a:solidFill>
                  <a:srgbClr val="333333"/>
                </a:solidFill>
                <a:latin typeface="メイリオ"/>
                <a:ea typeface="メイリオ"/>
                <a:cs typeface="メイリオ"/>
              </a:rPr>
              <a:t>・訪問者はそのまま離脱</a:t>
            </a:r>
          </a:p>
        </p:txBody>
      </p:sp>
      <p:sp>
        <p:nvSpPr>
          <p:cNvPr id="5" name="Right Arrow 4"/>
          <p:cNvSpPr/>
          <p:nvPr/>
        </p:nvSpPr>
        <p:spPr>
          <a:xfrm>
            <a:off x="4617720" y="2157984"/>
            <a:ext cx="566928" cy="45720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349240" y="1325880"/>
            <a:ext cx="2103120" cy="2103120"/>
          </a:xfrm>
          <a:prstGeom prst="roundRect">
            <a:avLst>
              <a:gd name="adj" fmla="val 8000"/>
            </a:avLst>
          </a:prstGeom>
          <a:solidFill>
            <a:srgbClr val="F4F7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82880" tIns="128016" rIns="146304" bIns="36576" rtlCol="0" anchor="t"/>
          <a:lstStyle/>
          <a:p>
            <a:pPr algn="l">
              <a:spcAft>
                <a:spcPts val="600"/>
              </a:spcAft>
            </a:pPr>
            <a:r>
              <a:rPr sz="1400" b="1">
                <a:solidFill>
                  <a:srgbClr val="1F285A"/>
                </a:solidFill>
                <a:latin typeface="メイリオ"/>
                <a:ea typeface="メイリオ"/>
                <a:cs typeface="メイリオ"/>
              </a:rPr>
              <a:t>After（ご提案）</a:t>
            </a:r>
          </a:p>
          <a:p>
            <a:pPr algn="l">
              <a:lnSpc>
                <a:spcPct val="115000"/>
              </a:lnSpc>
              <a:spcAft>
                <a:spcPts val="400"/>
              </a:spcAft>
            </a:pPr>
            <a:r>
              <a:rPr sz="1400">
                <a:solidFill>
                  <a:srgbClr val="333333"/>
                </a:solidFill>
                <a:latin typeface="メイリオ"/>
                <a:ea typeface="メイリオ"/>
                <a:cs typeface="メイリオ"/>
              </a:rPr>
              <a:t>・離脱の兆候を検知</a:t>
            </a:r>
          </a:p>
          <a:p>
            <a:pPr algn="l">
              <a:lnSpc>
                <a:spcPct val="115000"/>
              </a:lnSpc>
              <a:spcAft>
                <a:spcPts val="400"/>
              </a:spcAft>
            </a:pPr>
            <a:r>
              <a:rPr sz="1400">
                <a:solidFill>
                  <a:srgbClr val="333333"/>
                </a:solidFill>
                <a:latin typeface="メイリオ"/>
                <a:ea typeface="メイリオ"/>
                <a:cs typeface="メイリオ"/>
              </a:rPr>
              <a:t>・クーポン等の特典を提示</a:t>
            </a:r>
          </a:p>
          <a:p>
            <a:pPr algn="l">
              <a:lnSpc>
                <a:spcPct val="115000"/>
              </a:lnSpc>
            </a:pPr>
            <a:r>
              <a:rPr sz="1400">
                <a:solidFill>
                  <a:srgbClr val="333333"/>
                </a:solidFill>
                <a:latin typeface="メイリオ"/>
                <a:ea typeface="メイリオ"/>
                <a:cs typeface="メイリオ"/>
              </a:rPr>
              <a:t>・登録メリットを明示</a:t>
            </a:r>
          </a:p>
        </p:txBody>
      </p:sp>
      <p:sp>
        <p:nvSpPr>
          <p:cNvPr id="7" name="TextBox 6"/>
          <p:cNvSpPr txBox="1"/>
          <p:nvPr/>
        </p:nvSpPr>
        <p:spPr>
          <a:xfrm>
            <a:off x="548640" y="3584448"/>
            <a:ext cx="8778240" cy="310896"/>
          </a:xfrm>
          <a:prstGeom prst="rect">
            <a:avLst/>
          </a:prstGeom>
          <a:noFill/>
        </p:spPr>
        <p:txBody>
          <a:bodyPr wrap="square" lIns="0" tIns="36576" rIns="73152" bIns="36576" anchor="t">
            <a:spAutoFit/>
          </a:bodyPr>
          <a:lstStyle/>
          <a:p>
            <a:pPr algn="l"/>
            <a:r>
              <a:rPr sz="1400" b="1">
                <a:solidFill>
                  <a:srgbClr val="1F285A"/>
                </a:solidFill>
                <a:latin typeface="メイリオ"/>
                <a:ea typeface="メイリオ"/>
                <a:cs typeface="メイリオ"/>
              </a:rPr>
              <a:t>ご提供特典（案）</a:t>
            </a:r>
          </a:p>
        </p:txBody>
      </p:sp>
      <p:sp>
        <p:nvSpPr>
          <p:cNvPr id="8" name="Rounded Rectangle 7"/>
          <p:cNvSpPr/>
          <p:nvPr/>
        </p:nvSpPr>
        <p:spPr>
          <a:xfrm>
            <a:off x="548640" y="3931920"/>
            <a:ext cx="4251960" cy="96012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1F285A"/>
                </a:solidFill>
                <a:latin typeface="メイリオ"/>
                <a:ea typeface="メイリオ"/>
                <a:cs typeface="メイリオ"/>
              </a:rPr>
              <a:t>① 初回購入クーポン</a:t>
            </a:r>
          </a:p>
          <a:p>
            <a:pPr algn="l">
              <a:lnSpc>
                <a:spcPct val="115000"/>
              </a:lnSpc>
            </a:pPr>
            <a:r>
              <a:rPr sz="1400">
                <a:solidFill>
                  <a:srgbClr val="333333"/>
                </a:solidFill>
                <a:latin typeface="メイリオ"/>
                <a:ea typeface="メイリオ"/>
                <a:cs typeface="メイリオ"/>
              </a:rPr>
              <a:t>そのままEC購入につながる実用特典。</a:t>
            </a:r>
          </a:p>
        </p:txBody>
      </p:sp>
      <p:sp>
        <p:nvSpPr>
          <p:cNvPr id="9" name="Rounded Rectangle 8"/>
          <p:cNvSpPr/>
          <p:nvPr/>
        </p:nvSpPr>
        <p:spPr>
          <a:xfrm>
            <a:off x="5074920" y="3931920"/>
            <a:ext cx="4251960" cy="96012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146304" tIns="73152" rIns="128016" bIns="73152" rtlCol="0" anchor="ctr"/>
          <a:lstStyle/>
          <a:p>
            <a:pPr algn="l">
              <a:spcAft>
                <a:spcPts val="400"/>
              </a:spcAft>
            </a:pPr>
            <a:r>
              <a:rPr sz="1400" b="1">
                <a:solidFill>
                  <a:srgbClr val="1F285A"/>
                </a:solidFill>
                <a:latin typeface="メイリオ"/>
                <a:ea typeface="メイリオ"/>
                <a:cs typeface="メイリオ"/>
              </a:rPr>
              <a:t>② セミナー優先案内</a:t>
            </a:r>
          </a:p>
          <a:p>
            <a:pPr algn="l">
              <a:lnSpc>
                <a:spcPct val="115000"/>
              </a:lnSpc>
            </a:pPr>
            <a:r>
              <a:rPr sz="1400">
                <a:solidFill>
                  <a:srgbClr val="333333"/>
                </a:solidFill>
                <a:latin typeface="メイリオ"/>
                <a:ea typeface="メイリオ"/>
                <a:cs typeface="メイリオ"/>
              </a:rPr>
              <a:t>満席前に申し込める「先行案内」を特典化。</a:t>
            </a:r>
          </a:p>
        </p:txBody>
      </p:sp>
      <p:sp>
        <p:nvSpPr>
          <p:cNvPr id="10" name="Rounded Rectangle 9"/>
          <p:cNvSpPr/>
          <p:nvPr/>
        </p:nvSpPr>
        <p:spPr>
          <a:xfrm>
            <a:off x="548640" y="5138928"/>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今日買わなかった訪問者こそ、明日の顧客候補になる</a:t>
            </a:r>
          </a:p>
        </p:txBody>
      </p:sp>
      <p:sp>
        <p:nvSpPr>
          <p:cNvPr id="11" name="TextBox 10"/>
          <p:cNvSpPr txBox="1"/>
          <p:nvPr/>
        </p:nvSpPr>
        <p:spPr>
          <a:xfrm>
            <a:off x="548640" y="6272784"/>
            <a:ext cx="8778240" cy="274320"/>
          </a:xfrm>
          <a:prstGeom prst="rect">
            <a:avLst/>
          </a:prstGeom>
          <a:noFill/>
        </p:spPr>
        <p:txBody>
          <a:bodyPr wrap="square" lIns="0" tIns="36576" rIns="73152" bIns="36576" anchor="t">
            <a:spAutoFit/>
          </a:bodyPr>
          <a:lstStyle/>
          <a:p>
            <a:pPr algn="l"/>
            <a:r>
              <a:rPr sz="900">
                <a:solidFill>
                  <a:srgbClr val="808080"/>
                </a:solidFill>
                <a:latin typeface="メイリオ"/>
                <a:ea typeface="メイリオ"/>
                <a:cs typeface="メイリオ"/>
              </a:rPr>
              <a:t>※特典の内容・名称は貴社と協議のうえ確定します</a:t>
            </a:r>
          </a:p>
        </p:txBody>
      </p:sp>
      <p:sp>
        <p:nvSpPr>
          <p:cNvPr id="14" name="TextBox 13"/>
          <p:cNvSpPr txBox="1"/>
          <p:nvPr/>
        </p:nvSpPr>
        <p:spPr>
          <a:xfrm>
            <a:off x="2743200" y="3082671"/>
            <a:ext cx="1783080" cy="219456"/>
          </a:xfrm>
          <a:prstGeom prst="rect">
            <a:avLst/>
          </a:prstGeom>
          <a:noFill/>
        </p:spPr>
        <p:txBody>
          <a:bodyPr wrap="none" lIns="0" tIns="0" bIns="0">
            <a:spAutoFit/>
          </a:bodyPr>
          <a:lstStyle/>
          <a:p>
            <a:pPr algn="ctr"/>
            <a:r>
              <a:rPr sz="1200">
                <a:solidFill>
                  <a:srgbClr val="808080"/>
                </a:solidFill>
                <a:latin typeface="メイリオ"/>
                <a:ea typeface="メイリオ"/>
              </a:rPr>
              <a:t>▲ 現在のサイト</a:t>
            </a:r>
          </a:p>
        </p:txBody>
      </p:sp>
      <p:sp>
        <p:nvSpPr>
          <p:cNvPr id="15" name="TextBox 14"/>
          <p:cNvSpPr txBox="1"/>
          <p:nvPr/>
        </p:nvSpPr>
        <p:spPr>
          <a:xfrm>
            <a:off x="7543800" y="3082671"/>
            <a:ext cx="1783080" cy="219456"/>
          </a:xfrm>
          <a:prstGeom prst="rect">
            <a:avLst/>
          </a:prstGeom>
          <a:noFill/>
        </p:spPr>
        <p:txBody>
          <a:bodyPr wrap="none" lIns="0" tIns="0" bIns="0">
            <a:spAutoFit/>
          </a:bodyPr>
          <a:lstStyle/>
          <a:p>
            <a:pPr algn="ctr"/>
            <a:r>
              <a:rPr sz="1200">
                <a:solidFill>
                  <a:srgbClr val="808080"/>
                </a:solidFill>
                <a:latin typeface="メイリオ"/>
                <a:ea typeface="メイリオ"/>
              </a:rPr>
              <a:t>▲ 離脱時のみ表示</a:t>
            </a:r>
          </a:p>
        </p:txBody>
      </p:sp>
      <p:sp>
        <p:nvSpPr>
          <p:cNvPr id="16" name="Rounded Rectangle 15"/>
          <p:cNvSpPr/>
          <p:nvPr/>
        </p:nvSpPr>
        <p:spPr>
          <a:xfrm>
            <a:off x="2743200" y="1708785"/>
            <a:ext cx="1783080" cy="1337310"/>
          </a:xfrm>
          <a:prstGeom prst="roundRect">
            <a:avLst/>
          </a:prstGeom>
          <a:solidFill>
            <a:srgbClr val="F2F2F2"/>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777777"/>
                </a:solidFill>
                <a:latin typeface="メイリオ"/>
                <a:ea typeface="メイリオ"/>
              </a:rPr>
              <a:t>【貴社ECサイト
スクリーンショット】</a:t>
            </a:r>
          </a:p>
        </p:txBody>
      </p:sp>
      <p:sp>
        <p:nvSpPr>
          <p:cNvPr id="17" name="Rounded Rectangle 16"/>
          <p:cNvSpPr/>
          <p:nvPr/>
        </p:nvSpPr>
        <p:spPr>
          <a:xfrm>
            <a:off x="7543800" y="1708785"/>
            <a:ext cx="1783080" cy="1337310"/>
          </a:xfrm>
          <a:prstGeom prst="roundRect">
            <a:avLst/>
          </a:prstGeom>
          <a:solidFill>
            <a:srgbClr val="F2F2F2"/>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777777"/>
                </a:solidFill>
                <a:latin typeface="メイリオ"/>
                <a:ea typeface="メイリオ"/>
              </a:rPr>
              <a:t>【離脱時ポップアップ
イメージ】</a:t>
            </a:r>
          </a:p>
        </p:txBody>
      </p:sp>
    </p:spTree>
    <p:extLst>
      <p:ext uri="{BB962C8B-B14F-4D97-AF65-F5344CB8AC3E}">
        <p14:creationId xmlns:p14="http://schemas.microsoft.com/office/powerpoint/2010/main" val="1058933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プラン・シミュレーション／サポート体制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37160"/>
            <a:ext cx="6510528" cy="365760"/>
          </a:xfrm>
          <a:prstGeom prst="rect">
            <a:avLst/>
          </a:prstGeom>
          <a:noFill/>
        </p:spPr>
        <p:txBody>
          <a:bodyPr wrap="square" lIns="0" tIns="18288" rIns="0" bIns="18288" anchor="ctr">
            <a:spAutoFit/>
          </a:bodyPr>
          <a:lstStyle/>
          <a:p>
            <a:pPr algn="l"/>
            <a:r>
              <a:rPr sz="2000" b="1" dirty="0" err="1">
                <a:solidFill>
                  <a:srgbClr val="002060"/>
                </a:solidFill>
                <a:latin typeface="メイリオ"/>
                <a:ea typeface="メイリオ"/>
                <a:cs typeface="メイリオ"/>
              </a:rPr>
              <a:t>想定の費用対効果</a:t>
            </a:r>
            <a:endParaRPr sz="1600" b="1" dirty="0">
              <a:solidFill>
                <a:srgbClr val="002060"/>
              </a:solidFill>
              <a:latin typeface="メイリオ"/>
              <a:ea typeface="メイリオ"/>
              <a:cs typeface="メイリオ"/>
            </a:endParaRPr>
          </a:p>
        </p:txBody>
      </p:sp>
      <p:sp>
        <p:nvSpPr>
          <p:cNvPr id="3" name="TextBox 2"/>
          <p:cNvSpPr txBox="1"/>
          <p:nvPr/>
        </p:nvSpPr>
        <p:spPr>
          <a:xfrm>
            <a:off x="384048" y="713232"/>
            <a:ext cx="9144000" cy="365760"/>
          </a:xfrm>
          <a:prstGeom prst="rect">
            <a:avLst/>
          </a:prstGeom>
          <a:noFill/>
        </p:spPr>
        <p:txBody>
          <a:bodyPr wrap="square" lIns="0" tIns="18288" rIns="0" bIns="18288" anchor="ctr">
            <a:spAutoFit/>
          </a:bodyPr>
          <a:lstStyle/>
          <a:p>
            <a:pPr algn="l"/>
            <a:r>
              <a:rPr sz="1800" b="1">
                <a:solidFill>
                  <a:srgbClr val="333333"/>
                </a:solidFill>
                <a:latin typeface="メイリオ"/>
                <a:ea typeface="メイリオ"/>
                <a:cs typeface="メイリオ"/>
              </a:rPr>
              <a:t>成果報酬プラン（構築・計測整備・月次運用・改善込み）</a:t>
            </a:r>
          </a:p>
        </p:txBody>
      </p:sp>
      <p:sp>
        <p:nvSpPr>
          <p:cNvPr id="4" name="Rounded Rectangle 3"/>
          <p:cNvSpPr/>
          <p:nvPr/>
        </p:nvSpPr>
        <p:spPr>
          <a:xfrm>
            <a:off x="329184" y="1261872"/>
            <a:ext cx="3063240" cy="438912"/>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メイリオ"/>
                <a:ea typeface="メイリオ"/>
              </a:rPr>
              <a:t>初期費用</a:t>
            </a:r>
          </a:p>
        </p:txBody>
      </p:sp>
      <p:sp>
        <p:nvSpPr>
          <p:cNvPr id="5" name="Rounded Rectangle 4"/>
          <p:cNvSpPr/>
          <p:nvPr/>
        </p:nvSpPr>
        <p:spPr>
          <a:xfrm>
            <a:off x="329184" y="1773936"/>
            <a:ext cx="3063240" cy="1188720"/>
          </a:xfrm>
          <a:prstGeom prst="roundRect">
            <a:avLst>
              <a:gd name="adj" fmla="val 10000"/>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9184" y="1883664"/>
            <a:ext cx="3063240" cy="640080"/>
          </a:xfrm>
          <a:prstGeom prst="rect">
            <a:avLst/>
          </a:prstGeom>
          <a:noFill/>
        </p:spPr>
        <p:txBody>
          <a:bodyPr wrap="square" tIns="0" bIns="0" anchor="t">
            <a:spAutoFit/>
          </a:bodyPr>
          <a:lstStyle/>
          <a:p>
            <a:pPr algn="ctr"/>
            <a:r>
              <a:rPr sz="3200" b="1">
                <a:solidFill>
                  <a:srgbClr val="002060"/>
                </a:solidFill>
                <a:latin typeface="メイリオ"/>
                <a:ea typeface="メイリオ"/>
              </a:rPr>
              <a:t>23.5万円</a:t>
            </a:r>
          </a:p>
        </p:txBody>
      </p:sp>
      <p:sp>
        <p:nvSpPr>
          <p:cNvPr id="7" name="TextBox 6"/>
          <p:cNvSpPr txBox="1"/>
          <p:nvPr/>
        </p:nvSpPr>
        <p:spPr>
          <a:xfrm>
            <a:off x="329184" y="2578608"/>
            <a:ext cx="3063240" cy="310896"/>
          </a:xfrm>
          <a:prstGeom prst="rect">
            <a:avLst/>
          </a:prstGeom>
          <a:noFill/>
        </p:spPr>
        <p:txBody>
          <a:bodyPr wrap="square" tIns="0" bIns="0" anchor="t">
            <a:spAutoFit/>
          </a:bodyPr>
          <a:lstStyle/>
          <a:p>
            <a:pPr algn="ctr"/>
            <a:r>
              <a:rPr sz="1200" b="0">
                <a:solidFill>
                  <a:srgbClr val="333333"/>
                </a:solidFill>
                <a:latin typeface="メイリオ"/>
                <a:ea typeface="メイリオ"/>
              </a:rPr>
              <a:t>構築・計測整備・ツール初期費</a:t>
            </a:r>
          </a:p>
        </p:txBody>
      </p:sp>
      <p:sp>
        <p:nvSpPr>
          <p:cNvPr id="8" name="Rounded Rectangle 7"/>
          <p:cNvSpPr/>
          <p:nvPr/>
        </p:nvSpPr>
        <p:spPr>
          <a:xfrm>
            <a:off x="3566160" y="1261872"/>
            <a:ext cx="3063240" cy="438912"/>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メイリオ"/>
                <a:ea typeface="メイリオ"/>
              </a:rPr>
              <a:t>月次固定</a:t>
            </a:r>
          </a:p>
        </p:txBody>
      </p:sp>
      <p:sp>
        <p:nvSpPr>
          <p:cNvPr id="9" name="Rounded Rectangle 8"/>
          <p:cNvSpPr/>
          <p:nvPr/>
        </p:nvSpPr>
        <p:spPr>
          <a:xfrm>
            <a:off x="3566160" y="1773936"/>
            <a:ext cx="3063240" cy="1188720"/>
          </a:xfrm>
          <a:prstGeom prst="roundRect">
            <a:avLst>
              <a:gd name="adj" fmla="val 10000"/>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66160" y="1883664"/>
            <a:ext cx="3063240" cy="640080"/>
          </a:xfrm>
          <a:prstGeom prst="rect">
            <a:avLst/>
          </a:prstGeom>
          <a:noFill/>
        </p:spPr>
        <p:txBody>
          <a:bodyPr wrap="square" tIns="0" bIns="0" anchor="t">
            <a:spAutoFit/>
          </a:bodyPr>
          <a:lstStyle/>
          <a:p>
            <a:pPr algn="ctr"/>
            <a:r>
              <a:rPr sz="3200" b="1">
                <a:solidFill>
                  <a:srgbClr val="008A45"/>
                </a:solidFill>
                <a:latin typeface="メイリオ"/>
                <a:ea typeface="メイリオ"/>
              </a:rPr>
              <a:t>19.98万円</a:t>
            </a:r>
          </a:p>
        </p:txBody>
      </p:sp>
      <p:sp>
        <p:nvSpPr>
          <p:cNvPr id="11" name="TextBox 10"/>
          <p:cNvSpPr txBox="1"/>
          <p:nvPr/>
        </p:nvSpPr>
        <p:spPr>
          <a:xfrm>
            <a:off x="3566160" y="2578608"/>
            <a:ext cx="3063240" cy="310896"/>
          </a:xfrm>
          <a:prstGeom prst="rect">
            <a:avLst/>
          </a:prstGeom>
          <a:noFill/>
        </p:spPr>
        <p:txBody>
          <a:bodyPr wrap="square" tIns="0" bIns="0" anchor="t">
            <a:spAutoFit/>
          </a:bodyPr>
          <a:lstStyle/>
          <a:p>
            <a:pPr algn="ctr"/>
            <a:r>
              <a:rPr sz="1200" b="0">
                <a:solidFill>
                  <a:srgbClr val="333333"/>
                </a:solidFill>
                <a:latin typeface="メイリオ"/>
                <a:ea typeface="メイリオ"/>
              </a:rPr>
              <a:t>実費9.98万円＋コンサル費10万円</a:t>
            </a:r>
          </a:p>
        </p:txBody>
      </p:sp>
      <p:sp>
        <p:nvSpPr>
          <p:cNvPr id="12" name="Rounded Rectangle 11"/>
          <p:cNvSpPr/>
          <p:nvPr/>
        </p:nvSpPr>
        <p:spPr>
          <a:xfrm>
            <a:off x="6803136" y="1261872"/>
            <a:ext cx="3063240" cy="438912"/>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メイリオ"/>
                <a:ea typeface="メイリオ"/>
              </a:rPr>
              <a:t>成果報酬（1件あたり）</a:t>
            </a:r>
          </a:p>
        </p:txBody>
      </p:sp>
      <p:sp>
        <p:nvSpPr>
          <p:cNvPr id="13" name="Rounded Rectangle 12"/>
          <p:cNvSpPr/>
          <p:nvPr/>
        </p:nvSpPr>
        <p:spPr>
          <a:xfrm>
            <a:off x="6803136" y="1773936"/>
            <a:ext cx="3063240" cy="1188720"/>
          </a:xfrm>
          <a:prstGeom prst="roundRect">
            <a:avLst>
              <a:gd name="adj" fmla="val 10000"/>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03136" y="1883664"/>
            <a:ext cx="3063240" cy="640080"/>
          </a:xfrm>
          <a:prstGeom prst="rect">
            <a:avLst/>
          </a:prstGeom>
          <a:noFill/>
        </p:spPr>
        <p:txBody>
          <a:bodyPr wrap="square" tIns="0" bIns="0" anchor="t">
            <a:spAutoFit/>
          </a:bodyPr>
          <a:lstStyle/>
          <a:p>
            <a:pPr algn="ctr"/>
            <a:r>
              <a:rPr sz="3200" b="1">
                <a:solidFill>
                  <a:srgbClr val="008A45"/>
                </a:solidFill>
                <a:latin typeface="メイリオ"/>
                <a:ea typeface="メイリオ"/>
              </a:rPr>
              <a:t>20,000円</a:t>
            </a:r>
          </a:p>
        </p:txBody>
      </p:sp>
      <p:sp>
        <p:nvSpPr>
          <p:cNvPr id="15" name="TextBox 14"/>
          <p:cNvSpPr txBox="1"/>
          <p:nvPr/>
        </p:nvSpPr>
        <p:spPr>
          <a:xfrm>
            <a:off x="6803136" y="2578608"/>
            <a:ext cx="3063240" cy="310896"/>
          </a:xfrm>
          <a:prstGeom prst="rect">
            <a:avLst/>
          </a:prstGeom>
          <a:noFill/>
        </p:spPr>
        <p:txBody>
          <a:bodyPr wrap="square" tIns="0" bIns="0" anchor="t">
            <a:spAutoFit/>
          </a:bodyPr>
          <a:lstStyle/>
          <a:p>
            <a:pPr algn="ctr"/>
            <a:r>
              <a:rPr sz="1200" b="0">
                <a:solidFill>
                  <a:srgbClr val="333333"/>
                </a:solidFill>
                <a:latin typeface="メイリオ"/>
                <a:ea typeface="メイリオ"/>
              </a:rPr>
              <a:t>セミナー申込／EC購入は2,000円</a:t>
            </a:r>
          </a:p>
        </p:txBody>
      </p:sp>
      <p:sp>
        <p:nvSpPr>
          <p:cNvPr id="16" name="TextBox 15"/>
          <p:cNvSpPr txBox="1"/>
          <p:nvPr/>
        </p:nvSpPr>
        <p:spPr>
          <a:xfrm>
            <a:off x="329184" y="3163824"/>
            <a:ext cx="3657600" cy="292608"/>
          </a:xfrm>
          <a:prstGeom prst="rect">
            <a:avLst/>
          </a:prstGeom>
          <a:noFill/>
        </p:spPr>
        <p:txBody>
          <a:bodyPr wrap="square" tIns="0" bIns="0" anchor="t">
            <a:spAutoFit/>
          </a:bodyPr>
          <a:lstStyle/>
          <a:p>
            <a:pPr algn="l"/>
            <a:r>
              <a:rPr sz="1600" b="1">
                <a:solidFill>
                  <a:srgbClr val="1F285A"/>
                </a:solidFill>
                <a:latin typeface="メイリオ"/>
                <a:ea typeface="メイリオ"/>
              </a:rPr>
              <a:t>6ヶ月後の着地</a:t>
            </a:r>
          </a:p>
        </p:txBody>
      </p:sp>
      <p:sp>
        <p:nvSpPr>
          <p:cNvPr id="17" name="Rounded Rectangle 16"/>
          <p:cNvSpPr/>
          <p:nvPr/>
        </p:nvSpPr>
        <p:spPr>
          <a:xfrm>
            <a:off x="329184" y="3511296"/>
            <a:ext cx="3063240" cy="1298448"/>
          </a:xfrm>
          <a:prstGeom prst="roundRect">
            <a:avLst>
              <a:gd name="adj" fmla="val 10000"/>
            </a:avLst>
          </a:prstGeom>
          <a:solidFill>
            <a:srgbClr val="E8EEF7"/>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9184" y="3621024"/>
            <a:ext cx="3063240" cy="274320"/>
          </a:xfrm>
          <a:prstGeom prst="rect">
            <a:avLst/>
          </a:prstGeom>
          <a:noFill/>
        </p:spPr>
        <p:txBody>
          <a:bodyPr wrap="square" tIns="0" bIns="0" anchor="t">
            <a:spAutoFit/>
          </a:bodyPr>
          <a:lstStyle/>
          <a:p>
            <a:pPr algn="ctr"/>
            <a:r>
              <a:rPr sz="1400" b="1">
                <a:solidFill>
                  <a:srgbClr val="1F285A"/>
                </a:solidFill>
                <a:latin typeface="メイリオ"/>
                <a:ea typeface="メイリオ"/>
              </a:rPr>
              <a:t>友だち数</a:t>
            </a:r>
          </a:p>
        </p:txBody>
      </p:sp>
      <p:sp>
        <p:nvSpPr>
          <p:cNvPr id="19" name="TextBox 18"/>
          <p:cNvSpPr txBox="1"/>
          <p:nvPr/>
        </p:nvSpPr>
        <p:spPr>
          <a:xfrm>
            <a:off x="329184" y="3913632"/>
            <a:ext cx="3063240" cy="548640"/>
          </a:xfrm>
          <a:prstGeom prst="rect">
            <a:avLst/>
          </a:prstGeom>
          <a:noFill/>
        </p:spPr>
        <p:txBody>
          <a:bodyPr wrap="square" tIns="0" bIns="0" anchor="t">
            <a:spAutoFit/>
          </a:bodyPr>
          <a:lstStyle/>
          <a:p>
            <a:pPr algn="ctr"/>
            <a:r>
              <a:rPr sz="3000" b="1">
                <a:solidFill>
                  <a:srgbClr val="008A45"/>
                </a:solidFill>
                <a:latin typeface="メイリオ"/>
                <a:ea typeface="メイリオ"/>
              </a:rPr>
              <a:t>12,410人</a:t>
            </a:r>
            <a:r>
              <a:rPr sz="1400" b="1">
                <a:solidFill>
                  <a:srgbClr val="008A45"/>
                </a:solidFill>
                <a:latin typeface="メイリオ"/>
                <a:ea typeface="メイリオ"/>
              </a:rPr>
              <a:t/>
            </a:r>
          </a:p>
        </p:txBody>
      </p:sp>
      <p:sp>
        <p:nvSpPr>
          <p:cNvPr id="20" name="TextBox 19"/>
          <p:cNvSpPr txBox="1"/>
          <p:nvPr/>
        </p:nvSpPr>
        <p:spPr>
          <a:xfrm>
            <a:off x="402336" y="4517136"/>
            <a:ext cx="2916936" cy="256032"/>
          </a:xfrm>
          <a:prstGeom prst="rect">
            <a:avLst/>
          </a:prstGeom>
          <a:noFill/>
        </p:spPr>
        <p:txBody>
          <a:bodyPr wrap="square" tIns="0" bIns="0" anchor="t">
            <a:spAutoFit/>
          </a:bodyPr>
          <a:lstStyle/>
          <a:p>
            <a:pPr algn="ctr"/>
            <a:r>
              <a:rPr sz="1100" b="0">
                <a:solidFill>
                  <a:srgbClr val="808080"/>
                </a:solidFill>
                <a:latin typeface="メイリオ"/>
                <a:ea typeface="メイリオ"/>
              </a:rPr>
              <a:t>（既存12,000人＋新規獲得）</a:t>
            </a:r>
          </a:p>
        </p:txBody>
      </p:sp>
      <p:sp>
        <p:nvSpPr>
          <p:cNvPr id="21" name="Rounded Rectangle 20"/>
          <p:cNvSpPr/>
          <p:nvPr/>
        </p:nvSpPr>
        <p:spPr>
          <a:xfrm>
            <a:off x="3566160" y="3511296"/>
            <a:ext cx="3063240" cy="1298448"/>
          </a:xfrm>
          <a:prstGeom prst="roundRect">
            <a:avLst>
              <a:gd name="adj" fmla="val 10000"/>
            </a:avLst>
          </a:prstGeom>
          <a:solidFill>
            <a:srgbClr val="E8EEF7"/>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66160" y="3621024"/>
            <a:ext cx="3063240" cy="274320"/>
          </a:xfrm>
          <a:prstGeom prst="rect">
            <a:avLst/>
          </a:prstGeom>
          <a:noFill/>
        </p:spPr>
        <p:txBody>
          <a:bodyPr wrap="square" tIns="0" bIns="0" anchor="t">
            <a:spAutoFit/>
          </a:bodyPr>
          <a:lstStyle/>
          <a:p>
            <a:pPr algn="ctr"/>
            <a:r>
              <a:rPr sz="1400" b="1">
                <a:solidFill>
                  <a:srgbClr val="1F285A"/>
                </a:solidFill>
                <a:latin typeface="メイリオ"/>
                <a:ea typeface="メイリオ"/>
              </a:rPr>
              <a:t>CV（半年累計）</a:t>
            </a:r>
          </a:p>
        </p:txBody>
      </p:sp>
      <p:sp>
        <p:nvSpPr>
          <p:cNvPr id="23" name="TextBox 22"/>
          <p:cNvSpPr txBox="1"/>
          <p:nvPr/>
        </p:nvSpPr>
        <p:spPr>
          <a:xfrm>
            <a:off x="3566160" y="3913632"/>
            <a:ext cx="3063240" cy="548640"/>
          </a:xfrm>
          <a:prstGeom prst="rect">
            <a:avLst/>
          </a:prstGeom>
          <a:noFill/>
        </p:spPr>
        <p:txBody>
          <a:bodyPr wrap="square" tIns="0" bIns="0" anchor="t">
            <a:spAutoFit/>
          </a:bodyPr>
          <a:lstStyle/>
          <a:p>
            <a:pPr algn="ctr"/>
            <a:r>
              <a:rPr sz="3000" b="1">
                <a:solidFill>
                  <a:srgbClr val="008A45"/>
                </a:solidFill>
                <a:latin typeface="メイリオ"/>
                <a:ea typeface="メイリオ"/>
              </a:rPr>
              <a:t>112件</a:t>
            </a:r>
            <a:r>
              <a:rPr sz="1400" b="1">
                <a:solidFill>
                  <a:srgbClr val="008A45"/>
                </a:solidFill>
                <a:latin typeface="メイリオ"/>
                <a:ea typeface="メイリオ"/>
              </a:rPr>
              <a:t/>
            </a:r>
          </a:p>
        </p:txBody>
      </p:sp>
      <p:sp>
        <p:nvSpPr>
          <p:cNvPr id="24" name="TextBox 23"/>
          <p:cNvSpPr txBox="1"/>
          <p:nvPr/>
        </p:nvSpPr>
        <p:spPr>
          <a:xfrm>
            <a:off x="3639312" y="4517136"/>
            <a:ext cx="2916936" cy="256032"/>
          </a:xfrm>
          <a:prstGeom prst="rect">
            <a:avLst/>
          </a:prstGeom>
          <a:noFill/>
        </p:spPr>
        <p:txBody>
          <a:bodyPr wrap="square" tIns="0" bIns="0" anchor="t">
            <a:spAutoFit/>
          </a:bodyPr>
          <a:lstStyle/>
          <a:p>
            <a:pPr algn="ctr"/>
            <a:r>
              <a:rPr sz="1100" b="0">
                <a:solidFill>
                  <a:srgbClr val="808080"/>
                </a:solidFill>
                <a:latin typeface="メイリオ"/>
                <a:ea typeface="メイリオ"/>
              </a:rPr>
              <a:t>セミナー40件＋EC購入72件</a:t>
            </a:r>
          </a:p>
        </p:txBody>
      </p:sp>
      <p:sp>
        <p:nvSpPr>
          <p:cNvPr id="25" name="Rounded Rectangle 24"/>
          <p:cNvSpPr/>
          <p:nvPr/>
        </p:nvSpPr>
        <p:spPr>
          <a:xfrm>
            <a:off x="6803136" y="3511296"/>
            <a:ext cx="3063240" cy="1298448"/>
          </a:xfrm>
          <a:prstGeom prst="roundRect">
            <a:avLst>
              <a:gd name="adj" fmla="val 10000"/>
            </a:avLst>
          </a:prstGeom>
          <a:solidFill>
            <a:srgbClr val="E8EEF7"/>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03136" y="3621024"/>
            <a:ext cx="3063240" cy="274320"/>
          </a:xfrm>
          <a:prstGeom prst="rect">
            <a:avLst/>
          </a:prstGeom>
          <a:noFill/>
        </p:spPr>
        <p:txBody>
          <a:bodyPr wrap="square" tIns="0" bIns="0" anchor="t">
            <a:spAutoFit/>
          </a:bodyPr>
          <a:lstStyle/>
          <a:p>
            <a:pPr algn="ctr"/>
            <a:r>
              <a:rPr sz="1400" b="1">
                <a:solidFill>
                  <a:srgbClr val="1F285A"/>
                </a:solidFill>
                <a:latin typeface="メイリオ"/>
                <a:ea typeface="メイリオ"/>
              </a:rPr>
              <a:t>月次総額</a:t>
            </a:r>
          </a:p>
        </p:txBody>
      </p:sp>
      <p:sp>
        <p:nvSpPr>
          <p:cNvPr id="27" name="TextBox 26"/>
          <p:cNvSpPr txBox="1"/>
          <p:nvPr/>
        </p:nvSpPr>
        <p:spPr>
          <a:xfrm>
            <a:off x="6803136" y="3913632"/>
            <a:ext cx="3063240" cy="548640"/>
          </a:xfrm>
          <a:prstGeom prst="rect">
            <a:avLst/>
          </a:prstGeom>
          <a:noFill/>
        </p:spPr>
        <p:txBody>
          <a:bodyPr wrap="square" tIns="0" bIns="0" anchor="t">
            <a:spAutoFit/>
          </a:bodyPr>
          <a:lstStyle/>
          <a:p>
            <a:pPr algn="ctr"/>
            <a:r>
              <a:rPr sz="3000" b="1">
                <a:solidFill>
                  <a:srgbClr val="008A45"/>
                </a:solidFill>
                <a:latin typeface="メイリオ"/>
                <a:ea typeface="メイリオ"/>
              </a:rPr>
              <a:t>31〜41万円</a:t>
            </a:r>
            <a:r>
              <a:rPr sz="1400" b="1">
                <a:solidFill>
                  <a:srgbClr val="008A45"/>
                </a:solidFill>
                <a:latin typeface="メイリオ"/>
                <a:ea typeface="メイリオ"/>
              </a:rPr>
              <a:t/>
            </a:r>
          </a:p>
        </p:txBody>
      </p:sp>
      <p:sp>
        <p:nvSpPr>
          <p:cNvPr id="28" name="TextBox 27"/>
          <p:cNvSpPr txBox="1"/>
          <p:nvPr/>
        </p:nvSpPr>
        <p:spPr>
          <a:xfrm>
            <a:off x="6876288" y="4517136"/>
            <a:ext cx="2916936" cy="256032"/>
          </a:xfrm>
          <a:prstGeom prst="rect">
            <a:avLst/>
          </a:prstGeom>
          <a:noFill/>
        </p:spPr>
        <p:txBody>
          <a:bodyPr wrap="square" tIns="0" bIns="0" anchor="t">
            <a:spAutoFit/>
          </a:bodyPr>
          <a:lstStyle/>
          <a:p>
            <a:pPr algn="ctr"/>
            <a:r>
              <a:rPr sz="1100" b="0">
                <a:solidFill>
                  <a:srgbClr val="808080"/>
                </a:solidFill>
                <a:latin typeface="メイリオ"/>
                <a:ea typeface="メイリオ"/>
              </a:rPr>
              <a:t>固定19.98万円＋成果報酬</a:t>
            </a:r>
          </a:p>
        </p:txBody>
      </p:sp>
      <p:sp>
        <p:nvSpPr>
          <p:cNvPr id="29" name="Rounded Rectangle 28"/>
          <p:cNvSpPr/>
          <p:nvPr/>
        </p:nvSpPr>
        <p:spPr>
          <a:xfrm>
            <a:off x="329184" y="4974336"/>
            <a:ext cx="9244584" cy="512064"/>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メイリオ"/>
                <a:ea typeface="メイリオ"/>
              </a:rPr>
              <a:t>CV1件あたり 約1.9〜2.1万円（現在の配信外注 3〜4万円/回は月次費用に内包されます）</a:t>
            </a:r>
          </a:p>
        </p:txBody>
      </p:sp>
      <p:sp>
        <p:nvSpPr>
          <p:cNvPr id="30" name="TextBox 29"/>
          <p:cNvSpPr txBox="1"/>
          <p:nvPr/>
        </p:nvSpPr>
        <p:spPr>
          <a:xfrm>
            <a:off x="384048" y="5888736"/>
            <a:ext cx="9144000" cy="822960"/>
          </a:xfrm>
          <a:prstGeom prst="rect">
            <a:avLst/>
          </a:prstGeom>
          <a:noFill/>
        </p:spPr>
        <p:txBody>
          <a:bodyPr wrap="square" tIns="0" bIns="0" anchor="t">
            <a:spAutoFit/>
          </a:bodyPr>
          <a:lstStyle/>
          <a:p>
            <a:pPr algn="l"/>
            <a:r>
              <a:rPr sz="900" b="0">
                <a:solidFill>
                  <a:srgbClr val="808080"/>
                </a:solidFill>
                <a:latin typeface="メイリオ"/>
                <a:ea typeface="メイリオ"/>
              </a:rPr>
              <a:t>※月次固定19.98万円＝実費99,800円（離脱防止・サンクス誘導・アカウント・ツール）＋コンサル費100,000円。</a:t>
            </a:r>
          </a:p>
          <a:p>
            <a:pPr algn="l"/>
            <a:r>
              <a:rPr sz="900" b="0">
                <a:solidFill>
                  <a:srgbClr val="808080"/>
                </a:solidFill>
                <a:latin typeface="メイリオ"/>
                <a:ea typeface="メイリオ"/>
              </a:rPr>
              <a:t>※EC購入の成果カウントはUTM計測整備の完了後から。友だち数・CVは貴社実数にて補正します。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18872"/>
            <a:ext cx="8778240" cy="411480"/>
          </a:xfrm>
          <a:prstGeom prst="rect">
            <a:avLst/>
          </a:prstGeom>
          <a:noFill/>
        </p:spPr>
        <p:txBody>
          <a:bodyPr wrap="none">
            <a:spAutoFit/>
          </a:bodyPr>
          <a:lstStyle/>
          <a:p>
            <a:r>
              <a:rPr sz="2000" b="1">
                <a:solidFill>
                  <a:srgbClr val="1F2A5C"/>
                </a:solidFill>
                <a:latin typeface="メイリオ"/>
                <a:ea typeface="メイリオ"/>
              </a:rPr>
              <a:t>想定の費用対効果（詳細）</a:t>
            </a:r>
          </a:p>
        </p:txBody>
      </p:sp>
      <p:pic>
        <p:nvPicPr>
          <p:cNvPr id="3" name="Picture 2" descr="ten_sim_table.png"/>
          <p:cNvPicPr>
            <a:picLocks noChangeAspect="1"/>
          </p:cNvPicPr>
          <p:nvPr/>
        </p:nvPicPr>
        <p:blipFill>
          <a:blip r:embed="rId3"/>
          <a:stretch>
            <a:fillRect/>
          </a:stretch>
        </p:blipFill>
        <p:spPr>
          <a:xfrm>
            <a:off x="563248" y="658368"/>
            <a:ext cx="8776454" cy="5897879"/>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18872"/>
            <a:ext cx="8778240" cy="411480"/>
          </a:xfrm>
          <a:prstGeom prst="rect">
            <a:avLst/>
          </a:prstGeom>
          <a:noFill/>
        </p:spPr>
        <p:txBody>
          <a:bodyPr wrap="square" anchor="t" tIns="0" bIns="0">
            <a:spAutoFit/>
          </a:bodyPr>
          <a:lstStyle/>
          <a:p>
            <a:pPr algn="l"/>
            <a:r>
              <a:rPr sz="2000" b="1">
                <a:solidFill>
                  <a:srgbClr val="1F2A5C"/>
                </a:solidFill>
                <a:latin typeface="メイリオ"/>
                <a:ea typeface="メイリオ"/>
              </a:rPr>
              <a:t>満席への道筋｜月50件 → 100件にどう近づけるか</a:t>
            </a:r>
          </a:p>
        </p:txBody>
      </p:sp>
      <p:sp>
        <p:nvSpPr>
          <p:cNvPr id="3" name="TextBox 2"/>
          <p:cNvSpPr txBox="1"/>
          <p:nvPr/>
        </p:nvSpPr>
        <p:spPr>
          <a:xfrm>
            <a:off x="548640" y="640080"/>
            <a:ext cx="9052560" cy="384048"/>
          </a:xfrm>
          <a:prstGeom prst="rect">
            <a:avLst/>
          </a:prstGeom>
          <a:noFill/>
        </p:spPr>
        <p:txBody>
          <a:bodyPr wrap="square" anchor="t" tIns="0" bIns="0">
            <a:spAutoFit/>
          </a:bodyPr>
          <a:lstStyle/>
          <a:p>
            <a:pPr algn="l"/>
            <a:r>
              <a:rPr sz="1800" b="1">
                <a:solidFill>
                  <a:srgbClr val="333333"/>
                </a:solidFill>
                <a:latin typeface="メイリオ"/>
                <a:ea typeface="メイリオ"/>
              </a:rPr>
              <a:t>本シミュレーションは「確実に届く範囲」だけで引いた最低ラインです。実数確認で上方修正します。</a:t>
            </a:r>
          </a:p>
        </p:txBody>
      </p:sp>
      <p:sp>
        <p:nvSpPr>
          <p:cNvPr id="4" name="Rounded Rectangle 3"/>
          <p:cNvSpPr/>
          <p:nvPr/>
        </p:nvSpPr>
        <p:spPr>
          <a:xfrm>
            <a:off x="384048" y="1188720"/>
            <a:ext cx="3017520" cy="3749039"/>
          </a:xfrm>
          <a:prstGeom prst="roundRect">
            <a:avLst>
              <a:gd name="adj" fmla="val 8000"/>
            </a:avLst>
          </a:prstGeom>
          <a:no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12064" y="1335024"/>
            <a:ext cx="2761487" cy="475488"/>
          </a:xfrm>
          <a:prstGeom prst="roundRect">
            <a:avLst>
              <a:gd name="adj" fmla="val 14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12064" y="1408176"/>
            <a:ext cx="2761487" cy="347472"/>
          </a:xfrm>
          <a:prstGeom prst="rect">
            <a:avLst/>
          </a:prstGeom>
          <a:noFill/>
        </p:spPr>
        <p:txBody>
          <a:bodyPr wrap="square" anchor="t" tIns="0" bIns="0">
            <a:spAutoFit/>
          </a:bodyPr>
          <a:lstStyle/>
          <a:p>
            <a:pPr algn="ctr"/>
            <a:r>
              <a:rPr sz="1400" b="1">
                <a:solidFill>
                  <a:srgbClr val="FFFFFF"/>
                </a:solidFill>
                <a:latin typeface="メイリオ"/>
                <a:ea typeface="メイリオ"/>
              </a:rPr>
              <a:t>STEP 1　確実ライン</a:t>
            </a:r>
          </a:p>
        </p:txBody>
      </p:sp>
      <p:sp>
        <p:nvSpPr>
          <p:cNvPr id="7" name="TextBox 6"/>
          <p:cNvSpPr txBox="1"/>
          <p:nvPr/>
        </p:nvSpPr>
        <p:spPr>
          <a:xfrm>
            <a:off x="621792" y="2011680"/>
            <a:ext cx="2578608" cy="274320"/>
          </a:xfrm>
          <a:prstGeom prst="rect">
            <a:avLst/>
          </a:prstGeom>
          <a:noFill/>
        </p:spPr>
        <p:txBody>
          <a:bodyPr wrap="square" anchor="t" tIns="0" bIns="0">
            <a:spAutoFit/>
          </a:bodyPr>
          <a:lstStyle/>
          <a:p>
            <a:pPr algn="l"/>
            <a:r>
              <a:rPr sz="1300" b="0">
                <a:solidFill>
                  <a:srgbClr val="333333"/>
                </a:solidFill>
                <a:latin typeface="メイリオ"/>
                <a:ea typeface="メイリオ"/>
              </a:rPr>
              <a:t>配信が届くと確認できている</a:t>
            </a:r>
          </a:p>
        </p:txBody>
      </p:sp>
      <p:sp>
        <p:nvSpPr>
          <p:cNvPr id="8" name="TextBox 7"/>
          <p:cNvSpPr txBox="1"/>
          <p:nvPr/>
        </p:nvSpPr>
        <p:spPr>
          <a:xfrm>
            <a:off x="621792" y="2286000"/>
            <a:ext cx="2578608" cy="365760"/>
          </a:xfrm>
          <a:prstGeom prst="rect">
            <a:avLst/>
          </a:prstGeom>
          <a:noFill/>
        </p:spPr>
        <p:txBody>
          <a:bodyPr wrap="square" anchor="t" tIns="0" bIns="0">
            <a:spAutoFit/>
          </a:bodyPr>
          <a:lstStyle/>
          <a:p>
            <a:pPr algn="l"/>
            <a:r>
              <a:rPr sz="1500" b="1">
                <a:solidFill>
                  <a:srgbClr val="1F2A5C"/>
                </a:solidFill>
                <a:latin typeface="メイリオ"/>
                <a:ea typeface="メイリオ"/>
              </a:rPr>
              <a:t>実質1,446人だけで試算</a:t>
            </a:r>
          </a:p>
        </p:txBody>
      </p:sp>
      <p:cxnSp>
        <p:nvCxnSpPr>
          <p:cNvPr id="9" name="Connector 8"/>
          <p:cNvCxnSpPr/>
          <p:nvPr/>
        </p:nvCxnSpPr>
        <p:spPr>
          <a:xfrm>
            <a:off x="621792" y="2743200"/>
            <a:ext cx="2542032"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792" y="2962656"/>
            <a:ext cx="2578608" cy="274320"/>
          </a:xfrm>
          <a:prstGeom prst="rect">
            <a:avLst/>
          </a:prstGeom>
          <a:noFill/>
        </p:spPr>
        <p:txBody>
          <a:bodyPr wrap="square" anchor="t" tIns="0" bIns="0">
            <a:spAutoFit/>
          </a:bodyPr>
          <a:lstStyle/>
          <a:p>
            <a:pPr algn="l"/>
            <a:r>
              <a:rPr sz="1300" b="0">
                <a:solidFill>
                  <a:srgbClr val="333333"/>
                </a:solidFill>
                <a:latin typeface="メイリオ"/>
                <a:ea typeface="メイリオ"/>
              </a:rPr>
              <a:t>セミナー申込</a:t>
            </a:r>
          </a:p>
        </p:txBody>
      </p:sp>
      <p:sp>
        <p:nvSpPr>
          <p:cNvPr id="11" name="TextBox 10"/>
          <p:cNvSpPr txBox="1"/>
          <p:nvPr/>
        </p:nvSpPr>
        <p:spPr>
          <a:xfrm>
            <a:off x="621792" y="3236976"/>
            <a:ext cx="2578608" cy="365760"/>
          </a:xfrm>
          <a:prstGeom prst="rect">
            <a:avLst/>
          </a:prstGeom>
          <a:noFill/>
        </p:spPr>
        <p:txBody>
          <a:bodyPr wrap="square" anchor="t" tIns="0" bIns="0">
            <a:spAutoFit/>
          </a:bodyPr>
          <a:lstStyle/>
          <a:p>
            <a:pPr algn="l"/>
            <a:r>
              <a:rPr sz="1500" b="1">
                <a:solidFill>
                  <a:srgbClr val="1F2A5C"/>
                </a:solidFill>
                <a:latin typeface="メイリオ"/>
                <a:ea typeface="メイリオ"/>
              </a:rPr>
              <a:t>月＋4〜9件</a:t>
            </a:r>
          </a:p>
        </p:txBody>
      </p:sp>
      <p:cxnSp>
        <p:nvCxnSpPr>
          <p:cNvPr id="12" name="Connector 11"/>
          <p:cNvCxnSpPr/>
          <p:nvPr/>
        </p:nvCxnSpPr>
        <p:spPr>
          <a:xfrm>
            <a:off x="621792" y="3694176"/>
            <a:ext cx="2542032"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1792" y="3913632"/>
            <a:ext cx="2578608" cy="274320"/>
          </a:xfrm>
          <a:prstGeom prst="rect">
            <a:avLst/>
          </a:prstGeom>
          <a:noFill/>
        </p:spPr>
        <p:txBody>
          <a:bodyPr wrap="square" anchor="t" tIns="0" bIns="0">
            <a:spAutoFit/>
          </a:bodyPr>
          <a:lstStyle/>
          <a:p>
            <a:pPr algn="l"/>
            <a:r>
              <a:rPr sz="1300" b="0">
                <a:solidFill>
                  <a:srgbClr val="333333"/>
                </a:solidFill>
                <a:latin typeface="メイリオ"/>
                <a:ea typeface="メイリオ"/>
              </a:rPr>
              <a:t>月50件 →</a:t>
            </a:r>
          </a:p>
        </p:txBody>
      </p:sp>
      <p:sp>
        <p:nvSpPr>
          <p:cNvPr id="14" name="TextBox 13"/>
          <p:cNvSpPr txBox="1"/>
          <p:nvPr/>
        </p:nvSpPr>
        <p:spPr>
          <a:xfrm>
            <a:off x="621792" y="4187952"/>
            <a:ext cx="2578608" cy="365760"/>
          </a:xfrm>
          <a:prstGeom prst="rect">
            <a:avLst/>
          </a:prstGeom>
          <a:noFill/>
        </p:spPr>
        <p:txBody>
          <a:bodyPr wrap="square" anchor="t" tIns="0" bIns="0">
            <a:spAutoFit/>
          </a:bodyPr>
          <a:lstStyle/>
          <a:p>
            <a:pPr algn="l"/>
            <a:r>
              <a:rPr sz="1500" b="1">
                <a:solidFill>
                  <a:srgbClr val="1F2A5C"/>
                </a:solidFill>
                <a:latin typeface="メイリオ"/>
                <a:ea typeface="メイリオ"/>
              </a:rPr>
              <a:t>54〜59件</a:t>
            </a:r>
          </a:p>
        </p:txBody>
      </p:sp>
      <p:sp>
        <p:nvSpPr>
          <p:cNvPr id="15" name="TextBox 14"/>
          <p:cNvSpPr txBox="1"/>
          <p:nvPr/>
        </p:nvSpPr>
        <p:spPr>
          <a:xfrm>
            <a:off x="3419856" y="2834640"/>
            <a:ext cx="219456" cy="402336"/>
          </a:xfrm>
          <a:prstGeom prst="rect">
            <a:avLst/>
          </a:prstGeom>
          <a:noFill/>
        </p:spPr>
        <p:txBody>
          <a:bodyPr wrap="square" anchor="t" tIns="0" bIns="0">
            <a:spAutoFit/>
          </a:bodyPr>
          <a:lstStyle/>
          <a:p>
            <a:pPr algn="ctr"/>
            <a:r>
              <a:rPr sz="1600" b="1">
                <a:solidFill>
                  <a:srgbClr val="1F2A5C"/>
                </a:solidFill>
                <a:latin typeface="メイリオ"/>
                <a:ea typeface="メイリオ"/>
              </a:rPr>
              <a:t>▶</a:t>
            </a:r>
          </a:p>
        </p:txBody>
      </p:sp>
      <p:sp>
        <p:nvSpPr>
          <p:cNvPr id="16" name="Rounded Rectangle 15"/>
          <p:cNvSpPr/>
          <p:nvPr/>
        </p:nvSpPr>
        <p:spPr>
          <a:xfrm>
            <a:off x="3621024" y="1188720"/>
            <a:ext cx="3017520" cy="3749039"/>
          </a:xfrm>
          <a:prstGeom prst="roundRect">
            <a:avLst>
              <a:gd name="adj" fmla="val 8000"/>
            </a:avLst>
          </a:prstGeom>
          <a:solidFill>
            <a:srgbClr val="E8EEF7"/>
          </a:solidFill>
          <a:ln w="22225">
            <a:solidFill>
              <a:srgbClr val="BF4E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749039" y="1335024"/>
            <a:ext cx="2761487" cy="475488"/>
          </a:xfrm>
          <a:prstGeom prst="roundRect">
            <a:avLst>
              <a:gd name="adj" fmla="val 14000"/>
            </a:avLst>
          </a:prstGeom>
          <a:solidFill>
            <a:srgbClr val="BF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49039" y="1408176"/>
            <a:ext cx="2761487" cy="347472"/>
          </a:xfrm>
          <a:prstGeom prst="rect">
            <a:avLst/>
          </a:prstGeom>
          <a:noFill/>
        </p:spPr>
        <p:txBody>
          <a:bodyPr wrap="square" anchor="t" tIns="0" bIns="0">
            <a:spAutoFit/>
          </a:bodyPr>
          <a:lstStyle/>
          <a:p>
            <a:pPr algn="ctr"/>
            <a:r>
              <a:rPr sz="1400" b="1">
                <a:solidFill>
                  <a:srgbClr val="FFFFFF"/>
                </a:solidFill>
                <a:latin typeface="メイリオ"/>
                <a:ea typeface="メイリオ"/>
              </a:rPr>
              <a:t>STEP 2　実数確認で上方修正</a:t>
            </a:r>
          </a:p>
        </p:txBody>
      </p:sp>
      <p:sp>
        <p:nvSpPr>
          <p:cNvPr id="19" name="TextBox 18"/>
          <p:cNvSpPr txBox="1"/>
          <p:nvPr/>
        </p:nvSpPr>
        <p:spPr>
          <a:xfrm>
            <a:off x="3858768" y="2011680"/>
            <a:ext cx="2578608" cy="274320"/>
          </a:xfrm>
          <a:prstGeom prst="rect">
            <a:avLst/>
          </a:prstGeom>
          <a:noFill/>
        </p:spPr>
        <p:txBody>
          <a:bodyPr wrap="square" anchor="t" tIns="0" bIns="0">
            <a:spAutoFit/>
          </a:bodyPr>
          <a:lstStyle/>
          <a:p>
            <a:pPr algn="l"/>
            <a:r>
              <a:rPr sz="1300" b="0">
                <a:solidFill>
                  <a:srgbClr val="333333"/>
                </a:solidFill>
                <a:latin typeface="メイリオ"/>
                <a:ea typeface="メイリオ"/>
              </a:rPr>
              <a:t>商談冒頭に管理画面で</a:t>
            </a:r>
          </a:p>
        </p:txBody>
      </p:sp>
      <p:sp>
        <p:nvSpPr>
          <p:cNvPr id="20" name="TextBox 19"/>
          <p:cNvSpPr txBox="1"/>
          <p:nvPr/>
        </p:nvSpPr>
        <p:spPr>
          <a:xfrm>
            <a:off x="3858768" y="2286000"/>
            <a:ext cx="2578608" cy="365760"/>
          </a:xfrm>
          <a:prstGeom prst="rect">
            <a:avLst/>
          </a:prstGeom>
          <a:noFill/>
        </p:spPr>
        <p:txBody>
          <a:bodyPr wrap="square" anchor="t" tIns="0" bIns="0">
            <a:spAutoFit/>
          </a:bodyPr>
          <a:lstStyle/>
          <a:p>
            <a:pPr algn="l"/>
            <a:r>
              <a:rPr sz="1500" b="1">
                <a:solidFill>
                  <a:srgbClr val="BF4E0E"/>
                </a:solidFill>
                <a:latin typeface="メイリオ"/>
                <a:ea typeface="メイリオ"/>
              </a:rPr>
              <a:t>12,000人への配信可否</a:t>
            </a:r>
          </a:p>
        </p:txBody>
      </p:sp>
      <p:cxnSp>
        <p:nvCxnSpPr>
          <p:cNvPr id="21" name="Connector 20"/>
          <p:cNvCxnSpPr/>
          <p:nvPr/>
        </p:nvCxnSpPr>
        <p:spPr>
          <a:xfrm>
            <a:off x="3858768" y="2743200"/>
            <a:ext cx="2542032"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858768" y="2962656"/>
            <a:ext cx="2578608" cy="274320"/>
          </a:xfrm>
          <a:prstGeom prst="rect">
            <a:avLst/>
          </a:prstGeom>
          <a:noFill/>
        </p:spPr>
        <p:txBody>
          <a:bodyPr wrap="square" anchor="t" tIns="0" bIns="0">
            <a:spAutoFit/>
          </a:bodyPr>
          <a:lstStyle/>
          <a:p>
            <a:pPr algn="l"/>
            <a:r>
              <a:rPr sz="1300" b="0">
                <a:solidFill>
                  <a:srgbClr val="333333"/>
                </a:solidFill>
                <a:latin typeface="メイリオ"/>
                <a:ea typeface="メイリオ"/>
              </a:rPr>
              <a:t>配信母数は</a:t>
            </a:r>
          </a:p>
        </p:txBody>
      </p:sp>
      <p:sp>
        <p:nvSpPr>
          <p:cNvPr id="23" name="TextBox 22"/>
          <p:cNvSpPr txBox="1"/>
          <p:nvPr/>
        </p:nvSpPr>
        <p:spPr>
          <a:xfrm>
            <a:off x="3858768" y="3236976"/>
            <a:ext cx="2578608" cy="365760"/>
          </a:xfrm>
          <a:prstGeom prst="rect">
            <a:avLst/>
          </a:prstGeom>
          <a:noFill/>
        </p:spPr>
        <p:txBody>
          <a:bodyPr wrap="square" anchor="t" tIns="0" bIns="0">
            <a:spAutoFit/>
          </a:bodyPr>
          <a:lstStyle/>
          <a:p>
            <a:pPr algn="l"/>
            <a:r>
              <a:rPr sz="1500" b="1">
                <a:solidFill>
                  <a:srgbClr val="BF4E0E"/>
                </a:solidFill>
                <a:latin typeface="メイリオ"/>
                <a:ea typeface="メイリオ"/>
              </a:rPr>
              <a:t>最大8.3倍に拡大</a:t>
            </a:r>
          </a:p>
        </p:txBody>
      </p:sp>
      <p:cxnSp>
        <p:nvCxnSpPr>
          <p:cNvPr id="24" name="Connector 23"/>
          <p:cNvCxnSpPr/>
          <p:nvPr/>
        </p:nvCxnSpPr>
        <p:spPr>
          <a:xfrm>
            <a:off x="3858768" y="3694176"/>
            <a:ext cx="2542032"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858768" y="3913632"/>
            <a:ext cx="2578608" cy="274320"/>
          </a:xfrm>
          <a:prstGeom prst="rect">
            <a:avLst/>
          </a:prstGeom>
          <a:noFill/>
        </p:spPr>
        <p:txBody>
          <a:bodyPr wrap="square" anchor="t" tIns="0" bIns="0">
            <a:spAutoFit/>
          </a:bodyPr>
          <a:lstStyle/>
          <a:p>
            <a:pPr algn="l"/>
            <a:r>
              <a:rPr sz="1300" b="0">
                <a:solidFill>
                  <a:srgbClr val="333333"/>
                </a:solidFill>
                <a:latin typeface="メイリオ"/>
                <a:ea typeface="メイリオ"/>
              </a:rPr>
              <a:t>申込想定を再計算 →</a:t>
            </a:r>
          </a:p>
        </p:txBody>
      </p:sp>
      <p:sp>
        <p:nvSpPr>
          <p:cNvPr id="26" name="TextBox 25"/>
          <p:cNvSpPr txBox="1"/>
          <p:nvPr/>
        </p:nvSpPr>
        <p:spPr>
          <a:xfrm>
            <a:off x="3858768" y="4187952"/>
            <a:ext cx="2578608" cy="365760"/>
          </a:xfrm>
          <a:prstGeom prst="rect">
            <a:avLst/>
          </a:prstGeom>
          <a:noFill/>
        </p:spPr>
        <p:txBody>
          <a:bodyPr wrap="square" anchor="t" tIns="0" bIns="0">
            <a:spAutoFit/>
          </a:bodyPr>
          <a:lstStyle/>
          <a:p>
            <a:pPr algn="l"/>
            <a:r>
              <a:rPr sz="1500" b="1">
                <a:solidFill>
                  <a:srgbClr val="BF4E0E"/>
                </a:solidFill>
                <a:latin typeface="メイリオ"/>
                <a:ea typeface="メイリオ"/>
              </a:rPr>
              <a:t>目標100件が射程に</a:t>
            </a:r>
          </a:p>
        </p:txBody>
      </p:sp>
      <p:sp>
        <p:nvSpPr>
          <p:cNvPr id="27" name="TextBox 26"/>
          <p:cNvSpPr txBox="1"/>
          <p:nvPr/>
        </p:nvSpPr>
        <p:spPr>
          <a:xfrm>
            <a:off x="6656831" y="2834640"/>
            <a:ext cx="219456" cy="402336"/>
          </a:xfrm>
          <a:prstGeom prst="rect">
            <a:avLst/>
          </a:prstGeom>
          <a:noFill/>
        </p:spPr>
        <p:txBody>
          <a:bodyPr wrap="square" anchor="t" tIns="0" bIns="0">
            <a:spAutoFit/>
          </a:bodyPr>
          <a:lstStyle/>
          <a:p>
            <a:pPr algn="ctr"/>
            <a:r>
              <a:rPr sz="1600" b="1">
                <a:solidFill>
                  <a:srgbClr val="1F2A5C"/>
                </a:solidFill>
                <a:latin typeface="メイリオ"/>
                <a:ea typeface="メイリオ"/>
              </a:rPr>
              <a:t>▶</a:t>
            </a:r>
          </a:p>
        </p:txBody>
      </p:sp>
      <p:sp>
        <p:nvSpPr>
          <p:cNvPr id="28" name="Rounded Rectangle 27"/>
          <p:cNvSpPr/>
          <p:nvPr/>
        </p:nvSpPr>
        <p:spPr>
          <a:xfrm>
            <a:off x="6858000" y="1188720"/>
            <a:ext cx="3017520" cy="3749039"/>
          </a:xfrm>
          <a:prstGeom prst="roundRect">
            <a:avLst>
              <a:gd name="adj" fmla="val 8000"/>
            </a:avLst>
          </a:prstGeom>
          <a:noFill/>
          <a:ln w="15875">
            <a:solidFill>
              <a:srgbClr val="008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986016" y="1335024"/>
            <a:ext cx="2761487" cy="475488"/>
          </a:xfrm>
          <a:prstGeom prst="roundRect">
            <a:avLst>
              <a:gd name="adj" fmla="val 14000"/>
            </a:avLst>
          </a:prstGeom>
          <a:solidFill>
            <a:srgbClr val="00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6016" y="1408176"/>
            <a:ext cx="2761487" cy="347472"/>
          </a:xfrm>
          <a:prstGeom prst="rect">
            <a:avLst/>
          </a:prstGeom>
          <a:noFill/>
        </p:spPr>
        <p:txBody>
          <a:bodyPr wrap="square" anchor="t" tIns="0" bIns="0">
            <a:spAutoFit/>
          </a:bodyPr>
          <a:lstStyle/>
          <a:p>
            <a:pPr algn="ctr"/>
            <a:r>
              <a:rPr sz="1400" b="1">
                <a:solidFill>
                  <a:srgbClr val="FFFFFF"/>
                </a:solidFill>
                <a:latin typeface="メイリオ"/>
                <a:ea typeface="メイリオ"/>
              </a:rPr>
              <a:t>STEP 3　満席の仕上げ</a:t>
            </a:r>
          </a:p>
        </p:txBody>
      </p:sp>
      <p:sp>
        <p:nvSpPr>
          <p:cNvPr id="31" name="TextBox 30"/>
          <p:cNvSpPr txBox="1"/>
          <p:nvPr/>
        </p:nvSpPr>
        <p:spPr>
          <a:xfrm>
            <a:off x="7095744" y="2011680"/>
            <a:ext cx="2578608" cy="274320"/>
          </a:xfrm>
          <a:prstGeom prst="rect">
            <a:avLst/>
          </a:prstGeom>
          <a:noFill/>
        </p:spPr>
        <p:txBody>
          <a:bodyPr wrap="square" anchor="t" tIns="0" bIns="0">
            <a:spAutoFit/>
          </a:bodyPr>
          <a:lstStyle/>
          <a:p>
            <a:pPr algn="l"/>
            <a:r>
              <a:rPr sz="1300" b="0">
                <a:solidFill>
                  <a:srgbClr val="333333"/>
                </a:solidFill>
                <a:latin typeface="メイリオ"/>
                <a:ea typeface="メイリオ"/>
              </a:rPr>
              <a:t>月5〜6回の開催枠に合わせて</a:t>
            </a:r>
          </a:p>
        </p:txBody>
      </p:sp>
      <p:sp>
        <p:nvSpPr>
          <p:cNvPr id="32" name="TextBox 31"/>
          <p:cNvSpPr txBox="1"/>
          <p:nvPr/>
        </p:nvSpPr>
        <p:spPr>
          <a:xfrm>
            <a:off x="7095744" y="2286000"/>
            <a:ext cx="2578608" cy="365760"/>
          </a:xfrm>
          <a:prstGeom prst="rect">
            <a:avLst/>
          </a:prstGeom>
          <a:noFill/>
        </p:spPr>
        <p:txBody>
          <a:bodyPr wrap="square" anchor="t" tIns="0" bIns="0">
            <a:spAutoFit/>
          </a:bodyPr>
          <a:lstStyle/>
          <a:p>
            <a:pPr algn="l"/>
            <a:r>
              <a:rPr sz="1500" b="1">
                <a:solidFill>
                  <a:srgbClr val="008A45"/>
                </a:solidFill>
                <a:latin typeface="メイリオ"/>
                <a:ea typeface="メイリオ"/>
              </a:rPr>
              <a:t>空き枠連動の直前配信</a:t>
            </a:r>
          </a:p>
        </p:txBody>
      </p:sp>
      <p:cxnSp>
        <p:nvCxnSpPr>
          <p:cNvPr id="33" name="Connector 32"/>
          <p:cNvCxnSpPr/>
          <p:nvPr/>
        </p:nvCxnSpPr>
        <p:spPr>
          <a:xfrm>
            <a:off x="7095744" y="2743200"/>
            <a:ext cx="2542032"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095744" y="2962656"/>
            <a:ext cx="2578608" cy="274320"/>
          </a:xfrm>
          <a:prstGeom prst="rect">
            <a:avLst/>
          </a:prstGeom>
          <a:noFill/>
        </p:spPr>
        <p:txBody>
          <a:bodyPr wrap="square" anchor="t" tIns="0" bIns="0">
            <a:spAutoFit/>
          </a:bodyPr>
          <a:lstStyle/>
          <a:p>
            <a:pPr algn="l"/>
            <a:r>
              <a:rPr sz="1300" b="0">
                <a:solidFill>
                  <a:srgbClr val="333333"/>
                </a:solidFill>
                <a:latin typeface="メイリオ"/>
                <a:ea typeface="メイリオ"/>
              </a:rPr>
              <a:t>前日リマインドで</a:t>
            </a:r>
          </a:p>
        </p:txBody>
      </p:sp>
      <p:sp>
        <p:nvSpPr>
          <p:cNvPr id="35" name="TextBox 34"/>
          <p:cNvSpPr txBox="1"/>
          <p:nvPr/>
        </p:nvSpPr>
        <p:spPr>
          <a:xfrm>
            <a:off x="7095744" y="3236976"/>
            <a:ext cx="2578608" cy="365760"/>
          </a:xfrm>
          <a:prstGeom prst="rect">
            <a:avLst/>
          </a:prstGeom>
          <a:noFill/>
        </p:spPr>
        <p:txBody>
          <a:bodyPr wrap="square" anchor="t" tIns="0" bIns="0">
            <a:spAutoFit/>
          </a:bodyPr>
          <a:lstStyle/>
          <a:p>
            <a:pPr algn="l"/>
            <a:r>
              <a:rPr sz="1500" b="1">
                <a:solidFill>
                  <a:srgbClr val="008A45"/>
                </a:solidFill>
                <a:latin typeface="メイリオ"/>
                <a:ea typeface="メイリオ"/>
              </a:rPr>
              <a:t>当日出席率を改善</a:t>
            </a:r>
          </a:p>
        </p:txBody>
      </p:sp>
      <p:cxnSp>
        <p:nvCxnSpPr>
          <p:cNvPr id="36" name="Connector 35"/>
          <p:cNvCxnSpPr/>
          <p:nvPr/>
        </p:nvCxnSpPr>
        <p:spPr>
          <a:xfrm>
            <a:off x="7095744" y="3694176"/>
            <a:ext cx="2542032" cy="0"/>
          </a:xfrm>
          <a:prstGeom prst="line">
            <a:avLst/>
          </a:prstGeom>
          <a:ln w="9525">
            <a:solidFill>
              <a:srgbClr val="D5D9E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095744" y="3913632"/>
            <a:ext cx="2578608" cy="274320"/>
          </a:xfrm>
          <a:prstGeom prst="rect">
            <a:avLst/>
          </a:prstGeom>
          <a:noFill/>
        </p:spPr>
        <p:txBody>
          <a:bodyPr wrap="square" anchor="t" tIns="0" bIns="0">
            <a:spAutoFit/>
          </a:bodyPr>
          <a:lstStyle/>
          <a:p>
            <a:pPr algn="l"/>
            <a:r>
              <a:rPr sz="1300" b="0">
                <a:solidFill>
                  <a:srgbClr val="333333"/>
                </a:solidFill>
                <a:latin typeface="メイリオ"/>
                <a:ea typeface="メイリオ"/>
              </a:rPr>
              <a:t>枠が埋まる状態を</a:t>
            </a:r>
          </a:p>
        </p:txBody>
      </p:sp>
      <p:sp>
        <p:nvSpPr>
          <p:cNvPr id="38" name="TextBox 37"/>
          <p:cNvSpPr txBox="1"/>
          <p:nvPr/>
        </p:nvSpPr>
        <p:spPr>
          <a:xfrm>
            <a:off x="7095744" y="4187952"/>
            <a:ext cx="2578608" cy="365760"/>
          </a:xfrm>
          <a:prstGeom prst="rect">
            <a:avLst/>
          </a:prstGeom>
          <a:noFill/>
        </p:spPr>
        <p:txBody>
          <a:bodyPr wrap="square" anchor="t" tIns="0" bIns="0">
            <a:spAutoFit/>
          </a:bodyPr>
          <a:lstStyle/>
          <a:p>
            <a:pPr algn="l"/>
            <a:r>
              <a:rPr sz="1500" b="1">
                <a:solidFill>
                  <a:srgbClr val="008A45"/>
                </a:solidFill>
                <a:latin typeface="メイリオ"/>
                <a:ea typeface="メイリオ"/>
              </a:rPr>
              <a:t>仕組みで維持</a:t>
            </a:r>
          </a:p>
        </p:txBody>
      </p:sp>
      <p:sp>
        <p:nvSpPr>
          <p:cNvPr id="39" name="Rounded Rectangle 38"/>
          <p:cNvSpPr/>
          <p:nvPr/>
        </p:nvSpPr>
        <p:spPr>
          <a:xfrm>
            <a:off x="384048" y="5138928"/>
            <a:ext cx="9134856" cy="530352"/>
          </a:xfrm>
          <a:prstGeom prst="roundRect">
            <a:avLst>
              <a:gd name="adj" fmla="val 1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メイリオ"/>
                <a:ea typeface="メイリオ"/>
              </a:rPr>
              <a:t>まず確実な下限から始め、実数確認後に「100件への到達計画」を数字でご提示します</a:t>
            </a:r>
          </a:p>
        </p:txBody>
      </p:sp>
      <p:sp>
        <p:nvSpPr>
          <p:cNvPr id="40" name="TextBox 39"/>
          <p:cNvSpPr txBox="1"/>
          <p:nvPr/>
        </p:nvSpPr>
        <p:spPr>
          <a:xfrm>
            <a:off x="384048" y="5833872"/>
            <a:ext cx="9134856" cy="548640"/>
          </a:xfrm>
          <a:prstGeom prst="rect">
            <a:avLst/>
          </a:prstGeom>
          <a:noFill/>
        </p:spPr>
        <p:txBody>
          <a:bodyPr wrap="square" anchor="t" tIns="0" bIns="0">
            <a:spAutoFit/>
          </a:bodyPr>
          <a:lstStyle/>
          <a:p>
            <a:pPr algn="l"/>
            <a:r>
              <a:rPr sz="1100" b="0">
                <a:solidFill>
                  <a:srgbClr val="808080"/>
                </a:solidFill>
                <a:latin typeface="メイリオ"/>
                <a:ea typeface="メイリオ"/>
              </a:rPr>
              <a:t>※STEP2の上振れは、12,000人が有効な配信先である場合の母数換算です。実数にて補正します。</a:t>
            </a:r>
          </a:p>
          <a:p>
            <a:pPr algn="l"/>
            <a:r>
              <a:rPr sz="1100" b="0">
                <a:solidFill>
                  <a:srgbClr val="808080"/>
                </a:solidFill>
                <a:latin typeface="メイリオ"/>
                <a:ea typeface="メイリオ"/>
              </a:rPr>
              <a:t>※申込件数が増えた場合、成果報酬（セミナー申込 2万円/件）も件数に応じて増加します。</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3310128" cy="338514"/>
          </a:xfrm>
          <a:prstGeom prst="rect">
            <a:avLst/>
          </a:prstGeom>
          <a:noFill/>
          <a:ln>
            <a:noFill/>
          </a:ln>
        </p:spPr>
        <p:txBody>
          <a:bodyPr spcFirstLastPara="1" wrap="square" lIns="91425" tIns="45700" rIns="91425" bIns="45700" anchor="ctr" anchorCtr="0">
            <a:spAutoFit/>
          </a:bodyPr>
          <a:lstStyle/>
          <a:p>
            <a:pPr lvl="0"/>
            <a:r>
              <a:rPr lang="ja-JP" altLang="en-US" sz="2000" b="1" dirty="0">
                <a:solidFill>
                  <a:srgbClr val="323366"/>
                </a:solidFill>
                <a:latin typeface="メイリオ" panose="020B0604030504040204" pitchFamily="50" charset="-128"/>
                <a:ea typeface="メイリオ" panose="020B0604030504040204" pitchFamily="50" charset="-128"/>
                <a:cs typeface="Meiryo"/>
                <a:sym typeface="Meiryo"/>
              </a:rPr>
              <a:t>ご提供する運用プラン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8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800" b="1" dirty="0">
                <a:latin typeface="メイリオ" panose="020B0604030504040204" pitchFamily="50" charset="-128"/>
                <a:ea typeface="メイリオ" panose="020B0604030504040204" pitchFamily="50" charset="-128"/>
                <a:cs typeface="Meiryo"/>
                <a:sym typeface="Meiryo"/>
              </a:rPr>
              <a:t>構築から月次の運用・改善までを一括でご提供します。</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err="1">
                <a:solidFill>
                  <a:srgbClr val="1E2761"/>
                </a:solidFill>
                <a:latin typeface="メイリオ" panose="020B0604030504040204" pitchFamily="50" charset="-128"/>
                <a:ea typeface="メイリオ" panose="020B0604030504040204" pitchFamily="50" charset="-128"/>
                <a:cs typeface="Calibri" pitchFamily="34" charset="-120"/>
              </a:rPr>
              <a:t>2導線の全体設計</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dirty="0">
                <a:solidFill>
                  <a:srgbClr val="64748B"/>
                </a:solidFill>
                <a:latin typeface="メイリオ" panose="020B0604030504040204" pitchFamily="50" charset="-128"/>
                <a:ea typeface="メイリオ" panose="020B0604030504040204" pitchFamily="50" charset="-128"/>
                <a:cs typeface="Calibri" pitchFamily="34" charset="-120"/>
              </a:rPr>
              <a:t>セミナー申込・EC購入までの動線設計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4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4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4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4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友だち追加直後〜申込・購入まで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400" b="1" dirty="0" err="1">
                <a:solidFill>
                  <a:srgbClr val="1E2761"/>
                </a:solidFill>
                <a:latin typeface="メイリオ" panose="020B0604030504040204" pitchFamily="50" charset="-128"/>
                <a:ea typeface="メイリオ" panose="020B0604030504040204" pitchFamily="50" charset="-128"/>
                <a:cs typeface="Calibri" pitchFamily="34" charset="-120"/>
              </a:rPr>
              <a:t>興味アンケートの設計</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dirty="0" err="1">
                <a:solidFill>
                  <a:srgbClr val="64748B"/>
                </a:solidFill>
                <a:latin typeface="メイリオ" panose="020B0604030504040204" pitchFamily="50" charset="-128"/>
                <a:ea typeface="メイリオ" panose="020B0604030504040204" pitchFamily="50" charset="-128"/>
                <a:cs typeface="Calibri" pitchFamily="34" charset="-120"/>
              </a:rPr>
              <a:t>3問アンケートの設問・タグ・出し分けロジックの構築</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400" b="1" dirty="0">
                <a:solidFill>
                  <a:srgbClr val="1E2761"/>
                </a:solidFill>
                <a:latin typeface="メイリオ" panose="020B0604030504040204" pitchFamily="50" charset="-128"/>
                <a:ea typeface="メイリオ" panose="020B0604030504040204" pitchFamily="50" charset="-128"/>
                <a:cs typeface="Calibri" pitchFamily="34" charset="-120"/>
              </a:rPr>
              <a:t>セグメント配信設定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dirty="0">
                <a:latin typeface="メイリオ" panose="020B0604030504040204" pitchFamily="50" charset="-128"/>
                <a:ea typeface="メイリオ" panose="020B0604030504040204" pitchFamily="50" charset="-128"/>
              </a:rPr>
              <a:t>セミナー派・EC派・参加後の出し分け設定</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400" b="1" dirty="0" err="1">
                <a:solidFill>
                  <a:srgbClr val="1E2761"/>
                </a:solidFill>
                <a:latin typeface="メイリオ" panose="020B0604030504040204" pitchFamily="50" charset="-128"/>
                <a:ea typeface="メイリオ" panose="020B0604030504040204" pitchFamily="50" charset="-128"/>
                <a:cs typeface="Calibri" pitchFamily="34" charset="-120"/>
              </a:rPr>
              <a:t>配信運用・改善（月次）</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dirty="0" err="1">
                <a:solidFill>
                  <a:srgbClr val="64748B"/>
                </a:solidFill>
                <a:latin typeface="メイリオ" panose="020B0604030504040204" pitchFamily="50" charset="-128"/>
                <a:ea typeface="メイリオ" panose="020B0604030504040204" pitchFamily="50" charset="-128"/>
                <a:cs typeface="Calibri" pitchFamily="34" charset="-120"/>
              </a:rPr>
              <a:t>配信結果を見ての企画・文面の改善</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400" b="1" dirty="0" err="1">
                <a:solidFill>
                  <a:srgbClr val="1E2761"/>
                </a:solidFill>
                <a:latin typeface="メイリオ" panose="020B0604030504040204" pitchFamily="50" charset="-128"/>
                <a:ea typeface="メイリオ" panose="020B0604030504040204" pitchFamily="50" charset="-128"/>
                <a:cs typeface="Calibri" pitchFamily="34" charset="-120"/>
              </a:rPr>
              <a:t>UTM計測整備</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dirty="0" err="1">
                <a:solidFill>
                  <a:srgbClr val="64748B"/>
                </a:solidFill>
                <a:latin typeface="メイリオ" panose="020B0604030504040204" pitchFamily="50" charset="-128"/>
                <a:ea typeface="メイリオ" panose="020B0604030504040204" pitchFamily="50" charset="-128"/>
                <a:cs typeface="Calibri" pitchFamily="34" charset="-120"/>
              </a:rPr>
              <a:t>LINE経由の申込・購入を計測できる状態に</a:t>
            </a:r>
            <a:r>
              <a:rPr lang="ja-JP" altLang="en-US" sz="1300" dirty="0">
                <a:solidFill>
                  <a:srgbClr val="64748B"/>
                </a:solidFill>
                <a:latin typeface="メイリオ" panose="020B0604030504040204" pitchFamily="50" charset="-128"/>
                <a:ea typeface="メイリオ" panose="020B0604030504040204" pitchFamily="50" charset="-128"/>
                <a:cs typeface="Calibri" pitchFamily="34" charset="-120"/>
              </a:rPr>
              <a:t/>
            </a:r>
            <a:r>
              <a:rPr lang="en-US" altLang="ja-JP" sz="1300" dirty="0" err="1">
                <a:solidFill>
                  <a:srgbClr val="64748B"/>
                </a:solidFill>
                <a:latin typeface="メイリオ" panose="020B0604030504040204" pitchFamily="50" charset="-128"/>
                <a:ea typeface="メイリオ" panose="020B0604030504040204" pitchFamily="50" charset="-128"/>
                <a:cs typeface="Calibri" pitchFamily="34" charset="-120"/>
              </a:rPr>
              <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400" b="1" dirty="0">
                <a:solidFill>
                  <a:srgbClr val="1E2761"/>
                </a:solidFill>
                <a:latin typeface="メイリオ" panose="020B0604030504040204" pitchFamily="50" charset="-128"/>
                <a:ea typeface="メイリオ" panose="020B0604030504040204" pitchFamily="50" charset="-128"/>
                <a:cs typeface="Calibri" pitchFamily="34" charset="-120"/>
              </a:rPr>
              <a:t>リッチメニュー再設計</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dirty="0">
                <a:latin typeface="メイリオ" panose="020B0604030504040204" pitchFamily="50" charset="-128"/>
                <a:ea typeface="メイリオ" panose="020B0604030504040204" pitchFamily="50" charset="-128"/>
              </a:rPr>
              <a:t>セミナー面・EC面のタブ切替メニューを制作</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a:p>
            <a:pPr algn="ctr"/>
            <a:r>
              <a:rPr kumimoji="1" lang="en-US" altLang="ja-JP" sz="2000" b="1" dirty="0">
                <a:solidFill>
                  <a:schemeClr val="bg1"/>
                </a:solidFill>
                <a:latin typeface="メイリオ" panose="020B0604030504040204" pitchFamily="50" charset="-128"/>
                <a:ea typeface="メイリオ" panose="020B0604030504040204" pitchFamily="50" charset="-128"/>
              </a:rPr>
              <a:t>23.5万円</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960120"/>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a:p>
            <a:pPr algn="ctr"/>
            <a:r>
              <a:rPr kumimoji="1" lang="en-US" altLang="ja-JP" sz="1500" b="1" dirty="0">
                <a:solidFill>
                  <a:schemeClr val="bg1"/>
                </a:solidFill>
                <a:latin typeface="メイリオ" panose="020B0604030504040204" pitchFamily="50" charset="-128"/>
                <a:ea typeface="メイリオ" panose="020B0604030504040204" pitchFamily="50" charset="-128"/>
              </a:rPr>
              <a:t>19.98万円＋成果報酬</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3041576"/>
            <a:ext cx="875635" cy="16231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882127" y="2139696"/>
            <a:ext cx="1463040" cy="246221"/>
          </a:xfrm>
          <a:prstGeom prst="rect">
            <a:avLst/>
          </a:prstGeom>
          <a:noFill/>
        </p:spPr>
        <p:txBody>
          <a:bodyPr wrap="square">
            <a:spAutoFit/>
          </a:bodyPr>
          <a:lstStyle/>
          <a:p>
            <a:pPr algn="ctr"/>
            <a:r>
              <a:rPr kumimoji="1" lang="en-US" altLang="ja-JP" sz="900" dirty="0">
                <a:solidFill>
                  <a:srgbClr val="FF0000"/>
                </a:solidFill>
                <a:latin typeface="メイリオ" panose="020B0604030504040204" pitchFamily="50" charset="-128"/>
                <a:ea typeface="メイリオ" panose="020B0604030504040204" pitchFamily="50" charset="-128"/>
              </a:rPr>
              <a:t>※本数で変動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
        <p:nvSpPr>
          <p:cNvPr id="112" name="TextBox 111"/>
          <p:cNvSpPr txBox="1"/>
          <p:nvPr/>
        </p:nvSpPr>
        <p:spPr>
          <a:xfrm>
            <a:off x="320040" y="3657600"/>
            <a:ext cx="3566160" cy="274320"/>
          </a:xfrm>
          <a:prstGeom prst="rect">
            <a:avLst/>
          </a:prstGeom>
          <a:noFill/>
        </p:spPr>
        <p:txBody>
          <a:bodyPr wrap="square">
            <a:spAutoFit/>
          </a:bodyPr>
          <a:lstStyle/>
          <a:p>
            <a:pPr algn="l"/>
            <a:r>
              <a:rPr sz="900" b="0">
                <a:solidFill>
                  <a:srgbClr val="808080"/>
                </a:solidFill>
                <a:latin typeface="メイリオ"/>
                <a:ea typeface="メイリオ"/>
              </a:rPr>
              <a:t>※成果報酬：セミナー2万円／EC2,000円（計測整備後から）</a:t>
            </a:r>
          </a:p>
        </p:txBody>
      </p:sp>
    </p:spTree>
    <p:extLst>
      <p:ext uri="{BB962C8B-B14F-4D97-AF65-F5344CB8AC3E}">
        <p14:creationId xmlns:p14="http://schemas.microsoft.com/office/powerpoint/2010/main" val="2369353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27432" rIns="0" bIns="27432" anchor="ctr">
            <a:spAutoFit/>
          </a:bodyPr>
          <a:lstStyle/>
          <a:p>
            <a:pPr algn="l"/>
            <a:r>
              <a:rPr sz="2000" b="1">
                <a:solidFill>
                  <a:srgbClr val="002060"/>
                </a:solidFill>
                <a:latin typeface="メイリオ"/>
                <a:ea typeface="メイリオ"/>
                <a:cs typeface="メイリオ"/>
              </a:rPr>
              <a:t>6ヶ月後、そしてその先のテン・エンタープライズ様</a:t>
            </a:r>
          </a:p>
        </p:txBody>
      </p:sp>
      <p:sp>
        <p:nvSpPr>
          <p:cNvPr id="3" name="TextBox 2"/>
          <p:cNvSpPr txBox="1"/>
          <p:nvPr/>
        </p:nvSpPr>
        <p:spPr>
          <a:xfrm>
            <a:off x="548640" y="621792"/>
            <a:ext cx="8778240" cy="502920"/>
          </a:xfrm>
          <a:prstGeom prst="rect">
            <a:avLst/>
          </a:prstGeom>
          <a:noFill/>
        </p:spPr>
        <p:txBody>
          <a:bodyPr wrap="square" lIns="0" tIns="27432" rIns="0" bIns="27432" anchor="ctr">
            <a:spAutoFit/>
          </a:bodyPr>
          <a:lstStyle/>
          <a:p>
            <a:pPr algn="l">
              <a:lnSpc>
                <a:spcPct val="105000"/>
              </a:lnSpc>
            </a:pPr>
            <a:r>
              <a:rPr sz="1800" b="1">
                <a:solidFill>
                  <a:srgbClr val="333333"/>
                </a:solidFill>
                <a:latin typeface="メイリオ"/>
                <a:ea typeface="メイリオ"/>
                <a:cs typeface="メイリオ"/>
              </a:rPr>
              <a:t>告知ツールで終わらせず、12,000人を「売上をつくる顧客資産」に変えます。</a:t>
            </a:r>
          </a:p>
        </p:txBody>
      </p:sp>
      <p:sp>
        <p:nvSpPr>
          <p:cNvPr id="4" name="Rectangle 3"/>
          <p:cNvSpPr/>
          <p:nvPr/>
        </p:nvSpPr>
        <p:spPr>
          <a:xfrm>
            <a:off x="548640" y="1243584"/>
            <a:ext cx="4160520" cy="42062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いま</a:t>
            </a:r>
          </a:p>
        </p:txBody>
      </p:sp>
      <p:sp>
        <p:nvSpPr>
          <p:cNvPr id="5" name="TextBox 4"/>
          <p:cNvSpPr txBox="1"/>
          <p:nvPr/>
        </p:nvSpPr>
        <p:spPr>
          <a:xfrm>
            <a:off x="548640" y="2421090"/>
            <a:ext cx="2331720" cy="3291840"/>
          </a:xfrm>
          <a:prstGeom prst="rect">
            <a:avLst/>
          </a:prstGeom>
          <a:noFill/>
        </p:spPr>
        <p:txBody>
          <a:bodyPr wrap="square" lIns="18288" tIns="27432" rIns="54864" bIns="27432" anchor="t">
            <a:spAutoFit/>
          </a:bodyPr>
          <a:lstStyle/>
          <a:p>
            <a:pPr algn="l">
              <a:lnSpc>
                <a:spcPct val="115000"/>
              </a:lnSpc>
              <a:spcAft>
                <a:spcPts val="7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12,000人にセミナー告知を一斉配信するだけ</a:t>
            </a:r>
            <a:endParaRPr sz="1100" dirty="0">
              <a:solidFill>
                <a:srgbClr val="333333"/>
              </a:solidFill>
              <a:latin typeface="メイリオ"/>
              <a:ea typeface="メイリオ"/>
              <a:cs typeface="メイリオ"/>
            </a:endParaRPr>
          </a:p>
          <a:p>
            <a:pPr algn="l">
              <a:lnSpc>
                <a:spcPct val="115000"/>
              </a:lnSpc>
              <a:spcAft>
                <a:spcPts val="7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ECはメニューに置かれているだけ</a:t>
            </a:r>
            <a:endParaRPr sz="1100" dirty="0">
              <a:solidFill>
                <a:srgbClr val="333333"/>
              </a:solidFill>
              <a:latin typeface="メイリオ"/>
              <a:ea typeface="メイリオ"/>
              <a:cs typeface="メイリオ"/>
            </a:endParaRPr>
          </a:p>
          <a:p>
            <a:pPr algn="l">
              <a:lnSpc>
                <a:spcPct val="115000"/>
              </a:lnSpc>
              <a:spcAft>
                <a:spcPts val="7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LINE成果が測れない</a:t>
            </a:r>
            <a:endParaRPr sz="1100" dirty="0">
              <a:solidFill>
                <a:srgbClr val="333333"/>
              </a:solidFill>
              <a:latin typeface="メイリオ"/>
              <a:ea typeface="メイリオ"/>
              <a:cs typeface="メイリオ"/>
            </a:endParaRPr>
          </a:p>
        </p:txBody>
      </p:sp>
      <p:sp>
        <p:nvSpPr>
          <p:cNvPr id="7" name="TextBox 6"/>
          <p:cNvSpPr txBox="1"/>
          <p:nvPr/>
        </p:nvSpPr>
        <p:spPr>
          <a:xfrm>
            <a:off x="3017520" y="4882895"/>
            <a:ext cx="1527048" cy="219456"/>
          </a:xfrm>
          <a:prstGeom prst="rect">
            <a:avLst/>
          </a:prstGeom>
          <a:noFill/>
        </p:spPr>
        <p:txBody>
          <a:bodyPr wrap="square" lIns="0" tIns="27432" rIns="0" bIns="27432" anchor="ctr">
            <a:spAutoFit/>
          </a:bodyPr>
          <a:lstStyle/>
          <a:p>
            <a:pPr algn="ctr"/>
            <a:r>
              <a:rPr sz="1200">
                <a:solidFill>
                  <a:srgbClr val="808080"/>
                </a:solidFill>
                <a:latin typeface="メイリオ"/>
                <a:ea typeface="メイリオ"/>
                <a:cs typeface="メイリオ"/>
              </a:rPr>
              <a:t>▲ 現在</a:t>
            </a:r>
          </a:p>
        </p:txBody>
      </p:sp>
      <p:sp>
        <p:nvSpPr>
          <p:cNvPr id="8" name="Rectangle 7"/>
          <p:cNvSpPr/>
          <p:nvPr/>
        </p:nvSpPr>
        <p:spPr>
          <a:xfrm>
            <a:off x="5166360" y="1243584"/>
            <a:ext cx="4160520" cy="420624"/>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6ヶ月後〜</a:t>
            </a:r>
          </a:p>
        </p:txBody>
      </p:sp>
      <p:sp>
        <p:nvSpPr>
          <p:cNvPr id="9" name="TextBox 8"/>
          <p:cNvSpPr txBox="1"/>
          <p:nvPr/>
        </p:nvSpPr>
        <p:spPr>
          <a:xfrm>
            <a:off x="5166360" y="2421090"/>
            <a:ext cx="2331720" cy="3291840"/>
          </a:xfrm>
          <a:prstGeom prst="rect">
            <a:avLst/>
          </a:prstGeom>
          <a:noFill/>
        </p:spPr>
        <p:txBody>
          <a:bodyPr wrap="square" lIns="18288" tIns="27432" rIns="54864" bIns="27432" anchor="t">
            <a:spAutoFit/>
          </a:bodyPr>
          <a:lstStyle/>
          <a:p>
            <a:pPr algn="l">
              <a:lnSpc>
                <a:spcPct val="115000"/>
              </a:lnSpc>
              <a:spcAft>
                <a:spcPts val="700"/>
              </a:spcAft>
            </a:pPr>
            <a:r>
              <a:rPr sz="1400" dirty="0">
                <a:solidFill>
                  <a:srgbClr val="333333"/>
                </a:solidFill>
                <a:latin typeface="メイリオ"/>
                <a:ea typeface="メイリオ"/>
                <a:cs typeface="メイリオ"/>
              </a:rPr>
              <a:t>・興味タグ付きの「使える名簿」が完成</a:t>
            </a:r>
          </a:p>
          <a:p>
            <a:pPr algn="l">
              <a:lnSpc>
                <a:spcPct val="115000"/>
              </a:lnSpc>
              <a:spcAft>
                <a:spcPts val="700"/>
              </a:spcAft>
            </a:pPr>
            <a:r>
              <a:rPr sz="1400" dirty="0">
                <a:solidFill>
                  <a:srgbClr val="333333"/>
                </a:solidFill>
                <a:latin typeface="メイリオ"/>
                <a:ea typeface="メイリオ"/>
                <a:cs typeface="メイリオ"/>
              </a:rPr>
              <a:t>・セミナー⇄ECの相互送客が自動で回る</a:t>
            </a:r>
            <a:endParaRPr sz="1100" dirty="0">
              <a:solidFill>
                <a:srgbClr val="333333"/>
              </a:solidFill>
              <a:latin typeface="メイリオ"/>
              <a:ea typeface="メイリオ"/>
              <a:cs typeface="メイリオ"/>
            </a:endParaRPr>
          </a:p>
          <a:p>
            <a:pPr algn="l">
              <a:lnSpc>
                <a:spcPct val="115000"/>
              </a:lnSpc>
              <a:spcAft>
                <a:spcPts val="700"/>
              </a:spcAft>
            </a:pPr>
            <a:r>
              <a:rPr sz="1400" dirty="0">
                <a:solidFill>
                  <a:srgbClr val="333333"/>
                </a:solidFill>
                <a:latin typeface="メイリオ"/>
                <a:ea typeface="メイリオ"/>
                <a:cs typeface="メイリオ"/>
              </a:rPr>
              <a:t>・申込・購入が数字で見えて改善が回る</a:t>
            </a:r>
            <a:endParaRPr sz="1100" dirty="0">
              <a:solidFill>
                <a:srgbClr val="333333"/>
              </a:solidFill>
              <a:latin typeface="メイリオ"/>
              <a:ea typeface="メイリオ"/>
              <a:cs typeface="メイリオ"/>
            </a:endParaRPr>
          </a:p>
          <a:p>
            <a:pPr algn="l">
              <a:lnSpc>
                <a:spcPct val="115000"/>
              </a:lnSpc>
              <a:spcAft>
                <a:spcPts val="700"/>
              </a:spcAft>
            </a:pPr>
            <a:r>
              <a:rPr sz="1400" dirty="0">
                <a:solidFill>
                  <a:srgbClr val="333333"/>
                </a:solidFill>
                <a:latin typeface="メイリオ"/>
                <a:ea typeface="メイリオ"/>
                <a:cs typeface="メイリオ"/>
              </a:rPr>
              <a:t>・CV112件が実績資産に</a:t>
            </a:r>
            <a:endParaRPr sz="1100" dirty="0">
              <a:solidFill>
                <a:srgbClr val="333333"/>
              </a:solidFill>
              <a:latin typeface="メイリオ"/>
              <a:ea typeface="メイリオ"/>
              <a:cs typeface="メイリオ"/>
            </a:endParaRPr>
          </a:p>
        </p:txBody>
      </p:sp>
      <p:sp>
        <p:nvSpPr>
          <p:cNvPr id="11" name="TextBox 10"/>
          <p:cNvSpPr txBox="1"/>
          <p:nvPr/>
        </p:nvSpPr>
        <p:spPr>
          <a:xfrm>
            <a:off x="7635240" y="5029199"/>
            <a:ext cx="1600200" cy="219456"/>
          </a:xfrm>
          <a:prstGeom prst="rect">
            <a:avLst/>
          </a:prstGeom>
          <a:noFill/>
        </p:spPr>
        <p:txBody>
          <a:bodyPr wrap="square" lIns="0" tIns="27432" rIns="0" bIns="27432" anchor="ctr">
            <a:spAutoFit/>
          </a:bodyPr>
          <a:lstStyle/>
          <a:p>
            <a:pPr algn="ctr"/>
            <a:r>
              <a:rPr sz="1200">
                <a:solidFill>
                  <a:srgbClr val="808080"/>
                </a:solidFill>
                <a:latin typeface="メイリオ"/>
                <a:ea typeface="メイリオ"/>
                <a:cs typeface="メイリオ"/>
              </a:rPr>
              <a:t>▲ 6ヶ月後</a:t>
            </a:r>
          </a:p>
        </p:txBody>
      </p:sp>
      <p:sp>
        <p:nvSpPr>
          <p:cNvPr id="12" name="Rectangle 11"/>
          <p:cNvSpPr/>
          <p:nvPr/>
        </p:nvSpPr>
        <p:spPr>
          <a:xfrm>
            <a:off x="548640" y="5468112"/>
            <a:ext cx="877824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お客様には「ちょうどいい案内」を、貴社には「配信すれば売れる名簿」を</a:t>
            </a:r>
          </a:p>
        </p:txBody>
      </p:sp>
      <p:sp>
        <p:nvSpPr>
          <p:cNvPr id="15" name="Rounded Rectangle 14"/>
          <p:cNvSpPr/>
          <p:nvPr/>
        </p:nvSpPr>
        <p:spPr>
          <a:xfrm>
            <a:off x="3017520" y="1773936"/>
            <a:ext cx="1527048" cy="3054096"/>
          </a:xfrm>
          <a:prstGeom prst="roundRect">
            <a:avLst/>
          </a:prstGeom>
          <a:solidFill>
            <a:srgbClr val="F2F2F2"/>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777777"/>
                </a:solidFill>
                <a:latin typeface="メイリオ"/>
                <a:ea typeface="メイリオ"/>
              </a:rPr>
              <a:t>【実機スクショ】</a:t>
            </a:r>
          </a:p>
        </p:txBody>
      </p:sp>
      <p:sp>
        <p:nvSpPr>
          <p:cNvPr id="16" name="Rounded Rectangle 15"/>
          <p:cNvSpPr/>
          <p:nvPr/>
        </p:nvSpPr>
        <p:spPr>
          <a:xfrm>
            <a:off x="7635240" y="1773936"/>
            <a:ext cx="1600200" cy="3200400"/>
          </a:xfrm>
          <a:prstGeom prst="roundRect">
            <a:avLst/>
          </a:prstGeom>
          <a:solidFill>
            <a:srgbClr val="F2F2F2"/>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777777"/>
                </a:solidFill>
                <a:latin typeface="メイリオ"/>
                <a:ea typeface="メイリオ"/>
              </a:rPr>
              <a:t>【運用イメージ】</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37160"/>
            <a:ext cx="8778240" cy="365760"/>
          </a:xfrm>
          <a:prstGeom prst="rect">
            <a:avLst/>
          </a:prstGeom>
          <a:noFill/>
        </p:spPr>
        <p:txBody>
          <a:bodyPr wrap="square" anchor="t">
            <a:spAutoFit/>
          </a:bodyPr>
          <a:lstStyle/>
          <a:p>
            <a:pPr algn="l"/>
            <a:r>
              <a:rPr sz="2000" b="1">
                <a:solidFill>
                  <a:srgbClr val="002060"/>
                </a:solidFill>
                <a:latin typeface="メイリオ"/>
                <a:ea typeface="メイリオ"/>
              </a:rPr>
              <a:t>その先｜EC計測が整うと、できることが増える</a:t>
            </a:r>
          </a:p>
        </p:txBody>
      </p:sp>
      <p:sp>
        <p:nvSpPr>
          <p:cNvPr id="3" name="TextBox 2"/>
          <p:cNvSpPr txBox="1"/>
          <p:nvPr/>
        </p:nvSpPr>
        <p:spPr>
          <a:xfrm>
            <a:off x="384048" y="658368"/>
            <a:ext cx="9144000" cy="365760"/>
          </a:xfrm>
          <a:prstGeom prst="rect">
            <a:avLst/>
          </a:prstGeom>
          <a:noFill/>
        </p:spPr>
        <p:txBody>
          <a:bodyPr wrap="square" anchor="t">
            <a:spAutoFit/>
          </a:bodyPr>
          <a:lstStyle/>
          <a:p>
            <a:pPr algn="l"/>
            <a:r>
              <a:rPr sz="1800" b="1">
                <a:solidFill>
                  <a:srgbClr val="333333"/>
                </a:solidFill>
                <a:latin typeface="メイリオ"/>
                <a:ea typeface="メイリオ"/>
              </a:rPr>
              <a:t>今回つくるのは「届けて、測れる土台」です。この土台の上に、LTV起点の運用を載せていけます。</a:t>
            </a:r>
          </a:p>
        </p:txBody>
      </p:sp>
      <p:sp>
        <p:nvSpPr>
          <p:cNvPr id="4" name="Rounded Rectangle 3"/>
          <p:cNvSpPr/>
          <p:nvPr/>
        </p:nvSpPr>
        <p:spPr>
          <a:xfrm>
            <a:off x="329184" y="1207008"/>
            <a:ext cx="2944368" cy="3840480"/>
          </a:xfrm>
          <a:prstGeom prst="roundRect">
            <a:avLst>
              <a:gd name="adj" fmla="val 8000"/>
            </a:avLst>
          </a:prstGeom>
          <a:solidFill>
            <a:srgbClr val="F2F3F8"/>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353312"/>
            <a:ext cx="2688336"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99032"/>
            <a:ext cx="2688336" cy="384048"/>
          </a:xfrm>
          <a:prstGeom prst="rect">
            <a:avLst/>
          </a:prstGeom>
          <a:noFill/>
        </p:spPr>
        <p:txBody>
          <a:bodyPr wrap="square" anchor="t">
            <a:spAutoFit/>
          </a:bodyPr>
          <a:lstStyle/>
          <a:p>
            <a:pPr algn="ctr"/>
            <a:r>
              <a:rPr sz="1400" b="1">
                <a:solidFill>
                  <a:srgbClr val="FFFFFF"/>
                </a:solidFill>
                <a:latin typeface="メイリオ"/>
                <a:ea typeface="メイリオ"/>
              </a:rPr>
              <a:t>STEP 1　今回（〜2ヶ月目）</a:t>
            </a:r>
          </a:p>
        </p:txBody>
      </p:sp>
      <p:sp>
        <p:nvSpPr>
          <p:cNvPr id="7" name="TextBox 6"/>
          <p:cNvSpPr txBox="1"/>
          <p:nvPr/>
        </p:nvSpPr>
        <p:spPr>
          <a:xfrm>
            <a:off x="566928" y="1956816"/>
            <a:ext cx="2468880" cy="402336"/>
          </a:xfrm>
          <a:prstGeom prst="rect">
            <a:avLst/>
          </a:prstGeom>
          <a:noFill/>
        </p:spPr>
        <p:txBody>
          <a:bodyPr wrap="square" anchor="t">
            <a:spAutoFit/>
          </a:bodyPr>
          <a:lstStyle/>
          <a:p>
            <a:pPr algn="l"/>
            <a:r>
              <a:rPr sz="1400" b="1">
                <a:solidFill>
                  <a:srgbClr val="1F285A"/>
                </a:solidFill>
                <a:latin typeface="メイリオ"/>
                <a:ea typeface="メイリオ"/>
              </a:rPr>
              <a:t>「届けて測れる」状態に</a:t>
            </a:r>
          </a:p>
        </p:txBody>
      </p:sp>
      <p:sp>
        <p:nvSpPr>
          <p:cNvPr id="8" name="TextBox 7"/>
          <p:cNvSpPr txBox="1"/>
          <p:nvPr/>
        </p:nvSpPr>
        <p:spPr>
          <a:xfrm>
            <a:off x="566928" y="2487168"/>
            <a:ext cx="2505456" cy="1737360"/>
          </a:xfrm>
          <a:prstGeom prst="rect">
            <a:avLst/>
          </a:prstGeom>
          <a:noFill/>
        </p:spPr>
        <p:txBody>
          <a:bodyPr wrap="square" anchor="t">
            <a:spAutoFit/>
          </a:bodyPr>
          <a:lstStyle/>
          <a:p>
            <a:pPr algn="l"/>
            <a:r>
              <a:rPr sz="1400" b="0">
                <a:solidFill>
                  <a:srgbClr val="333333"/>
                </a:solidFill>
                <a:latin typeface="メイリオ"/>
                <a:ea typeface="メイリオ"/>
              </a:rPr>
              <a:t>・アンケートで興味タグ取得</a:t>
            </a:r>
          </a:p>
          <a:p>
            <a:pPr algn="l"/>
            <a:r>
              <a:rPr sz="1400" b="0">
                <a:solidFill>
                  <a:srgbClr val="333333"/>
                </a:solidFill>
                <a:latin typeface="メイリオ"/>
                <a:ea typeface="メイリオ"/>
              </a:rPr>
              <a:t>・セミナー・ECの2導線配信</a:t>
            </a:r>
          </a:p>
          <a:p>
            <a:pPr algn="l"/>
            <a:r>
              <a:rPr sz="1400" b="0">
                <a:solidFill>
                  <a:srgbClr val="333333"/>
                </a:solidFill>
                <a:latin typeface="メイリオ"/>
                <a:ea typeface="メイリオ"/>
              </a:rPr>
              <a:t>・UTM計測整備</a:t>
            </a:r>
          </a:p>
          <a:p>
            <a:pPr algn="l"/>
            <a:r>
              <a:rPr sz="1400" b="0">
                <a:solidFill>
                  <a:srgbClr val="333333"/>
                </a:solidFill>
                <a:latin typeface="メイリオ"/>
                <a:ea typeface="メイリオ"/>
              </a:rPr>
              <a:t>・離脱防止で新規友だち回収</a:t>
            </a:r>
          </a:p>
        </p:txBody>
      </p:sp>
      <p:sp>
        <p:nvSpPr>
          <p:cNvPr id="9" name="Rounded Rectangle 8"/>
          <p:cNvSpPr/>
          <p:nvPr/>
        </p:nvSpPr>
        <p:spPr>
          <a:xfrm>
            <a:off x="512064" y="4352544"/>
            <a:ext cx="2578608" cy="512064"/>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12064" y="4462272"/>
            <a:ext cx="2578608" cy="329184"/>
          </a:xfrm>
          <a:prstGeom prst="rect">
            <a:avLst/>
          </a:prstGeom>
          <a:noFill/>
        </p:spPr>
        <p:txBody>
          <a:bodyPr wrap="square" anchor="t">
            <a:spAutoFit/>
          </a:bodyPr>
          <a:lstStyle/>
          <a:p>
            <a:pPr algn="ctr"/>
            <a:r>
              <a:rPr sz="1300" b="1">
                <a:solidFill>
                  <a:srgbClr val="1F285A"/>
                </a:solidFill>
                <a:latin typeface="メイリオ"/>
                <a:ea typeface="メイリオ"/>
              </a:rPr>
              <a:t>費用：月19.98万円＋成果報酬</a:t>
            </a:r>
          </a:p>
        </p:txBody>
      </p:sp>
      <p:sp>
        <p:nvSpPr>
          <p:cNvPr id="11" name="TextBox 10"/>
          <p:cNvSpPr txBox="1"/>
          <p:nvPr/>
        </p:nvSpPr>
        <p:spPr>
          <a:xfrm>
            <a:off x="3255264" y="2834640"/>
            <a:ext cx="201168" cy="365760"/>
          </a:xfrm>
          <a:prstGeom prst="rect">
            <a:avLst/>
          </a:prstGeom>
          <a:noFill/>
        </p:spPr>
        <p:txBody>
          <a:bodyPr wrap="square" anchor="t">
            <a:spAutoFit/>
          </a:bodyPr>
          <a:lstStyle/>
          <a:p>
            <a:pPr algn="ctr"/>
            <a:r>
              <a:rPr sz="1500" b="1">
                <a:solidFill>
                  <a:srgbClr val="1F285A"/>
                </a:solidFill>
                <a:latin typeface="メイリオ"/>
                <a:ea typeface="メイリオ"/>
              </a:rPr>
              <a:t>▶</a:t>
            </a:r>
          </a:p>
        </p:txBody>
      </p:sp>
      <p:sp>
        <p:nvSpPr>
          <p:cNvPr id="12" name="Rounded Rectangle 11"/>
          <p:cNvSpPr/>
          <p:nvPr/>
        </p:nvSpPr>
        <p:spPr>
          <a:xfrm>
            <a:off x="3456432" y="1207008"/>
            <a:ext cx="2944368" cy="3840480"/>
          </a:xfrm>
          <a:prstGeom prst="roundRect">
            <a:avLst>
              <a:gd name="adj" fmla="val 8000"/>
            </a:avLst>
          </a:prstGeom>
          <a:solidFill>
            <a:srgbClr val="F2F3F8"/>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584448" y="1353312"/>
            <a:ext cx="2688336"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84448" y="1399032"/>
            <a:ext cx="2688336" cy="384048"/>
          </a:xfrm>
          <a:prstGeom prst="rect">
            <a:avLst/>
          </a:prstGeom>
          <a:noFill/>
        </p:spPr>
        <p:txBody>
          <a:bodyPr wrap="square" anchor="t">
            <a:spAutoFit/>
          </a:bodyPr>
          <a:lstStyle/>
          <a:p>
            <a:pPr algn="ctr"/>
            <a:r>
              <a:rPr sz="1400" b="1">
                <a:solidFill>
                  <a:srgbClr val="FFFFFF"/>
                </a:solidFill>
                <a:latin typeface="メイリオ"/>
                <a:ea typeface="メイリオ"/>
              </a:rPr>
              <a:t>STEP 2　3ヶ月目〜</a:t>
            </a:r>
          </a:p>
        </p:txBody>
      </p:sp>
      <p:sp>
        <p:nvSpPr>
          <p:cNvPr id="15" name="TextBox 14"/>
          <p:cNvSpPr txBox="1"/>
          <p:nvPr/>
        </p:nvSpPr>
        <p:spPr>
          <a:xfrm>
            <a:off x="3694176" y="1956816"/>
            <a:ext cx="2468880" cy="402336"/>
          </a:xfrm>
          <a:prstGeom prst="rect">
            <a:avLst/>
          </a:prstGeom>
          <a:noFill/>
        </p:spPr>
        <p:txBody>
          <a:bodyPr wrap="square" anchor="t">
            <a:spAutoFit/>
          </a:bodyPr>
          <a:lstStyle/>
          <a:p>
            <a:pPr algn="l"/>
            <a:r>
              <a:rPr sz="1400" b="1">
                <a:solidFill>
                  <a:srgbClr val="1F285A"/>
                </a:solidFill>
                <a:latin typeface="メイリオ"/>
                <a:ea typeface="メイリオ"/>
              </a:rPr>
              <a:t>相互送客で積み上げる</a:t>
            </a:r>
          </a:p>
        </p:txBody>
      </p:sp>
      <p:sp>
        <p:nvSpPr>
          <p:cNvPr id="16" name="TextBox 15"/>
          <p:cNvSpPr txBox="1"/>
          <p:nvPr/>
        </p:nvSpPr>
        <p:spPr>
          <a:xfrm>
            <a:off x="3694176" y="2487168"/>
            <a:ext cx="2505456" cy="1737360"/>
          </a:xfrm>
          <a:prstGeom prst="rect">
            <a:avLst/>
          </a:prstGeom>
          <a:noFill/>
        </p:spPr>
        <p:txBody>
          <a:bodyPr wrap="square" anchor="t">
            <a:spAutoFit/>
          </a:bodyPr>
          <a:lstStyle/>
          <a:p>
            <a:pPr algn="l"/>
            <a:r>
              <a:rPr sz="1400" b="0">
                <a:solidFill>
                  <a:srgbClr val="333333"/>
                </a:solidFill>
                <a:latin typeface="メイリオ"/>
                <a:ea typeface="メイリオ"/>
              </a:rPr>
              <a:t>・参加者→EC、購入者→</a:t>
            </a:r>
          </a:p>
          <a:p>
            <a:pPr algn="l"/>
            <a:r>
              <a:rPr sz="1400" b="0">
                <a:solidFill>
                  <a:srgbClr val="333333"/>
                </a:solidFill>
                <a:latin typeface="メイリオ"/>
                <a:ea typeface="メイリオ"/>
              </a:rPr>
              <a:t>　セミナーのクロス配信</a:t>
            </a:r>
          </a:p>
          <a:p>
            <a:pPr algn="l"/>
            <a:r>
              <a:rPr sz="1400" b="0">
                <a:solidFill>
                  <a:srgbClr val="333333"/>
                </a:solidFill>
                <a:latin typeface="メイリオ"/>
                <a:ea typeface="メイリオ"/>
              </a:rPr>
              <a:t>・リピート購入を後押し</a:t>
            </a:r>
          </a:p>
          <a:p>
            <a:pPr algn="l"/>
            <a:r>
              <a:rPr sz="1400" b="0">
                <a:solidFill>
                  <a:srgbClr val="333333"/>
                </a:solidFill>
                <a:latin typeface="メイリオ"/>
                <a:ea typeface="メイリオ"/>
              </a:rPr>
              <a:t>・企画・文面を月次改善</a:t>
            </a:r>
          </a:p>
        </p:txBody>
      </p:sp>
      <p:sp>
        <p:nvSpPr>
          <p:cNvPr id="17" name="Rounded Rectangle 16"/>
          <p:cNvSpPr/>
          <p:nvPr/>
        </p:nvSpPr>
        <p:spPr>
          <a:xfrm>
            <a:off x="3639312" y="4352544"/>
            <a:ext cx="2578608" cy="512064"/>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39312" y="4462272"/>
            <a:ext cx="2578608" cy="329184"/>
          </a:xfrm>
          <a:prstGeom prst="rect">
            <a:avLst/>
          </a:prstGeom>
          <a:noFill/>
        </p:spPr>
        <p:txBody>
          <a:bodyPr wrap="square" anchor="t">
            <a:spAutoFit/>
          </a:bodyPr>
          <a:lstStyle/>
          <a:p>
            <a:pPr algn="ctr"/>
            <a:r>
              <a:rPr sz="1300" b="1">
                <a:solidFill>
                  <a:srgbClr val="1F285A"/>
                </a:solidFill>
                <a:latin typeface="メイリオ"/>
                <a:ea typeface="メイリオ"/>
              </a:rPr>
              <a:t>費用：月次費用内で対応</a:t>
            </a:r>
          </a:p>
        </p:txBody>
      </p:sp>
      <p:sp>
        <p:nvSpPr>
          <p:cNvPr id="19" name="TextBox 18"/>
          <p:cNvSpPr txBox="1"/>
          <p:nvPr/>
        </p:nvSpPr>
        <p:spPr>
          <a:xfrm>
            <a:off x="6382512" y="2834640"/>
            <a:ext cx="201168" cy="365760"/>
          </a:xfrm>
          <a:prstGeom prst="rect">
            <a:avLst/>
          </a:prstGeom>
          <a:noFill/>
        </p:spPr>
        <p:txBody>
          <a:bodyPr wrap="square" anchor="t">
            <a:spAutoFit/>
          </a:bodyPr>
          <a:lstStyle/>
          <a:p>
            <a:pPr algn="ctr"/>
            <a:r>
              <a:rPr sz="1500" b="1">
                <a:solidFill>
                  <a:srgbClr val="1F285A"/>
                </a:solidFill>
                <a:latin typeface="メイリオ"/>
                <a:ea typeface="メイリオ"/>
              </a:rPr>
              <a:t>▶</a:t>
            </a:r>
          </a:p>
        </p:txBody>
      </p:sp>
      <p:sp>
        <p:nvSpPr>
          <p:cNvPr id="20" name="Rounded Rectangle 19"/>
          <p:cNvSpPr/>
          <p:nvPr/>
        </p:nvSpPr>
        <p:spPr>
          <a:xfrm>
            <a:off x="6583680" y="1207008"/>
            <a:ext cx="2944368" cy="3840480"/>
          </a:xfrm>
          <a:prstGeom prst="roundRect">
            <a:avLst>
              <a:gd name="adj" fmla="val 8000"/>
            </a:avLst>
          </a:prstGeom>
          <a:solidFill>
            <a:srgbClr val="F2F3F8"/>
          </a:solidFill>
          <a:ln w="19050">
            <a:solidFill>
              <a:srgbClr val="008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711696" y="1353312"/>
            <a:ext cx="2688336" cy="475488"/>
          </a:xfrm>
          <a:prstGeom prst="roundRect">
            <a:avLst>
              <a:gd name="adj" fmla="val 8000"/>
            </a:avLst>
          </a:prstGeom>
          <a:solidFill>
            <a:srgbClr val="00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11696" y="1399032"/>
            <a:ext cx="2688336" cy="384048"/>
          </a:xfrm>
          <a:prstGeom prst="rect">
            <a:avLst/>
          </a:prstGeom>
          <a:noFill/>
        </p:spPr>
        <p:txBody>
          <a:bodyPr wrap="square" anchor="t">
            <a:spAutoFit/>
          </a:bodyPr>
          <a:lstStyle/>
          <a:p>
            <a:pPr algn="ctr"/>
            <a:r>
              <a:rPr sz="1400" b="1">
                <a:solidFill>
                  <a:srgbClr val="FFFFFF"/>
                </a:solidFill>
                <a:latin typeface="メイリオ"/>
                <a:ea typeface="メイリオ"/>
              </a:rPr>
              <a:t>STEP 3　将来</a:t>
            </a:r>
          </a:p>
        </p:txBody>
      </p:sp>
      <p:sp>
        <p:nvSpPr>
          <p:cNvPr id="23" name="TextBox 22"/>
          <p:cNvSpPr txBox="1"/>
          <p:nvPr/>
        </p:nvSpPr>
        <p:spPr>
          <a:xfrm>
            <a:off x="6821424" y="1956816"/>
            <a:ext cx="2468880" cy="402336"/>
          </a:xfrm>
          <a:prstGeom prst="rect">
            <a:avLst/>
          </a:prstGeom>
          <a:noFill/>
        </p:spPr>
        <p:txBody>
          <a:bodyPr wrap="square" anchor="t">
            <a:spAutoFit/>
          </a:bodyPr>
          <a:lstStyle/>
          <a:p>
            <a:pPr algn="l"/>
            <a:r>
              <a:rPr sz="1400" b="1">
                <a:solidFill>
                  <a:srgbClr val="008A45"/>
                </a:solidFill>
                <a:latin typeface="メイリオ"/>
                <a:ea typeface="メイリオ"/>
              </a:rPr>
              <a:t>LTV起点の運用へ</a:t>
            </a:r>
          </a:p>
        </p:txBody>
      </p:sp>
      <p:sp>
        <p:nvSpPr>
          <p:cNvPr id="24" name="TextBox 23"/>
          <p:cNvSpPr txBox="1"/>
          <p:nvPr/>
        </p:nvSpPr>
        <p:spPr>
          <a:xfrm>
            <a:off x="6821424" y="2487168"/>
            <a:ext cx="2505456" cy="1737360"/>
          </a:xfrm>
          <a:prstGeom prst="rect">
            <a:avLst/>
          </a:prstGeom>
          <a:noFill/>
        </p:spPr>
        <p:txBody>
          <a:bodyPr wrap="square" anchor="t">
            <a:spAutoFit/>
          </a:bodyPr>
          <a:lstStyle/>
          <a:p>
            <a:pPr algn="l"/>
            <a:r>
              <a:rPr sz="1400" b="0">
                <a:solidFill>
                  <a:srgbClr val="333333"/>
                </a:solidFill>
                <a:latin typeface="メイリオ"/>
                <a:ea typeface="メイリオ"/>
              </a:rPr>
              <a:t>・購入履歴×配信履歴で</a:t>
            </a:r>
          </a:p>
          <a:p>
            <a:pPr algn="l"/>
            <a:r>
              <a:rPr sz="1400" b="0">
                <a:solidFill>
                  <a:srgbClr val="333333"/>
                </a:solidFill>
                <a:latin typeface="メイリオ"/>
                <a:ea typeface="メイリオ"/>
              </a:rPr>
              <a:t>　LTVを可視化</a:t>
            </a:r>
          </a:p>
          <a:p>
            <a:pPr algn="l"/>
            <a:r>
              <a:rPr sz="1400" b="0">
                <a:solidFill>
                  <a:srgbClr val="333333"/>
                </a:solidFill>
                <a:latin typeface="メイリオ"/>
                <a:ea typeface="メイリオ"/>
              </a:rPr>
              <a:t>・定期購入への引き上げ</a:t>
            </a:r>
          </a:p>
          <a:p>
            <a:pPr algn="l"/>
            <a:r>
              <a:rPr sz="1400" b="0">
                <a:solidFill>
                  <a:srgbClr val="333333"/>
                </a:solidFill>
                <a:latin typeface="メイリオ"/>
                <a:ea typeface="メイリオ"/>
              </a:rPr>
              <a:t>・広告とLINEの役割最適化</a:t>
            </a:r>
          </a:p>
        </p:txBody>
      </p:sp>
      <p:sp>
        <p:nvSpPr>
          <p:cNvPr id="25" name="Rounded Rectangle 24"/>
          <p:cNvSpPr/>
          <p:nvPr/>
        </p:nvSpPr>
        <p:spPr>
          <a:xfrm>
            <a:off x="6766560" y="4352544"/>
            <a:ext cx="2578608" cy="512064"/>
          </a:xfrm>
          <a:prstGeom prst="roundRect">
            <a:avLst>
              <a:gd name="adj" fmla="val 8000"/>
            </a:avLst>
          </a:prstGeom>
          <a:solidFill>
            <a:srgbClr val="FFFFFF"/>
          </a:solidFill>
          <a:ln w="12700">
            <a:solidFill>
              <a:srgbClr val="008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66560" y="4462272"/>
            <a:ext cx="2578608" cy="329184"/>
          </a:xfrm>
          <a:prstGeom prst="rect">
            <a:avLst/>
          </a:prstGeom>
          <a:noFill/>
        </p:spPr>
        <p:txBody>
          <a:bodyPr wrap="square" anchor="t">
            <a:spAutoFit/>
          </a:bodyPr>
          <a:lstStyle/>
          <a:p>
            <a:pPr algn="ctr"/>
            <a:r>
              <a:rPr sz="1300" b="1">
                <a:solidFill>
                  <a:srgbClr val="008A45"/>
                </a:solidFill>
                <a:latin typeface="メイリオ"/>
                <a:ea typeface="メイリオ"/>
              </a:rPr>
              <a:t>※範囲は改めてご相談</a:t>
            </a:r>
          </a:p>
        </p:txBody>
      </p:sp>
      <p:sp>
        <p:nvSpPr>
          <p:cNvPr id="27" name="Rounded Rectangle 26"/>
          <p:cNvSpPr/>
          <p:nvPr/>
        </p:nvSpPr>
        <p:spPr>
          <a:xfrm>
            <a:off x="329184" y="5175504"/>
            <a:ext cx="9244584" cy="566928"/>
          </a:xfrm>
          <a:prstGeom prst="roundRect">
            <a:avLst>
              <a:gd name="adj" fmla="val 8000"/>
            </a:avLst>
          </a:prstGeom>
          <a:no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5285232"/>
            <a:ext cx="8988552" cy="384048"/>
          </a:xfrm>
          <a:prstGeom prst="rect">
            <a:avLst/>
          </a:prstGeom>
          <a:noFill/>
        </p:spPr>
        <p:txBody>
          <a:bodyPr wrap="square" anchor="t">
            <a:spAutoFit/>
          </a:bodyPr>
          <a:lstStyle/>
          <a:p>
            <a:pPr algn="ctr"/>
            <a:r>
              <a:rPr sz="1400" b="1">
                <a:solidFill>
                  <a:srgbClr val="1F285A"/>
                </a:solidFill>
                <a:latin typeface="メイリオ"/>
                <a:ea typeface="メイリオ"/>
              </a:rPr>
              <a:t>計測が壊れたままでは「効いたか」が分かりません。まず測れる状態をつくることが先決です</a:t>
            </a:r>
          </a:p>
        </p:txBody>
      </p:sp>
      <p:sp>
        <p:nvSpPr>
          <p:cNvPr id="29" name="TextBox 28"/>
          <p:cNvSpPr txBox="1"/>
          <p:nvPr/>
        </p:nvSpPr>
        <p:spPr>
          <a:xfrm>
            <a:off x="384048" y="6053328"/>
            <a:ext cx="9144000" cy="548640"/>
          </a:xfrm>
          <a:prstGeom prst="rect">
            <a:avLst/>
          </a:prstGeom>
          <a:noFill/>
        </p:spPr>
        <p:txBody>
          <a:bodyPr wrap="square" anchor="t">
            <a:spAutoFit/>
          </a:bodyPr>
          <a:lstStyle/>
          <a:p>
            <a:pPr algn="l"/>
            <a:r>
              <a:rPr sz="900" b="0">
                <a:solidFill>
                  <a:srgbClr val="808080"/>
                </a:solidFill>
                <a:latin typeface="メイリオ"/>
                <a:ea typeface="メイリオ"/>
              </a:rPr>
              <a:t>※EC購入の成果カウントは、UTM計測整備の完了後から開始します。</a:t>
            </a:r>
          </a:p>
          <a:p>
            <a:pPr algn="l"/>
            <a:r>
              <a:rPr sz="900" b="0">
                <a:solidFill>
                  <a:srgbClr val="808080"/>
                </a:solidFill>
                <a:latin typeface="メイリオ"/>
                <a:ea typeface="メイリオ"/>
              </a:rPr>
              <a:t>　STEP 3は今回のご提案範囲外です。土台が整った段階で、改めてご相談させてください。</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tIns="36576" rIns="0" bIns="36576" anchor="ctr">
            <a:spAutoFit/>
          </a:bodyPr>
          <a:lstStyle/>
          <a:p>
            <a:pPr algn="l"/>
            <a:r>
              <a:rPr sz="2000" b="1">
                <a:solidFill>
                  <a:srgbClr val="002060"/>
                </a:solidFill>
                <a:latin typeface="メイリオ"/>
                <a:ea typeface="メイリオ"/>
                <a:cs typeface="メイリオ"/>
              </a:rPr>
              <a:t>運用スケジュール（キックオフから配信開始まで約1ヶ月）</a:t>
            </a:r>
          </a:p>
        </p:txBody>
      </p:sp>
      <p:sp>
        <p:nvSpPr>
          <p:cNvPr id="3" name="TextBox 2"/>
          <p:cNvSpPr txBox="1"/>
          <p:nvPr/>
        </p:nvSpPr>
        <p:spPr>
          <a:xfrm>
            <a:off x="548640" y="640080"/>
            <a:ext cx="8778240" cy="329184"/>
          </a:xfrm>
          <a:prstGeom prst="rect">
            <a:avLst/>
          </a:prstGeom>
          <a:noFill/>
        </p:spPr>
        <p:txBody>
          <a:bodyPr wrap="square" lIns="0" tIns="36576" rIns="0" bIns="36576" anchor="ctr">
            <a:spAutoFit/>
          </a:bodyPr>
          <a:lstStyle/>
          <a:p>
            <a:pPr algn="l">
              <a:lnSpc>
                <a:spcPct val="110000"/>
              </a:lnSpc>
            </a:pPr>
            <a:r>
              <a:rPr sz="1800" b="1">
                <a:solidFill>
                  <a:srgbClr val="333333"/>
                </a:solidFill>
                <a:latin typeface="メイリオ"/>
                <a:ea typeface="メイリオ"/>
                <a:cs typeface="メイリオ"/>
              </a:rPr>
              <a:t>9月中に土台を整え、10月から「測れる状態」で配信を始めます。</a:t>
            </a:r>
          </a:p>
        </p:txBody>
      </p:sp>
      <p:sp>
        <p:nvSpPr>
          <p:cNvPr id="4" name="Rounded Rectangle 3"/>
          <p:cNvSpPr/>
          <p:nvPr/>
        </p:nvSpPr>
        <p:spPr>
          <a:xfrm>
            <a:off x="548640" y="1261872"/>
            <a:ext cx="1417320" cy="64008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STEP 1</a:t>
            </a:r>
          </a:p>
        </p:txBody>
      </p:sp>
      <p:sp>
        <p:nvSpPr>
          <p:cNvPr id="5" name="Rounded Rectangle 4"/>
          <p:cNvSpPr/>
          <p:nvPr/>
        </p:nvSpPr>
        <p:spPr>
          <a:xfrm>
            <a:off x="2103120" y="1261872"/>
            <a:ext cx="4343400" cy="6400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28016" bIns="36576" rtlCol="0" anchor="ctr"/>
          <a:lstStyle/>
          <a:p>
            <a:pPr algn="l"/>
            <a:r>
              <a:rPr sz="1400" b="1">
                <a:solidFill>
                  <a:srgbClr val="1F285A"/>
                </a:solidFill>
                <a:latin typeface="メイリオ"/>
                <a:ea typeface="メイリオ"/>
                <a:cs typeface="メイリオ"/>
              </a:rPr>
              <a:t>お申込み　</a:t>
            </a:r>
            <a:r>
              <a:rPr sz="1400">
                <a:solidFill>
                  <a:srgbClr val="333333"/>
                </a:solidFill>
                <a:latin typeface="メイリオ"/>
                <a:ea typeface="メイリオ"/>
                <a:cs typeface="メイリオ"/>
              </a:rPr>
              <a:t>契約書類の締結・成果地点（セミナー申込／EC購入）の確認</a:t>
            </a:r>
          </a:p>
        </p:txBody>
      </p:sp>
      <p:sp>
        <p:nvSpPr>
          <p:cNvPr id="6" name="Rounded Rectangle 5"/>
          <p:cNvSpPr/>
          <p:nvPr/>
        </p:nvSpPr>
        <p:spPr>
          <a:xfrm>
            <a:off x="548640" y="1975104"/>
            <a:ext cx="1417320" cy="64008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STEP 2</a:t>
            </a:r>
          </a:p>
        </p:txBody>
      </p:sp>
      <p:sp>
        <p:nvSpPr>
          <p:cNvPr id="7" name="Rounded Rectangle 6"/>
          <p:cNvSpPr/>
          <p:nvPr/>
        </p:nvSpPr>
        <p:spPr>
          <a:xfrm>
            <a:off x="2103120" y="1975104"/>
            <a:ext cx="4343400" cy="6400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28016" bIns="36576" rtlCol="0" anchor="ctr"/>
          <a:lstStyle/>
          <a:p>
            <a:pPr algn="l"/>
            <a:r>
              <a:rPr sz="1400" b="1">
                <a:solidFill>
                  <a:srgbClr val="1F285A"/>
                </a:solidFill>
                <a:latin typeface="メイリオ"/>
                <a:ea typeface="メイリオ"/>
                <a:cs typeface="メイリオ"/>
              </a:rPr>
              <a:t>キックオフMTG　</a:t>
            </a:r>
            <a:r>
              <a:rPr sz="1400">
                <a:solidFill>
                  <a:srgbClr val="333333"/>
                </a:solidFill>
                <a:latin typeface="メイリオ"/>
                <a:ea typeface="メイリオ"/>
                <a:cs typeface="メイリオ"/>
              </a:rPr>
              <a:t>友だち数など実数の確認・UTM計測の設計・特典の確定</a:t>
            </a:r>
          </a:p>
        </p:txBody>
      </p:sp>
      <p:sp>
        <p:nvSpPr>
          <p:cNvPr id="8" name="Rounded Rectangle 7"/>
          <p:cNvSpPr/>
          <p:nvPr/>
        </p:nvSpPr>
        <p:spPr>
          <a:xfrm>
            <a:off x="548640" y="2688336"/>
            <a:ext cx="1417320" cy="64008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STEP 3</a:t>
            </a:r>
          </a:p>
        </p:txBody>
      </p:sp>
      <p:sp>
        <p:nvSpPr>
          <p:cNvPr id="9" name="Rounded Rectangle 8"/>
          <p:cNvSpPr/>
          <p:nvPr/>
        </p:nvSpPr>
        <p:spPr>
          <a:xfrm>
            <a:off x="2103120" y="2688336"/>
            <a:ext cx="4343400" cy="6400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28016" bIns="36576" rtlCol="0" anchor="ctr"/>
          <a:lstStyle/>
          <a:p>
            <a:pPr algn="l"/>
            <a:r>
              <a:rPr sz="1400" b="1">
                <a:solidFill>
                  <a:srgbClr val="1F285A"/>
                </a:solidFill>
                <a:latin typeface="メイリオ"/>
                <a:ea typeface="メイリオ"/>
                <a:cs typeface="メイリオ"/>
              </a:rPr>
              <a:t>計測整備　</a:t>
            </a:r>
            <a:r>
              <a:rPr sz="1400">
                <a:solidFill>
                  <a:srgbClr val="333333"/>
                </a:solidFill>
                <a:latin typeface="メイリオ"/>
                <a:ea typeface="メイリオ"/>
                <a:cs typeface="メイリオ"/>
              </a:rPr>
              <a:t>UTM設計・EC側の計測復旧・成果カウント開始日の確定</a:t>
            </a:r>
          </a:p>
        </p:txBody>
      </p:sp>
      <p:sp>
        <p:nvSpPr>
          <p:cNvPr id="10" name="Rounded Rectangle 9"/>
          <p:cNvSpPr/>
          <p:nvPr/>
        </p:nvSpPr>
        <p:spPr>
          <a:xfrm>
            <a:off x="548640" y="3401568"/>
            <a:ext cx="1417320" cy="64008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STEP 4</a:t>
            </a:r>
          </a:p>
        </p:txBody>
      </p:sp>
      <p:sp>
        <p:nvSpPr>
          <p:cNvPr id="11" name="Rounded Rectangle 10"/>
          <p:cNvSpPr/>
          <p:nvPr/>
        </p:nvSpPr>
        <p:spPr>
          <a:xfrm>
            <a:off x="2103120" y="3401568"/>
            <a:ext cx="4343400" cy="6400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28016" bIns="36576" rtlCol="0" anchor="ctr"/>
          <a:lstStyle/>
          <a:p>
            <a:pPr algn="l"/>
            <a:r>
              <a:rPr sz="1400" b="1">
                <a:solidFill>
                  <a:srgbClr val="1F285A"/>
                </a:solidFill>
                <a:latin typeface="メイリオ"/>
                <a:ea typeface="メイリオ"/>
                <a:cs typeface="メイリオ"/>
              </a:rPr>
              <a:t>初期構築　</a:t>
            </a:r>
            <a:r>
              <a:rPr sz="1400">
                <a:solidFill>
                  <a:srgbClr val="333333"/>
                </a:solidFill>
                <a:latin typeface="メイリオ"/>
                <a:ea typeface="メイリオ"/>
                <a:cs typeface="メイリオ"/>
              </a:rPr>
              <a:t>リッチメニュー・アンケート・ステップ配信の制作</a:t>
            </a:r>
          </a:p>
        </p:txBody>
      </p:sp>
      <p:sp>
        <p:nvSpPr>
          <p:cNvPr id="12" name="Rounded Rectangle 11"/>
          <p:cNvSpPr/>
          <p:nvPr/>
        </p:nvSpPr>
        <p:spPr>
          <a:xfrm>
            <a:off x="548640" y="4114800"/>
            <a:ext cx="1417320" cy="64008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STEP 5</a:t>
            </a:r>
          </a:p>
        </p:txBody>
      </p:sp>
      <p:sp>
        <p:nvSpPr>
          <p:cNvPr id="13" name="Rounded Rectangle 12"/>
          <p:cNvSpPr/>
          <p:nvPr/>
        </p:nvSpPr>
        <p:spPr>
          <a:xfrm>
            <a:off x="2103120" y="4114800"/>
            <a:ext cx="4343400" cy="6400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28016" bIns="36576" rtlCol="0" anchor="ctr"/>
          <a:lstStyle/>
          <a:p>
            <a:pPr algn="l"/>
            <a:r>
              <a:rPr sz="1400" b="1">
                <a:solidFill>
                  <a:srgbClr val="1F285A"/>
                </a:solidFill>
                <a:latin typeface="メイリオ"/>
                <a:ea typeface="メイリオ"/>
                <a:cs typeface="メイリオ"/>
              </a:rPr>
              <a:t>運用開始　</a:t>
            </a:r>
            <a:r>
              <a:rPr sz="1400">
                <a:solidFill>
                  <a:srgbClr val="333333"/>
                </a:solidFill>
                <a:latin typeface="メイリオ"/>
                <a:ea typeface="メイリオ"/>
                <a:cs typeface="メイリオ"/>
              </a:rPr>
              <a:t>アンケート配信 → セミナー・EC 2導線の配信開始</a:t>
            </a:r>
          </a:p>
        </p:txBody>
      </p:sp>
      <p:sp>
        <p:nvSpPr>
          <p:cNvPr id="14" name="Rounded Rectangle 13"/>
          <p:cNvSpPr/>
          <p:nvPr/>
        </p:nvSpPr>
        <p:spPr>
          <a:xfrm>
            <a:off x="548640" y="4882896"/>
            <a:ext cx="9326880" cy="420624"/>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8月中にお申込みいただければ、10月から「測れる状態」で配信を始められます</a:t>
            </a:r>
          </a:p>
        </p:txBody>
      </p:sp>
      <p:sp>
        <p:nvSpPr>
          <p:cNvPr id="15" name="TextBox 14"/>
          <p:cNvSpPr txBox="1"/>
          <p:nvPr/>
        </p:nvSpPr>
        <p:spPr>
          <a:xfrm>
            <a:off x="548640" y="6382512"/>
            <a:ext cx="9326880" cy="237744"/>
          </a:xfrm>
          <a:prstGeom prst="rect">
            <a:avLst/>
          </a:prstGeom>
          <a:noFill/>
        </p:spPr>
        <p:txBody>
          <a:bodyPr wrap="square" lIns="0" tIns="36576" rIns="73152" bIns="36576" anchor="t">
            <a:spAutoFit/>
          </a:bodyPr>
          <a:lstStyle/>
          <a:p>
            <a:pPr algn="l"/>
            <a:r>
              <a:rPr sz="900">
                <a:solidFill>
                  <a:srgbClr val="808080"/>
                </a:solidFill>
                <a:latin typeface="メイリオ"/>
                <a:ea typeface="メイリオ"/>
                <a:cs typeface="メイリオ"/>
              </a:rPr>
              <a:t>※貴社作業・確認にかかる時間により前後します。</a:t>
            </a:r>
          </a:p>
        </p:txBody>
      </p:sp>
      <p:sp>
        <p:nvSpPr>
          <p:cNvPr id="16" name="Rounded Rectangle 15"/>
          <p:cNvSpPr/>
          <p:nvPr/>
        </p:nvSpPr>
        <p:spPr>
          <a:xfrm>
            <a:off x="6656832" y="932688"/>
            <a:ext cx="1572768" cy="292608"/>
          </a:xfrm>
          <a:prstGeom prst="roundRect">
            <a:avLst>
              <a:gd name="adj" fmla="val 22000"/>
            </a:avLst>
          </a:prstGeom>
          <a:solidFill>
            <a:srgbClr val="008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56832" y="960120"/>
            <a:ext cx="1572768" cy="237744"/>
          </a:xfrm>
          <a:prstGeom prst="rect">
            <a:avLst/>
          </a:prstGeom>
          <a:noFill/>
        </p:spPr>
        <p:txBody>
          <a:bodyPr wrap="square" tIns="0" bIns="0">
            <a:spAutoFit/>
          </a:bodyPr>
          <a:lstStyle/>
          <a:p>
            <a:pPr algn="ctr"/>
            <a:r>
              <a:rPr sz="1100" b="1">
                <a:solidFill>
                  <a:srgbClr val="FFFFFF"/>
                </a:solidFill>
                <a:latin typeface="メイリオ"/>
                <a:ea typeface="メイリオ"/>
              </a:rPr>
              <a:t>A　8月中に着手</a:t>
            </a:r>
          </a:p>
        </p:txBody>
      </p:sp>
      <p:sp>
        <p:nvSpPr>
          <p:cNvPr id="18" name="Rounded Rectangle 17"/>
          <p:cNvSpPr/>
          <p:nvPr/>
        </p:nvSpPr>
        <p:spPr>
          <a:xfrm>
            <a:off x="8302752" y="932688"/>
            <a:ext cx="1572768" cy="292608"/>
          </a:xfrm>
          <a:prstGeom prst="roundRect">
            <a:avLst>
              <a:gd name="adj" fmla="val 22000"/>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02752" y="960120"/>
            <a:ext cx="1572768" cy="237744"/>
          </a:xfrm>
          <a:prstGeom prst="rect">
            <a:avLst/>
          </a:prstGeom>
          <a:noFill/>
        </p:spPr>
        <p:txBody>
          <a:bodyPr wrap="square" tIns="0" bIns="0">
            <a:spAutoFit/>
          </a:bodyPr>
          <a:lstStyle/>
          <a:p>
            <a:pPr algn="ctr"/>
            <a:r>
              <a:rPr sz="1100" b="1">
                <a:solidFill>
                  <a:srgbClr val="FFFFFF"/>
                </a:solidFill>
                <a:latin typeface="メイリオ"/>
                <a:ea typeface="メイリオ"/>
              </a:rPr>
              <a:t>B　9月に着手</a:t>
            </a:r>
          </a:p>
        </p:txBody>
      </p:sp>
      <p:sp>
        <p:nvSpPr>
          <p:cNvPr id="20" name="Rounded Rectangle 19"/>
          <p:cNvSpPr/>
          <p:nvPr/>
        </p:nvSpPr>
        <p:spPr>
          <a:xfrm>
            <a:off x="6656832" y="1261872"/>
            <a:ext cx="1572768" cy="640080"/>
          </a:xfrm>
          <a:prstGeom prst="roundRect">
            <a:avLst>
              <a:gd name="adj" fmla="val 14000"/>
            </a:avLst>
          </a:prstGeom>
          <a:noFill/>
          <a:ln w="12700">
            <a:solidFill>
              <a:srgbClr val="008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56832" y="1444751"/>
            <a:ext cx="1572768" cy="274320"/>
          </a:xfrm>
          <a:prstGeom prst="rect">
            <a:avLst/>
          </a:prstGeom>
          <a:noFill/>
        </p:spPr>
        <p:txBody>
          <a:bodyPr wrap="square" tIns="0" bIns="0">
            <a:spAutoFit/>
          </a:bodyPr>
          <a:lstStyle/>
          <a:p>
            <a:pPr algn="ctr"/>
            <a:r>
              <a:rPr sz="1200" b="1">
                <a:solidFill>
                  <a:srgbClr val="008A45"/>
                </a:solidFill>
                <a:latin typeface="メイリオ"/>
                <a:ea typeface="メイリオ"/>
              </a:rPr>
              <a:t>8月下旬</a:t>
            </a:r>
          </a:p>
        </p:txBody>
      </p:sp>
      <p:sp>
        <p:nvSpPr>
          <p:cNvPr id="22" name="Rounded Rectangle 21"/>
          <p:cNvSpPr/>
          <p:nvPr/>
        </p:nvSpPr>
        <p:spPr>
          <a:xfrm>
            <a:off x="8302752" y="1261872"/>
            <a:ext cx="1572768" cy="640080"/>
          </a:xfrm>
          <a:prstGeom prst="roundRect">
            <a:avLst>
              <a:gd name="adj" fmla="val 14000"/>
            </a:avLst>
          </a:prstGeom>
          <a:noFill/>
          <a:ln w="1270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02752" y="1444751"/>
            <a:ext cx="1572768" cy="274320"/>
          </a:xfrm>
          <a:prstGeom prst="rect">
            <a:avLst/>
          </a:prstGeom>
          <a:noFill/>
        </p:spPr>
        <p:txBody>
          <a:bodyPr wrap="square" tIns="0" bIns="0">
            <a:spAutoFit/>
          </a:bodyPr>
          <a:lstStyle/>
          <a:p>
            <a:pPr algn="ctr"/>
            <a:r>
              <a:rPr sz="1200" b="1">
                <a:solidFill>
                  <a:srgbClr val="808080"/>
                </a:solidFill>
                <a:latin typeface="メイリオ"/>
                <a:ea typeface="メイリオ"/>
              </a:rPr>
              <a:t>9月中旬</a:t>
            </a:r>
          </a:p>
        </p:txBody>
      </p:sp>
      <p:sp>
        <p:nvSpPr>
          <p:cNvPr id="24" name="Rounded Rectangle 23"/>
          <p:cNvSpPr/>
          <p:nvPr/>
        </p:nvSpPr>
        <p:spPr>
          <a:xfrm>
            <a:off x="6656832" y="1975104"/>
            <a:ext cx="1572768" cy="640080"/>
          </a:xfrm>
          <a:prstGeom prst="roundRect">
            <a:avLst>
              <a:gd name="adj" fmla="val 14000"/>
            </a:avLst>
          </a:prstGeom>
          <a:noFill/>
          <a:ln w="12700">
            <a:solidFill>
              <a:srgbClr val="008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56832" y="2157984"/>
            <a:ext cx="1572768" cy="274320"/>
          </a:xfrm>
          <a:prstGeom prst="rect">
            <a:avLst/>
          </a:prstGeom>
          <a:noFill/>
        </p:spPr>
        <p:txBody>
          <a:bodyPr wrap="square" tIns="0" bIns="0">
            <a:spAutoFit/>
          </a:bodyPr>
          <a:lstStyle/>
          <a:p>
            <a:pPr algn="ctr"/>
            <a:r>
              <a:rPr sz="1200" b="1">
                <a:solidFill>
                  <a:srgbClr val="008A45"/>
                </a:solidFill>
                <a:latin typeface="メイリオ"/>
                <a:ea typeface="メイリオ"/>
              </a:rPr>
              <a:t>8月下旬</a:t>
            </a:r>
          </a:p>
        </p:txBody>
      </p:sp>
      <p:sp>
        <p:nvSpPr>
          <p:cNvPr id="26" name="Rounded Rectangle 25"/>
          <p:cNvSpPr/>
          <p:nvPr/>
        </p:nvSpPr>
        <p:spPr>
          <a:xfrm>
            <a:off x="8302752" y="1975104"/>
            <a:ext cx="1572768" cy="640080"/>
          </a:xfrm>
          <a:prstGeom prst="roundRect">
            <a:avLst>
              <a:gd name="adj" fmla="val 14000"/>
            </a:avLst>
          </a:prstGeom>
          <a:noFill/>
          <a:ln w="1270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02752" y="2157984"/>
            <a:ext cx="1572768" cy="274320"/>
          </a:xfrm>
          <a:prstGeom prst="rect">
            <a:avLst/>
          </a:prstGeom>
          <a:noFill/>
        </p:spPr>
        <p:txBody>
          <a:bodyPr wrap="square" tIns="0" bIns="0">
            <a:spAutoFit/>
          </a:bodyPr>
          <a:lstStyle/>
          <a:p>
            <a:pPr algn="ctr"/>
            <a:r>
              <a:rPr sz="1200" b="1">
                <a:solidFill>
                  <a:srgbClr val="808080"/>
                </a:solidFill>
                <a:latin typeface="メイリオ"/>
                <a:ea typeface="メイリオ"/>
              </a:rPr>
              <a:t>9月中旬</a:t>
            </a:r>
          </a:p>
        </p:txBody>
      </p:sp>
      <p:sp>
        <p:nvSpPr>
          <p:cNvPr id="28" name="Rounded Rectangle 27"/>
          <p:cNvSpPr/>
          <p:nvPr/>
        </p:nvSpPr>
        <p:spPr>
          <a:xfrm>
            <a:off x="6656832" y="2688336"/>
            <a:ext cx="1572768" cy="640080"/>
          </a:xfrm>
          <a:prstGeom prst="roundRect">
            <a:avLst>
              <a:gd name="adj" fmla="val 14000"/>
            </a:avLst>
          </a:prstGeom>
          <a:noFill/>
          <a:ln w="12700">
            <a:solidFill>
              <a:srgbClr val="008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56832" y="2871216"/>
            <a:ext cx="1572768" cy="274320"/>
          </a:xfrm>
          <a:prstGeom prst="rect">
            <a:avLst/>
          </a:prstGeom>
          <a:noFill/>
        </p:spPr>
        <p:txBody>
          <a:bodyPr wrap="square" tIns="0" bIns="0">
            <a:spAutoFit/>
          </a:bodyPr>
          <a:lstStyle/>
          <a:p>
            <a:pPr algn="ctr"/>
            <a:r>
              <a:rPr sz="1200" b="1">
                <a:solidFill>
                  <a:srgbClr val="008A45"/>
                </a:solidFill>
                <a:latin typeface="メイリオ"/>
                <a:ea typeface="メイリオ"/>
              </a:rPr>
              <a:t>9月上旬</a:t>
            </a:r>
          </a:p>
        </p:txBody>
      </p:sp>
      <p:sp>
        <p:nvSpPr>
          <p:cNvPr id="30" name="Rounded Rectangle 29"/>
          <p:cNvSpPr/>
          <p:nvPr/>
        </p:nvSpPr>
        <p:spPr>
          <a:xfrm>
            <a:off x="8302752" y="2688336"/>
            <a:ext cx="1572768" cy="640080"/>
          </a:xfrm>
          <a:prstGeom prst="roundRect">
            <a:avLst>
              <a:gd name="adj" fmla="val 14000"/>
            </a:avLst>
          </a:prstGeom>
          <a:noFill/>
          <a:ln w="1270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02752" y="2871216"/>
            <a:ext cx="1572768" cy="274320"/>
          </a:xfrm>
          <a:prstGeom prst="rect">
            <a:avLst/>
          </a:prstGeom>
          <a:noFill/>
        </p:spPr>
        <p:txBody>
          <a:bodyPr wrap="square" tIns="0" bIns="0">
            <a:spAutoFit/>
          </a:bodyPr>
          <a:lstStyle/>
          <a:p>
            <a:pPr algn="ctr"/>
            <a:r>
              <a:rPr sz="1200" b="1">
                <a:solidFill>
                  <a:srgbClr val="808080"/>
                </a:solidFill>
                <a:latin typeface="メイリオ"/>
                <a:ea typeface="メイリオ"/>
              </a:rPr>
              <a:t>9月末</a:t>
            </a:r>
          </a:p>
        </p:txBody>
      </p:sp>
      <p:sp>
        <p:nvSpPr>
          <p:cNvPr id="32" name="Rounded Rectangle 31"/>
          <p:cNvSpPr/>
          <p:nvPr/>
        </p:nvSpPr>
        <p:spPr>
          <a:xfrm>
            <a:off x="6656832" y="3401568"/>
            <a:ext cx="1572768" cy="640080"/>
          </a:xfrm>
          <a:prstGeom prst="roundRect">
            <a:avLst>
              <a:gd name="adj" fmla="val 14000"/>
            </a:avLst>
          </a:prstGeom>
          <a:noFill/>
          <a:ln w="12700">
            <a:solidFill>
              <a:srgbClr val="008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56832" y="3584448"/>
            <a:ext cx="1572768" cy="274320"/>
          </a:xfrm>
          <a:prstGeom prst="rect">
            <a:avLst/>
          </a:prstGeom>
          <a:noFill/>
        </p:spPr>
        <p:txBody>
          <a:bodyPr wrap="square" tIns="0" bIns="0">
            <a:spAutoFit/>
          </a:bodyPr>
          <a:lstStyle/>
          <a:p>
            <a:pPr algn="ctr"/>
            <a:r>
              <a:rPr sz="1200" b="1">
                <a:solidFill>
                  <a:srgbClr val="008A45"/>
                </a:solidFill>
                <a:latin typeface="メイリオ"/>
                <a:ea typeface="メイリオ"/>
              </a:rPr>
              <a:t>9月中旬</a:t>
            </a:r>
          </a:p>
        </p:txBody>
      </p:sp>
      <p:sp>
        <p:nvSpPr>
          <p:cNvPr id="34" name="Rounded Rectangle 33"/>
          <p:cNvSpPr/>
          <p:nvPr/>
        </p:nvSpPr>
        <p:spPr>
          <a:xfrm>
            <a:off x="8302752" y="3401568"/>
            <a:ext cx="1572768" cy="640080"/>
          </a:xfrm>
          <a:prstGeom prst="roundRect">
            <a:avLst>
              <a:gd name="adj" fmla="val 14000"/>
            </a:avLst>
          </a:prstGeom>
          <a:noFill/>
          <a:ln w="1270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302752" y="3584448"/>
            <a:ext cx="1572768" cy="274320"/>
          </a:xfrm>
          <a:prstGeom prst="rect">
            <a:avLst/>
          </a:prstGeom>
          <a:noFill/>
        </p:spPr>
        <p:txBody>
          <a:bodyPr wrap="square" tIns="0" bIns="0">
            <a:spAutoFit/>
          </a:bodyPr>
          <a:lstStyle/>
          <a:p>
            <a:pPr algn="ctr"/>
            <a:r>
              <a:rPr sz="1200" b="1">
                <a:solidFill>
                  <a:srgbClr val="808080"/>
                </a:solidFill>
                <a:latin typeface="メイリオ"/>
                <a:ea typeface="メイリオ"/>
              </a:rPr>
              <a:t>10月中旬</a:t>
            </a:r>
          </a:p>
        </p:txBody>
      </p:sp>
      <p:sp>
        <p:nvSpPr>
          <p:cNvPr id="36" name="Rounded Rectangle 35"/>
          <p:cNvSpPr/>
          <p:nvPr/>
        </p:nvSpPr>
        <p:spPr>
          <a:xfrm>
            <a:off x="6656832" y="4114800"/>
            <a:ext cx="1572768" cy="640080"/>
          </a:xfrm>
          <a:prstGeom prst="roundRect">
            <a:avLst>
              <a:gd name="adj" fmla="val 14000"/>
            </a:avLst>
          </a:prstGeom>
          <a:solidFill>
            <a:srgbClr val="E8EEF7"/>
          </a:solidFill>
          <a:ln w="22225">
            <a:solidFill>
              <a:srgbClr val="008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56832" y="4297680"/>
            <a:ext cx="1572768" cy="274320"/>
          </a:xfrm>
          <a:prstGeom prst="rect">
            <a:avLst/>
          </a:prstGeom>
          <a:noFill/>
        </p:spPr>
        <p:txBody>
          <a:bodyPr wrap="square" tIns="0" bIns="0">
            <a:spAutoFit/>
          </a:bodyPr>
          <a:lstStyle/>
          <a:p>
            <a:pPr algn="ctr"/>
            <a:r>
              <a:rPr sz="1350" b="1">
                <a:solidFill>
                  <a:srgbClr val="008A45"/>
                </a:solidFill>
                <a:latin typeface="メイリオ"/>
                <a:ea typeface="メイリオ"/>
              </a:rPr>
              <a:t>9月末</a:t>
            </a:r>
          </a:p>
        </p:txBody>
      </p:sp>
      <p:sp>
        <p:nvSpPr>
          <p:cNvPr id="38" name="Rounded Rectangle 37"/>
          <p:cNvSpPr/>
          <p:nvPr/>
        </p:nvSpPr>
        <p:spPr>
          <a:xfrm>
            <a:off x="8302752" y="4114800"/>
            <a:ext cx="1572768" cy="640080"/>
          </a:xfrm>
          <a:prstGeom prst="roundRect">
            <a:avLst>
              <a:gd name="adj" fmla="val 14000"/>
            </a:avLst>
          </a:prstGeom>
          <a:noFill/>
          <a:ln w="222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302752" y="4297680"/>
            <a:ext cx="1572768" cy="274320"/>
          </a:xfrm>
          <a:prstGeom prst="rect">
            <a:avLst/>
          </a:prstGeom>
          <a:noFill/>
        </p:spPr>
        <p:txBody>
          <a:bodyPr wrap="square" tIns="0" bIns="0">
            <a:spAutoFit/>
          </a:bodyPr>
          <a:lstStyle/>
          <a:p>
            <a:pPr algn="ctr"/>
            <a:r>
              <a:rPr sz="1350" b="1">
                <a:solidFill>
                  <a:srgbClr val="333333"/>
                </a:solidFill>
                <a:latin typeface="メイリオ"/>
                <a:ea typeface="メイリオ"/>
              </a:rPr>
              <a:t>10月末</a:t>
            </a:r>
          </a:p>
        </p:txBody>
      </p:sp>
      <p:sp>
        <p:nvSpPr>
          <p:cNvPr id="40" name="TextBox 39"/>
          <p:cNvSpPr txBox="1"/>
          <p:nvPr/>
        </p:nvSpPr>
        <p:spPr>
          <a:xfrm>
            <a:off x="548640" y="5431536"/>
            <a:ext cx="5852160" cy="237744"/>
          </a:xfrm>
          <a:prstGeom prst="rect">
            <a:avLst/>
          </a:prstGeom>
          <a:noFill/>
        </p:spPr>
        <p:txBody>
          <a:bodyPr wrap="square" tIns="0" bIns="0">
            <a:spAutoFit/>
          </a:bodyPr>
          <a:lstStyle/>
          <a:p>
            <a:pPr algn="l"/>
            <a:r>
              <a:rPr sz="1300" b="1">
                <a:solidFill>
                  <a:srgbClr val="1F285A"/>
                </a:solidFill>
                <a:latin typeface="メイリオ"/>
                <a:ea typeface="メイリオ"/>
              </a:rPr>
              <a:t>年内につくれる実績（配信月数）</a:t>
            </a:r>
          </a:p>
        </p:txBody>
      </p:sp>
      <p:sp>
        <p:nvSpPr>
          <p:cNvPr id="41" name="Rounded Rectangle 40"/>
          <p:cNvSpPr/>
          <p:nvPr/>
        </p:nvSpPr>
        <p:spPr>
          <a:xfrm>
            <a:off x="548640" y="5705856"/>
            <a:ext cx="4553712" cy="603504"/>
          </a:xfrm>
          <a:prstGeom prst="roundRect">
            <a:avLst>
              <a:gd name="adj" fmla="val 14000"/>
            </a:avLst>
          </a:prstGeom>
          <a:solidFill>
            <a:srgbClr val="E8EEF7"/>
          </a:solidFill>
          <a:ln w="22225">
            <a:solidFill>
              <a:srgbClr val="008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6656" y="5760720"/>
            <a:ext cx="4297680" cy="237744"/>
          </a:xfrm>
          <a:prstGeom prst="rect">
            <a:avLst/>
          </a:prstGeom>
          <a:noFill/>
        </p:spPr>
        <p:txBody>
          <a:bodyPr wrap="square" tIns="0" bIns="0">
            <a:spAutoFit/>
          </a:bodyPr>
          <a:lstStyle/>
          <a:p>
            <a:pPr algn="l"/>
            <a:r>
              <a:rPr sz="1250" b="1">
                <a:solidFill>
                  <a:srgbClr val="008A45"/>
                </a:solidFill>
                <a:latin typeface="メイリオ"/>
                <a:ea typeface="メイリオ"/>
              </a:rPr>
              <a:t>A　10月・11月・12月 ＝ 3ヶ月分のCV実績</a:t>
            </a:r>
          </a:p>
        </p:txBody>
      </p:sp>
      <p:sp>
        <p:nvSpPr>
          <p:cNvPr id="43" name="TextBox 42"/>
          <p:cNvSpPr txBox="1"/>
          <p:nvPr/>
        </p:nvSpPr>
        <p:spPr>
          <a:xfrm>
            <a:off x="676656" y="6016752"/>
            <a:ext cx="4297680" cy="237744"/>
          </a:xfrm>
          <a:prstGeom prst="rect">
            <a:avLst/>
          </a:prstGeom>
          <a:noFill/>
        </p:spPr>
        <p:txBody>
          <a:bodyPr wrap="square" tIns="0" bIns="0">
            <a:spAutoFit/>
          </a:bodyPr>
          <a:lstStyle/>
          <a:p>
            <a:pPr algn="l"/>
            <a:r>
              <a:rPr sz="1050" b="0">
                <a:solidFill>
                  <a:srgbClr val="333333"/>
                </a:solidFill>
                <a:latin typeface="メイリオ"/>
                <a:ea typeface="メイリオ"/>
              </a:rPr>
              <a:t>12月のEC需要（年末商戦）を、学習を積んだ状態で迎えられる</a:t>
            </a:r>
          </a:p>
        </p:txBody>
      </p:sp>
      <p:sp>
        <p:nvSpPr>
          <p:cNvPr id="44" name="Rounded Rectangle 43"/>
          <p:cNvSpPr/>
          <p:nvPr/>
        </p:nvSpPr>
        <p:spPr>
          <a:xfrm>
            <a:off x="5321808" y="5705856"/>
            <a:ext cx="4553712" cy="603504"/>
          </a:xfrm>
          <a:prstGeom prst="roundRect">
            <a:avLst>
              <a:gd name="adj" fmla="val 14000"/>
            </a:avLst>
          </a:prstGeom>
          <a:noFill/>
          <a:ln w="1270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449824" y="5760720"/>
            <a:ext cx="4297680" cy="237744"/>
          </a:xfrm>
          <a:prstGeom prst="rect">
            <a:avLst/>
          </a:prstGeom>
          <a:noFill/>
        </p:spPr>
        <p:txBody>
          <a:bodyPr wrap="square" tIns="0" bIns="0">
            <a:spAutoFit/>
          </a:bodyPr>
          <a:lstStyle/>
          <a:p>
            <a:pPr algn="l"/>
            <a:r>
              <a:rPr sz="1250" b="1">
                <a:solidFill>
                  <a:srgbClr val="808080"/>
                </a:solidFill>
                <a:latin typeface="メイリオ"/>
                <a:ea typeface="メイリオ"/>
              </a:rPr>
              <a:t>B　11月・12月 ＝ 2ヶ月分に短縮</a:t>
            </a:r>
          </a:p>
        </p:txBody>
      </p:sp>
      <p:sp>
        <p:nvSpPr>
          <p:cNvPr id="46" name="TextBox 45"/>
          <p:cNvSpPr txBox="1"/>
          <p:nvPr/>
        </p:nvSpPr>
        <p:spPr>
          <a:xfrm>
            <a:off x="5449824" y="6016752"/>
            <a:ext cx="4297680" cy="237744"/>
          </a:xfrm>
          <a:prstGeom prst="rect">
            <a:avLst/>
          </a:prstGeom>
          <a:noFill/>
        </p:spPr>
        <p:txBody>
          <a:bodyPr wrap="square" tIns="0" bIns="0">
            <a:spAutoFit/>
          </a:bodyPr>
          <a:lstStyle/>
          <a:p>
            <a:pPr algn="l"/>
            <a:r>
              <a:rPr sz="1050" b="0">
                <a:solidFill>
                  <a:srgbClr val="333333"/>
                </a:solidFill>
                <a:latin typeface="メイリオ"/>
                <a:ea typeface="メイリオ"/>
              </a:rPr>
              <a:t>12月のEC需要を、ぶっつけ本番で迎えることになる</a:t>
            </a:r>
          </a:p>
        </p:txBody>
      </p:sp>
    </p:spTree>
    <p:extLst>
      <p:ext uri="{BB962C8B-B14F-4D97-AF65-F5344CB8AC3E}">
        <p14:creationId xmlns:p14="http://schemas.microsoft.com/office/powerpoint/2010/main" val="21214348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l"/>
            <a:r>
              <a:rPr sz="1000" b="1">
                <a:solidFill>
                  <a:srgbClr val="FFFFFF"/>
                </a:solidFill>
                <a:latin typeface="メイリオ"/>
                <a:ea typeface="メイリオ"/>
                <a:cs typeface="メイリオ"/>
              </a:rPr>
              <a:t>Copyright(c) DYM Co., Ltd.  All Rights Reserved.</a:t>
            </a: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202293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149021</TotalTime>
  <Words>2596</Words>
  <Application>Microsoft Office PowerPoint</Application>
  <PresentationFormat>A4 210 x 297 mm</PresentationFormat>
  <Paragraphs>571</Paragraphs>
  <Slides>27</Slides>
  <Notes>4</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27</vt:i4>
      </vt:variant>
    </vt:vector>
  </HeadingPairs>
  <TitlesOfParts>
    <vt:vector size="34"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1965</cp:revision>
  <cp:lastPrinted>2022-11-01T11:38:14Z</cp:lastPrinted>
  <dcterms:created xsi:type="dcterms:W3CDTF">2015-09-04T09:21:15Z</dcterms:created>
  <dcterms:modified xsi:type="dcterms:W3CDTF">2026-08-19T06:02:45Z</dcterms:modified>
</cp:coreProperties>
</file>