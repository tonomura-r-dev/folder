
<file path=[Content_Types].xml><?xml version="1.0" encoding="utf-8"?>
<Types xmlns="http://schemas.openxmlformats.org/package/2006/content-types">
  <Default Extension="emf" ContentType="image/x-emf"/>
  <Default Extension="svg" ContentType="image/svg+xml"/>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4.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_rels/presentation.xml.rels" ContentType="application/vnd.openxmlformats-package.relationships+xml"/>
  <Override PartName="/ppt/media/image56.png" ContentType="image/png"/>
  <Override PartName="/ppt/media/image52.png" ContentType="image/png"/>
  <Override PartName="/ppt/media/image50.png" ContentType="image/png"/>
  <Override PartName="/ppt/media/image49.png" ContentType="image/png"/>
  <Override PartName="/ppt/media/image46.png" ContentType="image/png"/>
  <Override PartName="/ppt/media/image45.png" ContentType="image/png"/>
  <Override PartName="/ppt/media/image44.png" ContentType="image/png"/>
  <Override PartName="/ppt/media/image76.jpeg" ContentType="image/jpeg"/>
  <Override PartName="/ppt/media/image43.png" ContentType="image/png"/>
  <Override PartName="/ppt/media/image42.png" ContentType="image/png"/>
  <Override PartName="/ppt/media/image41.png" ContentType="image/png"/>
  <Override PartName="/ppt/media/image40.png" ContentType="image/png"/>
  <Override PartName="/ppt/media/image39.png" ContentType="image/png"/>
  <Override PartName="/ppt/media/image54.png" ContentType="image/png"/>
  <Override PartName="/ppt/media/image77.jpeg" ContentType="image/jpeg"/>
  <Override PartName="/ppt/media/image19.png" ContentType="image/png"/>
  <Override PartName="/ppt/media/image61.png" ContentType="image/png"/>
  <Override PartName="/ppt/media/image21.png" ContentType="image/png"/>
  <Override PartName="/ppt/media/image58.png" ContentType="image/png"/>
  <Override PartName="/ppt/media/image74.jpeg" ContentType="image/jpeg"/>
  <Override PartName="/ppt/media/image22.png" ContentType="image/png"/>
  <Override PartName="/ppt/media/image59.png" ContentType="image/png"/>
  <Override PartName="/ppt/media/image20.png" ContentType="image/png"/>
  <Override PartName="/ppt/media/image24.jpeg" ContentType="image/jpeg"/>
  <Override PartName="/ppt/media/image25.jpeg" ContentType="image/jpeg"/>
  <Override PartName="/ppt/media/image30.png" ContentType="image/png"/>
  <Override PartName="/ppt/media/image67.png" ContentType="image/png"/>
  <Override PartName="/ppt/media/image60.png" ContentType="image/png"/>
  <Override PartName="/ppt/media/image23.png" ContentType="image/png"/>
  <Override PartName="/ppt/media/image65.png" ContentType="image/png"/>
  <Override PartName="/ppt/media/image33.png" ContentType="image/png"/>
  <Override PartName="/ppt/media/image62.png" ContentType="image/png"/>
  <Override PartName="/ppt/media/image6.jpeg" ContentType="image/jpeg"/>
  <Override PartName="/ppt/media/image71.png" ContentType="image/png"/>
  <Override PartName="/ppt/media/image29.png" ContentType="image/png"/>
  <Override PartName="/ppt/media/image69.png" ContentType="image/png"/>
  <Override PartName="/ppt/media/image70.png" ContentType="image/png"/>
  <Override PartName="/ppt/media/image68.png" ContentType="image/png"/>
  <Override PartName="/ppt/media/image28.jpeg" ContentType="image/jpeg"/>
  <Override PartName="/ppt/media/image31.png" ContentType="image/png"/>
  <Override PartName="/ppt/media/image66.png" ContentType="image/png"/>
  <Override PartName="/ppt/media/image72.png" ContentType="image/png"/>
  <Override PartName="/ppt/media/image27.png" ContentType="image/png"/>
  <Override PartName="/ppt/media/image78.jpeg" ContentType="image/jpeg"/>
  <Override PartName="/ppt/media/image64.png" ContentType="image/png"/>
  <Override PartName="/ppt/media/image63.png" ContentType="image/png"/>
  <Override PartName="/ppt/media/image17.png" ContentType="image/png"/>
  <Override PartName="/ppt/media/image15.png" ContentType="image/png"/>
  <Override PartName="/ppt/media/image3.png" ContentType="image/png"/>
  <Override PartName="/ppt/media/image32.jpeg" ContentType="image/jpeg"/>
  <Override PartName="/ppt/media/image35.png" ContentType="image/png"/>
  <Override PartName="/ppt/media/image14.png" ContentType="image/png"/>
  <Override PartName="/ppt/media/image5.png" ContentType="image/png"/>
  <Override PartName="/ppt/media/image37.png" ContentType="image/png"/>
  <Override PartName="/ppt/media/image26.png" ContentType="image/png"/>
  <Override PartName="/ppt/media/image8.jpeg" ContentType="image/jpeg"/>
  <Override PartName="/ppt/media/image38.png" ContentType="image/png"/>
  <Override PartName="/ppt/media/image36.png" ContentType="image/png"/>
  <Override PartName="/ppt/media/image7.jpeg" ContentType="image/jpeg"/>
  <Override PartName="/ppt/media/image16.png" ContentType="image/png"/>
  <Override PartName="/ppt/media/image75.jpeg" ContentType="image/jpeg"/>
  <Override PartName="/ppt/media/image34.png" ContentType="image/png"/>
  <Override PartName="/ppt/media/image18.png" ContentType="image/png"/>
  <Override PartName="/ppt/media/image12.jpeg" ContentType="image/jpeg"/>
  <Override PartName="/ppt/media/image9.png" ContentType="image/png"/>
  <Override PartName="/ppt/media/image4.png" ContentType="image/png"/>
  <Override PartName="/ppt/media/image13.png" ContentType="image/png"/>
  <Override PartName="/ppt/media/image1.png" ContentType="image/png"/>
  <Override PartName="/ppt/media/image10.png" ContentType="image/png"/>
  <Override PartName="/ppt/media/image47.png" ContentType="image/png"/>
  <Override PartName="/ppt/media/image2.png" ContentType="image/png"/>
  <Override PartName="/ppt/media/image11.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46.xml.rels" ContentType="application/vnd.openxmlformats-package.relationships+xml"/>
  <Override PartName="/ppt/slides/_rels/slide10.xml.rels" ContentType="application/vnd.openxmlformats-package.relationships+xml"/>
  <Override PartName="/ppt/slides/_rels/slide45.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31.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33.xml" ContentType="application/vnd.openxmlformats-officedocument.presentationml.slide+xml"/>
  <Override PartName="/ppt/slides/slide45.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30.xml" ContentType="application/vnd.openxmlformats-officedocument.presentationml.notesSlide+xml"/>
  <Override PartName="/ppt/notesSlides/notesSlide27.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_rels/notesSlide9.xml.rels" ContentType="application/vnd.openxmlformats-package.relationships+xml"/>
  <Override PartName="/ppt/notesSlides/_rels/notesSlide37.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1.xml.rels" ContentType="application/vnd.openxmlformats-package.relationships+xml"/>
  <Override PartName="/ppt/notesSlides/_rels/notesSlide46.xml.rels" ContentType="application/vnd.openxmlformats-package.relationships+xml"/>
  <Override PartName="/ppt/notesSlides/_rels/notesSlide35.xml.rels" ContentType="application/vnd.openxmlformats-package.relationships+xml"/>
  <Override PartName="/ppt/notesSlides/_rels/notesSlide4.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27.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33.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34.xml.rels" ContentType="application/vnd.openxmlformats-package.relationships+xml"/>
  <Override PartName="/ppt/notesSlides/_rels/notesSlide3.xml.rels" ContentType="application/vnd.openxmlformats-package.relationships+xml"/>
  <Override PartName="/ppt/notesSlides/_rels/notesSlide29.xml.rels" ContentType="application/vnd.openxmlformats-package.relationships+xml"/>
  <Override PartName="/ppt/notesSlides/_rels/notesSlide32.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34.xml" ContentType="application/vnd.openxmlformats-officedocument.presentationml.notesSlide+xml"/>
  <Override PartName="/ppt/notesSlides/notesSlide8.xml" ContentType="application/vnd.openxmlformats-officedocument.presentationml.notesSlide+xml"/>
  <Override PartName="/ppt/notesSlides/notesSlide33.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35.xml" ContentType="application/vnd.openxmlformats-officedocument.presentationml.notesSlide+xml"/>
  <Override PartName="/ppt/notesSlides/notesSlide46.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3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Lst>
  <p:sldSz cx="9906000" cy="6858000"/>
  <p:notesSz cx="6807200" cy="9939338"/>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trike="noStrike" u="none">
                <a:solidFill>
                  <a:schemeClr val="dk1"/>
                </a:solidFill>
                <a:effectLst/>
                <a:uFillTx/>
                <a:latin typeface="Calibri"/>
              </a:rPr>
              <a:t>Click to move the slide</a:t>
            </a:r>
            <a:endParaRPr b="0" lang="en-US" sz="1800" strike="noStrike" u="none">
              <a:solidFill>
                <a:schemeClr val="dk1"/>
              </a:solidFill>
              <a:effectLst/>
              <a:uFillTx/>
              <a:latin typeface="Calibri"/>
            </a:endParaRP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2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23"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9023FD08-B3C3-42F8-A153-9D5527DEAE1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 name="PlaceHolder 1"/>
          <p:cNvSpPr>
            <a:spLocks noGrp="1"/>
          </p:cNvSpPr>
          <p:nvPr>
            <p:ph type="sldImg"/>
          </p:nvPr>
        </p:nvSpPr>
        <p:spPr>
          <a:xfrm>
            <a:off x="981000" y="1243080"/>
            <a:ext cx="4844520" cy="3354120"/>
          </a:xfrm>
          <a:prstGeom prst="rect">
            <a:avLst/>
          </a:prstGeom>
          <a:ln w="0">
            <a:noFill/>
          </a:ln>
        </p:spPr>
      </p:sp>
      <p:sp>
        <p:nvSpPr>
          <p:cNvPr id="1088"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089" name="PlaceHolder 3"/>
          <p:cNvSpPr>
            <a:spLocks noGrp="1"/>
          </p:cNvSpPr>
          <p:nvPr>
            <p:ph type="sldNum" idx="4"/>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B938330-FE6F-42FA-888B-54BA75BDCD0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0" name="PlaceHolder 1"/>
          <p:cNvSpPr>
            <a:spLocks noGrp="1"/>
          </p:cNvSpPr>
          <p:nvPr>
            <p:ph type="sldImg"/>
          </p:nvPr>
        </p:nvSpPr>
        <p:spPr>
          <a:xfrm>
            <a:off x="981000" y="1243080"/>
            <a:ext cx="4844520" cy="3354120"/>
          </a:xfrm>
          <a:prstGeom prst="rect">
            <a:avLst/>
          </a:prstGeom>
          <a:ln w="0">
            <a:noFill/>
          </a:ln>
        </p:spPr>
      </p:sp>
      <p:sp>
        <p:nvSpPr>
          <p:cNvPr id="1091"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092" name="PlaceHolder 3"/>
          <p:cNvSpPr>
            <a:spLocks noGrp="1"/>
          </p:cNvSpPr>
          <p:nvPr>
            <p:ph type="sldNum" idx="5"/>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C2CECCF-8D73-40E8-8240-AEEE2AEC60D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3" name="PlaceHolder 1"/>
          <p:cNvSpPr>
            <a:spLocks noGrp="1"/>
          </p:cNvSpPr>
          <p:nvPr>
            <p:ph type="sldImg"/>
          </p:nvPr>
        </p:nvSpPr>
        <p:spPr>
          <a:xfrm>
            <a:off x="981000" y="1243080"/>
            <a:ext cx="4844520" cy="3354120"/>
          </a:xfrm>
          <a:prstGeom prst="rect">
            <a:avLst/>
          </a:prstGeom>
          <a:ln w="0">
            <a:noFill/>
          </a:ln>
        </p:spPr>
      </p:sp>
      <p:sp>
        <p:nvSpPr>
          <p:cNvPr id="1094"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095" name="PlaceHolder 3"/>
          <p:cNvSpPr>
            <a:spLocks noGrp="1"/>
          </p:cNvSpPr>
          <p:nvPr>
            <p:ph type="sldNum" idx="6"/>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5B8CF54-B312-4BD2-B800-F249C15D931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6" name="PlaceHolder 1"/>
          <p:cNvSpPr>
            <a:spLocks noGrp="1"/>
          </p:cNvSpPr>
          <p:nvPr>
            <p:ph type="sldImg"/>
          </p:nvPr>
        </p:nvSpPr>
        <p:spPr>
          <a:xfrm>
            <a:off x="981000" y="1243080"/>
            <a:ext cx="4844520" cy="3354120"/>
          </a:xfrm>
          <a:prstGeom prst="rect">
            <a:avLst/>
          </a:prstGeom>
          <a:ln w="0">
            <a:noFill/>
          </a:ln>
        </p:spPr>
      </p:sp>
      <p:sp>
        <p:nvSpPr>
          <p:cNvPr id="1097"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098" name="PlaceHolder 3"/>
          <p:cNvSpPr>
            <a:spLocks noGrp="1"/>
          </p:cNvSpPr>
          <p:nvPr>
            <p:ph type="sldNum" idx="7"/>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232F5AC-944B-4DEB-AD69-07423CA7CF4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9" name="PlaceHolder 1"/>
          <p:cNvSpPr>
            <a:spLocks noGrp="1"/>
          </p:cNvSpPr>
          <p:nvPr>
            <p:ph type="sldImg"/>
          </p:nvPr>
        </p:nvSpPr>
        <p:spPr>
          <a:xfrm>
            <a:off x="981000" y="1243080"/>
            <a:ext cx="4844520" cy="3354120"/>
          </a:xfrm>
          <a:prstGeom prst="rect">
            <a:avLst/>
          </a:prstGeom>
          <a:ln w="0">
            <a:noFill/>
          </a:ln>
        </p:spPr>
      </p:sp>
      <p:sp>
        <p:nvSpPr>
          <p:cNvPr id="1100"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01" name="PlaceHolder 3"/>
          <p:cNvSpPr>
            <a:spLocks noGrp="1"/>
          </p:cNvSpPr>
          <p:nvPr>
            <p:ph type="sldNum" idx="8"/>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4D115F2-B34B-42E8-9697-2D9FA63D644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2" name="PlaceHolder 1"/>
          <p:cNvSpPr>
            <a:spLocks noGrp="1"/>
          </p:cNvSpPr>
          <p:nvPr>
            <p:ph type="sldImg"/>
          </p:nvPr>
        </p:nvSpPr>
        <p:spPr>
          <a:xfrm>
            <a:off x="981000" y="1243080"/>
            <a:ext cx="4844520" cy="3354120"/>
          </a:xfrm>
          <a:prstGeom prst="rect">
            <a:avLst/>
          </a:prstGeom>
          <a:ln w="0">
            <a:noFill/>
          </a:ln>
        </p:spPr>
      </p:sp>
      <p:sp>
        <p:nvSpPr>
          <p:cNvPr id="1103"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04" name="PlaceHolder 3"/>
          <p:cNvSpPr>
            <a:spLocks noGrp="1"/>
          </p:cNvSpPr>
          <p:nvPr>
            <p:ph type="sldNum" idx="9"/>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D9F940E-30FD-4A61-A80D-C863CD0E5A3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5" name="PlaceHolder 1"/>
          <p:cNvSpPr>
            <a:spLocks noGrp="1"/>
          </p:cNvSpPr>
          <p:nvPr>
            <p:ph type="sldImg"/>
          </p:nvPr>
        </p:nvSpPr>
        <p:spPr>
          <a:xfrm>
            <a:off x="981000" y="1243080"/>
            <a:ext cx="4844520" cy="3354120"/>
          </a:xfrm>
          <a:prstGeom prst="rect">
            <a:avLst/>
          </a:prstGeom>
          <a:ln w="0">
            <a:noFill/>
          </a:ln>
        </p:spPr>
      </p:sp>
      <p:sp>
        <p:nvSpPr>
          <p:cNvPr id="1106"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07" name="PlaceHolder 3"/>
          <p:cNvSpPr>
            <a:spLocks noGrp="1"/>
          </p:cNvSpPr>
          <p:nvPr>
            <p:ph type="sldNum" idx="10"/>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3689BB4-1D02-4AD1-84CD-933C367E541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8" name="PlaceHolder 1"/>
          <p:cNvSpPr>
            <a:spLocks noGrp="1"/>
          </p:cNvSpPr>
          <p:nvPr>
            <p:ph type="sldImg"/>
          </p:nvPr>
        </p:nvSpPr>
        <p:spPr>
          <a:xfrm>
            <a:off x="981000" y="1243080"/>
            <a:ext cx="4844520" cy="3354120"/>
          </a:xfrm>
          <a:prstGeom prst="rect">
            <a:avLst/>
          </a:prstGeom>
          <a:ln w="0">
            <a:noFill/>
          </a:ln>
        </p:spPr>
      </p:sp>
      <p:sp>
        <p:nvSpPr>
          <p:cNvPr id="1109"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10" name="PlaceHolder 3"/>
          <p:cNvSpPr>
            <a:spLocks noGrp="1"/>
          </p:cNvSpPr>
          <p:nvPr>
            <p:ph type="sldNum" idx="11"/>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79F29F5-2099-45DD-85A7-18C6DA959F4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1" name="PlaceHolder 1"/>
          <p:cNvSpPr>
            <a:spLocks noGrp="1"/>
          </p:cNvSpPr>
          <p:nvPr>
            <p:ph type="sldImg"/>
          </p:nvPr>
        </p:nvSpPr>
        <p:spPr>
          <a:xfrm>
            <a:off x="981000" y="1243080"/>
            <a:ext cx="4844520" cy="3354120"/>
          </a:xfrm>
          <a:prstGeom prst="rect">
            <a:avLst/>
          </a:prstGeom>
          <a:ln w="0">
            <a:noFill/>
          </a:ln>
        </p:spPr>
      </p:sp>
      <p:sp>
        <p:nvSpPr>
          <p:cNvPr id="1112"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13" name="PlaceHolder 3"/>
          <p:cNvSpPr>
            <a:spLocks noGrp="1"/>
          </p:cNvSpPr>
          <p:nvPr>
            <p:ph type="sldNum" idx="12"/>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7DC23C4-4477-4D06-BA81-990A47EB9AE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4" name="PlaceHolder 1"/>
          <p:cNvSpPr>
            <a:spLocks noGrp="1"/>
          </p:cNvSpPr>
          <p:nvPr>
            <p:ph type="sldImg"/>
          </p:nvPr>
        </p:nvSpPr>
        <p:spPr>
          <a:xfrm>
            <a:off x="981000" y="1243080"/>
            <a:ext cx="4844520" cy="3354120"/>
          </a:xfrm>
          <a:prstGeom prst="rect">
            <a:avLst/>
          </a:prstGeom>
          <a:ln w="0">
            <a:noFill/>
          </a:ln>
        </p:spPr>
      </p:sp>
      <p:sp>
        <p:nvSpPr>
          <p:cNvPr id="1115"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16" name="PlaceHolder 3"/>
          <p:cNvSpPr>
            <a:spLocks noGrp="1"/>
          </p:cNvSpPr>
          <p:nvPr>
            <p:ph type="sldNum" idx="13"/>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62333C0-0849-43BA-AADF-C797DCFA3F6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7" name="PlaceHolder 1"/>
          <p:cNvSpPr>
            <a:spLocks noGrp="1"/>
          </p:cNvSpPr>
          <p:nvPr>
            <p:ph type="sldImg"/>
          </p:nvPr>
        </p:nvSpPr>
        <p:spPr>
          <a:xfrm>
            <a:off x="981000" y="1243080"/>
            <a:ext cx="4844520" cy="3354120"/>
          </a:xfrm>
          <a:prstGeom prst="rect">
            <a:avLst/>
          </a:prstGeom>
          <a:ln w="0">
            <a:noFill/>
          </a:ln>
        </p:spPr>
      </p:sp>
      <p:sp>
        <p:nvSpPr>
          <p:cNvPr id="1118"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19" name="PlaceHolder 3"/>
          <p:cNvSpPr>
            <a:spLocks noGrp="1"/>
          </p:cNvSpPr>
          <p:nvPr>
            <p:ph type="sldNum" idx="14"/>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E0B0EE4-FF2D-44E5-B451-33122B239543}"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 name="PlaceHolder 1"/>
          <p:cNvSpPr>
            <a:spLocks noGrp="1"/>
          </p:cNvSpPr>
          <p:nvPr>
            <p:ph type="sldImg"/>
          </p:nvPr>
        </p:nvSpPr>
        <p:spPr>
          <a:xfrm>
            <a:off x="981000" y="1243080"/>
            <a:ext cx="4844520" cy="3354120"/>
          </a:xfrm>
          <a:prstGeom prst="rect">
            <a:avLst/>
          </a:prstGeom>
          <a:ln w="0">
            <a:noFill/>
          </a:ln>
        </p:spPr>
      </p:sp>
      <p:sp>
        <p:nvSpPr>
          <p:cNvPr id="1121"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22" name="PlaceHolder 3"/>
          <p:cNvSpPr>
            <a:spLocks noGrp="1"/>
          </p:cNvSpPr>
          <p:nvPr>
            <p:ph type="sldNum" idx="15"/>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6C55CA5-E2E8-42D3-912A-CF5480C31C2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 name="PlaceHolder 1"/>
          <p:cNvSpPr>
            <a:spLocks noGrp="1"/>
          </p:cNvSpPr>
          <p:nvPr>
            <p:ph type="sldImg"/>
          </p:nvPr>
        </p:nvSpPr>
        <p:spPr>
          <a:xfrm>
            <a:off x="981000" y="1243080"/>
            <a:ext cx="4844520" cy="3354120"/>
          </a:xfrm>
          <a:prstGeom prst="rect">
            <a:avLst/>
          </a:prstGeom>
          <a:ln w="0">
            <a:noFill/>
          </a:ln>
        </p:spPr>
      </p:sp>
      <p:sp>
        <p:nvSpPr>
          <p:cNvPr id="1124"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25" name="PlaceHolder 3"/>
          <p:cNvSpPr>
            <a:spLocks noGrp="1"/>
          </p:cNvSpPr>
          <p:nvPr>
            <p:ph type="sldNum" idx="16"/>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D53DC02-905B-4247-A366-DADF4CE12DC0}"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6" name="PlaceHolder 1"/>
          <p:cNvSpPr>
            <a:spLocks noGrp="1"/>
          </p:cNvSpPr>
          <p:nvPr>
            <p:ph type="sldImg"/>
          </p:nvPr>
        </p:nvSpPr>
        <p:spPr>
          <a:xfrm>
            <a:off x="981000" y="1243080"/>
            <a:ext cx="4844520" cy="3354120"/>
          </a:xfrm>
          <a:prstGeom prst="rect">
            <a:avLst/>
          </a:prstGeom>
          <a:ln w="0">
            <a:noFill/>
          </a:ln>
        </p:spPr>
      </p:sp>
      <p:sp>
        <p:nvSpPr>
          <p:cNvPr id="1127"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28" name="PlaceHolder 3"/>
          <p:cNvSpPr>
            <a:spLocks noGrp="1"/>
          </p:cNvSpPr>
          <p:nvPr>
            <p:ph type="sldNum" idx="17"/>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DDDEF33-39B9-48FA-8D37-8603A0BDD78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9" name="PlaceHolder 1"/>
          <p:cNvSpPr>
            <a:spLocks noGrp="1"/>
          </p:cNvSpPr>
          <p:nvPr>
            <p:ph type="sldImg"/>
          </p:nvPr>
        </p:nvSpPr>
        <p:spPr>
          <a:xfrm>
            <a:off x="981000" y="1243080"/>
            <a:ext cx="4844520" cy="3354120"/>
          </a:xfrm>
          <a:prstGeom prst="rect">
            <a:avLst/>
          </a:prstGeom>
          <a:ln w="0">
            <a:noFill/>
          </a:ln>
        </p:spPr>
      </p:sp>
      <p:sp>
        <p:nvSpPr>
          <p:cNvPr id="1130"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31" name="PlaceHolder 3"/>
          <p:cNvSpPr>
            <a:spLocks noGrp="1"/>
          </p:cNvSpPr>
          <p:nvPr>
            <p:ph type="sldNum" idx="18"/>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764E7FB-01D1-4560-BBC6-6095E96E79F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2" name="PlaceHolder 1"/>
          <p:cNvSpPr>
            <a:spLocks noGrp="1"/>
          </p:cNvSpPr>
          <p:nvPr>
            <p:ph type="sldImg"/>
          </p:nvPr>
        </p:nvSpPr>
        <p:spPr>
          <a:xfrm>
            <a:off x="981000" y="1243080"/>
            <a:ext cx="4844520" cy="3354120"/>
          </a:xfrm>
          <a:prstGeom prst="rect">
            <a:avLst/>
          </a:prstGeom>
          <a:ln w="0">
            <a:noFill/>
          </a:ln>
        </p:spPr>
      </p:sp>
      <p:sp>
        <p:nvSpPr>
          <p:cNvPr id="1133"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34" name="PlaceHolder 3"/>
          <p:cNvSpPr>
            <a:spLocks noGrp="1"/>
          </p:cNvSpPr>
          <p:nvPr>
            <p:ph type="sldNum" idx="19"/>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5A0801F-0C43-46B0-A05F-EB5ADB79D6B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5" name="PlaceHolder 1"/>
          <p:cNvSpPr>
            <a:spLocks noGrp="1"/>
          </p:cNvSpPr>
          <p:nvPr>
            <p:ph type="sldImg"/>
          </p:nvPr>
        </p:nvSpPr>
        <p:spPr>
          <a:xfrm>
            <a:off x="981000" y="1243080"/>
            <a:ext cx="4844520" cy="3354120"/>
          </a:xfrm>
          <a:prstGeom prst="rect">
            <a:avLst/>
          </a:prstGeom>
          <a:ln w="0">
            <a:noFill/>
          </a:ln>
        </p:spPr>
      </p:sp>
      <p:sp>
        <p:nvSpPr>
          <p:cNvPr id="1136"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37" name="PlaceHolder 3"/>
          <p:cNvSpPr>
            <a:spLocks noGrp="1"/>
          </p:cNvSpPr>
          <p:nvPr>
            <p:ph type="sldNum" idx="20"/>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6DC7076-5EC0-4FC8-B9B3-24E0D19B2E3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8" name="PlaceHolder 1"/>
          <p:cNvSpPr>
            <a:spLocks noGrp="1"/>
          </p:cNvSpPr>
          <p:nvPr>
            <p:ph type="sldImg"/>
          </p:nvPr>
        </p:nvSpPr>
        <p:spPr>
          <a:xfrm>
            <a:off x="981000" y="1243080"/>
            <a:ext cx="4844520" cy="3354120"/>
          </a:xfrm>
          <a:prstGeom prst="rect">
            <a:avLst/>
          </a:prstGeom>
          <a:ln w="0">
            <a:noFill/>
          </a:ln>
        </p:spPr>
      </p:sp>
      <p:sp>
        <p:nvSpPr>
          <p:cNvPr id="1139"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40" name="PlaceHolder 3"/>
          <p:cNvSpPr>
            <a:spLocks noGrp="1"/>
          </p:cNvSpPr>
          <p:nvPr>
            <p:ph type="sldNum" idx="21"/>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6A252D6-971A-4F45-B2E5-AC163838B5A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1" name="PlaceHolder 1"/>
          <p:cNvSpPr>
            <a:spLocks noGrp="1"/>
          </p:cNvSpPr>
          <p:nvPr>
            <p:ph type="sldImg"/>
          </p:nvPr>
        </p:nvSpPr>
        <p:spPr>
          <a:xfrm>
            <a:off x="981000" y="1243080"/>
            <a:ext cx="4844520" cy="3354120"/>
          </a:xfrm>
          <a:prstGeom prst="rect">
            <a:avLst/>
          </a:prstGeom>
          <a:ln w="0">
            <a:noFill/>
          </a:ln>
        </p:spPr>
      </p:sp>
      <p:sp>
        <p:nvSpPr>
          <p:cNvPr id="1142"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43" name="PlaceHolder 3"/>
          <p:cNvSpPr>
            <a:spLocks noGrp="1"/>
          </p:cNvSpPr>
          <p:nvPr>
            <p:ph type="sldNum" idx="22"/>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62F9013-9F67-4705-AD62-8B4D61EBEBE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4" name="PlaceHolder 1"/>
          <p:cNvSpPr>
            <a:spLocks noGrp="1"/>
          </p:cNvSpPr>
          <p:nvPr>
            <p:ph type="sldImg"/>
          </p:nvPr>
        </p:nvSpPr>
        <p:spPr>
          <a:xfrm>
            <a:off x="981000" y="1243080"/>
            <a:ext cx="4844520" cy="3354120"/>
          </a:xfrm>
          <a:prstGeom prst="rect">
            <a:avLst/>
          </a:prstGeom>
          <a:ln w="0">
            <a:noFill/>
          </a:ln>
        </p:spPr>
      </p:sp>
      <p:sp>
        <p:nvSpPr>
          <p:cNvPr id="1145"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46" name="PlaceHolder 3"/>
          <p:cNvSpPr>
            <a:spLocks noGrp="1"/>
          </p:cNvSpPr>
          <p:nvPr>
            <p:ph type="sldNum" idx="23"/>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8FB36D4-2F7A-48E6-BFB4-9BF92A34CF2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7" name="PlaceHolder 1"/>
          <p:cNvSpPr>
            <a:spLocks noGrp="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rIns="91440" tIns="45720" bIns="45720" anchor="b">
            <a:noAutofit/>
          </a:bodyPr>
          <a:p>
            <a:pPr indent="0">
              <a:buNone/>
            </a:pPr>
            <a:endParaRPr b="0" lang="en-US" sz="1200" strike="noStrike" u="non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rIns="91440" tIns="45720" bIns="45720" anchor="b">
            <a:noAutofit/>
          </a:bodyPr>
          <a:lstStyle>
            <a:lvl1pPr indent="0" algn="r" defTabSz="956880">
              <a:lnSpc>
                <a:spcPct val="100000"/>
              </a:lnSpc>
              <a:buNone/>
              <a:defRPr b="0" lang="en-US" sz="1200" strike="noStrike" u="non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b="0" lang="en-US" sz="1200" strike="noStrike" u="none">
                <a:solidFill>
                  <a:srgbClr val="000000"/>
                </a:solidFill>
                <a:effectLst/>
                <a:uFillTx/>
                <a:latin typeface="Calibri"/>
                <a:ea typeface="ＭＳ Ｐゴシック"/>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タイトルとコンテンツ">
    <p:bg>
      <p:bgPr>
        <a:solidFill>
          <a:srgbClr val="ffffff"/>
        </a:solidFill>
      </p:bgPr>
    </p:bg>
    <p:spTree>
      <p:nvGrpSpPr>
        <p:cNvPr id="1" name=""/>
        <p:cNvGrpSpPr/>
        <p:nvPr/>
      </p:nvGrpSpPr>
      <p:grpSpPr>
        <a:xfrm>
          <a:off x="0" y="0"/>
          <a:ext cx="0" cy="0"/>
          <a:chOff x="0" y="0"/>
          <a:chExt cx="0" cy="0"/>
        </a:xfrm>
      </p:grpSpPr>
      <p:pic>
        <p:nvPicPr>
          <p:cNvPr id="0" name="図 1" descr=""/>
          <p:cNvPicPr/>
          <p:nvPr/>
        </p:nvPicPr>
        <p:blipFill>
          <a:blip r:embed="rId2"/>
          <a:stretch/>
        </p:blipFill>
        <p:spPr>
          <a:xfrm>
            <a:off x="8151480" y="72360"/>
            <a:ext cx="1598400" cy="423720"/>
          </a:xfrm>
          <a:prstGeom prst="rect">
            <a:avLst/>
          </a:prstGeom>
          <a:noFill/>
          <a:ln w="0">
            <a:noFill/>
          </a:ln>
        </p:spPr>
      </p:pic>
      <p:pic>
        <p:nvPicPr>
          <p:cNvPr id="1" name="図 4" descr=""/>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fillRef idx="0"/>
          <a:effectRef idx="0"/>
          <a:fontRef idx="minor"/>
        </p:style>
        <p:txBody>
          <a:bodyPr lIns="90000" rIns="90000" tIns="45000" bIns="45000" anchor="t">
            <a:noAutofit/>
          </a:bodyPr>
          <a:p>
            <a:pPr algn="r" defTabSz="914400">
              <a:lnSpc>
                <a:spcPct val="100000"/>
              </a:lnSpc>
            </a:pPr>
            <a:fld id="{7221DD93-BA6E-44AE-9625-337799002E27}" type="slidenum">
              <a:rPr b="1" lang="en-US" sz="1400" strike="noStrike" u="none">
                <a:solidFill>
                  <a:schemeClr val="lt1"/>
                </a:solidFill>
                <a:effectLst/>
                <a:uFillTx/>
                <a:latin typeface="メイリオ"/>
                <a:ea typeface="メイリオ"/>
              </a:rPr>
              <a:t>&lt;number&gt;</a:t>
            </a:fld>
            <a:endParaRPr b="0" lang="en-US" sz="1400" strike="noStrike" u="non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800" strike="noStrike" u="none">
                <a:solidFill>
                  <a:schemeClr val="lt1"/>
                </a:solidFill>
                <a:effectLst/>
                <a:uFillTx/>
                <a:latin typeface="メイリオ"/>
                <a:ea typeface="メイリオ"/>
              </a:rPr>
              <a:t>Copyright(c) DYM Co., Ltd</a:t>
            </a:r>
            <a:r>
              <a:rPr b="1" lang="ja-JP" sz="800" strike="noStrike" u="none">
                <a:solidFill>
                  <a:schemeClr val="lt1"/>
                </a:solidFill>
                <a:effectLst/>
                <a:uFillTx/>
                <a:latin typeface="メイリオ"/>
                <a:ea typeface="メイリオ"/>
              </a:rPr>
              <a:t>． </a:t>
            </a:r>
            <a:r>
              <a:rPr b="1" lang="en-US" sz="800" strike="noStrike" u="none">
                <a:solidFill>
                  <a:schemeClr val="lt1"/>
                </a:solidFill>
                <a:effectLst/>
                <a:uFillTx/>
                <a:latin typeface="メイリオ"/>
                <a:ea typeface="メイリオ"/>
              </a:rPr>
              <a:t>All Rights Reserved.</a:t>
            </a:r>
            <a:endParaRPr b="0" lang="en-US" sz="800" strike="noStrike" u="non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4_タイトルとコンテンツ">
    <p:bg>
      <p:bgPr>
        <a:solidFill>
          <a:srgbClr val="ffffff"/>
        </a:solidFill>
      </p:bgPr>
    </p:bg>
    <p:spTree>
      <p:nvGrpSpPr>
        <p:cNvPr id="1" name=""/>
        <p:cNvGrpSpPr/>
        <p:nvPr/>
      </p:nvGrpSpPr>
      <p:grpSpPr>
        <a:xfrm>
          <a:off x="0" y="0"/>
          <a:ext cx="0" cy="0"/>
          <a:chOff x="0" y="0"/>
          <a:chExt cx="0" cy="0"/>
        </a:xfrm>
      </p:grpSpPr>
      <p:pic>
        <p:nvPicPr>
          <p:cNvPr id="6" name="図 1" descr=""/>
          <p:cNvPicPr/>
          <p:nvPr/>
        </p:nvPicPr>
        <p:blipFill>
          <a:blip r:embed="rId2"/>
          <a:stretch/>
        </p:blipFill>
        <p:spPr>
          <a:xfrm>
            <a:off x="8151480" y="72360"/>
            <a:ext cx="1598400" cy="423720"/>
          </a:xfrm>
          <a:prstGeom prst="rect">
            <a:avLst/>
          </a:prstGeom>
          <a:noFill/>
          <a:ln w="0">
            <a:noFill/>
          </a:ln>
        </p:spPr>
      </p:pic>
      <p:pic>
        <p:nvPicPr>
          <p:cNvPr id="7" name="図 4" descr=""/>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fillRef idx="0"/>
          <a:effectRef idx="0"/>
          <a:fontRef idx="minor"/>
        </p:style>
        <p:txBody>
          <a:bodyPr lIns="90000" rIns="90000" tIns="45000" bIns="45000" anchor="t">
            <a:noAutofit/>
          </a:bodyPr>
          <a:p>
            <a:pPr algn="r" defTabSz="914400">
              <a:lnSpc>
                <a:spcPct val="100000"/>
              </a:lnSpc>
            </a:pPr>
            <a:fld id="{B234BB70-5183-4ABD-92F4-80874DE4EEF5}" type="slidenum">
              <a:rPr b="1" lang="en-US" sz="1400" strike="noStrike" u="none">
                <a:solidFill>
                  <a:schemeClr val="lt1"/>
                </a:solidFill>
                <a:effectLst/>
                <a:uFillTx/>
                <a:latin typeface="メイリオ"/>
                <a:ea typeface="メイリオ"/>
              </a:rPr>
              <a:t>&lt;number&gt;</a:t>
            </a:fld>
            <a:endParaRPr b="0" lang="en-US" sz="1400" strike="noStrike" u="non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800" strike="noStrike" u="none">
                <a:solidFill>
                  <a:schemeClr val="lt1"/>
                </a:solidFill>
                <a:effectLst/>
                <a:uFillTx/>
                <a:latin typeface="メイリオ"/>
                <a:ea typeface="メイリオ"/>
              </a:rPr>
              <a:t>Copyright(c) DYM Co., Ltd</a:t>
            </a:r>
            <a:r>
              <a:rPr b="1" lang="ja-JP" sz="800" strike="noStrike" u="none">
                <a:solidFill>
                  <a:schemeClr val="lt1"/>
                </a:solidFill>
                <a:effectLst/>
                <a:uFillTx/>
                <a:latin typeface="メイリオ"/>
                <a:ea typeface="メイリオ"/>
              </a:rPr>
              <a:t>． </a:t>
            </a:r>
            <a:r>
              <a:rPr b="1" lang="en-US" sz="800" strike="noStrike" u="none">
                <a:solidFill>
                  <a:schemeClr val="lt1"/>
                </a:solidFill>
                <a:effectLst/>
                <a:uFillTx/>
                <a:latin typeface="メイリオ"/>
                <a:ea typeface="メイリオ"/>
              </a:rPr>
              <a:t>All Rights Reserved.</a:t>
            </a:r>
            <a:endParaRPr b="0" lang="en-US" sz="800" strike="noStrike" u="non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Calibri"/>
              </a:rPr>
              <a:t>Click to edit the title text format</a:t>
            </a:r>
            <a:endParaRPr b="0" lang="en-US" sz="1800" strike="noStrike" u="none">
              <a:solidFill>
                <a:schemeClr val="dk1"/>
              </a:solidFill>
              <a:effectLst/>
              <a:uFillTx/>
              <a:latin typeface="Calibri"/>
            </a:endParaRP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タイトル スライド">
    <p:bg>
      <p:bgPr>
        <a:solidFill>
          <a:srgbClr val="ffffff"/>
        </a:solidFill>
      </p:bgPr>
    </p:bg>
    <p:spTree>
      <p:nvGrpSpPr>
        <p:cNvPr id="1" name=""/>
        <p:cNvGrpSpPr/>
        <p:nvPr/>
      </p:nvGrpSpPr>
      <p:grpSpPr>
        <a:xfrm>
          <a:off x="0" y="0"/>
          <a:ext cx="0" cy="0"/>
          <a:chOff x="0" y="0"/>
          <a:chExt cx="0" cy="0"/>
        </a:xfrm>
      </p:grpSpPr>
      <p:pic>
        <p:nvPicPr>
          <p:cNvPr id="15" name="図 1" descr=""/>
          <p:cNvPicPr/>
          <p:nvPr/>
        </p:nvPicPr>
        <p:blipFill>
          <a:blip r:embed="rId2"/>
          <a:stretch/>
        </p:blipFill>
        <p:spPr>
          <a:xfrm>
            <a:off x="8151480" y="72360"/>
            <a:ext cx="1598400" cy="423720"/>
          </a:xfrm>
          <a:prstGeom prst="rect">
            <a:avLst/>
          </a:prstGeom>
          <a:noFill/>
          <a:ln w="0">
            <a:noFill/>
          </a:ln>
        </p:spPr>
      </p:pic>
      <p:pic>
        <p:nvPicPr>
          <p:cNvPr id="16" name="図 4" descr=""/>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fillRef idx="0"/>
          <a:effectRef idx="0"/>
          <a:fontRef idx="minor"/>
        </p:style>
        <p:txBody>
          <a:bodyPr lIns="90000" rIns="90000" tIns="45000" bIns="45000" anchor="t">
            <a:noAutofit/>
          </a:bodyPr>
          <a:p>
            <a:pPr algn="r" defTabSz="914400">
              <a:lnSpc>
                <a:spcPct val="100000"/>
              </a:lnSpc>
            </a:pPr>
            <a:fld id="{077BD008-84D6-4C04-8004-9A059DF72521}" type="slidenum">
              <a:rPr b="1" lang="en-US" sz="1400" strike="noStrike" u="none">
                <a:solidFill>
                  <a:schemeClr val="lt1"/>
                </a:solidFill>
                <a:effectLst/>
                <a:uFillTx/>
                <a:latin typeface="メイリオ"/>
                <a:ea typeface="メイリオ"/>
              </a:rPr>
              <a:t>&lt;number&gt;</a:t>
            </a:fld>
            <a:endParaRPr b="0" lang="en-US" sz="1400" strike="noStrike" u="non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800" strike="noStrike" u="none">
                <a:solidFill>
                  <a:schemeClr val="lt1"/>
                </a:solidFill>
                <a:effectLst/>
                <a:uFillTx/>
                <a:latin typeface="メイリオ"/>
                <a:ea typeface="メイリオ"/>
              </a:rPr>
              <a:t>Copyright(c) DYM Co., Ltd</a:t>
            </a:r>
            <a:r>
              <a:rPr b="1" lang="ja-JP" sz="800" strike="noStrike" u="none">
                <a:solidFill>
                  <a:schemeClr val="lt1"/>
                </a:solidFill>
                <a:effectLst/>
                <a:uFillTx/>
                <a:latin typeface="メイリオ"/>
                <a:ea typeface="メイリオ"/>
              </a:rPr>
              <a:t>． </a:t>
            </a:r>
            <a:r>
              <a:rPr b="1" lang="en-US" sz="800" strike="noStrike" u="none">
                <a:solidFill>
                  <a:schemeClr val="lt1"/>
                </a:solidFill>
                <a:effectLst/>
                <a:uFillTx/>
                <a:latin typeface="メイリオ"/>
                <a:ea typeface="メイリオ"/>
              </a:rPr>
              <a:t>All Rights Reserved.</a:t>
            </a:r>
            <a:endParaRPr b="0" lang="en-US" sz="8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jpeg"/><Relationship Id="rId4" Type="http://schemas.openxmlformats.org/officeDocument/2006/relationships/slideLayout" Target="../slideLayouts/slideLayout2.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6.jpeg"/><Relationship Id="rId3" Type="http://schemas.openxmlformats.org/officeDocument/2006/relationships/image" Target="../media/image4.png"/><Relationship Id="rId4" Type="http://schemas.openxmlformats.org/officeDocument/2006/relationships/image" Target="../media/image4.pn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slideLayout" Target="../slideLayouts/slideLayout2.xml"/><Relationship Id="rId8"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hyperlink" Target="https://www.athome.co.jp/corporate/news/data/questionnaire/yondai-news-202512/" TargetMode="External"/><Relationship Id="rId2" Type="http://schemas.openxmlformats.org/officeDocument/2006/relationships/hyperlink" Target="https://www.athome.co.jp/corporate/news/data/questionnaire/online-chintai-202510/" TargetMode="External"/><Relationship Id="rId3" Type="http://schemas.openxmlformats.org/officeDocument/2006/relationships/hyperlink" Target="https://100en.net/" TargetMode="External"/><Relationship Id="rId4"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hyperlink" Target="https://www.athome.co.jp/corporate/news/data/questionnaire/online-chintai-202510/" TargetMode="External"/><Relationship Id="rId2" Type="http://schemas.openxmlformats.org/officeDocument/2006/relationships/hyperlink" Target="https://tadasumu.com/" TargetMode="External"/><Relationship Id="rId3" Type="http://schemas.openxmlformats.org/officeDocument/2006/relationships/hyperlink" Target="https://tadasumu.com/navi/tadasumu-toha/" TargetMode="External"/><Relationship Id="rId4" Type="http://schemas.openxmlformats.org/officeDocument/2006/relationships/hyperlink" Target="https://100en.net/" TargetMode="External"/><Relationship Id="rId5"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jpeg"/><Relationship Id="rId5"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jpe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7.png"/><Relationship Id="rId6" Type="http://schemas.openxmlformats.org/officeDocument/2006/relationships/image" Target="../media/image27.png"/><Relationship Id="rId7" Type="http://schemas.openxmlformats.org/officeDocument/2006/relationships/image" Target="../media/image28.jpeg"/><Relationship Id="rId8" Type="http://schemas.openxmlformats.org/officeDocument/2006/relationships/image" Target="../media/image29.png"/><Relationship Id="rId9" Type="http://schemas.openxmlformats.org/officeDocument/2006/relationships/image" Target="../media/image29.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28.jpeg"/><Relationship Id="rId14" Type="http://schemas.openxmlformats.org/officeDocument/2006/relationships/image" Target="../media/image32.jpeg"/><Relationship Id="rId15" Type="http://schemas.openxmlformats.org/officeDocument/2006/relationships/image" Target="../media/image29.png"/><Relationship Id="rId16" Type="http://schemas.openxmlformats.org/officeDocument/2006/relationships/image" Target="../media/image29.png"/><Relationship Id="rId17" Type="http://schemas.openxmlformats.org/officeDocument/2006/relationships/image" Target="../media/image29.png"/><Relationship Id="rId18"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slideLayout" Target="../slideLayouts/slideLayout2.xml"/><Relationship Id="rId10"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svg"/><Relationship Id="rId7" Type="http://schemas.openxmlformats.org/officeDocument/2006/relationships/image" Target="../media/image49.png"/><Relationship Id="rId8" Type="http://schemas.openxmlformats.org/officeDocument/2006/relationships/slideLayout" Target="../slideLayouts/slideLayout2.xml"/><Relationship Id="rId9"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svg"/><Relationship Id="rId3" Type="http://schemas.openxmlformats.org/officeDocument/2006/relationships/image" Target="../media/image52.png"/><Relationship Id="rId4" Type="http://schemas.openxmlformats.org/officeDocument/2006/relationships/image" Target="../media/image53.svg"/><Relationship Id="rId5" Type="http://schemas.openxmlformats.org/officeDocument/2006/relationships/image" Target="../media/image54.png"/><Relationship Id="rId6" Type="http://schemas.openxmlformats.org/officeDocument/2006/relationships/image" Target="../media/image55.svg"/><Relationship Id="rId7" Type="http://schemas.openxmlformats.org/officeDocument/2006/relationships/image" Target="../media/image56.png"/><Relationship Id="rId8" Type="http://schemas.openxmlformats.org/officeDocument/2006/relationships/image" Target="../media/image57.svg"/><Relationship Id="rId9" Type="http://schemas.openxmlformats.org/officeDocument/2006/relationships/slideLayout" Target="../slideLayouts/slideLayout2.xml"/><Relationship Id="rId10"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slideLayout" Target="../slideLayouts/slideLayout2.xml"/>
</Relationships>
</file>

<file path=ppt/slides/_rels/slide40.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slideLayout" Target="../slideLayouts/slideLayout2.xml"/>
</Relationships>
</file>

<file path=ppt/slides/_rels/slide41.xml.rels><?xml version="1.0" encoding="UTF-8"?>
<Relationships xmlns="http://schemas.openxmlformats.org/package/2006/relationships"><Relationship Id="rId1" Type="http://schemas.openxmlformats.org/officeDocument/2006/relationships/image" Target="../media/image67.png"/><Relationship Id="rId2" Type="http://schemas.openxmlformats.org/officeDocument/2006/relationships/slideLayout" Target="../slideLayouts/slideLayout2.xml"/>
</Relationships>
</file>

<file path=ppt/slides/_rels/slide42.xml.rels><?xml version="1.0" encoding="UTF-8"?>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2.xml"/>
</Relationships>
</file>

<file path=ppt/slides/_rels/slide43.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slideLayout" Target="../slideLayouts/slideLayout2.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Relationships xmlns="http://schemas.openxmlformats.org/package/2006/relationships"><Relationship Id="rId1" Type="http://schemas.openxmlformats.org/officeDocument/2006/relationships/image" Target="../media/image70.png"/><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2.xml"/>
</Relationships>
</file>

<file path=ppt/slides/_rels/slide46.xml.rels><?xml version="1.0" encoding="UTF-8"?>
<Relationships xmlns="http://schemas.openxmlformats.org/package/2006/relationships"><Relationship Id="rId1" Type="http://schemas.openxmlformats.org/officeDocument/2006/relationships/image" Target="../media/image73.emf"/><Relationship Id="rId2" Type="http://schemas.openxmlformats.org/officeDocument/2006/relationships/image" Target="../media/image74.jpeg"/><Relationship Id="rId3" Type="http://schemas.openxmlformats.org/officeDocument/2006/relationships/image" Target="../media/image75.jpeg"/><Relationship Id="rId4" Type="http://schemas.openxmlformats.org/officeDocument/2006/relationships/image" Target="../media/image76.jpeg"/><Relationship Id="rId5" Type="http://schemas.openxmlformats.org/officeDocument/2006/relationships/image" Target="../media/image77.jpeg"/><Relationship Id="rId6" Type="http://schemas.openxmlformats.org/officeDocument/2006/relationships/image" Target="../media/image78.jpeg"/><Relationship Id="rId7" Type="http://schemas.openxmlformats.org/officeDocument/2006/relationships/slideLayout" Target="../slideLayouts/slideLayout3.xml"/><Relationship Id="rId8" Type="http://schemas.openxmlformats.org/officeDocument/2006/relationships/notesSlide" Target="../notesSlides/notesSlide4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正方形/長方形 1"/>
          <p:cNvSpPr/>
          <p:nvPr/>
        </p:nvSpPr>
        <p:spPr>
          <a:xfrm>
            <a:off x="1665720" y="2103120"/>
            <a:ext cx="657396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3200" strike="noStrike" u="none">
                <a:solidFill>
                  <a:schemeClr val="dk1">
                    <a:lumMod val="75000"/>
                    <a:lumOff val="25000"/>
                  </a:schemeClr>
                </a:solidFill>
                <a:effectLst/>
                <a:uFillTx/>
                <a:latin typeface="メイリオ"/>
                <a:ea typeface="メイリオ"/>
              </a:rPr>
              <a:t>LINE</a:t>
            </a:r>
            <a:r>
              <a:rPr b="1" lang="ja-JP" sz="3200" strike="noStrike" u="none">
                <a:solidFill>
                  <a:schemeClr val="dk1">
                    <a:lumMod val="75000"/>
                    <a:lumOff val="25000"/>
                  </a:schemeClr>
                </a:solidFill>
                <a:effectLst/>
                <a:uFillTx/>
                <a:latin typeface="メイリオ"/>
                <a:ea typeface="メイリオ"/>
              </a:rPr>
              <a:t>公式アカウント運用のご提案</a:t>
            </a:r>
            <a:endParaRPr b="0" lang="en-US" sz="3200" strike="noStrike" u="none">
              <a:solidFill>
                <a:srgbClr val="000000"/>
              </a:solidFill>
              <a:effectLst/>
              <a:uFillTx/>
              <a:latin typeface="Arial"/>
            </a:endParaRPr>
          </a:p>
        </p:txBody>
      </p:sp>
      <p:sp>
        <p:nvSpPr>
          <p:cNvPr id="27" name="正方形/長方形 5"/>
          <p:cNvSpPr/>
          <p:nvPr/>
        </p:nvSpPr>
        <p:spPr>
          <a:xfrm>
            <a:off x="1334880" y="2999160"/>
            <a:ext cx="7232400" cy="1051200"/>
          </a:xfrm>
          <a:prstGeom prst="rect">
            <a:avLst/>
          </a:prstGeom>
          <a:solidFill>
            <a:srgbClr val="f4f7ff"/>
          </a:solidFill>
          <a:ln w="0">
            <a:noFill/>
          </a:ln>
        </p:spPr>
        <p:style>
          <a:lnRef idx="0"/>
          <a:fillRef idx="0"/>
          <a:effectRef idx="0"/>
          <a:fontRef idx="minor"/>
        </p:style>
        <p:txBody>
          <a:bodyPr lIns="182880" rIns="182880" tIns="91440" bIns="91440" anchor="ctr">
            <a:noAutofit/>
          </a:bodyPr>
          <a:p>
            <a:pPr algn="ctr" defTabSz="914400">
              <a:lnSpc>
                <a:spcPct val="100000"/>
              </a:lnSpc>
            </a:pPr>
            <a:r>
              <a:rPr b="1" lang="en-US" sz="2200" strike="noStrike" u="none">
                <a:solidFill>
                  <a:srgbClr val="1f285a"/>
                </a:solidFill>
                <a:effectLst/>
                <a:uFillTx/>
                <a:latin typeface="Meiryo"/>
                <a:ea typeface="Meiryo"/>
              </a:rPr>
              <a:t>LINE</a:t>
            </a:r>
            <a:r>
              <a:rPr b="1" lang="ja-JP" sz="2200" strike="noStrike" u="none">
                <a:solidFill>
                  <a:srgbClr val="1f285a"/>
                </a:solidFill>
                <a:effectLst/>
                <a:uFillTx/>
                <a:latin typeface="Meiryo"/>
                <a:ea typeface="Meiryo"/>
              </a:rPr>
              <a:t>への流入と友だち追加後の導線を整備し、</a:t>
            </a:r>
            <a:endParaRPr b="0" lang="en-US" sz="2200" strike="noStrike" u="none">
              <a:solidFill>
                <a:srgbClr val="000000"/>
              </a:solidFill>
              <a:effectLst/>
              <a:uFillTx/>
              <a:latin typeface="Arial"/>
            </a:endParaRPr>
          </a:p>
          <a:p>
            <a:pPr algn="ctr" defTabSz="914400">
              <a:lnSpc>
                <a:spcPct val="100000"/>
              </a:lnSpc>
            </a:pPr>
            <a:r>
              <a:rPr b="1" lang="ja-JP" sz="2200" strike="noStrike" u="none">
                <a:solidFill>
                  <a:srgbClr val="c00000"/>
                </a:solidFill>
                <a:effectLst/>
                <a:uFillTx/>
                <a:latin typeface="Meiryo"/>
                <a:ea typeface="Meiryo"/>
              </a:rPr>
              <a:t>物件問い合わせの増加</a:t>
            </a:r>
            <a:r>
              <a:rPr b="1" lang="ja-JP" sz="2200" strike="noStrike" u="none">
                <a:solidFill>
                  <a:srgbClr val="1f285a"/>
                </a:solidFill>
                <a:effectLst/>
                <a:uFillTx/>
                <a:latin typeface="Meiryo"/>
                <a:ea typeface="Meiryo"/>
              </a:rPr>
              <a:t>を実現する</a:t>
            </a:r>
            <a:endParaRPr b="0" lang="en-US" sz="2200" strike="noStrike" u="none">
              <a:solidFill>
                <a:srgbClr val="000000"/>
              </a:solidFill>
              <a:effectLst/>
              <a:uFillTx/>
              <a:latin typeface="Arial"/>
            </a:endParaRPr>
          </a:p>
        </p:txBody>
      </p:sp>
      <p:cxnSp>
        <p:nvCxnSpPr>
          <p:cNvPr id="28" name="直線コネクタ 4"/>
          <p:cNvCxnSpPr/>
          <p:nvPr/>
        </p:nvCxnSpPr>
        <p:spPr>
          <a:xfrm>
            <a:off x="1337040" y="2770560"/>
            <a:ext cx="7232040" cy="36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1"/>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ja-JP" sz="1600" strike="noStrike" u="none">
                <a:solidFill>
                  <a:schemeClr val="dk1">
                    <a:lumMod val="50000"/>
                    <a:lumOff val="50000"/>
                  </a:schemeClr>
                </a:solidFill>
                <a:effectLst/>
                <a:uFillTx/>
                <a:latin typeface="Meiryo"/>
                <a:ea typeface="Meiryo"/>
              </a:rPr>
              <a:t>株式会社あらうち 御中</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cxnSp>
        <p:nvCxnSpPr>
          <p:cNvPr id="3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35"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現状把握</a:t>
            </a:r>
            <a:endParaRPr b="0" lang="en-US" sz="1600" strike="noStrike" u="none">
              <a:solidFill>
                <a:srgbClr val="000000"/>
              </a:solidFill>
              <a:effectLst/>
              <a:uFillTx/>
              <a:latin typeface="Arial"/>
            </a:endParaRPr>
          </a:p>
        </p:txBody>
      </p:sp>
      <p:sp>
        <p:nvSpPr>
          <p:cNvPr id="36" name="テキスト ボックス 28"/>
          <p:cNvSpPr/>
          <p:nvPr/>
        </p:nvSpPr>
        <p:spPr>
          <a:xfrm>
            <a:off x="4983480" y="1499760"/>
            <a:ext cx="4498560" cy="347040"/>
          </a:xfrm>
          <a:prstGeom prst="rect">
            <a:avLst/>
          </a:prstGeom>
          <a:solidFill>
            <a:srgbClr val="04fa0a"/>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400" strike="noStrike" u="none">
                <a:solidFill>
                  <a:schemeClr val="lt1"/>
                </a:solidFill>
                <a:effectLst/>
                <a:uFillTx/>
                <a:latin typeface="メイリオ"/>
                <a:ea typeface="メイリオ"/>
              </a:rPr>
              <a:t>LINE</a:t>
            </a:r>
            <a:r>
              <a:rPr b="1" lang="ja-JP" sz="1400" strike="noStrike" u="none">
                <a:solidFill>
                  <a:schemeClr val="lt1"/>
                </a:solidFill>
                <a:effectLst/>
                <a:uFillTx/>
                <a:latin typeface="メイリオ"/>
                <a:ea typeface="メイリオ"/>
              </a:rPr>
              <a:t>ステータス</a:t>
            </a:r>
            <a:endParaRPr b="0" lang="en-US" sz="1400" strike="noStrike" u="none">
              <a:solidFill>
                <a:srgbClr val="000000"/>
              </a:solidFill>
              <a:effectLst/>
              <a:uFillTx/>
              <a:latin typeface="Arial"/>
            </a:endParaRPr>
          </a:p>
        </p:txBody>
      </p:sp>
      <p:sp>
        <p:nvSpPr>
          <p:cNvPr id="37" name="テキスト ボックス 30"/>
          <p:cNvSpPr/>
          <p:nvPr/>
        </p:nvSpPr>
        <p:spPr>
          <a:xfrm>
            <a:off x="365760" y="1499760"/>
            <a:ext cx="4388760" cy="347040"/>
          </a:xfrm>
          <a:prstGeom prst="rect">
            <a:avLst/>
          </a:prstGeom>
          <a:solidFill>
            <a:schemeClr val="tx1"/>
          </a:solid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400" strike="noStrike" u="none">
                <a:solidFill>
                  <a:schemeClr val="lt1"/>
                </a:solidFill>
                <a:effectLst/>
                <a:uFillTx/>
                <a:latin typeface="メイリオ"/>
                <a:ea typeface="メイリオ"/>
              </a:rPr>
              <a:t>WEB</a:t>
            </a:r>
            <a:r>
              <a:rPr b="0" lang="ja-JP" sz="1400" strike="noStrike" u="none">
                <a:solidFill>
                  <a:schemeClr val="lt1"/>
                </a:solidFill>
                <a:effectLst/>
                <a:uFillTx/>
                <a:latin typeface="メイリオ"/>
                <a:ea typeface="メイリオ"/>
              </a:rPr>
              <a:t>サイトステータス</a:t>
            </a:r>
            <a:endParaRPr b="0" lang="en-US" sz="1400" strike="noStrike" u="none">
              <a:solidFill>
                <a:srgbClr val="ffffff"/>
              </a:solidFill>
              <a:effectLst/>
              <a:uFillTx/>
              <a:latin typeface="Arial"/>
            </a:endParaRPr>
          </a:p>
        </p:txBody>
      </p:sp>
      <p:sp>
        <p:nvSpPr>
          <p:cNvPr id="38" name="テキスト ボックス 42"/>
          <p:cNvSpPr/>
          <p:nvPr/>
        </p:nvSpPr>
        <p:spPr>
          <a:xfrm>
            <a:off x="365760" y="5660280"/>
            <a:ext cx="4388760" cy="5482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dk1"/>
                </a:solidFill>
                <a:effectLst/>
                <a:uFillTx/>
                <a:latin typeface="メイリオ"/>
                <a:ea typeface="メイリオ"/>
              </a:rPr>
              <a:t>全ページに「</a:t>
            </a:r>
            <a:r>
              <a:rPr b="0" lang="en-US" sz="1200" strike="noStrike" u="none">
                <a:solidFill>
                  <a:schemeClr val="dk1"/>
                </a:solidFill>
                <a:effectLst/>
                <a:uFillTx/>
                <a:latin typeface="メイリオ"/>
                <a:ea typeface="メイリオ"/>
              </a:rPr>
              <a:t>LINE</a:t>
            </a:r>
            <a:r>
              <a:rPr b="0" lang="ja-JP" sz="1200" strike="noStrike" u="none">
                <a:solidFill>
                  <a:schemeClr val="dk1"/>
                </a:solidFill>
                <a:effectLst/>
                <a:uFillTx/>
                <a:latin typeface="メイリオ"/>
                <a:ea typeface="メイリオ"/>
              </a:rPr>
              <a:t>でお問い合わせ」ボタンを設置。</a:t>
            </a:r>
            <a:endParaRPr b="0" lang="en-US" sz="1200" strike="noStrike" u="none">
              <a:solidFill>
                <a:srgbClr val="000000"/>
              </a:solidFill>
              <a:effectLst/>
              <a:uFillTx/>
              <a:latin typeface="Arial"/>
            </a:endParaRPr>
          </a:p>
          <a:p>
            <a:pPr algn="ctr" defTabSz="914400">
              <a:lnSpc>
                <a:spcPct val="100000"/>
              </a:lnSpc>
            </a:pPr>
            <a:r>
              <a:rPr b="1" lang="en-US" sz="1200" strike="noStrike" u="none">
                <a:solidFill>
                  <a:schemeClr val="dk1"/>
                </a:solidFill>
                <a:effectLst/>
                <a:uFillTx/>
                <a:latin typeface="メイリオ"/>
                <a:ea typeface="メイリオ"/>
              </a:rPr>
              <a:t>100</a:t>
            </a:r>
            <a:r>
              <a:rPr b="1" lang="ja-JP" sz="1200" strike="noStrike" u="none">
                <a:solidFill>
                  <a:schemeClr val="dk1"/>
                </a:solidFill>
                <a:effectLst/>
                <a:uFillTx/>
                <a:latin typeface="メイリオ"/>
                <a:ea typeface="メイリオ"/>
              </a:rPr>
              <a:t>円チェッカー・内見依頼</a:t>
            </a:r>
            <a:r>
              <a:rPr b="0" lang="ja-JP" sz="1200" strike="noStrike" u="none">
                <a:solidFill>
                  <a:schemeClr val="dk1"/>
                </a:solidFill>
                <a:effectLst/>
                <a:uFillTx/>
                <a:latin typeface="メイリオ"/>
                <a:ea typeface="メイリオ"/>
              </a:rPr>
              <a:t>など、問い合わせ入口を整備。</a:t>
            </a:r>
            <a:endParaRPr b="0" lang="en-US" sz="1200" strike="noStrike" u="none">
              <a:solidFill>
                <a:srgbClr val="000000"/>
              </a:solidFill>
              <a:effectLst/>
              <a:uFillTx/>
              <a:latin typeface="Arial"/>
            </a:endParaRPr>
          </a:p>
        </p:txBody>
      </p:sp>
      <p:sp>
        <p:nvSpPr>
          <p:cNvPr id="39" name="テキスト ボックス 52"/>
          <p:cNvSpPr/>
          <p:nvPr/>
        </p:nvSpPr>
        <p:spPr>
          <a:xfrm>
            <a:off x="4983480" y="5660280"/>
            <a:ext cx="4498560" cy="5482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リッチメニュー未設置・あいさつにボタンなし。</a:t>
            </a:r>
            <a:br>
              <a:rPr sz="1200"/>
            </a:br>
            <a:r>
              <a:rPr b="1" lang="ja-JP" sz="1200" strike="noStrike" u="none">
                <a:solidFill>
                  <a:schemeClr val="dk1"/>
                </a:solidFill>
                <a:effectLst/>
                <a:uFillTx/>
                <a:latin typeface="メイリオ"/>
                <a:ea typeface="メイリオ"/>
              </a:rPr>
              <a:t>改善の余地あり。</a:t>
            </a:r>
            <a:endParaRPr b="0" lang="en-US" sz="1200" strike="noStrike" u="none">
              <a:solidFill>
                <a:srgbClr val="000000"/>
              </a:solidFill>
              <a:effectLst/>
              <a:uFillTx/>
              <a:latin typeface="Arial"/>
            </a:endParaRPr>
          </a:p>
        </p:txBody>
      </p:sp>
      <p:pic>
        <p:nvPicPr>
          <p:cNvPr id="40" name="図 54" descr=""/>
          <p:cNvPicPr/>
          <p:nvPr/>
        </p:nvPicPr>
        <p:blipFill>
          <a:blip r:embed="rId1"/>
          <a:stretch/>
        </p:blipFill>
        <p:spPr>
          <a:xfrm>
            <a:off x="4983480" y="1920240"/>
            <a:ext cx="1420560" cy="2885400"/>
          </a:xfrm>
          <a:prstGeom prst="rect">
            <a:avLst/>
          </a:prstGeom>
          <a:noFill/>
          <a:ln w="0">
            <a:noFill/>
          </a:ln>
        </p:spPr>
      </p:pic>
      <p:sp>
        <p:nvSpPr>
          <p:cNvPr id="41" name="テキスト ボックス 60"/>
          <p:cNvSpPr/>
          <p:nvPr/>
        </p:nvSpPr>
        <p:spPr>
          <a:xfrm>
            <a:off x="5058000" y="2134800"/>
            <a:ext cx="1265400" cy="2346840"/>
          </a:xfrm>
          <a:prstGeom prst="rect">
            <a:avLst/>
          </a:prstGeom>
          <a:solidFill>
            <a:schemeClr val="bg1"/>
          </a:solidFill>
          <a:ln w="0">
            <a:noFill/>
          </a:ln>
        </p:spPr>
        <p:style>
          <a:lnRef idx="0"/>
          <a:fillRef idx="0"/>
          <a:effectRef idx="0"/>
          <a:fontRef idx="minor"/>
        </p:style>
        <p:txBody>
          <a:bodyPr lIns="90000" rIns="90000" tIns="45000" bIns="45000" anchor="t">
            <a:noAutofit/>
          </a:bodyPr>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p:txBody>
      </p:sp>
      <p:sp>
        <p:nvSpPr>
          <p:cNvPr id="42" name="テキスト ボックス 64"/>
          <p:cNvSpPr/>
          <p:nvPr/>
        </p:nvSpPr>
        <p:spPr>
          <a:xfrm>
            <a:off x="1783080" y="19202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サイト</a:t>
            </a:r>
            <a:r>
              <a:rPr b="0" lang="en-US" sz="1200" strike="noStrike" u="none">
                <a:solidFill>
                  <a:schemeClr val="lt1"/>
                </a:solidFill>
                <a:effectLst/>
                <a:uFillTx/>
                <a:latin typeface="メイリオ"/>
                <a:ea typeface="メイリオ"/>
              </a:rPr>
              <a:t>UU</a:t>
            </a:r>
            <a:endParaRPr b="0" lang="en-US" sz="1200" strike="noStrike" u="none">
              <a:solidFill>
                <a:srgbClr val="ffffff"/>
              </a:solidFill>
              <a:effectLst/>
              <a:uFillTx/>
              <a:latin typeface="Arial"/>
            </a:endParaRPr>
          </a:p>
        </p:txBody>
      </p:sp>
      <p:sp>
        <p:nvSpPr>
          <p:cNvPr id="43" name="テキスト ボックス 66"/>
          <p:cNvSpPr/>
          <p:nvPr/>
        </p:nvSpPr>
        <p:spPr>
          <a:xfrm>
            <a:off x="1783080" y="5180040"/>
            <a:ext cx="2971440" cy="45684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n-US" sz="1100" strike="noStrike" u="none">
                <a:solidFill>
                  <a:srgbClr val="595959"/>
                </a:solidFill>
                <a:effectLst/>
                <a:uFillTx/>
                <a:latin typeface="メイリオ"/>
                <a:ea typeface="メイリオ"/>
              </a:rPr>
              <a:t>※いずれも貴社ヒヤリング、外部計測</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　をもとにした想定。（仮）は仮置き。</a:t>
            </a:r>
            <a:endParaRPr b="0" lang="en-US" sz="1100" strike="noStrike" u="none">
              <a:solidFill>
                <a:srgbClr val="000000"/>
              </a:solidFill>
              <a:effectLst/>
              <a:uFillTx/>
              <a:latin typeface="Arial"/>
            </a:endParaRPr>
          </a:p>
        </p:txBody>
      </p:sp>
      <p:sp>
        <p:nvSpPr>
          <p:cNvPr id="44" name="テキスト ボックス 68"/>
          <p:cNvSpPr/>
          <p:nvPr/>
        </p:nvSpPr>
        <p:spPr>
          <a:xfrm>
            <a:off x="1783080" y="22449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広告</a:t>
            </a:r>
            <a:r>
              <a:rPr b="0" lang="en-US" sz="1200" strike="noStrike" u="none">
                <a:solidFill>
                  <a:schemeClr val="lt1"/>
                </a:solidFill>
                <a:effectLst/>
                <a:uFillTx/>
                <a:latin typeface="メイリオ"/>
                <a:ea typeface="メイリオ"/>
              </a:rPr>
              <a:t>UU</a:t>
            </a:r>
            <a:endParaRPr b="0" lang="en-US" sz="1200" strike="noStrike" u="none">
              <a:solidFill>
                <a:srgbClr val="ffffff"/>
              </a:solidFill>
              <a:effectLst/>
              <a:uFillTx/>
              <a:latin typeface="Arial"/>
            </a:endParaRPr>
          </a:p>
        </p:txBody>
      </p:sp>
      <p:sp>
        <p:nvSpPr>
          <p:cNvPr id="45" name="テキスト ボックス 70"/>
          <p:cNvSpPr/>
          <p:nvPr/>
        </p:nvSpPr>
        <p:spPr>
          <a:xfrm>
            <a:off x="1783080" y="256932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広告費用</a:t>
            </a:r>
            <a:endParaRPr b="0" lang="en-US" sz="1200" strike="noStrike" u="none">
              <a:solidFill>
                <a:srgbClr val="ffffff"/>
              </a:solidFill>
              <a:effectLst/>
              <a:uFillTx/>
              <a:latin typeface="Arial"/>
            </a:endParaRPr>
          </a:p>
        </p:txBody>
      </p:sp>
      <p:sp>
        <p:nvSpPr>
          <p:cNvPr id="46" name="テキスト ボックス 72"/>
          <p:cNvSpPr/>
          <p:nvPr/>
        </p:nvSpPr>
        <p:spPr>
          <a:xfrm>
            <a:off x="1783080" y="48416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メイン流入元</a:t>
            </a:r>
            <a:endParaRPr b="0" lang="en-US" sz="1200" strike="noStrike" u="none">
              <a:solidFill>
                <a:srgbClr val="ffffff"/>
              </a:solidFill>
              <a:effectLst/>
              <a:uFillTx/>
              <a:latin typeface="Arial"/>
            </a:endParaRPr>
          </a:p>
        </p:txBody>
      </p:sp>
      <p:sp>
        <p:nvSpPr>
          <p:cNvPr id="47" name="テキスト ボックス 74"/>
          <p:cNvSpPr/>
          <p:nvPr/>
        </p:nvSpPr>
        <p:spPr>
          <a:xfrm>
            <a:off x="1783080" y="451728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他</a:t>
            </a:r>
            <a:r>
              <a:rPr b="0" lang="en-US" sz="1200" strike="noStrike" u="none">
                <a:solidFill>
                  <a:schemeClr val="lt1"/>
                </a:solidFill>
                <a:effectLst/>
                <a:uFillTx/>
                <a:latin typeface="メイリオ"/>
                <a:ea typeface="メイリオ"/>
              </a:rPr>
              <a:t>SNS</a:t>
            </a:r>
            <a:endParaRPr b="0" lang="en-US" sz="1200" strike="noStrike" u="none">
              <a:solidFill>
                <a:srgbClr val="ffffff"/>
              </a:solidFill>
              <a:effectLst/>
              <a:uFillTx/>
              <a:latin typeface="Arial"/>
            </a:endParaRPr>
          </a:p>
        </p:txBody>
      </p:sp>
      <p:sp>
        <p:nvSpPr>
          <p:cNvPr id="48" name="テキスト ボックス 75"/>
          <p:cNvSpPr/>
          <p:nvPr/>
        </p:nvSpPr>
        <p:spPr>
          <a:xfrm>
            <a:off x="1783080" y="41925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リード保有数</a:t>
            </a:r>
            <a:endParaRPr b="0" lang="en-US" sz="1200" strike="noStrike" u="none">
              <a:solidFill>
                <a:srgbClr val="ffffff"/>
              </a:solidFill>
              <a:effectLst/>
              <a:uFillTx/>
              <a:latin typeface="Arial"/>
            </a:endParaRPr>
          </a:p>
        </p:txBody>
      </p:sp>
      <p:sp>
        <p:nvSpPr>
          <p:cNvPr id="49" name="テキスト ボックス 77"/>
          <p:cNvSpPr/>
          <p:nvPr/>
        </p:nvSpPr>
        <p:spPr>
          <a:xfrm>
            <a:off x="1783080" y="28940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月間</a:t>
            </a:r>
            <a:r>
              <a:rPr b="0" lang="en-US" sz="1200" strike="noStrike" u="none">
                <a:solidFill>
                  <a:schemeClr val="lt1"/>
                </a:solidFill>
                <a:effectLst/>
                <a:uFillTx/>
                <a:latin typeface="メイリオ"/>
                <a:ea typeface="メイリオ"/>
              </a:rPr>
              <a:t>CV</a:t>
            </a:r>
            <a:r>
              <a:rPr b="0" lang="ja-JP" sz="1200" strike="noStrike" u="none">
                <a:solidFill>
                  <a:schemeClr val="lt1"/>
                </a:solidFill>
                <a:effectLst/>
                <a:uFillTx/>
                <a:latin typeface="メイリオ"/>
                <a:ea typeface="メイリオ"/>
              </a:rPr>
              <a:t>数</a:t>
            </a:r>
            <a:endParaRPr b="0" lang="en-US" sz="1200" strike="noStrike" u="none">
              <a:solidFill>
                <a:srgbClr val="ffffff"/>
              </a:solidFill>
              <a:effectLst/>
              <a:uFillTx/>
              <a:latin typeface="Arial"/>
            </a:endParaRPr>
          </a:p>
        </p:txBody>
      </p:sp>
      <p:sp>
        <p:nvSpPr>
          <p:cNvPr id="50" name="テキスト ボックス 79"/>
          <p:cNvSpPr/>
          <p:nvPr/>
        </p:nvSpPr>
        <p:spPr>
          <a:xfrm>
            <a:off x="1783080" y="32187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en-US" sz="1200" strike="noStrike" u="none">
                <a:solidFill>
                  <a:schemeClr val="lt1"/>
                </a:solidFill>
                <a:effectLst/>
                <a:uFillTx/>
                <a:latin typeface="メイリオ"/>
                <a:ea typeface="メイリオ"/>
              </a:rPr>
              <a:t>CV</a:t>
            </a:r>
            <a:r>
              <a:rPr b="0" lang="ja-JP" sz="1200" strike="noStrike" u="none">
                <a:solidFill>
                  <a:schemeClr val="lt1"/>
                </a:solidFill>
                <a:effectLst/>
                <a:uFillTx/>
                <a:latin typeface="メイリオ"/>
                <a:ea typeface="メイリオ"/>
              </a:rPr>
              <a:t>地点</a:t>
            </a:r>
            <a:endParaRPr b="0" lang="en-US" sz="1200" strike="noStrike" u="none">
              <a:solidFill>
                <a:srgbClr val="ffffff"/>
              </a:solidFill>
              <a:effectLst/>
              <a:uFillTx/>
              <a:latin typeface="Arial"/>
            </a:endParaRPr>
          </a:p>
        </p:txBody>
      </p:sp>
      <p:sp>
        <p:nvSpPr>
          <p:cNvPr id="51" name="テキスト ボックス 81"/>
          <p:cNvSpPr/>
          <p:nvPr/>
        </p:nvSpPr>
        <p:spPr>
          <a:xfrm>
            <a:off x="1783080" y="354348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en-US" sz="1200" strike="noStrike" u="none">
                <a:solidFill>
                  <a:schemeClr val="lt1"/>
                </a:solidFill>
                <a:effectLst/>
                <a:uFillTx/>
                <a:latin typeface="メイリオ"/>
                <a:ea typeface="メイリオ"/>
              </a:rPr>
              <a:t>LINE</a:t>
            </a:r>
            <a:r>
              <a:rPr b="0" lang="ja-JP" sz="1200" strike="noStrike" u="none">
                <a:solidFill>
                  <a:schemeClr val="lt1"/>
                </a:solidFill>
                <a:effectLst/>
                <a:uFillTx/>
                <a:latin typeface="メイリオ"/>
                <a:ea typeface="メイリオ"/>
              </a:rPr>
              <a:t>動線</a:t>
            </a:r>
            <a:endParaRPr b="0" lang="en-US" sz="1200" strike="noStrike" u="none">
              <a:solidFill>
                <a:srgbClr val="ffffff"/>
              </a:solidFill>
              <a:effectLst/>
              <a:uFillTx/>
              <a:latin typeface="Arial"/>
            </a:endParaRPr>
          </a:p>
        </p:txBody>
      </p:sp>
      <p:sp>
        <p:nvSpPr>
          <p:cNvPr id="52" name="テキスト ボックス 83"/>
          <p:cNvSpPr/>
          <p:nvPr/>
        </p:nvSpPr>
        <p:spPr>
          <a:xfrm>
            <a:off x="1783080" y="38678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広告比率</a:t>
            </a:r>
            <a:endParaRPr b="0" lang="en-US" sz="1200" strike="noStrike" u="none">
              <a:solidFill>
                <a:srgbClr val="ffffff"/>
              </a:solidFill>
              <a:effectLst/>
              <a:uFillTx/>
              <a:latin typeface="Arial"/>
            </a:endParaRPr>
          </a:p>
        </p:txBody>
      </p:sp>
      <p:sp>
        <p:nvSpPr>
          <p:cNvPr id="53" name="テキスト ボックス 85"/>
          <p:cNvSpPr/>
          <p:nvPr/>
        </p:nvSpPr>
        <p:spPr>
          <a:xfrm>
            <a:off x="6510600" y="19202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友だち数</a:t>
            </a:r>
            <a:endParaRPr b="0" lang="en-US" sz="1200" strike="noStrike" u="none">
              <a:solidFill>
                <a:srgbClr val="ffffff"/>
              </a:solidFill>
              <a:effectLst/>
              <a:uFillTx/>
              <a:latin typeface="Arial"/>
            </a:endParaRPr>
          </a:p>
        </p:txBody>
      </p:sp>
      <p:sp>
        <p:nvSpPr>
          <p:cNvPr id="54" name="テキスト ボックス 87"/>
          <p:cNvSpPr/>
          <p:nvPr/>
        </p:nvSpPr>
        <p:spPr>
          <a:xfrm>
            <a:off x="6510600" y="22449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アクティブ数</a:t>
            </a:r>
            <a:endParaRPr b="0" lang="en-US" sz="1200" strike="noStrike" u="none">
              <a:solidFill>
                <a:srgbClr val="ffffff"/>
              </a:solidFill>
              <a:effectLst/>
              <a:uFillTx/>
              <a:latin typeface="Arial"/>
            </a:endParaRPr>
          </a:p>
        </p:txBody>
      </p:sp>
      <p:sp>
        <p:nvSpPr>
          <p:cNvPr id="55" name="テキスト ボックス 89"/>
          <p:cNvSpPr/>
          <p:nvPr/>
        </p:nvSpPr>
        <p:spPr>
          <a:xfrm>
            <a:off x="6510600" y="256932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ブロック率</a:t>
            </a:r>
            <a:endParaRPr b="0" lang="en-US" sz="1200" strike="noStrike" u="none">
              <a:solidFill>
                <a:srgbClr val="ffffff"/>
              </a:solidFill>
              <a:effectLst/>
              <a:uFillTx/>
              <a:latin typeface="Arial"/>
            </a:endParaRPr>
          </a:p>
        </p:txBody>
      </p:sp>
      <p:sp>
        <p:nvSpPr>
          <p:cNvPr id="56" name="テキスト ボックス 91"/>
          <p:cNvSpPr/>
          <p:nvPr/>
        </p:nvSpPr>
        <p:spPr>
          <a:xfrm>
            <a:off x="6510600" y="48416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zh-CN" sz="1200" strike="noStrike" u="none">
                <a:solidFill>
                  <a:schemeClr val="lt1"/>
                </a:solidFill>
                <a:effectLst/>
                <a:uFillTx/>
                <a:latin typeface="メイリオ"/>
                <a:ea typeface="メイリオ"/>
              </a:rPr>
              <a:t>リッチメニュー</a:t>
            </a:r>
            <a:endParaRPr b="0" lang="en-US" sz="1200" strike="noStrike" u="none">
              <a:solidFill>
                <a:srgbClr val="ffffff"/>
              </a:solidFill>
              <a:effectLst/>
              <a:uFillTx/>
              <a:latin typeface="Arial"/>
            </a:endParaRPr>
          </a:p>
        </p:txBody>
      </p:sp>
      <p:sp>
        <p:nvSpPr>
          <p:cNvPr id="57" name="テキスト ボックス 93"/>
          <p:cNvSpPr/>
          <p:nvPr/>
        </p:nvSpPr>
        <p:spPr>
          <a:xfrm>
            <a:off x="6510600" y="451728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ツール</a:t>
            </a:r>
            <a:endParaRPr b="0" lang="en-US" sz="1200" strike="noStrike" u="none">
              <a:solidFill>
                <a:srgbClr val="ffffff"/>
              </a:solidFill>
              <a:effectLst/>
              <a:uFillTx/>
              <a:latin typeface="Arial"/>
            </a:endParaRPr>
          </a:p>
        </p:txBody>
      </p:sp>
      <p:sp>
        <p:nvSpPr>
          <p:cNvPr id="58" name="テキスト ボックス 95"/>
          <p:cNvSpPr/>
          <p:nvPr/>
        </p:nvSpPr>
        <p:spPr>
          <a:xfrm>
            <a:off x="6510600" y="41925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想定コスト</a:t>
            </a:r>
            <a:endParaRPr b="0" lang="en-US" sz="1200" strike="noStrike" u="none">
              <a:solidFill>
                <a:srgbClr val="ffffff"/>
              </a:solidFill>
              <a:effectLst/>
              <a:uFillTx/>
              <a:latin typeface="Arial"/>
            </a:endParaRPr>
          </a:p>
        </p:txBody>
      </p:sp>
      <p:sp>
        <p:nvSpPr>
          <p:cNvPr id="59" name="テキスト ボックス 97"/>
          <p:cNvSpPr/>
          <p:nvPr/>
        </p:nvSpPr>
        <p:spPr>
          <a:xfrm>
            <a:off x="6510600" y="28940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月間投稿数</a:t>
            </a:r>
            <a:endParaRPr b="0" lang="en-US" sz="1200" strike="noStrike" u="none">
              <a:solidFill>
                <a:srgbClr val="ffffff"/>
              </a:solidFill>
              <a:effectLst/>
              <a:uFillTx/>
              <a:latin typeface="Arial"/>
            </a:endParaRPr>
          </a:p>
        </p:txBody>
      </p:sp>
      <p:sp>
        <p:nvSpPr>
          <p:cNvPr id="60" name="テキスト ボックス 99"/>
          <p:cNvSpPr/>
          <p:nvPr/>
        </p:nvSpPr>
        <p:spPr>
          <a:xfrm>
            <a:off x="6510600" y="32187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ステップ実施</a:t>
            </a:r>
            <a:endParaRPr b="0" lang="en-US" sz="1200" strike="noStrike" u="none">
              <a:solidFill>
                <a:srgbClr val="ffffff"/>
              </a:solidFill>
              <a:effectLst/>
              <a:uFillTx/>
              <a:latin typeface="Arial"/>
            </a:endParaRPr>
          </a:p>
        </p:txBody>
      </p:sp>
      <p:sp>
        <p:nvSpPr>
          <p:cNvPr id="61" name="テキスト ボックス 101"/>
          <p:cNvSpPr/>
          <p:nvPr/>
        </p:nvSpPr>
        <p:spPr>
          <a:xfrm>
            <a:off x="6510600" y="354348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アンケート実施</a:t>
            </a:r>
            <a:endParaRPr b="0" lang="en-US" sz="1200" strike="noStrike" u="none">
              <a:solidFill>
                <a:srgbClr val="ffffff"/>
              </a:solidFill>
              <a:effectLst/>
              <a:uFillTx/>
              <a:latin typeface="Arial"/>
            </a:endParaRPr>
          </a:p>
        </p:txBody>
      </p:sp>
      <p:sp>
        <p:nvSpPr>
          <p:cNvPr id="62" name="テキスト ボックス 103"/>
          <p:cNvSpPr/>
          <p:nvPr/>
        </p:nvSpPr>
        <p:spPr>
          <a:xfrm>
            <a:off x="6510600" y="38678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プロフ動線</a:t>
            </a:r>
            <a:endParaRPr b="0" lang="en-US" sz="1200" strike="noStrike" u="none">
              <a:solidFill>
                <a:srgbClr val="ffffff"/>
              </a:solidFill>
              <a:effectLst/>
              <a:uFillTx/>
              <a:latin typeface="Arial"/>
            </a:endParaRPr>
          </a:p>
        </p:txBody>
      </p:sp>
      <p:sp>
        <p:nvSpPr>
          <p:cNvPr id="63" name="テキスト ボックス 105"/>
          <p:cNvSpPr/>
          <p:nvPr/>
        </p:nvSpPr>
        <p:spPr>
          <a:xfrm>
            <a:off x="3081600" y="19202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1,737</a:t>
            </a:r>
            <a:endParaRPr b="0" lang="en-US" sz="1200" strike="noStrike" u="none">
              <a:solidFill>
                <a:srgbClr val="000000"/>
              </a:solidFill>
              <a:effectLst/>
              <a:uFillTx/>
              <a:latin typeface="Arial"/>
            </a:endParaRPr>
          </a:p>
        </p:txBody>
      </p:sp>
      <p:sp>
        <p:nvSpPr>
          <p:cNvPr id="64" name="テキスト ボックス 107"/>
          <p:cNvSpPr/>
          <p:nvPr/>
        </p:nvSpPr>
        <p:spPr>
          <a:xfrm>
            <a:off x="3081600" y="22449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0</a:t>
            </a:r>
            <a:r>
              <a:rPr b="1" lang="ja-JP" sz="1200" strike="noStrike" u="none">
                <a:solidFill>
                  <a:schemeClr val="dk1"/>
                </a:solidFill>
                <a:effectLst/>
                <a:uFillTx/>
                <a:latin typeface="メイリオ"/>
                <a:ea typeface="メイリオ"/>
              </a:rPr>
              <a:t>（広告なし）</a:t>
            </a:r>
            <a:endParaRPr b="0" lang="en-US" sz="1200" strike="noStrike" u="none">
              <a:solidFill>
                <a:srgbClr val="000000"/>
              </a:solidFill>
              <a:effectLst/>
              <a:uFillTx/>
              <a:latin typeface="Arial"/>
            </a:endParaRPr>
          </a:p>
        </p:txBody>
      </p:sp>
      <p:sp>
        <p:nvSpPr>
          <p:cNvPr id="65" name="テキスト ボックス 109"/>
          <p:cNvSpPr/>
          <p:nvPr/>
        </p:nvSpPr>
        <p:spPr>
          <a:xfrm>
            <a:off x="3081600" y="256932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lumMod val="85000"/>
                    <a:lumOff val="15000"/>
                  </a:schemeClr>
                </a:solidFill>
                <a:effectLst/>
                <a:uFillTx/>
                <a:latin typeface="メイリオ"/>
                <a:ea typeface="メイリオ"/>
              </a:rPr>
              <a:t>なし</a:t>
            </a:r>
            <a:endParaRPr b="0" lang="en-US" sz="1200" strike="noStrike" u="none">
              <a:solidFill>
                <a:srgbClr val="000000"/>
              </a:solidFill>
              <a:effectLst/>
              <a:uFillTx/>
              <a:latin typeface="Arial"/>
            </a:endParaRPr>
          </a:p>
        </p:txBody>
      </p:sp>
      <p:sp>
        <p:nvSpPr>
          <p:cNvPr id="66" name="テキスト ボックス 111"/>
          <p:cNvSpPr/>
          <p:nvPr/>
        </p:nvSpPr>
        <p:spPr>
          <a:xfrm>
            <a:off x="3081600" y="48416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不明（広告なし）</a:t>
            </a:r>
            <a:endParaRPr b="0" lang="en-US" sz="1200" strike="noStrike" u="none">
              <a:solidFill>
                <a:srgbClr val="000000"/>
              </a:solidFill>
              <a:effectLst/>
              <a:uFillTx/>
              <a:latin typeface="Arial"/>
            </a:endParaRPr>
          </a:p>
        </p:txBody>
      </p:sp>
      <p:sp>
        <p:nvSpPr>
          <p:cNvPr id="67" name="テキスト ボックス 113"/>
          <p:cNvSpPr/>
          <p:nvPr/>
        </p:nvSpPr>
        <p:spPr>
          <a:xfrm>
            <a:off x="3081600" y="451728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YouTube</a:t>
            </a:r>
            <a:endParaRPr b="0" lang="en-US" sz="1200" strike="noStrike" u="none">
              <a:solidFill>
                <a:srgbClr val="000000"/>
              </a:solidFill>
              <a:effectLst/>
              <a:uFillTx/>
              <a:latin typeface="Arial"/>
            </a:endParaRPr>
          </a:p>
        </p:txBody>
      </p:sp>
      <p:sp>
        <p:nvSpPr>
          <p:cNvPr id="68" name="テキスト ボックス 115"/>
          <p:cNvSpPr/>
          <p:nvPr/>
        </p:nvSpPr>
        <p:spPr>
          <a:xfrm>
            <a:off x="3081600" y="41925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不明</a:t>
            </a:r>
            <a:endParaRPr b="0" lang="en-US" sz="1200" strike="noStrike" u="none">
              <a:solidFill>
                <a:srgbClr val="000000"/>
              </a:solidFill>
              <a:effectLst/>
              <a:uFillTx/>
              <a:latin typeface="Arial"/>
            </a:endParaRPr>
          </a:p>
        </p:txBody>
      </p:sp>
      <p:sp>
        <p:nvSpPr>
          <p:cNvPr id="69" name="テキスト ボックス 117"/>
          <p:cNvSpPr/>
          <p:nvPr/>
        </p:nvSpPr>
        <p:spPr>
          <a:xfrm>
            <a:off x="3081600" y="28940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30</a:t>
            </a:r>
            <a:r>
              <a:rPr b="1" lang="ja-JP" sz="1200" strike="noStrike" u="none">
                <a:solidFill>
                  <a:schemeClr val="dk1"/>
                </a:solidFill>
                <a:effectLst/>
                <a:uFillTx/>
                <a:latin typeface="メイリオ"/>
                <a:ea typeface="メイリオ"/>
              </a:rPr>
              <a:t>件（仮）</a:t>
            </a:r>
            <a:endParaRPr b="0" lang="en-US" sz="1200" strike="noStrike" u="none">
              <a:solidFill>
                <a:srgbClr val="000000"/>
              </a:solidFill>
              <a:effectLst/>
              <a:uFillTx/>
              <a:latin typeface="Arial"/>
            </a:endParaRPr>
          </a:p>
        </p:txBody>
      </p:sp>
      <p:sp>
        <p:nvSpPr>
          <p:cNvPr id="70" name="テキスト ボックス 119"/>
          <p:cNvSpPr/>
          <p:nvPr/>
        </p:nvSpPr>
        <p:spPr>
          <a:xfrm>
            <a:off x="3081600" y="32187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rgbClr val="ff0000"/>
                </a:solidFill>
                <a:effectLst/>
                <a:uFillTx/>
                <a:latin typeface="メイリオ"/>
                <a:ea typeface="メイリオ"/>
              </a:rPr>
              <a:t>問い合わせ</a:t>
            </a:r>
            <a:endParaRPr b="0" lang="en-US" sz="1200" strike="noStrike" u="none">
              <a:solidFill>
                <a:srgbClr val="000000"/>
              </a:solidFill>
              <a:effectLst/>
              <a:uFillTx/>
              <a:latin typeface="Arial"/>
            </a:endParaRPr>
          </a:p>
        </p:txBody>
      </p:sp>
      <p:sp>
        <p:nvSpPr>
          <p:cNvPr id="71" name="テキスト ボックス 121"/>
          <p:cNvSpPr/>
          <p:nvPr/>
        </p:nvSpPr>
        <p:spPr>
          <a:xfrm>
            <a:off x="3081600" y="354348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有</a:t>
            </a:r>
            <a:endParaRPr b="0" lang="en-US" sz="1200" strike="noStrike" u="none">
              <a:solidFill>
                <a:srgbClr val="000000"/>
              </a:solidFill>
              <a:effectLst/>
              <a:uFillTx/>
              <a:latin typeface="Arial"/>
            </a:endParaRPr>
          </a:p>
        </p:txBody>
      </p:sp>
      <p:sp>
        <p:nvSpPr>
          <p:cNvPr id="72" name="テキスト ボックス 123"/>
          <p:cNvSpPr/>
          <p:nvPr/>
        </p:nvSpPr>
        <p:spPr>
          <a:xfrm>
            <a:off x="3081600" y="38678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0</a:t>
            </a:r>
            <a:r>
              <a:rPr b="1" lang="zh-CN"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73" name="テキスト ボックス 168"/>
          <p:cNvSpPr/>
          <p:nvPr/>
        </p:nvSpPr>
        <p:spPr>
          <a:xfrm>
            <a:off x="6510600" y="51663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zh-CN" sz="1200" strike="noStrike" u="none">
                <a:solidFill>
                  <a:schemeClr val="lt1"/>
                </a:solidFill>
                <a:effectLst/>
                <a:uFillTx/>
                <a:latin typeface="メイリオ"/>
                <a:ea typeface="メイリオ"/>
              </a:rPr>
              <a:t>あいさつ</a:t>
            </a:r>
            <a:endParaRPr b="0" lang="en-US" sz="1200" strike="noStrike" u="none">
              <a:solidFill>
                <a:srgbClr val="ffffff"/>
              </a:solidFill>
              <a:effectLst/>
              <a:uFillTx/>
              <a:latin typeface="Arial"/>
            </a:endParaRPr>
          </a:p>
        </p:txBody>
      </p:sp>
      <p:sp>
        <p:nvSpPr>
          <p:cNvPr id="74" name="テキスト ボックス 170"/>
          <p:cNvSpPr/>
          <p:nvPr/>
        </p:nvSpPr>
        <p:spPr>
          <a:xfrm>
            <a:off x="7809120" y="19202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1,241</a:t>
            </a:r>
            <a:endParaRPr b="0" lang="en-US" sz="1200" strike="noStrike" u="none">
              <a:solidFill>
                <a:srgbClr val="000000"/>
              </a:solidFill>
              <a:effectLst/>
              <a:uFillTx/>
              <a:latin typeface="Arial"/>
            </a:endParaRPr>
          </a:p>
        </p:txBody>
      </p:sp>
      <p:sp>
        <p:nvSpPr>
          <p:cNvPr id="75" name="テキスト ボックス 172"/>
          <p:cNvSpPr/>
          <p:nvPr/>
        </p:nvSpPr>
        <p:spPr>
          <a:xfrm>
            <a:off x="7809120" y="22449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約</a:t>
            </a:r>
            <a:r>
              <a:rPr b="1" lang="en-US" sz="1200" strike="noStrike" u="none">
                <a:solidFill>
                  <a:schemeClr val="dk1"/>
                </a:solidFill>
                <a:effectLst/>
                <a:uFillTx/>
                <a:latin typeface="メイリオ"/>
                <a:ea typeface="メイリオ"/>
              </a:rPr>
              <a:t>807</a:t>
            </a:r>
            <a:r>
              <a:rPr b="1" lang="zh-CN" sz="1200" strike="noStrike" u="none">
                <a:solidFill>
                  <a:schemeClr val="dk1"/>
                </a:solidFill>
                <a:effectLst/>
                <a:uFillTx/>
                <a:latin typeface="メイリオ"/>
                <a:ea typeface="メイリオ"/>
              </a:rPr>
              <a:t>（仮）</a:t>
            </a:r>
            <a:endParaRPr b="0" lang="en-US" sz="1200" strike="noStrike" u="none">
              <a:solidFill>
                <a:srgbClr val="000000"/>
              </a:solidFill>
              <a:effectLst/>
              <a:uFillTx/>
              <a:latin typeface="Arial"/>
            </a:endParaRPr>
          </a:p>
        </p:txBody>
      </p:sp>
      <p:sp>
        <p:nvSpPr>
          <p:cNvPr id="76" name="テキスト ボックス 174"/>
          <p:cNvSpPr/>
          <p:nvPr/>
        </p:nvSpPr>
        <p:spPr>
          <a:xfrm>
            <a:off x="7809120" y="256932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35%</a:t>
            </a:r>
            <a:r>
              <a:rPr b="1" lang="zh-CN" sz="1200" strike="noStrike" u="none">
                <a:solidFill>
                  <a:schemeClr val="dk1"/>
                </a:solidFill>
                <a:effectLst/>
                <a:uFillTx/>
                <a:latin typeface="メイリオ"/>
                <a:ea typeface="メイリオ"/>
              </a:rPr>
              <a:t>（仮）</a:t>
            </a:r>
            <a:endParaRPr b="0" lang="en-US" sz="1200" strike="noStrike" u="none">
              <a:solidFill>
                <a:srgbClr val="000000"/>
              </a:solidFill>
              <a:effectLst/>
              <a:uFillTx/>
              <a:latin typeface="Arial"/>
            </a:endParaRPr>
          </a:p>
        </p:txBody>
      </p:sp>
      <p:sp>
        <p:nvSpPr>
          <p:cNvPr id="77" name="テキスト ボックス 176"/>
          <p:cNvSpPr/>
          <p:nvPr/>
        </p:nvSpPr>
        <p:spPr>
          <a:xfrm>
            <a:off x="7809120" y="48416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なし</a:t>
            </a:r>
            <a:endParaRPr b="0" lang="en-US" sz="1200" strike="noStrike" u="none">
              <a:solidFill>
                <a:srgbClr val="000000"/>
              </a:solidFill>
              <a:effectLst/>
              <a:uFillTx/>
              <a:latin typeface="Arial"/>
            </a:endParaRPr>
          </a:p>
        </p:txBody>
      </p:sp>
      <p:sp>
        <p:nvSpPr>
          <p:cNvPr id="78" name="テキスト ボックス 178"/>
          <p:cNvSpPr/>
          <p:nvPr/>
        </p:nvSpPr>
        <p:spPr>
          <a:xfrm>
            <a:off x="7809120" y="451728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なし（標準機能）</a:t>
            </a:r>
            <a:endParaRPr b="0" lang="en-US" sz="1200" strike="noStrike" u="none">
              <a:solidFill>
                <a:srgbClr val="000000"/>
              </a:solidFill>
              <a:effectLst/>
              <a:uFillTx/>
              <a:latin typeface="Arial"/>
            </a:endParaRPr>
          </a:p>
        </p:txBody>
      </p:sp>
      <p:sp>
        <p:nvSpPr>
          <p:cNvPr id="79" name="テキスト ボックス 180"/>
          <p:cNvSpPr/>
          <p:nvPr/>
        </p:nvSpPr>
        <p:spPr>
          <a:xfrm>
            <a:off x="7809120" y="41925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80" name="テキスト ボックス 182"/>
          <p:cNvSpPr/>
          <p:nvPr/>
        </p:nvSpPr>
        <p:spPr>
          <a:xfrm>
            <a:off x="7809120" y="28940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81" name="テキスト ボックス 184"/>
          <p:cNvSpPr/>
          <p:nvPr/>
        </p:nvSpPr>
        <p:spPr>
          <a:xfrm>
            <a:off x="7809120" y="32187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82" name="テキスト ボックス 186"/>
          <p:cNvSpPr/>
          <p:nvPr/>
        </p:nvSpPr>
        <p:spPr>
          <a:xfrm>
            <a:off x="7809120" y="354348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83" name="テキスト ボックス 188"/>
          <p:cNvSpPr/>
          <p:nvPr/>
        </p:nvSpPr>
        <p:spPr>
          <a:xfrm>
            <a:off x="7809120" y="38678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有（サイト・動画）</a:t>
            </a:r>
            <a:endParaRPr b="0" lang="en-US" sz="1200" strike="noStrike" u="none">
              <a:solidFill>
                <a:srgbClr val="000000"/>
              </a:solidFill>
              <a:effectLst/>
              <a:uFillTx/>
              <a:latin typeface="Arial"/>
            </a:endParaRPr>
          </a:p>
        </p:txBody>
      </p:sp>
      <p:sp>
        <p:nvSpPr>
          <p:cNvPr id="84" name="テキスト ボックス 190"/>
          <p:cNvSpPr/>
          <p:nvPr/>
        </p:nvSpPr>
        <p:spPr>
          <a:xfrm>
            <a:off x="7809120" y="51663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ボタンなし</a:t>
            </a:r>
            <a:endParaRPr b="0" lang="en-US" sz="1200" strike="noStrike" u="none">
              <a:solidFill>
                <a:srgbClr val="000000"/>
              </a:solidFill>
              <a:effectLst/>
              <a:uFillTx/>
              <a:latin typeface="Arial"/>
            </a:endParaRPr>
          </a:p>
        </p:txBody>
      </p:sp>
      <p:sp>
        <p:nvSpPr>
          <p:cNvPr id="85" name="テキスト ボックス 22"/>
          <p:cNvSpPr/>
          <p:nvPr/>
        </p:nvSpPr>
        <p:spPr>
          <a:xfrm>
            <a:off x="8928720" y="451080"/>
            <a:ext cx="977040" cy="3554280"/>
          </a:xfrm>
          <a:prstGeom prst="rect">
            <a:avLst/>
          </a:prstGeom>
          <a:solidFill>
            <a:schemeClr val="lt1">
              <a:alpha val="30000"/>
            </a:schemeClr>
          </a:solidFill>
          <a:ln w="0">
            <a:noFill/>
          </a:ln>
        </p:spPr>
        <p:style>
          <a:lnRef idx="0"/>
          <a:fillRef idx="0"/>
          <a:effectRef idx="0"/>
          <a:fontRef idx="minor"/>
        </p:style>
        <p:txBody>
          <a:bodyPr lIns="90000" rIns="90000" tIns="45000" bIns="45000" anchor="t">
            <a:noAutofit/>
          </a:bodyPr>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p:txBody>
      </p:sp>
      <p:pic>
        <p:nvPicPr>
          <p:cNvPr id="86" name="図 8" descr=""/>
          <p:cNvPicPr/>
          <p:nvPr/>
        </p:nvPicPr>
        <p:blipFill>
          <a:blip r:embed="rId2"/>
          <a:stretch/>
        </p:blipFill>
        <p:spPr>
          <a:xfrm>
            <a:off x="365760" y="1920240"/>
            <a:ext cx="1328040" cy="2697120"/>
          </a:xfrm>
          <a:prstGeom prst="rect">
            <a:avLst/>
          </a:prstGeom>
          <a:noFill/>
          <a:ln w="0">
            <a:noFill/>
          </a:ln>
        </p:spPr>
      </p:pic>
      <p:pic>
        <p:nvPicPr>
          <p:cNvPr id="87" name="図 23" descr=""/>
          <p:cNvPicPr/>
          <p:nvPr/>
        </p:nvPicPr>
        <p:blipFill>
          <a:blip r:embed="rId3"/>
          <a:srcRect l="0" t="4916" r="0" b="4368"/>
          <a:stretch/>
        </p:blipFill>
        <p:spPr>
          <a:xfrm>
            <a:off x="5064480" y="2088360"/>
            <a:ext cx="1268640" cy="2490480"/>
          </a:xfrm>
          <a:prstGeom prst="rect">
            <a:avLst/>
          </a:prstGeom>
          <a:noFill/>
          <a:ln w="0">
            <a:noFill/>
          </a:ln>
        </p:spPr>
      </p:pic>
      <p:sp>
        <p:nvSpPr>
          <p:cNvPr id="88" name="テキスト ボックス 25"/>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400" strike="noStrike" u="none">
                <a:solidFill>
                  <a:schemeClr val="dk1"/>
                </a:solidFill>
                <a:effectLst/>
                <a:uFillTx/>
                <a:latin typeface="メイリオ"/>
                <a:ea typeface="メイリオ"/>
              </a:rPr>
              <a:t>LINE</a:t>
            </a:r>
            <a:r>
              <a:rPr b="0" lang="zh-CN" sz="1400" strike="noStrike" u="none">
                <a:solidFill>
                  <a:schemeClr val="dk1"/>
                </a:solidFill>
                <a:effectLst/>
                <a:uFillTx/>
                <a:latin typeface="メイリオ"/>
                <a:ea typeface="メイリオ"/>
              </a:rPr>
              <a:t>公式アカウントの標準機能で運用中（</a:t>
            </a:r>
            <a:r>
              <a:rPr b="0" lang="en-US" sz="1400" strike="noStrike" u="none">
                <a:solidFill>
                  <a:schemeClr val="dk1"/>
                </a:solidFill>
                <a:effectLst/>
                <a:uFillTx/>
                <a:latin typeface="メイリオ"/>
                <a:ea typeface="メイリオ"/>
              </a:rPr>
              <a:t>L</a:t>
            </a:r>
            <a:r>
              <a:rPr b="0" lang="zh-CN" sz="1400" strike="noStrike" u="none">
                <a:solidFill>
                  <a:schemeClr val="dk1"/>
                </a:solidFill>
                <a:effectLst/>
                <a:uFillTx/>
                <a:latin typeface="メイリオ"/>
                <a:ea typeface="メイリオ"/>
              </a:rPr>
              <a:t>ステップ等のツールなし）。</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solidFill>
                <a:effectLst/>
                <a:uFillTx/>
                <a:latin typeface="メイリオ"/>
                <a:ea typeface="メイリオ"/>
              </a:rPr>
              <a:t>友だち追加の入口・追加後の動線ともに、改善の余地があると想定。</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9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91"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想定動線</a:t>
            </a:r>
            <a:endParaRPr b="0" lang="en-US" sz="1600" strike="noStrike" u="none">
              <a:solidFill>
                <a:srgbClr val="000000"/>
              </a:solidFill>
              <a:effectLst/>
              <a:uFillTx/>
              <a:latin typeface="Arial"/>
            </a:endParaRPr>
          </a:p>
        </p:txBody>
      </p:sp>
      <p:cxnSp>
        <p:nvCxnSpPr>
          <p:cNvPr id="92"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93" name="テキスト ボックス 5"/>
          <p:cNvSpPr/>
          <p:nvPr/>
        </p:nvSpPr>
        <p:spPr>
          <a:xfrm>
            <a:off x="3542040" y="1938600"/>
            <a:ext cx="2351520" cy="328680"/>
          </a:xfrm>
          <a:prstGeom prst="rect">
            <a:avLst/>
          </a:prstGeom>
          <a:solidFill>
            <a:srgbClr val="c00000"/>
          </a:solid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ffffff"/>
                </a:solidFill>
                <a:effectLst/>
                <a:uFillTx/>
                <a:latin typeface="メイリオ"/>
                <a:ea typeface="メイリオ"/>
              </a:rPr>
              <a:t>⑤ リード有効化</a:t>
            </a:r>
            <a:endParaRPr b="0" lang="en-US" sz="1400" strike="noStrike" u="none">
              <a:solidFill>
                <a:srgbClr val="ffffff"/>
              </a:solidFill>
              <a:effectLst/>
              <a:uFillTx/>
              <a:latin typeface="Arial"/>
            </a:endParaRPr>
          </a:p>
        </p:txBody>
      </p:sp>
      <p:sp>
        <p:nvSpPr>
          <p:cNvPr id="94" name="テキスト ボックス 6"/>
          <p:cNvSpPr/>
          <p:nvPr/>
        </p:nvSpPr>
        <p:spPr>
          <a:xfrm>
            <a:off x="6119280" y="2468880"/>
            <a:ext cx="2351520" cy="328680"/>
          </a:xfrm>
          <a:prstGeom prst="rect">
            <a:avLst/>
          </a:prstGeom>
          <a:solidFill>
            <a:schemeClr val="dk2">
              <a:lumMod val="40000"/>
              <a:lumOff val="60000"/>
              <a:alpha val="30000"/>
            </a:schemeClr>
          </a:solidFill>
          <a:ln w="0">
            <a:noFill/>
          </a:ln>
        </p:spPr>
        <p:style>
          <a:lnRef idx="0"/>
          <a:fillRef idx="0"/>
          <a:effectRef idx="0"/>
          <a:fontRef idx="minor"/>
        </p:style>
        <p:txBody>
          <a:bodyPr lIns="90000" rIns="90000" tIns="45000" bIns="45000" anchor="t">
            <a:noAutofit/>
          </a:bodyPr>
          <a:p>
            <a:pPr defTabSz="914400">
              <a:lnSpc>
                <a:spcPct val="100000"/>
              </a:lnSpc>
            </a:pPr>
            <a:r>
              <a:rPr b="1" lang="en-US" sz="1200" strike="noStrike" u="none">
                <a:solidFill>
                  <a:schemeClr val="dk1"/>
                </a:solidFill>
                <a:effectLst/>
                <a:uFillTx/>
                <a:latin typeface="メイリオ"/>
                <a:ea typeface="メイリオ"/>
              </a:rPr>
              <a:t>⑦マネタイズ</a:t>
            </a:r>
            <a:r>
              <a:rPr b="1" lang="en-US" sz="1100" strike="noStrike" u="none">
                <a:solidFill>
                  <a:schemeClr val="dk1"/>
                </a:solidFill>
                <a:effectLst/>
                <a:uFillTx/>
                <a:latin typeface="メイリオ"/>
                <a:ea typeface="メイリオ"/>
              </a:rPr>
              <a:t>(</a:t>
            </a:r>
            <a:r>
              <a:rPr b="1" lang="ja-JP" sz="1100" strike="noStrike" u="none">
                <a:solidFill>
                  <a:schemeClr val="dk1"/>
                </a:solidFill>
                <a:effectLst/>
                <a:uFillTx/>
                <a:latin typeface="メイリオ"/>
                <a:ea typeface="メイリオ"/>
              </a:rPr>
              <a:t>成約</a:t>
            </a:r>
            <a:r>
              <a:rPr b="1" lang="en-US" sz="1100" strike="noStrike" u="none">
                <a:solidFill>
                  <a:schemeClr val="dk1"/>
                </a:solidFill>
                <a:effectLst/>
                <a:uFillTx/>
                <a:latin typeface="メイリオ"/>
                <a:ea typeface="メイリオ"/>
              </a:rPr>
              <a:t>)</a:t>
            </a:r>
            <a:endParaRPr b="0" lang="en-US" sz="1100" strike="noStrike" u="none">
              <a:solidFill>
                <a:srgbClr val="000000"/>
              </a:solidFill>
              <a:effectLst/>
              <a:uFillTx/>
              <a:latin typeface="Arial"/>
            </a:endParaRPr>
          </a:p>
        </p:txBody>
      </p:sp>
      <p:sp>
        <p:nvSpPr>
          <p:cNvPr id="95" name="テキスト ボックス 7"/>
          <p:cNvSpPr/>
          <p:nvPr/>
        </p:nvSpPr>
        <p:spPr>
          <a:xfrm>
            <a:off x="4830840" y="2203560"/>
            <a:ext cx="2351520" cy="328680"/>
          </a:xfrm>
          <a:prstGeom prst="rect">
            <a:avLst/>
          </a:prstGeom>
          <a:solidFill>
            <a:schemeClr val="dk2">
              <a:lumMod val="40000"/>
              <a:lumOff val="60000"/>
              <a:alpha val="30000"/>
            </a:schemeClr>
          </a:solidFill>
          <a:ln w="0">
            <a:noFill/>
          </a:ln>
        </p:spPr>
        <p:style>
          <a:lnRef idx="0"/>
          <a:fillRef idx="0"/>
          <a:effectRef idx="0"/>
          <a:fontRef idx="minor"/>
        </p:style>
        <p:txBody>
          <a:bodyPr lIns="90000" rIns="90000" tIns="45000" bIns="45000" anchor="t">
            <a:noAutofit/>
          </a:bodyPr>
          <a:p>
            <a:pPr defTabSz="914400">
              <a:lnSpc>
                <a:spcPct val="100000"/>
              </a:lnSpc>
            </a:pPr>
            <a:r>
              <a:rPr b="1" lang="en-US" sz="1200" strike="noStrike" u="none">
                <a:solidFill>
                  <a:schemeClr val="dk1"/>
                </a:solidFill>
                <a:effectLst/>
                <a:uFillTx/>
                <a:latin typeface="メイリオ"/>
                <a:ea typeface="メイリオ"/>
              </a:rPr>
              <a:t>⑥ 有効リードの再育成</a:t>
            </a:r>
            <a:endParaRPr b="0" lang="en-US" sz="1200" strike="noStrike" u="none">
              <a:solidFill>
                <a:srgbClr val="000000"/>
              </a:solidFill>
              <a:effectLst/>
              <a:uFillTx/>
              <a:latin typeface="Arial"/>
            </a:endParaRPr>
          </a:p>
        </p:txBody>
      </p:sp>
      <p:sp>
        <p:nvSpPr>
          <p:cNvPr id="96" name="テキスト ボックス 8"/>
          <p:cNvSpPr/>
          <p:nvPr/>
        </p:nvSpPr>
        <p:spPr>
          <a:xfrm>
            <a:off x="7408080" y="2734200"/>
            <a:ext cx="2351520" cy="402120"/>
          </a:xfrm>
          <a:prstGeom prst="rect">
            <a:avLst/>
          </a:prstGeom>
          <a:solidFill>
            <a:schemeClr val="dk2">
              <a:lumMod val="40000"/>
              <a:lumOff val="60000"/>
              <a:alpha val="30000"/>
            </a:schemeClr>
          </a:solidFill>
          <a:ln w="0">
            <a:noFill/>
          </a:ln>
        </p:spPr>
        <p:style>
          <a:lnRef idx="0"/>
          <a:fillRef idx="0"/>
          <a:effectRef idx="0"/>
          <a:fontRef idx="minor"/>
        </p:style>
        <p:txBody>
          <a:bodyPr lIns="90000" rIns="90000" tIns="45000" bIns="45000" anchor="t">
            <a:noAutofit/>
          </a:bodyPr>
          <a:p>
            <a:pPr defTabSz="914400">
              <a:lnSpc>
                <a:spcPct val="100000"/>
              </a:lnSpc>
            </a:pPr>
            <a:r>
              <a:rPr b="1" lang="en-US" sz="1200" strike="noStrike" u="none">
                <a:solidFill>
                  <a:schemeClr val="dk1"/>
                </a:solidFill>
                <a:effectLst/>
                <a:uFillTx/>
                <a:latin typeface="メイリオ"/>
                <a:ea typeface="メイリオ"/>
              </a:rPr>
              <a:t>⑧</a:t>
            </a:r>
            <a:r>
              <a:rPr b="1" lang="en-US" sz="1200" strike="noStrike" u="none">
                <a:solidFill>
                  <a:schemeClr val="dk1"/>
                </a:solidFill>
                <a:effectLst/>
                <a:uFillTx/>
                <a:latin typeface="メイリオ"/>
                <a:ea typeface="メイリオ"/>
              </a:rPr>
              <a:t>LTV</a:t>
            </a:r>
            <a:r>
              <a:rPr b="1" lang="ja-JP" sz="1200" strike="noStrike" u="none">
                <a:solidFill>
                  <a:schemeClr val="dk1"/>
                </a:solidFill>
                <a:effectLst/>
                <a:uFillTx/>
                <a:latin typeface="メイリオ"/>
                <a:ea typeface="メイリオ"/>
              </a:rPr>
              <a:t>最大化・紹介</a:t>
            </a:r>
            <a:endParaRPr b="0" lang="en-US" sz="1200" strike="noStrike" u="none">
              <a:solidFill>
                <a:srgbClr val="000000"/>
              </a:solidFill>
              <a:effectLst/>
              <a:uFillTx/>
              <a:latin typeface="Arial"/>
            </a:endParaRPr>
          </a:p>
          <a:p>
            <a:pPr defTabSz="914400">
              <a:lnSpc>
                <a:spcPct val="100000"/>
              </a:lnSpc>
            </a:pPr>
            <a:endParaRPr b="0" lang="en-US" sz="1100" strike="noStrike" u="none">
              <a:solidFill>
                <a:srgbClr val="000000"/>
              </a:solidFill>
              <a:effectLst/>
              <a:uFillTx/>
              <a:latin typeface="Arial"/>
            </a:endParaRPr>
          </a:p>
        </p:txBody>
      </p:sp>
      <p:sp>
        <p:nvSpPr>
          <p:cNvPr id="97" name="テキスト ボックス 9"/>
          <p:cNvSpPr/>
          <p:nvPr/>
        </p:nvSpPr>
        <p:spPr>
          <a:xfrm>
            <a:off x="334440" y="1938600"/>
            <a:ext cx="2102760" cy="328680"/>
          </a:xfrm>
          <a:prstGeom prst="rect">
            <a:avLst/>
          </a:prstGeom>
          <a:solidFill>
            <a:schemeClr val="accent6">
              <a:lumMod val="40000"/>
              <a:lumOff val="60000"/>
              <a:alpha val="30000"/>
            </a:schemeClr>
          </a:solidFill>
          <a:ln w="0">
            <a:noFill/>
          </a:ln>
        </p:spPr>
        <p:style>
          <a:lnRef idx="0"/>
          <a:fillRef idx="0"/>
          <a:effectRef idx="0"/>
          <a:fontRef idx="minor"/>
        </p:style>
        <p:txBody>
          <a:bodyPr lIns="64080" rIns="64080" tIns="45000" bIns="45000" anchor="t">
            <a:noAutofit/>
          </a:bodyPr>
          <a:p>
            <a:pPr defTabSz="914400">
              <a:lnSpc>
                <a:spcPct val="100000"/>
              </a:lnSpc>
            </a:pPr>
            <a:r>
              <a:rPr b="1" lang="en-US" sz="1200" strike="noStrike" u="none">
                <a:solidFill>
                  <a:schemeClr val="dk1"/>
                </a:solidFill>
                <a:effectLst/>
                <a:uFillTx/>
                <a:latin typeface="メイリオ"/>
                <a:ea typeface="メイリオ"/>
              </a:rPr>
              <a:t>① 接触（認知・流入）</a:t>
            </a:r>
            <a:endParaRPr b="0" lang="en-US" sz="1200" strike="noStrike" u="none">
              <a:solidFill>
                <a:srgbClr val="000000"/>
              </a:solidFill>
              <a:effectLst/>
              <a:uFillTx/>
              <a:latin typeface="Arial"/>
            </a:endParaRPr>
          </a:p>
        </p:txBody>
      </p:sp>
      <p:sp>
        <p:nvSpPr>
          <p:cNvPr id="98" name="テキスト ボックス 10"/>
          <p:cNvSpPr/>
          <p:nvPr/>
        </p:nvSpPr>
        <p:spPr>
          <a:xfrm>
            <a:off x="1268280" y="2203560"/>
            <a:ext cx="2102760" cy="328680"/>
          </a:xfrm>
          <a:prstGeom prst="rect">
            <a:avLst/>
          </a:prstGeom>
          <a:solidFill>
            <a:schemeClr val="accent6">
              <a:lumMod val="40000"/>
              <a:lumOff val="60000"/>
              <a:alpha val="30000"/>
            </a:schemeClr>
          </a:solidFill>
          <a:ln w="0">
            <a:noFill/>
          </a:ln>
        </p:spPr>
        <p:style>
          <a:lnRef idx="0"/>
          <a:fillRef idx="0"/>
          <a:effectRef idx="0"/>
          <a:fontRef idx="minor"/>
        </p:style>
        <p:txBody>
          <a:bodyPr lIns="64080" rIns="64080" tIns="45000" bIns="45000" anchor="t">
            <a:noAutofit/>
          </a:bodyPr>
          <a:p>
            <a:pPr defTabSz="914400">
              <a:lnSpc>
                <a:spcPct val="100000"/>
              </a:lnSpc>
            </a:pPr>
            <a:r>
              <a:rPr b="1" lang="en-US" sz="1200" strike="noStrike" u="none">
                <a:solidFill>
                  <a:schemeClr val="dk1"/>
                </a:solidFill>
                <a:effectLst/>
                <a:uFillTx/>
                <a:latin typeface="メイリオ"/>
                <a:ea typeface="メイリオ"/>
              </a:rPr>
              <a:t>② サイト離脱（対策）</a:t>
            </a:r>
            <a:endParaRPr b="0" lang="en-US" sz="1200" strike="noStrike" u="none">
              <a:solidFill>
                <a:srgbClr val="000000"/>
              </a:solidFill>
              <a:effectLst/>
              <a:uFillTx/>
              <a:latin typeface="Arial"/>
            </a:endParaRPr>
          </a:p>
        </p:txBody>
      </p:sp>
      <p:sp>
        <p:nvSpPr>
          <p:cNvPr id="99" name="テキスト ボックス 11"/>
          <p:cNvSpPr/>
          <p:nvPr/>
        </p:nvSpPr>
        <p:spPr>
          <a:xfrm>
            <a:off x="2202480" y="2468880"/>
            <a:ext cx="2102760" cy="328680"/>
          </a:xfrm>
          <a:prstGeom prst="rect">
            <a:avLst/>
          </a:prstGeom>
          <a:solidFill>
            <a:schemeClr val="accent6">
              <a:lumMod val="40000"/>
              <a:lumOff val="60000"/>
              <a:alpha val="30000"/>
            </a:schemeClr>
          </a:solidFill>
          <a:ln w="0">
            <a:noFill/>
          </a:ln>
        </p:spPr>
        <p:style>
          <a:lnRef idx="0"/>
          <a:fillRef idx="0"/>
          <a:effectRef idx="0"/>
          <a:fontRef idx="minor"/>
        </p:style>
        <p:txBody>
          <a:bodyPr lIns="64080" rIns="64080" tIns="45000" bIns="45000" anchor="t">
            <a:noAutofit/>
          </a:bodyPr>
          <a:p>
            <a:pPr defTabSz="914400">
              <a:lnSpc>
                <a:spcPct val="100000"/>
              </a:lnSpc>
            </a:pPr>
            <a:r>
              <a:rPr b="1" lang="en-US" sz="1200" strike="noStrike" u="none">
                <a:solidFill>
                  <a:schemeClr val="dk1"/>
                </a:solidFill>
                <a:effectLst/>
                <a:uFillTx/>
                <a:latin typeface="メイリオ"/>
                <a:ea typeface="メイリオ"/>
              </a:rPr>
              <a:t>③ 育成（興味喚起）</a:t>
            </a:r>
            <a:endParaRPr b="0" lang="en-US" sz="1200" strike="noStrike" u="none">
              <a:solidFill>
                <a:srgbClr val="000000"/>
              </a:solidFill>
              <a:effectLst/>
              <a:uFillTx/>
              <a:latin typeface="Arial"/>
            </a:endParaRPr>
          </a:p>
        </p:txBody>
      </p:sp>
      <p:sp>
        <p:nvSpPr>
          <p:cNvPr id="100" name="テキスト ボックス 12"/>
          <p:cNvSpPr/>
          <p:nvPr/>
        </p:nvSpPr>
        <p:spPr>
          <a:xfrm>
            <a:off x="3136320" y="2734200"/>
            <a:ext cx="2102760" cy="328680"/>
          </a:xfrm>
          <a:prstGeom prst="rect">
            <a:avLst/>
          </a:prstGeom>
          <a:solidFill>
            <a:schemeClr val="accent6">
              <a:lumMod val="40000"/>
              <a:lumOff val="60000"/>
              <a:alpha val="30000"/>
            </a:schemeClr>
          </a:solidFill>
          <a:ln w="0">
            <a:noFill/>
          </a:ln>
        </p:spPr>
        <p:style>
          <a:lnRef idx="0"/>
          <a:fillRef idx="0"/>
          <a:effectRef idx="0"/>
          <a:fontRef idx="minor"/>
        </p:style>
        <p:txBody>
          <a:bodyPr lIns="64080" rIns="64080" tIns="45000" bIns="45000" anchor="t">
            <a:noAutofit/>
          </a:bodyPr>
          <a:p>
            <a:pPr defTabSz="914400">
              <a:lnSpc>
                <a:spcPct val="100000"/>
              </a:lnSpc>
            </a:pPr>
            <a:r>
              <a:rPr b="1" lang="en-US" sz="1200" strike="noStrike" u="none">
                <a:solidFill>
                  <a:schemeClr val="dk1"/>
                </a:solidFill>
                <a:effectLst/>
                <a:uFillTx/>
                <a:latin typeface="メイリオ"/>
                <a:ea typeface="メイリオ"/>
              </a:rPr>
              <a:t>④リード獲得 </a:t>
            </a:r>
            <a:r>
              <a:rPr b="1" lang="en-US" sz="1100" strike="noStrike" u="none">
                <a:solidFill>
                  <a:schemeClr val="dk1"/>
                </a:solidFill>
                <a:effectLst/>
                <a:uFillTx/>
                <a:latin typeface="メイリオ"/>
                <a:ea typeface="メイリオ"/>
              </a:rPr>
              <a:t>(web/LINE)</a:t>
            </a:r>
            <a:endParaRPr b="0" lang="en-US" sz="1100" strike="noStrike" u="none">
              <a:solidFill>
                <a:srgbClr val="000000"/>
              </a:solidFill>
              <a:effectLst/>
              <a:uFillTx/>
              <a:latin typeface="Arial"/>
            </a:endParaRPr>
          </a:p>
        </p:txBody>
      </p:sp>
      <p:cxnSp>
        <p:nvCxnSpPr>
          <p:cNvPr id="101" name="コネクタ: カギ線 13"/>
          <p:cNvCxnSpPr/>
          <p:nvPr/>
        </p:nvCxnSpPr>
        <p:spPr>
          <a:xfrm flipH="1" flipV="1" rot="5400000">
            <a:off x="4319280" y="2335680"/>
            <a:ext cx="466560" cy="330480"/>
          </a:xfrm>
          <a:prstGeom prst="bentConnector3">
            <a:avLst>
              <a:gd name="adj1" fmla="val 49961"/>
            </a:avLst>
          </a:prstGeom>
          <a:ln w="19050">
            <a:solidFill>
              <a:srgbClr val="000000"/>
            </a:solidFill>
            <a:prstDash val="sysDot"/>
            <a:round/>
            <a:tailEnd len="med" type="triangle" w="med"/>
          </a:ln>
        </p:spPr>
      </p:cxnSp>
      <p:sp>
        <p:nvSpPr>
          <p:cNvPr id="102" name="正方形/長方形 14"/>
          <p:cNvSpPr/>
          <p:nvPr/>
        </p:nvSpPr>
        <p:spPr>
          <a:xfrm>
            <a:off x="334440" y="1481400"/>
            <a:ext cx="9425520" cy="4021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cxnSp>
        <p:nvCxnSpPr>
          <p:cNvPr id="103" name="直線矢印コネクタ 15"/>
          <p:cNvCxnSpPr/>
          <p:nvPr/>
        </p:nvCxnSpPr>
        <p:spPr>
          <a:xfrm>
            <a:off x="417600" y="1682280"/>
            <a:ext cx="9240480" cy="360"/>
          </a:xfrm>
          <a:prstGeom prst="straightConnector1">
            <a:avLst/>
          </a:prstGeom>
          <a:ln w="28575">
            <a:solidFill>
              <a:srgbClr val="000000"/>
            </a:solidFill>
            <a:prstDash val="sysDash"/>
            <a:round/>
            <a:headEnd len="med" type="triangle" w="med"/>
            <a:tailEnd len="med" type="triangle" w="med"/>
          </a:ln>
        </p:spPr>
      </p:cxnSp>
      <p:sp>
        <p:nvSpPr>
          <p:cNvPr id="104" name="テキスト ボックス 16"/>
          <p:cNvSpPr/>
          <p:nvPr/>
        </p:nvSpPr>
        <p:spPr>
          <a:xfrm>
            <a:off x="3898080" y="1536120"/>
            <a:ext cx="2651400" cy="292320"/>
          </a:xfrm>
          <a:prstGeom prst="rect">
            <a:avLst/>
          </a:prstGeom>
          <a:solidFill>
            <a:schemeClr val="bg1">
              <a:lumMod val="95000"/>
            </a:schemeClr>
          </a:solidFill>
          <a:ln w="0">
            <a:noFill/>
          </a:ln>
        </p:spPr>
        <p:style>
          <a:lnRef idx="0"/>
          <a:fillRef idx="0"/>
          <a:effectRef idx="0"/>
          <a:fontRef idx="minor"/>
        </p:style>
        <p:txBody>
          <a:bodyPr lIns="90000" rIns="9000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カスタマージャーニーマップ</a:t>
            </a:r>
            <a:endParaRPr b="0" lang="en-US" sz="1200" strike="noStrike" u="none">
              <a:solidFill>
                <a:srgbClr val="000000"/>
              </a:solidFill>
              <a:effectLst/>
              <a:uFillTx/>
              <a:latin typeface="Arial"/>
            </a:endParaRPr>
          </a:p>
        </p:txBody>
      </p:sp>
      <p:sp>
        <p:nvSpPr>
          <p:cNvPr id="105" name="正方形/長方形 27"/>
          <p:cNvSpPr/>
          <p:nvPr/>
        </p:nvSpPr>
        <p:spPr>
          <a:xfrm>
            <a:off x="334440" y="3246120"/>
            <a:ext cx="9425520" cy="31086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6" name="テキスト ボックス 33"/>
          <p:cNvSpPr/>
          <p:nvPr/>
        </p:nvSpPr>
        <p:spPr>
          <a:xfrm>
            <a:off x="3542400" y="4133160"/>
            <a:ext cx="3640680" cy="328680"/>
          </a:xfrm>
          <a:prstGeom prst="rect">
            <a:avLst/>
          </a:prstGeom>
          <a:solidFill>
            <a:srgbClr val="173559"/>
          </a:solidFill>
          <a:ln w="0">
            <a:noFill/>
          </a:ln>
        </p:spPr>
        <p:style>
          <a:lnRef idx="0"/>
          <a:fillRef idx="0"/>
          <a:effectRef idx="0"/>
          <a:fontRef idx="minor"/>
        </p:style>
        <p:txBody>
          <a:bodyPr lIns="90000" rIns="90000" tIns="45000" bIns="45000" anchor="ctr">
            <a:noAutofit/>
          </a:bodyPr>
          <a:p>
            <a:pPr algn="ctr" defTabSz="914400">
              <a:lnSpc>
                <a:spcPct val="100000"/>
              </a:lnSpc>
            </a:pPr>
            <a:r>
              <a:rPr b="1" lang="ja-JP" sz="1300" strike="noStrike" u="none">
                <a:solidFill>
                  <a:schemeClr val="lt1"/>
                </a:solidFill>
                <a:effectLst/>
                <a:uFillTx/>
                <a:latin typeface="メイリオ"/>
                <a:ea typeface="メイリオ"/>
              </a:rPr>
              <a:t>問い合わせ（空室確認・内見の手配）</a:t>
            </a:r>
            <a:endParaRPr b="0" lang="en-US" sz="1300" strike="noStrike" u="none">
              <a:solidFill>
                <a:srgbClr val="ffffff"/>
              </a:solidFill>
              <a:effectLst/>
              <a:uFillTx/>
              <a:latin typeface="Arial"/>
            </a:endParaRPr>
          </a:p>
        </p:txBody>
      </p:sp>
      <p:sp>
        <p:nvSpPr>
          <p:cNvPr id="107" name="テキスト ボックス 35"/>
          <p:cNvSpPr/>
          <p:nvPr/>
        </p:nvSpPr>
        <p:spPr>
          <a:xfrm>
            <a:off x="6119280" y="5074920"/>
            <a:ext cx="2351520" cy="328680"/>
          </a:xfrm>
          <a:prstGeom prst="rect">
            <a:avLst/>
          </a:prstGeom>
          <a:solidFill>
            <a:srgbClr val="ff0000"/>
          </a:solidFill>
          <a:ln w="0">
            <a:noFill/>
          </a:ln>
        </p:spPr>
        <p:style>
          <a:lnRef idx="0"/>
          <a:fillRef idx="0"/>
          <a:effectRef idx="0"/>
          <a:fontRef idx="minor"/>
        </p:style>
        <p:txBody>
          <a:bodyPr lIns="90000" rIns="90000" tIns="45000" bIns="45000" anchor="ctr">
            <a:noAutofit/>
          </a:bodyPr>
          <a:p>
            <a:pPr algn="ctr" defTabSz="914400">
              <a:lnSpc>
                <a:spcPct val="100000"/>
              </a:lnSpc>
            </a:pPr>
            <a:r>
              <a:rPr b="1" lang="ja-JP" sz="1300" strike="noStrike" u="none">
                <a:solidFill>
                  <a:schemeClr val="lt1"/>
                </a:solidFill>
                <a:effectLst/>
                <a:uFillTx/>
                <a:latin typeface="メイリオ"/>
                <a:ea typeface="メイリオ"/>
              </a:rPr>
              <a:t>ご契約</a:t>
            </a:r>
            <a:endParaRPr b="0" lang="en-US" sz="1300" strike="noStrike" u="none">
              <a:solidFill>
                <a:srgbClr val="ffffff"/>
              </a:solidFill>
              <a:effectLst/>
              <a:uFillTx/>
              <a:latin typeface="Arial"/>
            </a:endParaRPr>
          </a:p>
        </p:txBody>
      </p:sp>
      <p:sp>
        <p:nvSpPr>
          <p:cNvPr id="108" name="テキスト ボックス 37"/>
          <p:cNvSpPr/>
          <p:nvPr/>
        </p:nvSpPr>
        <p:spPr>
          <a:xfrm>
            <a:off x="329040" y="3310200"/>
            <a:ext cx="274284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200" strike="noStrike" u="none">
                <a:solidFill>
                  <a:schemeClr val="dk1"/>
                </a:solidFill>
                <a:effectLst/>
                <a:uFillTx/>
                <a:latin typeface="メイリオ"/>
                <a:ea typeface="メイリオ"/>
              </a:rPr>
              <a:t>&lt;</a:t>
            </a:r>
            <a:r>
              <a:rPr b="0" lang="ja-JP" sz="1200" strike="noStrike" u="none">
                <a:solidFill>
                  <a:schemeClr val="dk1"/>
                </a:solidFill>
                <a:effectLst/>
                <a:uFillTx/>
                <a:latin typeface="メイリオ"/>
                <a:ea typeface="メイリオ"/>
              </a:rPr>
              <a:t>貴社のユーザー動線イメージ</a:t>
            </a:r>
            <a:r>
              <a:rPr b="0" lang="en-US" sz="1200" strike="noStrike" u="none">
                <a:solidFill>
                  <a:schemeClr val="dk1"/>
                </a:solidFill>
                <a:effectLst/>
                <a:uFillTx/>
                <a:latin typeface="メイリオ"/>
                <a:ea typeface="メイリオ"/>
              </a:rPr>
              <a:t>&gt;</a:t>
            </a:r>
            <a:endParaRPr b="0" lang="en-US" sz="1200" strike="noStrike" u="none">
              <a:solidFill>
                <a:srgbClr val="000000"/>
              </a:solidFill>
              <a:effectLst/>
              <a:uFillTx/>
              <a:latin typeface="Arial"/>
            </a:endParaRPr>
          </a:p>
        </p:txBody>
      </p:sp>
      <p:sp>
        <p:nvSpPr>
          <p:cNvPr id="109" name="テキスト ボックス 38"/>
          <p:cNvSpPr/>
          <p:nvPr/>
        </p:nvSpPr>
        <p:spPr>
          <a:xfrm>
            <a:off x="365760" y="3730680"/>
            <a:ext cx="1965600" cy="328680"/>
          </a:xfrm>
          <a:prstGeom prst="rect">
            <a:avLst/>
          </a:prstGeom>
          <a:solidFill>
            <a:schemeClr val="lt1">
              <a:lumMod val="75000"/>
              <a:alpha val="30000"/>
            </a:schemeClr>
          </a:solidFill>
          <a:ln w="0">
            <a:noFill/>
          </a:ln>
        </p:spPr>
        <p:style>
          <a:lnRef idx="0"/>
          <a:fillRef idx="0"/>
          <a:effectRef idx="0"/>
          <a:fontRef idx="minor"/>
        </p:style>
        <p:txBody>
          <a:bodyPr lIns="0" rIns="0" tIns="45000" bIns="45000" anchor="ctr">
            <a:noAutofit/>
          </a:bodyPr>
          <a:p>
            <a:pPr algn="ctr" defTabSz="914400">
              <a:lnSpc>
                <a:spcPct val="100000"/>
              </a:lnSpc>
            </a:pPr>
            <a:r>
              <a:rPr b="1" lang="en-US" sz="1300" strike="noStrike" u="none">
                <a:solidFill>
                  <a:schemeClr val="dk1"/>
                </a:solidFill>
                <a:effectLst/>
                <a:uFillTx/>
                <a:latin typeface="メイリオ"/>
                <a:ea typeface="メイリオ"/>
              </a:rPr>
              <a:t>①ポータルで物件検索</a:t>
            </a:r>
            <a:endParaRPr b="0" lang="en-US" sz="1300" strike="noStrike" u="none">
              <a:solidFill>
                <a:srgbClr val="000000"/>
              </a:solidFill>
              <a:effectLst/>
              <a:uFillTx/>
              <a:latin typeface="Arial"/>
            </a:endParaRPr>
          </a:p>
        </p:txBody>
      </p:sp>
      <p:sp>
        <p:nvSpPr>
          <p:cNvPr id="110" name="テキスト ボックス 25"/>
          <p:cNvSpPr/>
          <p:nvPr/>
        </p:nvSpPr>
        <p:spPr>
          <a:xfrm>
            <a:off x="365760" y="4133160"/>
            <a:ext cx="1965600" cy="328680"/>
          </a:xfrm>
          <a:prstGeom prst="rect">
            <a:avLst/>
          </a:prstGeom>
          <a:solidFill>
            <a:schemeClr val="lt1">
              <a:lumMod val="75000"/>
              <a:alpha val="30000"/>
            </a:schemeClr>
          </a:solidFill>
          <a:ln w="0">
            <a:noFill/>
          </a:ln>
        </p:spPr>
        <p:style>
          <a:lnRef idx="0"/>
          <a:fillRef idx="0"/>
          <a:effectRef idx="0"/>
          <a:fontRef idx="minor"/>
        </p:style>
        <p:txBody>
          <a:bodyPr lIns="0" rIns="0" tIns="45000" bIns="45000" anchor="ctr">
            <a:noAutofit/>
          </a:bodyPr>
          <a:p>
            <a:pPr algn="ctr" defTabSz="914400">
              <a:lnSpc>
                <a:spcPct val="100000"/>
              </a:lnSpc>
            </a:pPr>
            <a:r>
              <a:rPr b="1" lang="en-US" sz="1300" strike="noStrike" u="none">
                <a:solidFill>
                  <a:schemeClr val="dk1"/>
                </a:solidFill>
                <a:effectLst/>
                <a:uFillTx/>
                <a:latin typeface="メイリオ"/>
                <a:ea typeface="メイリオ"/>
              </a:rPr>
              <a:t>②100</a:t>
            </a:r>
            <a:r>
              <a:rPr b="1" lang="ja-JP" sz="1300" strike="noStrike" u="none">
                <a:solidFill>
                  <a:schemeClr val="dk1"/>
                </a:solidFill>
                <a:effectLst/>
                <a:uFillTx/>
                <a:latin typeface="メイリオ"/>
                <a:ea typeface="メイリオ"/>
              </a:rPr>
              <a:t>円賃貸のサイト</a:t>
            </a:r>
            <a:endParaRPr b="0" lang="en-US" sz="1300" strike="noStrike" u="none">
              <a:solidFill>
                <a:srgbClr val="000000"/>
              </a:solidFill>
              <a:effectLst/>
              <a:uFillTx/>
              <a:latin typeface="Arial"/>
            </a:endParaRPr>
          </a:p>
        </p:txBody>
      </p:sp>
      <p:sp>
        <p:nvSpPr>
          <p:cNvPr id="111" name="テキスト ボックス 36"/>
          <p:cNvSpPr/>
          <p:nvPr/>
        </p:nvSpPr>
        <p:spPr>
          <a:xfrm>
            <a:off x="365760" y="5394960"/>
            <a:ext cx="1965600" cy="328680"/>
          </a:xfrm>
          <a:prstGeom prst="rect">
            <a:avLst/>
          </a:prstGeom>
          <a:solidFill>
            <a:schemeClr val="lt1">
              <a:lumMod val="75000"/>
              <a:alpha val="30000"/>
            </a:schemeClr>
          </a:solidFill>
          <a:ln w="0">
            <a:noFill/>
          </a:ln>
        </p:spPr>
        <p:style>
          <a:lnRef idx="0"/>
          <a:fillRef idx="0"/>
          <a:effectRef idx="0"/>
          <a:fontRef idx="minor"/>
        </p:style>
        <p:txBody>
          <a:bodyPr lIns="0" rIns="0" tIns="45000" bIns="45000" anchor="ctr">
            <a:noAutofit/>
          </a:bodyPr>
          <a:p>
            <a:pPr algn="ctr" defTabSz="914400">
              <a:lnSpc>
                <a:spcPct val="100000"/>
              </a:lnSpc>
            </a:pPr>
            <a:r>
              <a:rPr b="1" lang="en-US" sz="1300" strike="noStrike" u="none">
                <a:solidFill>
                  <a:schemeClr val="dk1"/>
                </a:solidFill>
                <a:effectLst/>
                <a:uFillTx/>
                <a:latin typeface="メイリオ"/>
                <a:ea typeface="メイリオ"/>
              </a:rPr>
              <a:t>③LINE</a:t>
            </a:r>
            <a:r>
              <a:rPr b="1" lang="ja-JP" sz="1300" strike="noStrike" u="none">
                <a:solidFill>
                  <a:schemeClr val="dk1"/>
                </a:solidFill>
                <a:effectLst/>
                <a:uFillTx/>
                <a:latin typeface="メイリオ"/>
                <a:ea typeface="メイリオ"/>
              </a:rPr>
              <a:t>で友だち追加</a:t>
            </a:r>
            <a:endParaRPr b="0" lang="en-US" sz="1300" strike="noStrike" u="none">
              <a:solidFill>
                <a:srgbClr val="000000"/>
              </a:solidFill>
              <a:effectLst/>
              <a:uFillTx/>
              <a:latin typeface="Arial"/>
            </a:endParaRPr>
          </a:p>
        </p:txBody>
      </p:sp>
      <p:sp>
        <p:nvSpPr>
          <p:cNvPr id="112" name="テキスト ボックス 45"/>
          <p:cNvSpPr/>
          <p:nvPr/>
        </p:nvSpPr>
        <p:spPr>
          <a:xfrm>
            <a:off x="365760" y="5797440"/>
            <a:ext cx="1965600" cy="328680"/>
          </a:xfrm>
          <a:prstGeom prst="rect">
            <a:avLst/>
          </a:prstGeom>
          <a:solidFill>
            <a:schemeClr val="lt1">
              <a:lumMod val="75000"/>
              <a:alpha val="30000"/>
            </a:schemeClr>
          </a:solidFill>
          <a:ln w="0">
            <a:noFill/>
          </a:ln>
        </p:spPr>
        <p:style>
          <a:lnRef idx="0"/>
          <a:fillRef idx="0"/>
          <a:effectRef idx="0"/>
          <a:fontRef idx="minor"/>
        </p:style>
        <p:txBody>
          <a:bodyPr lIns="0" rIns="0" tIns="45000" bIns="45000" anchor="ctr">
            <a:noAutofit/>
          </a:bodyPr>
          <a:p>
            <a:pPr algn="ctr" defTabSz="914400">
              <a:lnSpc>
                <a:spcPct val="100000"/>
              </a:lnSpc>
            </a:pPr>
            <a:r>
              <a:rPr b="1" lang="en-US" sz="1300" strike="noStrike" u="none">
                <a:solidFill>
                  <a:schemeClr val="dk1"/>
                </a:solidFill>
                <a:effectLst/>
                <a:uFillTx/>
                <a:latin typeface="メイリオ"/>
                <a:ea typeface="メイリオ"/>
              </a:rPr>
              <a:t>④物件の情報を送信</a:t>
            </a:r>
            <a:endParaRPr b="0" lang="en-US" sz="1300" strike="noStrike" u="none">
              <a:solidFill>
                <a:srgbClr val="000000"/>
              </a:solidFill>
              <a:effectLst/>
              <a:uFillTx/>
              <a:latin typeface="Arial"/>
            </a:endParaRPr>
          </a:p>
        </p:txBody>
      </p:sp>
      <p:cxnSp>
        <p:nvCxnSpPr>
          <p:cNvPr id="113" name="コネクタ: カギ線 46"/>
          <p:cNvCxnSpPr>
            <a:stCxn id="112" idx="3"/>
            <a:endCxn id="106" idx="1"/>
          </p:cNvCxnSpPr>
          <p:nvPr/>
        </p:nvCxnSpPr>
        <p:spPr>
          <a:xfrm flipV="1">
            <a:off x="2331360" y="4297320"/>
            <a:ext cx="1211400" cy="1664640"/>
          </a:xfrm>
          <a:prstGeom prst="bentConnector3">
            <a:avLst>
              <a:gd name="adj1" fmla="val 50000"/>
            </a:avLst>
          </a:prstGeom>
          <a:ln w="12700">
            <a:solidFill>
              <a:srgbClr val="000000"/>
            </a:solidFill>
            <a:prstDash val="sysDash"/>
            <a:round/>
            <a:tailEnd len="med" type="triangle" w="med"/>
          </a:ln>
        </p:spPr>
      </p:cxnSp>
      <p:sp>
        <p:nvSpPr>
          <p:cNvPr id="114" name="テキスト ボックス 54"/>
          <p:cNvSpPr/>
          <p:nvPr/>
        </p:nvSpPr>
        <p:spPr>
          <a:xfrm>
            <a:off x="2662560" y="5340240"/>
            <a:ext cx="548280" cy="310680"/>
          </a:xfrm>
          <a:prstGeom prst="rect">
            <a:avLst/>
          </a:prstGeom>
          <a:solidFill>
            <a:schemeClr val="accent1">
              <a:lumMod val="40000"/>
              <a:lumOff val="60000"/>
            </a:schemeClr>
          </a:solidFill>
          <a:ln w="0">
            <a:noFill/>
          </a:ln>
        </p:spPr>
        <p:style>
          <a:lnRef idx="0"/>
          <a:fillRef idx="0"/>
          <a:effectRef idx="0"/>
          <a:fontRef idx="minor"/>
        </p:style>
        <p:txBody>
          <a:bodyPr lIns="18360" rIns="18360" tIns="45000" bIns="45000" anchor="ctr">
            <a:noAutofit/>
          </a:bodyPr>
          <a:p>
            <a:pPr algn="ctr" defTabSz="914400">
              <a:lnSpc>
                <a:spcPct val="100000"/>
              </a:lnSpc>
            </a:pPr>
            <a:r>
              <a:rPr b="0" lang="en-US" sz="1100" strike="noStrike" u="none">
                <a:solidFill>
                  <a:srgbClr val="1f285a"/>
                </a:solidFill>
                <a:effectLst/>
                <a:uFillTx/>
                <a:latin typeface="メイリオ"/>
                <a:ea typeface="メイリオ"/>
              </a:rPr>
              <a:t>LINE</a:t>
            </a:r>
            <a:endParaRPr b="0" lang="en-US" sz="1100" strike="noStrike" u="none">
              <a:solidFill>
                <a:srgbClr val="000000"/>
              </a:solidFill>
              <a:effectLst/>
              <a:uFillTx/>
              <a:latin typeface="Arial"/>
            </a:endParaRPr>
          </a:p>
        </p:txBody>
      </p:sp>
      <p:sp>
        <p:nvSpPr>
          <p:cNvPr id="115" name="テキスト ボックス 73"/>
          <p:cNvSpPr/>
          <p:nvPr/>
        </p:nvSpPr>
        <p:spPr>
          <a:xfrm>
            <a:off x="7408440" y="5550480"/>
            <a:ext cx="2351520" cy="292320"/>
          </a:xfrm>
          <a:prstGeom prst="rect">
            <a:avLst/>
          </a:prstGeom>
          <a:solidFill>
            <a:schemeClr val="bg1">
              <a:lumMod val="7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zh-CN" sz="1200" strike="noStrike" u="none">
                <a:solidFill>
                  <a:srgbClr val="595959"/>
                </a:solidFill>
                <a:effectLst/>
                <a:uFillTx/>
                <a:latin typeface="メイリオ"/>
                <a:ea typeface="メイリオ"/>
              </a:rPr>
              <a:t>（鍵のお渡し・お引っ越し）</a:t>
            </a:r>
            <a:endParaRPr b="0" lang="en-US" sz="1200" strike="noStrike" u="none">
              <a:solidFill>
                <a:srgbClr val="000000"/>
              </a:solidFill>
              <a:effectLst/>
              <a:uFillTx/>
              <a:latin typeface="Arial"/>
            </a:endParaRPr>
          </a:p>
        </p:txBody>
      </p:sp>
      <p:cxnSp>
        <p:nvCxnSpPr>
          <p:cNvPr id="116" name="コネクタ: カギ線 21"/>
          <p:cNvCxnSpPr/>
          <p:nvPr/>
        </p:nvCxnSpPr>
        <p:spPr>
          <a:xfrm>
            <a:off x="2331720" y="4297320"/>
            <a:ext cx="1210680" cy="360"/>
          </a:xfrm>
          <a:prstGeom prst="bentConnector2">
            <a:avLst/>
          </a:prstGeom>
          <a:ln w="12700">
            <a:solidFill>
              <a:srgbClr val="000000"/>
            </a:solidFill>
            <a:prstDash val="sysDash"/>
            <a:round/>
            <a:tailEnd len="med" type="triangle" w="med"/>
          </a:ln>
        </p:spPr>
      </p:cxnSp>
      <p:sp>
        <p:nvSpPr>
          <p:cNvPr id="117" name="テキスト ボックス 30"/>
          <p:cNvSpPr/>
          <p:nvPr/>
        </p:nvSpPr>
        <p:spPr>
          <a:xfrm>
            <a:off x="426240" y="599040"/>
            <a:ext cx="9068760" cy="767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ポータルサイトで物件検索 → サイト閲覧 → </a:t>
            </a:r>
            <a:r>
              <a:rPr b="0" lang="en-US" sz="1400" strike="noStrike" u="none">
                <a:solidFill>
                  <a:schemeClr val="dk1">
                    <a:lumMod val="65000"/>
                    <a:lumOff val="35000"/>
                  </a:schemeClr>
                </a:solidFill>
                <a:effectLst/>
                <a:uFillTx/>
                <a:latin typeface="メイリオ"/>
                <a:ea typeface="メイリオ"/>
              </a:rPr>
              <a:t>LINE</a:t>
            </a:r>
            <a:r>
              <a:rPr b="0" lang="ja-JP" sz="1400" strike="noStrike" u="none">
                <a:solidFill>
                  <a:schemeClr val="dk1">
                    <a:lumMod val="65000"/>
                    <a:lumOff val="35000"/>
                  </a:schemeClr>
                </a:solidFill>
                <a:effectLst/>
                <a:uFillTx/>
                <a:latin typeface="メイリオ"/>
                <a:ea typeface="メイリオ"/>
              </a:rPr>
              <a:t>追加 → </a:t>
            </a:r>
            <a:br>
              <a:rPr sz="1400"/>
            </a:br>
            <a:r>
              <a:rPr b="0" lang="ja-JP" sz="1400" strike="noStrike" u="none">
                <a:solidFill>
                  <a:schemeClr val="dk1">
                    <a:lumMod val="65000"/>
                    <a:lumOff val="35000"/>
                  </a:schemeClr>
                </a:solidFill>
                <a:effectLst/>
                <a:uFillTx/>
                <a:latin typeface="メイリオ"/>
                <a:ea typeface="メイリオ"/>
              </a:rPr>
              <a:t>物件情報の送信 → 問い合わせ、の流れに沿って設計します。</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lumMod val="65000"/>
                    <a:lumOff val="35000"/>
                  </a:schemeClr>
                </a:solidFill>
                <a:effectLst/>
                <a:uFillTx/>
                <a:latin typeface="メイリオ"/>
                <a:ea typeface="メイリオ"/>
              </a:rPr>
              <a:t>最大の改善ポイントは、</a:t>
            </a:r>
            <a:r>
              <a:rPr b="1" lang="en-US" sz="1400" strike="noStrike" u="none">
                <a:solidFill>
                  <a:schemeClr val="dk1">
                    <a:lumMod val="65000"/>
                    <a:lumOff val="35000"/>
                  </a:schemeClr>
                </a:solidFill>
                <a:effectLst/>
                <a:uFillTx/>
                <a:latin typeface="メイリオ"/>
                <a:ea typeface="メイリオ"/>
              </a:rPr>
              <a:t>LINE</a:t>
            </a:r>
            <a:r>
              <a:rPr b="1" lang="ja-JP" sz="1400" strike="noStrike" u="none">
                <a:solidFill>
                  <a:schemeClr val="dk1">
                    <a:lumMod val="65000"/>
                    <a:lumOff val="35000"/>
                  </a:schemeClr>
                </a:solidFill>
                <a:effectLst/>
                <a:uFillTx/>
                <a:latin typeface="メイリオ"/>
                <a:ea typeface="メイリオ"/>
              </a:rPr>
              <a:t>友だち追加後に物件の問い合わせへつなげる導線の整備</a:t>
            </a:r>
            <a:r>
              <a:rPr b="0" lang="ja-JP" sz="1400" strike="noStrike" u="none">
                <a:solidFill>
                  <a:schemeClr val="dk1">
                    <a:lumMod val="65000"/>
                    <a:lumOff val="35000"/>
                  </a:schemeClr>
                </a:solidFill>
                <a:effectLst/>
                <a:uFillTx/>
                <a:latin typeface="メイリオ"/>
                <a:ea typeface="メイリオ"/>
              </a:rPr>
              <a:t>です。</a:t>
            </a:r>
            <a:endParaRPr b="0" lang="en-US" sz="1400" strike="noStrike" u="none">
              <a:solidFill>
                <a:srgbClr val="000000"/>
              </a:solidFill>
              <a:effectLst/>
              <a:uFillTx/>
              <a:latin typeface="Arial"/>
            </a:endParaRPr>
          </a:p>
        </p:txBody>
      </p:sp>
      <p:sp>
        <p:nvSpPr>
          <p:cNvPr id="118" name="テキスト ボックス 39"/>
          <p:cNvSpPr/>
          <p:nvPr/>
        </p:nvSpPr>
        <p:spPr>
          <a:xfrm>
            <a:off x="4830840" y="4553640"/>
            <a:ext cx="2351520" cy="328680"/>
          </a:xfrm>
          <a:prstGeom prst="rect">
            <a:avLst/>
          </a:prstGeom>
          <a:solidFill>
            <a:srgbClr val="173559"/>
          </a:solidFill>
          <a:ln w="0">
            <a:noFill/>
          </a:ln>
        </p:spPr>
        <p:style>
          <a:lnRef idx="0"/>
          <a:fillRef idx="0"/>
          <a:effectRef idx="0"/>
          <a:fontRef idx="minor"/>
        </p:style>
        <p:txBody>
          <a:bodyPr lIns="90000" rIns="90000" tIns="45000" bIns="45000" anchor="ctr">
            <a:noAutofit/>
          </a:bodyPr>
          <a:p>
            <a:pPr algn="ctr" defTabSz="914400">
              <a:lnSpc>
                <a:spcPct val="100000"/>
              </a:lnSpc>
            </a:pPr>
            <a:r>
              <a:rPr b="1" lang="ja-JP" sz="1300" strike="noStrike" u="none">
                <a:solidFill>
                  <a:schemeClr val="lt1"/>
                </a:solidFill>
                <a:effectLst/>
                <a:uFillTx/>
                <a:latin typeface="メイリオ"/>
                <a:ea typeface="メイリオ"/>
              </a:rPr>
              <a:t>お申込み</a:t>
            </a:r>
            <a:endParaRPr b="0" lang="en-US" sz="1300" strike="noStrike" u="none">
              <a:solidFill>
                <a:srgbClr val="ffffff"/>
              </a:solidFill>
              <a:effectLst/>
              <a:uFillTx/>
              <a:latin typeface="Arial"/>
            </a:endParaRPr>
          </a:p>
        </p:txBody>
      </p:sp>
      <p:cxnSp>
        <p:nvCxnSpPr>
          <p:cNvPr id="119" name="コネクタ: カギ線 40"/>
          <p:cNvCxnSpPr>
            <a:stCxn id="118" idx="2"/>
            <a:endCxn id="107" idx="0"/>
          </p:cNvCxnSpPr>
          <p:nvPr/>
        </p:nvCxnSpPr>
        <p:spPr>
          <a:xfrm flipH="1" rot="16200000">
            <a:off x="6554520" y="4334040"/>
            <a:ext cx="192960" cy="1288800"/>
          </a:xfrm>
          <a:prstGeom prst="bentConnector3">
            <a:avLst>
              <a:gd name="adj1" fmla="val 50093"/>
            </a:avLst>
          </a:prstGeom>
          <a:ln w="12700">
            <a:solidFill>
              <a:srgbClr val="ff0000"/>
            </a:solidFill>
            <a:prstDash val="sysDash"/>
            <a:round/>
            <a:tailEnd len="med" type="triangle" w="med"/>
          </a:ln>
        </p:spPr>
      </p:cxnSp>
      <p:sp>
        <p:nvSpPr>
          <p:cNvPr id="120" name="テキスト ボックス 32"/>
          <p:cNvSpPr/>
          <p:nvPr/>
        </p:nvSpPr>
        <p:spPr>
          <a:xfrm>
            <a:off x="2433960" y="4069080"/>
            <a:ext cx="529920" cy="456840"/>
          </a:xfrm>
          <a:prstGeom prst="rect">
            <a:avLst/>
          </a:prstGeom>
          <a:solidFill>
            <a:schemeClr val="accent1">
              <a:lumMod val="40000"/>
              <a:lumOff val="60000"/>
            </a:schemeClr>
          </a:solidFill>
          <a:ln w="0">
            <a:noFill/>
          </a:ln>
        </p:spPr>
        <p:style>
          <a:lnRef idx="0"/>
          <a:fillRef idx="0"/>
          <a:effectRef idx="0"/>
          <a:fontRef idx="minor"/>
        </p:style>
        <p:txBody>
          <a:bodyPr lIns="18360" rIns="18360" tIns="45000" bIns="45000" anchor="ctr">
            <a:noAutofit/>
          </a:bodyPr>
          <a:p>
            <a:pPr algn="ctr" defTabSz="914400">
              <a:lnSpc>
                <a:spcPct val="100000"/>
              </a:lnSpc>
            </a:pPr>
            <a:r>
              <a:rPr b="0" lang="ja-JP" sz="1100" strike="noStrike" u="none">
                <a:solidFill>
                  <a:srgbClr val="1f285a"/>
                </a:solidFill>
                <a:effectLst/>
                <a:uFillTx/>
                <a:latin typeface="メイリオ"/>
                <a:ea typeface="メイリオ"/>
              </a:rPr>
              <a:t>電話</a:t>
            </a:r>
            <a:endParaRPr b="0" lang="en-US" sz="1100" strike="noStrike" u="none">
              <a:solidFill>
                <a:srgbClr val="000000"/>
              </a:solidFill>
              <a:effectLst/>
              <a:uFillTx/>
              <a:latin typeface="Arial"/>
            </a:endParaRPr>
          </a:p>
          <a:p>
            <a:pPr algn="ctr" defTabSz="914400">
              <a:lnSpc>
                <a:spcPct val="100000"/>
              </a:lnSpc>
            </a:pPr>
            <a:r>
              <a:rPr b="0" lang="en-US" sz="1100" strike="noStrike" u="none">
                <a:solidFill>
                  <a:srgbClr val="1f285a"/>
                </a:solidFill>
                <a:effectLst/>
                <a:uFillTx/>
                <a:latin typeface="メイリオ"/>
                <a:ea typeface="メイリオ"/>
              </a:rPr>
              <a:t>WEB</a:t>
            </a:r>
            <a:endParaRPr b="0" lang="en-US" sz="1100" strike="noStrike" u="none">
              <a:solidFill>
                <a:srgbClr val="000000"/>
              </a:solidFill>
              <a:effectLst/>
              <a:uFillTx/>
              <a:latin typeface="Arial"/>
            </a:endParaRPr>
          </a:p>
        </p:txBody>
      </p:sp>
      <p:cxnSp>
        <p:nvCxnSpPr>
          <p:cNvPr id="121" name="矢印 ②→③"/>
          <p:cNvCxnSpPr/>
          <p:nvPr/>
        </p:nvCxnSpPr>
        <p:spPr>
          <a:xfrm>
            <a:off x="1348560" y="4462200"/>
            <a:ext cx="360" cy="933120"/>
          </a:xfrm>
          <a:prstGeom prst="straightConnector1">
            <a:avLst/>
          </a:prstGeom>
          <a:ln w="12700">
            <a:solidFill>
              <a:srgbClr val="000000"/>
            </a:solidFill>
            <a:prstDash val="sysDash"/>
            <a:round/>
            <a:tailEnd len="med" type="triangle" w="med"/>
          </a:ln>
        </p:spPr>
      </p:cxnSp>
      <p:sp>
        <p:nvSpPr>
          <p:cNvPr id="122" name="最重要課題チップ"/>
          <p:cNvSpPr/>
          <p:nvPr/>
        </p:nvSpPr>
        <p:spPr>
          <a:xfrm>
            <a:off x="5961960" y="1938600"/>
            <a:ext cx="2102760" cy="273960"/>
          </a:xfrm>
          <a:prstGeom prst="rect">
            <a:avLst/>
          </a:prstGeom>
          <a:noFill/>
          <a:ln w="0">
            <a:noFill/>
          </a:ln>
        </p:spPr>
        <p:style>
          <a:lnRef idx="0"/>
          <a:fillRef idx="0"/>
          <a:effectRef idx="0"/>
          <a:fontRef idx="minor"/>
        </p:style>
        <p:txBody>
          <a:bodyPr lIns="36720" rIns="36720" tIns="0" bIns="0" anchor="ctr">
            <a:noAutofit/>
          </a:bodyPr>
          <a:p>
            <a:pPr defTabSz="914400">
              <a:lnSpc>
                <a:spcPct val="100000"/>
              </a:lnSpc>
            </a:pPr>
            <a:r>
              <a:rPr b="1" lang="en-US" sz="1300" strike="noStrike" u="none">
                <a:solidFill>
                  <a:srgbClr val="c00000"/>
                </a:solidFill>
                <a:effectLst/>
                <a:uFillTx/>
                <a:latin typeface="メイリオ"/>
                <a:ea typeface="メイリオ"/>
              </a:rPr>
              <a:t>◀ 最重要課題（仮説）</a:t>
            </a:r>
            <a:endParaRPr b="0" lang="en-US" sz="1300" strike="noStrike" u="none">
              <a:solidFill>
                <a:srgbClr val="000000"/>
              </a:solidFill>
              <a:effectLst/>
              <a:uFillTx/>
              <a:latin typeface="Arial"/>
            </a:endParaRPr>
          </a:p>
        </p:txBody>
      </p:sp>
      <p:sp>
        <p:nvSpPr>
          <p:cNvPr id="123" name="⑤の範囲"/>
          <p:cNvSpPr/>
          <p:nvPr/>
        </p:nvSpPr>
        <p:spPr>
          <a:xfrm>
            <a:off x="301680" y="5340240"/>
            <a:ext cx="2121120" cy="859320"/>
          </a:xfrm>
          <a:prstGeom prst="rect">
            <a:avLst/>
          </a:prstGeom>
          <a:noFill/>
          <a:ln w="22225">
            <a:solidFill>
              <a:srgbClr val="c00000"/>
            </a:solidFill>
            <a:prstDash val="dash"/>
            <a:round/>
          </a:ln>
        </p:spPr>
        <p:style>
          <a:lnRef idx="0"/>
          <a:fillRef idx="0"/>
          <a:effectRef idx="0"/>
          <a:fontRef idx="minor"/>
        </p:style>
        <p:txBody>
          <a:bodyPr lIns="73080" rIns="73080" tIns="36720" bIns="36720" anchor="ctr">
            <a:noAutofit/>
          </a:bodyPr>
          <a:p>
            <a:pPr defTabSz="914400">
              <a:lnSpc>
                <a:spcPct val="100000"/>
              </a:lnSpc>
            </a:pPr>
            <a:endParaRPr b="0" lang="en-US" sz="1800" strike="noStrike" u="none">
              <a:solidFill>
                <a:srgbClr val="000000"/>
              </a:solidFill>
              <a:effectLst/>
              <a:uFillTx/>
              <a:latin typeface="Arial"/>
            </a:endParaRPr>
          </a:p>
        </p:txBody>
      </p:sp>
      <p:sp>
        <p:nvSpPr>
          <p:cNvPr id="124" name="⑤タブ"/>
          <p:cNvSpPr/>
          <p:nvPr/>
        </p:nvSpPr>
        <p:spPr>
          <a:xfrm>
            <a:off x="1426320" y="5212080"/>
            <a:ext cx="996480" cy="237240"/>
          </a:xfrm>
          <a:prstGeom prst="rect">
            <a:avLst/>
          </a:prstGeom>
          <a:solidFill>
            <a:srgbClr val="c00000"/>
          </a:solidFill>
          <a:ln w="0">
            <a:noFill/>
          </a:ln>
        </p:spPr>
        <p:style>
          <a:lnRef idx="0"/>
          <a:fillRef idx="0"/>
          <a:effectRef idx="0"/>
          <a:fontRef idx="minor"/>
        </p:style>
        <p:txBody>
          <a:bodyPr lIns="18360" rIns="18360" tIns="0" bIns="0" anchor="ctr">
            <a:noAutofit/>
          </a:bodyPr>
          <a:p>
            <a:pPr algn="ctr" defTabSz="914400">
              <a:lnSpc>
                <a:spcPct val="100000"/>
              </a:lnSpc>
            </a:pPr>
            <a:r>
              <a:rPr b="1" lang="en-US" sz="1100" strike="noStrike" u="none">
                <a:solidFill>
                  <a:srgbClr val="ffffff"/>
                </a:solidFill>
                <a:effectLst/>
                <a:uFillTx/>
                <a:latin typeface="メイリオ"/>
                <a:ea typeface="メイリオ"/>
              </a:rPr>
              <a:t>⑤ 最重要課題</a:t>
            </a:r>
            <a:endParaRPr b="0" lang="en-US" sz="1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アカウントの現状</a:t>
            </a:r>
            <a:endParaRPr b="0" lang="en-US" sz="1600" strike="noStrike" u="none">
              <a:solidFill>
                <a:srgbClr val="000000"/>
              </a:solidFill>
              <a:effectLst/>
              <a:uFillTx/>
              <a:latin typeface="Arial"/>
            </a:endParaRPr>
          </a:p>
        </p:txBody>
      </p:sp>
      <p:pic>
        <p:nvPicPr>
          <p:cNvPr id="126" name="図 40" descr=""/>
          <p:cNvPicPr/>
          <p:nvPr/>
        </p:nvPicPr>
        <p:blipFill>
          <a:blip r:embed="rId1"/>
          <a:stretch/>
        </p:blipFill>
        <p:spPr>
          <a:xfrm>
            <a:off x="411480" y="1490400"/>
            <a:ext cx="1732320" cy="3519000"/>
          </a:xfrm>
          <a:prstGeom prst="rect">
            <a:avLst/>
          </a:prstGeom>
          <a:noFill/>
          <a:ln w="0">
            <a:noFill/>
          </a:ln>
        </p:spPr>
      </p:pic>
      <p:sp>
        <p:nvSpPr>
          <p:cNvPr id="127" name="テキスト ボックス 45"/>
          <p:cNvSpPr/>
          <p:nvPr/>
        </p:nvSpPr>
        <p:spPr>
          <a:xfrm>
            <a:off x="502200" y="1752120"/>
            <a:ext cx="1543320" cy="2862000"/>
          </a:xfrm>
          <a:prstGeom prst="rect">
            <a:avLst/>
          </a:prstGeom>
          <a:solidFill>
            <a:schemeClr val="bg1"/>
          </a:solidFill>
          <a:ln w="0">
            <a:noFill/>
          </a:ln>
        </p:spPr>
        <p:style>
          <a:lnRef idx="0"/>
          <a:fillRef idx="0"/>
          <a:effectRef idx="0"/>
          <a:fontRef idx="minor"/>
        </p:style>
        <p:txBody>
          <a:bodyPr lIns="90000" rIns="90000" tIns="45000" bIns="45000" anchor="t">
            <a:noAutofit/>
          </a:bodyPr>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p:txBody>
      </p:sp>
      <p:pic>
        <p:nvPicPr>
          <p:cNvPr id="128" name="図 6" descr=""/>
          <p:cNvPicPr/>
          <p:nvPr/>
        </p:nvPicPr>
        <p:blipFill>
          <a:blip r:embed="rId2"/>
          <a:srcRect l="0" t="4916" r="0" b="4368"/>
          <a:stretch/>
        </p:blipFill>
        <p:spPr>
          <a:xfrm>
            <a:off x="510840" y="1734120"/>
            <a:ext cx="1546920" cy="3037320"/>
          </a:xfrm>
          <a:prstGeom prst="rect">
            <a:avLst/>
          </a:prstGeom>
          <a:noFill/>
          <a:ln w="0">
            <a:noFill/>
          </a:ln>
        </p:spPr>
      </p:pic>
      <p:pic>
        <p:nvPicPr>
          <p:cNvPr id="129" name="図 8" descr=""/>
          <p:cNvPicPr/>
          <p:nvPr/>
        </p:nvPicPr>
        <p:blipFill>
          <a:blip r:embed="rId3"/>
          <a:stretch/>
        </p:blipFill>
        <p:spPr>
          <a:xfrm>
            <a:off x="5166360" y="1490400"/>
            <a:ext cx="1614960" cy="3280680"/>
          </a:xfrm>
          <a:prstGeom prst="rect">
            <a:avLst/>
          </a:prstGeom>
          <a:noFill/>
          <a:ln w="0">
            <a:noFill/>
          </a:ln>
        </p:spPr>
      </p:pic>
      <p:pic>
        <p:nvPicPr>
          <p:cNvPr id="130" name="図 10" descr=""/>
          <p:cNvPicPr/>
          <p:nvPr/>
        </p:nvPicPr>
        <p:blipFill>
          <a:blip r:embed="rId4"/>
          <a:stretch/>
        </p:blipFill>
        <p:spPr>
          <a:xfrm>
            <a:off x="2283480" y="1490400"/>
            <a:ext cx="1732320" cy="3519000"/>
          </a:xfrm>
          <a:prstGeom prst="rect">
            <a:avLst/>
          </a:prstGeom>
          <a:noFill/>
          <a:ln w="0">
            <a:noFill/>
          </a:ln>
        </p:spPr>
      </p:pic>
      <p:pic>
        <p:nvPicPr>
          <p:cNvPr id="131" name="図 12" descr=""/>
          <p:cNvPicPr/>
          <p:nvPr/>
        </p:nvPicPr>
        <p:blipFill>
          <a:blip r:embed="rId5"/>
          <a:srcRect l="0" t="5778" r="0" b="2174"/>
          <a:stretch/>
        </p:blipFill>
        <p:spPr>
          <a:xfrm>
            <a:off x="5265360" y="1710360"/>
            <a:ext cx="1434600" cy="2857680"/>
          </a:xfrm>
          <a:prstGeom prst="rect">
            <a:avLst/>
          </a:prstGeom>
          <a:noFill/>
          <a:ln w="0">
            <a:noFill/>
          </a:ln>
        </p:spPr>
      </p:pic>
      <p:sp>
        <p:nvSpPr>
          <p:cNvPr id="132" name="テキスト ボックス 16"/>
          <p:cNvSpPr/>
          <p:nvPr/>
        </p:nvSpPr>
        <p:spPr>
          <a:xfrm>
            <a:off x="411480" y="5102280"/>
            <a:ext cx="4617360" cy="5482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あいさつで「気になる物件名」と「物件ページの</a:t>
            </a:r>
            <a:r>
              <a:rPr b="0" lang="en-US" sz="1300" strike="noStrike" u="none">
                <a:solidFill>
                  <a:schemeClr val="dk1">
                    <a:lumMod val="65000"/>
                    <a:lumOff val="35000"/>
                  </a:schemeClr>
                </a:solidFill>
                <a:effectLst/>
                <a:uFillTx/>
                <a:latin typeface="メイリオ"/>
                <a:ea typeface="メイリオ"/>
              </a:rPr>
              <a:t>URL</a:t>
            </a:r>
            <a:r>
              <a:rPr b="0" lang="ja-JP" sz="1300" strike="noStrike" u="none">
                <a:solidFill>
                  <a:schemeClr val="dk1">
                    <a:lumMod val="65000"/>
                    <a:lumOff val="35000"/>
                  </a:schemeClr>
                </a:solidFill>
                <a:effectLst/>
                <a:uFillTx/>
                <a:latin typeface="メイリオ"/>
                <a:ea typeface="メイリオ"/>
              </a:rPr>
              <a:t>」の</a:t>
            </a:r>
            <a:endParaRPr b="0" lang="en-US" sz="1300" strike="noStrike" u="none">
              <a:solidFill>
                <a:srgbClr val="000000"/>
              </a:solidFill>
              <a:effectLst/>
              <a:uFillTx/>
              <a:latin typeface="Arial"/>
            </a:endParaRPr>
          </a:p>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送信をお願いし、やり取りが始まる形。</a:t>
            </a:r>
            <a:endParaRPr b="0" lang="en-US" sz="1300" strike="noStrike" u="none">
              <a:solidFill>
                <a:srgbClr val="000000"/>
              </a:solidFill>
              <a:effectLst/>
              <a:uFillTx/>
              <a:latin typeface="Arial"/>
            </a:endParaRPr>
          </a:p>
        </p:txBody>
      </p:sp>
      <p:sp>
        <p:nvSpPr>
          <p:cNvPr id="133" name="テキスト ボックス 18"/>
          <p:cNvSpPr/>
          <p:nvPr/>
        </p:nvSpPr>
        <p:spPr>
          <a:xfrm>
            <a:off x="5166360" y="5102280"/>
            <a:ext cx="4480200" cy="7678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プロフィールにサイト・紹介動画へのリンクを掲載。</a:t>
            </a:r>
            <a:endParaRPr b="0" lang="en-US" sz="1300" strike="noStrike" u="none">
              <a:solidFill>
                <a:srgbClr val="000000"/>
              </a:solidFill>
              <a:effectLst/>
              <a:uFillTx/>
              <a:latin typeface="Arial"/>
            </a:endParaRPr>
          </a:p>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リッチメニューは未設置で、</a:t>
            </a:r>
            <a:br>
              <a:rPr sz="1300"/>
            </a:br>
            <a:r>
              <a:rPr b="0" lang="ja-JP" sz="1300" strike="noStrike" u="none">
                <a:solidFill>
                  <a:schemeClr val="dk1">
                    <a:lumMod val="65000"/>
                    <a:lumOff val="35000"/>
                  </a:schemeClr>
                </a:solidFill>
                <a:effectLst/>
                <a:uFillTx/>
                <a:latin typeface="メイリオ"/>
                <a:ea typeface="メイリオ"/>
              </a:rPr>
              <a:t>友だち追加後に次へ進む導線がない。</a:t>
            </a:r>
            <a:endParaRPr b="0" lang="en-US" sz="1300" strike="noStrike" u="none">
              <a:solidFill>
                <a:srgbClr val="000000"/>
              </a:solidFill>
              <a:effectLst/>
              <a:uFillTx/>
              <a:latin typeface="Arial"/>
            </a:endParaRPr>
          </a:p>
        </p:txBody>
      </p:sp>
      <p:pic>
        <p:nvPicPr>
          <p:cNvPr id="134" name="図 20" descr=""/>
          <p:cNvPicPr/>
          <p:nvPr/>
        </p:nvPicPr>
        <p:blipFill>
          <a:blip r:embed="rId6"/>
          <a:srcRect l="0" t="4508" r="0" b="3456"/>
          <a:stretch/>
        </p:blipFill>
        <p:spPr>
          <a:xfrm>
            <a:off x="2376360" y="1726560"/>
            <a:ext cx="1546920" cy="3081600"/>
          </a:xfrm>
          <a:prstGeom prst="rect">
            <a:avLst/>
          </a:prstGeom>
          <a:noFill/>
          <a:ln w="0">
            <a:noFill/>
          </a:ln>
        </p:spPr>
      </p:pic>
      <p:sp>
        <p:nvSpPr>
          <p:cNvPr id="135" name="テキスト ボックス 22"/>
          <p:cNvSpPr/>
          <p:nvPr/>
        </p:nvSpPr>
        <p:spPr>
          <a:xfrm>
            <a:off x="411480" y="5724000"/>
            <a:ext cx="4617360" cy="5482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あいさつの後にマンガ・動画を送り、</a:t>
            </a:r>
            <a:br>
              <a:rPr sz="1300"/>
            </a:br>
            <a:r>
              <a:rPr b="0" lang="ja-JP" sz="1300" strike="noStrike" u="none">
                <a:solidFill>
                  <a:schemeClr val="dk1">
                    <a:lumMod val="65000"/>
                    <a:lumOff val="35000"/>
                  </a:schemeClr>
                </a:solidFill>
                <a:effectLst/>
                <a:uFillTx/>
                <a:latin typeface="メイリオ"/>
                <a:ea typeface="メイリオ"/>
              </a:rPr>
              <a:t>サービスの理解を促している。</a:t>
            </a:r>
            <a:endParaRPr b="0" lang="en-US" sz="1300" strike="noStrike" u="none">
              <a:solidFill>
                <a:srgbClr val="000000"/>
              </a:solidFill>
              <a:effectLst/>
              <a:uFillTx/>
              <a:latin typeface="Arial"/>
            </a:endParaRPr>
          </a:p>
        </p:txBody>
      </p:sp>
      <p:cxnSp>
        <p:nvCxnSpPr>
          <p:cNvPr id="136" name="直線コネクタ 24"/>
          <p:cNvCxnSpPr/>
          <p:nvPr/>
        </p:nvCxnSpPr>
        <p:spPr>
          <a:xfrm>
            <a:off x="0" y="1390320"/>
            <a:ext cx="9906120" cy="360"/>
          </a:xfrm>
          <a:prstGeom prst="straightConnector1">
            <a:avLst/>
          </a:prstGeom>
          <a:ln w="19050">
            <a:solidFill>
              <a:schemeClr val="lt1">
                <a:lumMod val="85000"/>
                <a:alpha val="60000"/>
              </a:schemeClr>
            </a:solidFill>
            <a:round/>
          </a:ln>
        </p:spPr>
      </p:cxnSp>
      <p:sp>
        <p:nvSpPr>
          <p:cNvPr id="137" name="テキスト ボックス 27"/>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あいさつで物件名・</a:t>
            </a:r>
            <a:r>
              <a:rPr b="0" lang="en-US" sz="1400" strike="noStrike" u="none">
                <a:solidFill>
                  <a:schemeClr val="dk1">
                    <a:lumMod val="65000"/>
                    <a:lumOff val="35000"/>
                  </a:schemeClr>
                </a:solidFill>
                <a:effectLst/>
                <a:uFillTx/>
                <a:latin typeface="メイリオ"/>
                <a:ea typeface="メイリオ"/>
              </a:rPr>
              <a:t>URL</a:t>
            </a:r>
            <a:r>
              <a:rPr b="0" lang="ja-JP" sz="1400" strike="noStrike" u="none">
                <a:solidFill>
                  <a:schemeClr val="dk1">
                    <a:lumMod val="65000"/>
                    <a:lumOff val="35000"/>
                  </a:schemeClr>
                </a:solidFill>
                <a:effectLst/>
                <a:uFillTx/>
                <a:latin typeface="メイリオ"/>
                <a:ea typeface="メイリオ"/>
              </a:rPr>
              <a:t>の送信をお願いする形は、</a:t>
            </a:r>
            <a:r>
              <a:rPr b="0" lang="en-US" sz="1400" strike="noStrike" u="none">
                <a:solidFill>
                  <a:schemeClr val="dk1">
                    <a:lumMod val="65000"/>
                    <a:lumOff val="35000"/>
                  </a:schemeClr>
                </a:solidFill>
                <a:effectLst/>
                <a:uFillTx/>
                <a:latin typeface="メイリオ"/>
                <a:ea typeface="メイリオ"/>
              </a:rPr>
              <a:t>100</a:t>
            </a:r>
            <a:r>
              <a:rPr b="0" lang="ja-JP" sz="1400" strike="noStrike" u="none">
                <a:solidFill>
                  <a:schemeClr val="dk1">
                    <a:lumMod val="65000"/>
                    <a:lumOff val="35000"/>
                  </a:schemeClr>
                </a:solidFill>
                <a:effectLst/>
                <a:uFillTx/>
                <a:latin typeface="メイリオ"/>
                <a:ea typeface="メイリオ"/>
              </a:rPr>
              <a:t>円賃貸の使い方に合っています。</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一方で、</a:t>
            </a:r>
            <a:r>
              <a:rPr b="1" lang="ja-JP" sz="1400" strike="noStrike" u="none">
                <a:solidFill>
                  <a:schemeClr val="dk1">
                    <a:lumMod val="65000"/>
                    <a:lumOff val="35000"/>
                  </a:schemeClr>
                </a:solidFill>
                <a:effectLst/>
                <a:uFillTx/>
                <a:latin typeface="メイリオ"/>
                <a:ea typeface="メイリオ"/>
              </a:rPr>
              <a:t>あいさつに送るメリット・安心材料やボタンがなく、リッチメニューも未設置</a:t>
            </a:r>
            <a:r>
              <a:rPr b="0" lang="ja-JP" sz="1400" strike="noStrike" u="none">
                <a:solidFill>
                  <a:schemeClr val="dk1">
                    <a:lumMod val="65000"/>
                    <a:lumOff val="35000"/>
                  </a:schemeClr>
                </a:solidFill>
                <a:effectLst/>
                <a:uFillTx/>
                <a:latin typeface="メイリオ"/>
                <a:ea typeface="メイリオ"/>
              </a:rPr>
              <a:t>です。</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市場分析</a:t>
            </a:r>
            <a:endParaRPr b="0" lang="en-US" sz="1600" strike="noStrike" u="none">
              <a:solidFill>
                <a:srgbClr val="000000"/>
              </a:solidFill>
              <a:effectLst/>
              <a:uFillTx/>
              <a:latin typeface="Arial"/>
            </a:endParaRPr>
          </a:p>
        </p:txBody>
      </p:sp>
      <p:sp>
        <p:nvSpPr>
          <p:cNvPr id="139"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14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cxnSp>
        <p:nvCxnSpPr>
          <p:cNvPr id="141"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42" name="テキスト ボックス 30"/>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家賃が上がる今、仲介手数料・初期費用への負担感に応えることを、提案の軸にします。</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lumMod val="65000"/>
                    <a:lumOff val="35000"/>
                  </a:schemeClr>
                </a:solidFill>
                <a:effectLst/>
                <a:uFillTx/>
                <a:latin typeface="メイリオ"/>
                <a:ea typeface="メイリオ"/>
              </a:rPr>
              <a:t>物件はポータルサイトで自分で探し、問い合わせ先は別に選ぶ流れが主流</a:t>
            </a:r>
            <a:r>
              <a:rPr b="0" lang="ja-JP" sz="1400" strike="noStrike" u="none">
                <a:solidFill>
                  <a:schemeClr val="dk1">
                    <a:lumMod val="65000"/>
                    <a:lumOff val="35000"/>
                  </a:schemeClr>
                </a:solidFill>
                <a:effectLst/>
                <a:uFillTx/>
                <a:latin typeface="メイリオ"/>
                <a:ea typeface="メイリオ"/>
              </a:rPr>
              <a:t>です。</a:t>
            </a:r>
            <a:endParaRPr b="0" lang="en-US" sz="1400" strike="noStrike" u="none">
              <a:solidFill>
                <a:srgbClr val="000000"/>
              </a:solidFill>
              <a:effectLst/>
              <a:uFillTx/>
              <a:latin typeface="Arial"/>
            </a:endParaRPr>
          </a:p>
        </p:txBody>
      </p:sp>
      <p:sp>
        <p:nvSpPr>
          <p:cNvPr id="143" name="Card1_Num"/>
          <p:cNvSpPr/>
          <p:nvPr/>
        </p:nvSpPr>
        <p:spPr>
          <a:xfrm>
            <a:off x="380880" y="1481400"/>
            <a:ext cx="2920680" cy="511560"/>
          </a:xfrm>
          <a:prstGeom prst="rect">
            <a:avLst/>
          </a:prstGeom>
          <a:solidFill>
            <a:srgbClr val="1f2a5c"/>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01</a:t>
            </a:r>
            <a:endParaRPr b="0" lang="en-US" sz="2400" strike="noStrike" u="none">
              <a:solidFill>
                <a:srgbClr val="ffffff"/>
              </a:solidFill>
              <a:effectLst/>
              <a:uFillTx/>
              <a:latin typeface="Arial"/>
            </a:endParaRPr>
          </a:p>
        </p:txBody>
      </p:sp>
      <p:sp>
        <p:nvSpPr>
          <p:cNvPr id="144" name="Card1_Title"/>
          <p:cNvSpPr/>
          <p:nvPr/>
        </p:nvSpPr>
        <p:spPr>
          <a:xfrm>
            <a:off x="380880" y="1993320"/>
            <a:ext cx="2920680" cy="456840"/>
          </a:xfrm>
          <a:prstGeom prst="rect">
            <a:avLst/>
          </a:prstGeom>
          <a:solidFill>
            <a:srgbClr val="ffffff"/>
          </a:solidFill>
          <a:ln w="6350">
            <a:solidFill>
              <a:srgbClr val="1f2a5c"/>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1f2a5c"/>
                </a:solidFill>
                <a:effectLst/>
                <a:uFillTx/>
                <a:latin typeface="Calibri"/>
              </a:rPr>
              <a:t>家賃の上昇（市場背景）</a:t>
            </a:r>
            <a:endParaRPr b="0" lang="en-US" sz="1400" strike="noStrike" u="none">
              <a:solidFill>
                <a:srgbClr val="000000"/>
              </a:solidFill>
              <a:effectLst/>
              <a:uFillTx/>
              <a:latin typeface="Arial"/>
            </a:endParaRPr>
          </a:p>
        </p:txBody>
      </p:sp>
      <p:sp>
        <p:nvSpPr>
          <p:cNvPr id="145" name="Card1_Body"/>
          <p:cNvSpPr/>
          <p:nvPr/>
        </p:nvSpPr>
        <p:spPr>
          <a:xfrm>
            <a:off x="38088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spcAft>
                <a:spcPts val="601"/>
              </a:spcAft>
            </a:pPr>
            <a:r>
              <a:rPr b="1" lang="ja-JP" sz="1400" strike="noStrike" u="none">
                <a:solidFill>
                  <a:srgbClr val="333333"/>
                </a:solidFill>
                <a:effectLst/>
                <a:uFillTx/>
                <a:latin typeface="Calibri"/>
              </a:rPr>
              <a:t>【市場データ】</a:t>
            </a:r>
            <a:r>
              <a:rPr b="0" lang="ja-JP" sz="1400" strike="noStrike" u="none">
                <a:solidFill>
                  <a:srgbClr val="333333"/>
                </a:solidFill>
                <a:effectLst/>
                <a:uFillTx/>
                <a:latin typeface="Calibri"/>
              </a:rPr>
              <a:t>東京</a:t>
            </a:r>
            <a:r>
              <a:rPr b="0" lang="en-US" sz="1400" strike="noStrike" u="none">
                <a:solidFill>
                  <a:srgbClr val="333333"/>
                </a:solidFill>
                <a:effectLst/>
                <a:uFillTx/>
                <a:latin typeface="Calibri"/>
              </a:rPr>
              <a:t>23</a:t>
            </a:r>
            <a:r>
              <a:rPr b="0" lang="ja-JP" sz="1400" strike="noStrike" u="none">
                <a:solidFill>
                  <a:srgbClr val="333333"/>
                </a:solidFill>
                <a:effectLst/>
                <a:uFillTx/>
                <a:latin typeface="Calibri"/>
              </a:rPr>
              <a:t>区のシングル向き（</a:t>
            </a:r>
            <a:r>
              <a:rPr b="0" lang="en-US" sz="1400" strike="noStrike" u="none">
                <a:solidFill>
                  <a:srgbClr val="333333"/>
                </a:solidFill>
                <a:effectLst/>
                <a:uFillTx/>
                <a:latin typeface="Calibri"/>
              </a:rPr>
              <a:t>30</a:t>
            </a:r>
            <a:r>
              <a:rPr b="0" lang="ja-JP" sz="1400" strike="noStrike" u="none">
                <a:solidFill>
                  <a:srgbClr val="333333"/>
                </a:solidFill>
                <a:effectLst/>
                <a:uFillTx/>
                <a:latin typeface="Calibri"/>
              </a:rPr>
              <a:t>㎡以下）マンションの平均家賃は、</a:t>
            </a:r>
            <a:r>
              <a:rPr b="0" lang="en-US" sz="1400" strike="noStrike" u="none">
                <a:solidFill>
                  <a:srgbClr val="333333"/>
                </a:solidFill>
                <a:effectLst/>
                <a:uFillTx/>
                <a:latin typeface="Calibri"/>
              </a:rPr>
              <a:t>2025</a:t>
            </a:r>
            <a:r>
              <a:rPr b="0" lang="ja-JP" sz="1400" strike="noStrike" u="none">
                <a:solidFill>
                  <a:srgbClr val="333333"/>
                </a:solidFill>
                <a:effectLst/>
                <a:uFillTx/>
                <a:latin typeface="Calibri"/>
              </a:rPr>
              <a:t>年</a:t>
            </a:r>
            <a:r>
              <a:rPr b="0" lang="en-US" sz="1400" strike="noStrike" u="none">
                <a:solidFill>
                  <a:srgbClr val="333333"/>
                </a:solidFill>
                <a:effectLst/>
                <a:uFillTx/>
                <a:latin typeface="Calibri"/>
              </a:rPr>
              <a:t>5</a:t>
            </a:r>
            <a:r>
              <a:rPr b="0" lang="ja-JP" sz="1400" strike="noStrike" u="none">
                <a:solidFill>
                  <a:srgbClr val="333333"/>
                </a:solidFill>
                <a:effectLst/>
                <a:uFillTx/>
                <a:latin typeface="Calibri"/>
              </a:rPr>
              <a:t>月に初めて</a:t>
            </a:r>
            <a:r>
              <a:rPr b="0" lang="en-US" sz="1400" strike="noStrike" u="none">
                <a:solidFill>
                  <a:srgbClr val="333333"/>
                </a:solidFill>
                <a:effectLst/>
                <a:uFillTx/>
                <a:latin typeface="Calibri"/>
              </a:rPr>
              <a:t>10</a:t>
            </a:r>
            <a:r>
              <a:rPr b="0" lang="ja-JP" sz="1400" strike="noStrike" u="none">
                <a:solidFill>
                  <a:srgbClr val="333333"/>
                </a:solidFill>
                <a:effectLst/>
                <a:uFillTx/>
                <a:latin typeface="Calibri"/>
              </a:rPr>
              <a:t>万円を超えた</a:t>
            </a:r>
            <a:endParaRPr b="0" lang="en-US" sz="1400" strike="noStrike" u="none">
              <a:solidFill>
                <a:srgbClr val="000000"/>
              </a:solidFill>
              <a:effectLst/>
              <a:uFillTx/>
              <a:latin typeface="Arial"/>
            </a:endParaRPr>
          </a:p>
          <a:p>
            <a:pPr defTabSz="914400">
              <a:lnSpc>
                <a:spcPct val="100000"/>
              </a:lnSpc>
              <a:spcBef>
                <a:spcPts val="201"/>
              </a:spcBef>
              <a:spcAft>
                <a:spcPts val="601"/>
              </a:spcAft>
            </a:pPr>
            <a:r>
              <a:rPr b="1" lang="ja-JP" sz="1400" strike="noStrike" u="none">
                <a:solidFill>
                  <a:srgbClr val="333333"/>
                </a:solidFill>
                <a:effectLst/>
                <a:uFillTx/>
                <a:latin typeface="Calibri"/>
              </a:rPr>
              <a:t>【提案上の仮説】</a:t>
            </a:r>
            <a:r>
              <a:rPr b="0" lang="ja-JP" sz="1400" strike="noStrike" u="none">
                <a:solidFill>
                  <a:srgbClr val="333333"/>
                </a:solidFill>
                <a:effectLst/>
                <a:uFillTx/>
                <a:latin typeface="Calibri"/>
              </a:rPr>
              <a:t>家賃の上昇で、仲介手数料・初期費用への負担感が高まると考えられる</a:t>
            </a:r>
            <a:endParaRPr b="0" lang="en-US" sz="1400" strike="noStrike" u="none">
              <a:solidFill>
                <a:srgbClr val="000000"/>
              </a:solidFill>
              <a:effectLst/>
              <a:uFillTx/>
              <a:latin typeface="Arial"/>
            </a:endParaRPr>
          </a:p>
        </p:txBody>
      </p:sp>
      <p:sp>
        <p:nvSpPr>
          <p:cNvPr id="146" name="Card2_Num"/>
          <p:cNvSpPr/>
          <p:nvPr/>
        </p:nvSpPr>
        <p:spPr>
          <a:xfrm>
            <a:off x="3492360" y="1481400"/>
            <a:ext cx="2920680" cy="511560"/>
          </a:xfrm>
          <a:prstGeom prst="rect">
            <a:avLst/>
          </a:prstGeom>
          <a:solidFill>
            <a:srgbClr val="4a6fa5"/>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02</a:t>
            </a:r>
            <a:endParaRPr b="0" lang="en-US" sz="2400" strike="noStrike" u="none">
              <a:solidFill>
                <a:srgbClr val="ffffff"/>
              </a:solidFill>
              <a:effectLst/>
              <a:uFillTx/>
              <a:latin typeface="Arial"/>
            </a:endParaRPr>
          </a:p>
        </p:txBody>
      </p:sp>
      <p:sp>
        <p:nvSpPr>
          <p:cNvPr id="147" name="Card2_Title"/>
          <p:cNvSpPr/>
          <p:nvPr/>
        </p:nvSpPr>
        <p:spPr>
          <a:xfrm>
            <a:off x="3492360" y="1993320"/>
            <a:ext cx="2920680" cy="456840"/>
          </a:xfrm>
          <a:prstGeom prst="rect">
            <a:avLst/>
          </a:prstGeom>
          <a:solidFill>
            <a:srgbClr val="ffffff"/>
          </a:solidFill>
          <a:ln w="6350">
            <a:solidFill>
              <a:srgbClr val="4a6fa5"/>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4a6fa5"/>
                </a:solidFill>
                <a:effectLst/>
                <a:uFillTx/>
                <a:latin typeface="Calibri"/>
              </a:rPr>
              <a:t>物件はポータルサイトで探す</a:t>
            </a:r>
            <a:endParaRPr b="0" lang="en-US" sz="1400" strike="noStrike" u="none">
              <a:solidFill>
                <a:srgbClr val="000000"/>
              </a:solidFill>
              <a:effectLst/>
              <a:uFillTx/>
              <a:latin typeface="Arial"/>
            </a:endParaRPr>
          </a:p>
        </p:txBody>
      </p:sp>
      <p:sp>
        <p:nvSpPr>
          <p:cNvPr id="148" name="Card2_Body"/>
          <p:cNvSpPr/>
          <p:nvPr/>
        </p:nvSpPr>
        <p:spPr>
          <a:xfrm>
            <a:off x="349236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・住まいの探し方は「不動産ポータルサイトで検索」がトップ（引越し経験者</a:t>
            </a:r>
            <a:r>
              <a:rPr b="0" lang="en-US" sz="1400" strike="noStrike" u="none">
                <a:solidFill>
                  <a:srgbClr val="333333"/>
                </a:solidFill>
                <a:effectLst/>
                <a:uFillTx/>
                <a:latin typeface="Calibri"/>
              </a:rPr>
              <a:t>66.8</a:t>
            </a:r>
            <a:r>
              <a:rPr b="0" lang="ja-JP" sz="1400" strike="noStrike" u="none">
                <a:solidFill>
                  <a:srgbClr val="333333"/>
                </a:solidFill>
                <a:effectLst/>
                <a:uFillTx/>
                <a:latin typeface="Calibri"/>
              </a:rPr>
              <a:t>％・検討者</a:t>
            </a:r>
            <a:r>
              <a:rPr b="0" lang="en-US" sz="1400" strike="noStrike" u="none">
                <a:solidFill>
                  <a:srgbClr val="333333"/>
                </a:solidFill>
                <a:effectLst/>
                <a:uFillTx/>
                <a:latin typeface="Calibri"/>
              </a:rPr>
              <a:t>73.2</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p:txBody>
      </p:sp>
      <p:sp>
        <p:nvSpPr>
          <p:cNvPr id="149" name="Card3_Num"/>
          <p:cNvSpPr/>
          <p:nvPr/>
        </p:nvSpPr>
        <p:spPr>
          <a:xfrm>
            <a:off x="6603840" y="1481400"/>
            <a:ext cx="2920680" cy="511560"/>
          </a:xfrm>
          <a:prstGeom prst="rect">
            <a:avLst/>
          </a:prstGeom>
          <a:solidFill>
            <a:schemeClr val="bg1">
              <a:lumMod val="75000"/>
            </a:schemeClr>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03</a:t>
            </a:r>
            <a:endParaRPr b="0" lang="en-US" sz="2400" strike="noStrike" u="none">
              <a:solidFill>
                <a:srgbClr val="000000"/>
              </a:solidFill>
              <a:effectLst/>
              <a:uFillTx/>
              <a:latin typeface="Arial"/>
            </a:endParaRPr>
          </a:p>
        </p:txBody>
      </p:sp>
      <p:sp>
        <p:nvSpPr>
          <p:cNvPr id="150" name="Card3_Title"/>
          <p:cNvSpPr/>
          <p:nvPr/>
        </p:nvSpPr>
        <p:spPr>
          <a:xfrm>
            <a:off x="6603840" y="1993320"/>
            <a:ext cx="2920680" cy="456840"/>
          </a:xfrm>
          <a:prstGeom prst="rect">
            <a:avLst/>
          </a:prstGeom>
          <a:solidFill>
            <a:srgbClr val="ffffff"/>
          </a:solidFill>
          <a:ln w="6350">
            <a:solidFill>
              <a:srgbClr val="ffffff">
                <a:lumMod val="75000"/>
              </a:srgbClr>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chemeClr val="dk1">
                    <a:lumMod val="65000"/>
                    <a:lumOff val="35000"/>
                  </a:schemeClr>
                </a:solidFill>
                <a:effectLst/>
                <a:uFillTx/>
                <a:latin typeface="Calibri"/>
              </a:rPr>
              <a:t>問い合わせ先は物件数で選ぶ</a:t>
            </a:r>
            <a:endParaRPr b="0" lang="en-US" sz="1400" strike="noStrike" u="none">
              <a:solidFill>
                <a:srgbClr val="000000"/>
              </a:solidFill>
              <a:effectLst/>
              <a:uFillTx/>
              <a:latin typeface="Arial"/>
            </a:endParaRPr>
          </a:p>
        </p:txBody>
      </p:sp>
      <p:sp>
        <p:nvSpPr>
          <p:cNvPr id="151" name="Card3_Body"/>
          <p:cNvSpPr/>
          <p:nvPr/>
        </p:nvSpPr>
        <p:spPr>
          <a:xfrm>
            <a:off x="660384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spcAft>
                <a:spcPts val="601"/>
              </a:spcAft>
            </a:pPr>
            <a:r>
              <a:rPr b="0" lang="ja-JP" sz="1400" strike="noStrike" u="none">
                <a:solidFill>
                  <a:srgbClr val="333333"/>
                </a:solidFill>
                <a:effectLst/>
                <a:uFillTx/>
                <a:latin typeface="Calibri"/>
              </a:rPr>
              <a:t>・問い合わせる不動産会社を選ぶ基準は「取り扱っている物件数が多い」が</a:t>
            </a:r>
            <a:r>
              <a:rPr b="0" lang="en-US" sz="1400" strike="noStrike" u="none">
                <a:solidFill>
                  <a:srgbClr val="333333"/>
                </a:solidFill>
                <a:effectLst/>
                <a:uFillTx/>
                <a:latin typeface="Calibri"/>
              </a:rPr>
              <a:t>1</a:t>
            </a:r>
            <a:r>
              <a:rPr b="0" lang="ja-JP" sz="1400" strike="noStrike" u="none">
                <a:solidFill>
                  <a:srgbClr val="333333"/>
                </a:solidFill>
                <a:effectLst/>
                <a:uFillTx/>
                <a:latin typeface="Calibri"/>
              </a:rPr>
              <a:t>位（経験者</a:t>
            </a:r>
            <a:r>
              <a:rPr b="0" lang="en-US" sz="1400" strike="noStrike" u="none">
                <a:solidFill>
                  <a:srgbClr val="333333"/>
                </a:solidFill>
                <a:effectLst/>
                <a:uFillTx/>
                <a:latin typeface="Calibri"/>
              </a:rPr>
              <a:t>26.6</a:t>
            </a:r>
            <a:r>
              <a:rPr b="0" lang="ja-JP" sz="1400" strike="noStrike" u="none">
                <a:solidFill>
                  <a:srgbClr val="333333"/>
                </a:solidFill>
                <a:effectLst/>
                <a:uFillTx/>
                <a:latin typeface="Calibri"/>
              </a:rPr>
              <a:t>％・検討者</a:t>
            </a:r>
            <a:r>
              <a:rPr b="0" lang="en-US" sz="1400" strike="noStrike" u="none">
                <a:solidFill>
                  <a:srgbClr val="333333"/>
                </a:solidFill>
                <a:effectLst/>
                <a:uFillTx/>
                <a:latin typeface="Calibri"/>
              </a:rPr>
              <a:t>47.7</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a:p>
            <a:pPr defTabSz="914400">
              <a:lnSpc>
                <a:spcPct val="100000"/>
              </a:lnSpc>
              <a:spcBef>
                <a:spcPts val="201"/>
              </a:spcBef>
              <a:spcAft>
                <a:spcPts val="601"/>
              </a:spcAft>
            </a:pPr>
            <a:r>
              <a:rPr b="0" lang="ja-JP" sz="1400" strike="noStrike" u="none">
                <a:solidFill>
                  <a:srgbClr val="333333"/>
                </a:solidFill>
                <a:effectLst/>
                <a:uFillTx/>
                <a:latin typeface="Calibri"/>
              </a:rPr>
              <a:t>・</a:t>
            </a:r>
            <a:r>
              <a:rPr b="0" lang="en-US" sz="1400" strike="noStrike" u="none">
                <a:solidFill>
                  <a:srgbClr val="333333"/>
                </a:solidFill>
                <a:effectLst/>
                <a:uFillTx/>
                <a:latin typeface="Calibri"/>
              </a:rPr>
              <a:t>100</a:t>
            </a:r>
            <a:r>
              <a:rPr b="0" lang="ja-JP" sz="1400" strike="noStrike" u="none">
                <a:solidFill>
                  <a:srgbClr val="333333"/>
                </a:solidFill>
                <a:effectLst/>
                <a:uFillTx/>
                <a:latin typeface="Calibri"/>
              </a:rPr>
              <a:t>円賃貸は、お客様が見つけた物件の仲介に対応し、仲介手数料を抑えられる（</a:t>
            </a:r>
            <a:r>
              <a:rPr b="0" lang="en-US" sz="1400" strike="noStrike" u="none">
                <a:solidFill>
                  <a:srgbClr val="333333"/>
                </a:solidFill>
                <a:effectLst/>
                <a:uFillTx/>
                <a:latin typeface="Calibri"/>
              </a:rPr>
              <a:t>100</a:t>
            </a:r>
            <a:r>
              <a:rPr b="0" lang="ja-JP" sz="1400" strike="noStrike" u="none">
                <a:solidFill>
                  <a:srgbClr val="333333"/>
                </a:solidFill>
                <a:effectLst/>
                <a:uFillTx/>
                <a:latin typeface="Calibri"/>
              </a:rPr>
              <a:t>円賃貸が対応できる物件に限ります）</a:t>
            </a:r>
            <a:endParaRPr b="0" lang="en-US" sz="1400" strike="noStrike" u="none">
              <a:solidFill>
                <a:srgbClr val="000000"/>
              </a:solidFill>
              <a:effectLst/>
              <a:uFillTx/>
              <a:latin typeface="Arial"/>
            </a:endParaRPr>
          </a:p>
        </p:txBody>
      </p:sp>
      <p:sp>
        <p:nvSpPr>
          <p:cNvPr id="152" name="Conclusion"/>
          <p:cNvSpPr/>
          <p:nvPr/>
        </p:nvSpPr>
        <p:spPr>
          <a:xfrm>
            <a:off x="380880" y="5266800"/>
            <a:ext cx="9143640" cy="1170000"/>
          </a:xfrm>
          <a:prstGeom prst="rect">
            <a:avLst/>
          </a:prstGeom>
          <a:solidFill>
            <a:srgbClr val="f0f2f7"/>
          </a:solidFill>
          <a:ln w="0">
            <a:noFill/>
          </a:ln>
        </p:spPr>
        <p:style>
          <a:lnRef idx="0"/>
          <a:fillRef idx="0"/>
          <a:effectRef idx="0"/>
          <a:fontRef idx="minor"/>
        </p:style>
        <p:txBody>
          <a:bodyPr lIns="177840" rIns="177840" tIns="127080" bIns="127080" anchor="t">
            <a:noAutofit/>
          </a:bodyPr>
          <a:p>
            <a:pPr defTabSz="914400">
              <a:lnSpc>
                <a:spcPct val="100000"/>
              </a:lnSpc>
              <a:spcAft>
                <a:spcPts val="300"/>
              </a:spcAft>
            </a:pPr>
            <a:r>
              <a:rPr b="1" lang="ja-JP" sz="1100" strike="noStrike" u="none">
                <a:solidFill>
                  <a:srgbClr val="1f285a"/>
                </a:solidFill>
                <a:effectLst/>
                <a:uFillTx/>
                <a:latin typeface="メイリオ"/>
                <a:ea typeface="メイリオ"/>
              </a:rPr>
              <a:t>出典</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ja-JP" sz="1100" strike="noStrike" u="sng">
                <a:solidFill>
                  <a:srgbClr val="0000ff"/>
                </a:solidFill>
                <a:effectLst/>
                <a:uFillTx/>
                <a:latin typeface="メイリオ"/>
                <a:ea typeface="メイリオ"/>
                <a:hlinkClick r:id="rId1"/>
              </a:rPr>
              <a:t>アットホーム「2025年の賃貸市場における4大ニュース」</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ja-JP" sz="1100" strike="noStrike" u="sng">
                <a:solidFill>
                  <a:srgbClr val="0000ff"/>
                </a:solidFill>
                <a:effectLst/>
                <a:uFillTx/>
                <a:latin typeface="メイリオ"/>
                <a:ea typeface="メイリオ"/>
                <a:hlinkClick r:id="rId2"/>
              </a:rPr>
              <a:t>アットホーム「オンラインでの住まい探しに関する調査 2025 賃貸編」</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en-US" sz="1100" strike="noStrike" u="sng">
                <a:solidFill>
                  <a:srgbClr val="0000ff"/>
                </a:solidFill>
                <a:effectLst/>
                <a:uFillTx/>
                <a:latin typeface="メイリオ"/>
                <a:ea typeface="メイリオ"/>
                <a:hlinkClick r:id="rId3"/>
              </a:rPr>
              <a:t>100円賃貸 公式サイト</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市場分析</a:t>
            </a:r>
            <a:endParaRPr b="0" lang="en-US" sz="1600" strike="noStrike" u="none">
              <a:solidFill>
                <a:srgbClr val="000000"/>
              </a:solidFill>
              <a:effectLst/>
              <a:uFillTx/>
              <a:latin typeface="Arial"/>
            </a:endParaRPr>
          </a:p>
        </p:txBody>
      </p:sp>
      <p:sp>
        <p:nvSpPr>
          <p:cNvPr id="154"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155"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cxnSp>
        <p:nvCxnSpPr>
          <p:cNvPr id="156"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57" name="テキスト ボックス 30"/>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内見予約のやり取りは、電話よりメール・</a:t>
            </a:r>
            <a:r>
              <a:rPr b="0" lang="en-US" sz="1400" strike="noStrike" u="none">
                <a:solidFill>
                  <a:schemeClr val="dk1">
                    <a:lumMod val="65000"/>
                    <a:lumOff val="35000"/>
                  </a:schemeClr>
                </a:solidFill>
                <a:effectLst/>
                <a:uFillTx/>
                <a:latin typeface="メイリオ"/>
                <a:ea typeface="メイリオ"/>
              </a:rPr>
              <a:t>SMS</a:t>
            </a:r>
            <a:r>
              <a:rPr b="0" lang="ja-JP" sz="1400" strike="noStrike" u="none">
                <a:solidFill>
                  <a:schemeClr val="dk1">
                    <a:lumMod val="65000"/>
                    <a:lumOff val="35000"/>
                  </a:schemeClr>
                </a:solidFill>
                <a:effectLst/>
                <a:uFillTx/>
                <a:latin typeface="メイリオ"/>
                <a:ea typeface="メイリオ"/>
              </a:rPr>
              <a:t>を希望する方が多くいます。</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lumMod val="65000"/>
                    <a:lumOff val="35000"/>
                  </a:schemeClr>
                </a:solidFill>
                <a:effectLst/>
                <a:uFillTx/>
                <a:latin typeface="メイリオ"/>
                <a:ea typeface="メイリオ"/>
              </a:rPr>
              <a:t>物件の</a:t>
            </a:r>
            <a:r>
              <a:rPr b="1" lang="en-US" sz="1400" strike="noStrike" u="none">
                <a:solidFill>
                  <a:schemeClr val="dk1">
                    <a:lumMod val="65000"/>
                    <a:lumOff val="35000"/>
                  </a:schemeClr>
                </a:solidFill>
                <a:effectLst/>
                <a:uFillTx/>
                <a:latin typeface="メイリオ"/>
                <a:ea typeface="メイリオ"/>
              </a:rPr>
              <a:t>URL</a:t>
            </a:r>
            <a:r>
              <a:rPr b="1" lang="ja-JP" sz="1400" strike="noStrike" u="none">
                <a:solidFill>
                  <a:schemeClr val="dk1">
                    <a:lumMod val="65000"/>
                    <a:lumOff val="35000"/>
                  </a:schemeClr>
                </a:solidFill>
                <a:effectLst/>
                <a:uFillTx/>
                <a:latin typeface="メイリオ"/>
                <a:ea typeface="メイリオ"/>
              </a:rPr>
              <a:t>を</a:t>
            </a:r>
            <a:r>
              <a:rPr b="1" lang="en-US" sz="1400" strike="noStrike" u="none">
                <a:solidFill>
                  <a:schemeClr val="dk1">
                    <a:lumMod val="65000"/>
                    <a:lumOff val="35000"/>
                  </a:schemeClr>
                </a:solidFill>
                <a:effectLst/>
                <a:uFillTx/>
                <a:latin typeface="メイリオ"/>
                <a:ea typeface="メイリオ"/>
              </a:rPr>
              <a:t>LINE</a:t>
            </a:r>
            <a:r>
              <a:rPr b="1" lang="ja-JP" sz="1400" strike="noStrike" u="none">
                <a:solidFill>
                  <a:schemeClr val="dk1">
                    <a:lumMod val="65000"/>
                    <a:lumOff val="35000"/>
                  </a:schemeClr>
                </a:solidFill>
                <a:effectLst/>
                <a:uFillTx/>
                <a:latin typeface="メイリオ"/>
                <a:ea typeface="メイリオ"/>
              </a:rPr>
              <a:t>で送るだけで相談できるサービスも出ており、</a:t>
            </a:r>
            <a:r>
              <a:rPr b="1" lang="en-US" sz="1400" strike="noStrike" u="none">
                <a:solidFill>
                  <a:schemeClr val="dk1">
                    <a:lumMod val="65000"/>
                    <a:lumOff val="35000"/>
                  </a:schemeClr>
                </a:solidFill>
                <a:effectLst/>
                <a:uFillTx/>
                <a:latin typeface="メイリオ"/>
                <a:ea typeface="メイリオ"/>
              </a:rPr>
              <a:t>LINE</a:t>
            </a:r>
            <a:r>
              <a:rPr b="1" lang="ja-JP" sz="1400" strike="noStrike" u="none">
                <a:solidFill>
                  <a:schemeClr val="dk1">
                    <a:lumMod val="65000"/>
                    <a:lumOff val="35000"/>
                  </a:schemeClr>
                </a:solidFill>
                <a:effectLst/>
                <a:uFillTx/>
                <a:latin typeface="メイリオ"/>
                <a:ea typeface="メイリオ"/>
              </a:rPr>
              <a:t>での受け口が欠かせません</a:t>
            </a:r>
            <a:r>
              <a:rPr b="0" lang="ja-JP" sz="1400" strike="noStrike" u="none">
                <a:solidFill>
                  <a:schemeClr val="dk1">
                    <a:lumMod val="65000"/>
                    <a:lumOff val="35000"/>
                  </a:schemeClr>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158" name="Card1_Num"/>
          <p:cNvSpPr/>
          <p:nvPr/>
        </p:nvSpPr>
        <p:spPr>
          <a:xfrm>
            <a:off x="380880" y="1481400"/>
            <a:ext cx="2920680" cy="511560"/>
          </a:xfrm>
          <a:prstGeom prst="rect">
            <a:avLst/>
          </a:prstGeom>
          <a:solidFill>
            <a:srgbClr val="1f2a5c"/>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01</a:t>
            </a:r>
            <a:endParaRPr b="0" lang="en-US" sz="2400" strike="noStrike" u="none">
              <a:solidFill>
                <a:srgbClr val="ffffff"/>
              </a:solidFill>
              <a:effectLst/>
              <a:uFillTx/>
              <a:latin typeface="Arial"/>
            </a:endParaRPr>
          </a:p>
        </p:txBody>
      </p:sp>
      <p:sp>
        <p:nvSpPr>
          <p:cNvPr id="159" name="Card1_Title"/>
          <p:cNvSpPr/>
          <p:nvPr/>
        </p:nvSpPr>
        <p:spPr>
          <a:xfrm>
            <a:off x="380880" y="1993320"/>
            <a:ext cx="2920680" cy="456840"/>
          </a:xfrm>
          <a:prstGeom prst="rect">
            <a:avLst/>
          </a:prstGeom>
          <a:solidFill>
            <a:srgbClr val="ffffff"/>
          </a:solidFill>
          <a:ln w="6350">
            <a:solidFill>
              <a:srgbClr val="1f2a5c"/>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1f2a5c"/>
                </a:solidFill>
                <a:effectLst/>
                <a:uFillTx/>
                <a:latin typeface="Calibri"/>
              </a:rPr>
              <a:t>電話より、文字でのやり取り</a:t>
            </a:r>
            <a:endParaRPr b="0" lang="en-US" sz="1400" strike="noStrike" u="none">
              <a:solidFill>
                <a:srgbClr val="000000"/>
              </a:solidFill>
              <a:effectLst/>
              <a:uFillTx/>
              <a:latin typeface="Arial"/>
            </a:endParaRPr>
          </a:p>
        </p:txBody>
      </p:sp>
      <p:sp>
        <p:nvSpPr>
          <p:cNvPr id="160" name="Card1_Body"/>
          <p:cNvSpPr/>
          <p:nvPr/>
        </p:nvSpPr>
        <p:spPr>
          <a:xfrm>
            <a:off x="38088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・内見予約のやり取りの希望は、電話</a:t>
            </a:r>
            <a:r>
              <a:rPr b="0" lang="en-US" sz="1400" strike="noStrike" u="none">
                <a:solidFill>
                  <a:srgbClr val="333333"/>
                </a:solidFill>
                <a:effectLst/>
                <a:uFillTx/>
                <a:latin typeface="Calibri"/>
              </a:rPr>
              <a:t>33.4</a:t>
            </a:r>
            <a:r>
              <a:rPr b="0" lang="ja-JP" sz="1400" strike="noStrike" u="none">
                <a:solidFill>
                  <a:srgbClr val="333333"/>
                </a:solidFill>
                <a:effectLst/>
                <a:uFillTx/>
                <a:latin typeface="Calibri"/>
              </a:rPr>
              <a:t>％に対し、メール・</a:t>
            </a:r>
            <a:r>
              <a:rPr b="0" lang="en-US" sz="1400" strike="noStrike" u="none">
                <a:solidFill>
                  <a:srgbClr val="333333"/>
                </a:solidFill>
                <a:effectLst/>
                <a:uFillTx/>
                <a:latin typeface="Calibri"/>
              </a:rPr>
              <a:t>SMS</a:t>
            </a:r>
            <a:r>
              <a:rPr b="0" lang="ja-JP" sz="1400" strike="noStrike" u="none">
                <a:solidFill>
                  <a:srgbClr val="333333"/>
                </a:solidFill>
                <a:effectLst/>
                <a:uFillTx/>
                <a:latin typeface="Calibri"/>
              </a:rPr>
              <a:t>が</a:t>
            </a:r>
            <a:r>
              <a:rPr b="0" lang="en-US" sz="1400" strike="noStrike" u="none">
                <a:solidFill>
                  <a:srgbClr val="333333"/>
                </a:solidFill>
                <a:effectLst/>
                <a:uFillTx/>
                <a:latin typeface="Calibri"/>
              </a:rPr>
              <a:t>52.6</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p:txBody>
      </p:sp>
      <p:sp>
        <p:nvSpPr>
          <p:cNvPr id="161" name="Card2_Num"/>
          <p:cNvSpPr/>
          <p:nvPr/>
        </p:nvSpPr>
        <p:spPr>
          <a:xfrm>
            <a:off x="3492360" y="1481400"/>
            <a:ext cx="2920680" cy="511560"/>
          </a:xfrm>
          <a:prstGeom prst="rect">
            <a:avLst/>
          </a:prstGeom>
          <a:solidFill>
            <a:srgbClr val="4a6fa5"/>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02</a:t>
            </a:r>
            <a:endParaRPr b="0" lang="en-US" sz="2400" strike="noStrike" u="none">
              <a:solidFill>
                <a:srgbClr val="ffffff"/>
              </a:solidFill>
              <a:effectLst/>
              <a:uFillTx/>
              <a:latin typeface="Arial"/>
            </a:endParaRPr>
          </a:p>
        </p:txBody>
      </p:sp>
      <p:sp>
        <p:nvSpPr>
          <p:cNvPr id="162" name="Card2_Title"/>
          <p:cNvSpPr/>
          <p:nvPr/>
        </p:nvSpPr>
        <p:spPr>
          <a:xfrm>
            <a:off x="3492360" y="1993320"/>
            <a:ext cx="2920680" cy="456840"/>
          </a:xfrm>
          <a:prstGeom prst="rect">
            <a:avLst/>
          </a:prstGeom>
          <a:solidFill>
            <a:srgbClr val="ffffff"/>
          </a:solidFill>
          <a:ln w="6350">
            <a:solidFill>
              <a:srgbClr val="4a6fa5"/>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4a6fa5"/>
                </a:solidFill>
                <a:effectLst/>
                <a:uFillTx/>
                <a:latin typeface="Calibri"/>
              </a:rPr>
              <a:t>手続きもオンラインで</a:t>
            </a:r>
            <a:endParaRPr b="0" lang="en-US" sz="1400" strike="noStrike" u="none">
              <a:solidFill>
                <a:srgbClr val="000000"/>
              </a:solidFill>
              <a:effectLst/>
              <a:uFillTx/>
              <a:latin typeface="Arial"/>
            </a:endParaRPr>
          </a:p>
        </p:txBody>
      </p:sp>
      <p:sp>
        <p:nvSpPr>
          <p:cNvPr id="163" name="Card2_Body"/>
          <p:cNvSpPr/>
          <p:nvPr/>
        </p:nvSpPr>
        <p:spPr>
          <a:xfrm>
            <a:off x="349236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・オンラインで契約したい検討者は</a:t>
            </a:r>
            <a:r>
              <a:rPr b="0" lang="en-US" sz="1400" strike="noStrike" u="none">
                <a:solidFill>
                  <a:srgbClr val="333333"/>
                </a:solidFill>
                <a:effectLst/>
                <a:uFillTx/>
                <a:latin typeface="Calibri"/>
              </a:rPr>
              <a:t>36.4</a:t>
            </a:r>
            <a:r>
              <a:rPr b="0" lang="ja-JP" sz="1400" strike="noStrike" u="none">
                <a:solidFill>
                  <a:srgbClr val="333333"/>
                </a:solidFill>
                <a:effectLst/>
                <a:uFillTx/>
                <a:latin typeface="Calibri"/>
              </a:rPr>
              <a:t>％、オンラインで重要事項説明を受けたい検討者は</a:t>
            </a:r>
            <a:r>
              <a:rPr b="0" lang="en-US" sz="1400" strike="noStrike" u="none">
                <a:solidFill>
                  <a:srgbClr val="333333"/>
                </a:solidFill>
                <a:effectLst/>
                <a:uFillTx/>
                <a:latin typeface="Calibri"/>
              </a:rPr>
              <a:t>29.6</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a:t>
            </a:r>
            <a:r>
              <a:rPr b="0" lang="en-US" sz="1400" strike="noStrike" u="none">
                <a:solidFill>
                  <a:srgbClr val="333333"/>
                </a:solidFill>
                <a:effectLst/>
                <a:uFillTx/>
                <a:latin typeface="Calibri"/>
              </a:rPr>
              <a:t>100</a:t>
            </a:r>
            <a:r>
              <a:rPr b="0" lang="ja-JP" sz="1400" strike="noStrike" u="none">
                <a:solidFill>
                  <a:srgbClr val="333333"/>
                </a:solidFill>
                <a:effectLst/>
                <a:uFillTx/>
                <a:latin typeface="Calibri"/>
              </a:rPr>
              <a:t>円賃貸は、テレビ電話・郵送・ネットでのお申込み・ご契約に対応</a:t>
            </a:r>
            <a:endParaRPr b="0" lang="en-US" sz="1400" strike="noStrike" u="none">
              <a:solidFill>
                <a:srgbClr val="000000"/>
              </a:solidFill>
              <a:effectLst/>
              <a:uFillTx/>
              <a:latin typeface="Arial"/>
            </a:endParaRPr>
          </a:p>
        </p:txBody>
      </p:sp>
      <p:sp>
        <p:nvSpPr>
          <p:cNvPr id="164" name="Card3_Num"/>
          <p:cNvSpPr/>
          <p:nvPr/>
        </p:nvSpPr>
        <p:spPr>
          <a:xfrm>
            <a:off x="6603840" y="1481400"/>
            <a:ext cx="2920680" cy="511560"/>
          </a:xfrm>
          <a:prstGeom prst="rect">
            <a:avLst/>
          </a:prstGeom>
          <a:solidFill>
            <a:schemeClr val="bg1">
              <a:lumMod val="75000"/>
            </a:schemeClr>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03</a:t>
            </a:r>
            <a:endParaRPr b="0" lang="en-US" sz="2400" strike="noStrike" u="none">
              <a:solidFill>
                <a:srgbClr val="000000"/>
              </a:solidFill>
              <a:effectLst/>
              <a:uFillTx/>
              <a:latin typeface="Arial"/>
            </a:endParaRPr>
          </a:p>
        </p:txBody>
      </p:sp>
      <p:sp>
        <p:nvSpPr>
          <p:cNvPr id="165" name="Card3_Title"/>
          <p:cNvSpPr/>
          <p:nvPr/>
        </p:nvSpPr>
        <p:spPr>
          <a:xfrm>
            <a:off x="6603840" y="1993320"/>
            <a:ext cx="2920680" cy="456840"/>
          </a:xfrm>
          <a:prstGeom prst="rect">
            <a:avLst/>
          </a:prstGeom>
          <a:solidFill>
            <a:srgbClr val="ffffff"/>
          </a:solidFill>
          <a:ln w="6350">
            <a:solidFill>
              <a:srgbClr val="ffffff">
                <a:lumMod val="75000"/>
              </a:srgbClr>
            </a:solidFill>
            <a:round/>
          </a:ln>
        </p:spPr>
        <p:style>
          <a:lnRef idx="0"/>
          <a:fillRef idx="0"/>
          <a:effectRef idx="0"/>
          <a:fontRef idx="minor"/>
        </p:style>
        <p:txBody>
          <a:bodyPr lIns="177840" rIns="177840" tIns="101520" bIns="101520" anchor="ctr">
            <a:noAutofit/>
          </a:bodyPr>
          <a:p>
            <a:pPr defTabSz="914400">
              <a:lnSpc>
                <a:spcPct val="100000"/>
              </a:lnSpc>
            </a:pPr>
            <a:r>
              <a:rPr b="1" lang="en-US" sz="1400" strike="noStrike" u="none">
                <a:solidFill>
                  <a:schemeClr val="dk1">
                    <a:lumMod val="65000"/>
                    <a:lumOff val="35000"/>
                  </a:schemeClr>
                </a:solidFill>
                <a:effectLst/>
                <a:uFillTx/>
                <a:latin typeface="Calibri"/>
              </a:rPr>
              <a:t>URL</a:t>
            </a:r>
            <a:r>
              <a:rPr b="1" lang="ja-JP" sz="1400" strike="noStrike" u="none">
                <a:solidFill>
                  <a:schemeClr val="dk1">
                    <a:lumMod val="65000"/>
                    <a:lumOff val="35000"/>
                  </a:schemeClr>
                </a:solidFill>
                <a:effectLst/>
                <a:uFillTx/>
                <a:latin typeface="Calibri"/>
              </a:rPr>
              <a:t>を送るだけの競合も</a:t>
            </a:r>
            <a:endParaRPr b="0" lang="en-US" sz="1400" strike="noStrike" u="none">
              <a:solidFill>
                <a:srgbClr val="000000"/>
              </a:solidFill>
              <a:effectLst/>
              <a:uFillTx/>
              <a:latin typeface="Arial"/>
            </a:endParaRPr>
          </a:p>
        </p:txBody>
      </p:sp>
      <p:sp>
        <p:nvSpPr>
          <p:cNvPr id="166" name="Card3_Body"/>
          <p:cNvSpPr/>
          <p:nvPr/>
        </p:nvSpPr>
        <p:spPr>
          <a:xfrm>
            <a:off x="660384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・タダスム：見つけた物件の</a:t>
            </a:r>
            <a:r>
              <a:rPr b="0" lang="en-US" sz="1400" strike="noStrike" u="none">
                <a:solidFill>
                  <a:srgbClr val="333333"/>
                </a:solidFill>
                <a:effectLst/>
                <a:uFillTx/>
                <a:latin typeface="Calibri"/>
              </a:rPr>
              <a:t>URL</a:t>
            </a:r>
            <a:r>
              <a:rPr b="0" lang="ja-JP" sz="1400" strike="noStrike" u="none">
                <a:solidFill>
                  <a:srgbClr val="333333"/>
                </a:solidFill>
                <a:effectLst/>
                <a:uFillTx/>
                <a:latin typeface="Calibri"/>
              </a:rPr>
              <a:t>を</a:t>
            </a:r>
            <a:r>
              <a:rPr b="0" lang="en-US" sz="1400" strike="noStrike" u="none">
                <a:solidFill>
                  <a:srgbClr val="333333"/>
                </a:solidFill>
                <a:effectLst/>
                <a:uFillTx/>
                <a:latin typeface="Calibri"/>
              </a:rPr>
              <a:t>LINE</a:t>
            </a:r>
            <a:r>
              <a:rPr b="0" lang="ja-JP" sz="1400" strike="noStrike" u="none">
                <a:solidFill>
                  <a:srgbClr val="333333"/>
                </a:solidFill>
                <a:effectLst/>
                <a:uFillTx/>
                <a:latin typeface="Calibri"/>
              </a:rPr>
              <a:t>で送ると、空室確認・内見調整。仲介手数料は「</a:t>
            </a:r>
            <a:r>
              <a:rPr b="0" lang="en-US" sz="1400" strike="noStrike" u="none">
                <a:solidFill>
                  <a:srgbClr val="333333"/>
                </a:solidFill>
                <a:effectLst/>
                <a:uFillTx/>
                <a:latin typeface="Calibri"/>
              </a:rPr>
              <a:t>0</a:t>
            </a:r>
            <a:r>
              <a:rPr b="0" lang="ja-JP" sz="1400" strike="noStrike" u="none">
                <a:solidFill>
                  <a:srgbClr val="333333"/>
                </a:solidFill>
                <a:effectLst/>
                <a:uFillTx/>
                <a:latin typeface="Calibri"/>
              </a:rPr>
              <a:t>円</a:t>
            </a:r>
            <a:r>
              <a:rPr b="0" lang="en-US" sz="1400" strike="noStrike" u="none">
                <a:solidFill>
                  <a:srgbClr val="333333"/>
                </a:solidFill>
                <a:effectLst/>
                <a:uFillTx/>
                <a:latin typeface="Calibri"/>
              </a:rPr>
              <a:t>or</a:t>
            </a:r>
            <a:r>
              <a:rPr b="0" lang="ja-JP" sz="1400" strike="noStrike" u="none">
                <a:solidFill>
                  <a:srgbClr val="333333"/>
                </a:solidFill>
                <a:effectLst/>
                <a:uFillTx/>
                <a:latin typeface="Calibri"/>
              </a:rPr>
              <a:t>最大</a:t>
            </a:r>
            <a:r>
              <a:rPr b="0" lang="en-US" sz="1400" strike="noStrike" u="none">
                <a:solidFill>
                  <a:srgbClr val="333333"/>
                </a:solidFill>
                <a:effectLst/>
                <a:uFillTx/>
                <a:latin typeface="Calibri"/>
              </a:rPr>
              <a:t>50%</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p:txBody>
      </p:sp>
      <p:sp>
        <p:nvSpPr>
          <p:cNvPr id="167" name="Conclusion"/>
          <p:cNvSpPr/>
          <p:nvPr/>
        </p:nvSpPr>
        <p:spPr>
          <a:xfrm>
            <a:off x="380880" y="5266800"/>
            <a:ext cx="9143640" cy="1170000"/>
          </a:xfrm>
          <a:prstGeom prst="rect">
            <a:avLst/>
          </a:prstGeom>
          <a:solidFill>
            <a:srgbClr val="f0f2f7"/>
          </a:solidFill>
          <a:ln w="0">
            <a:noFill/>
          </a:ln>
        </p:spPr>
        <p:style>
          <a:lnRef idx="0"/>
          <a:fillRef idx="0"/>
          <a:effectRef idx="0"/>
          <a:fontRef idx="minor"/>
        </p:style>
        <p:txBody>
          <a:bodyPr lIns="177840" rIns="177840" tIns="127080" bIns="127080" anchor="t">
            <a:noAutofit/>
          </a:bodyPr>
          <a:p>
            <a:pPr defTabSz="914400">
              <a:lnSpc>
                <a:spcPct val="100000"/>
              </a:lnSpc>
              <a:spcAft>
                <a:spcPts val="300"/>
              </a:spcAft>
            </a:pPr>
            <a:r>
              <a:rPr b="1" lang="ja-JP" sz="1100" strike="noStrike" u="none">
                <a:solidFill>
                  <a:srgbClr val="1f285a"/>
                </a:solidFill>
                <a:effectLst/>
                <a:uFillTx/>
                <a:latin typeface="メイリオ"/>
                <a:ea typeface="メイリオ"/>
              </a:rPr>
              <a:t>出典</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ja-JP" sz="1100" strike="noStrike" u="sng">
                <a:solidFill>
                  <a:srgbClr val="0000ff"/>
                </a:solidFill>
                <a:effectLst/>
                <a:uFillTx/>
                <a:latin typeface="メイリオ"/>
                <a:ea typeface="メイリオ"/>
                <a:hlinkClick r:id="rId1"/>
              </a:rPr>
              <a:t>アットホーム「オンラインでの住まい探しに関する調査 2025 賃貸編」</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・タダスム（</a:t>
            </a:r>
            <a:r>
              <a:rPr b="0" lang="ja-JP" sz="1100" strike="noStrike" u="sng">
                <a:solidFill>
                  <a:srgbClr val="0000ff"/>
                </a:solidFill>
                <a:effectLst/>
                <a:uFillTx/>
                <a:latin typeface="メイリオ"/>
                <a:ea typeface="メイリオ"/>
                <a:hlinkClick r:id="rId2"/>
              </a:rPr>
              <a:t>公式サイト</a:t>
            </a:r>
            <a:r>
              <a:rPr b="0" lang="ja-JP" sz="1100" strike="noStrike" u="none">
                <a:solidFill>
                  <a:srgbClr val="333333"/>
                </a:solidFill>
                <a:effectLst/>
                <a:uFillTx/>
                <a:latin typeface="メイリオ"/>
                <a:ea typeface="メイリオ"/>
              </a:rPr>
              <a:t>／</a:t>
            </a:r>
            <a:r>
              <a:rPr b="0" lang="ja-JP" sz="1100" strike="noStrike" u="sng">
                <a:solidFill>
                  <a:srgbClr val="0000ff"/>
                </a:solidFill>
                <a:effectLst/>
                <a:uFillTx/>
                <a:latin typeface="メイリオ"/>
                <a:ea typeface="メイリオ"/>
                <a:hlinkClick r:id="rId3"/>
              </a:rPr>
              <a:t>サービス紹介</a:t>
            </a:r>
            <a:r>
              <a:rPr b="0" lang="ja-JP" sz="1100" strike="noStrike" u="none">
                <a:solidFill>
                  <a:srgbClr val="333333"/>
                </a:solidFill>
                <a:effectLst/>
                <a:uFillTx/>
                <a:latin typeface="メイリオ"/>
                <a:ea typeface="メイリオ"/>
              </a:rPr>
              <a:t>）</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en-US" sz="1100" strike="noStrike" u="sng">
                <a:solidFill>
                  <a:srgbClr val="0000ff"/>
                </a:solidFill>
                <a:effectLst/>
                <a:uFillTx/>
                <a:latin typeface="メイリオ"/>
                <a:ea typeface="メイリオ"/>
                <a:hlinkClick r:id="rId4"/>
              </a:rPr>
              <a:t>100円賃貸 公式サイト</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16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170"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要件定義</a:t>
            </a:r>
            <a:endParaRPr b="0" lang="en-US" sz="1600" strike="noStrike" u="none">
              <a:solidFill>
                <a:srgbClr val="000000"/>
              </a:solidFill>
              <a:effectLst/>
              <a:uFillTx/>
              <a:latin typeface="Arial"/>
            </a:endParaRPr>
          </a:p>
        </p:txBody>
      </p:sp>
      <p:sp>
        <p:nvSpPr>
          <p:cNvPr id="171" name="Heading"/>
          <p:cNvSpPr/>
          <p:nvPr/>
        </p:nvSpPr>
        <p:spPr>
          <a:xfrm>
            <a:off x="365040" y="835920"/>
            <a:ext cx="9143640" cy="279000"/>
          </a:xfrm>
          <a:prstGeom prst="rect">
            <a:avLst/>
          </a:prstGeom>
          <a:noFill/>
          <a:ln w="0">
            <a:noFill/>
          </a:ln>
        </p:spPr>
        <p:style>
          <a:lnRef idx="0"/>
          <a:fillRef idx="0"/>
          <a:effectRef idx="0"/>
          <a:fontRef idx="minor"/>
        </p:style>
        <p:txBody>
          <a:bodyPr lIns="101520" rIns="101520" tIns="76320" bIns="76320" anchor="t">
            <a:noAutofit/>
          </a:bodyPr>
          <a:p>
            <a:pPr defTabSz="914400">
              <a:lnSpc>
                <a:spcPct val="100000"/>
              </a:lnSpc>
            </a:pPr>
            <a:r>
              <a:rPr b="1" lang="en-US" sz="1400" strike="noStrike" u="none">
                <a:solidFill>
                  <a:srgbClr val="1f2a5c"/>
                </a:solidFill>
                <a:effectLst/>
                <a:uFillTx/>
                <a:latin typeface="メイリオ"/>
                <a:ea typeface="メイリオ"/>
              </a:rPr>
              <a:t>LINE</a:t>
            </a:r>
            <a:r>
              <a:rPr b="1" lang="ja-JP" sz="1400" strike="noStrike" u="none">
                <a:solidFill>
                  <a:srgbClr val="1f2a5c"/>
                </a:solidFill>
                <a:effectLst/>
                <a:uFillTx/>
                <a:latin typeface="メイリオ"/>
                <a:ea typeface="メイリオ"/>
              </a:rPr>
              <a:t>運用ツールの選定</a:t>
            </a:r>
            <a:endParaRPr b="0" lang="en-US" sz="1400" strike="noStrike" u="none">
              <a:solidFill>
                <a:srgbClr val="000000"/>
              </a:solidFill>
              <a:effectLst/>
              <a:uFillTx/>
              <a:latin typeface="Arial"/>
            </a:endParaRPr>
          </a:p>
        </p:txBody>
      </p:sp>
      <p:sp>
        <p:nvSpPr>
          <p:cNvPr id="172" name="LeftHeader"/>
          <p:cNvSpPr/>
          <p:nvPr/>
        </p:nvSpPr>
        <p:spPr>
          <a:xfrm>
            <a:off x="380880" y="1320840"/>
            <a:ext cx="4444560" cy="420120"/>
          </a:xfrm>
          <a:prstGeom prst="rect">
            <a:avLst/>
          </a:prstGeom>
          <a:solidFill>
            <a:srgbClr val="1f2a5c"/>
          </a:solidFill>
          <a:ln w="0">
            <a:noFill/>
          </a:ln>
        </p:spPr>
        <p:style>
          <a:lnRef idx="0"/>
          <a:fillRef idx="0"/>
          <a:effectRef idx="0"/>
          <a:fontRef idx="minor"/>
        </p:style>
        <p:txBody>
          <a:bodyPr lIns="73080" rIns="73080" tIns="76320" bIns="76320" anchor="ctr">
            <a:noAutofit/>
          </a:bodyPr>
          <a:p>
            <a:pPr algn="ctr" defTabSz="914400">
              <a:lnSpc>
                <a:spcPct val="100000"/>
              </a:lnSpc>
            </a:pPr>
            <a:r>
              <a:rPr b="1" lang="ja-JP" sz="1400" strike="noStrike" u="none">
                <a:solidFill>
                  <a:srgbClr val="ffffff"/>
                </a:solidFill>
                <a:effectLst/>
                <a:uFillTx/>
                <a:latin typeface="メイリオ"/>
                <a:ea typeface="メイリオ"/>
              </a:rPr>
              <a:t>標準機能で運用</a:t>
            </a:r>
            <a:r>
              <a:rPr b="0" lang="en-US" sz="1400" strike="noStrike" u="none">
                <a:solidFill>
                  <a:srgbClr val="ffffff"/>
                </a:solidFill>
                <a:effectLst/>
                <a:uFillTx/>
                <a:latin typeface="メイリオ"/>
                <a:ea typeface="メイリオ"/>
              </a:rPr>
              <a:t> </a:t>
            </a:r>
            <a:r>
              <a:rPr b="0" lang="en-US" sz="1200" strike="noStrike" u="none">
                <a:solidFill>
                  <a:srgbClr val="ffffff"/>
                </a:solidFill>
                <a:effectLst/>
                <a:uFillTx/>
                <a:latin typeface="メイリオ"/>
                <a:ea typeface="メイリオ"/>
              </a:rPr>
              <a:t>※基本施策はこちらで運用</a:t>
            </a:r>
            <a:endParaRPr b="0" lang="en-US" sz="1200" strike="noStrike" u="none">
              <a:solidFill>
                <a:srgbClr val="ffffff"/>
              </a:solidFill>
              <a:effectLst/>
              <a:uFillTx/>
              <a:latin typeface="Arial"/>
            </a:endParaRPr>
          </a:p>
        </p:txBody>
      </p:sp>
      <p:sp>
        <p:nvSpPr>
          <p:cNvPr id="173" name="LeftBody"/>
          <p:cNvSpPr/>
          <p:nvPr/>
        </p:nvSpPr>
        <p:spPr>
          <a:xfrm>
            <a:off x="380880" y="1740960"/>
            <a:ext cx="4444560" cy="3401280"/>
          </a:xfrm>
          <a:prstGeom prst="rect">
            <a:avLst/>
          </a:prstGeom>
          <a:solidFill>
            <a:srgbClr val="f5f7fa"/>
          </a:solidFill>
          <a:ln w="6350">
            <a:solidFill>
              <a:srgbClr val="d1d8e0"/>
            </a:solidFill>
            <a:round/>
          </a:ln>
        </p:spPr>
        <p:style>
          <a:lnRef idx="0"/>
          <a:fillRef idx="0"/>
          <a:effectRef idx="0"/>
          <a:fontRef idx="minor"/>
        </p:style>
        <p:txBody>
          <a:bodyPr lIns="128160" rIns="128160" tIns="152280" bIns="152280" anchor="t">
            <a:noAutofit/>
          </a:bodyPr>
          <a:p>
            <a:pPr defTabSz="914400">
              <a:lnSpc>
                <a:spcPct val="100000"/>
              </a:lnSpc>
            </a:pPr>
            <a:r>
              <a:rPr b="1" lang="ja-JP" sz="1400" strike="noStrike" u="none">
                <a:solidFill>
                  <a:srgbClr val="1f2a5c"/>
                </a:solidFill>
                <a:effectLst/>
                <a:uFillTx/>
                <a:latin typeface="メイリオ"/>
                <a:ea typeface="メイリオ"/>
              </a:rPr>
              <a:t>特徴</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ツール費がかからず、</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公式アカウントの管理画面だけで運用できる</a:t>
            </a:r>
            <a:endParaRPr b="0" lang="en-US" sz="1400" strike="noStrike" u="none">
              <a:solidFill>
                <a:srgbClr val="000000"/>
              </a:solidFill>
              <a:effectLst/>
              <a:uFillTx/>
              <a:latin typeface="Arial"/>
            </a:endParaRPr>
          </a:p>
          <a:p>
            <a:pPr defTabSz="914400">
              <a:lnSpc>
                <a:spcPct val="100000"/>
              </a:lnSpc>
              <a:spcBef>
                <a:spcPts val="601"/>
              </a:spcBef>
            </a:pPr>
            <a:r>
              <a:rPr b="1" lang="ja-JP" sz="1400" strike="noStrike" u="none">
                <a:solidFill>
                  <a:srgbClr val="1f2a5c"/>
                </a:solidFill>
                <a:effectLst/>
                <a:uFillTx/>
                <a:latin typeface="メイリオ"/>
                <a:ea typeface="メイリオ"/>
              </a:rPr>
              <a:t>メリット</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ステップ配信・問い合わせ済みの方を除く配信・キーワード応答・チャットタグなど、</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上の施策はすべて標準機能で実現できる</a:t>
            </a:r>
            <a:endParaRPr b="0" lang="en-US" sz="1400" strike="noStrike" u="none">
              <a:solidFill>
                <a:srgbClr val="000000"/>
              </a:solidFill>
              <a:effectLst/>
              <a:uFillTx/>
              <a:latin typeface="Arial"/>
            </a:endParaRPr>
          </a:p>
          <a:p>
            <a:pPr defTabSz="914400">
              <a:lnSpc>
                <a:spcPct val="100000"/>
              </a:lnSpc>
              <a:spcBef>
                <a:spcPts val="601"/>
              </a:spcBef>
            </a:pPr>
            <a:r>
              <a:rPr b="1" lang="ja-JP" sz="1400" strike="noStrike" u="none">
                <a:solidFill>
                  <a:srgbClr val="1f2a5c"/>
                </a:solidFill>
                <a:effectLst/>
                <a:uFillTx/>
                <a:latin typeface="メイリオ"/>
                <a:ea typeface="メイリオ"/>
              </a:rPr>
              <a:t>デメリット</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離脱防止ポップアップとサイトのボタンなど、同じ友だち追加</a:t>
            </a:r>
            <a:r>
              <a:rPr b="0" lang="en-US" sz="1400" strike="noStrike" u="none">
                <a:solidFill>
                  <a:srgbClr val="333333"/>
                </a:solidFill>
                <a:effectLst/>
                <a:uFillTx/>
                <a:latin typeface="メイリオ"/>
                <a:ea typeface="メイリオ"/>
              </a:rPr>
              <a:t>URL</a:t>
            </a:r>
            <a:r>
              <a:rPr b="0" lang="ja-JP" sz="1400" strike="noStrike" u="none">
                <a:solidFill>
                  <a:srgbClr val="333333"/>
                </a:solidFill>
                <a:effectLst/>
                <a:uFillTx/>
                <a:latin typeface="メイリオ"/>
                <a:ea typeface="メイリオ"/>
              </a:rPr>
              <a:t>から入った方は、経路で分けて配信できない</a:t>
            </a:r>
            <a:endParaRPr b="0" lang="en-US" sz="1400" strike="noStrike" u="none">
              <a:solidFill>
                <a:srgbClr val="000000"/>
              </a:solidFill>
              <a:effectLst/>
              <a:uFillTx/>
              <a:latin typeface="Arial"/>
            </a:endParaRPr>
          </a:p>
        </p:txBody>
      </p:sp>
      <p:sp>
        <p:nvSpPr>
          <p:cNvPr id="174" name="RightHeader"/>
          <p:cNvSpPr/>
          <p:nvPr/>
        </p:nvSpPr>
        <p:spPr>
          <a:xfrm>
            <a:off x="5079960" y="1320840"/>
            <a:ext cx="4444560" cy="420120"/>
          </a:xfrm>
          <a:prstGeom prst="rect">
            <a:avLst/>
          </a:prstGeom>
          <a:solidFill>
            <a:srgbClr val="00b050"/>
          </a:solidFill>
          <a:ln w="0">
            <a:noFill/>
          </a:ln>
        </p:spPr>
        <p:style>
          <a:lnRef idx="0"/>
          <a:fillRef idx="0"/>
          <a:effectRef idx="0"/>
          <a:fontRef idx="minor"/>
        </p:style>
        <p:txBody>
          <a:bodyPr lIns="73080" rIns="73080" tIns="76320" bIns="76320" anchor="ctr">
            <a:noAutofit/>
          </a:bodyPr>
          <a:p>
            <a:pPr algn="ctr" defTabSz="914400">
              <a:lnSpc>
                <a:spcPct val="100000"/>
              </a:lnSpc>
            </a:pPr>
            <a:r>
              <a:rPr b="1" lang="ja-JP" sz="1400" strike="noStrike" u="none">
                <a:solidFill>
                  <a:srgbClr val="ffffff"/>
                </a:solidFill>
                <a:effectLst/>
                <a:uFillTx/>
                <a:latin typeface="メイリオ"/>
                <a:ea typeface="メイリオ"/>
              </a:rPr>
              <a:t>外部の運用ツール</a:t>
            </a:r>
            <a:r>
              <a:rPr b="0" lang="en-US" sz="1400" strike="noStrike" u="none">
                <a:solidFill>
                  <a:srgbClr val="ffffff"/>
                </a:solidFill>
                <a:effectLst/>
                <a:uFillTx/>
                <a:latin typeface="メイリオ"/>
                <a:ea typeface="メイリオ"/>
              </a:rPr>
              <a:t> </a:t>
            </a:r>
            <a:r>
              <a:rPr b="0" lang="en-US" sz="1200" strike="noStrike" u="none">
                <a:solidFill>
                  <a:srgbClr val="ffffff"/>
                </a:solidFill>
                <a:effectLst/>
                <a:uFillTx/>
                <a:latin typeface="メイリオ"/>
                <a:ea typeface="メイリオ"/>
              </a:rPr>
              <a:t>※基本施策には含まない</a:t>
            </a:r>
            <a:endParaRPr b="0" lang="en-US" sz="1200" strike="noStrike" u="none">
              <a:solidFill>
                <a:srgbClr val="ffffff"/>
              </a:solidFill>
              <a:effectLst/>
              <a:uFillTx/>
              <a:latin typeface="Arial"/>
            </a:endParaRPr>
          </a:p>
        </p:txBody>
      </p:sp>
      <p:sp>
        <p:nvSpPr>
          <p:cNvPr id="175" name="RightBody"/>
          <p:cNvSpPr/>
          <p:nvPr/>
        </p:nvSpPr>
        <p:spPr>
          <a:xfrm>
            <a:off x="5079960" y="1740960"/>
            <a:ext cx="4444560" cy="3401280"/>
          </a:xfrm>
          <a:prstGeom prst="rect">
            <a:avLst/>
          </a:prstGeom>
          <a:solidFill>
            <a:srgbClr val="ffffff"/>
          </a:solidFill>
          <a:ln w="12700">
            <a:solidFill>
              <a:srgbClr val="00b050"/>
            </a:solidFill>
            <a:round/>
          </a:ln>
        </p:spPr>
        <p:style>
          <a:lnRef idx="0"/>
          <a:fillRef idx="0"/>
          <a:effectRef idx="0"/>
          <a:fontRef idx="minor"/>
        </p:style>
        <p:txBody>
          <a:bodyPr lIns="128160" rIns="128160" tIns="152280" bIns="152280" anchor="t">
            <a:noAutofit/>
          </a:bodyPr>
          <a:p>
            <a:pPr defTabSz="914400">
              <a:lnSpc>
                <a:spcPct val="100000"/>
              </a:lnSpc>
            </a:pPr>
            <a:r>
              <a:rPr b="1" lang="ja-JP" sz="1400" strike="noStrike" u="none">
                <a:solidFill>
                  <a:srgbClr val="00b050"/>
                </a:solidFill>
                <a:effectLst/>
                <a:uFillTx/>
                <a:latin typeface="メイリオ"/>
                <a:ea typeface="メイリオ"/>
              </a:rPr>
              <a:t>特徴</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タグや流入経路を細かく管理でき、外部データ連携に強い（</a:t>
            </a:r>
            <a:r>
              <a:rPr b="0" lang="en-US" sz="1400" strike="noStrike" u="none">
                <a:solidFill>
                  <a:srgbClr val="333333"/>
                </a:solidFill>
                <a:effectLst/>
                <a:uFillTx/>
                <a:latin typeface="メイリオ"/>
                <a:ea typeface="メイリオ"/>
              </a:rPr>
              <a:t>L</a:t>
            </a:r>
            <a:r>
              <a:rPr b="0" lang="ja-JP" sz="1400" strike="noStrike" u="none">
                <a:solidFill>
                  <a:srgbClr val="333333"/>
                </a:solidFill>
                <a:effectLst/>
                <a:uFillTx/>
                <a:latin typeface="メイリオ"/>
                <a:ea typeface="メイリオ"/>
              </a:rPr>
              <a:t>ステップ等）</a:t>
            </a:r>
            <a:endParaRPr b="0" lang="en-US" sz="1400" strike="noStrike" u="none">
              <a:solidFill>
                <a:srgbClr val="000000"/>
              </a:solidFill>
              <a:effectLst/>
              <a:uFillTx/>
              <a:latin typeface="Arial"/>
            </a:endParaRPr>
          </a:p>
          <a:p>
            <a:pPr defTabSz="914400">
              <a:lnSpc>
                <a:spcPct val="100000"/>
              </a:lnSpc>
              <a:spcBef>
                <a:spcPts val="601"/>
              </a:spcBef>
            </a:pPr>
            <a:r>
              <a:rPr b="1" lang="ja-JP" sz="1400" strike="noStrike" u="none">
                <a:solidFill>
                  <a:srgbClr val="00b050"/>
                </a:solidFill>
                <a:effectLst/>
                <a:uFillTx/>
                <a:latin typeface="メイリオ"/>
                <a:ea typeface="メイリオ"/>
              </a:rPr>
              <a:t>メリット</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流入元ごとに、配信を細かく出し分けられる</a:t>
            </a:r>
            <a:endParaRPr b="0" lang="en-US" sz="1400" strike="noStrike" u="none">
              <a:solidFill>
                <a:srgbClr val="000000"/>
              </a:solidFill>
              <a:effectLst/>
              <a:uFillTx/>
              <a:latin typeface="Arial"/>
            </a:endParaRPr>
          </a:p>
          <a:p>
            <a:pPr defTabSz="914400">
              <a:lnSpc>
                <a:spcPct val="100000"/>
              </a:lnSpc>
              <a:spcBef>
                <a:spcPts val="601"/>
              </a:spcBef>
            </a:pPr>
            <a:r>
              <a:rPr b="1" lang="ja-JP" sz="1400" strike="noStrike" u="none">
                <a:solidFill>
                  <a:srgbClr val="00b050"/>
                </a:solidFill>
                <a:effectLst/>
                <a:uFillTx/>
                <a:latin typeface="メイリオ"/>
                <a:ea typeface="メイリオ"/>
              </a:rPr>
              <a:t>デメリット</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月額のツール費と、初期設定・移行の工数がかかる</a:t>
            </a:r>
            <a:endParaRPr b="0" lang="en-US" sz="1400" strike="noStrike" u="none">
              <a:solidFill>
                <a:srgbClr val="000000"/>
              </a:solidFill>
              <a:effectLst/>
              <a:uFillTx/>
              <a:latin typeface="Arial"/>
            </a:endParaRPr>
          </a:p>
        </p:txBody>
      </p:sp>
      <p:sp>
        <p:nvSpPr>
          <p:cNvPr id="176" name="Conclusion"/>
          <p:cNvSpPr/>
          <p:nvPr/>
        </p:nvSpPr>
        <p:spPr>
          <a:xfrm>
            <a:off x="380880" y="5230440"/>
            <a:ext cx="9143640" cy="1261440"/>
          </a:xfrm>
          <a:prstGeom prst="rect">
            <a:avLst/>
          </a:prstGeom>
          <a:solidFill>
            <a:srgbClr val="f0f2f7"/>
          </a:solidFill>
          <a:ln w="0">
            <a:noFill/>
          </a:ln>
        </p:spPr>
        <p:style>
          <a:lnRef idx="0"/>
          <a:fillRef idx="0"/>
          <a:effectRef idx="0"/>
          <a:fontRef idx="minor"/>
        </p:style>
        <p:txBody>
          <a:bodyPr lIns="177840" rIns="177840" tIns="127080" bIns="127080" anchor="t">
            <a:noAutofit/>
          </a:bodyPr>
          <a:p>
            <a:pPr defTabSz="914400">
              <a:lnSpc>
                <a:spcPct val="100000"/>
              </a:lnSpc>
            </a:pPr>
            <a:r>
              <a:rPr b="1" lang="ja-JP" sz="1400" strike="noStrike" u="none">
                <a:solidFill>
                  <a:srgbClr val="1f2a5c"/>
                </a:solidFill>
                <a:effectLst/>
                <a:uFillTx/>
                <a:latin typeface="メイリオ"/>
                <a:ea typeface="メイリオ"/>
              </a:rPr>
              <a:t>結論</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基本施策は、</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公式アカウントの標準機能を中心に運用します。</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プラン①では、必要に応じて</a:t>
            </a:r>
            <a:r>
              <a:rPr b="0" lang="en-US" sz="1400" strike="noStrike" u="none">
                <a:solidFill>
                  <a:srgbClr val="333333"/>
                </a:solidFill>
                <a:effectLst/>
                <a:uFillTx/>
                <a:latin typeface="メイリオ"/>
                <a:ea typeface="メイリオ"/>
              </a:rPr>
              <a:t>API</a:t>
            </a:r>
            <a:r>
              <a:rPr b="0" lang="ja-JP" sz="1400" strike="noStrike" u="none">
                <a:solidFill>
                  <a:srgbClr val="333333"/>
                </a:solidFill>
                <a:effectLst/>
                <a:uFillTx/>
                <a:latin typeface="メイリオ"/>
                <a:ea typeface="メイリオ"/>
              </a:rPr>
              <a:t>連携・開発を別途お見積りでご提案します（基本料金に含まず）。</a:t>
            </a:r>
            <a:endParaRPr b="0" lang="en-US" sz="1400" strike="noStrike" u="none">
              <a:solidFill>
                <a:srgbClr val="000000"/>
              </a:solidFill>
              <a:effectLst/>
              <a:uFillTx/>
              <a:latin typeface="Arial"/>
            </a:endParaRPr>
          </a:p>
          <a:p>
            <a:pPr defTabSz="914400">
              <a:lnSpc>
                <a:spcPct val="100000"/>
              </a:lnSpc>
              <a:spcBef>
                <a:spcPts val="201"/>
              </a:spcBef>
            </a:pPr>
            <a:r>
              <a:rPr b="0" lang="en-US" sz="1400" strike="noStrike" u="none">
                <a:solidFill>
                  <a:srgbClr val="333333"/>
                </a:solidFill>
                <a:effectLst/>
                <a:uFillTx/>
                <a:latin typeface="メイリオ"/>
                <a:ea typeface="メイリオ"/>
              </a:rPr>
              <a:t>※離脱防止ポップアップは、</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公式アカウントの機能ではなく、サイト側に別途導入する施策です。</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178"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想定動線</a:t>
            </a:r>
            <a:endParaRPr b="0" lang="en-US" sz="1600" strike="noStrike" u="none">
              <a:solidFill>
                <a:srgbClr val="000000"/>
              </a:solidFill>
              <a:effectLst/>
              <a:uFillTx/>
              <a:latin typeface="Arial"/>
            </a:endParaRPr>
          </a:p>
        </p:txBody>
      </p:sp>
      <p:cxnSp>
        <p:nvCxnSpPr>
          <p:cNvPr id="179"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80" name="正方形/長方形 4"/>
          <p:cNvSpPr/>
          <p:nvPr/>
        </p:nvSpPr>
        <p:spPr>
          <a:xfrm>
            <a:off x="453240" y="1755720"/>
            <a:ext cx="9190440" cy="2431800"/>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00" strike="noStrike" u="none">
              <a:solidFill>
                <a:schemeClr val="dk1"/>
              </a:solidFill>
              <a:effectLst/>
              <a:uFillTx/>
              <a:latin typeface="メイリオ"/>
              <a:ea typeface="メイリオ"/>
            </a:endParaRPr>
          </a:p>
        </p:txBody>
      </p:sp>
      <p:sp>
        <p:nvSpPr>
          <p:cNvPr id="181" name="正方形/長方形 5"/>
          <p:cNvSpPr/>
          <p:nvPr/>
        </p:nvSpPr>
        <p:spPr>
          <a:xfrm>
            <a:off x="453240" y="4544640"/>
            <a:ext cx="9190440" cy="1919880"/>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00" strike="noStrike" u="none">
              <a:solidFill>
                <a:schemeClr val="lt1"/>
              </a:solidFill>
              <a:effectLst/>
              <a:uFillTx/>
              <a:latin typeface="メイリオ"/>
              <a:ea typeface="メイリオ"/>
            </a:endParaRPr>
          </a:p>
        </p:txBody>
      </p:sp>
      <p:sp>
        <p:nvSpPr>
          <p:cNvPr id="182" name="テキスト ボックス 7"/>
          <p:cNvSpPr/>
          <p:nvPr/>
        </p:nvSpPr>
        <p:spPr>
          <a:xfrm>
            <a:off x="453240" y="1417320"/>
            <a:ext cx="4963680" cy="307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trike="noStrike" u="none">
                <a:solidFill>
                  <a:schemeClr val="dk1">
                    <a:lumMod val="50000"/>
                    <a:lumOff val="50000"/>
                  </a:schemeClr>
                </a:solidFill>
                <a:effectLst/>
                <a:uFillTx/>
                <a:latin typeface="メイリオ"/>
                <a:ea typeface="メイリオ"/>
              </a:rPr>
              <a:t>&lt;</a:t>
            </a:r>
            <a:r>
              <a:rPr b="1" lang="ja-JP" sz="1400" strike="noStrike" u="none">
                <a:solidFill>
                  <a:schemeClr val="dk1">
                    <a:lumMod val="50000"/>
                    <a:lumOff val="50000"/>
                  </a:schemeClr>
                </a:solidFill>
                <a:effectLst/>
                <a:uFillTx/>
                <a:latin typeface="メイリオ"/>
                <a:ea typeface="メイリオ"/>
              </a:rPr>
              <a:t>対新規ユーザー領域</a:t>
            </a:r>
            <a:r>
              <a:rPr b="1" lang="en-US" sz="1400" strike="noStrike" u="none">
                <a:solidFill>
                  <a:schemeClr val="dk1">
                    <a:lumMod val="50000"/>
                    <a:lumOff val="50000"/>
                  </a:schemeClr>
                </a:solidFill>
                <a:effectLst/>
                <a:uFillTx/>
                <a:latin typeface="メイリオ"/>
                <a:ea typeface="メイリオ"/>
              </a:rPr>
              <a:t>&gt;</a:t>
            </a:r>
            <a:endParaRPr b="0" lang="en-US" sz="1400" strike="noStrike" u="none">
              <a:solidFill>
                <a:srgbClr val="000000"/>
              </a:solidFill>
              <a:effectLst/>
              <a:uFillTx/>
              <a:latin typeface="Arial"/>
            </a:endParaRPr>
          </a:p>
        </p:txBody>
      </p:sp>
      <p:sp>
        <p:nvSpPr>
          <p:cNvPr id="183" name="テキスト ボックス 8"/>
          <p:cNvSpPr/>
          <p:nvPr/>
        </p:nvSpPr>
        <p:spPr>
          <a:xfrm>
            <a:off x="453240" y="4215240"/>
            <a:ext cx="4963680" cy="307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trike="noStrike" u="none">
                <a:solidFill>
                  <a:schemeClr val="dk1">
                    <a:lumMod val="50000"/>
                    <a:lumOff val="50000"/>
                  </a:schemeClr>
                </a:solidFill>
                <a:effectLst/>
                <a:uFillTx/>
                <a:latin typeface="メイリオ"/>
                <a:ea typeface="メイリオ"/>
              </a:rPr>
              <a:t>&lt;</a:t>
            </a:r>
            <a:r>
              <a:rPr b="1" lang="zh-CN" sz="1400" strike="noStrike" u="none">
                <a:solidFill>
                  <a:schemeClr val="dk1">
                    <a:lumMod val="50000"/>
                    <a:lumOff val="50000"/>
                  </a:schemeClr>
                </a:solidFill>
                <a:effectLst/>
                <a:uFillTx/>
                <a:latin typeface="メイリオ"/>
                <a:ea typeface="メイリオ"/>
              </a:rPr>
              <a:t>友だち追加後・問い合わせ後の継続配信</a:t>
            </a:r>
            <a:r>
              <a:rPr b="1" lang="en-US" sz="1400" strike="noStrike" u="none">
                <a:solidFill>
                  <a:schemeClr val="dk1">
                    <a:lumMod val="50000"/>
                    <a:lumOff val="50000"/>
                  </a:schemeClr>
                </a:solidFill>
                <a:effectLst/>
                <a:uFillTx/>
                <a:latin typeface="メイリオ"/>
                <a:ea typeface="メイリオ"/>
              </a:rPr>
              <a:t>&gt;</a:t>
            </a:r>
            <a:endParaRPr b="0" lang="en-US" sz="1400" strike="noStrike" u="none">
              <a:solidFill>
                <a:srgbClr val="000000"/>
              </a:solidFill>
              <a:effectLst/>
              <a:uFillTx/>
              <a:latin typeface="Arial"/>
            </a:endParaRPr>
          </a:p>
        </p:txBody>
      </p:sp>
      <p:sp>
        <p:nvSpPr>
          <p:cNvPr id="184" name="正方形/長方形 8"/>
          <p:cNvSpPr/>
          <p:nvPr/>
        </p:nvSpPr>
        <p:spPr>
          <a:xfrm>
            <a:off x="567000" y="1847160"/>
            <a:ext cx="164556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36720" rIns="36720" tIns="0" bIns="0" anchor="ctr">
            <a:noAutofit/>
          </a:bodyPr>
          <a:p>
            <a:pPr algn="ctr" defTabSz="914400">
              <a:lnSpc>
                <a:spcPct val="100000"/>
              </a:lnSpc>
            </a:pPr>
            <a:r>
              <a:rPr b="1" lang="en-US" sz="1200" strike="noStrike" u="none">
                <a:solidFill>
                  <a:schemeClr val="lt1"/>
                </a:solidFill>
                <a:effectLst/>
                <a:uFillTx/>
                <a:latin typeface="メイリオ"/>
                <a:ea typeface="メイリオ"/>
              </a:rPr>
              <a:t>100</a:t>
            </a:r>
            <a:r>
              <a:rPr b="1" lang="zh-CN" sz="1200" strike="noStrike" u="none">
                <a:solidFill>
                  <a:schemeClr val="lt1"/>
                </a:solidFill>
                <a:effectLst/>
                <a:uFillTx/>
                <a:latin typeface="メイリオ"/>
                <a:ea typeface="メイリオ"/>
              </a:rPr>
              <a:t>円賃貸のサイト</a:t>
            </a:r>
            <a:endParaRPr b="0" lang="en-US" sz="1200" strike="noStrike" u="none">
              <a:solidFill>
                <a:srgbClr val="000000"/>
              </a:solidFill>
              <a:effectLst/>
              <a:uFillTx/>
              <a:latin typeface="Arial"/>
            </a:endParaRPr>
          </a:p>
        </p:txBody>
      </p:sp>
      <p:sp>
        <p:nvSpPr>
          <p:cNvPr id="185" name="正方形/長方形 13"/>
          <p:cNvSpPr/>
          <p:nvPr/>
        </p:nvSpPr>
        <p:spPr>
          <a:xfrm>
            <a:off x="8211240" y="2171880"/>
            <a:ext cx="1371240" cy="26496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18360" rIns="18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物件の問い合わせ</a:t>
            </a:r>
            <a:endParaRPr b="0" lang="en-US" sz="1200" strike="noStrike" u="none">
              <a:solidFill>
                <a:srgbClr val="ffffff"/>
              </a:solidFill>
              <a:effectLst/>
              <a:uFillTx/>
              <a:latin typeface="Arial"/>
            </a:endParaRPr>
          </a:p>
        </p:txBody>
      </p:sp>
      <p:sp>
        <p:nvSpPr>
          <p:cNvPr id="186" name="正方形/長方形 14"/>
          <p:cNvSpPr/>
          <p:nvPr/>
        </p:nvSpPr>
        <p:spPr>
          <a:xfrm>
            <a:off x="567000" y="2541960"/>
            <a:ext cx="2559960" cy="49356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rgbClr val="ffffff"/>
                </a:solidFill>
                <a:effectLst/>
                <a:uFillTx/>
                <a:latin typeface="メイリオ"/>
                <a:ea typeface="メイリオ"/>
              </a:rPr>
              <a:t>サイトの</a:t>
            </a:r>
            <a:br>
              <a:rPr sz="1200"/>
            </a:br>
            <a:r>
              <a:rPr b="1" lang="ja-JP" sz="1200" strike="noStrike" u="none">
                <a:solidFill>
                  <a:srgbClr val="ffffff"/>
                </a:solidFill>
                <a:effectLst/>
                <a:uFillTx/>
                <a:latin typeface="メイリオ"/>
                <a:ea typeface="メイリオ"/>
              </a:rPr>
              <a:t>「</a:t>
            </a:r>
            <a:r>
              <a:rPr b="1" lang="en-US" sz="1200" strike="noStrike" u="none">
                <a:solidFill>
                  <a:srgbClr val="ffffff"/>
                </a:solidFill>
                <a:effectLst/>
                <a:uFillTx/>
                <a:latin typeface="メイリオ"/>
                <a:ea typeface="メイリオ"/>
              </a:rPr>
              <a:t>LINE</a:t>
            </a:r>
            <a:r>
              <a:rPr b="1" lang="ja-JP" sz="1200" strike="noStrike" u="none">
                <a:solidFill>
                  <a:srgbClr val="ffffff"/>
                </a:solidFill>
                <a:effectLst/>
                <a:uFillTx/>
                <a:latin typeface="メイリオ"/>
                <a:ea typeface="メイリオ"/>
              </a:rPr>
              <a:t>でお問い合わせ」ボタン</a:t>
            </a:r>
            <a:endParaRPr b="0" lang="en-US" sz="1200" strike="noStrike" u="none">
              <a:solidFill>
                <a:srgbClr val="ffffff"/>
              </a:solidFill>
              <a:effectLst/>
              <a:uFillTx/>
              <a:latin typeface="Arial"/>
            </a:endParaRPr>
          </a:p>
        </p:txBody>
      </p:sp>
      <p:sp>
        <p:nvSpPr>
          <p:cNvPr id="187" name="正方形/長方形 16"/>
          <p:cNvSpPr/>
          <p:nvPr/>
        </p:nvSpPr>
        <p:spPr>
          <a:xfrm>
            <a:off x="567000" y="2167200"/>
            <a:ext cx="2559960" cy="29232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離脱防止ポップアップ</a:t>
            </a:r>
            <a:endParaRPr b="0" lang="en-US" sz="1200" strike="noStrike" u="none">
              <a:solidFill>
                <a:srgbClr val="ffffff"/>
              </a:solidFill>
              <a:effectLst/>
              <a:uFillTx/>
              <a:latin typeface="Arial"/>
            </a:endParaRPr>
          </a:p>
        </p:txBody>
      </p:sp>
      <p:sp>
        <p:nvSpPr>
          <p:cNvPr id="188" name="正方形/長方形 18"/>
          <p:cNvSpPr/>
          <p:nvPr/>
        </p:nvSpPr>
        <p:spPr>
          <a:xfrm>
            <a:off x="8211240" y="1847160"/>
            <a:ext cx="1371240" cy="26496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18360" rIns="18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空室確認・内見</a:t>
            </a:r>
            <a:endParaRPr b="0" lang="en-US" sz="1200" strike="noStrike" u="none">
              <a:solidFill>
                <a:srgbClr val="000000"/>
              </a:solidFill>
              <a:effectLst/>
              <a:uFillTx/>
              <a:latin typeface="Arial"/>
            </a:endParaRPr>
          </a:p>
        </p:txBody>
      </p:sp>
      <p:sp>
        <p:nvSpPr>
          <p:cNvPr id="189" name="正方形/長方形 19"/>
          <p:cNvSpPr/>
          <p:nvPr/>
        </p:nvSpPr>
        <p:spPr>
          <a:xfrm>
            <a:off x="6675120" y="497880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zh-CN" sz="1200" strike="noStrike" u="none">
                <a:solidFill>
                  <a:schemeClr val="lt1"/>
                </a:solidFill>
                <a:effectLst/>
                <a:uFillTx/>
                <a:latin typeface="メイリオ"/>
                <a:ea typeface="メイリオ"/>
              </a:rPr>
              <a:t>アクセス解析での効果測定</a:t>
            </a:r>
            <a:endParaRPr b="0" lang="en-US" sz="1200" strike="noStrike" u="none">
              <a:solidFill>
                <a:srgbClr val="ffffff"/>
              </a:solidFill>
              <a:effectLst/>
              <a:uFillTx/>
              <a:latin typeface="Arial"/>
            </a:endParaRPr>
          </a:p>
        </p:txBody>
      </p:sp>
      <p:sp>
        <p:nvSpPr>
          <p:cNvPr id="190" name="正方形/長方形 20"/>
          <p:cNvSpPr/>
          <p:nvPr/>
        </p:nvSpPr>
        <p:spPr>
          <a:xfrm>
            <a:off x="6675120" y="526680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ja-JP" sz="1200" strike="noStrike" u="none">
                <a:solidFill>
                  <a:schemeClr val="lt1"/>
                </a:solidFill>
                <a:effectLst/>
                <a:uFillTx/>
                <a:latin typeface="メイリオ"/>
                <a:ea typeface="メイリオ"/>
              </a:rPr>
              <a:t>投稿スケジュール確認</a:t>
            </a:r>
            <a:endParaRPr b="0" lang="en-US" sz="1200" strike="noStrike" u="none">
              <a:solidFill>
                <a:srgbClr val="ffffff"/>
              </a:solidFill>
              <a:effectLst/>
              <a:uFillTx/>
              <a:latin typeface="Arial"/>
            </a:endParaRPr>
          </a:p>
        </p:txBody>
      </p:sp>
      <p:sp>
        <p:nvSpPr>
          <p:cNvPr id="191" name="正方形/長方形 21"/>
          <p:cNvSpPr/>
          <p:nvPr/>
        </p:nvSpPr>
        <p:spPr>
          <a:xfrm>
            <a:off x="6675120" y="5843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zh-CN" sz="1200" strike="noStrike" u="none">
                <a:solidFill>
                  <a:schemeClr val="lt1"/>
                </a:solidFill>
                <a:effectLst/>
                <a:uFillTx/>
                <a:latin typeface="メイリオ"/>
                <a:ea typeface="メイリオ"/>
              </a:rPr>
              <a:t>受付時間外の自動応答</a:t>
            </a:r>
            <a:endParaRPr b="0" lang="en-US" sz="1200" strike="noStrike" u="none">
              <a:solidFill>
                <a:srgbClr val="ffffff"/>
              </a:solidFill>
              <a:effectLst/>
              <a:uFillTx/>
              <a:latin typeface="Arial"/>
            </a:endParaRPr>
          </a:p>
        </p:txBody>
      </p:sp>
      <p:sp>
        <p:nvSpPr>
          <p:cNvPr id="192" name="正方形/長方形 22"/>
          <p:cNvSpPr/>
          <p:nvPr/>
        </p:nvSpPr>
        <p:spPr>
          <a:xfrm>
            <a:off x="6675120" y="5555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zh-CN" sz="1200" strike="noStrike" u="none">
                <a:solidFill>
                  <a:schemeClr val="lt1"/>
                </a:solidFill>
                <a:effectLst/>
                <a:uFillTx/>
                <a:latin typeface="メイリオ"/>
                <a:ea typeface="メイリオ"/>
              </a:rPr>
              <a:t>キーワード応答の見直し</a:t>
            </a:r>
            <a:endParaRPr b="0" lang="en-US" sz="1200" strike="noStrike" u="none">
              <a:solidFill>
                <a:srgbClr val="ffffff"/>
              </a:solidFill>
              <a:effectLst/>
              <a:uFillTx/>
              <a:latin typeface="Arial"/>
            </a:endParaRPr>
          </a:p>
        </p:txBody>
      </p:sp>
      <p:sp>
        <p:nvSpPr>
          <p:cNvPr id="193" name="正方形/長方形 23"/>
          <p:cNvSpPr/>
          <p:nvPr/>
        </p:nvSpPr>
        <p:spPr>
          <a:xfrm>
            <a:off x="6675120" y="6131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ja-JP" sz="1200" strike="noStrike" u="none">
                <a:solidFill>
                  <a:schemeClr val="lt1"/>
                </a:solidFill>
                <a:effectLst/>
                <a:uFillTx/>
                <a:latin typeface="メイリオ"/>
                <a:ea typeface="メイリオ"/>
              </a:rPr>
              <a:t>配信結果の振り返り</a:t>
            </a:r>
            <a:endParaRPr b="0" lang="en-US" sz="1200" strike="noStrike" u="none">
              <a:solidFill>
                <a:srgbClr val="ffffff"/>
              </a:solidFill>
              <a:effectLst/>
              <a:uFillTx/>
              <a:latin typeface="Arial"/>
            </a:endParaRPr>
          </a:p>
        </p:txBody>
      </p:sp>
      <p:sp>
        <p:nvSpPr>
          <p:cNvPr id="194" name="正方形/長方形 24"/>
          <p:cNvSpPr/>
          <p:nvPr/>
        </p:nvSpPr>
        <p:spPr>
          <a:xfrm>
            <a:off x="6675120" y="4690800"/>
            <a:ext cx="1919880" cy="255600"/>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ja-JP" sz="1200" strike="noStrike" u="none">
                <a:solidFill>
                  <a:srgbClr val="595959"/>
                </a:solidFill>
                <a:effectLst/>
                <a:uFillTx/>
                <a:latin typeface="メイリオ"/>
                <a:ea typeface="メイリオ"/>
              </a:rPr>
              <a:t>定期対応項目</a:t>
            </a:r>
            <a:r>
              <a:rPr b="0" lang="en-US" sz="1200" strike="noStrike" u="none">
                <a:solidFill>
                  <a:srgbClr val="595959"/>
                </a:solidFill>
                <a:effectLst/>
                <a:uFillTx/>
                <a:latin typeface="メイリオ"/>
                <a:ea typeface="メイリオ"/>
              </a:rPr>
              <a:t>(</a:t>
            </a:r>
            <a:r>
              <a:rPr b="0" lang="ja-JP" sz="1200" strike="noStrike" u="none">
                <a:solidFill>
                  <a:srgbClr val="595959"/>
                </a:solidFill>
                <a:effectLst/>
                <a:uFillTx/>
                <a:latin typeface="メイリオ"/>
                <a:ea typeface="メイリオ"/>
              </a:rPr>
              <a:t>一部抽出</a:t>
            </a:r>
            <a:r>
              <a:rPr b="0" lang="en-US" sz="1200" strike="noStrike" u="none">
                <a:solidFill>
                  <a:srgbClr val="595959"/>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195" name="正方形/長方形 25"/>
          <p:cNvSpPr/>
          <p:nvPr/>
        </p:nvSpPr>
        <p:spPr>
          <a:xfrm>
            <a:off x="3310200" y="1792080"/>
            <a:ext cx="4534920" cy="23223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00" strike="noStrike" u="none">
              <a:solidFill>
                <a:schemeClr val="dk1"/>
              </a:solidFill>
              <a:effectLst/>
              <a:uFillTx/>
              <a:latin typeface="メイリオ"/>
              <a:ea typeface="メイリオ"/>
            </a:endParaRPr>
          </a:p>
        </p:txBody>
      </p:sp>
      <p:sp>
        <p:nvSpPr>
          <p:cNvPr id="196" name="正方形/長方形 26"/>
          <p:cNvSpPr/>
          <p:nvPr/>
        </p:nvSpPr>
        <p:spPr>
          <a:xfrm>
            <a:off x="3401640" y="1847160"/>
            <a:ext cx="1517400" cy="27396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友だち追加</a:t>
            </a:r>
            <a:endParaRPr b="0" lang="en-US" sz="1200" strike="noStrike" u="none">
              <a:solidFill>
                <a:srgbClr val="ffffff"/>
              </a:solidFill>
              <a:effectLst/>
              <a:uFillTx/>
              <a:latin typeface="Arial"/>
            </a:endParaRPr>
          </a:p>
        </p:txBody>
      </p:sp>
      <p:cxnSp>
        <p:nvCxnSpPr>
          <p:cNvPr id="197" name="コネクタ: カギ線 27"/>
          <p:cNvCxnSpPr>
            <a:stCxn id="186" idx="3"/>
            <a:endCxn id="196" idx="1"/>
          </p:cNvCxnSpPr>
          <p:nvPr/>
        </p:nvCxnSpPr>
        <p:spPr>
          <a:xfrm flipV="1">
            <a:off x="3126960" y="1983960"/>
            <a:ext cx="275040" cy="804960"/>
          </a:xfrm>
          <a:prstGeom prst="bentConnector3">
            <a:avLst>
              <a:gd name="adj1" fmla="val 50065"/>
            </a:avLst>
          </a:prstGeom>
          <a:ln>
            <a:solidFill>
              <a:srgbClr val="1f497d"/>
            </a:solidFill>
            <a:prstDash val="sysDash"/>
            <a:round/>
            <a:tailEnd len="med" type="triangle" w="med"/>
          </a:ln>
        </p:spPr>
      </p:cxnSp>
      <p:cxnSp>
        <p:nvCxnSpPr>
          <p:cNvPr id="198" name="コネクタ: カギ線 29"/>
          <p:cNvCxnSpPr>
            <a:stCxn id="187" idx="3"/>
            <a:endCxn id="196" idx="1"/>
          </p:cNvCxnSpPr>
          <p:nvPr/>
        </p:nvCxnSpPr>
        <p:spPr>
          <a:xfrm flipV="1">
            <a:off x="3126960" y="1983960"/>
            <a:ext cx="275040" cy="329760"/>
          </a:xfrm>
          <a:prstGeom prst="bentConnector3">
            <a:avLst>
              <a:gd name="adj1" fmla="val 50065"/>
            </a:avLst>
          </a:prstGeom>
          <a:ln>
            <a:solidFill>
              <a:srgbClr val="1f497d"/>
            </a:solidFill>
            <a:prstDash val="sysDash"/>
            <a:round/>
            <a:tailEnd len="med" type="triangle" w="med"/>
          </a:ln>
        </p:spPr>
      </p:cxnSp>
      <p:sp>
        <p:nvSpPr>
          <p:cNvPr id="199" name="正方形/長方形 30"/>
          <p:cNvSpPr/>
          <p:nvPr/>
        </p:nvSpPr>
        <p:spPr>
          <a:xfrm>
            <a:off x="5193720" y="184716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企画配信（月</a:t>
            </a:r>
            <a:r>
              <a:rPr b="1" lang="en-US" sz="1200" strike="noStrike" u="none">
                <a:solidFill>
                  <a:schemeClr val="lt1"/>
                </a:solidFill>
                <a:effectLst/>
                <a:uFillTx/>
                <a:latin typeface="メイリオ"/>
                <a:ea typeface="メイリオ"/>
              </a:rPr>
              <a:t>4</a:t>
            </a:r>
            <a:r>
              <a:rPr b="1" lang="ja-JP" sz="1200" strike="noStrike" u="none">
                <a:solidFill>
                  <a:schemeClr val="lt1"/>
                </a:solidFill>
                <a:effectLst/>
                <a:uFillTx/>
                <a:latin typeface="メイリオ"/>
                <a:ea typeface="メイリオ"/>
              </a:rPr>
              <a:t>本）</a:t>
            </a:r>
            <a:endParaRPr b="0" lang="en-US" sz="1200" strike="noStrike" u="none">
              <a:solidFill>
                <a:srgbClr val="ffffff"/>
              </a:solidFill>
              <a:effectLst/>
              <a:uFillTx/>
              <a:latin typeface="Arial"/>
            </a:endParaRPr>
          </a:p>
        </p:txBody>
      </p:sp>
      <p:sp>
        <p:nvSpPr>
          <p:cNvPr id="200" name="正方形/長方形 31"/>
          <p:cNvSpPr/>
          <p:nvPr/>
        </p:nvSpPr>
        <p:spPr>
          <a:xfrm>
            <a:off x="5193720" y="217188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ステップ配信（全</a:t>
            </a:r>
            <a:r>
              <a:rPr b="1" lang="en-US" sz="1200" strike="noStrike" u="none">
                <a:solidFill>
                  <a:schemeClr val="lt1"/>
                </a:solidFill>
                <a:effectLst/>
                <a:uFillTx/>
                <a:latin typeface="メイリオ"/>
                <a:ea typeface="メイリオ"/>
              </a:rPr>
              <a:t>10</a:t>
            </a:r>
            <a:r>
              <a:rPr b="1" lang="ja-JP" sz="1200" strike="noStrike" u="none">
                <a:solidFill>
                  <a:schemeClr val="lt1"/>
                </a:solidFill>
                <a:effectLst/>
                <a:uFillTx/>
                <a:latin typeface="メイリオ"/>
                <a:ea typeface="メイリオ"/>
              </a:rPr>
              <a:t>通・</a:t>
            </a:r>
            <a:r>
              <a:rPr b="1" lang="en-US" sz="1200" strike="noStrike" u="none">
                <a:solidFill>
                  <a:schemeClr val="lt1"/>
                </a:solidFill>
                <a:effectLst/>
                <a:uFillTx/>
                <a:latin typeface="メイリオ"/>
                <a:ea typeface="メイリオ"/>
              </a:rPr>
              <a:t>14</a:t>
            </a:r>
            <a:r>
              <a:rPr b="1" lang="ja-JP" sz="1200" strike="noStrike" u="none">
                <a:solidFill>
                  <a:schemeClr val="lt1"/>
                </a:solidFill>
                <a:effectLst/>
                <a:uFillTx/>
                <a:latin typeface="メイリオ"/>
                <a:ea typeface="メイリオ"/>
              </a:rPr>
              <a:t>日）</a:t>
            </a:r>
            <a:endParaRPr b="0" lang="en-US" sz="1200" strike="noStrike" u="none">
              <a:solidFill>
                <a:srgbClr val="ffffff"/>
              </a:solidFill>
              <a:effectLst/>
              <a:uFillTx/>
              <a:latin typeface="Arial"/>
            </a:endParaRPr>
          </a:p>
        </p:txBody>
      </p:sp>
      <p:sp>
        <p:nvSpPr>
          <p:cNvPr id="201" name="正方形/長方形 32"/>
          <p:cNvSpPr/>
          <p:nvPr/>
        </p:nvSpPr>
        <p:spPr>
          <a:xfrm>
            <a:off x="5193720" y="2496240"/>
            <a:ext cx="126144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リサーチ</a:t>
            </a:r>
            <a:endParaRPr b="0" lang="en-US" sz="1200" strike="noStrike" u="none">
              <a:solidFill>
                <a:srgbClr val="ffffff"/>
              </a:solidFill>
              <a:effectLst/>
              <a:uFillTx/>
              <a:latin typeface="Arial"/>
            </a:endParaRPr>
          </a:p>
        </p:txBody>
      </p:sp>
      <p:sp>
        <p:nvSpPr>
          <p:cNvPr id="202" name="正方形/長方形 33"/>
          <p:cNvSpPr/>
          <p:nvPr/>
        </p:nvSpPr>
        <p:spPr>
          <a:xfrm>
            <a:off x="3401640" y="2185560"/>
            <a:ext cx="1517400" cy="237240"/>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ja-JP" sz="1200" strike="noStrike" u="none">
                <a:solidFill>
                  <a:srgbClr val="595959"/>
                </a:solidFill>
                <a:effectLst/>
                <a:uFillTx/>
                <a:latin typeface="メイリオ"/>
                <a:ea typeface="メイリオ"/>
              </a:rPr>
              <a:t>初期設計項目↓</a:t>
            </a:r>
            <a:endParaRPr b="0" lang="en-US" sz="1200" strike="noStrike" u="none">
              <a:solidFill>
                <a:srgbClr val="000000"/>
              </a:solidFill>
              <a:effectLst/>
              <a:uFillTx/>
              <a:latin typeface="Arial"/>
            </a:endParaRPr>
          </a:p>
        </p:txBody>
      </p:sp>
      <p:sp>
        <p:nvSpPr>
          <p:cNvPr id="203" name="テキスト ボックス 67"/>
          <p:cNvSpPr/>
          <p:nvPr/>
        </p:nvSpPr>
        <p:spPr>
          <a:xfrm>
            <a:off x="3401640" y="2441520"/>
            <a:ext cx="1572480" cy="1554120"/>
          </a:xfrm>
          <a:prstGeom prst="rect">
            <a:avLst/>
          </a:prstGeom>
          <a:noFill/>
          <a:ln w="0">
            <a:noFill/>
          </a:ln>
        </p:spPr>
        <p:style>
          <a:lnRef idx="0"/>
          <a:fillRef idx="0"/>
          <a:effectRef idx="0"/>
          <a:fontRef idx="minor"/>
        </p:style>
        <p:txBody>
          <a:bodyPr lIns="45720" rIns="18360" tIns="18360" bIns="18360" anchor="t">
            <a:noAutofit/>
          </a:bodyPr>
          <a:p>
            <a:pPr defTabSz="914400">
              <a:lnSpc>
                <a:spcPts val="1451"/>
              </a:lnSpc>
            </a:pPr>
            <a:r>
              <a:rPr b="0" lang="ja-JP" sz="1200" strike="noStrike" u="none">
                <a:solidFill>
                  <a:srgbClr val="595959"/>
                </a:solidFill>
                <a:effectLst/>
                <a:uFillTx/>
                <a:latin typeface="メイリオ"/>
                <a:ea typeface="メイリオ"/>
              </a:rPr>
              <a:t>・プロフィール</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・リッチメニュー</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・あいさつ</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・応答メッセージ</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・チャットタグ</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・計測タグ</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・離脱防止（別途）</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・サイトのボタン</a:t>
            </a:r>
            <a:endParaRPr b="0" lang="en-US" sz="1200" strike="noStrike" u="none">
              <a:solidFill>
                <a:srgbClr val="000000"/>
              </a:solidFill>
              <a:effectLst/>
              <a:uFillTx/>
              <a:latin typeface="Arial"/>
            </a:endParaRPr>
          </a:p>
        </p:txBody>
      </p:sp>
      <p:sp>
        <p:nvSpPr>
          <p:cNvPr id="204" name="正方形/長方形 35"/>
          <p:cNvSpPr/>
          <p:nvPr/>
        </p:nvSpPr>
        <p:spPr>
          <a:xfrm>
            <a:off x="5193720" y="282096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問い合わせ済みの方を除く配信</a:t>
            </a:r>
            <a:endParaRPr b="0" lang="en-US" sz="1200" strike="noStrike" u="none">
              <a:solidFill>
                <a:srgbClr val="ffffff"/>
              </a:solidFill>
              <a:effectLst/>
              <a:uFillTx/>
              <a:latin typeface="Arial"/>
            </a:endParaRPr>
          </a:p>
        </p:txBody>
      </p:sp>
      <p:sp>
        <p:nvSpPr>
          <p:cNvPr id="205" name="正方形/長方形 36"/>
          <p:cNvSpPr/>
          <p:nvPr/>
        </p:nvSpPr>
        <p:spPr>
          <a:xfrm>
            <a:off x="5193720" y="3470040"/>
            <a:ext cx="257832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リッチメニュー（</a:t>
            </a:r>
            <a:r>
              <a:rPr b="1" lang="en-US" sz="1200" strike="noStrike" u="none">
                <a:solidFill>
                  <a:schemeClr val="lt1"/>
                </a:solidFill>
                <a:effectLst/>
                <a:uFillTx/>
                <a:latin typeface="メイリオ"/>
                <a:ea typeface="メイリオ"/>
              </a:rPr>
              <a:t>6</a:t>
            </a:r>
            <a:r>
              <a:rPr b="1" lang="ja-JP" sz="1200" strike="noStrike" u="none">
                <a:solidFill>
                  <a:schemeClr val="lt1"/>
                </a:solidFill>
                <a:effectLst/>
                <a:uFillTx/>
                <a:latin typeface="メイリオ"/>
                <a:ea typeface="メイリオ"/>
              </a:rPr>
              <a:t>ボタン）</a:t>
            </a:r>
            <a:endParaRPr b="0" lang="en-US" sz="1200" strike="noStrike" u="none">
              <a:solidFill>
                <a:srgbClr val="000000"/>
              </a:solidFill>
              <a:effectLst/>
              <a:uFillTx/>
              <a:latin typeface="Arial"/>
            </a:endParaRPr>
          </a:p>
        </p:txBody>
      </p:sp>
      <p:sp>
        <p:nvSpPr>
          <p:cNvPr id="206" name="正方形/長方形 37"/>
          <p:cNvSpPr/>
          <p:nvPr/>
        </p:nvSpPr>
        <p:spPr>
          <a:xfrm>
            <a:off x="5193720" y="314568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よくある質問（キーワード応答）</a:t>
            </a:r>
            <a:endParaRPr b="0" lang="en-US" sz="1200" strike="noStrike" u="none">
              <a:solidFill>
                <a:srgbClr val="ffffff"/>
              </a:solidFill>
              <a:effectLst/>
              <a:uFillTx/>
              <a:latin typeface="Arial"/>
            </a:endParaRPr>
          </a:p>
        </p:txBody>
      </p:sp>
      <p:sp>
        <p:nvSpPr>
          <p:cNvPr id="207" name="正方形/長方形 38"/>
          <p:cNvSpPr/>
          <p:nvPr/>
        </p:nvSpPr>
        <p:spPr>
          <a:xfrm>
            <a:off x="6510600" y="2496240"/>
            <a:ext cx="126144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en-US" sz="1200" strike="noStrike" u="none">
                <a:solidFill>
                  <a:schemeClr val="lt1"/>
                </a:solidFill>
                <a:effectLst/>
                <a:uFillTx/>
                <a:latin typeface="メイリオ"/>
                <a:ea typeface="メイリオ"/>
              </a:rPr>
              <a:t>→ 配信に反映</a:t>
            </a:r>
            <a:endParaRPr b="0" lang="en-US" sz="1200" strike="noStrike" u="none">
              <a:solidFill>
                <a:srgbClr val="ffffff"/>
              </a:solidFill>
              <a:effectLst/>
              <a:uFillTx/>
              <a:latin typeface="Arial"/>
            </a:endParaRPr>
          </a:p>
        </p:txBody>
      </p:sp>
      <p:sp>
        <p:nvSpPr>
          <p:cNvPr id="208" name="正方形/長方形 39"/>
          <p:cNvSpPr/>
          <p:nvPr/>
        </p:nvSpPr>
        <p:spPr>
          <a:xfrm>
            <a:off x="5193720" y="3794760"/>
            <a:ext cx="257832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個別チャット（物件の確認）</a:t>
            </a:r>
            <a:endParaRPr b="0" lang="en-US" sz="1200" strike="noStrike" u="none">
              <a:solidFill>
                <a:srgbClr val="000000"/>
              </a:solidFill>
              <a:effectLst/>
              <a:uFillTx/>
              <a:latin typeface="Arial"/>
            </a:endParaRPr>
          </a:p>
        </p:txBody>
      </p:sp>
      <p:cxnSp>
        <p:nvCxnSpPr>
          <p:cNvPr id="209" name="コネクタ: カギ線 40"/>
          <p:cNvCxnSpPr>
            <a:stCxn id="208" idx="3"/>
          </p:cNvCxnSpPr>
          <p:nvPr/>
        </p:nvCxnSpPr>
        <p:spPr>
          <a:xfrm flipV="1">
            <a:off x="7772040" y="1979640"/>
            <a:ext cx="439560" cy="1947960"/>
          </a:xfrm>
          <a:prstGeom prst="bentConnector3">
            <a:avLst>
              <a:gd name="adj1" fmla="val 50000"/>
            </a:avLst>
          </a:prstGeom>
          <a:ln>
            <a:solidFill>
              <a:srgbClr val="1f497d"/>
            </a:solidFill>
            <a:prstDash val="sysDash"/>
            <a:round/>
            <a:tailEnd len="med" type="triangle" w="med"/>
          </a:ln>
        </p:spPr>
      </p:cxnSp>
      <p:cxnSp>
        <p:nvCxnSpPr>
          <p:cNvPr id="210" name="コネクタ: カギ線 41"/>
          <p:cNvCxnSpPr>
            <a:stCxn id="205" idx="3"/>
          </p:cNvCxnSpPr>
          <p:nvPr/>
        </p:nvCxnSpPr>
        <p:spPr>
          <a:xfrm flipV="1">
            <a:off x="7772040" y="2304000"/>
            <a:ext cx="439560" cy="1298880"/>
          </a:xfrm>
          <a:prstGeom prst="bentConnector3">
            <a:avLst>
              <a:gd name="adj1" fmla="val 50000"/>
            </a:avLst>
          </a:prstGeom>
          <a:ln>
            <a:solidFill>
              <a:srgbClr val="000000"/>
            </a:solidFill>
            <a:prstDash val="sysDash"/>
            <a:round/>
            <a:tailEnd len="med" type="triangle" w="med"/>
          </a:ln>
        </p:spPr>
      </p:cxnSp>
      <p:cxnSp>
        <p:nvCxnSpPr>
          <p:cNvPr id="211" name="コネクタ: カギ線 42"/>
          <p:cNvCxnSpPr>
            <a:stCxn id="206" idx="3"/>
          </p:cNvCxnSpPr>
          <p:nvPr/>
        </p:nvCxnSpPr>
        <p:spPr>
          <a:xfrm flipV="1">
            <a:off x="7772040" y="2304000"/>
            <a:ext cx="439560" cy="974520"/>
          </a:xfrm>
          <a:prstGeom prst="bentConnector3">
            <a:avLst>
              <a:gd name="adj1" fmla="val 50000"/>
            </a:avLst>
          </a:prstGeom>
          <a:ln>
            <a:solidFill>
              <a:srgbClr val="000000"/>
            </a:solidFill>
            <a:prstDash val="sysDash"/>
            <a:round/>
            <a:tailEnd len="med" type="triangle" w="med"/>
          </a:ln>
        </p:spPr>
      </p:cxnSp>
      <p:cxnSp>
        <p:nvCxnSpPr>
          <p:cNvPr id="212" name="コネクタ: カギ線 43"/>
          <p:cNvCxnSpPr>
            <a:stCxn id="204" idx="3"/>
          </p:cNvCxnSpPr>
          <p:nvPr/>
        </p:nvCxnSpPr>
        <p:spPr>
          <a:xfrm flipV="1">
            <a:off x="7772040" y="2304000"/>
            <a:ext cx="439560" cy="649800"/>
          </a:xfrm>
          <a:prstGeom prst="bentConnector3">
            <a:avLst>
              <a:gd name="adj1" fmla="val 50000"/>
            </a:avLst>
          </a:prstGeom>
          <a:ln>
            <a:solidFill>
              <a:srgbClr val="000000"/>
            </a:solidFill>
            <a:prstDash val="sysDash"/>
            <a:round/>
            <a:tailEnd len="med" type="triangle" w="med"/>
          </a:ln>
        </p:spPr>
      </p:cxnSp>
      <p:cxnSp>
        <p:nvCxnSpPr>
          <p:cNvPr id="213" name="コネクタ: カギ線 45"/>
          <p:cNvCxnSpPr>
            <a:stCxn id="207" idx="3"/>
          </p:cNvCxnSpPr>
          <p:nvPr/>
        </p:nvCxnSpPr>
        <p:spPr>
          <a:xfrm flipV="1">
            <a:off x="7772040" y="2304000"/>
            <a:ext cx="439560" cy="325080"/>
          </a:xfrm>
          <a:prstGeom prst="bentConnector3">
            <a:avLst>
              <a:gd name="adj1" fmla="val 50000"/>
            </a:avLst>
          </a:prstGeom>
          <a:ln>
            <a:solidFill>
              <a:srgbClr val="000000"/>
            </a:solidFill>
            <a:prstDash val="sysDash"/>
            <a:round/>
            <a:tailEnd len="med" type="triangle" w="med"/>
          </a:ln>
        </p:spPr>
      </p:cxnSp>
      <p:cxnSp>
        <p:nvCxnSpPr>
          <p:cNvPr id="214" name="コネクタ: カギ線 46"/>
          <p:cNvCxnSpPr>
            <a:stCxn id="200" idx="3"/>
          </p:cNvCxnSpPr>
          <p:nvPr/>
        </p:nvCxnSpPr>
        <p:spPr>
          <a:xfrm flipV="1">
            <a:off x="7772040" y="2304000"/>
            <a:ext cx="439560" cy="720"/>
          </a:xfrm>
          <a:prstGeom prst="bentConnector3">
            <a:avLst>
              <a:gd name="adj1" fmla="val 50000"/>
            </a:avLst>
          </a:prstGeom>
          <a:ln>
            <a:solidFill>
              <a:srgbClr val="000000"/>
            </a:solidFill>
            <a:prstDash val="sysDash"/>
            <a:round/>
            <a:tailEnd len="med" type="triangle" w="med"/>
          </a:ln>
        </p:spPr>
      </p:cxnSp>
      <p:cxnSp>
        <p:nvCxnSpPr>
          <p:cNvPr id="215" name="コネクタ: カギ線 47"/>
          <p:cNvCxnSpPr>
            <a:stCxn id="199" idx="3"/>
          </p:cNvCxnSpPr>
          <p:nvPr/>
        </p:nvCxnSpPr>
        <p:spPr>
          <a:xfrm>
            <a:off x="7772040" y="1979640"/>
            <a:ext cx="439560" cy="324720"/>
          </a:xfrm>
          <a:prstGeom prst="bentConnector3">
            <a:avLst>
              <a:gd name="adj1" fmla="val 50000"/>
            </a:avLst>
          </a:prstGeom>
          <a:ln>
            <a:solidFill>
              <a:srgbClr val="000000"/>
            </a:solidFill>
            <a:prstDash val="sysDash"/>
            <a:round/>
            <a:tailEnd len="med" type="triangle" w="med"/>
          </a:ln>
        </p:spPr>
      </p:cxnSp>
      <p:sp>
        <p:nvSpPr>
          <p:cNvPr id="216" name="左中かっこ 48"/>
          <p:cNvSpPr/>
          <p:nvPr/>
        </p:nvSpPr>
        <p:spPr>
          <a:xfrm>
            <a:off x="5010840" y="1819800"/>
            <a:ext cx="145800" cy="2267280"/>
          </a:xfrm>
          <a:prstGeom prst="leftBrace">
            <a:avLst>
              <a:gd name="adj1" fmla="val 8333"/>
              <a:gd name="adj2" fmla="val 23194"/>
            </a:avLst>
          </a:prstGeom>
          <a:noFill/>
          <a:ln>
            <a:solidFill>
              <a:srgbClr val="000000"/>
            </a:solidFill>
            <a:round/>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dk1"/>
              </a:solidFill>
              <a:effectLst/>
              <a:uFillTx/>
              <a:latin typeface="Calibri"/>
            </a:endParaRPr>
          </a:p>
        </p:txBody>
      </p:sp>
      <p:sp>
        <p:nvSpPr>
          <p:cNvPr id="217" name="正方形/長方形 49"/>
          <p:cNvSpPr/>
          <p:nvPr/>
        </p:nvSpPr>
        <p:spPr>
          <a:xfrm>
            <a:off x="530280" y="4636080"/>
            <a:ext cx="5769360" cy="179640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00" strike="noStrike" u="none">
              <a:solidFill>
                <a:schemeClr val="dk1"/>
              </a:solidFill>
              <a:effectLst/>
              <a:uFillTx/>
              <a:latin typeface="メイリオ"/>
              <a:ea typeface="メイリオ"/>
            </a:endParaRPr>
          </a:p>
        </p:txBody>
      </p:sp>
      <p:sp>
        <p:nvSpPr>
          <p:cNvPr id="218" name="正方形/長方形 51"/>
          <p:cNvSpPr/>
          <p:nvPr/>
        </p:nvSpPr>
        <p:spPr>
          <a:xfrm>
            <a:off x="640080" y="4690800"/>
            <a:ext cx="959760" cy="25560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0" rIns="0" tIns="0" bIns="0" anchor="ctr">
            <a:noAutofit/>
          </a:bodyPr>
          <a:p>
            <a:pPr algn="ctr" defTabSz="914400">
              <a:lnSpc>
                <a:spcPct val="100000"/>
              </a:lnSpc>
            </a:pPr>
            <a:r>
              <a:rPr b="1" lang="zh-CN" sz="1200" strike="noStrike" u="none">
                <a:solidFill>
                  <a:srgbClr val="595959"/>
                </a:solidFill>
                <a:effectLst/>
                <a:uFillTx/>
                <a:latin typeface="メイリオ"/>
                <a:ea typeface="メイリオ"/>
              </a:rPr>
              <a:t>問い合わせ</a:t>
            </a:r>
            <a:endParaRPr b="0" lang="en-US" sz="1200" strike="noStrike" u="none">
              <a:solidFill>
                <a:srgbClr val="000000"/>
              </a:solidFill>
              <a:effectLst/>
              <a:uFillTx/>
              <a:latin typeface="Arial"/>
            </a:endParaRPr>
          </a:p>
        </p:txBody>
      </p:sp>
      <p:cxnSp>
        <p:nvCxnSpPr>
          <p:cNvPr id="219" name="コネクタ: カギ線 52"/>
          <p:cNvCxnSpPr>
            <a:stCxn id="218" idx="0"/>
          </p:cNvCxnSpPr>
          <p:nvPr/>
        </p:nvCxnSpPr>
        <p:spPr>
          <a:xfrm flipH="1" flipV="1" rot="5400000">
            <a:off x="3881160" y="-324720"/>
            <a:ext cx="2254320" cy="7777440"/>
          </a:xfrm>
          <a:prstGeom prst="bentConnector3">
            <a:avLst>
              <a:gd name="adj1" fmla="val 49992"/>
            </a:avLst>
          </a:prstGeom>
          <a:ln>
            <a:solidFill>
              <a:srgbClr val="000000"/>
            </a:solidFill>
            <a:prstDash val="sysDash"/>
            <a:round/>
          </a:ln>
        </p:spPr>
      </p:cxnSp>
      <p:sp>
        <p:nvSpPr>
          <p:cNvPr id="220" name="正方形/長方形 56"/>
          <p:cNvSpPr/>
          <p:nvPr/>
        </p:nvSpPr>
        <p:spPr>
          <a:xfrm>
            <a:off x="3611880" y="4690800"/>
            <a:ext cx="2578320" cy="25560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内見・お申込みの案内</a:t>
            </a:r>
            <a:endParaRPr b="0" lang="en-US" sz="1200" strike="noStrike" u="none">
              <a:solidFill>
                <a:srgbClr val="ffffff"/>
              </a:solidFill>
              <a:effectLst/>
              <a:uFillTx/>
              <a:latin typeface="Arial"/>
            </a:endParaRPr>
          </a:p>
        </p:txBody>
      </p:sp>
      <p:sp>
        <p:nvSpPr>
          <p:cNvPr id="221" name="正方形/長方形 57"/>
          <p:cNvSpPr/>
          <p:nvPr/>
        </p:nvSpPr>
        <p:spPr>
          <a:xfrm>
            <a:off x="3611880" y="4978800"/>
            <a:ext cx="2578320" cy="25560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別の物件</a:t>
            </a:r>
            <a:r>
              <a:rPr b="1" lang="en-US" sz="1200" strike="noStrike" u="none">
                <a:solidFill>
                  <a:schemeClr val="lt1"/>
                </a:solidFill>
                <a:effectLst/>
                <a:uFillTx/>
                <a:latin typeface="メイリオ"/>
                <a:ea typeface="メイリオ"/>
              </a:rPr>
              <a:t>URL</a:t>
            </a:r>
            <a:r>
              <a:rPr b="1" lang="ja-JP" sz="1200" strike="noStrike" u="none">
                <a:solidFill>
                  <a:schemeClr val="lt1"/>
                </a:solidFill>
                <a:effectLst/>
                <a:uFillTx/>
                <a:latin typeface="メイリオ"/>
                <a:ea typeface="メイリオ"/>
              </a:rPr>
              <a:t>の受付</a:t>
            </a:r>
            <a:endParaRPr b="0" lang="en-US" sz="1200" strike="noStrike" u="none">
              <a:solidFill>
                <a:srgbClr val="ffffff"/>
              </a:solidFill>
              <a:effectLst/>
              <a:uFillTx/>
              <a:latin typeface="Arial"/>
            </a:endParaRPr>
          </a:p>
        </p:txBody>
      </p:sp>
      <p:sp>
        <p:nvSpPr>
          <p:cNvPr id="222" name="正方形/長方形 58"/>
          <p:cNvSpPr/>
          <p:nvPr/>
        </p:nvSpPr>
        <p:spPr>
          <a:xfrm>
            <a:off x="3611880" y="5266800"/>
            <a:ext cx="1261440" cy="25560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ご成約</a:t>
            </a:r>
            <a:endParaRPr b="0" lang="en-US" sz="1200" strike="noStrike" u="none">
              <a:solidFill>
                <a:srgbClr val="ffffff"/>
              </a:solidFill>
              <a:effectLst/>
              <a:uFillTx/>
              <a:latin typeface="Arial"/>
            </a:endParaRPr>
          </a:p>
        </p:txBody>
      </p:sp>
      <p:sp>
        <p:nvSpPr>
          <p:cNvPr id="223" name="正方形/長方形 59"/>
          <p:cNvSpPr/>
          <p:nvPr/>
        </p:nvSpPr>
        <p:spPr>
          <a:xfrm>
            <a:off x="3611880" y="5555160"/>
            <a:ext cx="2578320" cy="25560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チャットタグで対応状況を管理</a:t>
            </a:r>
            <a:endParaRPr b="0" lang="en-US" sz="1200" strike="noStrike" u="none">
              <a:solidFill>
                <a:srgbClr val="ffffff"/>
              </a:solidFill>
              <a:effectLst/>
              <a:uFillTx/>
              <a:latin typeface="Arial"/>
            </a:endParaRPr>
          </a:p>
        </p:txBody>
      </p:sp>
      <p:sp>
        <p:nvSpPr>
          <p:cNvPr id="224" name="正方形/長方形 60"/>
          <p:cNvSpPr/>
          <p:nvPr/>
        </p:nvSpPr>
        <p:spPr>
          <a:xfrm>
            <a:off x="4928760" y="5266800"/>
            <a:ext cx="1261440" cy="25560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入居までの案内</a:t>
            </a:r>
            <a:endParaRPr b="0" lang="en-US" sz="1200" strike="noStrike" u="none">
              <a:solidFill>
                <a:srgbClr val="ffffff"/>
              </a:solidFill>
              <a:effectLst/>
              <a:uFillTx/>
              <a:latin typeface="Arial"/>
            </a:endParaRPr>
          </a:p>
        </p:txBody>
      </p:sp>
      <p:cxnSp>
        <p:nvCxnSpPr>
          <p:cNvPr id="225" name="コネクタ: カギ線 61"/>
          <p:cNvCxnSpPr>
            <a:stCxn id="218" idx="3"/>
            <a:endCxn id="220" idx="1"/>
          </p:cNvCxnSpPr>
          <p:nvPr/>
        </p:nvCxnSpPr>
        <p:spPr>
          <a:xfrm>
            <a:off x="1599840" y="4818600"/>
            <a:ext cx="2012400" cy="360"/>
          </a:xfrm>
          <a:prstGeom prst="bentConnector2">
            <a:avLst/>
          </a:prstGeom>
          <a:ln>
            <a:solidFill>
              <a:srgbClr val="000000"/>
            </a:solidFill>
            <a:prstDash val="sysDash"/>
            <a:round/>
            <a:tailEnd len="med" type="triangle" w="med"/>
          </a:ln>
        </p:spPr>
      </p:cxnSp>
      <p:cxnSp>
        <p:nvCxnSpPr>
          <p:cNvPr id="226" name="コネクタ: カギ線 62"/>
          <p:cNvCxnSpPr>
            <a:stCxn id="218" idx="3"/>
            <a:endCxn id="221" idx="1"/>
          </p:cNvCxnSpPr>
          <p:nvPr/>
        </p:nvCxnSpPr>
        <p:spPr>
          <a:xfrm>
            <a:off x="1599840" y="4818600"/>
            <a:ext cx="2012400" cy="288360"/>
          </a:xfrm>
          <a:prstGeom prst="bentConnector3">
            <a:avLst>
              <a:gd name="adj1" fmla="val 50008"/>
            </a:avLst>
          </a:prstGeom>
          <a:ln>
            <a:solidFill>
              <a:srgbClr val="000000"/>
            </a:solidFill>
            <a:prstDash val="sysDash"/>
            <a:round/>
            <a:tailEnd len="med" type="triangle" w="med"/>
          </a:ln>
        </p:spPr>
      </p:cxnSp>
      <p:cxnSp>
        <p:nvCxnSpPr>
          <p:cNvPr id="227" name="コネクタ: カギ線 63"/>
          <p:cNvCxnSpPr>
            <a:stCxn id="218" idx="3"/>
            <a:endCxn id="222" idx="1"/>
          </p:cNvCxnSpPr>
          <p:nvPr/>
        </p:nvCxnSpPr>
        <p:spPr>
          <a:xfrm>
            <a:off x="1599840" y="4818600"/>
            <a:ext cx="2012400" cy="576360"/>
          </a:xfrm>
          <a:prstGeom prst="bentConnector3">
            <a:avLst>
              <a:gd name="adj1" fmla="val 50008"/>
            </a:avLst>
          </a:prstGeom>
          <a:ln>
            <a:solidFill>
              <a:srgbClr val="000000"/>
            </a:solidFill>
            <a:prstDash val="sysDash"/>
            <a:round/>
            <a:tailEnd len="med" type="triangle" w="med"/>
          </a:ln>
        </p:spPr>
      </p:cxnSp>
      <p:cxnSp>
        <p:nvCxnSpPr>
          <p:cNvPr id="228" name="コネクタ: カギ線 64"/>
          <p:cNvCxnSpPr>
            <a:stCxn id="218" idx="3"/>
            <a:endCxn id="223" idx="1"/>
          </p:cNvCxnSpPr>
          <p:nvPr/>
        </p:nvCxnSpPr>
        <p:spPr>
          <a:xfrm>
            <a:off x="1599840" y="4818600"/>
            <a:ext cx="2012400" cy="864720"/>
          </a:xfrm>
          <a:prstGeom prst="bentConnector3">
            <a:avLst>
              <a:gd name="adj1" fmla="val 50008"/>
            </a:avLst>
          </a:prstGeom>
          <a:ln>
            <a:solidFill>
              <a:srgbClr val="000000"/>
            </a:solidFill>
            <a:prstDash val="sysDash"/>
            <a:round/>
            <a:tailEnd len="med" type="triangle" w="med"/>
          </a:ln>
        </p:spPr>
      </p:cxnSp>
      <p:sp>
        <p:nvSpPr>
          <p:cNvPr id="229" name="正方形/長方形 65"/>
          <p:cNvSpPr/>
          <p:nvPr/>
        </p:nvSpPr>
        <p:spPr>
          <a:xfrm>
            <a:off x="3611880" y="5843160"/>
            <a:ext cx="2578320" cy="25560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企画配信（月</a:t>
            </a:r>
            <a:r>
              <a:rPr b="1" lang="en-US" sz="1200" strike="noStrike" u="none">
                <a:solidFill>
                  <a:schemeClr val="lt1"/>
                </a:solidFill>
                <a:effectLst/>
                <a:uFillTx/>
                <a:latin typeface="メイリオ"/>
                <a:ea typeface="メイリオ"/>
              </a:rPr>
              <a:t>4</a:t>
            </a:r>
            <a:r>
              <a:rPr b="1" lang="ja-JP" sz="1200" strike="noStrike" u="none">
                <a:solidFill>
                  <a:schemeClr val="lt1"/>
                </a:solidFill>
                <a:effectLst/>
                <a:uFillTx/>
                <a:latin typeface="メイリオ"/>
                <a:ea typeface="メイリオ"/>
              </a:rPr>
              <a:t>本）・リサーチ</a:t>
            </a:r>
            <a:endParaRPr b="0" lang="en-US" sz="1200" strike="noStrike" u="none">
              <a:solidFill>
                <a:srgbClr val="ffffff"/>
              </a:solidFill>
              <a:effectLst/>
              <a:uFillTx/>
              <a:latin typeface="Arial"/>
            </a:endParaRPr>
          </a:p>
        </p:txBody>
      </p:sp>
      <p:sp>
        <p:nvSpPr>
          <p:cNvPr id="230" name="正方形/長方形 66"/>
          <p:cNvSpPr/>
          <p:nvPr/>
        </p:nvSpPr>
        <p:spPr>
          <a:xfrm>
            <a:off x="3611880" y="6131160"/>
            <a:ext cx="2578320" cy="25560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個別チャット</a:t>
            </a:r>
            <a:endParaRPr b="0" lang="en-US" sz="1200" strike="noStrike" u="none">
              <a:solidFill>
                <a:srgbClr val="ffffff"/>
              </a:solidFill>
              <a:effectLst/>
              <a:uFillTx/>
              <a:latin typeface="Arial"/>
            </a:endParaRPr>
          </a:p>
        </p:txBody>
      </p:sp>
      <p:sp>
        <p:nvSpPr>
          <p:cNvPr id="231" name="正方形/長方形 68"/>
          <p:cNvSpPr/>
          <p:nvPr/>
        </p:nvSpPr>
        <p:spPr>
          <a:xfrm>
            <a:off x="6717960" y="1449360"/>
            <a:ext cx="2925720" cy="2739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45720" rIns="45720" tIns="0" bIns="0" anchor="ctr">
            <a:noAutofit/>
          </a:bodyPr>
          <a:p>
            <a:pPr algn="ctr" defTabSz="914400">
              <a:lnSpc>
                <a:spcPct val="100000"/>
              </a:lnSpc>
            </a:pPr>
            <a:r>
              <a:rPr b="1" lang="en-US" sz="1200" strike="noStrike" u="none">
                <a:solidFill>
                  <a:srgbClr val="00b050"/>
                </a:solidFill>
                <a:effectLst/>
                <a:uFillTx/>
                <a:latin typeface="メイリオ"/>
                <a:ea typeface="メイリオ"/>
              </a:rPr>
              <a:t>LINE</a:t>
            </a:r>
            <a:r>
              <a:rPr b="1" lang="ja-JP" sz="1200" strike="noStrike" u="none">
                <a:solidFill>
                  <a:srgbClr val="00b050"/>
                </a:solidFill>
                <a:effectLst/>
                <a:uFillTx/>
                <a:latin typeface="メイリオ"/>
                <a:ea typeface="メイリオ"/>
              </a:rPr>
              <a:t>公式アカウントの標準機能で運用</a:t>
            </a:r>
            <a:endParaRPr b="0" lang="en-US" sz="1200" strike="noStrike" u="none">
              <a:solidFill>
                <a:srgbClr val="000000"/>
              </a:solidFill>
              <a:effectLst/>
              <a:uFillTx/>
              <a:latin typeface="Arial"/>
            </a:endParaRPr>
          </a:p>
        </p:txBody>
      </p:sp>
      <p:sp>
        <p:nvSpPr>
          <p:cNvPr id="232" name="テキスト ボックス 70"/>
          <p:cNvSpPr/>
          <p:nvPr/>
        </p:nvSpPr>
        <p:spPr>
          <a:xfrm>
            <a:off x="320040" y="631080"/>
            <a:ext cx="9262440" cy="712800"/>
          </a:xfrm>
          <a:prstGeom prst="rect">
            <a:avLst/>
          </a:prstGeom>
          <a:no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離脱防止ポップアップとサイトの</a:t>
            </a:r>
            <a:r>
              <a:rPr b="0" lang="en-US" sz="1400" strike="noStrike" u="none">
                <a:solidFill>
                  <a:schemeClr val="dk1">
                    <a:lumMod val="65000"/>
                    <a:lumOff val="35000"/>
                  </a:schemeClr>
                </a:solidFill>
                <a:effectLst/>
                <a:uFillTx/>
                <a:latin typeface="メイリオ"/>
                <a:ea typeface="メイリオ"/>
              </a:rPr>
              <a:t>LINE</a:t>
            </a:r>
            <a:r>
              <a:rPr b="0" lang="ja-JP" sz="1400" strike="noStrike" u="none">
                <a:solidFill>
                  <a:schemeClr val="dk1">
                    <a:lumMod val="65000"/>
                    <a:lumOff val="35000"/>
                  </a:schemeClr>
                </a:solidFill>
                <a:effectLst/>
                <a:uFillTx/>
                <a:latin typeface="メイリオ"/>
                <a:ea typeface="メイリオ"/>
              </a:rPr>
              <a:t>ボタンから友だち追加し、物件の問い合わせと継続配信につなげます。</a:t>
            </a:r>
            <a:endParaRPr b="0" lang="en-US" sz="1400" strike="noStrike" u="none">
              <a:solidFill>
                <a:srgbClr val="000000"/>
              </a:solidFill>
              <a:effectLst/>
              <a:uFillTx/>
              <a:latin typeface="Arial"/>
            </a:endParaRPr>
          </a:p>
          <a:p>
            <a:pPr algn="ctr" defTabSz="914400">
              <a:lnSpc>
                <a:spcPct val="100000"/>
              </a:lnSpc>
            </a:pPr>
            <a:r>
              <a:rPr b="0" lang="en-US" sz="1400" strike="noStrike" u="none">
                <a:solidFill>
                  <a:schemeClr val="dk1">
                    <a:lumMod val="65000"/>
                    <a:lumOff val="35000"/>
                  </a:schemeClr>
                </a:solidFill>
                <a:effectLst/>
                <a:uFillTx/>
                <a:latin typeface="メイリオ"/>
                <a:ea typeface="メイリオ"/>
              </a:rPr>
              <a:t>LINE</a:t>
            </a:r>
            <a:r>
              <a:rPr b="0" lang="ja-JP" sz="1400" strike="noStrike" u="none">
                <a:solidFill>
                  <a:schemeClr val="dk1">
                    <a:lumMod val="65000"/>
                    <a:lumOff val="35000"/>
                  </a:schemeClr>
                </a:solidFill>
                <a:effectLst/>
                <a:uFillTx/>
                <a:latin typeface="メイリオ"/>
                <a:ea typeface="メイリオ"/>
              </a:rPr>
              <a:t>公式アカウントの標準機能で運用（離脱防止ポップアップは別途導入）</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234"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想定セグメント</a:t>
            </a:r>
            <a:r>
              <a:rPr b="1" lang="en-US" sz="1600" strike="noStrike" u="none">
                <a:solidFill>
                  <a:srgbClr val="002060"/>
                </a:solidFill>
                <a:effectLst/>
                <a:uFillTx/>
                <a:latin typeface="Meiryo"/>
                <a:ea typeface="Meiryo"/>
              </a:rPr>
              <a:t>×</a:t>
            </a:r>
            <a:r>
              <a:rPr b="1" lang="ja-JP" sz="1600" strike="noStrike" u="none">
                <a:solidFill>
                  <a:srgbClr val="002060"/>
                </a:solidFill>
                <a:effectLst/>
                <a:uFillTx/>
                <a:latin typeface="Meiryo"/>
                <a:ea typeface="Meiryo"/>
              </a:rPr>
              <a:t>成果</a:t>
            </a:r>
            <a:endParaRPr b="0" lang="en-US" sz="1600" strike="noStrike" u="none">
              <a:solidFill>
                <a:srgbClr val="000000"/>
              </a:solidFill>
              <a:effectLst/>
              <a:uFillTx/>
              <a:latin typeface="Arial"/>
            </a:endParaRPr>
          </a:p>
        </p:txBody>
      </p:sp>
      <p:cxnSp>
        <p:nvCxnSpPr>
          <p:cNvPr id="23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236" name="正方形/長方形 4"/>
          <p:cNvSpPr/>
          <p:nvPr/>
        </p:nvSpPr>
        <p:spPr>
          <a:xfrm>
            <a:off x="388080" y="159444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300" strike="noStrike" u="none">
                <a:solidFill>
                  <a:schemeClr val="lt1"/>
                </a:solidFill>
                <a:effectLst/>
                <a:uFillTx/>
                <a:latin typeface="メイリオ"/>
                <a:ea typeface="メイリオ"/>
              </a:rPr>
              <a:t>流入元</a:t>
            </a:r>
            <a:endParaRPr b="0" lang="en-US" sz="1300" strike="noStrike" u="none">
              <a:solidFill>
                <a:srgbClr val="ffffff"/>
              </a:solidFill>
              <a:effectLst/>
              <a:uFillTx/>
              <a:latin typeface="Arial"/>
            </a:endParaRPr>
          </a:p>
        </p:txBody>
      </p:sp>
      <p:sp>
        <p:nvSpPr>
          <p:cNvPr id="237" name="正方形/長方形 5"/>
          <p:cNvSpPr/>
          <p:nvPr/>
        </p:nvSpPr>
        <p:spPr>
          <a:xfrm>
            <a:off x="1890360" y="159444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300" strike="noStrike" u="none">
                <a:solidFill>
                  <a:schemeClr val="lt1"/>
                </a:solidFill>
                <a:effectLst/>
                <a:uFillTx/>
                <a:latin typeface="メイリオ"/>
                <a:ea typeface="メイリオ"/>
              </a:rPr>
              <a:t>LINE</a:t>
            </a:r>
            <a:r>
              <a:rPr b="1" lang="ja-JP" sz="1300" strike="noStrike" u="none">
                <a:solidFill>
                  <a:schemeClr val="lt1"/>
                </a:solidFill>
                <a:effectLst/>
                <a:uFillTx/>
                <a:latin typeface="メイリオ"/>
                <a:ea typeface="メイリオ"/>
              </a:rPr>
              <a:t>誘導</a:t>
            </a:r>
            <a:endParaRPr b="0" lang="en-US" sz="1300" strike="noStrike" u="none">
              <a:solidFill>
                <a:srgbClr val="000000"/>
              </a:solidFill>
              <a:effectLst/>
              <a:uFillTx/>
              <a:latin typeface="Arial"/>
            </a:endParaRPr>
          </a:p>
        </p:txBody>
      </p:sp>
      <p:sp>
        <p:nvSpPr>
          <p:cNvPr id="238" name="正方形/長方形 6"/>
          <p:cNvSpPr/>
          <p:nvPr/>
        </p:nvSpPr>
        <p:spPr>
          <a:xfrm>
            <a:off x="3392640" y="159444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300" strike="noStrike" u="none">
                <a:solidFill>
                  <a:schemeClr val="lt1"/>
                </a:solidFill>
                <a:effectLst/>
                <a:uFillTx/>
                <a:latin typeface="メイリオ"/>
                <a:ea typeface="メイリオ"/>
              </a:rPr>
              <a:t>具体の施策方針</a:t>
            </a:r>
            <a:endParaRPr b="0" lang="en-US" sz="1300" strike="noStrike" u="none">
              <a:solidFill>
                <a:srgbClr val="ffffff"/>
              </a:solidFill>
              <a:effectLst/>
              <a:uFillTx/>
              <a:latin typeface="Arial"/>
            </a:endParaRPr>
          </a:p>
        </p:txBody>
      </p:sp>
      <p:sp>
        <p:nvSpPr>
          <p:cNvPr id="239" name="矢印: 右 7"/>
          <p:cNvSpPr/>
          <p:nvPr/>
        </p:nvSpPr>
        <p:spPr>
          <a:xfrm>
            <a:off x="1031400" y="2268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40" name="正方形/長方形 8"/>
          <p:cNvSpPr/>
          <p:nvPr/>
        </p:nvSpPr>
        <p:spPr>
          <a:xfrm>
            <a:off x="1890360" y="20026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75000"/>
                    <a:lumOff val="25000"/>
                  </a:schemeClr>
                </a:solidFill>
                <a:effectLst/>
                <a:uFillTx/>
                <a:latin typeface="メイリオ"/>
                <a:ea typeface="メイリオ"/>
              </a:rPr>
              <a:t>離脱防止</a:t>
            </a:r>
            <a:endParaRPr b="0" lang="en-US" sz="1100" strike="noStrike" u="none">
              <a:solidFill>
                <a:srgbClr val="000000"/>
              </a:solidFill>
              <a:effectLst/>
              <a:uFillTx/>
              <a:latin typeface="Arial"/>
            </a:endParaRPr>
          </a:p>
          <a:p>
            <a:pPr algn="ctr" defTabSz="914400">
              <a:lnSpc>
                <a:spcPct val="100000"/>
              </a:lnSpc>
            </a:pPr>
            <a:r>
              <a:rPr b="0" lang="ja-JP" sz="1100" strike="noStrike" u="none">
                <a:solidFill>
                  <a:schemeClr val="dk1">
                    <a:lumMod val="75000"/>
                    <a:lumOff val="25000"/>
                  </a:schemeClr>
                </a:solidFill>
                <a:effectLst/>
                <a:uFillTx/>
                <a:latin typeface="メイリオ"/>
                <a:ea typeface="メイリオ"/>
              </a:rPr>
              <a:t>ポップアップ</a:t>
            </a:r>
            <a:endParaRPr b="0" lang="en-US" sz="1100" strike="noStrike" u="none">
              <a:solidFill>
                <a:srgbClr val="000000"/>
              </a:solidFill>
              <a:effectLst/>
              <a:uFillTx/>
              <a:latin typeface="Arial"/>
            </a:endParaRPr>
          </a:p>
        </p:txBody>
      </p:sp>
      <p:sp>
        <p:nvSpPr>
          <p:cNvPr id="241" name="正方形/長方形 9"/>
          <p:cNvSpPr/>
          <p:nvPr/>
        </p:nvSpPr>
        <p:spPr>
          <a:xfrm>
            <a:off x="1890360" y="261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en-US" sz="1100" strike="noStrike" u="none">
                <a:solidFill>
                  <a:schemeClr val="dk1">
                    <a:lumMod val="75000"/>
                    <a:lumOff val="25000"/>
                  </a:schemeClr>
                </a:solidFill>
                <a:effectLst/>
                <a:uFillTx/>
                <a:latin typeface="メイリオ"/>
                <a:ea typeface="メイリオ"/>
              </a:rPr>
              <a:t>LINE</a:t>
            </a:r>
            <a:r>
              <a:rPr b="0" lang="ja-JP" sz="1100" strike="noStrike" u="none">
                <a:solidFill>
                  <a:schemeClr val="dk1">
                    <a:lumMod val="75000"/>
                    <a:lumOff val="25000"/>
                  </a:schemeClr>
                </a:solidFill>
                <a:effectLst/>
                <a:uFillTx/>
                <a:latin typeface="メイリオ"/>
                <a:ea typeface="メイリオ"/>
              </a:rPr>
              <a:t>でお問い合わせ</a:t>
            </a:r>
            <a:endParaRPr b="0" lang="en-US" sz="1100" strike="noStrike" u="none">
              <a:solidFill>
                <a:srgbClr val="000000"/>
              </a:solidFill>
              <a:effectLst/>
              <a:uFillTx/>
              <a:latin typeface="Arial"/>
            </a:endParaRPr>
          </a:p>
          <a:p>
            <a:pPr algn="ctr" defTabSz="914400">
              <a:lnSpc>
                <a:spcPct val="100000"/>
              </a:lnSpc>
            </a:pPr>
            <a:r>
              <a:rPr b="0" lang="ja-JP" sz="1100" strike="noStrike" u="none">
                <a:solidFill>
                  <a:schemeClr val="dk1">
                    <a:lumMod val="75000"/>
                    <a:lumOff val="25000"/>
                  </a:schemeClr>
                </a:solidFill>
                <a:effectLst/>
                <a:uFillTx/>
                <a:latin typeface="メイリオ"/>
                <a:ea typeface="メイリオ"/>
              </a:rPr>
              <a:t>ボタン（全ページ）</a:t>
            </a:r>
            <a:endParaRPr b="0" lang="en-US" sz="1100" strike="noStrike" u="none">
              <a:solidFill>
                <a:srgbClr val="000000"/>
              </a:solidFill>
              <a:effectLst/>
              <a:uFillTx/>
              <a:latin typeface="Arial"/>
            </a:endParaRPr>
          </a:p>
        </p:txBody>
      </p:sp>
      <p:sp>
        <p:nvSpPr>
          <p:cNvPr id="242" name="正方形/長方形 10"/>
          <p:cNvSpPr/>
          <p:nvPr/>
        </p:nvSpPr>
        <p:spPr>
          <a:xfrm>
            <a:off x="388080" y="20026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en-US" sz="1100" strike="noStrike" u="none">
                <a:solidFill>
                  <a:schemeClr val="dk1">
                    <a:lumMod val="75000"/>
                    <a:lumOff val="25000"/>
                  </a:schemeClr>
                </a:solidFill>
                <a:effectLst/>
                <a:uFillTx/>
                <a:latin typeface="メイリオ"/>
                <a:ea typeface="メイリオ"/>
              </a:rPr>
              <a:t>100</a:t>
            </a:r>
            <a:r>
              <a:rPr b="0" lang="zh-CN" sz="1100" strike="noStrike" u="none">
                <a:solidFill>
                  <a:schemeClr val="dk1">
                    <a:lumMod val="75000"/>
                    <a:lumOff val="25000"/>
                  </a:schemeClr>
                </a:solidFill>
                <a:effectLst/>
                <a:uFillTx/>
                <a:latin typeface="メイリオ"/>
                <a:ea typeface="メイリオ"/>
              </a:rPr>
              <a:t>円賃貸のサイト</a:t>
            </a:r>
            <a:endParaRPr b="0" lang="en-US" sz="1100" strike="noStrike" u="none">
              <a:solidFill>
                <a:srgbClr val="000000"/>
              </a:solidFill>
              <a:effectLst/>
              <a:uFillTx/>
              <a:latin typeface="Arial"/>
            </a:endParaRPr>
          </a:p>
        </p:txBody>
      </p:sp>
      <p:sp>
        <p:nvSpPr>
          <p:cNvPr id="243" name="正方形/長方形 11"/>
          <p:cNvSpPr/>
          <p:nvPr/>
        </p:nvSpPr>
        <p:spPr>
          <a:xfrm>
            <a:off x="388080" y="26157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en-US" sz="1100" strike="noStrike" u="none">
                <a:solidFill>
                  <a:schemeClr val="dk1">
                    <a:lumMod val="75000"/>
                    <a:lumOff val="25000"/>
                  </a:schemeClr>
                </a:solidFill>
                <a:effectLst/>
                <a:uFillTx/>
                <a:latin typeface="メイリオ"/>
                <a:ea typeface="メイリオ"/>
              </a:rPr>
              <a:t>100</a:t>
            </a:r>
            <a:r>
              <a:rPr b="0" lang="ja-JP" sz="1100" strike="noStrike" u="none">
                <a:solidFill>
                  <a:schemeClr val="dk1">
                    <a:lumMod val="75000"/>
                    <a:lumOff val="25000"/>
                  </a:schemeClr>
                </a:solidFill>
                <a:effectLst/>
                <a:uFillTx/>
                <a:latin typeface="メイリオ"/>
                <a:ea typeface="メイリオ"/>
              </a:rPr>
              <a:t>円賃貸のサイト</a:t>
            </a:r>
            <a:endParaRPr b="0" lang="en-US" sz="1100" strike="noStrike" u="none">
              <a:solidFill>
                <a:srgbClr val="000000"/>
              </a:solidFill>
              <a:effectLst/>
              <a:uFillTx/>
              <a:latin typeface="Arial"/>
            </a:endParaRPr>
          </a:p>
        </p:txBody>
      </p:sp>
      <p:sp>
        <p:nvSpPr>
          <p:cNvPr id="244" name="正方形/長方形 12"/>
          <p:cNvSpPr/>
          <p:nvPr/>
        </p:nvSpPr>
        <p:spPr>
          <a:xfrm>
            <a:off x="3392640" y="199728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75000"/>
                  <a:lumOff val="25000"/>
                </a:schemeClr>
              </a:solidFill>
              <a:effectLst/>
              <a:uFillTx/>
              <a:latin typeface="メイリオ"/>
              <a:ea typeface="メイリオ"/>
            </a:endParaRPr>
          </a:p>
        </p:txBody>
      </p:sp>
      <p:sp>
        <p:nvSpPr>
          <p:cNvPr id="245" name="矢印: 右 13"/>
          <p:cNvSpPr/>
          <p:nvPr/>
        </p:nvSpPr>
        <p:spPr>
          <a:xfrm>
            <a:off x="1031400" y="322020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46" name="矢印: 右 14"/>
          <p:cNvSpPr/>
          <p:nvPr/>
        </p:nvSpPr>
        <p:spPr>
          <a:xfrm>
            <a:off x="1031400" y="39214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cxnSp>
        <p:nvCxnSpPr>
          <p:cNvPr id="247" name="直線コネクタ 15"/>
          <p:cNvCxnSpPr/>
          <p:nvPr/>
        </p:nvCxnSpPr>
        <p:spPr>
          <a:xfrm>
            <a:off x="388080" y="3876480"/>
            <a:ext cx="7324920" cy="360"/>
          </a:xfrm>
          <a:prstGeom prst="straightConnector1">
            <a:avLst/>
          </a:prstGeom>
          <a:ln>
            <a:solidFill>
              <a:srgbClr val="4a7ebb"/>
            </a:solidFill>
            <a:prstDash val="sysDash"/>
            <a:round/>
          </a:ln>
        </p:spPr>
      </p:cxnSp>
      <p:sp>
        <p:nvSpPr>
          <p:cNvPr id="248" name="正方形/長方形 16"/>
          <p:cNvSpPr/>
          <p:nvPr/>
        </p:nvSpPr>
        <p:spPr>
          <a:xfrm>
            <a:off x="388080" y="322920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zh-CN" sz="1100" strike="noStrike" u="none">
                <a:solidFill>
                  <a:schemeClr val="dk1">
                    <a:lumMod val="65000"/>
                    <a:lumOff val="35000"/>
                  </a:schemeClr>
                </a:solidFill>
                <a:effectLst/>
                <a:uFillTx/>
                <a:latin typeface="メイリオ"/>
                <a:ea typeface="メイリオ"/>
              </a:rPr>
              <a:t>今の友だち（</a:t>
            </a:r>
            <a:r>
              <a:rPr b="0" lang="en-US" sz="1100" strike="noStrike" u="none">
                <a:solidFill>
                  <a:schemeClr val="dk1">
                    <a:lumMod val="65000"/>
                    <a:lumOff val="35000"/>
                  </a:schemeClr>
                </a:solidFill>
                <a:effectLst/>
                <a:uFillTx/>
                <a:latin typeface="メイリオ"/>
                <a:ea typeface="メイリオ"/>
              </a:rPr>
              <a:t>1,241</a:t>
            </a:r>
            <a:r>
              <a:rPr b="0" lang="zh-CN" sz="1100" strike="noStrike" u="none">
                <a:solidFill>
                  <a:schemeClr val="dk1">
                    <a:lumMod val="65000"/>
                    <a:lumOff val="35000"/>
                  </a:schemeClr>
                </a:solidFill>
                <a:effectLst/>
                <a:uFillTx/>
                <a:latin typeface="メイリオ"/>
                <a:ea typeface="メイリオ"/>
              </a:rPr>
              <a:t>人）</a:t>
            </a:r>
            <a:endParaRPr b="0" lang="en-US" sz="1100" strike="noStrike" u="none">
              <a:solidFill>
                <a:srgbClr val="000000"/>
              </a:solidFill>
              <a:effectLst/>
              <a:uFillTx/>
              <a:latin typeface="Arial"/>
            </a:endParaRPr>
          </a:p>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新しい友だち</a:t>
            </a:r>
            <a:endParaRPr b="0" lang="en-US" sz="1100" strike="noStrike" u="none">
              <a:solidFill>
                <a:srgbClr val="000000"/>
              </a:solidFill>
              <a:effectLst/>
              <a:uFillTx/>
              <a:latin typeface="Arial"/>
            </a:endParaRPr>
          </a:p>
        </p:txBody>
      </p:sp>
      <p:sp>
        <p:nvSpPr>
          <p:cNvPr id="249" name="正方形/長方形 17"/>
          <p:cNvSpPr/>
          <p:nvPr/>
        </p:nvSpPr>
        <p:spPr>
          <a:xfrm>
            <a:off x="1890360" y="39654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個別チャット</a:t>
            </a:r>
            <a:endParaRPr b="0" lang="en-US" sz="1100" strike="noStrike" u="none">
              <a:solidFill>
                <a:srgbClr val="000000"/>
              </a:solidFill>
              <a:effectLst/>
              <a:uFillTx/>
              <a:latin typeface="Arial"/>
            </a:endParaRPr>
          </a:p>
        </p:txBody>
      </p:sp>
      <p:sp>
        <p:nvSpPr>
          <p:cNvPr id="250" name="正方形/長方形 18"/>
          <p:cNvSpPr/>
          <p:nvPr/>
        </p:nvSpPr>
        <p:spPr>
          <a:xfrm>
            <a:off x="388080" y="39654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zh-CN" sz="1100" strike="noStrike" u="none">
                <a:solidFill>
                  <a:schemeClr val="dk1">
                    <a:lumMod val="65000"/>
                    <a:lumOff val="35000"/>
                  </a:schemeClr>
                </a:solidFill>
                <a:effectLst/>
                <a:uFillTx/>
                <a:latin typeface="メイリオ"/>
                <a:ea typeface="メイリオ"/>
              </a:rPr>
              <a:t>問い合わせた方</a:t>
            </a:r>
            <a:endParaRPr b="0" lang="en-US" sz="1100" strike="noStrike" u="none">
              <a:solidFill>
                <a:srgbClr val="000000"/>
              </a:solidFill>
              <a:effectLst/>
              <a:uFillTx/>
              <a:latin typeface="Arial"/>
            </a:endParaRPr>
          </a:p>
        </p:txBody>
      </p:sp>
      <p:sp>
        <p:nvSpPr>
          <p:cNvPr id="251" name="正方形/長方形 19"/>
          <p:cNvSpPr/>
          <p:nvPr/>
        </p:nvSpPr>
        <p:spPr>
          <a:xfrm>
            <a:off x="3392640" y="32292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52" name="正方形/長方形 20"/>
          <p:cNvSpPr/>
          <p:nvPr/>
        </p:nvSpPr>
        <p:spPr>
          <a:xfrm>
            <a:off x="3392640" y="39654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53" name="矢印: 右 21"/>
          <p:cNvSpPr/>
          <p:nvPr/>
        </p:nvSpPr>
        <p:spPr>
          <a:xfrm>
            <a:off x="1031400" y="456840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54" name="矢印: 右 22"/>
          <p:cNvSpPr/>
          <p:nvPr/>
        </p:nvSpPr>
        <p:spPr>
          <a:xfrm>
            <a:off x="1031400" y="57999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55" name="矢印: 右 23"/>
          <p:cNvSpPr/>
          <p:nvPr/>
        </p:nvSpPr>
        <p:spPr>
          <a:xfrm>
            <a:off x="1031400" y="51897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56" name="正方形/長方形 24"/>
          <p:cNvSpPr/>
          <p:nvPr/>
        </p:nvSpPr>
        <p:spPr>
          <a:xfrm>
            <a:off x="1890360" y="45838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自動応答</a:t>
            </a:r>
            <a:endParaRPr b="0" lang="en-US" sz="1100" strike="noStrike" u="none">
              <a:solidFill>
                <a:srgbClr val="000000"/>
              </a:solidFill>
              <a:effectLst/>
              <a:uFillTx/>
              <a:latin typeface="Arial"/>
            </a:endParaRPr>
          </a:p>
        </p:txBody>
      </p:sp>
      <p:sp>
        <p:nvSpPr>
          <p:cNvPr id="257" name="正方形/長方形 25"/>
          <p:cNvSpPr/>
          <p:nvPr/>
        </p:nvSpPr>
        <p:spPr>
          <a:xfrm>
            <a:off x="388080" y="45838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zh-CN" sz="1100" strike="noStrike" u="none">
                <a:solidFill>
                  <a:schemeClr val="dk1">
                    <a:lumMod val="65000"/>
                    <a:lumOff val="35000"/>
                  </a:schemeClr>
                </a:solidFill>
                <a:effectLst/>
                <a:uFillTx/>
                <a:latin typeface="メイリオ"/>
                <a:ea typeface="メイリオ"/>
              </a:rPr>
              <a:t>受付時間外の方</a:t>
            </a:r>
            <a:endParaRPr b="0" lang="en-US" sz="1100" strike="noStrike" u="none">
              <a:solidFill>
                <a:srgbClr val="000000"/>
              </a:solidFill>
              <a:effectLst/>
              <a:uFillTx/>
              <a:latin typeface="Arial"/>
            </a:endParaRPr>
          </a:p>
        </p:txBody>
      </p:sp>
      <p:sp>
        <p:nvSpPr>
          <p:cNvPr id="258" name="正方形/長方形 26"/>
          <p:cNvSpPr/>
          <p:nvPr/>
        </p:nvSpPr>
        <p:spPr>
          <a:xfrm>
            <a:off x="388080" y="520272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迷っている方</a:t>
            </a:r>
            <a:endParaRPr b="0" lang="en-US" sz="1100" strike="noStrike" u="none">
              <a:solidFill>
                <a:srgbClr val="000000"/>
              </a:solidFill>
              <a:effectLst/>
              <a:uFillTx/>
              <a:latin typeface="Arial"/>
            </a:endParaRPr>
          </a:p>
        </p:txBody>
      </p:sp>
      <p:sp>
        <p:nvSpPr>
          <p:cNvPr id="259" name="正方形/長方形 27"/>
          <p:cNvSpPr/>
          <p:nvPr/>
        </p:nvSpPr>
        <p:spPr>
          <a:xfrm>
            <a:off x="388080" y="58212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他社で内見済みの方</a:t>
            </a:r>
            <a:endParaRPr b="0" lang="en-US" sz="1100" strike="noStrike" u="none">
              <a:solidFill>
                <a:srgbClr val="000000"/>
              </a:solidFill>
              <a:effectLst/>
              <a:uFillTx/>
              <a:latin typeface="Arial"/>
            </a:endParaRPr>
          </a:p>
        </p:txBody>
      </p:sp>
      <p:sp>
        <p:nvSpPr>
          <p:cNvPr id="260" name="正方形/長方形 28"/>
          <p:cNvSpPr/>
          <p:nvPr/>
        </p:nvSpPr>
        <p:spPr>
          <a:xfrm>
            <a:off x="1890360" y="520272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リッチメニュー</a:t>
            </a:r>
            <a:endParaRPr b="0" lang="en-US" sz="1100" strike="noStrike" u="none">
              <a:solidFill>
                <a:srgbClr val="000000"/>
              </a:solidFill>
              <a:effectLst/>
              <a:uFillTx/>
              <a:latin typeface="Arial"/>
            </a:endParaRPr>
          </a:p>
        </p:txBody>
      </p:sp>
      <p:sp>
        <p:nvSpPr>
          <p:cNvPr id="261" name="正方形/長方形 29"/>
          <p:cNvSpPr/>
          <p:nvPr/>
        </p:nvSpPr>
        <p:spPr>
          <a:xfrm>
            <a:off x="1890360" y="58212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企画配信</a:t>
            </a:r>
            <a:endParaRPr b="0" lang="en-US" sz="1100" strike="noStrike" u="none">
              <a:solidFill>
                <a:srgbClr val="000000"/>
              </a:solidFill>
              <a:effectLst/>
              <a:uFillTx/>
              <a:latin typeface="Arial"/>
            </a:endParaRPr>
          </a:p>
        </p:txBody>
      </p:sp>
      <p:sp>
        <p:nvSpPr>
          <p:cNvPr id="262" name="正方形/長方形 30"/>
          <p:cNvSpPr/>
          <p:nvPr/>
        </p:nvSpPr>
        <p:spPr>
          <a:xfrm>
            <a:off x="3392640" y="45838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63" name="正方形/長方形 31"/>
          <p:cNvSpPr/>
          <p:nvPr/>
        </p:nvSpPr>
        <p:spPr>
          <a:xfrm>
            <a:off x="3392640" y="520272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64" name="正方形/長方形 32"/>
          <p:cNvSpPr/>
          <p:nvPr/>
        </p:nvSpPr>
        <p:spPr>
          <a:xfrm>
            <a:off x="3392640" y="58104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65" name="Shape 17"/>
          <p:cNvSpPr/>
          <p:nvPr/>
        </p:nvSpPr>
        <p:spPr>
          <a:xfrm>
            <a:off x="3586680" y="206820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zh-CN" sz="1100" strike="noStrike" u="none">
                <a:solidFill>
                  <a:srgbClr val="595959"/>
                </a:solidFill>
                <a:effectLst/>
                <a:uFillTx/>
                <a:latin typeface="メイリオ"/>
                <a:ea typeface="メイリオ"/>
              </a:rPr>
              <a:t>あいさつ</a:t>
            </a:r>
            <a:endParaRPr b="0" lang="en-US" sz="1100" strike="noStrike" u="none">
              <a:solidFill>
                <a:srgbClr val="000000"/>
              </a:solidFill>
              <a:effectLst/>
              <a:uFillTx/>
              <a:latin typeface="Arial"/>
            </a:endParaRPr>
          </a:p>
          <a:p>
            <a:pPr defTabSz="914400">
              <a:lnSpc>
                <a:spcPct val="100000"/>
              </a:lnSpc>
            </a:pPr>
            <a:r>
              <a:rPr b="0" lang="zh-CN" sz="1100" strike="noStrike" u="none">
                <a:solidFill>
                  <a:srgbClr val="595959"/>
                </a:solidFill>
                <a:effectLst/>
                <a:uFillTx/>
                <a:latin typeface="メイリオ"/>
                <a:ea typeface="メイリオ"/>
              </a:rPr>
              <a:t>物件の送り方を案内</a:t>
            </a:r>
            <a:endParaRPr b="0" lang="en-US" sz="1100" strike="noStrike" u="none">
              <a:solidFill>
                <a:srgbClr val="000000"/>
              </a:solidFill>
              <a:effectLst/>
              <a:uFillTx/>
              <a:latin typeface="Arial"/>
            </a:endParaRPr>
          </a:p>
        </p:txBody>
      </p:sp>
      <p:sp>
        <p:nvSpPr>
          <p:cNvPr id="266" name="Shape 18"/>
          <p:cNvSpPr/>
          <p:nvPr/>
        </p:nvSpPr>
        <p:spPr>
          <a:xfrm>
            <a:off x="5635800" y="206820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zh-CN" sz="1100" strike="noStrike" u="none">
                <a:solidFill>
                  <a:srgbClr val="595959"/>
                </a:solidFill>
                <a:effectLst/>
                <a:uFillTx/>
                <a:latin typeface="メイリオ"/>
                <a:ea typeface="メイリオ"/>
              </a:rPr>
              <a:t>ステップ配信（全</a:t>
            </a:r>
            <a:r>
              <a:rPr b="0" lang="en-US" sz="1100" strike="noStrike" u="none">
                <a:solidFill>
                  <a:srgbClr val="595959"/>
                </a:solidFill>
                <a:effectLst/>
                <a:uFillTx/>
                <a:latin typeface="メイリオ"/>
                <a:ea typeface="メイリオ"/>
              </a:rPr>
              <a:t>10</a:t>
            </a:r>
            <a:r>
              <a:rPr b="0" lang="zh-CN" sz="1100" strike="noStrike" u="none">
                <a:solidFill>
                  <a:srgbClr val="595959"/>
                </a:solidFill>
                <a:effectLst/>
                <a:uFillTx/>
                <a:latin typeface="メイリオ"/>
                <a:ea typeface="メイリオ"/>
              </a:rPr>
              <a:t>通）</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物件</a:t>
            </a:r>
            <a:r>
              <a:rPr b="0" lang="en-US" sz="1100" strike="noStrike" u="none">
                <a:solidFill>
                  <a:srgbClr val="595959"/>
                </a:solidFill>
                <a:effectLst/>
                <a:uFillTx/>
                <a:latin typeface="メイリオ"/>
                <a:ea typeface="メイリオ"/>
              </a:rPr>
              <a:t>URL</a:t>
            </a:r>
            <a:r>
              <a:rPr b="0" lang="zh-CN" sz="1100" strike="noStrike" u="none">
                <a:solidFill>
                  <a:srgbClr val="595959"/>
                </a:solidFill>
                <a:effectLst/>
                <a:uFillTx/>
                <a:latin typeface="メイリオ"/>
                <a:ea typeface="メイリオ"/>
              </a:rPr>
              <a:t>の送信</a:t>
            </a:r>
            <a:endParaRPr b="0" lang="en-US" sz="1100" strike="noStrike" u="none">
              <a:solidFill>
                <a:srgbClr val="000000"/>
              </a:solidFill>
              <a:effectLst/>
              <a:uFillTx/>
              <a:latin typeface="Arial"/>
            </a:endParaRPr>
          </a:p>
        </p:txBody>
      </p:sp>
      <p:cxnSp>
        <p:nvCxnSpPr>
          <p:cNvPr id="267" name="直線矢印コネクタ 35"/>
          <p:cNvCxnSpPr>
            <a:endCxn id="266" idx="1"/>
          </p:cNvCxnSpPr>
          <p:nvPr/>
        </p:nvCxnSpPr>
        <p:spPr>
          <a:xfrm>
            <a:off x="5366880" y="2292120"/>
            <a:ext cx="269280" cy="9360"/>
          </a:xfrm>
          <a:prstGeom prst="straightConnector1">
            <a:avLst/>
          </a:prstGeom>
          <a:ln>
            <a:solidFill>
              <a:srgbClr val="000000"/>
            </a:solidFill>
            <a:prstDash val="sysDot"/>
            <a:round/>
            <a:tailEnd len="med" type="triangle" w="med"/>
          </a:ln>
        </p:spPr>
      </p:cxnSp>
      <p:sp>
        <p:nvSpPr>
          <p:cNvPr id="268" name="Shape 17"/>
          <p:cNvSpPr/>
          <p:nvPr/>
        </p:nvSpPr>
        <p:spPr>
          <a:xfrm>
            <a:off x="3586680" y="260244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zh-CN" sz="1100" strike="noStrike" u="none">
                <a:solidFill>
                  <a:srgbClr val="595959"/>
                </a:solidFill>
                <a:effectLst/>
                <a:uFillTx/>
                <a:latin typeface="メイリオ"/>
                <a:ea typeface="メイリオ"/>
              </a:rPr>
              <a:t>キーワード応答</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よくある質問に返信</a:t>
            </a:r>
            <a:endParaRPr b="0" lang="en-US" sz="1100" strike="noStrike" u="none">
              <a:solidFill>
                <a:srgbClr val="000000"/>
              </a:solidFill>
              <a:effectLst/>
              <a:uFillTx/>
              <a:latin typeface="Arial"/>
            </a:endParaRPr>
          </a:p>
        </p:txBody>
      </p:sp>
      <p:sp>
        <p:nvSpPr>
          <p:cNvPr id="269" name="Shape 18"/>
          <p:cNvSpPr/>
          <p:nvPr/>
        </p:nvSpPr>
        <p:spPr>
          <a:xfrm>
            <a:off x="5635800" y="260244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個別チャット</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空室確認・内見の手配</a:t>
            </a:r>
            <a:endParaRPr b="0" lang="en-US" sz="1100" strike="noStrike" u="none">
              <a:solidFill>
                <a:srgbClr val="000000"/>
              </a:solidFill>
              <a:effectLst/>
              <a:uFillTx/>
              <a:latin typeface="Arial"/>
            </a:endParaRPr>
          </a:p>
        </p:txBody>
      </p:sp>
      <p:cxnSp>
        <p:nvCxnSpPr>
          <p:cNvPr id="270" name="直線矢印コネクタ 38"/>
          <p:cNvCxnSpPr>
            <a:stCxn id="268" idx="3"/>
            <a:endCxn id="269" idx="1"/>
          </p:cNvCxnSpPr>
          <p:nvPr/>
        </p:nvCxnSpPr>
        <p:spPr>
          <a:xfrm>
            <a:off x="5349960" y="2835360"/>
            <a:ext cx="286200" cy="360"/>
          </a:xfrm>
          <a:prstGeom prst="straightConnector1">
            <a:avLst/>
          </a:prstGeom>
          <a:ln>
            <a:solidFill>
              <a:srgbClr val="000000"/>
            </a:solidFill>
            <a:prstDash val="sysDot"/>
            <a:round/>
            <a:tailEnd len="med" type="triangle" w="med"/>
          </a:ln>
        </p:spPr>
      </p:cxnSp>
      <p:sp>
        <p:nvSpPr>
          <p:cNvPr id="271" name="テキスト ボックス 102"/>
          <p:cNvSpPr/>
          <p:nvPr/>
        </p:nvSpPr>
        <p:spPr>
          <a:xfrm>
            <a:off x="7643520" y="1550880"/>
            <a:ext cx="1873800" cy="4305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zh-CN" sz="1200" strike="noStrike" u="none">
                <a:solidFill>
                  <a:srgbClr val="ff0000"/>
                </a:solidFill>
                <a:effectLst/>
                <a:uFillTx/>
                <a:latin typeface="メイリオ"/>
                <a:ea typeface="メイリオ"/>
              </a:rPr>
              <a:t>問い合わせ率</a:t>
            </a:r>
            <a:endParaRPr b="0" lang="en-US" sz="1200" strike="noStrike" u="none">
              <a:solidFill>
                <a:srgbClr val="000000"/>
              </a:solidFill>
              <a:effectLst/>
              <a:uFillTx/>
              <a:latin typeface="Arial"/>
            </a:endParaRPr>
          </a:p>
          <a:p>
            <a:pPr algn="ctr" defTabSz="914400">
              <a:lnSpc>
                <a:spcPct val="100000"/>
              </a:lnSpc>
            </a:pPr>
            <a:r>
              <a:rPr b="0" lang="en-US" sz="1200" strike="noStrike" u="none">
                <a:solidFill>
                  <a:srgbClr val="ff0000"/>
                </a:solidFill>
                <a:effectLst/>
                <a:uFillTx/>
                <a:latin typeface="メイリオ"/>
                <a:ea typeface="メイリオ"/>
              </a:rPr>
              <a:t>※試算の想定</a:t>
            </a:r>
            <a:endParaRPr b="0" lang="en-US" sz="1200" strike="noStrike" u="none">
              <a:solidFill>
                <a:srgbClr val="000000"/>
              </a:solidFill>
              <a:effectLst/>
              <a:uFillTx/>
              <a:latin typeface="Arial"/>
            </a:endParaRPr>
          </a:p>
        </p:txBody>
      </p:sp>
      <p:sp>
        <p:nvSpPr>
          <p:cNvPr id="272" name="テキスト ボックス 104"/>
          <p:cNvSpPr/>
          <p:nvPr/>
        </p:nvSpPr>
        <p:spPr>
          <a:xfrm>
            <a:off x="7498080" y="2247120"/>
            <a:ext cx="1782720" cy="522720"/>
          </a:xfrm>
          <a:prstGeom prst="rect">
            <a:avLst/>
          </a:prstGeom>
          <a:noFill/>
          <a:ln w="0">
            <a:noFill/>
          </a:ln>
        </p:spPr>
        <p:style>
          <a:lnRef idx="0"/>
          <a:fillRef idx="0"/>
          <a:effectRef idx="0"/>
          <a:fontRef idx="minor"/>
        </p:style>
        <p:txBody>
          <a:bodyPr lIns="0" rIns="0" tIns="45000" bIns="45000" anchor="t">
            <a:spAutoFit/>
          </a:bodyPr>
          <a:p>
            <a:pPr algn="r" defTabSz="914400">
              <a:lnSpc>
                <a:spcPct val="100000"/>
              </a:lnSpc>
            </a:pPr>
            <a:r>
              <a:rPr b="1" lang="en-US" sz="2000" strike="noStrike" u="none">
                <a:solidFill>
                  <a:srgbClr val="ff0000"/>
                </a:solidFill>
                <a:effectLst/>
                <a:uFillTx/>
                <a:latin typeface="メイリオ"/>
                <a:ea typeface="メイリオ"/>
              </a:rPr>
              <a:t>22→57</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a:p>
            <a:pPr algn="r" defTabSz="914400">
              <a:lnSpc>
                <a:spcPct val="100000"/>
              </a:lnSpc>
            </a:pPr>
            <a:r>
              <a:rPr b="0" lang="ja-JP" sz="1100" strike="noStrike" u="none">
                <a:solidFill>
                  <a:srgbClr val="ff0000"/>
                </a:solidFill>
                <a:effectLst/>
                <a:uFillTx/>
                <a:latin typeface="メイリオ"/>
                <a:ea typeface="メイリオ"/>
              </a:rPr>
              <a:t>友だち追加直後に</a:t>
            </a:r>
            <a:endParaRPr b="0" lang="en-US" sz="1100" strike="noStrike" u="none">
              <a:solidFill>
                <a:srgbClr val="000000"/>
              </a:solidFill>
              <a:effectLst/>
              <a:uFillTx/>
              <a:latin typeface="Arial"/>
            </a:endParaRPr>
          </a:p>
          <a:p>
            <a:pPr algn="r" defTabSz="914400">
              <a:lnSpc>
                <a:spcPct val="100000"/>
              </a:lnSpc>
            </a:pPr>
            <a:r>
              <a:rPr b="0" lang="ja-JP" sz="1100" strike="noStrike" u="none">
                <a:solidFill>
                  <a:srgbClr val="ff0000"/>
                </a:solidFill>
                <a:effectLst/>
                <a:uFillTx/>
                <a:latin typeface="メイリオ"/>
                <a:ea typeface="メイリオ"/>
              </a:rPr>
              <a:t>物件を送る方（仮）</a:t>
            </a:r>
            <a:endParaRPr b="0" lang="en-US" sz="1100" strike="noStrike" u="none">
              <a:solidFill>
                <a:srgbClr val="000000"/>
              </a:solidFill>
              <a:effectLst/>
              <a:uFillTx/>
              <a:latin typeface="Arial"/>
            </a:endParaRPr>
          </a:p>
        </p:txBody>
      </p:sp>
      <p:sp>
        <p:nvSpPr>
          <p:cNvPr id="273" name="テキスト ボックス 106"/>
          <p:cNvSpPr/>
          <p:nvPr/>
        </p:nvSpPr>
        <p:spPr>
          <a:xfrm>
            <a:off x="7498080" y="3192120"/>
            <a:ext cx="1782720" cy="522720"/>
          </a:xfrm>
          <a:prstGeom prst="rect">
            <a:avLst/>
          </a:prstGeom>
          <a:noFill/>
          <a:ln w="0">
            <a:noFill/>
          </a:ln>
        </p:spPr>
        <p:style>
          <a:lnRef idx="0"/>
          <a:fillRef idx="0"/>
          <a:effectRef idx="0"/>
          <a:fontRef idx="minor"/>
        </p:style>
        <p:txBody>
          <a:bodyPr lIns="0" rIns="0" tIns="45000" bIns="45000" anchor="t">
            <a:spAutoFit/>
          </a:bodyPr>
          <a:p>
            <a:pPr algn="r" defTabSz="914400">
              <a:lnSpc>
                <a:spcPct val="100000"/>
              </a:lnSpc>
            </a:pPr>
            <a:r>
              <a:rPr b="1" lang="en-US" sz="2000" strike="noStrike" u="none">
                <a:solidFill>
                  <a:srgbClr val="ff0000"/>
                </a:solidFill>
                <a:effectLst/>
                <a:uFillTx/>
                <a:latin typeface="メイリオ"/>
                <a:ea typeface="メイリオ"/>
              </a:rPr>
              <a:t>0.3→2.0</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a:p>
            <a:pPr algn="r" defTabSz="914400">
              <a:lnSpc>
                <a:spcPct val="100000"/>
              </a:lnSpc>
            </a:pPr>
            <a:r>
              <a:rPr b="0" lang="zh-CN" sz="1100" strike="noStrike" u="none">
                <a:solidFill>
                  <a:srgbClr val="ff0000"/>
                </a:solidFill>
                <a:effectLst/>
                <a:uFillTx/>
                <a:latin typeface="メイリオ"/>
                <a:ea typeface="メイリオ"/>
              </a:rPr>
              <a:t>配信クリックからの</a:t>
            </a:r>
            <a:endParaRPr b="0" lang="en-US" sz="1100" strike="noStrike" u="none">
              <a:solidFill>
                <a:srgbClr val="000000"/>
              </a:solidFill>
              <a:effectLst/>
              <a:uFillTx/>
              <a:latin typeface="Arial"/>
            </a:endParaRPr>
          </a:p>
          <a:p>
            <a:pPr algn="r" defTabSz="914400">
              <a:lnSpc>
                <a:spcPct val="100000"/>
              </a:lnSpc>
            </a:pPr>
            <a:r>
              <a:rPr b="0" lang="zh-CN" sz="1100" strike="noStrike" u="none">
                <a:solidFill>
                  <a:srgbClr val="ff0000"/>
                </a:solidFill>
                <a:effectLst/>
                <a:uFillTx/>
                <a:latin typeface="メイリオ"/>
                <a:ea typeface="メイリオ"/>
              </a:rPr>
              <a:t>問い合わせ（</a:t>
            </a:r>
            <a:r>
              <a:rPr b="0" lang="en-US" sz="1100" strike="noStrike" u="none">
                <a:solidFill>
                  <a:srgbClr val="ff0000"/>
                </a:solidFill>
                <a:effectLst/>
                <a:uFillTx/>
                <a:latin typeface="メイリオ"/>
                <a:ea typeface="メイリオ"/>
              </a:rPr>
              <a:t>CVR</a:t>
            </a:r>
            <a:r>
              <a:rPr b="0" lang="zh-CN" sz="1100" strike="noStrike" u="none">
                <a:solidFill>
                  <a:srgbClr val="ff0000"/>
                </a:solidFill>
                <a:effectLst/>
                <a:uFillTx/>
                <a:latin typeface="メイリオ"/>
                <a:ea typeface="メイリオ"/>
              </a:rPr>
              <a:t>）</a:t>
            </a:r>
            <a:endParaRPr b="0" lang="en-US" sz="1100" strike="noStrike" u="none">
              <a:solidFill>
                <a:srgbClr val="000000"/>
              </a:solidFill>
              <a:effectLst/>
              <a:uFillTx/>
              <a:latin typeface="Arial"/>
            </a:endParaRPr>
          </a:p>
        </p:txBody>
      </p:sp>
      <p:sp>
        <p:nvSpPr>
          <p:cNvPr id="274" name="テキスト ボックス 108"/>
          <p:cNvSpPr/>
          <p:nvPr/>
        </p:nvSpPr>
        <p:spPr>
          <a:xfrm>
            <a:off x="7795440" y="395280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zh-CN"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275" name="テキスト ボックス 110"/>
          <p:cNvSpPr/>
          <p:nvPr/>
        </p:nvSpPr>
        <p:spPr>
          <a:xfrm>
            <a:off x="7781400" y="45928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zh-CN"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276" name="テキスト ボックス 112"/>
          <p:cNvSpPr/>
          <p:nvPr/>
        </p:nvSpPr>
        <p:spPr>
          <a:xfrm>
            <a:off x="7781400" y="521712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zh-CN"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277" name="テキスト ボックス 114"/>
          <p:cNvSpPr/>
          <p:nvPr/>
        </p:nvSpPr>
        <p:spPr>
          <a:xfrm>
            <a:off x="7781400" y="582300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zh-CN"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278" name="Shape 17"/>
          <p:cNvSpPr/>
          <p:nvPr/>
        </p:nvSpPr>
        <p:spPr>
          <a:xfrm>
            <a:off x="3586680" y="32799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企画配信（月</a:t>
            </a:r>
            <a:r>
              <a:rPr b="0" lang="en-US" sz="1100" strike="noStrike" u="none">
                <a:solidFill>
                  <a:srgbClr val="595959"/>
                </a:solidFill>
                <a:effectLst/>
                <a:uFillTx/>
                <a:latin typeface="メイリオ"/>
                <a:ea typeface="メイリオ"/>
              </a:rPr>
              <a:t>4</a:t>
            </a:r>
            <a:r>
              <a:rPr b="0" lang="ja-JP" sz="1100" strike="noStrike" u="none">
                <a:solidFill>
                  <a:srgbClr val="595959"/>
                </a:solidFill>
                <a:effectLst/>
                <a:uFillTx/>
                <a:latin typeface="メイリオ"/>
                <a:ea typeface="メイリオ"/>
              </a:rPr>
              <a:t>本）</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送り方・費用など</a:t>
            </a:r>
            <a:endParaRPr b="0" lang="en-US" sz="1100" strike="noStrike" u="none">
              <a:solidFill>
                <a:srgbClr val="000000"/>
              </a:solidFill>
              <a:effectLst/>
              <a:uFillTx/>
              <a:latin typeface="Arial"/>
            </a:endParaRPr>
          </a:p>
        </p:txBody>
      </p:sp>
      <p:sp>
        <p:nvSpPr>
          <p:cNvPr id="279" name="Shape 18"/>
          <p:cNvSpPr/>
          <p:nvPr/>
        </p:nvSpPr>
        <p:spPr>
          <a:xfrm>
            <a:off x="5635800" y="32799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リッチメニュー</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100</a:t>
            </a:r>
            <a:r>
              <a:rPr b="0" lang="ja-JP" sz="1100" strike="noStrike" u="none">
                <a:solidFill>
                  <a:srgbClr val="595959"/>
                </a:solidFill>
                <a:effectLst/>
                <a:uFillTx/>
                <a:latin typeface="メイリオ"/>
                <a:ea typeface="メイリオ"/>
              </a:rPr>
              <a:t>円チェッカーなど</a:t>
            </a:r>
            <a:endParaRPr b="0" lang="en-US" sz="1100" strike="noStrike" u="none">
              <a:solidFill>
                <a:srgbClr val="000000"/>
              </a:solidFill>
              <a:effectLst/>
              <a:uFillTx/>
              <a:latin typeface="Arial"/>
            </a:endParaRPr>
          </a:p>
        </p:txBody>
      </p:sp>
      <p:cxnSp>
        <p:nvCxnSpPr>
          <p:cNvPr id="280" name="直線矢印コネクタ 49"/>
          <p:cNvCxnSpPr>
            <a:stCxn id="278" idx="3"/>
            <a:endCxn id="279" idx="1"/>
          </p:cNvCxnSpPr>
          <p:nvPr/>
        </p:nvCxnSpPr>
        <p:spPr>
          <a:xfrm>
            <a:off x="5349960" y="3512880"/>
            <a:ext cx="286200" cy="360"/>
          </a:xfrm>
          <a:prstGeom prst="straightConnector1">
            <a:avLst/>
          </a:prstGeom>
          <a:ln>
            <a:solidFill>
              <a:srgbClr val="000000"/>
            </a:solidFill>
            <a:prstDash val="sysDot"/>
            <a:round/>
            <a:tailEnd len="med" type="triangle" w="med"/>
          </a:ln>
        </p:spPr>
      </p:cxnSp>
      <p:sp>
        <p:nvSpPr>
          <p:cNvPr id="281" name="Shape 17"/>
          <p:cNvSpPr/>
          <p:nvPr/>
        </p:nvSpPr>
        <p:spPr>
          <a:xfrm>
            <a:off x="3586680" y="402084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空室確認・内見の手配</a:t>
            </a:r>
            <a:endParaRPr b="0" lang="en-US" sz="1100" strike="noStrike" u="none">
              <a:solidFill>
                <a:srgbClr val="000000"/>
              </a:solidFill>
              <a:effectLst/>
              <a:uFillTx/>
              <a:latin typeface="Arial"/>
            </a:endParaRPr>
          </a:p>
        </p:txBody>
      </p:sp>
      <p:sp>
        <p:nvSpPr>
          <p:cNvPr id="282" name="Shape 18"/>
          <p:cNvSpPr/>
          <p:nvPr/>
        </p:nvSpPr>
        <p:spPr>
          <a:xfrm>
            <a:off x="5635800" y="402084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お申込み・ご契約の案内</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（オンラインでも可）</a:t>
            </a:r>
            <a:endParaRPr b="0" lang="en-US" sz="1100" strike="noStrike" u="none">
              <a:solidFill>
                <a:srgbClr val="000000"/>
              </a:solidFill>
              <a:effectLst/>
              <a:uFillTx/>
              <a:latin typeface="Arial"/>
            </a:endParaRPr>
          </a:p>
        </p:txBody>
      </p:sp>
      <p:cxnSp>
        <p:nvCxnSpPr>
          <p:cNvPr id="283" name="直線矢印コネクタ 52"/>
          <p:cNvCxnSpPr>
            <a:stCxn id="281" idx="3"/>
            <a:endCxn id="282" idx="1"/>
          </p:cNvCxnSpPr>
          <p:nvPr/>
        </p:nvCxnSpPr>
        <p:spPr>
          <a:xfrm>
            <a:off x="5349960" y="4253760"/>
            <a:ext cx="286200" cy="360"/>
          </a:xfrm>
          <a:prstGeom prst="straightConnector1">
            <a:avLst/>
          </a:prstGeom>
          <a:ln>
            <a:solidFill>
              <a:srgbClr val="000000"/>
            </a:solidFill>
            <a:prstDash val="sysDot"/>
            <a:round/>
            <a:tailEnd len="med" type="triangle" w="med"/>
          </a:ln>
        </p:spPr>
      </p:cxnSp>
      <p:sp>
        <p:nvSpPr>
          <p:cNvPr id="284" name="Shape 17"/>
          <p:cNvSpPr/>
          <p:nvPr/>
        </p:nvSpPr>
        <p:spPr>
          <a:xfrm>
            <a:off x="3586680" y="462708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受付時間外は</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受け付けた旨を自動で返信</a:t>
            </a:r>
            <a:endParaRPr b="0" lang="en-US" sz="1100" strike="noStrike" u="none">
              <a:solidFill>
                <a:srgbClr val="000000"/>
              </a:solidFill>
              <a:effectLst/>
              <a:uFillTx/>
              <a:latin typeface="Arial"/>
            </a:endParaRPr>
          </a:p>
        </p:txBody>
      </p:sp>
      <p:sp>
        <p:nvSpPr>
          <p:cNvPr id="285" name="Shape 18"/>
          <p:cNvSpPr/>
          <p:nvPr/>
        </p:nvSpPr>
        <p:spPr>
          <a:xfrm>
            <a:off x="5635800" y="462708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受付時間（</a:t>
            </a:r>
            <a:r>
              <a:rPr b="0" lang="en-US" sz="1100" strike="noStrike" u="none">
                <a:solidFill>
                  <a:srgbClr val="595959"/>
                </a:solidFill>
                <a:effectLst/>
                <a:uFillTx/>
                <a:latin typeface="メイリオ"/>
                <a:ea typeface="メイリオ"/>
              </a:rPr>
              <a:t>11</a:t>
            </a:r>
            <a:r>
              <a:rPr b="0" lang="ja-JP" sz="1100" strike="noStrike" u="none">
                <a:solidFill>
                  <a:srgbClr val="595959"/>
                </a:solidFill>
                <a:effectLst/>
                <a:uFillTx/>
                <a:latin typeface="メイリオ"/>
                <a:ea typeface="メイリオ"/>
              </a:rPr>
              <a:t>〜</a:t>
            </a:r>
            <a:r>
              <a:rPr b="0" lang="en-US" sz="1100" strike="noStrike" u="none">
                <a:solidFill>
                  <a:srgbClr val="595959"/>
                </a:solidFill>
                <a:effectLst/>
                <a:uFillTx/>
                <a:latin typeface="メイリオ"/>
                <a:ea typeface="メイリオ"/>
              </a:rPr>
              <a:t>18</a:t>
            </a:r>
            <a:r>
              <a:rPr b="0" lang="ja-JP" sz="1100" strike="noStrike" u="none">
                <a:solidFill>
                  <a:srgbClr val="595959"/>
                </a:solidFill>
                <a:effectLst/>
                <a:uFillTx/>
                <a:latin typeface="メイリオ"/>
                <a:ea typeface="メイリオ"/>
              </a:rPr>
              <a:t>時）</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内に担当者が確認</a:t>
            </a:r>
            <a:endParaRPr b="0" lang="en-US" sz="1100" strike="noStrike" u="none">
              <a:solidFill>
                <a:srgbClr val="000000"/>
              </a:solidFill>
              <a:effectLst/>
              <a:uFillTx/>
              <a:latin typeface="Arial"/>
            </a:endParaRPr>
          </a:p>
        </p:txBody>
      </p:sp>
      <p:cxnSp>
        <p:nvCxnSpPr>
          <p:cNvPr id="286" name="直線矢印コネクタ 55"/>
          <p:cNvCxnSpPr>
            <a:stCxn id="284" idx="3"/>
            <a:endCxn id="285" idx="1"/>
          </p:cNvCxnSpPr>
          <p:nvPr/>
        </p:nvCxnSpPr>
        <p:spPr>
          <a:xfrm>
            <a:off x="5349960" y="4860000"/>
            <a:ext cx="286200" cy="360"/>
          </a:xfrm>
          <a:prstGeom prst="straightConnector1">
            <a:avLst/>
          </a:prstGeom>
          <a:ln>
            <a:solidFill>
              <a:srgbClr val="000000"/>
            </a:solidFill>
            <a:prstDash val="sysDot"/>
            <a:round/>
            <a:tailEnd len="med" type="triangle" w="med"/>
          </a:ln>
        </p:spPr>
      </p:cxnSp>
      <p:sp>
        <p:nvSpPr>
          <p:cNvPr id="287" name="Shape 17"/>
          <p:cNvSpPr/>
          <p:nvPr/>
        </p:nvSpPr>
        <p:spPr>
          <a:xfrm>
            <a:off x="3586680" y="52509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en-US" sz="1100" strike="noStrike" u="none">
                <a:solidFill>
                  <a:srgbClr val="595959"/>
                </a:solidFill>
                <a:effectLst/>
                <a:uFillTx/>
                <a:latin typeface="メイリオ"/>
                <a:ea typeface="メイリオ"/>
              </a:rPr>
              <a:t>100</a:t>
            </a:r>
            <a:r>
              <a:rPr b="0" lang="ja-JP" sz="1100" strike="noStrike" u="none">
                <a:solidFill>
                  <a:srgbClr val="595959"/>
                </a:solidFill>
                <a:effectLst/>
                <a:uFillTx/>
                <a:latin typeface="メイリオ"/>
                <a:ea typeface="メイリオ"/>
              </a:rPr>
              <a:t>円チェッカー</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（名前・電話番号は不要）</a:t>
            </a:r>
            <a:endParaRPr b="0" lang="en-US" sz="1100" strike="noStrike" u="none">
              <a:solidFill>
                <a:srgbClr val="000000"/>
              </a:solidFill>
              <a:effectLst/>
              <a:uFillTx/>
              <a:latin typeface="Arial"/>
            </a:endParaRPr>
          </a:p>
        </p:txBody>
      </p:sp>
      <p:sp>
        <p:nvSpPr>
          <p:cNvPr id="288" name="Shape 18"/>
          <p:cNvSpPr/>
          <p:nvPr/>
        </p:nvSpPr>
        <p:spPr>
          <a:xfrm>
            <a:off x="5635800" y="52509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en-US" sz="1100" strike="noStrike" u="none">
                <a:solidFill>
                  <a:srgbClr val="595959"/>
                </a:solidFill>
                <a:effectLst/>
                <a:uFillTx/>
                <a:latin typeface="メイリオ"/>
                <a:ea typeface="メイリオ"/>
              </a:rPr>
              <a:t>→ 物件の送信</a:t>
            </a:r>
            <a:endParaRPr b="0" lang="en-US" sz="1100" strike="noStrike" u="none">
              <a:solidFill>
                <a:srgbClr val="000000"/>
              </a:solidFill>
              <a:effectLst/>
              <a:uFillTx/>
              <a:latin typeface="Arial"/>
            </a:endParaRPr>
          </a:p>
        </p:txBody>
      </p:sp>
      <p:cxnSp>
        <p:nvCxnSpPr>
          <p:cNvPr id="289" name="直線矢印コネクタ 58"/>
          <p:cNvCxnSpPr>
            <a:stCxn id="287" idx="3"/>
            <a:endCxn id="288" idx="1"/>
          </p:cNvCxnSpPr>
          <p:nvPr/>
        </p:nvCxnSpPr>
        <p:spPr>
          <a:xfrm>
            <a:off x="5349960" y="5483880"/>
            <a:ext cx="286200" cy="360"/>
          </a:xfrm>
          <a:prstGeom prst="straightConnector1">
            <a:avLst/>
          </a:prstGeom>
          <a:ln>
            <a:solidFill>
              <a:srgbClr val="000000"/>
            </a:solidFill>
            <a:prstDash val="sysDot"/>
            <a:round/>
            <a:tailEnd len="med" type="triangle" w="med"/>
          </a:ln>
        </p:spPr>
      </p:cxnSp>
      <p:sp>
        <p:nvSpPr>
          <p:cNvPr id="290" name="Shape 17"/>
          <p:cNvSpPr/>
          <p:nvPr/>
        </p:nvSpPr>
        <p:spPr>
          <a:xfrm>
            <a:off x="3586680" y="58593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zh-CN" sz="1100" strike="noStrike" u="none">
                <a:solidFill>
                  <a:srgbClr val="595959"/>
                </a:solidFill>
                <a:effectLst/>
                <a:uFillTx/>
                <a:latin typeface="メイリオ"/>
                <a:ea typeface="メイリオ"/>
              </a:rPr>
              <a:t>内見済みでも相談可</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（お受けできない場合も）</a:t>
            </a:r>
            <a:endParaRPr b="0" lang="en-US" sz="1100" strike="noStrike" u="none">
              <a:solidFill>
                <a:srgbClr val="000000"/>
              </a:solidFill>
              <a:effectLst/>
              <a:uFillTx/>
              <a:latin typeface="Arial"/>
            </a:endParaRPr>
          </a:p>
        </p:txBody>
      </p:sp>
      <p:sp>
        <p:nvSpPr>
          <p:cNvPr id="291" name="Shape 18"/>
          <p:cNvSpPr/>
          <p:nvPr/>
        </p:nvSpPr>
        <p:spPr>
          <a:xfrm>
            <a:off x="5635800" y="58593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en-US" sz="1100" strike="noStrike" u="none">
                <a:solidFill>
                  <a:srgbClr val="595959"/>
                </a:solidFill>
                <a:effectLst/>
                <a:uFillTx/>
                <a:latin typeface="メイリオ"/>
                <a:ea typeface="メイリオ"/>
              </a:rPr>
              <a:t>→ 物件の送信</a:t>
            </a:r>
            <a:endParaRPr b="0" lang="en-US" sz="1100" strike="noStrike" u="none">
              <a:solidFill>
                <a:srgbClr val="000000"/>
              </a:solidFill>
              <a:effectLst/>
              <a:uFillTx/>
              <a:latin typeface="Arial"/>
            </a:endParaRPr>
          </a:p>
        </p:txBody>
      </p:sp>
      <p:cxnSp>
        <p:nvCxnSpPr>
          <p:cNvPr id="292" name="直線矢印コネクタ 61"/>
          <p:cNvCxnSpPr>
            <a:stCxn id="290" idx="3"/>
            <a:endCxn id="291" idx="1"/>
          </p:cNvCxnSpPr>
          <p:nvPr/>
        </p:nvCxnSpPr>
        <p:spPr>
          <a:xfrm>
            <a:off x="5349960" y="6092280"/>
            <a:ext cx="286200" cy="360"/>
          </a:xfrm>
          <a:prstGeom prst="straightConnector1">
            <a:avLst/>
          </a:prstGeom>
          <a:ln>
            <a:solidFill>
              <a:srgbClr val="000000"/>
            </a:solidFill>
            <a:prstDash val="sysDot"/>
            <a:round/>
            <a:tailEnd len="med" type="triangle" w="med"/>
          </a:ln>
        </p:spPr>
      </p:cxnSp>
      <p:sp>
        <p:nvSpPr>
          <p:cNvPr id="293" name="テキスト ボックス 67"/>
          <p:cNvSpPr/>
          <p:nvPr/>
        </p:nvSpPr>
        <p:spPr>
          <a:xfrm>
            <a:off x="556200" y="603360"/>
            <a:ext cx="8793360" cy="731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新しい友だちには物件の送り方を、今の友だちには配信とリッチメニューで問い合わせのきっかけを届けます。</a:t>
            </a:r>
            <a:endParaRPr b="0" lang="en-US" sz="1300" strike="noStrike" u="none">
              <a:solidFill>
                <a:srgbClr val="000000"/>
              </a:solidFill>
              <a:effectLst/>
              <a:uFillTx/>
              <a:latin typeface="Arial"/>
            </a:endParaRPr>
          </a:p>
          <a:p>
            <a:pPr algn="ctr" defTabSz="914400">
              <a:lnSpc>
                <a:spcPct val="100000"/>
              </a:lnSpc>
            </a:pPr>
            <a:r>
              <a:rPr b="1" lang="ja-JP" sz="1300" strike="noStrike" u="none">
                <a:solidFill>
                  <a:schemeClr val="dk1">
                    <a:lumMod val="65000"/>
                    <a:lumOff val="35000"/>
                  </a:schemeClr>
                </a:solidFill>
                <a:effectLst/>
                <a:uFillTx/>
                <a:latin typeface="メイリオ"/>
                <a:ea typeface="メイリオ"/>
              </a:rPr>
              <a:t>「どの物件が対象か」が分からないこと</a:t>
            </a:r>
            <a:r>
              <a:rPr b="0" lang="ja-JP" sz="1300" strike="noStrike" u="none">
                <a:solidFill>
                  <a:schemeClr val="dk1">
                    <a:lumMod val="65000"/>
                    <a:lumOff val="35000"/>
                  </a:schemeClr>
                </a:solidFill>
                <a:effectLst/>
                <a:uFillTx/>
                <a:latin typeface="メイリオ"/>
                <a:ea typeface="メイリオ"/>
              </a:rPr>
              <a:t>がハードルになっていると考え、</a:t>
            </a:r>
            <a:r>
              <a:rPr b="0" lang="en-US" sz="1300" strike="noStrike" u="none">
                <a:solidFill>
                  <a:schemeClr val="dk1">
                    <a:lumMod val="65000"/>
                    <a:lumOff val="35000"/>
                  </a:schemeClr>
                </a:solidFill>
                <a:effectLst/>
                <a:uFillTx/>
                <a:latin typeface="メイリオ"/>
                <a:ea typeface="メイリオ"/>
              </a:rPr>
              <a:t>100</a:t>
            </a:r>
            <a:r>
              <a:rPr b="0" lang="ja-JP" sz="1300" strike="noStrike" u="none">
                <a:solidFill>
                  <a:schemeClr val="dk1">
                    <a:lumMod val="65000"/>
                    <a:lumOff val="35000"/>
                  </a:schemeClr>
                </a:solidFill>
                <a:effectLst/>
                <a:uFillTx/>
                <a:latin typeface="メイリオ"/>
                <a:ea typeface="メイリオ"/>
              </a:rPr>
              <a:t>円チェッカーを前面に出します。</a:t>
            </a:r>
            <a:endParaRPr b="0" lang="en-US" sz="1300" strike="noStrike" u="none">
              <a:solidFill>
                <a:srgbClr val="000000"/>
              </a:solidFill>
              <a:effectLst/>
              <a:uFillTx/>
              <a:latin typeface="Arial"/>
            </a:endParaRPr>
          </a:p>
          <a:p>
            <a:pPr algn="ctr" defTabSz="914400">
              <a:lnSpc>
                <a:spcPct val="100000"/>
              </a:lnSpc>
            </a:pPr>
            <a:r>
              <a:rPr b="0" lang="en-US" sz="1100" strike="noStrike" u="none">
                <a:solidFill>
                  <a:srgbClr val="595959"/>
                </a:solidFill>
                <a:effectLst/>
                <a:uFillTx/>
                <a:latin typeface="メイリオ"/>
                <a:ea typeface="メイリオ"/>
              </a:rPr>
              <a:t>※試算の定義：物件を送る方の割合＝問い合わせ①</a:t>
            </a:r>
            <a:r>
              <a:rPr b="0" lang="en-US" sz="1100" strike="noStrike" u="none">
                <a:solidFill>
                  <a:srgbClr val="595959"/>
                </a:solidFill>
                <a:effectLst/>
                <a:uFillTx/>
                <a:latin typeface="メイリオ"/>
                <a:ea typeface="メイリオ"/>
              </a:rPr>
              <a:t>÷</a:t>
            </a:r>
            <a:r>
              <a:rPr b="0" lang="ja-JP" sz="1100" strike="noStrike" u="none">
                <a:solidFill>
                  <a:srgbClr val="595959"/>
                </a:solidFill>
                <a:effectLst/>
                <a:uFillTx/>
                <a:latin typeface="メイリオ"/>
                <a:ea typeface="メイリオ"/>
              </a:rPr>
              <a:t>新しい友だち／</a:t>
            </a:r>
            <a:r>
              <a:rPr b="0" lang="en-US" sz="1100" strike="noStrike" u="none">
                <a:solidFill>
                  <a:srgbClr val="595959"/>
                </a:solidFill>
                <a:effectLst/>
                <a:uFillTx/>
                <a:latin typeface="メイリオ"/>
                <a:ea typeface="メイリオ"/>
              </a:rPr>
              <a:t>CVR</a:t>
            </a:r>
            <a:r>
              <a:rPr b="0" lang="ja-JP" sz="1100" strike="noStrike" u="none">
                <a:solidFill>
                  <a:srgbClr val="595959"/>
                </a:solidFill>
                <a:effectLst/>
                <a:uFillTx/>
                <a:latin typeface="メイリオ"/>
                <a:ea typeface="メイリオ"/>
              </a:rPr>
              <a:t>＝問い合わせ②</a:t>
            </a:r>
            <a:r>
              <a:rPr b="0" lang="en-US" sz="1100" strike="noStrike" u="none">
                <a:solidFill>
                  <a:srgbClr val="595959"/>
                </a:solidFill>
                <a:effectLst/>
                <a:uFillTx/>
                <a:latin typeface="メイリオ"/>
                <a:ea typeface="メイリオ"/>
              </a:rPr>
              <a:t>÷</a:t>
            </a:r>
            <a:r>
              <a:rPr b="0" lang="ja-JP" sz="1100" strike="noStrike" u="none">
                <a:solidFill>
                  <a:srgbClr val="595959"/>
                </a:solidFill>
                <a:effectLst/>
                <a:uFillTx/>
                <a:latin typeface="メイリオ"/>
                <a:ea typeface="メイリオ"/>
              </a:rPr>
              <a:t>配信のクリック数</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Google Shape;752;p28"/>
          <p:cNvSpPr/>
          <p:nvPr/>
        </p:nvSpPr>
        <p:spPr>
          <a:xfrm>
            <a:off x="549000" y="138240"/>
            <a:ext cx="702720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en-US" sz="1600" strike="noStrike" u="none">
                <a:solidFill>
                  <a:schemeClr val="dk1">
                    <a:lumMod val="50000"/>
                    <a:lumOff val="50000"/>
                  </a:schemeClr>
                </a:solidFill>
                <a:effectLst/>
                <a:uFillTx/>
                <a:latin typeface="Meiryo"/>
                <a:ea typeface="Meiryo"/>
              </a:rPr>
              <a:t>LINE</a:t>
            </a:r>
            <a:r>
              <a:rPr b="1" lang="ja-JP" sz="1600" strike="noStrike" u="none">
                <a:solidFill>
                  <a:schemeClr val="dk1">
                    <a:lumMod val="50000"/>
                    <a:lumOff val="50000"/>
                  </a:schemeClr>
                </a:solidFill>
                <a:effectLst/>
                <a:uFillTx/>
                <a:latin typeface="Meiryo"/>
                <a:ea typeface="Meiryo"/>
              </a:rPr>
              <a:t>施策における重要な考え方</a:t>
            </a:r>
            <a:endParaRPr b="0" lang="en-US" sz="1600" strike="noStrike" u="none">
              <a:solidFill>
                <a:srgbClr val="000000"/>
              </a:solidFill>
              <a:effectLst/>
              <a:uFillTx/>
              <a:latin typeface="Arial"/>
            </a:endParaRPr>
          </a:p>
        </p:txBody>
      </p:sp>
      <p:sp>
        <p:nvSpPr>
          <p:cNvPr id="295" name="正方形/長方形 6"/>
          <p:cNvSpPr/>
          <p:nvPr/>
        </p:nvSpPr>
        <p:spPr>
          <a:xfrm>
            <a:off x="275040" y="1728000"/>
            <a:ext cx="9355680" cy="139104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2400" strike="noStrike" u="none">
                <a:solidFill>
                  <a:schemeClr val="dk1">
                    <a:lumMod val="50000"/>
                    <a:lumOff val="50000"/>
                  </a:schemeClr>
                </a:solidFill>
                <a:effectLst/>
                <a:uFillTx/>
                <a:latin typeface="メイリオ"/>
                <a:ea typeface="メイリオ"/>
              </a:rPr>
              <a:t>既存友だち</a:t>
            </a:r>
            <a:r>
              <a:rPr b="0" lang="ja-JP" sz="2400" strike="noStrike" u="none">
                <a:solidFill>
                  <a:schemeClr val="dk1">
                    <a:lumMod val="50000"/>
                    <a:lumOff val="50000"/>
                  </a:schemeClr>
                </a:solidFill>
                <a:effectLst/>
                <a:uFillTx/>
                <a:latin typeface="メイリオ"/>
                <a:ea typeface="メイリオ"/>
              </a:rPr>
              <a:t>のメッセージ配信を拡大＆検証し</a:t>
            </a:r>
            <a:endParaRPr b="0" lang="en-US" sz="2400" strike="noStrike" u="none">
              <a:solidFill>
                <a:srgbClr val="000000"/>
              </a:solidFill>
              <a:effectLst/>
              <a:uFillTx/>
              <a:latin typeface="Arial"/>
            </a:endParaRPr>
          </a:p>
          <a:p>
            <a:pPr algn="ctr" defTabSz="914400">
              <a:lnSpc>
                <a:spcPct val="100000"/>
              </a:lnSpc>
            </a:pPr>
            <a:r>
              <a:rPr b="0" lang="ja-JP" sz="2400" strike="noStrike" u="none">
                <a:solidFill>
                  <a:schemeClr val="dk1">
                    <a:lumMod val="50000"/>
                    <a:lumOff val="50000"/>
                  </a:schemeClr>
                </a:solidFill>
                <a:effectLst/>
                <a:uFillTx/>
                <a:latin typeface="メイリオ"/>
                <a:ea typeface="メイリオ"/>
              </a:rPr>
              <a:t>課金対効果を向上する</a:t>
            </a:r>
            <a:endParaRPr b="0" lang="en-US" sz="2400" strike="noStrike" u="none">
              <a:solidFill>
                <a:srgbClr val="000000"/>
              </a:solidFill>
              <a:effectLst/>
              <a:uFillTx/>
              <a:latin typeface="Arial"/>
            </a:endParaRPr>
          </a:p>
        </p:txBody>
      </p:sp>
      <p:sp>
        <p:nvSpPr>
          <p:cNvPr id="296" name="正方形/長方形 8"/>
          <p:cNvSpPr/>
          <p:nvPr/>
        </p:nvSpPr>
        <p:spPr>
          <a:xfrm>
            <a:off x="275040" y="3222000"/>
            <a:ext cx="9355680" cy="139104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2400" strike="noStrike" u="none">
                <a:solidFill>
                  <a:schemeClr val="dk1">
                    <a:lumMod val="50000"/>
                    <a:lumOff val="50000"/>
                  </a:schemeClr>
                </a:solidFill>
                <a:effectLst/>
                <a:uFillTx/>
                <a:latin typeface="メイリオ"/>
                <a:ea typeface="メイリオ"/>
              </a:rPr>
              <a:t>新規友だち</a:t>
            </a:r>
            <a:r>
              <a:rPr b="0" lang="ja-JP" sz="2400" strike="noStrike" u="none">
                <a:solidFill>
                  <a:schemeClr val="dk1">
                    <a:lumMod val="50000"/>
                    <a:lumOff val="50000"/>
                  </a:schemeClr>
                </a:solidFill>
                <a:effectLst/>
                <a:uFillTx/>
                <a:latin typeface="メイリオ"/>
                <a:ea typeface="メイリオ"/>
              </a:rPr>
              <a:t>の追加動線を拡大</a:t>
            </a:r>
            <a:r>
              <a:rPr b="0" lang="en-US" sz="2400" strike="noStrike" u="none">
                <a:solidFill>
                  <a:schemeClr val="dk1">
                    <a:lumMod val="50000"/>
                    <a:lumOff val="50000"/>
                  </a:schemeClr>
                </a:solidFill>
                <a:effectLst/>
                <a:uFillTx/>
                <a:latin typeface="メイリオ"/>
                <a:ea typeface="メイリオ"/>
              </a:rPr>
              <a:t>&amp;</a:t>
            </a:r>
            <a:r>
              <a:rPr b="0" lang="ja-JP" sz="2400" strike="noStrike" u="none">
                <a:solidFill>
                  <a:schemeClr val="dk1">
                    <a:lumMod val="50000"/>
                    <a:lumOff val="50000"/>
                  </a:schemeClr>
                </a:solidFill>
                <a:effectLst/>
                <a:uFillTx/>
                <a:latin typeface="メイリオ"/>
                <a:ea typeface="メイリオ"/>
              </a:rPr>
              <a:t>整備し</a:t>
            </a:r>
            <a:endParaRPr b="0" lang="en-US" sz="2400" strike="noStrike" u="none">
              <a:solidFill>
                <a:srgbClr val="000000"/>
              </a:solidFill>
              <a:effectLst/>
              <a:uFillTx/>
              <a:latin typeface="Arial"/>
            </a:endParaRPr>
          </a:p>
          <a:p>
            <a:pPr algn="ctr" defTabSz="914400">
              <a:lnSpc>
                <a:spcPct val="100000"/>
              </a:lnSpc>
            </a:pPr>
            <a:r>
              <a:rPr b="0" lang="ja-JP" sz="2400" strike="noStrike" u="none">
                <a:solidFill>
                  <a:schemeClr val="dk1">
                    <a:lumMod val="50000"/>
                    <a:lumOff val="50000"/>
                  </a:schemeClr>
                </a:solidFill>
                <a:effectLst/>
                <a:uFillTx/>
                <a:latin typeface="メイリオ"/>
                <a:ea typeface="メイリオ"/>
              </a:rPr>
              <a:t>見込みの高いユーザーのリードを獲得する</a:t>
            </a:r>
            <a:endParaRPr b="0" lang="en-US" sz="2400" strike="noStrike" u="none">
              <a:solidFill>
                <a:srgbClr val="000000"/>
              </a:solidFill>
              <a:effectLst/>
              <a:uFillTx/>
              <a:latin typeface="Arial"/>
            </a:endParaRPr>
          </a:p>
        </p:txBody>
      </p:sp>
      <p:cxnSp>
        <p:nvCxnSpPr>
          <p:cNvPr id="297" name="直線コネクタ 9"/>
          <p:cNvCxnSpPr/>
          <p:nvPr/>
        </p:nvCxnSpPr>
        <p:spPr>
          <a:xfrm>
            <a:off x="1519560" y="1451880"/>
            <a:ext cx="6579360" cy="360"/>
          </a:xfrm>
          <a:prstGeom prst="straightConnector1">
            <a:avLst/>
          </a:prstGeom>
          <a:ln w="12700">
            <a:solidFill>
              <a:srgbClr val="4a7ebb"/>
            </a:solidFill>
            <a:round/>
          </a:ln>
        </p:spPr>
      </p:cxnSp>
      <p:sp>
        <p:nvSpPr>
          <p:cNvPr id="298" name="楕円 12"/>
          <p:cNvSpPr/>
          <p:nvPr/>
        </p:nvSpPr>
        <p:spPr>
          <a:xfrm>
            <a:off x="3756240" y="750960"/>
            <a:ext cx="2021760" cy="589320"/>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dk1">
                  <a:lumMod val="50000"/>
                  <a:lumOff val="50000"/>
                </a:schemeClr>
              </a:solidFill>
              <a:effectLst/>
              <a:uFillTx/>
              <a:latin typeface="Calibri"/>
            </a:endParaRPr>
          </a:p>
        </p:txBody>
      </p:sp>
      <p:sp>
        <p:nvSpPr>
          <p:cNvPr id="299" name="正方形/長方形 13"/>
          <p:cNvSpPr/>
          <p:nvPr/>
        </p:nvSpPr>
        <p:spPr>
          <a:xfrm>
            <a:off x="1502640" y="842760"/>
            <a:ext cx="6647760" cy="4611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ja-JP" sz="2400" strike="noStrike" u="none">
                <a:solidFill>
                  <a:schemeClr val="dk1">
                    <a:lumMod val="50000"/>
                    <a:lumOff val="50000"/>
                  </a:schemeClr>
                </a:solidFill>
                <a:effectLst/>
                <a:uFillTx/>
                <a:latin typeface="メイリオ"/>
                <a:ea typeface="メイリオ"/>
              </a:rPr>
              <a:t>アカウント効果を</a:t>
            </a:r>
            <a:r>
              <a:rPr b="1" lang="ja-JP" sz="2400" strike="noStrike" u="none">
                <a:solidFill>
                  <a:schemeClr val="dk1"/>
                </a:solidFill>
                <a:effectLst/>
                <a:uFillTx/>
                <a:latin typeface="メイリオ"/>
                <a:ea typeface="メイリオ"/>
              </a:rPr>
              <a:t>最大化する</a:t>
            </a:r>
            <a:r>
              <a:rPr b="0" lang="ja-JP" sz="2400" strike="noStrike" u="none">
                <a:solidFill>
                  <a:schemeClr val="dk1">
                    <a:lumMod val="50000"/>
                    <a:lumOff val="50000"/>
                  </a:schemeClr>
                </a:solidFill>
                <a:effectLst/>
                <a:uFillTx/>
                <a:latin typeface="メイリオ"/>
                <a:ea typeface="メイリオ"/>
              </a:rPr>
              <a:t>ためには・・・？</a:t>
            </a:r>
            <a:endParaRPr b="0" lang="en-US" sz="2400" strike="noStrike" u="none">
              <a:solidFill>
                <a:srgbClr val="000000"/>
              </a:solidFill>
              <a:effectLst/>
              <a:uFillTx/>
              <a:latin typeface="Arial"/>
            </a:endParaRPr>
          </a:p>
        </p:txBody>
      </p:sp>
      <p:sp>
        <p:nvSpPr>
          <p:cNvPr id="300" name="下矢印 1"/>
          <p:cNvSpPr/>
          <p:nvPr/>
        </p:nvSpPr>
        <p:spPr>
          <a:xfrm>
            <a:off x="3379680" y="4715640"/>
            <a:ext cx="3195720" cy="421200"/>
          </a:xfrm>
          <a:prstGeom prst="downArrow">
            <a:avLst>
              <a:gd name="adj1" fmla="val 50000"/>
              <a:gd name="adj2" fmla="val 52758"/>
            </a:avLst>
          </a:prstGeom>
          <a:solidFill>
            <a:schemeClr val="bg1">
              <a:lumMod val="95000"/>
            </a:schemeClr>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dk1">
                  <a:lumMod val="50000"/>
                  <a:lumOff val="50000"/>
                </a:schemeClr>
              </a:solidFill>
              <a:effectLst/>
              <a:uFillTx/>
              <a:latin typeface="Calibri"/>
            </a:endParaRPr>
          </a:p>
        </p:txBody>
      </p:sp>
      <p:sp>
        <p:nvSpPr>
          <p:cNvPr id="301" name="正方形/長方形 18"/>
          <p:cNvSpPr/>
          <p:nvPr/>
        </p:nvSpPr>
        <p:spPr>
          <a:xfrm>
            <a:off x="275040" y="5239800"/>
            <a:ext cx="9355680" cy="86688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2400" strike="noStrike" u="none">
                <a:solidFill>
                  <a:schemeClr val="dk1">
                    <a:lumMod val="50000"/>
                    <a:lumOff val="50000"/>
                  </a:schemeClr>
                </a:solidFill>
                <a:effectLst/>
                <a:uFillTx/>
                <a:latin typeface="メイリオ"/>
                <a:ea typeface="メイリオ"/>
              </a:rPr>
              <a:t>WEB</a:t>
            </a:r>
            <a:r>
              <a:rPr b="0" lang="ja-JP" sz="2400" strike="noStrike" u="none">
                <a:solidFill>
                  <a:schemeClr val="dk1">
                    <a:lumMod val="50000"/>
                    <a:lumOff val="50000"/>
                  </a:schemeClr>
                </a:solidFill>
                <a:effectLst/>
                <a:uFillTx/>
                <a:latin typeface="メイリオ"/>
                <a:ea typeface="メイリオ"/>
              </a:rPr>
              <a:t>サイト上情報と連携させ、配信効果を数値化する</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0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304"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要件定義</a:t>
            </a:r>
            <a:endParaRPr b="0" lang="en-US" sz="1600" strike="noStrike" u="none">
              <a:solidFill>
                <a:srgbClr val="000000"/>
              </a:solidFill>
              <a:effectLst/>
              <a:uFillTx/>
              <a:latin typeface="Arial"/>
            </a:endParaRPr>
          </a:p>
        </p:txBody>
      </p:sp>
      <p:sp>
        <p:nvSpPr>
          <p:cNvPr id="305" name="Conclusion"/>
          <p:cNvSpPr/>
          <p:nvPr/>
        </p:nvSpPr>
        <p:spPr>
          <a:xfrm>
            <a:off x="380880" y="5248800"/>
            <a:ext cx="9143640" cy="1243080"/>
          </a:xfrm>
          <a:prstGeom prst="rect">
            <a:avLst/>
          </a:prstGeom>
          <a:solidFill>
            <a:srgbClr val="f0f2f7"/>
          </a:solidFill>
          <a:ln w="0">
            <a:noFill/>
          </a:ln>
        </p:spPr>
        <p:style>
          <a:lnRef idx="0"/>
          <a:fillRef idx="0"/>
          <a:effectRef idx="0"/>
          <a:fontRef idx="minor"/>
        </p:style>
        <p:txBody>
          <a:bodyPr lIns="177840" rIns="177840" tIns="127080" bIns="127080" anchor="t">
            <a:noAutofit/>
          </a:bodyPr>
          <a:p>
            <a:pPr defTabSz="914400">
              <a:lnSpc>
                <a:spcPct val="100000"/>
              </a:lnSpc>
            </a:pPr>
            <a:r>
              <a:rPr b="1" lang="ja-JP" sz="1400" strike="noStrike" u="none">
                <a:solidFill>
                  <a:srgbClr val="1f2a5c"/>
                </a:solidFill>
                <a:effectLst/>
                <a:uFillTx/>
                <a:latin typeface="メイリオ"/>
                <a:ea typeface="メイリオ"/>
              </a:rPr>
              <a:t>結論</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最重要課題は、友だち追加後の問い合わせ獲得（⑤リード有効化）です。あいさつ・リッチメニュー・ステップ配信で「物件を送る」まで案内します。</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サイト離脱対策は、離脱防止ポップアップ・</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ボタンで新しい友だちを増やす課題です。</a:t>
            </a:r>
            <a:endParaRPr b="0" lang="en-US" sz="1400" strike="noStrike" u="none">
              <a:solidFill>
                <a:srgbClr val="000000"/>
              </a:solidFill>
              <a:effectLst/>
              <a:uFillTx/>
              <a:latin typeface="Arial"/>
            </a:endParaRPr>
          </a:p>
        </p:txBody>
      </p:sp>
      <p:sp>
        <p:nvSpPr>
          <p:cNvPr id="306" name="Card1_Num"/>
          <p:cNvSpPr/>
          <p:nvPr/>
        </p:nvSpPr>
        <p:spPr>
          <a:xfrm>
            <a:off x="380880" y="1115640"/>
            <a:ext cx="2920680" cy="529920"/>
          </a:xfrm>
          <a:prstGeom prst="rect">
            <a:avLst/>
          </a:prstGeom>
          <a:solidFill>
            <a:srgbClr val="1f2a5c"/>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01</a:t>
            </a:r>
            <a:endParaRPr b="0" lang="en-US" sz="2400" strike="noStrike" u="none">
              <a:solidFill>
                <a:srgbClr val="ffffff"/>
              </a:solidFill>
              <a:effectLst/>
              <a:uFillTx/>
              <a:latin typeface="Arial"/>
            </a:endParaRPr>
          </a:p>
        </p:txBody>
      </p:sp>
      <p:sp>
        <p:nvSpPr>
          <p:cNvPr id="307" name="Card1_Title"/>
          <p:cNvSpPr/>
          <p:nvPr/>
        </p:nvSpPr>
        <p:spPr>
          <a:xfrm>
            <a:off x="380880" y="1645920"/>
            <a:ext cx="2920680" cy="438480"/>
          </a:xfrm>
          <a:prstGeom prst="rect">
            <a:avLst/>
          </a:prstGeom>
          <a:solidFill>
            <a:srgbClr val="ffffff"/>
          </a:solidFill>
          <a:ln w="6350">
            <a:solidFill>
              <a:srgbClr val="1f2a5c"/>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1f2a5c"/>
                </a:solidFill>
                <a:effectLst/>
                <a:uFillTx/>
                <a:latin typeface="Calibri"/>
              </a:rPr>
              <a:t>サイト訪問者の取りこぼし</a:t>
            </a:r>
            <a:endParaRPr b="0" lang="en-US" sz="1400" strike="noStrike" u="none">
              <a:solidFill>
                <a:srgbClr val="000000"/>
              </a:solidFill>
              <a:effectLst/>
              <a:uFillTx/>
              <a:latin typeface="Arial"/>
            </a:endParaRPr>
          </a:p>
        </p:txBody>
      </p:sp>
      <p:sp>
        <p:nvSpPr>
          <p:cNvPr id="308" name="Card1_Body"/>
          <p:cNvSpPr/>
          <p:nvPr/>
        </p:nvSpPr>
        <p:spPr>
          <a:xfrm>
            <a:off x="380880" y="2084760"/>
            <a:ext cx="2920680" cy="310860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・サイトの月間訪問者（</a:t>
            </a:r>
            <a:r>
              <a:rPr b="0" lang="en-US" sz="1400" strike="noStrike" u="none">
                <a:solidFill>
                  <a:srgbClr val="333333"/>
                </a:solidFill>
                <a:effectLst/>
                <a:uFillTx/>
                <a:latin typeface="Calibri"/>
              </a:rPr>
              <a:t>UU</a:t>
            </a:r>
            <a:r>
              <a:rPr b="0" lang="ja-JP" sz="1400" strike="noStrike" u="none">
                <a:solidFill>
                  <a:srgbClr val="333333"/>
                </a:solidFill>
                <a:effectLst/>
                <a:uFillTx/>
                <a:latin typeface="Calibri"/>
              </a:rPr>
              <a:t>）は</a:t>
            </a:r>
            <a:r>
              <a:rPr b="0" lang="en-US" sz="1400" strike="noStrike" u="none">
                <a:solidFill>
                  <a:srgbClr val="333333"/>
                </a:solidFill>
                <a:effectLst/>
                <a:uFillTx/>
                <a:latin typeface="Calibri"/>
              </a:rPr>
              <a:t>1,737</a:t>
            </a:r>
            <a:r>
              <a:rPr b="0" lang="ja-JP" sz="1400" strike="noStrike" u="none">
                <a:solidFill>
                  <a:srgbClr val="333333"/>
                </a:solidFill>
                <a:effectLst/>
                <a:uFillTx/>
                <a:latin typeface="Calibri"/>
              </a:rPr>
              <a:t>。広告は出しておらず、友だちの入口はサイトの「</a:t>
            </a:r>
            <a:r>
              <a:rPr b="0" lang="en-US" sz="1400" strike="noStrike" u="none">
                <a:solidFill>
                  <a:srgbClr val="333333"/>
                </a:solidFill>
                <a:effectLst/>
                <a:uFillTx/>
                <a:latin typeface="Calibri"/>
              </a:rPr>
              <a:t>LINE</a:t>
            </a:r>
            <a:r>
              <a:rPr b="0" lang="ja-JP" sz="1400" strike="noStrike" u="none">
                <a:solidFill>
                  <a:srgbClr val="333333"/>
                </a:solidFill>
                <a:effectLst/>
                <a:uFillTx/>
                <a:latin typeface="Calibri"/>
              </a:rPr>
              <a:t>でお問い合わせ」ボタンだけ</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・問い合わせずにサイトを離れる方へ、もう一度案内する手段がない</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・友だちは</a:t>
            </a:r>
            <a:r>
              <a:rPr b="0" lang="en-US" sz="1400" strike="noStrike" u="none">
                <a:solidFill>
                  <a:srgbClr val="333333"/>
                </a:solidFill>
                <a:effectLst/>
                <a:uFillTx/>
                <a:latin typeface="Calibri"/>
              </a:rPr>
              <a:t>1,241</a:t>
            </a:r>
            <a:r>
              <a:rPr b="0" lang="ja-JP" sz="1400" strike="noStrike" u="none">
                <a:solidFill>
                  <a:srgbClr val="333333"/>
                </a:solidFill>
                <a:effectLst/>
                <a:uFillTx/>
                <a:latin typeface="Calibri"/>
              </a:rPr>
              <a:t>人で、増やす仕組みが少ない</a:t>
            </a:r>
            <a:endParaRPr b="0" lang="en-US" sz="1400" strike="noStrike" u="none">
              <a:solidFill>
                <a:srgbClr val="000000"/>
              </a:solidFill>
              <a:effectLst/>
              <a:uFillTx/>
              <a:latin typeface="Arial"/>
            </a:endParaRPr>
          </a:p>
        </p:txBody>
      </p:sp>
      <p:sp>
        <p:nvSpPr>
          <p:cNvPr id="309" name="Card2_Num"/>
          <p:cNvSpPr/>
          <p:nvPr/>
        </p:nvSpPr>
        <p:spPr>
          <a:xfrm>
            <a:off x="3492360" y="1115640"/>
            <a:ext cx="2920680" cy="529920"/>
          </a:xfrm>
          <a:prstGeom prst="rect">
            <a:avLst/>
          </a:prstGeom>
          <a:solidFill>
            <a:srgbClr val="4a6fa5"/>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02</a:t>
            </a:r>
            <a:endParaRPr b="0" lang="en-US" sz="2400" strike="noStrike" u="none">
              <a:solidFill>
                <a:srgbClr val="ffffff"/>
              </a:solidFill>
              <a:effectLst/>
              <a:uFillTx/>
              <a:latin typeface="Arial"/>
            </a:endParaRPr>
          </a:p>
        </p:txBody>
      </p:sp>
      <p:sp>
        <p:nvSpPr>
          <p:cNvPr id="310" name="Card2_Title"/>
          <p:cNvSpPr/>
          <p:nvPr/>
        </p:nvSpPr>
        <p:spPr>
          <a:xfrm>
            <a:off x="3492360" y="1645920"/>
            <a:ext cx="2920680" cy="438480"/>
          </a:xfrm>
          <a:prstGeom prst="rect">
            <a:avLst/>
          </a:prstGeom>
          <a:solidFill>
            <a:srgbClr val="ffffff"/>
          </a:solidFill>
          <a:ln w="6350">
            <a:solidFill>
              <a:srgbClr val="4a6fa5"/>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4a6fa5"/>
                </a:solidFill>
                <a:effectLst/>
                <a:uFillTx/>
                <a:latin typeface="Calibri"/>
              </a:rPr>
              <a:t>問い合わせへの心理的ハードル</a:t>
            </a:r>
            <a:endParaRPr b="0" lang="en-US" sz="1400" strike="noStrike" u="none">
              <a:solidFill>
                <a:srgbClr val="000000"/>
              </a:solidFill>
              <a:effectLst/>
              <a:uFillTx/>
              <a:latin typeface="Arial"/>
            </a:endParaRPr>
          </a:p>
        </p:txBody>
      </p:sp>
      <p:sp>
        <p:nvSpPr>
          <p:cNvPr id="311" name="Card2_Body"/>
          <p:cNvSpPr/>
          <p:nvPr/>
        </p:nvSpPr>
        <p:spPr>
          <a:xfrm>
            <a:off x="3492360" y="2084760"/>
            <a:ext cx="2920680" cy="310860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・「どの物件が対象か」「本当に</a:t>
            </a:r>
            <a:r>
              <a:rPr b="0" lang="en-US" sz="1400" strike="noStrike" u="none">
                <a:solidFill>
                  <a:srgbClr val="333333"/>
                </a:solidFill>
                <a:effectLst/>
                <a:uFillTx/>
                <a:latin typeface="Calibri"/>
              </a:rPr>
              <a:t>100</a:t>
            </a:r>
            <a:r>
              <a:rPr b="0" lang="ja-JP" sz="1400" strike="noStrike" u="none">
                <a:solidFill>
                  <a:srgbClr val="333333"/>
                </a:solidFill>
                <a:effectLst/>
                <a:uFillTx/>
                <a:latin typeface="Calibri"/>
              </a:rPr>
              <a:t>円になるか」が分からないと、物件を送るのをためらう可能性がある</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・内見予約のやり取りは、電話（</a:t>
            </a:r>
            <a:r>
              <a:rPr b="0" lang="en-US" sz="1400" strike="noStrike" u="none">
                <a:solidFill>
                  <a:srgbClr val="333333"/>
                </a:solidFill>
                <a:effectLst/>
                <a:uFillTx/>
                <a:latin typeface="Calibri"/>
              </a:rPr>
              <a:t>33.4</a:t>
            </a:r>
            <a:r>
              <a:rPr b="0" lang="ja-JP" sz="1400" strike="noStrike" u="none">
                <a:solidFill>
                  <a:srgbClr val="333333"/>
                </a:solidFill>
                <a:effectLst/>
                <a:uFillTx/>
                <a:latin typeface="Calibri"/>
              </a:rPr>
              <a:t>％）よりメール・</a:t>
            </a:r>
            <a:r>
              <a:rPr b="0" lang="en-US" sz="1400" strike="noStrike" u="none">
                <a:solidFill>
                  <a:srgbClr val="333333"/>
                </a:solidFill>
                <a:effectLst/>
                <a:uFillTx/>
                <a:latin typeface="Calibri"/>
              </a:rPr>
              <a:t>SMS</a:t>
            </a:r>
            <a:r>
              <a:rPr b="0" lang="ja-JP" sz="1400" strike="noStrike" u="none">
                <a:solidFill>
                  <a:srgbClr val="333333"/>
                </a:solidFill>
                <a:effectLst/>
                <a:uFillTx/>
                <a:latin typeface="Calibri"/>
              </a:rPr>
              <a:t>（</a:t>
            </a:r>
            <a:r>
              <a:rPr b="0" lang="en-US" sz="1400" strike="noStrike" u="none">
                <a:solidFill>
                  <a:srgbClr val="333333"/>
                </a:solidFill>
                <a:effectLst/>
                <a:uFillTx/>
                <a:latin typeface="Calibri"/>
              </a:rPr>
              <a:t>52.6</a:t>
            </a:r>
            <a:r>
              <a:rPr b="0" lang="ja-JP" sz="1400" strike="noStrike" u="none">
                <a:solidFill>
                  <a:srgbClr val="333333"/>
                </a:solidFill>
                <a:effectLst/>
                <a:uFillTx/>
                <a:latin typeface="Calibri"/>
              </a:rPr>
              <a:t>％）を希望する方が多い（出典は</a:t>
            </a:r>
            <a:r>
              <a:rPr b="0" lang="en-US" sz="1400" strike="noStrike" u="none">
                <a:solidFill>
                  <a:srgbClr val="333333"/>
                </a:solidFill>
                <a:effectLst/>
                <a:uFillTx/>
                <a:latin typeface="Calibri"/>
              </a:rPr>
              <a:t>6</a:t>
            </a:r>
            <a:r>
              <a:rPr b="0" lang="ja-JP" sz="1400" strike="noStrike" u="none">
                <a:solidFill>
                  <a:srgbClr val="333333"/>
                </a:solidFill>
                <a:effectLst/>
                <a:uFillTx/>
                <a:latin typeface="Calibri"/>
              </a:rPr>
              <a:t>ページ）</a:t>
            </a:r>
            <a:endParaRPr b="0" lang="en-US" sz="1400" strike="noStrike" u="none">
              <a:solidFill>
                <a:srgbClr val="000000"/>
              </a:solidFill>
              <a:effectLst/>
              <a:uFillTx/>
              <a:latin typeface="Arial"/>
            </a:endParaRPr>
          </a:p>
        </p:txBody>
      </p:sp>
      <p:sp>
        <p:nvSpPr>
          <p:cNvPr id="312" name="Card3_Num"/>
          <p:cNvSpPr/>
          <p:nvPr/>
        </p:nvSpPr>
        <p:spPr>
          <a:xfrm>
            <a:off x="6603840" y="1115640"/>
            <a:ext cx="2920680" cy="529920"/>
          </a:xfrm>
          <a:prstGeom prst="rect">
            <a:avLst/>
          </a:prstGeom>
          <a:solidFill>
            <a:schemeClr val="bg1">
              <a:lumMod val="75000"/>
            </a:schemeClr>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03</a:t>
            </a:r>
            <a:endParaRPr b="0" lang="en-US" sz="2400" strike="noStrike" u="none">
              <a:solidFill>
                <a:srgbClr val="000000"/>
              </a:solidFill>
              <a:effectLst/>
              <a:uFillTx/>
              <a:latin typeface="Arial"/>
            </a:endParaRPr>
          </a:p>
        </p:txBody>
      </p:sp>
      <p:sp>
        <p:nvSpPr>
          <p:cNvPr id="313" name="Card3_Title"/>
          <p:cNvSpPr/>
          <p:nvPr/>
        </p:nvSpPr>
        <p:spPr>
          <a:xfrm>
            <a:off x="6603840" y="1645920"/>
            <a:ext cx="2920680" cy="438480"/>
          </a:xfrm>
          <a:prstGeom prst="rect">
            <a:avLst/>
          </a:prstGeom>
          <a:solidFill>
            <a:srgbClr val="ffffff"/>
          </a:solidFill>
          <a:ln w="6350">
            <a:solidFill>
              <a:srgbClr val="ffffff">
                <a:lumMod val="75000"/>
              </a:srgbClr>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chemeClr val="dk1">
                    <a:lumMod val="65000"/>
                    <a:lumOff val="35000"/>
                  </a:schemeClr>
                </a:solidFill>
                <a:effectLst/>
                <a:uFillTx/>
                <a:latin typeface="Calibri"/>
              </a:rPr>
              <a:t>友だち追加後の配信・導線不足</a:t>
            </a:r>
            <a:endParaRPr b="0" lang="en-US" sz="1400" strike="noStrike" u="none">
              <a:solidFill>
                <a:srgbClr val="000000"/>
              </a:solidFill>
              <a:effectLst/>
              <a:uFillTx/>
              <a:latin typeface="Arial"/>
            </a:endParaRPr>
          </a:p>
        </p:txBody>
      </p:sp>
      <p:sp>
        <p:nvSpPr>
          <p:cNvPr id="314" name="Card3_Body"/>
          <p:cNvSpPr/>
          <p:nvPr/>
        </p:nvSpPr>
        <p:spPr>
          <a:xfrm>
            <a:off x="6603840" y="2084760"/>
            <a:ext cx="2920680" cy="310860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・リッチメニューが未設置で、友だち追加後に次の行動へ進むボタンがない</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・あいさつは物件名・</a:t>
            </a:r>
            <a:r>
              <a:rPr b="0" lang="en-US" sz="1400" strike="noStrike" u="none">
                <a:solidFill>
                  <a:srgbClr val="333333"/>
                </a:solidFill>
                <a:effectLst/>
                <a:uFillTx/>
                <a:latin typeface="Calibri"/>
              </a:rPr>
              <a:t>URL</a:t>
            </a:r>
            <a:r>
              <a:rPr b="0" lang="ja-JP" sz="1400" strike="noStrike" u="none">
                <a:solidFill>
                  <a:srgbClr val="333333"/>
                </a:solidFill>
                <a:effectLst/>
                <a:uFillTx/>
                <a:latin typeface="Calibri"/>
              </a:rPr>
              <a:t>の送信のお願いが中心で、</a:t>
            </a:r>
            <a:br>
              <a:rPr sz="1400"/>
            </a:br>
            <a:r>
              <a:rPr b="0" lang="ja-JP" sz="1400" strike="noStrike" u="none">
                <a:solidFill>
                  <a:srgbClr val="333333"/>
                </a:solidFill>
                <a:effectLst/>
                <a:uFillTx/>
                <a:latin typeface="Calibri"/>
              </a:rPr>
              <a:t>送るメリットや安心材料が伝わりにくい</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・物件を送らなかった方へ、続けて案内する配信の設計が必要</a:t>
            </a:r>
            <a:endParaRPr b="0" lang="en-US" sz="1400" strike="noStrike" u="none">
              <a:solidFill>
                <a:srgbClr val="000000"/>
              </a:solidFill>
              <a:effectLst/>
              <a:uFillTx/>
              <a:latin typeface="Arial"/>
            </a:endParaRPr>
          </a:p>
        </p:txBody>
      </p:sp>
      <p:sp>
        <p:nvSpPr>
          <p:cNvPr id="315" name="課題の区分：新規友だち獲得"/>
          <p:cNvSpPr/>
          <p:nvPr/>
        </p:nvSpPr>
        <p:spPr>
          <a:xfrm>
            <a:off x="384120" y="658440"/>
            <a:ext cx="2916720" cy="383760"/>
          </a:xfrm>
          <a:prstGeom prst="rect">
            <a:avLst/>
          </a:prstGeom>
          <a:solidFill>
            <a:srgbClr val="ffffff"/>
          </a:solidFill>
          <a:ln w="15875">
            <a:solidFill>
              <a:srgbClr val="1f285a"/>
            </a:solidFill>
            <a:round/>
          </a:ln>
        </p:spPr>
        <p:style>
          <a:lnRef idx="0"/>
          <a:fillRef idx="0"/>
          <a:effectRef idx="0"/>
          <a:fontRef idx="minor"/>
        </p:style>
        <p:txBody>
          <a:bodyPr lIns="27360" rIns="27360" tIns="18360" bIns="18360" anchor="ctr">
            <a:noAutofit/>
          </a:bodyPr>
          <a:p>
            <a:pPr algn="ctr" defTabSz="914400">
              <a:lnSpc>
                <a:spcPct val="100000"/>
              </a:lnSpc>
            </a:pPr>
            <a:r>
              <a:rPr b="1" lang="ja-JP" sz="1200" strike="noStrike" u="none">
                <a:solidFill>
                  <a:srgbClr val="1f285a"/>
                </a:solidFill>
                <a:effectLst/>
                <a:uFillTx/>
                <a:latin typeface="メイリオ"/>
                <a:ea typeface="メイリオ"/>
              </a:rPr>
              <a:t>新規友だち獲得（②サイト離脱対策）</a:t>
            </a:r>
            <a:endParaRPr b="0" lang="en-US" sz="1200" strike="noStrike" u="none">
              <a:solidFill>
                <a:srgbClr val="000000"/>
              </a:solidFill>
              <a:effectLst/>
              <a:uFillTx/>
              <a:latin typeface="Arial"/>
            </a:endParaRPr>
          </a:p>
        </p:txBody>
      </p:sp>
      <p:sp>
        <p:nvSpPr>
          <p:cNvPr id="316" name="課題の区分：最重要（リード有効化）"/>
          <p:cNvSpPr/>
          <p:nvPr/>
        </p:nvSpPr>
        <p:spPr>
          <a:xfrm>
            <a:off x="3493080" y="658440"/>
            <a:ext cx="6025680" cy="383760"/>
          </a:xfrm>
          <a:prstGeom prst="rect">
            <a:avLst/>
          </a:prstGeom>
          <a:solidFill>
            <a:srgbClr val="c00000"/>
          </a:solidFill>
          <a:ln w="0">
            <a:noFill/>
          </a:ln>
        </p:spPr>
        <p:style>
          <a:lnRef idx="0"/>
          <a:fillRef idx="0"/>
          <a:effectRef idx="0"/>
          <a:fontRef idx="minor"/>
        </p:style>
        <p:txBody>
          <a:bodyPr lIns="45720" rIns="45720" tIns="18360" bIns="18360" anchor="ctr">
            <a:noAutofit/>
          </a:bodyPr>
          <a:p>
            <a:pPr algn="ctr" defTabSz="914400">
              <a:lnSpc>
                <a:spcPct val="100000"/>
              </a:lnSpc>
            </a:pPr>
            <a:r>
              <a:rPr b="1" lang="ja-JP" sz="1400" strike="noStrike" u="none">
                <a:solidFill>
                  <a:srgbClr val="ffffff"/>
                </a:solidFill>
                <a:effectLst/>
                <a:uFillTx/>
                <a:latin typeface="メイリオ"/>
                <a:ea typeface="メイリオ"/>
              </a:rPr>
              <a:t>最重要課題：</a:t>
            </a:r>
            <a:r>
              <a:rPr b="1" lang="en-US" sz="1400" strike="noStrike" u="none">
                <a:solidFill>
                  <a:srgbClr val="ffffff"/>
                </a:solidFill>
                <a:effectLst/>
                <a:uFillTx/>
                <a:latin typeface="メイリオ"/>
                <a:ea typeface="メイリオ"/>
              </a:rPr>
              <a:t>LINE</a:t>
            </a:r>
            <a:r>
              <a:rPr b="1" lang="ja-JP" sz="1400" strike="noStrike" u="none">
                <a:solidFill>
                  <a:srgbClr val="ffffff"/>
                </a:solidFill>
                <a:effectLst/>
                <a:uFillTx/>
                <a:latin typeface="メイリオ"/>
                <a:ea typeface="メイリオ"/>
              </a:rPr>
              <a:t>友だち追加後の問い合わせ転換（⑤リード有効化）</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1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319"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要件定義</a:t>
            </a:r>
            <a:endParaRPr b="0" lang="en-US" sz="1600" strike="noStrike" u="none">
              <a:solidFill>
                <a:srgbClr val="000000"/>
              </a:solidFill>
              <a:effectLst/>
              <a:uFillTx/>
              <a:latin typeface="Arial"/>
            </a:endParaRPr>
          </a:p>
        </p:txBody>
      </p:sp>
      <p:sp>
        <p:nvSpPr>
          <p:cNvPr id="320" name="二等辺三角形 24"/>
          <p:cNvSpPr/>
          <p:nvPr/>
        </p:nvSpPr>
        <p:spPr>
          <a:xfrm rot="10800000">
            <a:off x="1014120" y="2766960"/>
            <a:ext cx="7964640" cy="486360"/>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21" name="正方形/長方形 25"/>
          <p:cNvSpPr/>
          <p:nvPr/>
        </p:nvSpPr>
        <p:spPr>
          <a:xfrm>
            <a:off x="504000" y="775080"/>
            <a:ext cx="8897760" cy="297360"/>
          </a:xfrm>
          <a:prstGeom prst="rect">
            <a:avLst/>
          </a:prstGeom>
          <a:solidFill>
            <a:schemeClr val="tx2">
              <a:lumMod val="75000"/>
            </a:schemeClr>
          </a:solidFill>
          <a:ln>
            <a:solidFill>
              <a:srgbClr val="1f497d">
                <a:lumMod val="50000"/>
              </a:srgbClr>
            </a:solidFill>
            <a:round/>
          </a:ln>
        </p:spPr>
        <p:style>
          <a:lnRef idx="2">
            <a:schemeClr val="accent1">
              <a:shade val="50000"/>
            </a:schemeClr>
          </a:lnRef>
          <a:fillRef idx="1">
            <a:schemeClr val="accent1"/>
          </a:fillRef>
          <a:effectRef idx="0">
            <a:schemeClr val="accent1"/>
          </a:effectRef>
          <a:fontRef idx="minor"/>
        </p:style>
        <p:txBody>
          <a:bodyPr lIns="90000" rIns="90000" tIns="0" bIns="0" anchor="ctr">
            <a:noAutofit/>
          </a:bodyPr>
          <a:p>
            <a:pPr defTabSz="914400">
              <a:lnSpc>
                <a:spcPct val="100000"/>
              </a:lnSpc>
              <a:tabLst>
                <a:tab algn="l" pos="0"/>
              </a:tabLst>
            </a:pPr>
            <a:r>
              <a:rPr b="1" lang="ja-JP" sz="1800" strike="noStrike" u="none">
                <a:solidFill>
                  <a:schemeClr val="lt1"/>
                </a:solidFill>
                <a:effectLst/>
                <a:uFillTx/>
                <a:latin typeface="メイリオ"/>
                <a:ea typeface="メイリオ"/>
              </a:rPr>
              <a:t>プロモーション目的</a:t>
            </a:r>
            <a:endParaRPr b="0" lang="en-US" sz="1800" strike="noStrike" u="none">
              <a:solidFill>
                <a:srgbClr val="ffffff"/>
              </a:solidFill>
              <a:effectLst/>
              <a:uFillTx/>
              <a:latin typeface="Arial"/>
            </a:endParaRPr>
          </a:p>
        </p:txBody>
      </p:sp>
      <p:sp>
        <p:nvSpPr>
          <p:cNvPr id="322" name="正方形/長方形 26"/>
          <p:cNvSpPr/>
          <p:nvPr/>
        </p:nvSpPr>
        <p:spPr>
          <a:xfrm>
            <a:off x="504000" y="1090800"/>
            <a:ext cx="8897760" cy="524880"/>
          </a:xfrm>
          <a:prstGeom prst="rect">
            <a:avLst/>
          </a:prstGeom>
          <a:noFill/>
          <a:ln>
            <a:solidFill>
              <a:srgbClr val="1f497d">
                <a:lumMod val="5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2400" strike="noStrike" u="none">
                <a:solidFill>
                  <a:srgbClr val="ff3300"/>
                </a:solidFill>
                <a:effectLst/>
                <a:uFillTx/>
                <a:latin typeface="メイリオ"/>
                <a:ea typeface="メイリオ"/>
              </a:rPr>
              <a:t>LINE</a:t>
            </a:r>
            <a:r>
              <a:rPr b="1" lang="zh-CN" sz="2400" strike="noStrike" u="none">
                <a:solidFill>
                  <a:srgbClr val="ff3300"/>
                </a:solidFill>
                <a:effectLst/>
                <a:uFillTx/>
                <a:latin typeface="メイリオ"/>
                <a:ea typeface="メイリオ"/>
              </a:rPr>
              <a:t>経由の物件問い合わせを増やす</a:t>
            </a:r>
            <a:endParaRPr b="0" lang="en-US" sz="2400" strike="noStrike" u="none">
              <a:solidFill>
                <a:srgbClr val="000000"/>
              </a:solidFill>
              <a:effectLst/>
              <a:uFillTx/>
              <a:latin typeface="Arial"/>
            </a:endParaRPr>
          </a:p>
        </p:txBody>
      </p:sp>
      <p:sp>
        <p:nvSpPr>
          <p:cNvPr id="323" name="テキスト ボックス 4"/>
          <p:cNvSpPr/>
          <p:nvPr/>
        </p:nvSpPr>
        <p:spPr>
          <a:xfrm>
            <a:off x="3893040" y="2803320"/>
            <a:ext cx="223668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800" strike="noStrike" u="none">
                <a:solidFill>
                  <a:schemeClr val="lt1"/>
                </a:solidFill>
                <a:effectLst/>
                <a:uFillTx/>
                <a:latin typeface="メイリオ"/>
                <a:ea typeface="メイリオ"/>
              </a:rPr>
              <a:t>弊社からのご提案</a:t>
            </a:r>
            <a:endParaRPr b="0" lang="en-US" sz="1800" strike="noStrike" u="none">
              <a:solidFill>
                <a:srgbClr val="000000"/>
              </a:solidFill>
              <a:effectLst/>
              <a:uFillTx/>
              <a:latin typeface="Arial"/>
            </a:endParaRPr>
          </a:p>
        </p:txBody>
      </p:sp>
      <p:sp>
        <p:nvSpPr>
          <p:cNvPr id="324" name="正方形/長方形 32"/>
          <p:cNvSpPr/>
          <p:nvPr/>
        </p:nvSpPr>
        <p:spPr>
          <a:xfrm>
            <a:off x="504000" y="1675440"/>
            <a:ext cx="8897760" cy="385560"/>
          </a:xfrm>
          <a:prstGeom prst="rect">
            <a:avLst/>
          </a:prstGeom>
          <a:solidFill>
            <a:schemeClr val="tx2"/>
          </a:solidFill>
          <a:ln>
            <a:solidFill>
              <a:srgbClr val="1f497d"/>
            </a:solidFill>
            <a:round/>
          </a:ln>
        </p:spPr>
        <p:style>
          <a:lnRef idx="2">
            <a:schemeClr val="accent1">
              <a:shade val="50000"/>
            </a:schemeClr>
          </a:lnRef>
          <a:fillRef idx="1">
            <a:schemeClr val="accent1"/>
          </a:fillRef>
          <a:effectRef idx="0">
            <a:schemeClr val="accent1"/>
          </a:effectRef>
          <a:fontRef idx="minor"/>
        </p:style>
        <p:txBody>
          <a:bodyPr lIns="90000" rIns="90000" tIns="18360" bIns="18360" anchor="ctr">
            <a:noAutofit/>
          </a:bodyPr>
          <a:p>
            <a:pPr defTabSz="914400">
              <a:lnSpc>
                <a:spcPct val="100000"/>
              </a:lnSpc>
              <a:tabLst>
                <a:tab algn="l" pos="0"/>
              </a:tabLst>
            </a:pPr>
            <a:r>
              <a:rPr b="1" lang="ja-JP" sz="1800" strike="noStrike" u="none">
                <a:solidFill>
                  <a:schemeClr val="lt1"/>
                </a:solidFill>
                <a:effectLst/>
                <a:uFillTx/>
                <a:latin typeface="メイリオ"/>
                <a:ea typeface="メイリオ"/>
              </a:rPr>
              <a:t>配信目標</a:t>
            </a:r>
            <a:endParaRPr b="0" lang="en-US" sz="1800" strike="noStrike" u="none">
              <a:solidFill>
                <a:srgbClr val="ffffff"/>
              </a:solidFill>
              <a:effectLst/>
              <a:uFillTx/>
              <a:latin typeface="Arial"/>
            </a:endParaRPr>
          </a:p>
        </p:txBody>
      </p:sp>
      <p:sp>
        <p:nvSpPr>
          <p:cNvPr id="325" name="正方形/長方形 33"/>
          <p:cNvSpPr/>
          <p:nvPr/>
        </p:nvSpPr>
        <p:spPr>
          <a:xfrm>
            <a:off x="504000" y="2077560"/>
            <a:ext cx="8897760" cy="625680"/>
          </a:xfrm>
          <a:prstGeom prst="rect">
            <a:avLst/>
          </a:prstGeom>
          <a:noFill/>
          <a:ln>
            <a:solidFill>
              <a:srgbClr val="4f81bd"/>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2000" strike="noStrike" u="none">
                <a:solidFill>
                  <a:srgbClr val="ff3300"/>
                </a:solidFill>
                <a:effectLst/>
                <a:uFillTx/>
                <a:latin typeface="メイリオ"/>
                <a:ea typeface="メイリオ"/>
              </a:rPr>
              <a:t>LINE</a:t>
            </a:r>
            <a:r>
              <a:rPr b="1" lang="ja-JP" sz="2000" strike="noStrike" u="none">
                <a:solidFill>
                  <a:srgbClr val="ff3300"/>
                </a:solidFill>
                <a:effectLst/>
                <a:uFillTx/>
                <a:latin typeface="メイリオ"/>
                <a:ea typeface="メイリオ"/>
              </a:rPr>
              <a:t>経由の問い合わせ </a:t>
            </a:r>
            <a:r>
              <a:rPr b="1" lang="en-US" sz="2000" strike="noStrike" u="none">
                <a:solidFill>
                  <a:srgbClr val="ff3300"/>
                </a:solidFill>
                <a:effectLst/>
                <a:uFillTx/>
                <a:latin typeface="メイリオ"/>
                <a:ea typeface="メイリオ"/>
              </a:rPr>
              <a:t>1</a:t>
            </a:r>
            <a:r>
              <a:rPr b="1" lang="ja-JP" sz="2000" strike="noStrike" u="none">
                <a:solidFill>
                  <a:srgbClr val="ff3300"/>
                </a:solidFill>
                <a:effectLst/>
                <a:uFillTx/>
                <a:latin typeface="メイリオ"/>
                <a:ea typeface="メイリオ"/>
              </a:rPr>
              <a:t>か月目 月</a:t>
            </a:r>
            <a:r>
              <a:rPr b="1" lang="en-US" sz="2000" strike="noStrike" u="none">
                <a:solidFill>
                  <a:srgbClr val="ff3300"/>
                </a:solidFill>
                <a:effectLst/>
                <a:uFillTx/>
                <a:latin typeface="メイリオ"/>
                <a:ea typeface="メイリオ"/>
              </a:rPr>
              <a:t>7</a:t>
            </a:r>
            <a:r>
              <a:rPr b="1" lang="ja-JP" sz="2000" strike="noStrike" u="none">
                <a:solidFill>
                  <a:srgbClr val="ff3300"/>
                </a:solidFill>
                <a:effectLst/>
                <a:uFillTx/>
                <a:latin typeface="メイリオ"/>
                <a:ea typeface="メイリオ"/>
              </a:rPr>
              <a:t>件→</a:t>
            </a:r>
            <a:r>
              <a:rPr b="1" lang="en-US" sz="2000" strike="noStrike" u="none">
                <a:solidFill>
                  <a:srgbClr val="ff3300"/>
                </a:solidFill>
                <a:effectLst/>
                <a:uFillTx/>
                <a:latin typeface="メイリオ"/>
                <a:ea typeface="メイリオ"/>
              </a:rPr>
              <a:t>6</a:t>
            </a:r>
            <a:r>
              <a:rPr b="1" lang="ja-JP" sz="2000" strike="noStrike" u="none">
                <a:solidFill>
                  <a:srgbClr val="ff3300"/>
                </a:solidFill>
                <a:effectLst/>
                <a:uFillTx/>
                <a:latin typeface="メイリオ"/>
                <a:ea typeface="メイリオ"/>
              </a:rPr>
              <a:t>か月目 月</a:t>
            </a:r>
            <a:r>
              <a:rPr b="1" lang="en-US" sz="2000" strike="noStrike" u="none">
                <a:solidFill>
                  <a:srgbClr val="ff3300"/>
                </a:solidFill>
                <a:effectLst/>
                <a:uFillTx/>
                <a:latin typeface="メイリオ"/>
                <a:ea typeface="メイリオ"/>
              </a:rPr>
              <a:t>23</a:t>
            </a:r>
            <a:r>
              <a:rPr b="1" lang="ja-JP" sz="2000" strike="noStrike" u="none">
                <a:solidFill>
                  <a:srgbClr val="ff3300"/>
                </a:solidFill>
                <a:effectLst/>
                <a:uFillTx/>
                <a:latin typeface="メイリオ"/>
                <a:ea typeface="メイリオ"/>
              </a:rPr>
              <a:t>件（試算）</a:t>
            </a:r>
            <a:endParaRPr b="0" lang="en-US" sz="2000" strike="noStrike" u="none">
              <a:solidFill>
                <a:srgbClr val="000000"/>
              </a:solidFill>
              <a:effectLst/>
              <a:uFillTx/>
              <a:latin typeface="Arial"/>
            </a:endParaRPr>
          </a:p>
        </p:txBody>
      </p:sp>
      <p:sp>
        <p:nvSpPr>
          <p:cNvPr id="326" name="正方形/長方形 1"/>
          <p:cNvSpPr/>
          <p:nvPr/>
        </p:nvSpPr>
        <p:spPr>
          <a:xfrm>
            <a:off x="1574640" y="372708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chemeClr val="dk2">
                    <a:lumMod val="75000"/>
                  </a:schemeClr>
                </a:solidFill>
                <a:effectLst/>
                <a:uFillTx/>
                <a:latin typeface="メイリオ"/>
                <a:ea typeface="メイリオ"/>
              </a:rPr>
              <a:t>離脱防止ポップアップ</a:t>
            </a:r>
            <a:endParaRPr b="0" lang="en-US" sz="1400" strike="noStrike" u="none">
              <a:solidFill>
                <a:srgbClr val="000000"/>
              </a:solidFill>
              <a:effectLst/>
              <a:uFillTx/>
              <a:latin typeface="Arial"/>
            </a:endParaRPr>
          </a:p>
        </p:txBody>
      </p:sp>
      <p:sp>
        <p:nvSpPr>
          <p:cNvPr id="327" name="正方形/長方形 4"/>
          <p:cNvSpPr/>
          <p:nvPr/>
        </p:nvSpPr>
        <p:spPr>
          <a:xfrm>
            <a:off x="1574640" y="438552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chemeClr val="dk2">
                    <a:lumMod val="75000"/>
                  </a:schemeClr>
                </a:solidFill>
                <a:effectLst/>
                <a:uFillTx/>
                <a:latin typeface="メイリオ"/>
                <a:ea typeface="メイリオ"/>
              </a:rPr>
              <a:t>あいさつメッセージの改善</a:t>
            </a:r>
            <a:endParaRPr b="0" lang="en-US" sz="1400" strike="noStrike" u="none">
              <a:solidFill>
                <a:srgbClr val="000000"/>
              </a:solidFill>
              <a:effectLst/>
              <a:uFillTx/>
              <a:latin typeface="Arial"/>
            </a:endParaRPr>
          </a:p>
        </p:txBody>
      </p:sp>
      <p:sp>
        <p:nvSpPr>
          <p:cNvPr id="328" name="正方形/長方形 5"/>
          <p:cNvSpPr/>
          <p:nvPr/>
        </p:nvSpPr>
        <p:spPr>
          <a:xfrm>
            <a:off x="1574640" y="504396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chemeClr val="dk2">
                    <a:lumMod val="75000"/>
                  </a:schemeClr>
                </a:solidFill>
                <a:effectLst/>
                <a:uFillTx/>
                <a:latin typeface="メイリオ"/>
                <a:ea typeface="メイリオ"/>
              </a:rPr>
              <a:t>リッチメニュー・自動応答</a:t>
            </a:r>
            <a:endParaRPr b="0" lang="en-US" sz="1400" strike="noStrike" u="none">
              <a:solidFill>
                <a:srgbClr val="000000"/>
              </a:solidFill>
              <a:effectLst/>
              <a:uFillTx/>
              <a:latin typeface="Arial"/>
            </a:endParaRPr>
          </a:p>
        </p:txBody>
      </p:sp>
      <p:sp>
        <p:nvSpPr>
          <p:cNvPr id="329" name="正方形/長方形 6"/>
          <p:cNvSpPr/>
          <p:nvPr/>
        </p:nvSpPr>
        <p:spPr>
          <a:xfrm>
            <a:off x="1574640" y="570204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chemeClr val="dk2">
                    <a:lumMod val="75000"/>
                  </a:schemeClr>
                </a:solidFill>
                <a:effectLst/>
                <a:uFillTx/>
                <a:latin typeface="メイリオ"/>
                <a:ea typeface="メイリオ"/>
              </a:rPr>
              <a:t>ステップ配信・企画配信</a:t>
            </a:r>
            <a:endParaRPr b="0" lang="en-US" sz="1400" strike="noStrike" u="none">
              <a:solidFill>
                <a:srgbClr val="000000"/>
              </a:solidFill>
              <a:effectLst/>
              <a:uFillTx/>
              <a:latin typeface="Arial"/>
            </a:endParaRPr>
          </a:p>
        </p:txBody>
      </p:sp>
      <p:sp>
        <p:nvSpPr>
          <p:cNvPr id="330" name="正方形/長方形 7"/>
          <p:cNvSpPr/>
          <p:nvPr/>
        </p:nvSpPr>
        <p:spPr>
          <a:xfrm>
            <a:off x="4336920" y="372708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rIns="73080" tIns="27360" bIns="27360" anchor="ctr">
            <a:noAutofit/>
          </a:bodyPr>
          <a:p>
            <a:pPr defTabSz="914400">
              <a:lnSpc>
                <a:spcPct val="100000"/>
              </a:lnSpc>
            </a:pPr>
            <a:r>
              <a:rPr b="0" lang="ja-JP" sz="1400" strike="noStrike" u="none">
                <a:solidFill>
                  <a:schemeClr val="dk2">
                    <a:lumMod val="75000"/>
                  </a:schemeClr>
                </a:solidFill>
                <a:effectLst/>
                <a:uFillTx/>
                <a:latin typeface="メイリオ"/>
                <a:ea typeface="メイリオ"/>
              </a:rPr>
              <a:t>サイトを離れようとした方に、</a:t>
            </a:r>
            <a:r>
              <a:rPr b="0" lang="en-US" sz="1400" strike="noStrike" u="none">
                <a:solidFill>
                  <a:schemeClr val="dk2">
                    <a:lumMod val="75000"/>
                  </a:schemeClr>
                </a:solidFill>
                <a:effectLst/>
                <a:uFillTx/>
                <a:latin typeface="メイリオ"/>
                <a:ea typeface="メイリオ"/>
              </a:rPr>
              <a:t>LINE</a:t>
            </a:r>
            <a:r>
              <a:rPr b="0" lang="ja-JP" sz="1400" strike="noStrike" u="none">
                <a:solidFill>
                  <a:schemeClr val="dk2">
                    <a:lumMod val="75000"/>
                  </a:schemeClr>
                </a:solidFill>
                <a:effectLst/>
                <a:uFillTx/>
                <a:latin typeface="メイリオ"/>
                <a:ea typeface="メイリオ"/>
              </a:rPr>
              <a:t>での物件の問い合わせを案内（</a:t>
            </a:r>
            <a:r>
              <a:rPr b="0" lang="en-US" sz="1400" strike="noStrike" u="none">
                <a:solidFill>
                  <a:schemeClr val="dk2">
                    <a:lumMod val="75000"/>
                  </a:schemeClr>
                </a:solidFill>
                <a:effectLst/>
                <a:uFillTx/>
                <a:latin typeface="メイリオ"/>
                <a:ea typeface="メイリオ"/>
              </a:rPr>
              <a:t>LINE</a:t>
            </a:r>
            <a:r>
              <a:rPr b="0" lang="ja-JP" sz="1400" strike="noStrike" u="none">
                <a:solidFill>
                  <a:schemeClr val="dk2">
                    <a:lumMod val="75000"/>
                  </a:schemeClr>
                </a:solidFill>
                <a:effectLst/>
                <a:uFillTx/>
                <a:latin typeface="メイリオ"/>
                <a:ea typeface="メイリオ"/>
              </a:rPr>
              <a:t>公式アカウントとは別に導入）</a:t>
            </a:r>
            <a:endParaRPr b="0" lang="en-US" sz="1400" strike="noStrike" u="none">
              <a:solidFill>
                <a:srgbClr val="000000"/>
              </a:solidFill>
              <a:effectLst/>
              <a:uFillTx/>
              <a:latin typeface="Arial"/>
            </a:endParaRPr>
          </a:p>
        </p:txBody>
      </p:sp>
      <p:sp>
        <p:nvSpPr>
          <p:cNvPr id="331" name="正方形/長方形 8"/>
          <p:cNvSpPr/>
          <p:nvPr/>
        </p:nvSpPr>
        <p:spPr>
          <a:xfrm>
            <a:off x="4336920" y="438552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rIns="73080" tIns="27360" bIns="27360" anchor="ctr">
            <a:noAutofit/>
          </a:bodyPr>
          <a:p>
            <a:pPr defTabSz="914400">
              <a:lnSpc>
                <a:spcPct val="100000"/>
              </a:lnSpc>
            </a:pPr>
            <a:r>
              <a:rPr b="0" lang="ja-JP" sz="1400" strike="noStrike" u="none">
                <a:solidFill>
                  <a:schemeClr val="dk2">
                    <a:lumMod val="75000"/>
                  </a:schemeClr>
                </a:solidFill>
                <a:effectLst/>
                <a:uFillTx/>
                <a:latin typeface="メイリオ"/>
                <a:ea typeface="メイリオ"/>
              </a:rPr>
              <a:t>物件の送り方に加え、営業電話なし・確認だけでも可などの送る理由と、ボタンを追加</a:t>
            </a:r>
            <a:endParaRPr b="0" lang="en-US" sz="1400" strike="noStrike" u="none">
              <a:solidFill>
                <a:srgbClr val="000000"/>
              </a:solidFill>
              <a:effectLst/>
              <a:uFillTx/>
              <a:latin typeface="Arial"/>
            </a:endParaRPr>
          </a:p>
        </p:txBody>
      </p:sp>
      <p:sp>
        <p:nvSpPr>
          <p:cNvPr id="332" name="正方形/長方形 9"/>
          <p:cNvSpPr/>
          <p:nvPr/>
        </p:nvSpPr>
        <p:spPr>
          <a:xfrm>
            <a:off x="4336920" y="504396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rIns="73080" tIns="27360" bIns="27360" anchor="ctr">
            <a:noAutofit/>
          </a:bodyPr>
          <a:p>
            <a:pPr defTabSz="914400">
              <a:lnSpc>
                <a:spcPct val="100000"/>
              </a:lnSpc>
            </a:pPr>
            <a:r>
              <a:rPr b="0" lang="ja-JP" sz="1400" strike="noStrike" u="none">
                <a:solidFill>
                  <a:schemeClr val="dk2">
                    <a:lumMod val="75000"/>
                  </a:schemeClr>
                </a:solidFill>
                <a:effectLst/>
                <a:uFillTx/>
                <a:latin typeface="メイリオ"/>
                <a:ea typeface="メイリオ"/>
              </a:rPr>
              <a:t>「物件を送る」「</a:t>
            </a:r>
            <a:r>
              <a:rPr b="0" lang="en-US" sz="1400" strike="noStrike" u="none">
                <a:solidFill>
                  <a:schemeClr val="dk2">
                    <a:lumMod val="75000"/>
                  </a:schemeClr>
                </a:solidFill>
                <a:effectLst/>
                <a:uFillTx/>
                <a:latin typeface="メイリオ"/>
                <a:ea typeface="メイリオ"/>
              </a:rPr>
              <a:t>100</a:t>
            </a:r>
            <a:r>
              <a:rPr b="0" lang="ja-JP" sz="1400" strike="noStrike" u="none">
                <a:solidFill>
                  <a:schemeClr val="dk2">
                    <a:lumMod val="75000"/>
                  </a:schemeClr>
                </a:solidFill>
                <a:effectLst/>
                <a:uFillTx/>
                <a:latin typeface="メイリオ"/>
                <a:ea typeface="メイリオ"/>
              </a:rPr>
              <a:t>円になるか確認」などを常に表示。よくある質問はキーワード応答で即時に回答</a:t>
            </a:r>
            <a:endParaRPr b="0" lang="en-US" sz="1400" strike="noStrike" u="none">
              <a:solidFill>
                <a:srgbClr val="000000"/>
              </a:solidFill>
              <a:effectLst/>
              <a:uFillTx/>
              <a:latin typeface="Arial"/>
            </a:endParaRPr>
          </a:p>
        </p:txBody>
      </p:sp>
      <p:sp>
        <p:nvSpPr>
          <p:cNvPr id="333" name="正方形/長方形 10"/>
          <p:cNvSpPr/>
          <p:nvPr/>
        </p:nvSpPr>
        <p:spPr>
          <a:xfrm>
            <a:off x="4336920" y="570204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rIns="73080" tIns="27360" bIns="27360" anchor="ctr">
            <a:noAutofit/>
          </a:bodyPr>
          <a:p>
            <a:pPr defTabSz="914400">
              <a:lnSpc>
                <a:spcPct val="100000"/>
              </a:lnSpc>
            </a:pPr>
            <a:r>
              <a:rPr b="0" lang="ja-JP" sz="1400" strike="noStrike" u="none">
                <a:solidFill>
                  <a:schemeClr val="dk2">
                    <a:lumMod val="75000"/>
                  </a:schemeClr>
                </a:solidFill>
                <a:effectLst/>
                <a:uFillTx/>
                <a:latin typeface="メイリオ"/>
                <a:ea typeface="メイリオ"/>
              </a:rPr>
              <a:t>友だち追加から</a:t>
            </a:r>
            <a:r>
              <a:rPr b="0" lang="en-US" sz="1400" strike="noStrike" u="none">
                <a:solidFill>
                  <a:schemeClr val="dk2">
                    <a:lumMod val="75000"/>
                  </a:schemeClr>
                </a:solidFill>
                <a:effectLst/>
                <a:uFillTx/>
                <a:latin typeface="メイリオ"/>
                <a:ea typeface="メイリオ"/>
              </a:rPr>
              <a:t>14</a:t>
            </a:r>
            <a:r>
              <a:rPr b="0" lang="ja-JP" sz="1400" strike="noStrike" u="none">
                <a:solidFill>
                  <a:schemeClr val="dk2">
                    <a:lumMod val="75000"/>
                  </a:schemeClr>
                </a:solidFill>
                <a:effectLst/>
                <a:uFillTx/>
                <a:latin typeface="メイリオ"/>
                <a:ea typeface="メイリオ"/>
              </a:rPr>
              <a:t>日間・全</a:t>
            </a:r>
            <a:r>
              <a:rPr b="0" lang="en-US" sz="1400" strike="noStrike" u="none">
                <a:solidFill>
                  <a:schemeClr val="dk2">
                    <a:lumMod val="75000"/>
                  </a:schemeClr>
                </a:solidFill>
                <a:effectLst/>
                <a:uFillTx/>
                <a:latin typeface="メイリオ"/>
                <a:ea typeface="メイリオ"/>
              </a:rPr>
              <a:t>10</a:t>
            </a:r>
            <a:r>
              <a:rPr b="0" lang="ja-JP" sz="1400" strike="noStrike" u="none">
                <a:solidFill>
                  <a:schemeClr val="dk2">
                    <a:lumMod val="75000"/>
                  </a:schemeClr>
                </a:solidFill>
                <a:effectLst/>
                <a:uFillTx/>
                <a:latin typeface="メイリオ"/>
                <a:ea typeface="メイリオ"/>
              </a:rPr>
              <a:t>通で物件の送信を後押しし、月</a:t>
            </a:r>
            <a:r>
              <a:rPr b="0" lang="en-US" sz="1400" strike="noStrike" u="none">
                <a:solidFill>
                  <a:schemeClr val="dk2">
                    <a:lumMod val="75000"/>
                  </a:schemeClr>
                </a:solidFill>
                <a:effectLst/>
                <a:uFillTx/>
                <a:latin typeface="メイリオ"/>
                <a:ea typeface="メイリオ"/>
              </a:rPr>
              <a:t>4</a:t>
            </a:r>
            <a:r>
              <a:rPr b="0" lang="ja-JP" sz="1400" strike="noStrike" u="none">
                <a:solidFill>
                  <a:schemeClr val="dk2">
                    <a:lumMod val="75000"/>
                  </a:schemeClr>
                </a:solidFill>
                <a:effectLst/>
                <a:uFillTx/>
                <a:latin typeface="メイリオ"/>
                <a:ea typeface="メイリオ"/>
              </a:rPr>
              <a:t>本の企画配信で今の友だちにも案内</a:t>
            </a:r>
            <a:endParaRPr b="0" lang="en-US" sz="1400" strike="noStrike" u="none">
              <a:solidFill>
                <a:srgbClr val="000000"/>
              </a:solidFill>
              <a:effectLst/>
              <a:uFillTx/>
              <a:latin typeface="Arial"/>
            </a:endParaRPr>
          </a:p>
        </p:txBody>
      </p:sp>
      <p:sp>
        <p:nvSpPr>
          <p:cNvPr id="334" name="正方形/長方形 11"/>
          <p:cNvSpPr/>
          <p:nvPr/>
        </p:nvSpPr>
        <p:spPr>
          <a:xfrm>
            <a:off x="595440" y="3727080"/>
            <a:ext cx="914040" cy="1261440"/>
          </a:xfrm>
          <a:prstGeom prst="rect">
            <a:avLst/>
          </a:prstGeom>
          <a:solidFill>
            <a:schemeClr val="accent1">
              <a:lumMod val="20000"/>
              <a:lumOff val="80000"/>
            </a:schemeClr>
          </a:solid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1" lang="zh-CN" sz="1400" strike="noStrike" u="none">
                <a:solidFill>
                  <a:schemeClr val="dk2">
                    <a:lumMod val="75000"/>
                  </a:schemeClr>
                </a:solidFill>
                <a:effectLst/>
                <a:uFillTx/>
                <a:latin typeface="メイリオ"/>
                <a:ea typeface="メイリオ"/>
              </a:rPr>
              <a:t>入口・</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2">
                    <a:lumMod val="75000"/>
                  </a:schemeClr>
                </a:solidFill>
                <a:effectLst/>
                <a:uFillTx/>
                <a:latin typeface="メイリオ"/>
                <a:ea typeface="メイリオ"/>
              </a:rPr>
              <a:t>あいさつ</a:t>
            </a:r>
            <a:endParaRPr b="0" lang="en-US" sz="1400" strike="noStrike" u="none">
              <a:solidFill>
                <a:srgbClr val="000000"/>
              </a:solidFill>
              <a:effectLst/>
              <a:uFillTx/>
              <a:latin typeface="Arial"/>
            </a:endParaRPr>
          </a:p>
        </p:txBody>
      </p:sp>
      <p:sp>
        <p:nvSpPr>
          <p:cNvPr id="335" name="正方形/長方形 12"/>
          <p:cNvSpPr/>
          <p:nvPr/>
        </p:nvSpPr>
        <p:spPr>
          <a:xfrm>
            <a:off x="595440" y="5043960"/>
            <a:ext cx="914040" cy="1261440"/>
          </a:xfrm>
          <a:prstGeom prst="rect">
            <a:avLst/>
          </a:prstGeom>
          <a:solidFill>
            <a:schemeClr val="accent1">
              <a:lumMod val="20000"/>
              <a:lumOff val="80000"/>
            </a:schemeClr>
          </a:solid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1" lang="zh-CN" sz="1400" strike="noStrike" u="none">
                <a:solidFill>
                  <a:schemeClr val="dk2">
                    <a:lumMod val="75000"/>
                  </a:schemeClr>
                </a:solidFill>
                <a:effectLst/>
                <a:uFillTx/>
                <a:latin typeface="メイリオ"/>
                <a:ea typeface="メイリオ"/>
              </a:rPr>
              <a:t>追加後の</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2">
                    <a:lumMod val="75000"/>
                  </a:schemeClr>
                </a:solidFill>
                <a:effectLst/>
                <a:uFillTx/>
                <a:latin typeface="メイリオ"/>
                <a:ea typeface="メイリオ"/>
              </a:rPr>
              <a:t>案内</a:t>
            </a:r>
            <a:endParaRPr b="0" lang="en-US" sz="1400" strike="noStrike" u="none">
              <a:solidFill>
                <a:srgbClr val="000000"/>
              </a:solidFill>
              <a:effectLst/>
              <a:uFillTx/>
              <a:latin typeface="Arial"/>
            </a:endParaRPr>
          </a:p>
        </p:txBody>
      </p:sp>
      <p:sp>
        <p:nvSpPr>
          <p:cNvPr id="336" name="正方形/長方形 16"/>
          <p:cNvSpPr/>
          <p:nvPr/>
        </p:nvSpPr>
        <p:spPr>
          <a:xfrm>
            <a:off x="504000" y="3316680"/>
            <a:ext cx="8897760" cy="365760"/>
          </a:xfrm>
          <a:prstGeom prst="rect">
            <a:avLst/>
          </a:prstGeom>
          <a:solidFill>
            <a:schemeClr val="accent1">
              <a:lumMod val="20000"/>
              <a:lumOff val="80000"/>
            </a:schemeClr>
          </a:solidFill>
          <a:ln>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18360" bIns="18360" anchor="ctr">
            <a:noAutofit/>
          </a:bodyPr>
          <a:p>
            <a:pPr defTabSz="914400">
              <a:lnSpc>
                <a:spcPct val="100000"/>
              </a:lnSpc>
              <a:tabLst>
                <a:tab algn="l" pos="0"/>
              </a:tabLst>
            </a:pPr>
            <a:r>
              <a:rPr b="1" lang="ja-JP" sz="1800" strike="noStrike" u="none">
                <a:solidFill>
                  <a:schemeClr val="accent1">
                    <a:lumMod val="75000"/>
                  </a:schemeClr>
                </a:solidFill>
                <a:effectLst/>
                <a:uFillTx/>
                <a:latin typeface="メイリオ"/>
                <a:ea typeface="メイリオ"/>
              </a:rPr>
              <a:t>手法</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339"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想定の費用対効果</a:t>
            </a:r>
            <a:endParaRPr b="0" lang="en-US" sz="1600" strike="noStrike" u="none">
              <a:solidFill>
                <a:srgbClr val="000000"/>
              </a:solidFill>
              <a:effectLst/>
              <a:uFillTx/>
              <a:latin typeface="Arial"/>
            </a:endParaRP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初期</a:t>
            </a:r>
            <a:endParaRPr b="0" lang="en-US" sz="1400" strike="noStrike" u="none">
              <a:solidFill>
                <a:srgbClr val="ffffff"/>
              </a:solidFill>
              <a:effectLst/>
              <a:uFillTx/>
              <a:latin typeface="Arial"/>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月次</a:t>
            </a:r>
            <a:endParaRPr b="0" lang="en-US" sz="1400" strike="noStrike" u="none">
              <a:solidFill>
                <a:srgbClr val="ffffff"/>
              </a:solidFill>
              <a:effectLst/>
              <a:uFillTx/>
              <a:latin typeface="Arial"/>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chemeClr val="dk1"/>
                </a:solidFill>
                <a:effectLst/>
                <a:uFillTx/>
                <a:latin typeface="メイリオ"/>
                <a:ea typeface="メイリオ"/>
              </a:rPr>
              <a:t>¥215,000</a:t>
            </a:r>
            <a:endParaRPr b="0" lang="en-US" sz="1600" strike="noStrike" u="none">
              <a:solidFill>
                <a:srgbClr val="000000"/>
              </a:solidFill>
              <a:effectLst/>
              <a:uFillTx/>
              <a:latin typeface="Arial"/>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chemeClr val="dk1"/>
                </a:solidFill>
                <a:effectLst/>
                <a:uFillTx/>
                <a:latin typeface="メイリオ"/>
                <a:ea typeface="メイリオ"/>
              </a:rPr>
              <a:t>¥135,000</a:t>
            </a:r>
            <a:endParaRPr b="0" lang="en-US" sz="1600" strike="noStrike" u="none">
              <a:solidFill>
                <a:srgbClr val="000000"/>
              </a:solidFill>
              <a:effectLst/>
              <a:uFillTx/>
              <a:latin typeface="Arial"/>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400" strike="noStrike" u="none">
                <a:solidFill>
                  <a:schemeClr val="lt1"/>
                </a:solidFill>
                <a:effectLst/>
                <a:uFillTx/>
                <a:latin typeface="メイリオ"/>
                <a:ea typeface="メイリオ"/>
              </a:rPr>
              <a:t>6</a:t>
            </a:r>
            <a:r>
              <a:rPr b="0" lang="ja-JP" sz="1400" strike="noStrike" u="none">
                <a:solidFill>
                  <a:schemeClr val="lt1"/>
                </a:solidFill>
                <a:effectLst/>
                <a:uFillTx/>
                <a:latin typeface="メイリオ"/>
                <a:ea typeface="メイリオ"/>
              </a:rPr>
              <a:t>か月後</a:t>
            </a:r>
            <a:endParaRPr b="0" lang="en-US" sz="1400" strike="noStrike" u="none">
              <a:solidFill>
                <a:srgbClr val="ffffff"/>
              </a:solidFill>
              <a:effectLst/>
              <a:uFillTx/>
              <a:latin typeface="Arial"/>
            </a:endParaRPr>
          </a:p>
        </p:txBody>
      </p:sp>
      <p:sp>
        <p:nvSpPr>
          <p:cNvPr id="347" name="テキスト ボックス 18"/>
          <p:cNvSpPr/>
          <p:nvPr/>
        </p:nvSpPr>
        <p:spPr>
          <a:xfrm>
            <a:off x="261360" y="2688480"/>
            <a:ext cx="28990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400" strike="noStrike" u="none">
                <a:solidFill>
                  <a:schemeClr val="dk1"/>
                </a:solidFill>
                <a:effectLst/>
                <a:uFillTx/>
                <a:latin typeface="メイリオ"/>
                <a:ea typeface="メイリオ"/>
              </a:rPr>
              <a:t>&lt;</a:t>
            </a:r>
            <a:r>
              <a:rPr b="0" lang="ja-JP" sz="1400" strike="noStrike" u="none">
                <a:solidFill>
                  <a:schemeClr val="dk1"/>
                </a:solidFill>
                <a:effectLst/>
                <a:uFillTx/>
                <a:latin typeface="メイリオ"/>
                <a:ea typeface="メイリオ"/>
              </a:rPr>
              <a:t>実施内容</a:t>
            </a:r>
            <a:r>
              <a:rPr b="0" lang="en-US" sz="1400" strike="noStrike" u="none">
                <a:solidFill>
                  <a:schemeClr val="dk1"/>
                </a:solidFill>
                <a:effectLst/>
                <a:uFillTx/>
                <a:latin typeface="メイリオ"/>
                <a:ea typeface="メイリオ"/>
              </a:rPr>
              <a:t>&gt;</a:t>
            </a:r>
            <a:endParaRPr b="0" lang="en-US" sz="1400" strike="noStrike" u="none">
              <a:solidFill>
                <a:srgbClr val="000000"/>
              </a:solidFill>
              <a:effectLst/>
              <a:uFillTx/>
              <a:latin typeface="Arial"/>
            </a:endParaRPr>
          </a:p>
        </p:txBody>
      </p:sp>
      <p:sp>
        <p:nvSpPr>
          <p:cNvPr id="348" name="テキスト ボックス 20"/>
          <p:cNvSpPr/>
          <p:nvPr/>
        </p:nvSpPr>
        <p:spPr>
          <a:xfrm>
            <a:off x="3337560" y="2688480"/>
            <a:ext cx="28990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400" strike="noStrike" u="none">
                <a:solidFill>
                  <a:schemeClr val="dk1"/>
                </a:solidFill>
                <a:effectLst/>
                <a:uFillTx/>
                <a:latin typeface="メイリオ"/>
                <a:ea typeface="メイリオ"/>
              </a:rPr>
              <a:t>&lt;</a:t>
            </a:r>
            <a:r>
              <a:rPr b="0" lang="ja-JP" sz="1400" strike="noStrike" u="none">
                <a:solidFill>
                  <a:schemeClr val="dk1"/>
                </a:solidFill>
                <a:effectLst/>
                <a:uFillTx/>
                <a:latin typeface="メイリオ"/>
                <a:ea typeface="メイリオ"/>
              </a:rPr>
              <a:t>実施内容</a:t>
            </a:r>
            <a:r>
              <a:rPr b="0" lang="en-US" sz="1400" strike="noStrike" u="none">
                <a:solidFill>
                  <a:schemeClr val="dk1"/>
                </a:solidFill>
                <a:effectLst/>
                <a:uFillTx/>
                <a:latin typeface="メイリオ"/>
                <a:ea typeface="メイリオ"/>
              </a:rPr>
              <a:t>&gt;</a:t>
            </a:r>
            <a:endParaRPr b="0" lang="en-US" sz="1400" strike="noStrike" u="none">
              <a:solidFill>
                <a:srgbClr val="000000"/>
              </a:solidFill>
              <a:effectLst/>
              <a:uFillTx/>
              <a:latin typeface="Arial"/>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企画配信</a:t>
            </a:r>
            <a:endParaRPr b="0" lang="en-US" sz="1300" strike="noStrike" u="none">
              <a:solidFill>
                <a:srgbClr val="ffffff"/>
              </a:solidFill>
              <a:effectLst/>
              <a:uFillTx/>
              <a:latin typeface="Arial"/>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zh-CN" sz="1300" strike="noStrike" u="none">
                <a:solidFill>
                  <a:schemeClr val="dk1"/>
                </a:solidFill>
                <a:effectLst/>
                <a:uFillTx/>
                <a:latin typeface="メイリオ"/>
                <a:ea typeface="メイリオ"/>
              </a:rPr>
              <a:t>月</a:t>
            </a:r>
            <a:r>
              <a:rPr b="0" lang="en-US" sz="1300" strike="noStrike" u="none">
                <a:solidFill>
                  <a:schemeClr val="dk1"/>
                </a:solidFill>
                <a:effectLst/>
                <a:uFillTx/>
                <a:latin typeface="メイリオ"/>
                <a:ea typeface="メイリオ"/>
              </a:rPr>
              <a:t>4</a:t>
            </a:r>
            <a:r>
              <a:rPr b="0" lang="zh-CN" sz="1300" strike="noStrike" u="none">
                <a:solidFill>
                  <a:schemeClr val="dk1"/>
                </a:solidFill>
                <a:effectLst/>
                <a:uFillTx/>
                <a:latin typeface="メイリオ"/>
                <a:ea typeface="メイリオ"/>
              </a:rPr>
              <a:t>本</a:t>
            </a:r>
            <a:endParaRPr b="0" lang="en-US" sz="1300" strike="noStrike" u="none">
              <a:solidFill>
                <a:srgbClr val="000000"/>
              </a:solidFill>
              <a:effectLst/>
              <a:uFillTx/>
              <a:latin typeface="Arial"/>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90000"/>
              </a:lnSpc>
            </a:pPr>
            <a:r>
              <a:rPr b="0" lang="ja-JP" sz="1300" strike="noStrike" u="none">
                <a:solidFill>
                  <a:schemeClr val="lt1"/>
                </a:solidFill>
                <a:effectLst/>
                <a:uFillTx/>
                <a:latin typeface="メイリオ"/>
                <a:ea typeface="メイリオ"/>
              </a:rPr>
              <a:t>リッチメニュー</a:t>
            </a:r>
            <a:endParaRPr b="0" lang="en-US" sz="1300" strike="noStrike" u="none">
              <a:solidFill>
                <a:srgbClr val="ffffff"/>
              </a:solidFill>
              <a:effectLst/>
              <a:uFillTx/>
              <a:latin typeface="Arial"/>
            </a:endParaRPr>
          </a:p>
          <a:p>
            <a:pPr algn="ctr" defTabSz="914400">
              <a:lnSpc>
                <a:spcPct val="90000"/>
              </a:lnSpc>
            </a:pPr>
            <a:r>
              <a:rPr b="0" lang="ja-JP" sz="1300" strike="noStrike" u="none">
                <a:solidFill>
                  <a:schemeClr val="lt1"/>
                </a:solidFill>
                <a:effectLst/>
                <a:uFillTx/>
                <a:latin typeface="メイリオ"/>
                <a:ea typeface="メイリオ"/>
              </a:rPr>
              <a:t>修正変更</a:t>
            </a:r>
            <a:endParaRPr b="0" lang="en-US" sz="1300" strike="noStrike" u="none">
              <a:solidFill>
                <a:srgbClr val="ffffff"/>
              </a:solidFill>
              <a:effectLst/>
              <a:uFillTx/>
              <a:latin typeface="Arial"/>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720" rIns="36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月次運用範囲内で適宜調整</a:t>
            </a:r>
            <a:endParaRPr b="0" lang="en-US" sz="1300" strike="noStrike" u="none">
              <a:solidFill>
                <a:srgbClr val="000000"/>
              </a:solidFill>
              <a:effectLst/>
              <a:uFillTx/>
              <a:latin typeface="Arial"/>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月次レポート</a:t>
            </a:r>
            <a:endParaRPr b="0" lang="en-US" sz="1300" strike="noStrike" u="none">
              <a:solidFill>
                <a:srgbClr val="ffffff"/>
              </a:solidFill>
              <a:effectLst/>
              <a:uFillTx/>
              <a:latin typeface="Arial"/>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en-US" sz="1300" strike="noStrike" u="none">
                <a:solidFill>
                  <a:schemeClr val="dk1"/>
                </a:solidFill>
                <a:effectLst/>
                <a:uFillTx/>
                <a:latin typeface="メイリオ"/>
                <a:ea typeface="メイリオ"/>
              </a:rPr>
              <a:t>1</a:t>
            </a:r>
            <a:r>
              <a:rPr b="0" lang="ja-JP" sz="1300" strike="noStrike" u="none">
                <a:solidFill>
                  <a:schemeClr val="dk1"/>
                </a:solidFill>
                <a:effectLst/>
                <a:uFillTx/>
                <a:latin typeface="メイリオ"/>
                <a:ea typeface="メイリオ"/>
              </a:rPr>
              <a:t>回</a:t>
            </a:r>
            <a:endParaRPr b="0" lang="en-US" sz="1300" strike="noStrike" u="none">
              <a:solidFill>
                <a:srgbClr val="000000"/>
              </a:solidFill>
              <a:effectLst/>
              <a:uFillTx/>
              <a:latin typeface="Arial"/>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月次定例会</a:t>
            </a:r>
            <a:endParaRPr b="0" lang="en-US" sz="1300" strike="noStrike" u="none">
              <a:solidFill>
                <a:srgbClr val="ffffff"/>
              </a:solidFill>
              <a:effectLst/>
              <a:uFillTx/>
              <a:latin typeface="Arial"/>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en-US" sz="1300" strike="noStrike" u="none">
                <a:solidFill>
                  <a:schemeClr val="dk1"/>
                </a:solidFill>
                <a:effectLst/>
                <a:uFillTx/>
                <a:latin typeface="メイリオ"/>
                <a:ea typeface="メイリオ"/>
              </a:rPr>
              <a:t>1</a:t>
            </a:r>
            <a:r>
              <a:rPr b="0" lang="ja-JP" sz="1300" strike="noStrike" u="none">
                <a:solidFill>
                  <a:schemeClr val="dk1"/>
                </a:solidFill>
                <a:effectLst/>
                <a:uFillTx/>
                <a:latin typeface="メイリオ"/>
                <a:ea typeface="メイリオ"/>
              </a:rPr>
              <a:t>回</a:t>
            </a:r>
            <a:endParaRPr b="0" lang="en-US" sz="1300" strike="noStrike" u="none">
              <a:solidFill>
                <a:srgbClr val="000000"/>
              </a:solidFill>
              <a:effectLst/>
              <a:uFillTx/>
              <a:latin typeface="Arial"/>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離脱防止</a:t>
            </a:r>
            <a:endParaRPr b="0" lang="en-US" sz="1300" strike="noStrike" u="none">
              <a:solidFill>
                <a:srgbClr val="ffffff"/>
              </a:solidFill>
              <a:effectLst/>
              <a:uFillTx/>
              <a:latin typeface="Arial"/>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運用</a:t>
            </a:r>
            <a:endParaRPr b="0" lang="en-US" sz="1300" strike="noStrike" u="none">
              <a:solidFill>
                <a:srgbClr val="000000"/>
              </a:solidFill>
              <a:effectLst/>
              <a:uFillTx/>
              <a:latin typeface="Arial"/>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ステップ配信</a:t>
            </a:r>
            <a:endParaRPr b="0" lang="en-US" sz="1300" strike="noStrike" u="none">
              <a:solidFill>
                <a:srgbClr val="ffffff"/>
              </a:solidFill>
              <a:effectLst/>
              <a:uFillTx/>
              <a:latin typeface="Arial"/>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en-US" sz="1300" strike="noStrike" u="none">
                <a:solidFill>
                  <a:schemeClr val="dk1"/>
                </a:solidFill>
                <a:effectLst/>
                <a:uFillTx/>
                <a:latin typeface="メイリオ"/>
                <a:ea typeface="メイリオ"/>
              </a:rPr>
              <a:t>10</a:t>
            </a:r>
            <a:r>
              <a:rPr b="0" lang="zh-CN" sz="1300" strike="noStrike" u="none">
                <a:solidFill>
                  <a:schemeClr val="dk1"/>
                </a:solidFill>
                <a:effectLst/>
                <a:uFillTx/>
                <a:latin typeface="メイリオ"/>
                <a:ea typeface="メイリオ"/>
              </a:rPr>
              <a:t>通の改善</a:t>
            </a:r>
            <a:endParaRPr b="0" lang="en-US" sz="1300" strike="noStrike" u="none">
              <a:solidFill>
                <a:srgbClr val="000000"/>
              </a:solidFill>
              <a:effectLst/>
              <a:uFillTx/>
              <a:latin typeface="Arial"/>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rIns="45720" tIns="45000" bIns="45000" anchor="ctr">
            <a:noAutofit/>
          </a:bodyPr>
          <a:p>
            <a:pPr algn="ctr" defTabSz="914400">
              <a:lnSpc>
                <a:spcPct val="100000"/>
              </a:lnSpc>
            </a:pPr>
            <a:r>
              <a:rPr b="1" lang="ja-JP" sz="1400" strike="noStrike" u="none">
                <a:solidFill>
                  <a:schemeClr val="lt1"/>
                </a:solidFill>
                <a:effectLst/>
                <a:uFillTx/>
                <a:latin typeface="メイリオ"/>
                <a:ea typeface="メイリオ"/>
              </a:rPr>
              <a:t>友だち数</a:t>
            </a:r>
            <a:endParaRPr b="0" lang="en-US" sz="1400" strike="noStrike" u="none">
              <a:solidFill>
                <a:srgbClr val="000000"/>
              </a:solidFill>
              <a:effectLst/>
              <a:uFillTx/>
              <a:latin typeface="Arial"/>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rIns="45720" tIns="45000" bIns="45000" anchor="ctr">
            <a:noAutofit/>
          </a:bodyPr>
          <a:p>
            <a:pPr algn="ctr" defTabSz="914400">
              <a:lnSpc>
                <a:spcPct val="100000"/>
              </a:lnSpc>
            </a:pPr>
            <a:r>
              <a:rPr b="1" lang="ja-JP" sz="1400" strike="noStrike" u="none">
                <a:solidFill>
                  <a:schemeClr val="lt1"/>
                </a:solidFill>
                <a:effectLst/>
                <a:uFillTx/>
                <a:latin typeface="メイリオ"/>
                <a:ea typeface="メイリオ"/>
              </a:rPr>
              <a:t>問い合わせ①</a:t>
            </a:r>
            <a:endParaRPr b="0" lang="en-US" sz="1400" strike="noStrike" u="none">
              <a:solidFill>
                <a:srgbClr val="000000"/>
              </a:solidFill>
              <a:effectLst/>
              <a:uFillTx/>
              <a:latin typeface="Arial"/>
            </a:endParaRPr>
          </a:p>
        </p:txBody>
      </p:sp>
      <p:sp>
        <p:nvSpPr>
          <p:cNvPr id="363" name="正方形/長方形 83"/>
          <p:cNvSpPr/>
          <p:nvPr/>
        </p:nvSpPr>
        <p:spPr>
          <a:xfrm>
            <a:off x="6812280" y="290772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rIns="45720" tIns="45000" bIns="45000" anchor="ctr">
            <a:noAutofit/>
          </a:bodyPr>
          <a:p>
            <a:pPr algn="ctr" defTabSz="914400">
              <a:lnSpc>
                <a:spcPct val="100000"/>
              </a:lnSpc>
            </a:pPr>
            <a:r>
              <a:rPr b="1" lang="ja-JP" sz="1400" strike="noStrike" u="none">
                <a:solidFill>
                  <a:schemeClr val="lt1"/>
                </a:solidFill>
                <a:effectLst/>
                <a:uFillTx/>
                <a:latin typeface="メイリオ"/>
                <a:ea typeface="メイリオ"/>
              </a:rPr>
              <a:t>問い合わせ②</a:t>
            </a:r>
            <a:endParaRPr b="0" lang="en-US" sz="1400" strike="noStrike" u="none">
              <a:solidFill>
                <a:srgbClr val="000000"/>
              </a:solidFill>
              <a:effectLst/>
              <a:uFillTx/>
              <a:latin typeface="Arial"/>
            </a:endParaRPr>
          </a:p>
        </p:txBody>
      </p:sp>
      <p:sp>
        <p:nvSpPr>
          <p:cNvPr id="364" name="正方形/長方形 85"/>
          <p:cNvSpPr/>
          <p:nvPr/>
        </p:nvSpPr>
        <p:spPr>
          <a:xfrm>
            <a:off x="6812280" y="338328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rIns="45720" tIns="45000" bIns="45000" anchor="ctr">
            <a:noAutofit/>
          </a:bodyPr>
          <a:p>
            <a:pPr algn="ctr" defTabSz="914400">
              <a:lnSpc>
                <a:spcPct val="100000"/>
              </a:lnSpc>
            </a:pPr>
            <a:r>
              <a:rPr b="1" lang="zh-CN" sz="1400" strike="noStrike" u="none">
                <a:solidFill>
                  <a:schemeClr val="lt1"/>
                </a:solidFill>
                <a:effectLst/>
                <a:uFillTx/>
                <a:latin typeface="メイリオ"/>
                <a:ea typeface="メイリオ"/>
              </a:rPr>
              <a:t>合計</a:t>
            </a:r>
            <a:endParaRPr b="0" lang="en-US" sz="1400" strike="noStrike" u="none">
              <a:solidFill>
                <a:srgbClr val="000000"/>
              </a:solidFill>
              <a:effectLst/>
              <a:uFillTx/>
              <a:latin typeface="Arial"/>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あいさつ</a:t>
            </a:r>
            <a:endParaRPr b="0" lang="en-US" sz="1300" strike="noStrike" u="none">
              <a:solidFill>
                <a:srgbClr val="ffffff"/>
              </a:solidFill>
              <a:effectLst/>
              <a:uFillTx/>
              <a:latin typeface="Arial"/>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zh-CN" sz="1300" strike="noStrike" u="none">
                <a:solidFill>
                  <a:schemeClr val="dk1"/>
                </a:solidFill>
                <a:effectLst/>
                <a:uFillTx/>
                <a:latin typeface="メイリオ"/>
                <a:ea typeface="メイリオ"/>
              </a:rPr>
              <a:t>改善</a:t>
            </a:r>
            <a:endParaRPr b="0" lang="en-US" sz="1300" strike="noStrike" u="none">
              <a:solidFill>
                <a:srgbClr val="000000"/>
              </a:solidFill>
              <a:effectLst/>
              <a:uFillTx/>
              <a:latin typeface="Arial"/>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リッチメニュー</a:t>
            </a:r>
            <a:endParaRPr b="0" lang="en-US" sz="1300" strike="noStrike" u="none">
              <a:solidFill>
                <a:srgbClr val="ffffff"/>
              </a:solidFill>
              <a:effectLst/>
              <a:uFillTx/>
              <a:latin typeface="Arial"/>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新規作成</a:t>
            </a:r>
            <a:endParaRPr b="0" lang="en-US" sz="1300" strike="noStrike" u="none">
              <a:solidFill>
                <a:srgbClr val="000000"/>
              </a:solidFill>
              <a:effectLst/>
              <a:uFillTx/>
              <a:latin typeface="Arial"/>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ステップ配信</a:t>
            </a:r>
            <a:endParaRPr b="0" lang="en-US" sz="1300" strike="noStrike" u="none">
              <a:solidFill>
                <a:srgbClr val="ffffff"/>
              </a:solidFill>
              <a:effectLst/>
              <a:uFillTx/>
              <a:latin typeface="Arial"/>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en-US" sz="1300" strike="noStrike" u="none">
                <a:solidFill>
                  <a:schemeClr val="dk1"/>
                </a:solidFill>
                <a:effectLst/>
                <a:uFillTx/>
                <a:latin typeface="メイリオ"/>
                <a:ea typeface="メイリオ"/>
              </a:rPr>
              <a:t>10</a:t>
            </a:r>
            <a:r>
              <a:rPr b="0" lang="ja-JP" sz="1300" strike="noStrike" u="none">
                <a:solidFill>
                  <a:schemeClr val="dk1"/>
                </a:solidFill>
                <a:effectLst/>
                <a:uFillTx/>
                <a:latin typeface="メイリオ"/>
                <a:ea typeface="メイリオ"/>
              </a:rPr>
              <a:t>通を構築</a:t>
            </a:r>
            <a:endParaRPr b="0" lang="en-US" sz="1300" strike="noStrike" u="none">
              <a:solidFill>
                <a:srgbClr val="000000"/>
              </a:solidFill>
              <a:effectLst/>
              <a:uFillTx/>
              <a:latin typeface="Arial"/>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自動応答</a:t>
            </a:r>
            <a:endParaRPr b="0" lang="en-US" sz="1300" strike="noStrike" u="none">
              <a:solidFill>
                <a:srgbClr val="ffffff"/>
              </a:solidFill>
              <a:effectLst/>
              <a:uFillTx/>
              <a:latin typeface="Arial"/>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設定</a:t>
            </a:r>
            <a:endParaRPr b="0" lang="en-US" sz="1300" strike="noStrike" u="none">
              <a:solidFill>
                <a:srgbClr val="000000"/>
              </a:solidFill>
              <a:effectLst/>
              <a:uFillTx/>
              <a:latin typeface="Arial"/>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離脱防止</a:t>
            </a:r>
            <a:endParaRPr b="0" lang="en-US" sz="1300" strike="noStrike" u="none">
              <a:solidFill>
                <a:srgbClr val="ffffff"/>
              </a:solidFill>
              <a:effectLst/>
              <a:uFillTx/>
              <a:latin typeface="Arial"/>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導入</a:t>
            </a:r>
            <a:endParaRPr b="0" lang="en-US" sz="1300" strike="noStrike" u="none">
              <a:solidFill>
                <a:srgbClr val="000000"/>
              </a:solidFill>
              <a:effectLst/>
              <a:uFillTx/>
              <a:latin typeface="Arial"/>
            </a:endParaRPr>
          </a:p>
        </p:txBody>
      </p:sp>
      <p:sp>
        <p:nvSpPr>
          <p:cNvPr id="375" name="テキスト ボックス 10"/>
          <p:cNvSpPr/>
          <p:nvPr/>
        </p:nvSpPr>
        <p:spPr>
          <a:xfrm>
            <a:off x="8256960" y="1956960"/>
            <a:ext cx="1325520" cy="402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zh-CN" sz="1400" strike="noStrike" u="none">
                <a:solidFill>
                  <a:srgbClr val="ff0000"/>
                </a:solidFill>
                <a:effectLst/>
                <a:uFillTx/>
                <a:latin typeface="メイリオ"/>
                <a:ea typeface="メイリオ"/>
              </a:rPr>
              <a:t>約</a:t>
            </a:r>
            <a:r>
              <a:rPr b="1" lang="en-US" sz="1400" strike="noStrike" u="none">
                <a:solidFill>
                  <a:srgbClr val="ff0000"/>
                </a:solidFill>
                <a:effectLst/>
                <a:uFillTx/>
                <a:latin typeface="メイリオ"/>
                <a:ea typeface="メイリオ"/>
              </a:rPr>
              <a:t>1,377</a:t>
            </a:r>
            <a:r>
              <a:rPr b="1" lang="zh-CN" sz="1400" strike="noStrike" u="none">
                <a:solidFill>
                  <a:srgbClr val="ff0000"/>
                </a:solidFill>
                <a:effectLst/>
                <a:uFillTx/>
                <a:latin typeface="メイリオ"/>
                <a:ea typeface="メイリオ"/>
              </a:rPr>
              <a:t>人</a:t>
            </a:r>
            <a:endParaRPr b="0" lang="en-US" sz="1400" strike="noStrike" u="none">
              <a:solidFill>
                <a:srgbClr val="000000"/>
              </a:solidFill>
              <a:effectLst/>
              <a:uFillTx/>
              <a:latin typeface="Arial"/>
            </a:endParaRPr>
          </a:p>
        </p:txBody>
      </p:sp>
      <p:sp>
        <p:nvSpPr>
          <p:cNvPr id="376" name="テキスト ボックス 15"/>
          <p:cNvSpPr/>
          <p:nvPr/>
        </p:nvSpPr>
        <p:spPr>
          <a:xfrm>
            <a:off x="8256960" y="2432160"/>
            <a:ext cx="1325520" cy="402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400" strike="noStrike" u="none">
                <a:solidFill>
                  <a:srgbClr val="ff0000"/>
                </a:solidFill>
                <a:effectLst/>
                <a:uFillTx/>
                <a:latin typeface="メイリオ"/>
                <a:ea typeface="メイリオ"/>
              </a:rPr>
              <a:t>13</a:t>
            </a:r>
            <a:r>
              <a:rPr b="1" lang="zh-CN" sz="1400" strike="noStrike" u="none">
                <a:solidFill>
                  <a:srgbClr val="ff0000"/>
                </a:solidFill>
                <a:effectLst/>
                <a:uFillTx/>
                <a:latin typeface="メイリオ"/>
                <a:ea typeface="メイリオ"/>
              </a:rPr>
              <a:t>件</a:t>
            </a:r>
            <a:r>
              <a:rPr b="1" lang="en-US" sz="1400" strike="noStrike" u="none">
                <a:solidFill>
                  <a:srgbClr val="ff0000"/>
                </a:solidFill>
                <a:effectLst/>
                <a:uFillTx/>
                <a:latin typeface="メイリオ"/>
                <a:ea typeface="メイリオ"/>
              </a:rPr>
              <a:t>/</a:t>
            </a:r>
            <a:r>
              <a:rPr b="1" lang="zh-CN" sz="1400" strike="noStrike" u="none">
                <a:solidFill>
                  <a:srgbClr val="ff0000"/>
                </a:solidFill>
                <a:effectLst/>
                <a:uFillTx/>
                <a:latin typeface="メイリオ"/>
                <a:ea typeface="メイリオ"/>
              </a:rPr>
              <a:t>月</a:t>
            </a:r>
            <a:endParaRPr b="0" lang="en-US" sz="1400" strike="noStrike" u="none">
              <a:solidFill>
                <a:srgbClr val="000000"/>
              </a:solidFill>
              <a:effectLst/>
              <a:uFillTx/>
              <a:latin typeface="Arial"/>
            </a:endParaRPr>
          </a:p>
        </p:txBody>
      </p:sp>
      <p:sp>
        <p:nvSpPr>
          <p:cNvPr id="377" name="テキスト ボックス 22"/>
          <p:cNvSpPr/>
          <p:nvPr/>
        </p:nvSpPr>
        <p:spPr>
          <a:xfrm>
            <a:off x="8256960" y="2907720"/>
            <a:ext cx="1325520" cy="402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400" strike="noStrike" u="none">
                <a:solidFill>
                  <a:srgbClr val="ff0000"/>
                </a:solidFill>
                <a:effectLst/>
                <a:uFillTx/>
                <a:latin typeface="メイリオ"/>
                <a:ea typeface="メイリオ"/>
              </a:rPr>
              <a:t>10</a:t>
            </a:r>
            <a:r>
              <a:rPr b="1" lang="zh-CN" sz="1400" strike="noStrike" u="none">
                <a:solidFill>
                  <a:srgbClr val="ff0000"/>
                </a:solidFill>
                <a:effectLst/>
                <a:uFillTx/>
                <a:latin typeface="メイリオ"/>
                <a:ea typeface="メイリオ"/>
              </a:rPr>
              <a:t>件</a:t>
            </a:r>
            <a:r>
              <a:rPr b="1" lang="en-US" sz="1400" strike="noStrike" u="none">
                <a:solidFill>
                  <a:srgbClr val="ff0000"/>
                </a:solidFill>
                <a:effectLst/>
                <a:uFillTx/>
                <a:latin typeface="メイリオ"/>
                <a:ea typeface="メイリオ"/>
              </a:rPr>
              <a:t>/</a:t>
            </a:r>
            <a:r>
              <a:rPr b="1" lang="zh-CN" sz="1400" strike="noStrike" u="none">
                <a:solidFill>
                  <a:srgbClr val="ff0000"/>
                </a:solidFill>
                <a:effectLst/>
                <a:uFillTx/>
                <a:latin typeface="メイリオ"/>
                <a:ea typeface="メイリオ"/>
              </a:rPr>
              <a:t>月</a:t>
            </a:r>
            <a:endParaRPr b="0" lang="en-US" sz="1400" strike="noStrike" u="none">
              <a:solidFill>
                <a:srgbClr val="000000"/>
              </a:solidFill>
              <a:effectLst/>
              <a:uFillTx/>
              <a:latin typeface="Arial"/>
            </a:endParaRPr>
          </a:p>
        </p:txBody>
      </p:sp>
      <p:sp>
        <p:nvSpPr>
          <p:cNvPr id="378" name="テキスト ボックス 26"/>
          <p:cNvSpPr/>
          <p:nvPr/>
        </p:nvSpPr>
        <p:spPr>
          <a:xfrm>
            <a:off x="8256960" y="3383280"/>
            <a:ext cx="1325520" cy="402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400" strike="noStrike" u="none">
                <a:solidFill>
                  <a:srgbClr val="ff0000"/>
                </a:solidFill>
                <a:effectLst/>
                <a:uFillTx/>
                <a:latin typeface="メイリオ"/>
                <a:ea typeface="メイリオ"/>
              </a:rPr>
              <a:t>23</a:t>
            </a:r>
            <a:r>
              <a:rPr b="1" lang="zh-CN" sz="1400" strike="noStrike" u="none">
                <a:solidFill>
                  <a:srgbClr val="ff0000"/>
                </a:solidFill>
                <a:effectLst/>
                <a:uFillTx/>
                <a:latin typeface="メイリオ"/>
                <a:ea typeface="メイリオ"/>
              </a:rPr>
              <a:t>件</a:t>
            </a:r>
            <a:r>
              <a:rPr b="1" lang="en-US" sz="1400" strike="noStrike" u="none">
                <a:solidFill>
                  <a:srgbClr val="ff0000"/>
                </a:solidFill>
                <a:effectLst/>
                <a:uFillTx/>
                <a:latin typeface="メイリオ"/>
                <a:ea typeface="メイリオ"/>
              </a:rPr>
              <a:t>/</a:t>
            </a:r>
            <a:r>
              <a:rPr b="1" lang="zh-CN" sz="1400" strike="noStrike" u="none">
                <a:solidFill>
                  <a:srgbClr val="ff0000"/>
                </a:solidFill>
                <a:effectLst/>
                <a:uFillTx/>
                <a:latin typeface="メイリオ"/>
                <a:ea typeface="メイリオ"/>
              </a:rPr>
              <a:t>月</a:t>
            </a:r>
            <a:endParaRPr b="0" lang="en-US" sz="1400" strike="noStrike" u="none">
              <a:solidFill>
                <a:srgbClr val="000000"/>
              </a:solidFill>
              <a:effectLst/>
              <a:uFillTx/>
              <a:latin typeface="Arial"/>
            </a:endParaRPr>
          </a:p>
        </p:txBody>
      </p:sp>
      <p:sp>
        <p:nvSpPr>
          <p:cNvPr id="379" name="テキスト ボックス 30"/>
          <p:cNvSpPr/>
          <p:nvPr/>
        </p:nvSpPr>
        <p:spPr>
          <a:xfrm>
            <a:off x="7959960" y="3858840"/>
            <a:ext cx="1919880" cy="365400"/>
          </a:xfrm>
          <a:prstGeom prst="rect">
            <a:avLst/>
          </a:prstGeom>
          <a:noFill/>
          <a:ln w="0">
            <a:noFill/>
          </a:ln>
        </p:spPr>
        <p:style>
          <a:lnRef idx="0"/>
          <a:fillRef idx="0"/>
          <a:effectRef idx="0"/>
          <a:fontRef idx="minor"/>
        </p:style>
        <p:txBody>
          <a:bodyPr lIns="18360" rIns="18360" tIns="45000" bIns="45000" anchor="ctr">
            <a:noAutofit/>
          </a:bodyPr>
          <a:p>
            <a:pPr algn="ctr" defTabSz="914400">
              <a:lnSpc>
                <a:spcPct val="100000"/>
              </a:lnSpc>
            </a:pPr>
            <a:r>
              <a:rPr b="1" lang="ja-JP" sz="1400" strike="noStrike" u="none">
                <a:solidFill>
                  <a:schemeClr val="dk1"/>
                </a:solidFill>
                <a:effectLst/>
                <a:uFillTx/>
                <a:latin typeface="メイリオ"/>
                <a:ea typeface="メイリオ"/>
              </a:rPr>
              <a:t>（</a:t>
            </a:r>
            <a:r>
              <a:rPr b="1" lang="en-US" sz="1400" strike="noStrike" u="none">
                <a:solidFill>
                  <a:schemeClr val="dk1"/>
                </a:solidFill>
                <a:effectLst/>
                <a:uFillTx/>
                <a:latin typeface="メイリオ"/>
                <a:ea typeface="メイリオ"/>
              </a:rPr>
              <a:t>6</a:t>
            </a:r>
            <a:r>
              <a:rPr b="1" lang="ja-JP" sz="1400" strike="noStrike" u="none">
                <a:solidFill>
                  <a:schemeClr val="dk1"/>
                </a:solidFill>
                <a:effectLst/>
                <a:uFillTx/>
                <a:latin typeface="メイリオ"/>
                <a:ea typeface="メイリオ"/>
              </a:rPr>
              <a:t>か月累計</a:t>
            </a:r>
            <a:r>
              <a:rPr b="1" lang="en-US" sz="1400" strike="noStrike" u="none">
                <a:solidFill>
                  <a:schemeClr val="dk1"/>
                </a:solidFill>
                <a:effectLst/>
                <a:uFillTx/>
                <a:latin typeface="メイリオ"/>
                <a:ea typeface="メイリオ"/>
              </a:rPr>
              <a:t>90</a:t>
            </a:r>
            <a:r>
              <a:rPr b="1" lang="ja-JP" sz="1400" strike="noStrike" u="none">
                <a:solidFill>
                  <a:schemeClr val="dk1"/>
                </a:solidFill>
                <a:effectLst/>
                <a:uFillTx/>
                <a:latin typeface="メイリオ"/>
                <a:ea typeface="メイリオ"/>
              </a:rPr>
              <a:t>件）</a:t>
            </a:r>
            <a:endParaRPr b="0" lang="en-US" sz="1400" strike="noStrike" u="none">
              <a:solidFill>
                <a:srgbClr val="000000"/>
              </a:solidFill>
              <a:effectLst/>
              <a:uFillTx/>
              <a:latin typeface="Arial"/>
            </a:endParaRPr>
          </a:p>
        </p:txBody>
      </p:sp>
      <p:sp>
        <p:nvSpPr>
          <p:cNvPr id="380" name="テキスト ボックス 18"/>
          <p:cNvSpPr/>
          <p:nvPr/>
        </p:nvSpPr>
        <p:spPr>
          <a:xfrm>
            <a:off x="265320" y="6035040"/>
            <a:ext cx="9417960" cy="4384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n-US" sz="1000" strike="noStrike" u="none">
                <a:solidFill>
                  <a:schemeClr val="dk1"/>
                </a:solidFill>
                <a:effectLst/>
                <a:uFillTx/>
                <a:latin typeface="メイリオ"/>
                <a:ea typeface="メイリオ"/>
              </a:rPr>
              <a:t>※初期＝コンサル</a:t>
            </a:r>
            <a:r>
              <a:rPr b="0" lang="en-US" sz="1000" strike="noStrike" u="none">
                <a:solidFill>
                  <a:schemeClr val="dk1"/>
                </a:solidFill>
                <a:effectLst/>
                <a:uFillTx/>
                <a:latin typeface="メイリオ"/>
                <a:ea typeface="メイリオ"/>
              </a:rPr>
              <a:t>20</a:t>
            </a:r>
            <a:r>
              <a:rPr b="0" lang="zh-CN" sz="1000" strike="noStrike" u="none">
                <a:solidFill>
                  <a:schemeClr val="dk1"/>
                </a:solidFill>
                <a:effectLst/>
                <a:uFillTx/>
                <a:latin typeface="メイリオ"/>
                <a:ea typeface="メイリオ"/>
              </a:rPr>
              <a:t>万円＋離脱防止</a:t>
            </a:r>
            <a:r>
              <a:rPr b="0" lang="en-US" sz="1000" strike="noStrike" u="none">
                <a:solidFill>
                  <a:schemeClr val="dk1"/>
                </a:solidFill>
                <a:effectLst/>
                <a:uFillTx/>
                <a:latin typeface="メイリオ"/>
                <a:ea typeface="メイリオ"/>
              </a:rPr>
              <a:t>1.5</a:t>
            </a:r>
            <a:r>
              <a:rPr b="0" lang="zh-CN" sz="1000" strike="noStrike" u="none">
                <a:solidFill>
                  <a:schemeClr val="dk1"/>
                </a:solidFill>
                <a:effectLst/>
                <a:uFillTx/>
                <a:latin typeface="メイリオ"/>
                <a:ea typeface="メイリオ"/>
              </a:rPr>
              <a:t>万円／月額＝コンサル</a:t>
            </a:r>
            <a:r>
              <a:rPr b="0" lang="en-US" sz="1000" strike="noStrike" u="none">
                <a:solidFill>
                  <a:schemeClr val="dk1"/>
                </a:solidFill>
                <a:effectLst/>
                <a:uFillTx/>
                <a:latin typeface="メイリオ"/>
                <a:ea typeface="メイリオ"/>
              </a:rPr>
              <a:t>10</a:t>
            </a:r>
            <a:r>
              <a:rPr b="0" lang="zh-CN" sz="1000" strike="noStrike" u="none">
                <a:solidFill>
                  <a:schemeClr val="dk1"/>
                </a:solidFill>
                <a:effectLst/>
                <a:uFillTx/>
                <a:latin typeface="メイリオ"/>
                <a:ea typeface="メイリオ"/>
              </a:rPr>
              <a:t>万円＋離脱防止</a:t>
            </a:r>
            <a:r>
              <a:rPr b="0" lang="en-US" sz="1000" strike="noStrike" u="none">
                <a:solidFill>
                  <a:schemeClr val="dk1"/>
                </a:solidFill>
                <a:effectLst/>
                <a:uFillTx/>
                <a:latin typeface="メイリオ"/>
                <a:ea typeface="メイリオ"/>
              </a:rPr>
              <a:t>3</a:t>
            </a:r>
            <a:r>
              <a:rPr b="0" lang="zh-CN" sz="1000" strike="noStrike" u="none">
                <a:solidFill>
                  <a:schemeClr val="dk1"/>
                </a:solidFill>
                <a:effectLst/>
                <a:uFillTx/>
                <a:latin typeface="メイリオ"/>
                <a:ea typeface="メイリオ"/>
              </a:rPr>
              <a:t>万円＋</a:t>
            </a:r>
            <a:r>
              <a:rPr b="0" lang="en-US" sz="1000" strike="noStrike" u="none">
                <a:solidFill>
                  <a:schemeClr val="dk1"/>
                </a:solidFill>
                <a:effectLst/>
                <a:uFillTx/>
                <a:latin typeface="メイリオ"/>
                <a:ea typeface="メイリオ"/>
              </a:rPr>
              <a:t>LINE</a:t>
            </a:r>
            <a:r>
              <a:rPr b="0" lang="zh-CN" sz="1000" strike="noStrike" u="none">
                <a:solidFill>
                  <a:schemeClr val="dk1"/>
                </a:solidFill>
                <a:effectLst/>
                <a:uFillTx/>
                <a:latin typeface="メイリオ"/>
                <a:ea typeface="メイリオ"/>
              </a:rPr>
              <a:t>公式アカウント</a:t>
            </a:r>
            <a:r>
              <a:rPr b="0" lang="en-US" sz="1000" strike="noStrike" u="none">
                <a:solidFill>
                  <a:schemeClr val="dk1"/>
                </a:solidFill>
                <a:effectLst/>
                <a:uFillTx/>
                <a:latin typeface="メイリオ"/>
                <a:ea typeface="メイリオ"/>
              </a:rPr>
              <a:t>0.5</a:t>
            </a:r>
            <a:r>
              <a:rPr b="0" lang="zh-CN" sz="1000" strike="noStrike" u="none">
                <a:solidFill>
                  <a:schemeClr val="dk1"/>
                </a:solidFill>
                <a:effectLst/>
                <a:uFillTx/>
                <a:latin typeface="メイリオ"/>
                <a:ea typeface="メイリオ"/>
              </a:rPr>
              <a:t>万円</a:t>
            </a:r>
            <a:endParaRPr b="0" lang="en-US" sz="1000" strike="noStrike" u="none">
              <a:solidFill>
                <a:srgbClr val="000000"/>
              </a:solidFill>
              <a:effectLst/>
              <a:uFillTx/>
              <a:latin typeface="Arial"/>
            </a:endParaRPr>
          </a:p>
          <a:p>
            <a:pPr defTabSz="914400">
              <a:lnSpc>
                <a:spcPct val="100000"/>
              </a:lnSpc>
            </a:pPr>
            <a:r>
              <a:rPr b="0" lang="en-US" sz="1000" strike="noStrike" u="none">
                <a:solidFill>
                  <a:schemeClr val="dk1"/>
                </a:solidFill>
                <a:effectLst/>
                <a:uFillTx/>
                <a:latin typeface="メイリオ"/>
                <a:ea typeface="メイリオ"/>
              </a:rPr>
              <a:t>※6</a:t>
            </a:r>
            <a:r>
              <a:rPr b="0" lang="zh-CN" sz="1000" strike="noStrike" u="none">
                <a:solidFill>
                  <a:schemeClr val="dk1"/>
                </a:solidFill>
                <a:effectLst/>
                <a:uFillTx/>
                <a:latin typeface="メイリオ"/>
                <a:ea typeface="メイリオ"/>
              </a:rPr>
              <a:t>か月後は</a:t>
            </a:r>
            <a:r>
              <a:rPr b="0" lang="en-US" sz="1000" strike="noStrike" u="none">
                <a:solidFill>
                  <a:schemeClr val="dk1"/>
                </a:solidFill>
                <a:effectLst/>
                <a:uFillTx/>
                <a:latin typeface="メイリオ"/>
                <a:ea typeface="メイリオ"/>
              </a:rPr>
              <a:t>6</a:t>
            </a:r>
            <a:r>
              <a:rPr b="0" lang="zh-CN" sz="1000" strike="noStrike" u="none">
                <a:solidFill>
                  <a:schemeClr val="dk1"/>
                </a:solidFill>
                <a:effectLst/>
                <a:uFillTx/>
                <a:latin typeface="メイリオ"/>
                <a:ea typeface="メイリオ"/>
              </a:rPr>
              <a:t>か月目の月間の試算。問い合わせ①＝友だち追加直後の物件の問い合わせ、②＝ステップ配信・企画配信などからの問い合わせ</a:t>
            </a:r>
            <a:endParaRPr b="0" lang="en-US" sz="1000" strike="noStrike" u="none">
              <a:solidFill>
                <a:srgbClr val="000000"/>
              </a:solidFill>
              <a:effectLst/>
              <a:uFillTx/>
              <a:latin typeface="Arial"/>
            </a:endParaRPr>
          </a:p>
        </p:txBody>
      </p:sp>
      <p:sp>
        <p:nvSpPr>
          <p:cNvPr id="381" name="テキスト ボックス 30"/>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プラン①｜総合運用：初期</a:t>
            </a:r>
            <a:r>
              <a:rPr b="0" lang="en-US" sz="1400" strike="noStrike" u="none">
                <a:solidFill>
                  <a:schemeClr val="dk1">
                    <a:lumMod val="65000"/>
                    <a:lumOff val="35000"/>
                  </a:schemeClr>
                </a:solidFill>
                <a:effectLst/>
                <a:uFillTx/>
                <a:latin typeface="メイリオ"/>
                <a:ea typeface="メイリオ"/>
              </a:rPr>
              <a:t>21.5</a:t>
            </a:r>
            <a:r>
              <a:rPr b="0" lang="ja-JP" sz="1400" strike="noStrike" u="none">
                <a:solidFill>
                  <a:schemeClr val="dk1">
                    <a:lumMod val="65000"/>
                    <a:lumOff val="35000"/>
                  </a:schemeClr>
                </a:solidFill>
                <a:effectLst/>
                <a:uFillTx/>
                <a:latin typeface="メイリオ"/>
                <a:ea typeface="メイリオ"/>
              </a:rPr>
              <a:t>万円・月額</a:t>
            </a:r>
            <a:r>
              <a:rPr b="0" lang="en-US" sz="1400" strike="noStrike" u="none">
                <a:solidFill>
                  <a:schemeClr val="dk1">
                    <a:lumMod val="65000"/>
                    <a:lumOff val="35000"/>
                  </a:schemeClr>
                </a:solidFill>
                <a:effectLst/>
                <a:uFillTx/>
                <a:latin typeface="メイリオ"/>
                <a:ea typeface="メイリオ"/>
              </a:rPr>
              <a:t>13.5</a:t>
            </a:r>
            <a:r>
              <a:rPr b="0" lang="ja-JP" sz="1400" strike="noStrike" u="none">
                <a:solidFill>
                  <a:schemeClr val="dk1">
                    <a:lumMod val="65000"/>
                    <a:lumOff val="35000"/>
                  </a:schemeClr>
                </a:solidFill>
                <a:effectLst/>
                <a:uFillTx/>
                <a:latin typeface="メイリオ"/>
                <a:ea typeface="メイリオ"/>
              </a:rPr>
              <a:t>万円で運用します。</a:t>
            </a:r>
            <a:endParaRPr b="0" lang="en-US" sz="1400" strike="noStrike" u="none">
              <a:solidFill>
                <a:srgbClr val="000000"/>
              </a:solidFill>
              <a:effectLst/>
              <a:uFillTx/>
              <a:latin typeface="Arial"/>
            </a:endParaRPr>
          </a:p>
          <a:p>
            <a:pPr algn="ctr" defTabSz="914400">
              <a:lnSpc>
                <a:spcPct val="100000"/>
              </a:lnSpc>
            </a:pPr>
            <a:r>
              <a:rPr b="1" lang="en-US" sz="1400" strike="noStrike" u="none">
                <a:solidFill>
                  <a:schemeClr val="dk1">
                    <a:lumMod val="65000"/>
                    <a:lumOff val="35000"/>
                  </a:schemeClr>
                </a:solidFill>
                <a:effectLst/>
                <a:uFillTx/>
                <a:latin typeface="メイリオ"/>
                <a:ea typeface="メイリオ"/>
              </a:rPr>
              <a:t>6</a:t>
            </a:r>
            <a:r>
              <a:rPr b="1" lang="ja-JP" sz="1400" strike="noStrike" u="none">
                <a:solidFill>
                  <a:schemeClr val="dk1">
                    <a:lumMod val="65000"/>
                    <a:lumOff val="35000"/>
                  </a:schemeClr>
                </a:solidFill>
                <a:effectLst/>
                <a:uFillTx/>
                <a:latin typeface="メイリオ"/>
                <a:ea typeface="メイリオ"/>
              </a:rPr>
              <a:t>か月目に</a:t>
            </a:r>
            <a:r>
              <a:rPr b="1" lang="en-US" sz="1400" strike="noStrike" u="none">
                <a:solidFill>
                  <a:schemeClr val="dk1">
                    <a:lumMod val="65000"/>
                    <a:lumOff val="35000"/>
                  </a:schemeClr>
                </a:solidFill>
                <a:effectLst/>
                <a:uFillTx/>
                <a:latin typeface="メイリオ"/>
                <a:ea typeface="メイリオ"/>
              </a:rPr>
              <a:t>LINE</a:t>
            </a:r>
            <a:r>
              <a:rPr b="1" lang="ja-JP" sz="1400" strike="noStrike" u="none">
                <a:solidFill>
                  <a:schemeClr val="dk1">
                    <a:lumMod val="65000"/>
                    <a:lumOff val="35000"/>
                  </a:schemeClr>
                </a:solidFill>
                <a:effectLst/>
                <a:uFillTx/>
                <a:latin typeface="メイリオ"/>
                <a:ea typeface="メイリオ"/>
              </a:rPr>
              <a:t>経由の問い合わせ月</a:t>
            </a:r>
            <a:r>
              <a:rPr b="1" lang="en-US" sz="1400" strike="noStrike" u="none">
                <a:solidFill>
                  <a:schemeClr val="dk1">
                    <a:lumMod val="65000"/>
                    <a:lumOff val="35000"/>
                  </a:schemeClr>
                </a:solidFill>
                <a:effectLst/>
                <a:uFillTx/>
                <a:latin typeface="メイリオ"/>
                <a:ea typeface="メイリオ"/>
              </a:rPr>
              <a:t>23</a:t>
            </a:r>
            <a:r>
              <a:rPr b="1" lang="ja-JP" sz="1400" strike="noStrike" u="none">
                <a:solidFill>
                  <a:schemeClr val="dk1">
                    <a:lumMod val="65000"/>
                    <a:lumOff val="35000"/>
                  </a:schemeClr>
                </a:solidFill>
                <a:effectLst/>
                <a:uFillTx/>
                <a:latin typeface="メイリオ"/>
                <a:ea typeface="メイリオ"/>
              </a:rPr>
              <a:t>件を見込みます（試算）</a:t>
            </a:r>
            <a:r>
              <a:rPr b="0" lang="ja-JP" sz="1400" strike="noStrike" u="none">
                <a:solidFill>
                  <a:schemeClr val="dk1">
                    <a:lumMod val="65000"/>
                    <a:lumOff val="35000"/>
                  </a:schemeClr>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382" name="試算の前提"/>
          <p:cNvSpPr/>
          <p:nvPr/>
        </p:nvSpPr>
        <p:spPr>
          <a:xfrm>
            <a:off x="6812280" y="4434840"/>
            <a:ext cx="2834280" cy="1508400"/>
          </a:xfrm>
          <a:prstGeom prst="rect">
            <a:avLst/>
          </a:prstGeom>
          <a:solidFill>
            <a:srgbClr val="f4f7ff"/>
          </a:solidFill>
          <a:ln w="9525">
            <a:solidFill>
              <a:srgbClr val="d9d9d9"/>
            </a:solidFill>
            <a:round/>
          </a:ln>
        </p:spPr>
        <p:style>
          <a:lnRef idx="0"/>
          <a:fillRef idx="0"/>
          <a:effectRef idx="0"/>
          <a:fontRef idx="minor"/>
        </p:style>
        <p:txBody>
          <a:bodyPr lIns="109800" rIns="109800" tIns="73080" bIns="54720" anchor="t">
            <a:noAutofit/>
          </a:bodyPr>
          <a:p>
            <a:pPr defTabSz="914400">
              <a:lnSpc>
                <a:spcPct val="100000"/>
              </a:lnSpc>
              <a:spcAft>
                <a:spcPts val="300"/>
              </a:spcAft>
            </a:pPr>
            <a:r>
              <a:rPr b="1" lang="ja-JP" sz="1200" strike="noStrike" u="none">
                <a:solidFill>
                  <a:srgbClr val="1f285a"/>
                </a:solidFill>
                <a:effectLst/>
                <a:uFillTx/>
                <a:latin typeface="メイリオ"/>
                <a:ea typeface="メイリオ"/>
              </a:rPr>
              <a:t>＜試算の前提＞</a:t>
            </a:r>
            <a:endParaRPr b="0" lang="en-US" sz="1200" strike="noStrike" u="none">
              <a:solidFill>
                <a:srgbClr val="000000"/>
              </a:solidFill>
              <a:effectLst/>
              <a:uFillTx/>
              <a:latin typeface="Arial"/>
            </a:endParaRPr>
          </a:p>
          <a:p>
            <a:pPr defTabSz="914400">
              <a:lnSpc>
                <a:spcPct val="100000"/>
              </a:lnSpc>
              <a:spcAft>
                <a:spcPts val="300"/>
              </a:spcAft>
            </a:pPr>
            <a:r>
              <a:rPr b="0" lang="ja-JP" sz="1200" strike="noStrike" u="none">
                <a:solidFill>
                  <a:srgbClr val="333333"/>
                </a:solidFill>
                <a:effectLst/>
                <a:uFillTx/>
                <a:latin typeface="メイリオ"/>
                <a:ea typeface="メイリオ"/>
              </a:rPr>
              <a:t>プラン①｜総合運用の基本施策を</a:t>
            </a:r>
            <a:br>
              <a:rPr sz="1200"/>
            </a:br>
            <a:r>
              <a:rPr b="0" lang="ja-JP" sz="1200" strike="noStrike" u="none">
                <a:solidFill>
                  <a:srgbClr val="333333"/>
                </a:solidFill>
                <a:effectLst/>
                <a:uFillTx/>
                <a:latin typeface="メイリオ"/>
                <a:ea typeface="メイリオ"/>
              </a:rPr>
              <a:t>対象とした試算です。</a:t>
            </a:r>
            <a:endParaRPr b="0" lang="en-US" sz="1200" strike="noStrike" u="none">
              <a:solidFill>
                <a:srgbClr val="000000"/>
              </a:solidFill>
              <a:effectLst/>
              <a:uFillTx/>
              <a:latin typeface="Arial"/>
            </a:endParaRPr>
          </a:p>
          <a:p>
            <a:pPr defTabSz="914400">
              <a:lnSpc>
                <a:spcPct val="100000"/>
              </a:lnSpc>
              <a:spcAft>
                <a:spcPts val="300"/>
              </a:spcAft>
            </a:pPr>
            <a:r>
              <a:rPr b="0" lang="en-US" sz="1200" strike="noStrike" u="none">
                <a:solidFill>
                  <a:srgbClr val="333333"/>
                </a:solidFill>
                <a:effectLst/>
                <a:uFillTx/>
                <a:latin typeface="メイリオ"/>
                <a:ea typeface="メイリオ"/>
              </a:rPr>
              <a:t>API</a:t>
            </a:r>
            <a:r>
              <a:rPr b="0" lang="ja-JP" sz="1200" strike="noStrike" u="none">
                <a:solidFill>
                  <a:srgbClr val="333333"/>
                </a:solidFill>
                <a:effectLst/>
                <a:uFillTx/>
                <a:latin typeface="メイリオ"/>
                <a:ea typeface="メイリオ"/>
              </a:rPr>
              <a:t>連携・追加開発の効果は</a:t>
            </a:r>
            <a:br>
              <a:rPr sz="1200"/>
            </a:br>
            <a:r>
              <a:rPr b="0" lang="ja-JP" sz="1200" strike="noStrike" u="none">
                <a:solidFill>
                  <a:srgbClr val="333333"/>
                </a:solidFill>
                <a:effectLst/>
                <a:uFillTx/>
                <a:latin typeface="メイリオ"/>
                <a:ea typeface="メイリオ"/>
              </a:rPr>
              <a:t>含みません。</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385"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実施施策</a:t>
            </a:r>
            <a:endParaRPr b="0" lang="en-US" sz="1600" strike="noStrike" u="none">
              <a:solidFill>
                <a:srgbClr val="000000"/>
              </a:solidFill>
              <a:effectLst/>
              <a:uFillTx/>
              <a:latin typeface="Arial"/>
            </a:endParaRPr>
          </a:p>
        </p:txBody>
      </p:sp>
      <p:sp>
        <p:nvSpPr>
          <p:cNvPr id="386" name="TextBox 2"/>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zh-CN" sz="1400" strike="noStrike" u="none">
                <a:solidFill>
                  <a:srgbClr val="5a6378"/>
                </a:solidFill>
                <a:effectLst/>
                <a:uFillTx/>
                <a:latin typeface="メイリオ"/>
                <a:ea typeface="メイリオ"/>
              </a:rPr>
              <a:t>友だち追加から</a:t>
            </a:r>
            <a:r>
              <a:rPr b="0" lang="en-US" sz="1400" strike="noStrike" u="none">
                <a:solidFill>
                  <a:srgbClr val="5a6378"/>
                </a:solidFill>
                <a:effectLst/>
                <a:uFillTx/>
                <a:latin typeface="メイリオ"/>
                <a:ea typeface="メイリオ"/>
              </a:rPr>
              <a:t>14</a:t>
            </a:r>
            <a:r>
              <a:rPr b="0" lang="zh-CN" sz="1400" strike="noStrike" u="none">
                <a:solidFill>
                  <a:srgbClr val="5a6378"/>
                </a:solidFill>
                <a:effectLst/>
                <a:uFillTx/>
                <a:latin typeface="メイリオ"/>
                <a:ea typeface="メイリオ"/>
              </a:rPr>
              <a:t>日間のステップ配信（全</a:t>
            </a:r>
            <a:r>
              <a:rPr b="0" lang="en-US" sz="1400" strike="noStrike" u="none">
                <a:solidFill>
                  <a:srgbClr val="5a6378"/>
                </a:solidFill>
                <a:effectLst/>
                <a:uFillTx/>
                <a:latin typeface="メイリオ"/>
                <a:ea typeface="メイリオ"/>
              </a:rPr>
              <a:t>10</a:t>
            </a:r>
            <a:r>
              <a:rPr b="0" lang="zh-CN" sz="1400" strike="noStrike" u="none">
                <a:solidFill>
                  <a:srgbClr val="5a6378"/>
                </a:solidFill>
                <a:effectLst/>
                <a:uFillTx/>
                <a:latin typeface="メイリオ"/>
                <a:ea typeface="メイリオ"/>
              </a:rPr>
              <a:t>通）と月</a:t>
            </a:r>
            <a:r>
              <a:rPr b="0" lang="en-US" sz="1400" strike="noStrike" u="none">
                <a:solidFill>
                  <a:srgbClr val="5a6378"/>
                </a:solidFill>
                <a:effectLst/>
                <a:uFillTx/>
                <a:latin typeface="メイリオ"/>
                <a:ea typeface="メイリオ"/>
              </a:rPr>
              <a:t>4</a:t>
            </a:r>
            <a:r>
              <a:rPr b="0" lang="zh-CN" sz="1400" strike="noStrike" u="none">
                <a:solidFill>
                  <a:srgbClr val="5a6378"/>
                </a:solidFill>
                <a:effectLst/>
                <a:uFillTx/>
                <a:latin typeface="メイリオ"/>
                <a:ea typeface="メイリオ"/>
              </a:rPr>
              <a:t>本の企画配信で、物件</a:t>
            </a:r>
            <a:r>
              <a:rPr b="0" lang="en-US" sz="1400" strike="noStrike" u="none">
                <a:solidFill>
                  <a:srgbClr val="5a6378"/>
                </a:solidFill>
                <a:effectLst/>
                <a:uFillTx/>
                <a:latin typeface="メイリオ"/>
                <a:ea typeface="メイリオ"/>
              </a:rPr>
              <a:t>URL</a:t>
            </a:r>
            <a:r>
              <a:rPr b="0" lang="zh-CN" sz="1400" strike="noStrike" u="none">
                <a:solidFill>
                  <a:srgbClr val="5a6378"/>
                </a:solidFill>
                <a:effectLst/>
                <a:uFillTx/>
                <a:latin typeface="メイリオ"/>
                <a:ea typeface="メイリオ"/>
              </a:rPr>
              <a:t>の送信を後押しします</a:t>
            </a:r>
            <a:endParaRPr b="0" lang="en-US" sz="1400" strike="noStrike" u="none">
              <a:solidFill>
                <a:srgbClr val="000000"/>
              </a:solidFill>
              <a:effectLst/>
              <a:uFillTx/>
              <a:latin typeface="Arial"/>
            </a:endParaRPr>
          </a:p>
        </p:txBody>
      </p:sp>
      <p:sp>
        <p:nvSpPr>
          <p:cNvPr id="387" name="TextBox 3"/>
          <p:cNvSpPr/>
          <p:nvPr/>
        </p:nvSpPr>
        <p:spPr>
          <a:xfrm>
            <a:off x="384120" y="1371600"/>
            <a:ext cx="3657240" cy="292320"/>
          </a:xfrm>
          <a:prstGeom prst="rect">
            <a:avLst/>
          </a:prstGeom>
          <a:noFill/>
          <a:ln w="0">
            <a:noFill/>
          </a:ln>
        </p:spPr>
        <p:style>
          <a:lnRef idx="0"/>
          <a:fillRef idx="0"/>
          <a:effectRef idx="0"/>
          <a:fontRef idx="minor"/>
        </p:style>
        <p:txBody>
          <a:bodyPr lIns="45720" rIns="45720" tIns="0" bIns="0" anchor="ctr">
            <a:noAutofit/>
          </a:bodyPr>
          <a:p>
            <a:pPr defTabSz="914400">
              <a:lnSpc>
                <a:spcPct val="100000"/>
              </a:lnSpc>
              <a:tabLst>
                <a:tab algn="l" pos="0"/>
              </a:tabLst>
            </a:pPr>
            <a:r>
              <a:rPr b="1" lang="en-US" sz="1400" strike="noStrike" u="none">
                <a:solidFill>
                  <a:srgbClr val="1f2a5c"/>
                </a:solidFill>
                <a:effectLst/>
                <a:uFillTx/>
                <a:latin typeface="メイリオ"/>
                <a:ea typeface="メイリオ"/>
              </a:rPr>
              <a:t>[</a:t>
            </a:r>
            <a:r>
              <a:rPr b="1" lang="zh-CN" sz="1400" strike="noStrike" u="none">
                <a:solidFill>
                  <a:srgbClr val="1f2a5c"/>
                </a:solidFill>
                <a:effectLst/>
                <a:uFillTx/>
                <a:latin typeface="メイリオ"/>
                <a:ea typeface="メイリオ"/>
              </a:rPr>
              <a:t>ステップ配信・全</a:t>
            </a:r>
            <a:r>
              <a:rPr b="1" lang="en-US" sz="1400" strike="noStrike" u="none">
                <a:solidFill>
                  <a:srgbClr val="1f2a5c"/>
                </a:solidFill>
                <a:effectLst/>
                <a:uFillTx/>
                <a:latin typeface="メイリオ"/>
                <a:ea typeface="メイリオ"/>
              </a:rPr>
              <a:t>10</a:t>
            </a:r>
            <a:r>
              <a:rPr b="1" lang="zh-CN" sz="1400" strike="noStrike" u="none">
                <a:solidFill>
                  <a:srgbClr val="1f2a5c"/>
                </a:solidFill>
                <a:effectLst/>
                <a:uFillTx/>
                <a:latin typeface="メイリオ"/>
                <a:ea typeface="メイリオ"/>
              </a:rPr>
              <a:t>通</a:t>
            </a:r>
            <a:r>
              <a:rPr b="1" lang="en-US" sz="1400" strike="noStrike" u="none">
                <a:solidFill>
                  <a:srgbClr val="1f2a5c"/>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388" name="Rounded Rectangle 4"/>
          <p:cNvSpPr/>
          <p:nvPr/>
        </p:nvSpPr>
        <p:spPr>
          <a:xfrm>
            <a:off x="384120" y="1920240"/>
            <a:ext cx="987120" cy="484200"/>
          </a:xfrm>
          <a:prstGeom prst="roundRect">
            <a:avLst>
              <a:gd name="adj" fmla="val 10000"/>
            </a:avLst>
          </a:prstGeom>
          <a:solidFill>
            <a:srgbClr val="5a6378"/>
          </a:solidFill>
          <a:ln w="12700">
            <a:solidFill>
              <a:srgbClr val="5a6378"/>
            </a:solidFill>
            <a:round/>
          </a:ln>
          <a:effectLst>
            <a:outerShdw blurRad="39960" dir="5400000" dist="23040" rotWithShape="0">
              <a:srgbClr val="000000">
                <a:alpha val="35000"/>
              </a:srgbClr>
            </a:outerShdw>
          </a:effectLst>
        </p:spPr>
        <p:style>
          <a:lnRef idx="0"/>
          <a:fillRef idx="0"/>
          <a:effectRef idx="0"/>
          <a:fontRef idx="minor"/>
        </p:style>
        <p:txBody>
          <a:bodyPr lIns="0" rIns="0" tIns="18360" bIns="18360" anchor="ctr">
            <a:noAutofit/>
          </a:bodyPr>
          <a:p>
            <a:pPr algn="ctr" defTabSz="914400">
              <a:lnSpc>
                <a:spcPct val="90000"/>
              </a:lnSpc>
              <a:tabLst>
                <a:tab algn="l" pos="0"/>
              </a:tabLst>
            </a:pPr>
            <a:r>
              <a:rPr b="1" lang="en-US" sz="1200" strike="noStrike" u="none">
                <a:solidFill>
                  <a:srgbClr val="ffffff"/>
                </a:solidFill>
                <a:effectLst/>
                <a:uFillTx/>
                <a:latin typeface="メイリオ"/>
                <a:ea typeface="メイリオ"/>
              </a:rPr>
              <a:t>1</a:t>
            </a:r>
            <a:r>
              <a:rPr b="1" lang="zh-CN" sz="1200" strike="noStrike" u="none">
                <a:solidFill>
                  <a:srgbClr val="ffffff"/>
                </a:solidFill>
                <a:effectLst/>
                <a:uFillTx/>
                <a:latin typeface="メイリオ"/>
                <a:ea typeface="メイリオ"/>
              </a:rPr>
              <a:t>〜</a:t>
            </a:r>
            <a:r>
              <a:rPr b="1" lang="en-US" sz="1200" strike="noStrike" u="none">
                <a:solidFill>
                  <a:srgbClr val="ffffff"/>
                </a:solidFill>
                <a:effectLst/>
                <a:uFillTx/>
                <a:latin typeface="メイリオ"/>
                <a:ea typeface="メイリオ"/>
              </a:rPr>
              <a:t>3</a:t>
            </a:r>
            <a:r>
              <a:rPr b="1" lang="zh-CN" sz="1200" strike="noStrike" u="none">
                <a:solidFill>
                  <a:srgbClr val="ffffff"/>
                </a:solidFill>
                <a:effectLst/>
                <a:uFillTx/>
                <a:latin typeface="メイリオ"/>
                <a:ea typeface="メイリオ"/>
              </a:rPr>
              <a:t>日後</a:t>
            </a:r>
            <a:endParaRPr b="0" lang="en-US" sz="1200" strike="noStrike" u="none">
              <a:solidFill>
                <a:srgbClr val="ffffff"/>
              </a:solidFill>
              <a:effectLst/>
              <a:uFillTx/>
              <a:latin typeface="Arial"/>
            </a:endParaRPr>
          </a:p>
        </p:txBody>
      </p:sp>
      <p:sp>
        <p:nvSpPr>
          <p:cNvPr id="389" name="Rounded Rectangle 5"/>
          <p:cNvSpPr/>
          <p:nvPr/>
        </p:nvSpPr>
        <p:spPr>
          <a:xfrm>
            <a:off x="1426320" y="1920240"/>
            <a:ext cx="11883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新しい友だち</a:t>
            </a:r>
            <a:endParaRPr b="0" lang="en-US" sz="1200" strike="noStrike" u="none">
              <a:solidFill>
                <a:srgbClr val="000000"/>
              </a:solidFill>
              <a:effectLst/>
              <a:uFillTx/>
              <a:latin typeface="Arial"/>
            </a:endParaRPr>
          </a:p>
        </p:txBody>
      </p:sp>
      <p:sp>
        <p:nvSpPr>
          <p:cNvPr id="390" name="Right Arrow 6"/>
          <p:cNvSpPr/>
          <p:nvPr/>
        </p:nvSpPr>
        <p:spPr>
          <a:xfrm>
            <a:off x="2615040" y="2089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391" name="Rounded Rectangle 7"/>
          <p:cNvSpPr/>
          <p:nvPr/>
        </p:nvSpPr>
        <p:spPr>
          <a:xfrm>
            <a:off x="2853000" y="1920240"/>
            <a:ext cx="146268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追加後に自動配信</a:t>
            </a:r>
            <a:endParaRPr b="0" lang="en-US" sz="1200" strike="noStrike" u="none">
              <a:solidFill>
                <a:srgbClr val="000000"/>
              </a:solidFill>
              <a:effectLst/>
              <a:uFillTx/>
              <a:latin typeface="Arial"/>
            </a:endParaRPr>
          </a:p>
        </p:txBody>
      </p:sp>
      <p:sp>
        <p:nvSpPr>
          <p:cNvPr id="392" name="Right Arrow 8"/>
          <p:cNvSpPr/>
          <p:nvPr/>
        </p:nvSpPr>
        <p:spPr>
          <a:xfrm>
            <a:off x="4316040" y="2089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393" name="Rounded Rectangle 9"/>
          <p:cNvSpPr/>
          <p:nvPr/>
        </p:nvSpPr>
        <p:spPr>
          <a:xfrm>
            <a:off x="4553640" y="192024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仲介手数料のしくみ</a:t>
            </a:r>
            <a:endParaRPr b="0" lang="en-US" sz="1200" strike="noStrike" u="none">
              <a:solidFill>
                <a:srgbClr val="000000"/>
              </a:solidFill>
              <a:effectLst/>
              <a:uFillTx/>
              <a:latin typeface="Arial"/>
            </a:endParaRPr>
          </a:p>
          <a:p>
            <a:pPr algn="ctr" defTabSz="914400">
              <a:lnSpc>
                <a:spcPct val="90000"/>
              </a:lnSpc>
              <a:tabLst>
                <a:tab algn="l" pos="0"/>
              </a:tabLst>
            </a:pPr>
            <a:r>
              <a:rPr b="0" lang="en-US" sz="1200" strike="noStrike" u="none">
                <a:solidFill>
                  <a:srgbClr val="333333"/>
                </a:solidFill>
                <a:effectLst/>
                <a:uFillTx/>
                <a:latin typeface="メイリオ"/>
                <a:ea typeface="メイリオ"/>
              </a:rPr>
              <a:t>100</a:t>
            </a:r>
            <a:r>
              <a:rPr b="0" lang="zh-CN" sz="1200" strike="noStrike" u="none">
                <a:solidFill>
                  <a:srgbClr val="333333"/>
                </a:solidFill>
                <a:effectLst/>
                <a:uFillTx/>
                <a:latin typeface="メイリオ"/>
                <a:ea typeface="メイリオ"/>
              </a:rPr>
              <a:t>円チェッカー</a:t>
            </a:r>
            <a:endParaRPr b="0" lang="en-US" sz="1200" strike="noStrike" u="none">
              <a:solidFill>
                <a:srgbClr val="000000"/>
              </a:solidFill>
              <a:effectLst/>
              <a:uFillTx/>
              <a:latin typeface="Arial"/>
            </a:endParaRPr>
          </a:p>
        </p:txBody>
      </p:sp>
      <p:sp>
        <p:nvSpPr>
          <p:cNvPr id="394" name="Right Arrow 10"/>
          <p:cNvSpPr/>
          <p:nvPr/>
        </p:nvSpPr>
        <p:spPr>
          <a:xfrm>
            <a:off x="6144840" y="2089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395" name="Rounded Rectangle 11"/>
          <p:cNvSpPr/>
          <p:nvPr/>
        </p:nvSpPr>
        <p:spPr>
          <a:xfrm>
            <a:off x="6382440" y="192024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a:t>
            </a:r>
            <a:r>
              <a:rPr b="0" lang="en-US" sz="1200" strike="noStrike" u="none">
                <a:solidFill>
                  <a:srgbClr val="333333"/>
                </a:solidFill>
                <a:effectLst/>
                <a:uFillTx/>
                <a:latin typeface="メイリオ"/>
                <a:ea typeface="メイリオ"/>
              </a:rPr>
              <a:t>URL</a:t>
            </a:r>
            <a:r>
              <a:rPr b="0" lang="zh-CN" sz="1200" strike="noStrike" u="none">
                <a:solidFill>
                  <a:srgbClr val="333333"/>
                </a:solidFill>
                <a:effectLst/>
                <a:uFillTx/>
                <a:latin typeface="メイリオ"/>
                <a:ea typeface="メイリオ"/>
              </a:rPr>
              <a:t>の送信</a:t>
            </a:r>
            <a:endParaRPr b="0" lang="en-US" sz="1200" strike="noStrike" u="none">
              <a:solidFill>
                <a:srgbClr val="000000"/>
              </a:solidFill>
              <a:effectLst/>
              <a:uFillTx/>
              <a:latin typeface="Arial"/>
            </a:endParaRPr>
          </a:p>
        </p:txBody>
      </p:sp>
      <p:sp>
        <p:nvSpPr>
          <p:cNvPr id="396" name="Right Arrow 12"/>
          <p:cNvSpPr/>
          <p:nvPr/>
        </p:nvSpPr>
        <p:spPr>
          <a:xfrm>
            <a:off x="7973640" y="2089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397" name="Rounded Rectangle 13"/>
          <p:cNvSpPr/>
          <p:nvPr/>
        </p:nvSpPr>
        <p:spPr>
          <a:xfrm>
            <a:off x="8211240" y="1920240"/>
            <a:ext cx="129816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398" name="Rounded Rectangle 14"/>
          <p:cNvSpPr/>
          <p:nvPr/>
        </p:nvSpPr>
        <p:spPr>
          <a:xfrm>
            <a:off x="384120" y="2468880"/>
            <a:ext cx="987120" cy="484200"/>
          </a:xfrm>
          <a:prstGeom prst="roundRect">
            <a:avLst>
              <a:gd name="adj" fmla="val 10000"/>
            </a:avLst>
          </a:prstGeom>
          <a:solidFill>
            <a:srgbClr val="5a6378"/>
          </a:solidFill>
          <a:ln w="12700">
            <a:solidFill>
              <a:srgbClr val="5a6378"/>
            </a:solidFill>
            <a:round/>
          </a:ln>
          <a:effectLst>
            <a:outerShdw blurRad="39960" dir="5400000" dist="23040" rotWithShape="0">
              <a:srgbClr val="000000">
                <a:alpha val="35000"/>
              </a:srgbClr>
            </a:outerShdw>
          </a:effectLst>
        </p:spPr>
        <p:style>
          <a:lnRef idx="0"/>
          <a:fillRef idx="0"/>
          <a:effectRef idx="0"/>
          <a:fontRef idx="minor"/>
        </p:style>
        <p:txBody>
          <a:bodyPr lIns="0" rIns="0" tIns="18360" bIns="18360" anchor="ctr">
            <a:noAutofit/>
          </a:bodyPr>
          <a:p>
            <a:pPr algn="ctr" defTabSz="914400">
              <a:lnSpc>
                <a:spcPct val="90000"/>
              </a:lnSpc>
              <a:tabLst>
                <a:tab algn="l" pos="0"/>
              </a:tabLst>
            </a:pPr>
            <a:r>
              <a:rPr b="1" lang="en-US" sz="1200" strike="noStrike" u="none">
                <a:solidFill>
                  <a:srgbClr val="ffffff"/>
                </a:solidFill>
                <a:effectLst/>
                <a:uFillTx/>
                <a:latin typeface="メイリオ"/>
                <a:ea typeface="メイリオ"/>
              </a:rPr>
              <a:t>4</a:t>
            </a:r>
            <a:r>
              <a:rPr b="1" lang="zh-CN" sz="1200" strike="noStrike" u="none">
                <a:solidFill>
                  <a:srgbClr val="ffffff"/>
                </a:solidFill>
                <a:effectLst/>
                <a:uFillTx/>
                <a:latin typeface="メイリオ"/>
                <a:ea typeface="メイリオ"/>
              </a:rPr>
              <a:t>〜</a:t>
            </a:r>
            <a:r>
              <a:rPr b="1" lang="en-US" sz="1200" strike="noStrike" u="none">
                <a:solidFill>
                  <a:srgbClr val="ffffff"/>
                </a:solidFill>
                <a:effectLst/>
                <a:uFillTx/>
                <a:latin typeface="メイリオ"/>
                <a:ea typeface="メイリオ"/>
              </a:rPr>
              <a:t>7</a:t>
            </a:r>
            <a:r>
              <a:rPr b="1" lang="zh-CN" sz="1200" strike="noStrike" u="none">
                <a:solidFill>
                  <a:srgbClr val="ffffff"/>
                </a:solidFill>
                <a:effectLst/>
                <a:uFillTx/>
                <a:latin typeface="メイリオ"/>
                <a:ea typeface="メイリオ"/>
              </a:rPr>
              <a:t>日後</a:t>
            </a:r>
            <a:endParaRPr b="0" lang="en-US" sz="1200" strike="noStrike" u="none">
              <a:solidFill>
                <a:srgbClr val="ffffff"/>
              </a:solidFill>
              <a:effectLst/>
              <a:uFillTx/>
              <a:latin typeface="Arial"/>
            </a:endParaRPr>
          </a:p>
        </p:txBody>
      </p:sp>
      <p:sp>
        <p:nvSpPr>
          <p:cNvPr id="399" name="Rounded Rectangle 15"/>
          <p:cNvSpPr/>
          <p:nvPr/>
        </p:nvSpPr>
        <p:spPr>
          <a:xfrm>
            <a:off x="1426320" y="2468880"/>
            <a:ext cx="11883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新しい友だち</a:t>
            </a:r>
            <a:endParaRPr b="0" lang="en-US" sz="1200" strike="noStrike" u="none">
              <a:solidFill>
                <a:srgbClr val="000000"/>
              </a:solidFill>
              <a:effectLst/>
              <a:uFillTx/>
              <a:latin typeface="Arial"/>
            </a:endParaRPr>
          </a:p>
        </p:txBody>
      </p:sp>
      <p:sp>
        <p:nvSpPr>
          <p:cNvPr id="400" name="Right Arrow 16"/>
          <p:cNvSpPr/>
          <p:nvPr/>
        </p:nvSpPr>
        <p:spPr>
          <a:xfrm>
            <a:off x="2615040" y="263844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01" name="Rounded Rectangle 17"/>
          <p:cNvSpPr/>
          <p:nvPr/>
        </p:nvSpPr>
        <p:spPr>
          <a:xfrm>
            <a:off x="2853000" y="2468880"/>
            <a:ext cx="146268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追加後に自動配信</a:t>
            </a:r>
            <a:endParaRPr b="0" lang="en-US" sz="1200" strike="noStrike" u="none">
              <a:solidFill>
                <a:srgbClr val="000000"/>
              </a:solidFill>
              <a:effectLst/>
              <a:uFillTx/>
              <a:latin typeface="Arial"/>
            </a:endParaRPr>
          </a:p>
        </p:txBody>
      </p:sp>
      <p:sp>
        <p:nvSpPr>
          <p:cNvPr id="402" name="Right Arrow 18"/>
          <p:cNvSpPr/>
          <p:nvPr/>
        </p:nvSpPr>
        <p:spPr>
          <a:xfrm>
            <a:off x="4316040" y="263844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03" name="Rounded Rectangle 19"/>
          <p:cNvSpPr/>
          <p:nvPr/>
        </p:nvSpPr>
        <p:spPr>
          <a:xfrm>
            <a:off x="4553640" y="246888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ポータルでの探し方</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内見済みでも相談可</a:t>
            </a:r>
            <a:endParaRPr b="0" lang="en-US" sz="1200" strike="noStrike" u="none">
              <a:solidFill>
                <a:srgbClr val="000000"/>
              </a:solidFill>
              <a:effectLst/>
              <a:uFillTx/>
              <a:latin typeface="Arial"/>
            </a:endParaRPr>
          </a:p>
        </p:txBody>
      </p:sp>
      <p:sp>
        <p:nvSpPr>
          <p:cNvPr id="404" name="Right Arrow 20"/>
          <p:cNvSpPr/>
          <p:nvPr/>
        </p:nvSpPr>
        <p:spPr>
          <a:xfrm>
            <a:off x="6144840" y="263844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05" name="Rounded Rectangle 21"/>
          <p:cNvSpPr/>
          <p:nvPr/>
        </p:nvSpPr>
        <p:spPr>
          <a:xfrm>
            <a:off x="6382440" y="246888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比較中の方の後押し</a:t>
            </a:r>
            <a:endParaRPr b="0" lang="en-US" sz="1200" strike="noStrike" u="none">
              <a:solidFill>
                <a:srgbClr val="000000"/>
              </a:solidFill>
              <a:effectLst/>
              <a:uFillTx/>
              <a:latin typeface="Arial"/>
            </a:endParaRPr>
          </a:p>
        </p:txBody>
      </p:sp>
      <p:sp>
        <p:nvSpPr>
          <p:cNvPr id="406" name="Right Arrow 22"/>
          <p:cNvSpPr/>
          <p:nvPr/>
        </p:nvSpPr>
        <p:spPr>
          <a:xfrm>
            <a:off x="7973640" y="263844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07" name="Rounded Rectangle 23"/>
          <p:cNvSpPr/>
          <p:nvPr/>
        </p:nvSpPr>
        <p:spPr>
          <a:xfrm>
            <a:off x="8211240" y="2468880"/>
            <a:ext cx="129816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08" name="Rounded Rectangle 24"/>
          <p:cNvSpPr/>
          <p:nvPr/>
        </p:nvSpPr>
        <p:spPr>
          <a:xfrm>
            <a:off x="384120" y="3017520"/>
            <a:ext cx="987120" cy="484200"/>
          </a:xfrm>
          <a:prstGeom prst="roundRect">
            <a:avLst>
              <a:gd name="adj" fmla="val 10000"/>
            </a:avLst>
          </a:prstGeom>
          <a:solidFill>
            <a:srgbClr val="5a6378"/>
          </a:solidFill>
          <a:ln w="12700">
            <a:solidFill>
              <a:srgbClr val="5a6378"/>
            </a:solidFill>
            <a:round/>
          </a:ln>
          <a:effectLst>
            <a:outerShdw blurRad="39960" dir="5400000" dist="23040" rotWithShape="0">
              <a:srgbClr val="000000">
                <a:alpha val="35000"/>
              </a:srgbClr>
            </a:outerShdw>
          </a:effectLst>
        </p:spPr>
        <p:style>
          <a:lnRef idx="0"/>
          <a:fillRef idx="0"/>
          <a:effectRef idx="0"/>
          <a:fontRef idx="minor"/>
        </p:style>
        <p:txBody>
          <a:bodyPr lIns="0" rIns="0" tIns="18360" bIns="18360" anchor="ctr">
            <a:noAutofit/>
          </a:bodyPr>
          <a:p>
            <a:pPr algn="ctr" defTabSz="914400">
              <a:lnSpc>
                <a:spcPct val="90000"/>
              </a:lnSpc>
              <a:tabLst>
                <a:tab algn="l" pos="0"/>
              </a:tabLst>
            </a:pPr>
            <a:r>
              <a:rPr b="1" lang="en-US" sz="1200" strike="noStrike" u="none">
                <a:solidFill>
                  <a:srgbClr val="ffffff"/>
                </a:solidFill>
                <a:effectLst/>
                <a:uFillTx/>
                <a:latin typeface="メイリオ"/>
                <a:ea typeface="メイリオ"/>
              </a:rPr>
              <a:t>9</a:t>
            </a:r>
            <a:r>
              <a:rPr b="1" lang="zh-CN" sz="1200" strike="noStrike" u="none">
                <a:solidFill>
                  <a:srgbClr val="ffffff"/>
                </a:solidFill>
                <a:effectLst/>
                <a:uFillTx/>
                <a:latin typeface="メイリオ"/>
                <a:ea typeface="メイリオ"/>
              </a:rPr>
              <a:t>〜</a:t>
            </a:r>
            <a:r>
              <a:rPr b="1" lang="en-US" sz="1200" strike="noStrike" u="none">
                <a:solidFill>
                  <a:srgbClr val="ffffff"/>
                </a:solidFill>
                <a:effectLst/>
                <a:uFillTx/>
                <a:latin typeface="メイリオ"/>
                <a:ea typeface="メイリオ"/>
              </a:rPr>
              <a:t>14</a:t>
            </a:r>
            <a:r>
              <a:rPr b="1" lang="zh-CN" sz="1200" strike="noStrike" u="none">
                <a:solidFill>
                  <a:srgbClr val="ffffff"/>
                </a:solidFill>
                <a:effectLst/>
                <a:uFillTx/>
                <a:latin typeface="メイリオ"/>
                <a:ea typeface="メイリオ"/>
              </a:rPr>
              <a:t>日後</a:t>
            </a:r>
            <a:endParaRPr b="0" lang="en-US" sz="1200" strike="noStrike" u="none">
              <a:solidFill>
                <a:srgbClr val="ffffff"/>
              </a:solidFill>
              <a:effectLst/>
              <a:uFillTx/>
              <a:latin typeface="Arial"/>
            </a:endParaRPr>
          </a:p>
        </p:txBody>
      </p:sp>
      <p:sp>
        <p:nvSpPr>
          <p:cNvPr id="409" name="Rounded Rectangle 25"/>
          <p:cNvSpPr/>
          <p:nvPr/>
        </p:nvSpPr>
        <p:spPr>
          <a:xfrm>
            <a:off x="1426320" y="3017520"/>
            <a:ext cx="11883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新しい友だち</a:t>
            </a:r>
            <a:endParaRPr b="0" lang="en-US" sz="1200" strike="noStrike" u="none">
              <a:solidFill>
                <a:srgbClr val="000000"/>
              </a:solidFill>
              <a:effectLst/>
              <a:uFillTx/>
              <a:latin typeface="Arial"/>
            </a:endParaRPr>
          </a:p>
        </p:txBody>
      </p:sp>
      <p:sp>
        <p:nvSpPr>
          <p:cNvPr id="410" name="Right Arrow 26"/>
          <p:cNvSpPr/>
          <p:nvPr/>
        </p:nvSpPr>
        <p:spPr>
          <a:xfrm>
            <a:off x="2615040" y="31870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11" name="Rounded Rectangle 27"/>
          <p:cNvSpPr/>
          <p:nvPr/>
        </p:nvSpPr>
        <p:spPr>
          <a:xfrm>
            <a:off x="2853000" y="3017520"/>
            <a:ext cx="146268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追加後に自動配信</a:t>
            </a:r>
            <a:endParaRPr b="0" lang="en-US" sz="1200" strike="noStrike" u="none">
              <a:solidFill>
                <a:srgbClr val="000000"/>
              </a:solidFill>
              <a:effectLst/>
              <a:uFillTx/>
              <a:latin typeface="Arial"/>
            </a:endParaRPr>
          </a:p>
        </p:txBody>
      </p:sp>
      <p:sp>
        <p:nvSpPr>
          <p:cNvPr id="412" name="Right Arrow 28"/>
          <p:cNvSpPr/>
          <p:nvPr/>
        </p:nvSpPr>
        <p:spPr>
          <a:xfrm>
            <a:off x="4316040" y="31870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13" name="Rounded Rectangle 29"/>
          <p:cNvSpPr/>
          <p:nvPr/>
        </p:nvSpPr>
        <p:spPr>
          <a:xfrm>
            <a:off x="4553640" y="301752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初期費用の交渉</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入居までの流れ</a:t>
            </a:r>
            <a:endParaRPr b="0" lang="en-US" sz="1200" strike="noStrike" u="none">
              <a:solidFill>
                <a:srgbClr val="000000"/>
              </a:solidFill>
              <a:effectLst/>
              <a:uFillTx/>
              <a:latin typeface="Arial"/>
            </a:endParaRPr>
          </a:p>
        </p:txBody>
      </p:sp>
      <p:sp>
        <p:nvSpPr>
          <p:cNvPr id="414" name="Right Arrow 30"/>
          <p:cNvSpPr/>
          <p:nvPr/>
        </p:nvSpPr>
        <p:spPr>
          <a:xfrm>
            <a:off x="6144840" y="31870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15" name="Rounded Rectangle 31"/>
          <p:cNvSpPr/>
          <p:nvPr/>
        </p:nvSpPr>
        <p:spPr>
          <a:xfrm>
            <a:off x="6382440" y="301752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お申込みの後押し</a:t>
            </a:r>
            <a:endParaRPr b="0" lang="en-US" sz="1200" strike="noStrike" u="none">
              <a:solidFill>
                <a:srgbClr val="000000"/>
              </a:solidFill>
              <a:effectLst/>
              <a:uFillTx/>
              <a:latin typeface="Arial"/>
            </a:endParaRPr>
          </a:p>
        </p:txBody>
      </p:sp>
      <p:sp>
        <p:nvSpPr>
          <p:cNvPr id="416" name="Right Arrow 32"/>
          <p:cNvSpPr/>
          <p:nvPr/>
        </p:nvSpPr>
        <p:spPr>
          <a:xfrm>
            <a:off x="7973640" y="31870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17" name="Rounded Rectangle 33"/>
          <p:cNvSpPr/>
          <p:nvPr/>
        </p:nvSpPr>
        <p:spPr>
          <a:xfrm>
            <a:off x="8211240" y="3017520"/>
            <a:ext cx="129816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18" name="TextBox 34"/>
          <p:cNvSpPr/>
          <p:nvPr/>
        </p:nvSpPr>
        <p:spPr>
          <a:xfrm>
            <a:off x="384120" y="3712320"/>
            <a:ext cx="3657240" cy="292320"/>
          </a:xfrm>
          <a:prstGeom prst="rect">
            <a:avLst/>
          </a:prstGeom>
          <a:noFill/>
          <a:ln w="0">
            <a:noFill/>
          </a:ln>
        </p:spPr>
        <p:style>
          <a:lnRef idx="0"/>
          <a:fillRef idx="0"/>
          <a:effectRef idx="0"/>
          <a:fontRef idx="minor"/>
        </p:style>
        <p:txBody>
          <a:bodyPr lIns="45720" rIns="45720" tIns="0" bIns="0" anchor="ctr">
            <a:noAutofit/>
          </a:bodyPr>
          <a:p>
            <a:pPr defTabSz="914400">
              <a:lnSpc>
                <a:spcPct val="100000"/>
              </a:lnSpc>
              <a:tabLst>
                <a:tab algn="l" pos="0"/>
              </a:tabLst>
            </a:pPr>
            <a:r>
              <a:rPr b="1" lang="en-US" sz="1400" strike="noStrike" u="none">
                <a:solidFill>
                  <a:srgbClr val="1f2a5c"/>
                </a:solidFill>
                <a:effectLst/>
                <a:uFillTx/>
                <a:latin typeface="メイリオ"/>
                <a:ea typeface="メイリオ"/>
              </a:rPr>
              <a:t>[</a:t>
            </a:r>
            <a:r>
              <a:rPr b="1" lang="zh-CN" sz="1400" strike="noStrike" u="none">
                <a:solidFill>
                  <a:srgbClr val="1f2a5c"/>
                </a:solidFill>
                <a:effectLst/>
                <a:uFillTx/>
                <a:latin typeface="メイリオ"/>
                <a:ea typeface="メイリオ"/>
              </a:rPr>
              <a:t>企画配信</a:t>
            </a:r>
            <a:r>
              <a:rPr b="1" lang="en-US" sz="1400" strike="noStrike" u="none">
                <a:solidFill>
                  <a:srgbClr val="1f2a5c"/>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友だち全員</a:t>
            </a:r>
            <a:endParaRPr b="0" lang="en-US" sz="1200" strike="noStrike" u="none">
              <a:solidFill>
                <a:srgbClr val="000000"/>
              </a:solidFill>
              <a:effectLst/>
              <a:uFillTx/>
              <a:latin typeface="Arial"/>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絞り込みなし</a:t>
            </a:r>
            <a:endParaRPr b="0" lang="en-US" sz="1200" strike="noStrike" u="none">
              <a:solidFill>
                <a:srgbClr val="000000"/>
              </a:solidFill>
              <a:effectLst/>
              <a:uFillTx/>
              <a:latin typeface="Arial"/>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a:t>
            </a:r>
            <a:r>
              <a:rPr b="0" lang="en-US" sz="1200" strike="noStrike" u="none">
                <a:solidFill>
                  <a:srgbClr val="333333"/>
                </a:solidFill>
                <a:effectLst/>
                <a:uFillTx/>
                <a:latin typeface="メイリオ"/>
                <a:ea typeface="メイリオ"/>
              </a:rPr>
              <a:t>URL</a:t>
            </a:r>
            <a:r>
              <a:rPr b="0" lang="zh-CN" sz="1200" strike="noStrike" u="none">
                <a:solidFill>
                  <a:srgbClr val="333333"/>
                </a:solidFill>
                <a:effectLst/>
                <a:uFillTx/>
                <a:latin typeface="メイリオ"/>
                <a:ea typeface="メイリオ"/>
              </a:rPr>
              <a:t>の送り方</a:t>
            </a:r>
            <a:endParaRPr b="0" lang="en-US" sz="1200" strike="noStrike" u="none">
              <a:solidFill>
                <a:srgbClr val="000000"/>
              </a:solidFill>
              <a:effectLst/>
              <a:uFillTx/>
              <a:latin typeface="Arial"/>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物件の送信</a:t>
            </a:r>
            <a:endParaRPr b="0" lang="en-US" sz="1200" strike="noStrike" u="none">
              <a:solidFill>
                <a:srgbClr val="000000"/>
              </a:solidFill>
              <a:effectLst/>
              <a:uFillTx/>
              <a:latin typeface="Arial"/>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友だち全員</a:t>
            </a:r>
            <a:endParaRPr b="0" lang="en-US" sz="1200" strike="noStrike" u="none">
              <a:solidFill>
                <a:srgbClr val="000000"/>
              </a:solidFill>
              <a:effectLst/>
              <a:uFillTx/>
              <a:latin typeface="Arial"/>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絞り込みなし</a:t>
            </a:r>
            <a:endParaRPr b="0" lang="en-US" sz="1200" strike="noStrike" u="none">
              <a:solidFill>
                <a:srgbClr val="000000"/>
              </a:solidFill>
              <a:effectLst/>
              <a:uFillTx/>
              <a:latin typeface="Arial"/>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初期費用の内訳</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（家賃</a:t>
            </a:r>
            <a:r>
              <a:rPr b="0" lang="en-US" sz="1200" strike="noStrike" u="none">
                <a:solidFill>
                  <a:srgbClr val="333333"/>
                </a:solidFill>
                <a:effectLst/>
                <a:uFillTx/>
                <a:latin typeface="メイリオ"/>
                <a:ea typeface="メイリオ"/>
              </a:rPr>
              <a:t>10</a:t>
            </a:r>
            <a:r>
              <a:rPr b="0" lang="zh-CN" sz="1200" strike="noStrike" u="none">
                <a:solidFill>
                  <a:srgbClr val="333333"/>
                </a:solidFill>
                <a:effectLst/>
                <a:uFillTx/>
                <a:latin typeface="メイリオ"/>
                <a:ea typeface="メイリオ"/>
              </a:rPr>
              <a:t>万円の例）</a:t>
            </a:r>
            <a:endParaRPr b="0" lang="en-US" sz="1200" strike="noStrike" u="none">
              <a:solidFill>
                <a:srgbClr val="000000"/>
              </a:solidFill>
              <a:effectLst/>
              <a:uFillTx/>
              <a:latin typeface="Arial"/>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費用の不安を解消</a:t>
            </a:r>
            <a:endParaRPr b="0" lang="en-US" sz="1200" strike="noStrike" u="none">
              <a:solidFill>
                <a:srgbClr val="000000"/>
              </a:solidFill>
              <a:effectLst/>
              <a:uFillTx/>
              <a:latin typeface="Arial"/>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物件を送っていない方</a:t>
            </a:r>
            <a:endParaRPr b="0" lang="en-US" sz="1200" strike="noStrike" u="none">
              <a:solidFill>
                <a:srgbClr val="000000"/>
              </a:solidFill>
              <a:effectLst/>
              <a:uFillTx/>
              <a:latin typeface="Arial"/>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問い合わせ済みを除く</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（チャットタグ）</a:t>
            </a:r>
            <a:endParaRPr b="0" lang="en-US" sz="1200" strike="noStrike" u="none">
              <a:solidFill>
                <a:srgbClr val="000000"/>
              </a:solidFill>
              <a:effectLst/>
              <a:uFillTx/>
              <a:latin typeface="Arial"/>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内見済みでも相談可</a:t>
            </a:r>
            <a:endParaRPr b="0" lang="en-US" sz="1200" strike="noStrike" u="none">
              <a:solidFill>
                <a:srgbClr val="000000"/>
              </a:solidFill>
              <a:effectLst/>
              <a:uFillTx/>
              <a:latin typeface="Arial"/>
            </a:endParaRPr>
          </a:p>
          <a:p>
            <a:pPr algn="ctr" defTabSz="914400">
              <a:lnSpc>
                <a:spcPct val="90000"/>
              </a:lnSpc>
              <a:tabLst>
                <a:tab algn="l" pos="0"/>
              </a:tabLst>
            </a:pPr>
            <a:r>
              <a:rPr b="0" lang="en-US" sz="1200" strike="noStrike" u="none">
                <a:solidFill>
                  <a:srgbClr val="333333"/>
                </a:solidFill>
                <a:effectLst/>
                <a:uFillTx/>
                <a:latin typeface="メイリオ"/>
                <a:ea typeface="メイリオ"/>
              </a:rPr>
              <a:t>100</a:t>
            </a:r>
            <a:r>
              <a:rPr b="0" lang="zh-CN" sz="1200" strike="noStrike" u="none">
                <a:solidFill>
                  <a:srgbClr val="333333"/>
                </a:solidFill>
                <a:effectLst/>
                <a:uFillTx/>
                <a:latin typeface="メイリオ"/>
                <a:ea typeface="メイリオ"/>
              </a:rPr>
              <a:t>円チェッカー</a:t>
            </a:r>
            <a:endParaRPr b="0" lang="en-US" sz="1200" strike="noStrike" u="none">
              <a:solidFill>
                <a:srgbClr val="000000"/>
              </a:solidFill>
              <a:effectLst/>
              <a:uFillTx/>
              <a:latin typeface="Arial"/>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物件の送信</a:t>
            </a:r>
            <a:endParaRPr b="0" lang="en-US" sz="1200" strike="noStrike" u="none">
              <a:solidFill>
                <a:srgbClr val="000000"/>
              </a:solidFill>
              <a:effectLst/>
              <a:uFillTx/>
              <a:latin typeface="Arial"/>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友だち全員</a:t>
            </a:r>
            <a:endParaRPr b="0" lang="en-US" sz="1200" strike="noStrike" u="none">
              <a:solidFill>
                <a:srgbClr val="000000"/>
              </a:solidFill>
              <a:effectLst/>
              <a:uFillTx/>
              <a:latin typeface="Arial"/>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絞り込みなし</a:t>
            </a:r>
            <a:endParaRPr b="0" lang="en-US" sz="1200" strike="noStrike" u="none">
              <a:solidFill>
                <a:srgbClr val="000000"/>
              </a:solidFill>
              <a:effectLst/>
              <a:uFillTx/>
              <a:latin typeface="Arial"/>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お申込みの準備</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入居までの流れ</a:t>
            </a:r>
            <a:endParaRPr b="0" lang="en-US" sz="1200" strike="noStrike" u="none">
              <a:solidFill>
                <a:srgbClr val="000000"/>
              </a:solidFill>
              <a:effectLst/>
              <a:uFillTx/>
              <a:latin typeface="Arial"/>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お申込みの後押し</a:t>
            </a:r>
            <a:endParaRPr b="0" lang="en-US" sz="1200" strike="noStrike" u="none">
              <a:solidFill>
                <a:srgbClr val="000000"/>
              </a:solidFill>
              <a:effectLst/>
              <a:uFillTx/>
              <a:latin typeface="Arial"/>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55" name="テキスト ボックス 4"/>
          <p:cNvSpPr/>
          <p:nvPr/>
        </p:nvSpPr>
        <p:spPr>
          <a:xfrm>
            <a:off x="1426320" y="1664280"/>
            <a:ext cx="118836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ターゲット層</a:t>
            </a:r>
            <a:endParaRPr b="0" lang="en-US" sz="1200" strike="noStrike" u="none">
              <a:solidFill>
                <a:srgbClr val="000000"/>
              </a:solidFill>
              <a:effectLst/>
              <a:uFillTx/>
              <a:latin typeface="Arial"/>
            </a:endParaRPr>
          </a:p>
        </p:txBody>
      </p:sp>
      <p:sp>
        <p:nvSpPr>
          <p:cNvPr id="456" name="テキスト ボックス 7"/>
          <p:cNvSpPr/>
          <p:nvPr/>
        </p:nvSpPr>
        <p:spPr>
          <a:xfrm>
            <a:off x="2853000" y="1664280"/>
            <a:ext cx="146268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セグメント方法</a:t>
            </a:r>
            <a:endParaRPr b="0" lang="en-US" sz="1200" strike="noStrike" u="none">
              <a:solidFill>
                <a:srgbClr val="000000"/>
              </a:solidFill>
              <a:effectLst/>
              <a:uFillTx/>
              <a:latin typeface="Arial"/>
            </a:endParaRPr>
          </a:p>
        </p:txBody>
      </p:sp>
      <p:sp>
        <p:nvSpPr>
          <p:cNvPr id="457" name="テキスト ボックス 9"/>
          <p:cNvSpPr/>
          <p:nvPr/>
        </p:nvSpPr>
        <p:spPr>
          <a:xfrm>
            <a:off x="4553640" y="1664280"/>
            <a:ext cx="159084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配信コンテンツ</a:t>
            </a:r>
            <a:endParaRPr b="0" lang="en-US" sz="1200" strike="noStrike" u="none">
              <a:solidFill>
                <a:srgbClr val="000000"/>
              </a:solidFill>
              <a:effectLst/>
              <a:uFillTx/>
              <a:latin typeface="Arial"/>
            </a:endParaRPr>
          </a:p>
        </p:txBody>
      </p:sp>
      <p:sp>
        <p:nvSpPr>
          <p:cNvPr id="458" name="テキスト ボックス 11"/>
          <p:cNvSpPr/>
          <p:nvPr/>
        </p:nvSpPr>
        <p:spPr>
          <a:xfrm>
            <a:off x="6382440" y="1664280"/>
            <a:ext cx="159084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ff0000"/>
                </a:solidFill>
                <a:effectLst/>
                <a:uFillTx/>
                <a:latin typeface="メイリオ"/>
                <a:ea typeface="メイリオ"/>
              </a:rPr>
              <a:t>ねらい</a:t>
            </a:r>
            <a:endParaRPr b="0" lang="en-US" sz="1200" strike="noStrike" u="none">
              <a:solidFill>
                <a:srgbClr val="000000"/>
              </a:solidFill>
              <a:effectLst/>
              <a:uFillTx/>
              <a:latin typeface="Arial"/>
            </a:endParaRPr>
          </a:p>
        </p:txBody>
      </p:sp>
      <p:sp>
        <p:nvSpPr>
          <p:cNvPr id="459" name="テキスト ボックス 14"/>
          <p:cNvSpPr/>
          <p:nvPr/>
        </p:nvSpPr>
        <p:spPr>
          <a:xfrm>
            <a:off x="384120" y="4005000"/>
            <a:ext cx="173700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ターゲット層</a:t>
            </a:r>
            <a:endParaRPr b="0" lang="en-US" sz="1200" strike="noStrike" u="none">
              <a:solidFill>
                <a:srgbClr val="000000"/>
              </a:solidFill>
              <a:effectLst/>
              <a:uFillTx/>
              <a:latin typeface="Arial"/>
            </a:endParaRPr>
          </a:p>
        </p:txBody>
      </p:sp>
      <p:sp>
        <p:nvSpPr>
          <p:cNvPr id="460" name="テキスト ボックス 16"/>
          <p:cNvSpPr/>
          <p:nvPr/>
        </p:nvSpPr>
        <p:spPr>
          <a:xfrm>
            <a:off x="2359080" y="4005000"/>
            <a:ext cx="173700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セグメント方法</a:t>
            </a:r>
            <a:endParaRPr b="0" lang="en-US" sz="1200" strike="noStrike" u="none">
              <a:solidFill>
                <a:srgbClr val="000000"/>
              </a:solidFill>
              <a:effectLst/>
              <a:uFillTx/>
              <a:latin typeface="Arial"/>
            </a:endParaRPr>
          </a:p>
        </p:txBody>
      </p:sp>
      <p:sp>
        <p:nvSpPr>
          <p:cNvPr id="461" name="テキスト ボックス 18"/>
          <p:cNvSpPr/>
          <p:nvPr/>
        </p:nvSpPr>
        <p:spPr>
          <a:xfrm>
            <a:off x="4334400" y="4005000"/>
            <a:ext cx="164556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配信コンテンツ</a:t>
            </a:r>
            <a:endParaRPr b="0" lang="en-US" sz="1200" strike="noStrike" u="none">
              <a:solidFill>
                <a:srgbClr val="000000"/>
              </a:solidFill>
              <a:effectLst/>
              <a:uFillTx/>
              <a:latin typeface="Arial"/>
            </a:endParaRPr>
          </a:p>
        </p:txBody>
      </p:sp>
      <p:sp>
        <p:nvSpPr>
          <p:cNvPr id="462" name="テキスト ボックス 21"/>
          <p:cNvSpPr/>
          <p:nvPr/>
        </p:nvSpPr>
        <p:spPr>
          <a:xfrm>
            <a:off x="6217920" y="4005000"/>
            <a:ext cx="159084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ff0000"/>
                </a:solidFill>
                <a:effectLst/>
                <a:uFillTx/>
                <a:latin typeface="メイリオ"/>
                <a:ea typeface="メイリオ"/>
              </a:rPr>
              <a:t>ねらい</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による問い合わせ対応の効率化</a:t>
            </a:r>
            <a:endParaRPr b="0" lang="en-US" sz="1600" strike="noStrike" u="none">
              <a:solidFill>
                <a:srgbClr val="000000"/>
              </a:solidFill>
              <a:effectLst/>
              <a:uFillTx/>
              <a:latin typeface="Arial"/>
            </a:endParaRPr>
          </a:p>
        </p:txBody>
      </p:sp>
      <p:sp>
        <p:nvSpPr>
          <p:cNvPr id="464" name="TextBox 2"/>
          <p:cNvSpPr/>
          <p:nvPr/>
        </p:nvSpPr>
        <p:spPr>
          <a:xfrm>
            <a:off x="429840" y="896040"/>
            <a:ext cx="9052200" cy="566640"/>
          </a:xfrm>
          <a:prstGeom prst="rect">
            <a:avLst/>
          </a:prstGeom>
          <a:noFill/>
          <a:ln w="0">
            <a:noFill/>
          </a:ln>
        </p:spPr>
        <p:style>
          <a:lnRef idx="0"/>
          <a:fillRef idx="0"/>
          <a:effectRef idx="0"/>
          <a:fontRef idx="minor"/>
        </p:style>
        <p:txBody>
          <a:bodyPr lIns="90000" rIns="90000" tIns="45000" bIns="45000" anchor="ctr">
            <a:spAutoFit/>
          </a:bodyPr>
          <a:p>
            <a:pPr defTabSz="914400">
              <a:lnSpc>
                <a:spcPct val="100000"/>
              </a:lnSpc>
              <a:tabLst>
                <a:tab algn="l" pos="0"/>
              </a:tabLst>
            </a:pPr>
            <a:r>
              <a:rPr b="0" lang="en-US" sz="1400" strike="noStrike" u="none">
                <a:solidFill>
                  <a:srgbClr val="5a6378"/>
                </a:solidFill>
                <a:effectLst/>
                <a:uFillTx/>
                <a:latin typeface="メイリオ"/>
                <a:ea typeface="メイリオ"/>
              </a:rPr>
              <a:t>LINE</a:t>
            </a:r>
            <a:r>
              <a:rPr b="0" lang="zh-CN" sz="1400" strike="noStrike" u="none">
                <a:solidFill>
                  <a:srgbClr val="5a6378"/>
                </a:solidFill>
                <a:effectLst/>
                <a:uFillTx/>
                <a:latin typeface="メイリオ"/>
                <a:ea typeface="メイリオ"/>
              </a:rPr>
              <a:t>の機能で、問い合わせへの一次対応と対応状況の管理を効率化します。</a:t>
            </a:r>
            <a:endParaRPr b="0" lang="en-US" sz="1400" strike="noStrike" u="none">
              <a:solidFill>
                <a:srgbClr val="000000"/>
              </a:solidFill>
              <a:effectLst/>
              <a:uFillTx/>
              <a:latin typeface="Arial"/>
            </a:endParaRPr>
          </a:p>
          <a:p>
            <a:pPr defTabSz="914400">
              <a:lnSpc>
                <a:spcPct val="100000"/>
              </a:lnSpc>
              <a:tabLst>
                <a:tab algn="l" pos="0"/>
              </a:tabLst>
            </a:pPr>
            <a:r>
              <a:rPr b="1" lang="zh-CN" sz="1400" strike="noStrike" u="none">
                <a:solidFill>
                  <a:srgbClr val="5a6378"/>
                </a:solidFill>
                <a:effectLst/>
                <a:uFillTx/>
                <a:latin typeface="メイリオ"/>
                <a:ea typeface="メイリオ"/>
              </a:rPr>
              <a:t>お客様への個別対応はあらうち様、仕組みづくりと改善支援は当社が担当します。</a:t>
            </a:r>
            <a:endParaRPr b="0" lang="en-US" sz="1400" strike="noStrike" u="none">
              <a:solidFill>
                <a:srgbClr val="000000"/>
              </a:solidFill>
              <a:effectLst/>
              <a:uFillTx/>
              <a:latin typeface="Arial"/>
            </a:endParaRPr>
          </a:p>
        </p:txBody>
      </p:sp>
      <p:sp>
        <p:nvSpPr>
          <p:cNvPr id="465" name="Rounded Rectangle 3"/>
          <p:cNvSpPr/>
          <p:nvPr/>
        </p:nvSpPr>
        <p:spPr>
          <a:xfrm>
            <a:off x="429840" y="1481400"/>
            <a:ext cx="2788560" cy="41112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50760" rIns="50760" tIns="45000" bIns="45000" anchor="ctr">
            <a:noAutofit/>
          </a:bodyPr>
          <a:p>
            <a:pPr algn="ctr" defTabSz="914400">
              <a:lnSpc>
                <a:spcPct val="100000"/>
              </a:lnSpc>
              <a:tabLst>
                <a:tab algn="l" pos="0"/>
              </a:tabLst>
            </a:pPr>
            <a:r>
              <a:rPr b="1" lang="en-US" sz="1600" strike="noStrike" u="none">
                <a:solidFill>
                  <a:srgbClr val="ffffff"/>
                </a:solidFill>
                <a:effectLst/>
                <a:uFillTx/>
                <a:latin typeface="メイリオ"/>
                <a:ea typeface="メイリオ"/>
              </a:rPr>
              <a:t>① 自動応答</a:t>
            </a:r>
            <a:endParaRPr b="0" lang="en-US" sz="1600" strike="noStrike" u="none">
              <a:solidFill>
                <a:srgbClr val="ffffff"/>
              </a:solidFill>
              <a:effectLst/>
              <a:uFillTx/>
              <a:latin typeface="Arial"/>
            </a:endParaRPr>
          </a:p>
        </p:txBody>
      </p:sp>
      <p:sp>
        <p:nvSpPr>
          <p:cNvPr id="466" name="Rounded Rectangle 4"/>
          <p:cNvSpPr/>
          <p:nvPr/>
        </p:nvSpPr>
        <p:spPr>
          <a:xfrm>
            <a:off x="429840" y="1938600"/>
            <a:ext cx="2788560" cy="2761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rIns="73080" tIns="91440" bIns="54720" anchor="t">
            <a:noAutofit/>
          </a:bodyPr>
          <a:p>
            <a:pPr defTabSz="914400">
              <a:lnSpc>
                <a:spcPct val="100000"/>
              </a:lnSpc>
              <a:spcBef>
                <a:spcPts val="300"/>
              </a:spcBef>
              <a:tabLst>
                <a:tab algn="l" pos="0"/>
              </a:tabLst>
            </a:pPr>
            <a:r>
              <a:rPr b="1" lang="ja-JP" sz="1400" strike="noStrike" u="none">
                <a:solidFill>
                  <a:srgbClr val="1f2a5c"/>
                </a:solidFill>
                <a:effectLst/>
                <a:uFillTx/>
                <a:latin typeface="メイリオ"/>
                <a:ea typeface="メイリオ"/>
              </a:rPr>
              <a:t>設定：当社　対応：自動</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・よくある質問（初期費用・お申込みの流れなど）にキーワード応答で自動回答</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・リッチメニューのボタンと同じ言葉で応答を用意</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・受付時間外は、時間を指定して受付の旨を自動で返信</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・リッチメニューから</a:t>
            </a:r>
            <a:r>
              <a:rPr b="0" lang="en-US" sz="1400" strike="noStrike" u="none">
                <a:solidFill>
                  <a:srgbClr val="333333"/>
                </a:solidFill>
                <a:effectLst/>
                <a:uFillTx/>
                <a:latin typeface="メイリオ"/>
                <a:ea typeface="メイリオ"/>
              </a:rPr>
              <a:t>100</a:t>
            </a:r>
            <a:r>
              <a:rPr b="0" lang="ja-JP" sz="1400" strike="noStrike" u="none">
                <a:solidFill>
                  <a:srgbClr val="333333"/>
                </a:solidFill>
                <a:effectLst/>
                <a:uFillTx/>
                <a:latin typeface="メイリオ"/>
                <a:ea typeface="メイリオ"/>
              </a:rPr>
              <a:t>円チェッカーへ案内</a:t>
            </a:r>
            <a:endParaRPr b="0" lang="en-US" sz="1400" strike="noStrike" u="none">
              <a:solidFill>
                <a:srgbClr val="000000"/>
              </a:solidFill>
              <a:effectLst/>
              <a:uFillTx/>
              <a:latin typeface="Arial"/>
            </a:endParaRPr>
          </a:p>
        </p:txBody>
      </p:sp>
      <p:sp>
        <p:nvSpPr>
          <p:cNvPr id="467" name="Rounded Rectangle 5"/>
          <p:cNvSpPr/>
          <p:nvPr/>
        </p:nvSpPr>
        <p:spPr>
          <a:xfrm>
            <a:off x="3493080" y="1481400"/>
            <a:ext cx="2788560" cy="411120"/>
          </a:xfrm>
          <a:prstGeom prst="roundRect">
            <a:avLst>
              <a:gd name="adj" fmla="val 10000"/>
            </a:avLst>
          </a:prstGeom>
          <a:solidFill>
            <a:srgbClr val="4a6fa5"/>
          </a:solidFill>
          <a:ln w="12700">
            <a:solidFill>
              <a:srgbClr val="4a6fa5"/>
            </a:solidFill>
            <a:round/>
          </a:ln>
          <a:effectLst>
            <a:outerShdw blurRad="39960" dir="5400000" dist="23040" rotWithShape="0">
              <a:srgbClr val="000000">
                <a:alpha val="35000"/>
              </a:srgbClr>
            </a:outerShdw>
          </a:effectLst>
        </p:spPr>
        <p:style>
          <a:lnRef idx="0"/>
          <a:fillRef idx="0"/>
          <a:effectRef idx="0"/>
          <a:fontRef idx="minor"/>
        </p:style>
        <p:txBody>
          <a:bodyPr lIns="50760" rIns="50760" tIns="45000" bIns="45000" anchor="ctr">
            <a:noAutofit/>
          </a:bodyPr>
          <a:p>
            <a:pPr algn="ctr" defTabSz="914400">
              <a:lnSpc>
                <a:spcPct val="100000"/>
              </a:lnSpc>
              <a:tabLst>
                <a:tab algn="l" pos="0"/>
              </a:tabLst>
            </a:pPr>
            <a:r>
              <a:rPr b="1" lang="en-US" sz="1600" strike="noStrike" u="none">
                <a:solidFill>
                  <a:srgbClr val="ffffff"/>
                </a:solidFill>
                <a:effectLst/>
                <a:uFillTx/>
                <a:latin typeface="メイリオ"/>
                <a:ea typeface="メイリオ"/>
              </a:rPr>
              <a:t>② 個別チャット</a:t>
            </a:r>
            <a:endParaRPr b="0" lang="en-US" sz="1600" strike="noStrike" u="none">
              <a:solidFill>
                <a:srgbClr val="ffffff"/>
              </a:solidFill>
              <a:effectLst/>
              <a:uFillTx/>
              <a:latin typeface="Arial"/>
            </a:endParaRPr>
          </a:p>
        </p:txBody>
      </p:sp>
      <p:sp>
        <p:nvSpPr>
          <p:cNvPr id="468" name="Rounded Rectangle 6"/>
          <p:cNvSpPr/>
          <p:nvPr/>
        </p:nvSpPr>
        <p:spPr>
          <a:xfrm>
            <a:off x="3493080" y="1938600"/>
            <a:ext cx="2788560" cy="2761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rIns="73080" tIns="91440" bIns="54720" anchor="t">
            <a:noAutofit/>
          </a:bodyPr>
          <a:p>
            <a:pPr defTabSz="914400">
              <a:lnSpc>
                <a:spcPct val="100000"/>
              </a:lnSpc>
              <a:spcBef>
                <a:spcPts val="300"/>
              </a:spcBef>
              <a:tabLst>
                <a:tab algn="l" pos="0"/>
              </a:tabLst>
            </a:pPr>
            <a:r>
              <a:rPr b="1" lang="ja-JP" sz="1400" strike="noStrike" u="none">
                <a:solidFill>
                  <a:srgbClr val="4a6fa5"/>
                </a:solidFill>
                <a:effectLst/>
                <a:uFillTx/>
                <a:latin typeface="メイリオ"/>
                <a:ea typeface="メイリオ"/>
              </a:rPr>
              <a:t>対応：あらうち様</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・ご担当者様が、物件に関する相談・問い合わせに対応</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・送られた物件（</a:t>
            </a:r>
            <a:r>
              <a:rPr b="0" lang="en-US" sz="1400" strike="noStrike" u="none">
                <a:solidFill>
                  <a:srgbClr val="333333"/>
                </a:solidFill>
                <a:effectLst/>
                <a:uFillTx/>
                <a:latin typeface="メイリオ"/>
                <a:ea typeface="メイリオ"/>
              </a:rPr>
              <a:t>URL</a:t>
            </a:r>
            <a:r>
              <a:rPr b="0" lang="ja-JP" sz="1400" strike="noStrike" u="none">
                <a:solidFill>
                  <a:srgbClr val="333333"/>
                </a:solidFill>
                <a:effectLst/>
                <a:uFillTx/>
                <a:latin typeface="メイリオ"/>
                <a:ea typeface="メイリオ"/>
              </a:rPr>
              <a:t>・物件名・画像）の空室確認・内見の手配</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・一次対応は自動応答に任せ、物件の確認に集中</a:t>
            </a:r>
            <a:endParaRPr b="0" lang="en-US" sz="1400" strike="noStrike" u="none">
              <a:solidFill>
                <a:srgbClr val="000000"/>
              </a:solidFill>
              <a:effectLst/>
              <a:uFillTx/>
              <a:latin typeface="Arial"/>
            </a:endParaRPr>
          </a:p>
        </p:txBody>
      </p:sp>
      <p:sp>
        <p:nvSpPr>
          <p:cNvPr id="469" name="Rounded Rectangle 7"/>
          <p:cNvSpPr/>
          <p:nvPr/>
        </p:nvSpPr>
        <p:spPr>
          <a:xfrm>
            <a:off x="6556320" y="1481400"/>
            <a:ext cx="2788560" cy="411120"/>
          </a:xfrm>
          <a:prstGeom prst="roundRect">
            <a:avLst>
              <a:gd name="adj" fmla="val 10000"/>
            </a:avLst>
          </a:prstGeom>
          <a:solidFill>
            <a:srgbClr val="5a6378"/>
          </a:solidFill>
          <a:ln w="12700">
            <a:solidFill>
              <a:srgbClr val="5a6378"/>
            </a:solidFill>
            <a:round/>
          </a:ln>
          <a:effectLst>
            <a:outerShdw blurRad="39960" dir="5400000" dist="23040" rotWithShape="0">
              <a:srgbClr val="000000">
                <a:alpha val="35000"/>
              </a:srgbClr>
            </a:outerShdw>
          </a:effectLst>
        </p:spPr>
        <p:style>
          <a:lnRef idx="0"/>
          <a:fillRef idx="0"/>
          <a:effectRef idx="0"/>
          <a:fontRef idx="minor"/>
        </p:style>
        <p:txBody>
          <a:bodyPr lIns="50760" rIns="50760" tIns="45000" bIns="45000" anchor="ctr">
            <a:noAutofit/>
          </a:bodyPr>
          <a:p>
            <a:pPr algn="ctr" defTabSz="914400">
              <a:lnSpc>
                <a:spcPct val="100000"/>
              </a:lnSpc>
              <a:tabLst>
                <a:tab algn="l" pos="0"/>
              </a:tabLst>
            </a:pPr>
            <a:r>
              <a:rPr b="1" lang="en-US" sz="1600" strike="noStrike" u="none">
                <a:solidFill>
                  <a:srgbClr val="ffffff"/>
                </a:solidFill>
                <a:effectLst/>
                <a:uFillTx/>
                <a:latin typeface="メイリオ"/>
                <a:ea typeface="メイリオ"/>
              </a:rPr>
              <a:t>③ チャットタグ</a:t>
            </a:r>
            <a:endParaRPr b="0" lang="en-US" sz="1600" strike="noStrike" u="none">
              <a:solidFill>
                <a:srgbClr val="ffffff"/>
              </a:solidFill>
              <a:effectLst/>
              <a:uFillTx/>
              <a:latin typeface="Arial"/>
            </a:endParaRPr>
          </a:p>
        </p:txBody>
      </p:sp>
      <p:sp>
        <p:nvSpPr>
          <p:cNvPr id="470" name="Rounded Rectangle 8"/>
          <p:cNvSpPr/>
          <p:nvPr/>
        </p:nvSpPr>
        <p:spPr>
          <a:xfrm>
            <a:off x="6556320" y="1938600"/>
            <a:ext cx="2788560" cy="2761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rIns="73080" tIns="91440" bIns="54720" anchor="t">
            <a:noAutofit/>
          </a:bodyPr>
          <a:p>
            <a:pPr defTabSz="914400">
              <a:lnSpc>
                <a:spcPct val="100000"/>
              </a:lnSpc>
              <a:spcBef>
                <a:spcPts val="300"/>
              </a:spcBef>
              <a:tabLst>
                <a:tab algn="l" pos="0"/>
              </a:tabLst>
            </a:pPr>
            <a:r>
              <a:rPr b="1" lang="ja-JP" sz="1400" strike="noStrike" u="none">
                <a:solidFill>
                  <a:srgbClr val="5b6478"/>
                </a:solidFill>
                <a:effectLst/>
                <a:uFillTx/>
                <a:latin typeface="メイリオ"/>
                <a:ea typeface="メイリオ"/>
              </a:rPr>
              <a:t>設計・設定：当社</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・問い合わせ状況・対応ステータス（受付・確認中・返信済）を管理</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・タグの付け替えで、確認漏れ・返信漏れを防止</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・問い合わせ済みの方を除いた再案内で、重複配信を防止</a:t>
            </a:r>
            <a:endParaRPr b="0" lang="en-US" sz="1400" strike="noStrike" u="none">
              <a:solidFill>
                <a:srgbClr val="000000"/>
              </a:solidFill>
              <a:effectLst/>
              <a:uFillTx/>
              <a:latin typeface="Arial"/>
            </a:endParaRPr>
          </a:p>
        </p:txBody>
      </p:sp>
      <p:sp>
        <p:nvSpPr>
          <p:cNvPr id="471" name="Google Shape;156;p7"/>
          <p:cNvSpPr/>
          <p:nvPr/>
        </p:nvSpPr>
        <p:spPr>
          <a:xfrm>
            <a:off x="429840" y="4727520"/>
            <a:ext cx="891504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役割分担</a:t>
            </a:r>
            <a:r>
              <a:rPr b="0" lang="ja-JP" sz="1200" strike="noStrike" u="none">
                <a:solidFill>
                  <a:srgbClr val="002060"/>
                </a:solidFill>
                <a:effectLst/>
                <a:uFillTx/>
                <a:latin typeface="Meiryo"/>
                <a:ea typeface="Meiryo"/>
              </a:rPr>
              <a:t>　※当社の対応は運用コンサル費用に含みます</a:t>
            </a:r>
            <a:endParaRPr b="0" lang="en-US" sz="1200" strike="noStrike" u="none">
              <a:solidFill>
                <a:srgbClr val="000000"/>
              </a:solidFill>
              <a:effectLst/>
              <a:uFillTx/>
              <a:latin typeface="Arial"/>
            </a:endParaRPr>
          </a:p>
        </p:txBody>
      </p:sp>
      <p:sp>
        <p:nvSpPr>
          <p:cNvPr id="472" name="Rounded Rectangle 3"/>
          <p:cNvSpPr/>
          <p:nvPr/>
        </p:nvSpPr>
        <p:spPr>
          <a:xfrm>
            <a:off x="429840" y="5056560"/>
            <a:ext cx="4320360" cy="3654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zh-CN" sz="1400" strike="noStrike" u="none">
                <a:solidFill>
                  <a:srgbClr val="ffffff"/>
                </a:solidFill>
                <a:effectLst/>
                <a:uFillTx/>
                <a:latin typeface="メイリオ"/>
                <a:ea typeface="メイリオ"/>
              </a:rPr>
              <a:t>当社（</a:t>
            </a:r>
            <a:r>
              <a:rPr b="1" lang="en-US" sz="1400" strike="noStrike" u="none">
                <a:solidFill>
                  <a:srgbClr val="ffffff"/>
                </a:solidFill>
                <a:effectLst/>
                <a:uFillTx/>
                <a:latin typeface="メイリオ"/>
                <a:ea typeface="メイリオ"/>
              </a:rPr>
              <a:t>DYM</a:t>
            </a:r>
            <a:r>
              <a:rPr b="1" lang="zh-CN" sz="1400" strike="noStrike" u="none">
                <a:solidFill>
                  <a:srgbClr val="ffffff"/>
                </a:solidFill>
                <a:effectLst/>
                <a:uFillTx/>
                <a:latin typeface="メイリオ"/>
                <a:ea typeface="メイリオ"/>
              </a:rPr>
              <a:t>）｜仕組みづくり・改善支援</a:t>
            </a:r>
            <a:endParaRPr b="0" lang="en-US" sz="1400" strike="noStrike" u="none">
              <a:solidFill>
                <a:srgbClr val="ffffff"/>
              </a:solidFill>
              <a:effectLst/>
              <a:uFillTx/>
              <a:latin typeface="Arial"/>
            </a:endParaRPr>
          </a:p>
        </p:txBody>
      </p:sp>
      <p:sp>
        <p:nvSpPr>
          <p:cNvPr id="473" name="Rounded Rectangle 4"/>
          <p:cNvSpPr/>
          <p:nvPr/>
        </p:nvSpPr>
        <p:spPr>
          <a:xfrm>
            <a:off x="429840" y="5459040"/>
            <a:ext cx="4320360" cy="100548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73080" tIns="36720" bIns="36720" anchor="ctr">
            <a:noAutofit/>
          </a:bodyPr>
          <a:p>
            <a:pPr defTabSz="914400">
              <a:lnSpc>
                <a:spcPct val="100000"/>
              </a:lnSpc>
            </a:pPr>
            <a:r>
              <a:rPr b="0" lang="ja-JP" sz="1400" strike="noStrike" u="none">
                <a:solidFill>
                  <a:srgbClr val="333333"/>
                </a:solidFill>
                <a:effectLst/>
                <a:uFillTx/>
                <a:latin typeface="メイリオ"/>
                <a:ea typeface="メイリオ"/>
              </a:rPr>
              <a:t>・</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公式アカウントの初期設計</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・自動応答の設定</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・チャットタグの設計・設定</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・配信運用・改善支援</a:t>
            </a:r>
            <a:endParaRPr b="0" lang="en-US" sz="1400" strike="noStrike" u="none">
              <a:solidFill>
                <a:srgbClr val="000000"/>
              </a:solidFill>
              <a:effectLst/>
              <a:uFillTx/>
              <a:latin typeface="Arial"/>
            </a:endParaRPr>
          </a:p>
        </p:txBody>
      </p:sp>
      <p:sp>
        <p:nvSpPr>
          <p:cNvPr id="474" name="Rounded Rectangle 5"/>
          <p:cNvSpPr/>
          <p:nvPr/>
        </p:nvSpPr>
        <p:spPr>
          <a:xfrm>
            <a:off x="5024520" y="5056560"/>
            <a:ext cx="4320360" cy="365400"/>
          </a:xfrm>
          <a:prstGeom prst="roundRect">
            <a:avLst>
              <a:gd name="adj" fmla="val 10000"/>
            </a:avLst>
          </a:prstGeom>
          <a:solidFill>
            <a:srgbClr val="4a6fa5"/>
          </a:solidFill>
          <a:ln w="12700">
            <a:solidFill>
              <a:srgbClr val="4a6fa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zh-CN" sz="1400" strike="noStrike" u="none">
                <a:solidFill>
                  <a:srgbClr val="ffffff"/>
                </a:solidFill>
                <a:effectLst/>
                <a:uFillTx/>
                <a:latin typeface="メイリオ"/>
                <a:ea typeface="メイリオ"/>
              </a:rPr>
              <a:t>あらうち様｜お客様への個別対応</a:t>
            </a:r>
            <a:endParaRPr b="0" lang="en-US" sz="1400" strike="noStrike" u="none">
              <a:solidFill>
                <a:srgbClr val="ffffff"/>
              </a:solidFill>
              <a:effectLst/>
              <a:uFillTx/>
              <a:latin typeface="Arial"/>
            </a:endParaRPr>
          </a:p>
        </p:txBody>
      </p:sp>
      <p:sp>
        <p:nvSpPr>
          <p:cNvPr id="475" name="Rounded Rectangle 6"/>
          <p:cNvSpPr/>
          <p:nvPr/>
        </p:nvSpPr>
        <p:spPr>
          <a:xfrm>
            <a:off x="5024520" y="5459040"/>
            <a:ext cx="4320360" cy="100548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73080" tIns="36720" bIns="36720" anchor="ctr">
            <a:noAutofit/>
          </a:bodyPr>
          <a:p>
            <a:pPr defTabSz="914400">
              <a:lnSpc>
                <a:spcPct val="100000"/>
              </a:lnSpc>
            </a:pPr>
            <a:r>
              <a:rPr b="0" lang="ja-JP" sz="1400" strike="noStrike" u="none">
                <a:solidFill>
                  <a:srgbClr val="333333"/>
                </a:solidFill>
                <a:effectLst/>
                <a:uFillTx/>
                <a:latin typeface="メイリオ"/>
                <a:ea typeface="メイリオ"/>
              </a:rPr>
              <a:t>・個別チャットでの返信</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・物件の空室確認</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・内見の手配</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・お申込み・ご契約の対応</a:t>
            </a:r>
            <a:endParaRPr b="0" lang="en-US" sz="1400" strike="noStrike" u="none">
              <a:solidFill>
                <a:srgbClr val="000000"/>
              </a:solidFill>
              <a:effectLst/>
              <a:uFillTx/>
              <a:latin typeface="Arial"/>
            </a:endParaRPr>
          </a:p>
        </p:txBody>
      </p:sp>
      <p:sp>
        <p:nvSpPr>
          <p:cNvPr id="476" name="Right Arrow 4"/>
          <p:cNvSpPr/>
          <p:nvPr/>
        </p:nvSpPr>
        <p:spPr>
          <a:xfrm>
            <a:off x="3250800" y="3218760"/>
            <a:ext cx="20988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77" name="Right Arrow 4"/>
          <p:cNvSpPr/>
          <p:nvPr/>
        </p:nvSpPr>
        <p:spPr>
          <a:xfrm>
            <a:off x="6314040" y="3218760"/>
            <a:ext cx="20988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施策詳細｜新規友だちの獲得</a:t>
            </a:r>
            <a:endParaRPr b="0" lang="en-US" sz="1600" strike="noStrike" u="none">
              <a:solidFill>
                <a:srgbClr val="000000"/>
              </a:solidFill>
              <a:effectLst/>
              <a:uFillTx/>
              <a:latin typeface="Arial"/>
            </a:endParaRPr>
          </a:p>
        </p:txBody>
      </p:sp>
      <p:sp>
        <p:nvSpPr>
          <p:cNvPr id="479" name="TextBox 2"/>
          <p:cNvSpPr/>
          <p:nvPr/>
        </p:nvSpPr>
        <p:spPr>
          <a:xfrm>
            <a:off x="429840" y="914400"/>
            <a:ext cx="9052200" cy="411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zh-CN" sz="1600" strike="noStrike" u="none">
                <a:solidFill>
                  <a:srgbClr val="5a6378"/>
                </a:solidFill>
                <a:effectLst/>
                <a:uFillTx/>
                <a:latin typeface="メイリオ"/>
                <a:ea typeface="メイリオ"/>
              </a:rPr>
              <a:t>サイトの</a:t>
            </a:r>
            <a:r>
              <a:rPr b="0" lang="en-US" sz="1600" strike="noStrike" u="none">
                <a:solidFill>
                  <a:srgbClr val="5a6378"/>
                </a:solidFill>
                <a:effectLst/>
                <a:uFillTx/>
                <a:latin typeface="メイリオ"/>
                <a:ea typeface="メイリオ"/>
              </a:rPr>
              <a:t>2</a:t>
            </a:r>
            <a:r>
              <a:rPr b="0" lang="zh-CN" sz="1600" strike="noStrike" u="none">
                <a:solidFill>
                  <a:srgbClr val="5a6378"/>
                </a:solidFill>
                <a:effectLst/>
                <a:uFillTx/>
                <a:latin typeface="メイリオ"/>
                <a:ea typeface="メイリオ"/>
              </a:rPr>
              <a:t>つの接点から、</a:t>
            </a:r>
            <a:r>
              <a:rPr b="0" lang="en-US" sz="1600" strike="noStrike" u="none">
                <a:solidFill>
                  <a:srgbClr val="5a6378"/>
                </a:solidFill>
                <a:effectLst/>
                <a:uFillTx/>
                <a:latin typeface="メイリオ"/>
                <a:ea typeface="メイリオ"/>
              </a:rPr>
              <a:t>LINE</a:t>
            </a:r>
            <a:r>
              <a:rPr b="0" lang="zh-CN" sz="1600" strike="noStrike" u="none">
                <a:solidFill>
                  <a:srgbClr val="5a6378"/>
                </a:solidFill>
                <a:effectLst/>
                <a:uFillTx/>
                <a:latin typeface="メイリオ"/>
                <a:ea typeface="メイリオ"/>
              </a:rPr>
              <a:t>の友だち追加へつなげます</a:t>
            </a:r>
            <a:endParaRPr b="0" lang="en-US" sz="1600" strike="noStrike" u="none">
              <a:solidFill>
                <a:srgbClr val="000000"/>
              </a:solidFill>
              <a:effectLst/>
              <a:uFillTx/>
              <a:latin typeface="Arial"/>
            </a:endParaRPr>
          </a:p>
        </p:txBody>
      </p:sp>
      <p:sp>
        <p:nvSpPr>
          <p:cNvPr id="480" name="Rounded Rectangle 3"/>
          <p:cNvSpPr/>
          <p:nvPr/>
        </p:nvSpPr>
        <p:spPr>
          <a:xfrm>
            <a:off x="429840" y="2724840"/>
            <a:ext cx="4388760" cy="80424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0" lang="zh-CN" sz="1500" strike="noStrike" u="none">
                <a:solidFill>
                  <a:srgbClr val="333333"/>
                </a:solidFill>
                <a:effectLst/>
                <a:uFillTx/>
                <a:latin typeface="メイリオ"/>
                <a:ea typeface="メイリオ"/>
              </a:rPr>
              <a:t>サイトを離れようとした方</a:t>
            </a:r>
            <a:endParaRPr b="0" lang="en-US" sz="1500" strike="noStrike" u="none">
              <a:solidFill>
                <a:srgbClr val="000000"/>
              </a:solidFill>
              <a:effectLst/>
              <a:uFillTx/>
              <a:latin typeface="Arial"/>
            </a:endParaRPr>
          </a:p>
          <a:p>
            <a:pPr algn="ctr" defTabSz="914400">
              <a:lnSpc>
                <a:spcPct val="100000"/>
              </a:lnSpc>
            </a:pPr>
            <a:r>
              <a:rPr b="0" lang="zh-CN" sz="1500" strike="noStrike" u="none">
                <a:solidFill>
                  <a:srgbClr val="333333"/>
                </a:solidFill>
                <a:effectLst/>
                <a:uFillTx/>
                <a:latin typeface="メイリオ"/>
                <a:ea typeface="メイリオ"/>
              </a:rPr>
              <a:t>（離脱防止ポップアップ）</a:t>
            </a:r>
            <a:endParaRPr b="0" lang="en-US" sz="1500" strike="noStrike" u="none">
              <a:solidFill>
                <a:srgbClr val="000000"/>
              </a:solidFill>
              <a:effectLst/>
              <a:uFillTx/>
              <a:latin typeface="Arial"/>
            </a:endParaRPr>
          </a:p>
        </p:txBody>
      </p:sp>
      <p:sp>
        <p:nvSpPr>
          <p:cNvPr id="481" name="Right Arrow 4"/>
          <p:cNvSpPr/>
          <p:nvPr/>
        </p:nvSpPr>
        <p:spPr>
          <a:xfrm rot="5400000">
            <a:off x="2487240" y="3620880"/>
            <a:ext cx="27396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82" name="Rounded Rectangle 5"/>
          <p:cNvSpPr/>
          <p:nvPr/>
        </p:nvSpPr>
        <p:spPr>
          <a:xfrm>
            <a:off x="429840" y="3895200"/>
            <a:ext cx="4388760" cy="80424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0" lang="zh-CN" sz="1500" strike="noStrike" u="none">
                <a:solidFill>
                  <a:srgbClr val="333333"/>
                </a:solidFill>
                <a:effectLst/>
                <a:uFillTx/>
                <a:latin typeface="メイリオ"/>
                <a:ea typeface="メイリオ"/>
              </a:rPr>
              <a:t>物件の</a:t>
            </a:r>
            <a:r>
              <a:rPr b="0" lang="en-US" sz="1500" strike="noStrike" u="none">
                <a:solidFill>
                  <a:srgbClr val="333333"/>
                </a:solidFill>
                <a:effectLst/>
                <a:uFillTx/>
                <a:latin typeface="メイリオ"/>
                <a:ea typeface="メイリオ"/>
              </a:rPr>
              <a:t>URL</a:t>
            </a:r>
            <a:r>
              <a:rPr b="0" lang="zh-CN" sz="1500" strike="noStrike" u="none">
                <a:solidFill>
                  <a:srgbClr val="333333"/>
                </a:solidFill>
                <a:effectLst/>
                <a:uFillTx/>
                <a:latin typeface="メイリオ"/>
                <a:ea typeface="メイリオ"/>
              </a:rPr>
              <a:t>を送るだけで仲介手数料</a:t>
            </a:r>
            <a:r>
              <a:rPr b="0" lang="en-US" sz="1500" strike="noStrike" u="none">
                <a:solidFill>
                  <a:srgbClr val="333333"/>
                </a:solidFill>
                <a:effectLst/>
                <a:uFillTx/>
                <a:latin typeface="メイリオ"/>
                <a:ea typeface="メイリオ"/>
              </a:rPr>
              <a:t>100</a:t>
            </a:r>
            <a:r>
              <a:rPr b="0" lang="zh-CN" sz="1500" strike="noStrike" u="none">
                <a:solidFill>
                  <a:srgbClr val="333333"/>
                </a:solidFill>
                <a:effectLst/>
                <a:uFillTx/>
                <a:latin typeface="メイリオ"/>
                <a:ea typeface="メイリオ"/>
              </a:rPr>
              <a:t>円</a:t>
            </a:r>
            <a:endParaRPr b="0" lang="en-US" sz="1500" strike="noStrike" u="none">
              <a:solidFill>
                <a:srgbClr val="000000"/>
              </a:solidFill>
              <a:effectLst/>
              <a:uFillTx/>
              <a:latin typeface="Arial"/>
            </a:endParaRPr>
          </a:p>
          <a:p>
            <a:pPr algn="ctr" defTabSz="914400">
              <a:lnSpc>
                <a:spcPct val="100000"/>
              </a:lnSpc>
            </a:pPr>
            <a:r>
              <a:rPr b="0" lang="zh-CN" sz="1500" strike="noStrike" u="none">
                <a:solidFill>
                  <a:srgbClr val="333333"/>
                </a:solidFill>
                <a:effectLst/>
                <a:uFillTx/>
                <a:latin typeface="メイリオ"/>
                <a:ea typeface="メイリオ"/>
              </a:rPr>
              <a:t>（</a:t>
            </a:r>
            <a:r>
              <a:rPr b="0" lang="en-US" sz="1500" strike="noStrike" u="none">
                <a:solidFill>
                  <a:srgbClr val="333333"/>
                </a:solidFill>
                <a:effectLst/>
                <a:uFillTx/>
                <a:latin typeface="メイリオ"/>
                <a:ea typeface="メイリオ"/>
              </a:rPr>
              <a:t>100</a:t>
            </a:r>
            <a:r>
              <a:rPr b="0" lang="zh-CN" sz="1500" strike="noStrike" u="none">
                <a:solidFill>
                  <a:srgbClr val="333333"/>
                </a:solidFill>
                <a:effectLst/>
                <a:uFillTx/>
                <a:latin typeface="メイリオ"/>
                <a:ea typeface="メイリオ"/>
              </a:rPr>
              <a:t>円賃貸が対応できる物件に限ります）</a:t>
            </a:r>
            <a:endParaRPr b="0" lang="en-US" sz="1500" strike="noStrike" u="none">
              <a:solidFill>
                <a:srgbClr val="000000"/>
              </a:solidFill>
              <a:effectLst/>
              <a:uFillTx/>
              <a:latin typeface="Arial"/>
            </a:endParaRPr>
          </a:p>
        </p:txBody>
      </p:sp>
      <p:sp>
        <p:nvSpPr>
          <p:cNvPr id="483" name="Right Arrow 6"/>
          <p:cNvSpPr/>
          <p:nvPr/>
        </p:nvSpPr>
        <p:spPr>
          <a:xfrm rot="5400000">
            <a:off x="2487240" y="4791240"/>
            <a:ext cx="27396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84" name="Rounded Rectangle 7"/>
          <p:cNvSpPr/>
          <p:nvPr/>
        </p:nvSpPr>
        <p:spPr>
          <a:xfrm>
            <a:off x="978480" y="5065920"/>
            <a:ext cx="3291480" cy="475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en-US" sz="1500" strike="noStrike" u="none">
                <a:solidFill>
                  <a:srgbClr val="ffffff"/>
                </a:solidFill>
                <a:effectLst/>
                <a:uFillTx/>
                <a:latin typeface="メイリオ"/>
                <a:ea typeface="メイリオ"/>
              </a:rPr>
              <a:t>LINE</a:t>
            </a:r>
            <a:r>
              <a:rPr b="1" lang="zh-CN" sz="1500" strike="noStrike" u="none">
                <a:solidFill>
                  <a:srgbClr val="ffffff"/>
                </a:solidFill>
                <a:effectLst/>
                <a:uFillTx/>
                <a:latin typeface="メイリオ"/>
                <a:ea typeface="メイリオ"/>
              </a:rPr>
              <a:t>の友だち追加</a:t>
            </a:r>
            <a:endParaRPr b="0" lang="en-US" sz="1500" strike="noStrike" u="none">
              <a:solidFill>
                <a:srgbClr val="ffffff"/>
              </a:solidFill>
              <a:effectLst/>
              <a:uFillTx/>
              <a:latin typeface="Arial"/>
            </a:endParaRPr>
          </a:p>
        </p:txBody>
      </p:sp>
      <p:sp>
        <p:nvSpPr>
          <p:cNvPr id="485" name="Rounded Rectangle 8"/>
          <p:cNvSpPr/>
          <p:nvPr/>
        </p:nvSpPr>
        <p:spPr>
          <a:xfrm>
            <a:off x="5093280" y="2724840"/>
            <a:ext cx="4388760" cy="80424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0" lang="zh-CN" sz="1500" strike="noStrike" u="none">
                <a:solidFill>
                  <a:srgbClr val="333333"/>
                </a:solidFill>
                <a:effectLst/>
                <a:uFillTx/>
                <a:latin typeface="メイリオ"/>
                <a:ea typeface="メイリオ"/>
              </a:rPr>
              <a:t>サイト内の「</a:t>
            </a:r>
            <a:r>
              <a:rPr b="0" lang="en-US" sz="1500" strike="noStrike" u="none">
                <a:solidFill>
                  <a:srgbClr val="333333"/>
                </a:solidFill>
                <a:effectLst/>
                <a:uFillTx/>
                <a:latin typeface="メイリオ"/>
                <a:ea typeface="メイリオ"/>
              </a:rPr>
              <a:t>LINE</a:t>
            </a:r>
            <a:r>
              <a:rPr b="0" lang="zh-CN" sz="1500" strike="noStrike" u="none">
                <a:solidFill>
                  <a:srgbClr val="333333"/>
                </a:solidFill>
                <a:effectLst/>
                <a:uFillTx/>
                <a:latin typeface="メイリオ"/>
                <a:ea typeface="メイリオ"/>
              </a:rPr>
              <a:t>でお問い合わせ」</a:t>
            </a:r>
            <a:endParaRPr b="0" lang="en-US" sz="1500" strike="noStrike" u="none">
              <a:solidFill>
                <a:srgbClr val="000000"/>
              </a:solidFill>
              <a:effectLst/>
              <a:uFillTx/>
              <a:latin typeface="Arial"/>
            </a:endParaRPr>
          </a:p>
          <a:p>
            <a:pPr algn="ctr" defTabSz="914400">
              <a:lnSpc>
                <a:spcPct val="100000"/>
              </a:lnSpc>
            </a:pPr>
            <a:r>
              <a:rPr b="0" lang="zh-CN" sz="1500" strike="noStrike" u="none">
                <a:solidFill>
                  <a:srgbClr val="333333"/>
                </a:solidFill>
                <a:effectLst/>
                <a:uFillTx/>
                <a:latin typeface="メイリオ"/>
                <a:ea typeface="メイリオ"/>
              </a:rPr>
              <a:t>ボタン（全ページ）</a:t>
            </a:r>
            <a:endParaRPr b="0" lang="en-US" sz="1500" strike="noStrike" u="none">
              <a:solidFill>
                <a:srgbClr val="000000"/>
              </a:solidFill>
              <a:effectLst/>
              <a:uFillTx/>
              <a:latin typeface="Arial"/>
            </a:endParaRPr>
          </a:p>
        </p:txBody>
      </p:sp>
      <p:sp>
        <p:nvSpPr>
          <p:cNvPr id="486" name="Right Arrow 9"/>
          <p:cNvSpPr/>
          <p:nvPr/>
        </p:nvSpPr>
        <p:spPr>
          <a:xfrm rot="5400000">
            <a:off x="7150680" y="3620880"/>
            <a:ext cx="27396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87" name="Rounded Rectangle 10"/>
          <p:cNvSpPr/>
          <p:nvPr/>
        </p:nvSpPr>
        <p:spPr>
          <a:xfrm>
            <a:off x="5093280" y="3895200"/>
            <a:ext cx="4388760" cy="80424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0" lang="zh-CN" sz="1500" strike="noStrike" u="none">
                <a:solidFill>
                  <a:srgbClr val="333333"/>
                </a:solidFill>
                <a:effectLst/>
                <a:uFillTx/>
                <a:latin typeface="メイリオ"/>
                <a:ea typeface="メイリオ"/>
              </a:rPr>
              <a:t>物件の</a:t>
            </a:r>
            <a:r>
              <a:rPr b="0" lang="en-US" sz="1500" strike="noStrike" u="none">
                <a:solidFill>
                  <a:srgbClr val="333333"/>
                </a:solidFill>
                <a:effectLst/>
                <a:uFillTx/>
                <a:latin typeface="メイリオ"/>
                <a:ea typeface="メイリオ"/>
              </a:rPr>
              <a:t>URL</a:t>
            </a:r>
            <a:r>
              <a:rPr b="0" lang="zh-CN" sz="1500" strike="noStrike" u="none">
                <a:solidFill>
                  <a:srgbClr val="333333"/>
                </a:solidFill>
                <a:effectLst/>
                <a:uFillTx/>
                <a:latin typeface="メイリオ"/>
                <a:ea typeface="メイリオ"/>
              </a:rPr>
              <a:t>・物件名・画像を送るだけで、</a:t>
            </a:r>
            <a:endParaRPr b="0" lang="en-US" sz="1500" strike="noStrike" u="none">
              <a:solidFill>
                <a:srgbClr val="000000"/>
              </a:solidFill>
              <a:effectLst/>
              <a:uFillTx/>
              <a:latin typeface="Arial"/>
            </a:endParaRPr>
          </a:p>
          <a:p>
            <a:pPr algn="ctr" defTabSz="914400">
              <a:lnSpc>
                <a:spcPct val="100000"/>
              </a:lnSpc>
            </a:pPr>
            <a:r>
              <a:rPr b="0" lang="zh-CN" sz="1500" strike="noStrike" u="none">
                <a:solidFill>
                  <a:srgbClr val="333333"/>
                </a:solidFill>
                <a:effectLst/>
                <a:uFillTx/>
                <a:latin typeface="メイリオ"/>
                <a:ea typeface="メイリオ"/>
              </a:rPr>
              <a:t>空室確認から内見の手配まで</a:t>
            </a:r>
            <a:endParaRPr b="0" lang="en-US" sz="1500" strike="noStrike" u="none">
              <a:solidFill>
                <a:srgbClr val="000000"/>
              </a:solidFill>
              <a:effectLst/>
              <a:uFillTx/>
              <a:latin typeface="Arial"/>
            </a:endParaRPr>
          </a:p>
        </p:txBody>
      </p:sp>
      <p:sp>
        <p:nvSpPr>
          <p:cNvPr id="488" name="Right Arrow 11"/>
          <p:cNvSpPr/>
          <p:nvPr/>
        </p:nvSpPr>
        <p:spPr>
          <a:xfrm rot="5400000">
            <a:off x="7150680" y="4791240"/>
            <a:ext cx="27396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89" name="Rounded Rectangle 12"/>
          <p:cNvSpPr/>
          <p:nvPr/>
        </p:nvSpPr>
        <p:spPr>
          <a:xfrm>
            <a:off x="5641920" y="5065920"/>
            <a:ext cx="3291480" cy="475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en-US" sz="1500" strike="noStrike" u="none">
                <a:solidFill>
                  <a:srgbClr val="ffffff"/>
                </a:solidFill>
                <a:effectLst/>
                <a:uFillTx/>
                <a:latin typeface="メイリオ"/>
                <a:ea typeface="メイリオ"/>
              </a:rPr>
              <a:t>LINE</a:t>
            </a:r>
            <a:r>
              <a:rPr b="1" lang="zh-CN" sz="1500" strike="noStrike" u="none">
                <a:solidFill>
                  <a:srgbClr val="ffffff"/>
                </a:solidFill>
                <a:effectLst/>
                <a:uFillTx/>
                <a:latin typeface="メイリオ"/>
                <a:ea typeface="メイリオ"/>
              </a:rPr>
              <a:t>の友だち追加</a:t>
            </a:r>
            <a:endParaRPr b="0" lang="en-US" sz="1500" strike="noStrike" u="none">
              <a:solidFill>
                <a:srgbClr val="ffffff"/>
              </a:solidFill>
              <a:effectLst/>
              <a:uFillTx/>
              <a:latin typeface="Arial"/>
            </a:endParaRPr>
          </a:p>
        </p:txBody>
      </p:sp>
      <p:sp>
        <p:nvSpPr>
          <p:cNvPr id="490" name="TextBox 18"/>
          <p:cNvSpPr/>
          <p:nvPr/>
        </p:nvSpPr>
        <p:spPr>
          <a:xfrm>
            <a:off x="429840" y="5687640"/>
            <a:ext cx="4388760" cy="603000"/>
          </a:xfrm>
          <a:prstGeom prst="rect">
            <a:avLst/>
          </a:prstGeom>
          <a:noFill/>
          <a:ln w="0">
            <a:noFill/>
          </a:ln>
        </p:spPr>
        <p:style>
          <a:lnRef idx="0"/>
          <a:fillRef idx="0"/>
          <a:effectRef idx="0"/>
          <a:fontRef idx="minor"/>
        </p:style>
        <p:txBody>
          <a:bodyPr lIns="45720" rIns="45720" tIns="45000" bIns="45000" anchor="t">
            <a:spAutoFit/>
          </a:bodyPr>
          <a:p>
            <a:pPr defTabSz="914400">
              <a:lnSpc>
                <a:spcPct val="100000"/>
              </a:lnSpc>
            </a:pPr>
            <a:r>
              <a:rPr b="0" lang="en-US" sz="1300" strike="noStrike" u="none">
                <a:solidFill>
                  <a:srgbClr val="7f7f7f"/>
                </a:solidFill>
                <a:effectLst/>
                <a:uFillTx/>
                <a:latin typeface="メイリオ"/>
                <a:ea typeface="メイリオ"/>
              </a:rPr>
              <a:t>※離脱防止ポップアップは、</a:t>
            </a:r>
            <a:r>
              <a:rPr b="0" lang="en-US" sz="1300" strike="noStrike" u="none">
                <a:solidFill>
                  <a:srgbClr val="7f7f7f"/>
                </a:solidFill>
                <a:effectLst/>
                <a:uFillTx/>
                <a:latin typeface="メイリオ"/>
                <a:ea typeface="メイリオ"/>
              </a:rPr>
              <a:t>LINE</a:t>
            </a:r>
            <a:r>
              <a:rPr b="0" lang="zh-CN" sz="1300" strike="noStrike" u="none">
                <a:solidFill>
                  <a:srgbClr val="7f7f7f"/>
                </a:solidFill>
                <a:effectLst/>
                <a:uFillTx/>
                <a:latin typeface="メイリオ"/>
                <a:ea typeface="メイリオ"/>
              </a:rPr>
              <a:t>公式アカウントとは別に導入する施策です（初期</a:t>
            </a:r>
            <a:r>
              <a:rPr b="0" lang="en-US" sz="1300" strike="noStrike" u="none">
                <a:solidFill>
                  <a:srgbClr val="7f7f7f"/>
                </a:solidFill>
                <a:effectLst/>
                <a:uFillTx/>
                <a:latin typeface="メイリオ"/>
                <a:ea typeface="メイリオ"/>
              </a:rPr>
              <a:t>1.5</a:t>
            </a:r>
            <a:r>
              <a:rPr b="0" lang="zh-CN" sz="1300" strike="noStrike" u="none">
                <a:solidFill>
                  <a:srgbClr val="7f7f7f"/>
                </a:solidFill>
                <a:effectLst/>
                <a:uFillTx/>
                <a:latin typeface="メイリオ"/>
                <a:ea typeface="メイリオ"/>
              </a:rPr>
              <a:t>万円・月</a:t>
            </a:r>
            <a:r>
              <a:rPr b="0" lang="en-US" sz="1300" strike="noStrike" u="none">
                <a:solidFill>
                  <a:srgbClr val="7f7f7f"/>
                </a:solidFill>
                <a:effectLst/>
                <a:uFillTx/>
                <a:latin typeface="メイリオ"/>
                <a:ea typeface="メイリオ"/>
              </a:rPr>
              <a:t>3</a:t>
            </a:r>
            <a:r>
              <a:rPr b="0" lang="zh-CN" sz="1300" strike="noStrike" u="none">
                <a:solidFill>
                  <a:srgbClr val="7f7f7f"/>
                </a:solidFill>
                <a:effectLst/>
                <a:uFillTx/>
                <a:latin typeface="メイリオ"/>
                <a:ea typeface="メイリオ"/>
              </a:rPr>
              <a:t>万円）。</a:t>
            </a:r>
            <a:endParaRPr b="0" lang="en-US" sz="1300" strike="noStrike" u="none">
              <a:solidFill>
                <a:srgbClr val="000000"/>
              </a:solidFill>
              <a:effectLst/>
              <a:uFillTx/>
              <a:latin typeface="Arial"/>
            </a:endParaRPr>
          </a:p>
        </p:txBody>
      </p:sp>
      <p:sp>
        <p:nvSpPr>
          <p:cNvPr id="491" name="Rounded Rectangle 7"/>
          <p:cNvSpPr/>
          <p:nvPr/>
        </p:nvSpPr>
        <p:spPr>
          <a:xfrm>
            <a:off x="429840" y="1444680"/>
            <a:ext cx="4388760" cy="475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en-US" sz="1500" strike="noStrike" u="none">
                <a:solidFill>
                  <a:srgbClr val="ffffff"/>
                </a:solidFill>
                <a:effectLst/>
                <a:uFillTx/>
                <a:latin typeface="メイリオ"/>
                <a:ea typeface="メイリオ"/>
              </a:rPr>
              <a:t>① 離脱防止ポップアップ</a:t>
            </a:r>
            <a:endParaRPr b="0" lang="en-US" sz="1500" strike="noStrike" u="none">
              <a:solidFill>
                <a:srgbClr val="ffffff"/>
              </a:solidFill>
              <a:effectLst/>
              <a:uFillTx/>
              <a:latin typeface="Arial"/>
            </a:endParaRPr>
          </a:p>
        </p:txBody>
      </p:sp>
      <p:sp>
        <p:nvSpPr>
          <p:cNvPr id="492" name="Rounded Rectangle 7"/>
          <p:cNvSpPr/>
          <p:nvPr/>
        </p:nvSpPr>
        <p:spPr>
          <a:xfrm>
            <a:off x="5093280" y="1444680"/>
            <a:ext cx="4388760" cy="475200"/>
          </a:xfrm>
          <a:prstGeom prst="roundRect">
            <a:avLst>
              <a:gd name="adj" fmla="val 10000"/>
            </a:avLst>
          </a:prstGeom>
          <a:solidFill>
            <a:srgbClr val="4a6fa5"/>
          </a:solidFill>
          <a:ln w="12700">
            <a:solidFill>
              <a:srgbClr val="4a6fa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en-US" sz="1500" strike="noStrike" u="none">
                <a:solidFill>
                  <a:srgbClr val="ffffff"/>
                </a:solidFill>
                <a:effectLst/>
                <a:uFillTx/>
                <a:latin typeface="メイリオ"/>
                <a:ea typeface="メイリオ"/>
              </a:rPr>
              <a:t>② サイト内の「</a:t>
            </a:r>
            <a:r>
              <a:rPr b="1" lang="en-US" sz="1500" strike="noStrike" u="none">
                <a:solidFill>
                  <a:srgbClr val="ffffff"/>
                </a:solidFill>
                <a:effectLst/>
                <a:uFillTx/>
                <a:latin typeface="メイリオ"/>
                <a:ea typeface="メイリオ"/>
              </a:rPr>
              <a:t>LINE</a:t>
            </a:r>
            <a:r>
              <a:rPr b="1" lang="zh-CN" sz="1500" strike="noStrike" u="none">
                <a:solidFill>
                  <a:srgbClr val="ffffff"/>
                </a:solidFill>
                <a:effectLst/>
                <a:uFillTx/>
                <a:latin typeface="メイリオ"/>
                <a:ea typeface="メイリオ"/>
              </a:rPr>
              <a:t>でお問い合わせ」ボタン</a:t>
            </a:r>
            <a:endParaRPr b="0" lang="en-US" sz="1500" strike="noStrike" u="none">
              <a:solidFill>
                <a:srgbClr val="ffffff"/>
              </a:solidFill>
              <a:effectLst/>
              <a:uFillTx/>
              <a:latin typeface="Arial"/>
            </a:endParaRPr>
          </a:p>
        </p:txBody>
      </p:sp>
      <p:sp>
        <p:nvSpPr>
          <p:cNvPr id="493" name="TextBox 2"/>
          <p:cNvSpPr/>
          <p:nvPr/>
        </p:nvSpPr>
        <p:spPr>
          <a:xfrm>
            <a:off x="429840" y="1993320"/>
            <a:ext cx="4388760" cy="639720"/>
          </a:xfrm>
          <a:prstGeom prst="rect">
            <a:avLst/>
          </a:prstGeom>
          <a:noFill/>
          <a:ln w="0">
            <a:noFill/>
          </a:ln>
        </p:spPr>
        <p:style>
          <a:lnRef idx="0"/>
          <a:fillRef idx="0"/>
          <a:effectRef idx="0"/>
          <a:fontRef idx="minor"/>
        </p:style>
        <p:txBody>
          <a:bodyPr lIns="45720" rIns="45720" tIns="45000" bIns="45000" anchor="ctr">
            <a:spAutoFit/>
          </a:bodyPr>
          <a:p>
            <a:pPr defTabSz="914400">
              <a:lnSpc>
                <a:spcPct val="100000"/>
              </a:lnSpc>
            </a:pPr>
            <a:r>
              <a:rPr b="1" lang="zh-CN" sz="1400" strike="noStrike" u="none">
                <a:solidFill>
                  <a:srgbClr val="5a6378"/>
                </a:solidFill>
                <a:effectLst/>
                <a:uFillTx/>
                <a:latin typeface="メイリオ"/>
                <a:ea typeface="メイリオ"/>
              </a:rPr>
              <a:t>役割：</a:t>
            </a:r>
            <a:r>
              <a:rPr b="0" lang="zh-CN" sz="1400" strike="noStrike" u="none">
                <a:solidFill>
                  <a:srgbClr val="5a6378"/>
                </a:solidFill>
                <a:effectLst/>
                <a:uFillTx/>
                <a:latin typeface="メイリオ"/>
                <a:ea typeface="メイリオ"/>
              </a:rPr>
              <a:t>サイトを離れようとした方を引き留め、</a:t>
            </a:r>
            <a:r>
              <a:rPr b="0" lang="en-US" sz="1400" strike="noStrike" u="none">
                <a:solidFill>
                  <a:srgbClr val="5a6378"/>
                </a:solidFill>
                <a:effectLst/>
                <a:uFillTx/>
                <a:latin typeface="メイリオ"/>
                <a:ea typeface="メイリオ"/>
              </a:rPr>
              <a:t>LINE</a:t>
            </a:r>
            <a:r>
              <a:rPr b="0" lang="zh-CN" sz="1400" strike="noStrike" u="none">
                <a:solidFill>
                  <a:srgbClr val="5a6378"/>
                </a:solidFill>
                <a:effectLst/>
                <a:uFillTx/>
                <a:latin typeface="メイリオ"/>
                <a:ea typeface="メイリオ"/>
              </a:rPr>
              <a:t>の友だち追加につなげる</a:t>
            </a:r>
            <a:endParaRPr b="0" lang="en-US" sz="1400" strike="noStrike" u="none">
              <a:solidFill>
                <a:srgbClr val="000000"/>
              </a:solidFill>
              <a:effectLst/>
              <a:uFillTx/>
              <a:latin typeface="Arial"/>
            </a:endParaRPr>
          </a:p>
        </p:txBody>
      </p:sp>
      <p:sp>
        <p:nvSpPr>
          <p:cNvPr id="494" name="TextBox 2"/>
          <p:cNvSpPr/>
          <p:nvPr/>
        </p:nvSpPr>
        <p:spPr>
          <a:xfrm>
            <a:off x="5093280" y="1993320"/>
            <a:ext cx="4388760" cy="639720"/>
          </a:xfrm>
          <a:prstGeom prst="rect">
            <a:avLst/>
          </a:prstGeom>
          <a:noFill/>
          <a:ln w="0">
            <a:noFill/>
          </a:ln>
        </p:spPr>
        <p:style>
          <a:lnRef idx="0"/>
          <a:fillRef idx="0"/>
          <a:effectRef idx="0"/>
          <a:fontRef idx="minor"/>
        </p:style>
        <p:txBody>
          <a:bodyPr lIns="45720" rIns="45720" tIns="45000" bIns="45000" anchor="ctr">
            <a:spAutoFit/>
          </a:bodyPr>
          <a:p>
            <a:pPr defTabSz="914400">
              <a:lnSpc>
                <a:spcPct val="100000"/>
              </a:lnSpc>
            </a:pPr>
            <a:r>
              <a:rPr b="1" lang="zh-CN" sz="1400" strike="noStrike" u="none">
                <a:solidFill>
                  <a:srgbClr val="5a6378"/>
                </a:solidFill>
                <a:effectLst/>
                <a:uFillTx/>
                <a:latin typeface="メイリオ"/>
                <a:ea typeface="メイリオ"/>
              </a:rPr>
              <a:t>役割：</a:t>
            </a:r>
            <a:r>
              <a:rPr b="0" lang="zh-CN" sz="1400" strike="noStrike" u="none">
                <a:solidFill>
                  <a:srgbClr val="5a6378"/>
                </a:solidFill>
                <a:effectLst/>
                <a:uFillTx/>
                <a:latin typeface="メイリオ"/>
                <a:ea typeface="メイリオ"/>
              </a:rPr>
              <a:t>問い合わせを考えている方を、</a:t>
            </a:r>
            <a:r>
              <a:rPr b="0" lang="en-US" sz="1400" strike="noStrike" u="none">
                <a:solidFill>
                  <a:srgbClr val="5a6378"/>
                </a:solidFill>
                <a:effectLst/>
                <a:uFillTx/>
                <a:latin typeface="メイリオ"/>
                <a:ea typeface="メイリオ"/>
              </a:rPr>
              <a:t>LINE</a:t>
            </a:r>
            <a:r>
              <a:rPr b="0" lang="zh-CN" sz="1400" strike="noStrike" u="none">
                <a:solidFill>
                  <a:srgbClr val="5a6378"/>
                </a:solidFill>
                <a:effectLst/>
                <a:uFillTx/>
                <a:latin typeface="メイリオ"/>
                <a:ea typeface="メイリオ"/>
              </a:rPr>
              <a:t>の友だち追加につなげる</a:t>
            </a:r>
            <a:endParaRPr b="0" lang="en-US" sz="1400" strike="noStrike" u="none">
              <a:solidFill>
                <a:srgbClr val="000000"/>
              </a:solidFill>
              <a:effectLst/>
              <a:uFillTx/>
              <a:latin typeface="Arial"/>
            </a:endParaRPr>
          </a:p>
        </p:txBody>
      </p:sp>
      <p:sp>
        <p:nvSpPr>
          <p:cNvPr id="495" name="TextBox 18"/>
          <p:cNvSpPr/>
          <p:nvPr/>
        </p:nvSpPr>
        <p:spPr>
          <a:xfrm>
            <a:off x="5093280" y="5687640"/>
            <a:ext cx="4388760" cy="603000"/>
          </a:xfrm>
          <a:prstGeom prst="rect">
            <a:avLst/>
          </a:prstGeom>
          <a:noFill/>
          <a:ln w="0">
            <a:noFill/>
          </a:ln>
        </p:spPr>
        <p:style>
          <a:lnRef idx="0"/>
          <a:fillRef idx="0"/>
          <a:effectRef idx="0"/>
          <a:fontRef idx="minor"/>
        </p:style>
        <p:txBody>
          <a:bodyPr lIns="45720" rIns="45720" tIns="45000" bIns="45000" anchor="t">
            <a:spAutoFit/>
          </a:bodyPr>
          <a:p>
            <a:pPr defTabSz="914400">
              <a:lnSpc>
                <a:spcPct val="100000"/>
              </a:lnSpc>
            </a:pPr>
            <a:r>
              <a:rPr b="0" lang="en-US" sz="1300" strike="noStrike" u="none">
                <a:solidFill>
                  <a:srgbClr val="7f7f7f"/>
                </a:solidFill>
                <a:effectLst/>
                <a:uFillTx/>
                <a:latin typeface="メイリオ"/>
                <a:ea typeface="メイリオ"/>
              </a:rPr>
              <a:t>※サイトのボタンは、リンク先を友だち追加用の</a:t>
            </a:r>
            <a:r>
              <a:rPr b="0" lang="en-US" sz="1300" strike="noStrike" u="none">
                <a:solidFill>
                  <a:srgbClr val="7f7f7f"/>
                </a:solidFill>
                <a:effectLst/>
                <a:uFillTx/>
                <a:latin typeface="メイリオ"/>
                <a:ea typeface="メイリオ"/>
              </a:rPr>
              <a:t>URL</a:t>
            </a:r>
            <a:r>
              <a:rPr b="0" lang="zh-CN" sz="1300" strike="noStrike" u="none">
                <a:solidFill>
                  <a:srgbClr val="7f7f7f"/>
                </a:solidFill>
                <a:effectLst/>
                <a:uFillTx/>
                <a:latin typeface="メイリオ"/>
                <a:ea typeface="メイリオ"/>
              </a:rPr>
              <a:t>に変更します。</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角丸四角形 6"/>
          <p:cNvSpPr/>
          <p:nvPr/>
        </p:nvSpPr>
        <p:spPr>
          <a:xfrm>
            <a:off x="3459960" y="1776240"/>
            <a:ext cx="2985840" cy="44708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497" name="角丸四角形 7"/>
          <p:cNvSpPr/>
          <p:nvPr/>
        </p:nvSpPr>
        <p:spPr>
          <a:xfrm>
            <a:off x="256680" y="1776240"/>
            <a:ext cx="2985840" cy="4470840"/>
          </a:xfrm>
          <a:prstGeom prst="roundRect">
            <a:avLst>
              <a:gd name="adj" fmla="val 3567"/>
            </a:avLst>
          </a:prstGeom>
          <a:solidFill>
            <a:schemeClr val="accent1">
              <a:lumMod val="20000"/>
              <a:lumOff val="80000"/>
            </a:schemeClr>
          </a:solidFill>
          <a:ln w="25400">
            <a:solidFill>
              <a:srgbClr val="4f81bd"/>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498" name="角丸四角形 8"/>
          <p:cNvSpPr/>
          <p:nvPr/>
        </p:nvSpPr>
        <p:spPr>
          <a:xfrm>
            <a:off x="6662880" y="1776240"/>
            <a:ext cx="2985840" cy="4470840"/>
          </a:xfrm>
          <a:prstGeom prst="roundRect">
            <a:avLst>
              <a:gd name="adj" fmla="val 3567"/>
            </a:avLst>
          </a:prstGeom>
          <a:solidFill>
            <a:schemeClr val="accent1">
              <a:lumMod val="20000"/>
              <a:lumOff val="80000"/>
            </a:schemeClr>
          </a:solidFill>
          <a:ln w="25400">
            <a:solidFill>
              <a:srgbClr val="4f81bd"/>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499" name="Google Shape;178;p7"/>
          <p:cNvSpPr/>
          <p:nvPr/>
        </p:nvSpPr>
        <p:spPr>
          <a:xfrm>
            <a:off x="592560" y="1940400"/>
            <a:ext cx="2314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離脱防止バナー</a:t>
            </a:r>
            <a:endParaRPr b="0" lang="en-US" sz="2000" strike="noStrike" u="none">
              <a:solidFill>
                <a:srgbClr val="000000"/>
              </a:solidFill>
              <a:effectLst/>
              <a:uFillTx/>
              <a:latin typeface="Arial"/>
            </a:endParaRPr>
          </a:p>
        </p:txBody>
      </p:sp>
      <p:sp>
        <p:nvSpPr>
          <p:cNvPr id="500" name="Google Shape;178;p7"/>
          <p:cNvSpPr/>
          <p:nvPr/>
        </p:nvSpPr>
        <p:spPr>
          <a:xfrm>
            <a:off x="3795840" y="1940400"/>
            <a:ext cx="2314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en-US" sz="2000" strike="noStrike" u="none">
                <a:solidFill>
                  <a:srgbClr val="002060"/>
                </a:solidFill>
                <a:effectLst/>
                <a:uFillTx/>
                <a:latin typeface="Meiryo"/>
                <a:ea typeface="Meiryo"/>
              </a:rPr>
              <a:t>CPF</a:t>
            </a:r>
            <a:r>
              <a:rPr b="1" lang="ja-JP" sz="2000" strike="noStrike" u="none">
                <a:solidFill>
                  <a:srgbClr val="002060"/>
                </a:solidFill>
                <a:effectLst/>
                <a:uFillTx/>
                <a:latin typeface="Meiryo"/>
                <a:ea typeface="Meiryo"/>
              </a:rPr>
              <a:t>広告</a:t>
            </a:r>
            <a:endParaRPr b="0" lang="en-US" sz="2000" strike="noStrike" u="none">
              <a:solidFill>
                <a:srgbClr val="000000"/>
              </a:solidFill>
              <a:effectLst/>
              <a:uFillTx/>
              <a:latin typeface="Arial"/>
            </a:endParaRPr>
          </a:p>
        </p:txBody>
      </p:sp>
      <p:sp>
        <p:nvSpPr>
          <p:cNvPr id="501" name="Google Shape;178;p7"/>
          <p:cNvSpPr/>
          <p:nvPr/>
        </p:nvSpPr>
        <p:spPr>
          <a:xfrm>
            <a:off x="6756120" y="1950120"/>
            <a:ext cx="2800080" cy="7675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サンクス</a:t>
            </a:r>
            <a:r>
              <a:rPr b="1" lang="en-US" sz="2000" strike="noStrike" u="none">
                <a:solidFill>
                  <a:srgbClr val="002060"/>
                </a:solidFill>
                <a:effectLst/>
                <a:uFillTx/>
                <a:latin typeface="Meiryo"/>
                <a:ea typeface="Meiryo"/>
              </a:rPr>
              <a:t>LINE</a:t>
            </a:r>
            <a:r>
              <a:rPr b="1" lang="ja-JP" sz="2000" strike="noStrike" u="none">
                <a:solidFill>
                  <a:srgbClr val="002060"/>
                </a:solidFill>
                <a:effectLst/>
                <a:uFillTx/>
                <a:latin typeface="Meiryo"/>
                <a:ea typeface="Meiryo"/>
              </a:rPr>
              <a:t>誘導</a:t>
            </a:r>
            <a:endParaRPr b="0" lang="en-US" sz="2000" strike="noStrike" u="none">
              <a:solidFill>
                <a:srgbClr val="000000"/>
              </a:solidFill>
              <a:effectLst/>
              <a:uFillTx/>
              <a:latin typeface="Arial"/>
            </a:endParaRPr>
          </a:p>
        </p:txBody>
      </p:sp>
      <p:sp>
        <p:nvSpPr>
          <p:cNvPr id="502" name="Google Shape;178;p7"/>
          <p:cNvSpPr/>
          <p:nvPr/>
        </p:nvSpPr>
        <p:spPr>
          <a:xfrm>
            <a:off x="92880" y="5014800"/>
            <a:ext cx="2066760" cy="3672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lumMod val="50000"/>
                    <a:lumOff val="50000"/>
                  </a:schemeClr>
                </a:solidFill>
                <a:effectLst/>
                <a:uFillTx/>
                <a:latin typeface="Meiryo"/>
                <a:ea typeface="Meiryo"/>
              </a:rPr>
              <a:t>事例：車買取</a:t>
            </a:r>
            <a:endParaRPr b="0" lang="en-US" sz="1400" strike="noStrike" u="none">
              <a:solidFill>
                <a:srgbClr val="000000"/>
              </a:solidFill>
              <a:effectLst/>
              <a:uFillTx/>
              <a:latin typeface="Arial"/>
            </a:endParaRPr>
          </a:p>
        </p:txBody>
      </p:sp>
      <p:pic>
        <p:nvPicPr>
          <p:cNvPr id="503" name="図 1" descr=""/>
          <p:cNvPicPr/>
          <p:nvPr/>
        </p:nvPicPr>
        <p:blipFill>
          <a:blip r:embed="rId1"/>
          <a:srcRect l="0" t="34582" r="0" b="34765"/>
          <a:stretch/>
        </p:blipFill>
        <p:spPr>
          <a:xfrm>
            <a:off x="313920" y="2324160"/>
            <a:ext cx="2871000" cy="1564200"/>
          </a:xfrm>
          <a:prstGeom prst="rect">
            <a:avLst/>
          </a:prstGeom>
          <a:noFill/>
          <a:ln w="0">
            <a:noFill/>
          </a:ln>
        </p:spPr>
      </p:pic>
      <p:sp>
        <p:nvSpPr>
          <p:cNvPr id="504" name="Google Shape;178;p7"/>
          <p:cNvSpPr/>
          <p:nvPr/>
        </p:nvSpPr>
        <p:spPr>
          <a:xfrm>
            <a:off x="-81000" y="4068720"/>
            <a:ext cx="3501360" cy="7981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solidFill>
                <a:effectLst/>
                <a:uFillTx/>
                <a:latin typeface="Meiryo"/>
                <a:ea typeface="Meiryo"/>
              </a:rPr>
              <a:t>興味はあるが利用まで</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至らなかったユーザーを</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友だちとして囲い込む。</a:t>
            </a:r>
            <a:endParaRPr b="0" lang="en-US" sz="1400" strike="noStrike" u="none">
              <a:solidFill>
                <a:srgbClr val="000000"/>
              </a:solidFill>
              <a:effectLst/>
              <a:uFillTx/>
              <a:latin typeface="Arial"/>
            </a:endParaRPr>
          </a:p>
        </p:txBody>
      </p:sp>
      <p:sp>
        <p:nvSpPr>
          <p:cNvPr id="505" name="Google Shape;178;p7"/>
          <p:cNvSpPr/>
          <p:nvPr/>
        </p:nvSpPr>
        <p:spPr>
          <a:xfrm>
            <a:off x="3161520" y="4052880"/>
            <a:ext cx="3501360" cy="7981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en-US" sz="1400" strike="noStrike" u="none">
                <a:solidFill>
                  <a:schemeClr val="dk1"/>
                </a:solidFill>
                <a:effectLst/>
                <a:uFillTx/>
                <a:latin typeface="Meiryo"/>
                <a:ea typeface="Meiryo"/>
              </a:rPr>
              <a:t>CPF</a:t>
            </a:r>
            <a:r>
              <a:rPr b="0" lang="ja-JP" sz="1400" strike="noStrike" u="none">
                <a:solidFill>
                  <a:schemeClr val="dk1"/>
                </a:solidFill>
                <a:effectLst/>
                <a:uFillTx/>
                <a:latin typeface="Meiryo"/>
                <a:ea typeface="Meiryo"/>
              </a:rPr>
              <a:t>約</a:t>
            </a:r>
            <a:r>
              <a:rPr b="0" lang="en-US" sz="1400" strike="noStrike" u="none">
                <a:solidFill>
                  <a:schemeClr val="dk1"/>
                </a:solidFill>
                <a:effectLst/>
                <a:uFillTx/>
                <a:latin typeface="Meiryo"/>
                <a:ea typeface="Meiryo"/>
              </a:rPr>
              <a:t>100-200</a:t>
            </a:r>
            <a:r>
              <a:rPr b="0" lang="ja-JP" sz="1400" strike="noStrike" u="none">
                <a:solidFill>
                  <a:schemeClr val="dk1"/>
                </a:solidFill>
                <a:effectLst/>
                <a:uFillTx/>
                <a:latin typeface="Meiryo"/>
                <a:ea typeface="Meiryo"/>
              </a:rPr>
              <a:t>円台。</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かなり安価かつ成果報酬で</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友だちを増やす広告。</a:t>
            </a:r>
            <a:endParaRPr b="0" lang="en-US" sz="1400" strike="noStrike" u="none">
              <a:solidFill>
                <a:srgbClr val="000000"/>
              </a:solidFill>
              <a:effectLst/>
              <a:uFillTx/>
              <a:latin typeface="Arial"/>
            </a:endParaRPr>
          </a:p>
        </p:txBody>
      </p:sp>
      <p:sp>
        <p:nvSpPr>
          <p:cNvPr id="506" name="Google Shape;178;p7"/>
          <p:cNvSpPr/>
          <p:nvPr/>
        </p:nvSpPr>
        <p:spPr>
          <a:xfrm>
            <a:off x="3242880" y="5014800"/>
            <a:ext cx="2337840" cy="3672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lumMod val="50000"/>
                    <a:lumOff val="50000"/>
                  </a:schemeClr>
                </a:solidFill>
                <a:effectLst/>
                <a:uFillTx/>
                <a:latin typeface="Meiryo"/>
                <a:ea typeface="Meiryo"/>
              </a:rPr>
              <a:t>事例：アパレル</a:t>
            </a:r>
            <a:endParaRPr b="0" lang="en-US" sz="1400" strike="noStrike" u="none">
              <a:solidFill>
                <a:srgbClr val="000000"/>
              </a:solidFill>
              <a:effectLst/>
              <a:uFillTx/>
              <a:latin typeface="Arial"/>
            </a:endParaRPr>
          </a:p>
        </p:txBody>
      </p:sp>
      <p:sp>
        <p:nvSpPr>
          <p:cNvPr id="507" name="Google Shape;178;p7"/>
          <p:cNvSpPr/>
          <p:nvPr/>
        </p:nvSpPr>
        <p:spPr>
          <a:xfrm>
            <a:off x="3639240" y="5328720"/>
            <a:ext cx="2795040" cy="521280"/>
          </a:xfrm>
          <a:prstGeom prst="rect">
            <a:avLst/>
          </a:prstGeom>
          <a:noFill/>
          <a:ln w="0">
            <a:noFill/>
          </a:ln>
        </p:spPr>
        <p:style>
          <a:lnRef idx="0"/>
          <a:fillRef idx="0"/>
          <a:effectRef idx="0"/>
          <a:fontRef idx="minor"/>
        </p:style>
        <p:txBody>
          <a:bodyPr lIns="150840" rIns="150840" tIns="75240" bIns="75240" anchor="t">
            <a:spAutoFit/>
          </a:bodyPr>
          <a:p>
            <a:pPr defTabSz="914400">
              <a:lnSpc>
                <a:spcPct val="100000"/>
              </a:lnSpc>
            </a:pPr>
            <a:r>
              <a:rPr b="0" lang="en-US" sz="1200" strike="noStrike" u="none">
                <a:solidFill>
                  <a:schemeClr val="dk1">
                    <a:lumMod val="50000"/>
                    <a:lumOff val="50000"/>
                  </a:schemeClr>
                </a:solidFill>
                <a:effectLst/>
                <a:uFillTx/>
                <a:latin typeface="Meiryo"/>
                <a:ea typeface="Meiryo"/>
              </a:rPr>
              <a:t>1</a:t>
            </a:r>
            <a:r>
              <a:rPr b="0" lang="ja-JP" sz="1200" strike="noStrike" u="none">
                <a:solidFill>
                  <a:schemeClr val="dk1">
                    <a:lumMod val="50000"/>
                    <a:lumOff val="50000"/>
                  </a:schemeClr>
                </a:solidFill>
                <a:effectLst/>
                <a:uFillTx/>
                <a:latin typeface="Meiryo"/>
                <a:ea typeface="Meiryo"/>
              </a:rPr>
              <a:t>人あたり</a:t>
            </a:r>
            <a:r>
              <a:rPr b="0" lang="en-US" sz="1200" strike="noStrike" u="none">
                <a:solidFill>
                  <a:schemeClr val="dk1">
                    <a:lumMod val="50000"/>
                    <a:lumOff val="50000"/>
                  </a:schemeClr>
                </a:solidFill>
                <a:effectLst/>
                <a:uFillTx/>
                <a:latin typeface="Meiryo"/>
                <a:ea typeface="Meiryo"/>
              </a:rPr>
              <a:t>50</a:t>
            </a:r>
            <a:r>
              <a:rPr b="0" lang="ja-JP" sz="1200" strike="noStrike" u="none">
                <a:solidFill>
                  <a:schemeClr val="dk1">
                    <a:lumMod val="50000"/>
                    <a:lumOff val="50000"/>
                  </a:schemeClr>
                </a:solidFill>
                <a:effectLst/>
                <a:uFillTx/>
                <a:latin typeface="Meiryo"/>
                <a:ea typeface="Meiryo"/>
              </a:rPr>
              <a:t>円で友だち獲得</a:t>
            </a:r>
            <a:endParaRPr b="0" lang="en-US" sz="1200" strike="noStrike" u="none">
              <a:solidFill>
                <a:srgbClr val="000000"/>
              </a:solidFill>
              <a:effectLst/>
              <a:uFillTx/>
              <a:latin typeface="Arial"/>
            </a:endParaRPr>
          </a:p>
          <a:p>
            <a:pPr defTabSz="914400">
              <a:lnSpc>
                <a:spcPct val="100000"/>
              </a:lnSpc>
            </a:pPr>
            <a:r>
              <a:rPr b="0" lang="en-US" sz="1200" strike="noStrike" u="none">
                <a:solidFill>
                  <a:schemeClr val="dk1">
                    <a:lumMod val="50000"/>
                    <a:lumOff val="50000"/>
                  </a:schemeClr>
                </a:solidFill>
                <a:effectLst/>
                <a:uFillTx/>
                <a:latin typeface="Meiryo"/>
                <a:ea typeface="Meiryo"/>
              </a:rPr>
              <a:t>LINE</a:t>
            </a:r>
            <a:r>
              <a:rPr b="0" lang="ja-JP" sz="1200" strike="noStrike" u="none">
                <a:solidFill>
                  <a:schemeClr val="dk1">
                    <a:lumMod val="50000"/>
                    <a:lumOff val="50000"/>
                  </a:schemeClr>
                </a:solidFill>
                <a:effectLst/>
                <a:uFillTx/>
                <a:latin typeface="Meiryo"/>
                <a:ea typeface="Meiryo"/>
              </a:rPr>
              <a:t>経由の購入</a:t>
            </a:r>
            <a:r>
              <a:rPr b="0" lang="en-US" sz="1200" strike="noStrike" u="none">
                <a:solidFill>
                  <a:schemeClr val="dk1">
                    <a:lumMod val="50000"/>
                    <a:lumOff val="50000"/>
                  </a:schemeClr>
                </a:solidFill>
                <a:effectLst/>
                <a:uFillTx/>
                <a:latin typeface="Meiryo"/>
                <a:ea typeface="Meiryo"/>
              </a:rPr>
              <a:t>1.5</a:t>
            </a:r>
            <a:r>
              <a:rPr b="0" lang="ja-JP" sz="1200" strike="noStrike" u="none">
                <a:solidFill>
                  <a:schemeClr val="dk1">
                    <a:lumMod val="50000"/>
                    <a:lumOff val="50000"/>
                  </a:schemeClr>
                </a:solidFill>
                <a:effectLst/>
                <a:uFillTx/>
                <a:latin typeface="Meiryo"/>
                <a:ea typeface="Meiryo"/>
              </a:rPr>
              <a:t>倍</a:t>
            </a:r>
            <a:endParaRPr b="0" lang="en-US" sz="1200" strike="noStrike" u="none">
              <a:solidFill>
                <a:srgbClr val="000000"/>
              </a:solidFill>
              <a:effectLst/>
              <a:uFillTx/>
              <a:latin typeface="Arial"/>
            </a:endParaRPr>
          </a:p>
        </p:txBody>
      </p:sp>
      <p:sp>
        <p:nvSpPr>
          <p:cNvPr id="508" name="Google Shape;178;p7"/>
          <p:cNvSpPr/>
          <p:nvPr/>
        </p:nvSpPr>
        <p:spPr>
          <a:xfrm>
            <a:off x="6434640" y="4068720"/>
            <a:ext cx="3501360" cy="7981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solidFill>
                <a:effectLst/>
                <a:uFillTx/>
                <a:latin typeface="Meiryo"/>
                <a:ea typeface="Meiryo"/>
              </a:rPr>
              <a:t>サンクスページに到達した</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ユーザーを自動で</a:t>
            </a:r>
            <a:r>
              <a:rPr b="0" lang="en-US" sz="1400" strike="noStrike" u="none">
                <a:solidFill>
                  <a:schemeClr val="dk1"/>
                </a:solidFill>
                <a:effectLst/>
                <a:uFillTx/>
                <a:latin typeface="Meiryo"/>
                <a:ea typeface="Meiryo"/>
              </a:rPr>
              <a:t>LINE</a:t>
            </a:r>
            <a:r>
              <a:rPr b="0" lang="ja-JP" sz="1400" strike="noStrike" u="none">
                <a:solidFill>
                  <a:schemeClr val="dk1"/>
                </a:solidFill>
                <a:effectLst/>
                <a:uFillTx/>
                <a:latin typeface="Meiryo"/>
                <a:ea typeface="Meiryo"/>
              </a:rPr>
              <a:t>に誘導。</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友だち追加、追客に活用可能。</a:t>
            </a:r>
            <a:endParaRPr b="0" lang="en-US" sz="1400" strike="noStrike" u="none">
              <a:solidFill>
                <a:srgbClr val="000000"/>
              </a:solidFill>
              <a:effectLst/>
              <a:uFillTx/>
              <a:latin typeface="Arial"/>
            </a:endParaRPr>
          </a:p>
        </p:txBody>
      </p:sp>
      <p:sp>
        <p:nvSpPr>
          <p:cNvPr id="509" name="Google Shape;178;p7"/>
          <p:cNvSpPr/>
          <p:nvPr/>
        </p:nvSpPr>
        <p:spPr>
          <a:xfrm>
            <a:off x="6434640" y="5014800"/>
            <a:ext cx="2337840" cy="3672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lumMod val="50000"/>
                    <a:lumOff val="50000"/>
                  </a:schemeClr>
                </a:solidFill>
                <a:effectLst/>
                <a:uFillTx/>
                <a:latin typeface="Meiryo"/>
                <a:ea typeface="Meiryo"/>
              </a:rPr>
              <a:t>事例：美容医療</a:t>
            </a:r>
            <a:endParaRPr b="0" lang="en-US" sz="1400" strike="noStrike" u="none">
              <a:solidFill>
                <a:srgbClr val="000000"/>
              </a:solidFill>
              <a:effectLst/>
              <a:uFillTx/>
              <a:latin typeface="Arial"/>
            </a:endParaRPr>
          </a:p>
        </p:txBody>
      </p:sp>
      <p:pic>
        <p:nvPicPr>
          <p:cNvPr id="510" name="図 3" descr=""/>
          <p:cNvPicPr/>
          <p:nvPr/>
        </p:nvPicPr>
        <p:blipFill>
          <a:blip r:embed="rId2"/>
          <a:stretch/>
        </p:blipFill>
        <p:spPr>
          <a:xfrm>
            <a:off x="3639240" y="2409840"/>
            <a:ext cx="2626920" cy="1492560"/>
          </a:xfrm>
          <a:prstGeom prst="rect">
            <a:avLst/>
          </a:prstGeom>
          <a:noFill/>
          <a:ln w="0">
            <a:noFill/>
          </a:ln>
        </p:spPr>
      </p:pic>
      <p:sp>
        <p:nvSpPr>
          <p:cNvPr id="511" name="Google Shape;178;p7"/>
          <p:cNvSpPr/>
          <p:nvPr/>
        </p:nvSpPr>
        <p:spPr>
          <a:xfrm>
            <a:off x="440280" y="5328720"/>
            <a:ext cx="2751840" cy="890640"/>
          </a:xfrm>
          <a:prstGeom prst="rect">
            <a:avLst/>
          </a:prstGeom>
          <a:noFill/>
          <a:ln w="0">
            <a:noFill/>
          </a:ln>
        </p:spPr>
        <p:style>
          <a:lnRef idx="0"/>
          <a:fillRef idx="0"/>
          <a:effectRef idx="0"/>
          <a:fontRef idx="minor"/>
        </p:style>
        <p:txBody>
          <a:bodyPr lIns="150840" rIns="150840" tIns="75240" bIns="75240" anchor="t">
            <a:spAutoFit/>
          </a:bodyPr>
          <a:p>
            <a:pPr defTabSz="914400">
              <a:lnSpc>
                <a:spcPct val="100000"/>
              </a:lnSpc>
            </a:pPr>
            <a:r>
              <a:rPr b="0" lang="en-US" sz="1200" strike="noStrike" u="none">
                <a:solidFill>
                  <a:schemeClr val="dk1">
                    <a:lumMod val="50000"/>
                    <a:lumOff val="50000"/>
                  </a:schemeClr>
                </a:solidFill>
                <a:effectLst/>
                <a:uFillTx/>
                <a:latin typeface="Meiryo"/>
                <a:ea typeface="Meiryo"/>
              </a:rPr>
              <a:t>LP</a:t>
            </a:r>
            <a:r>
              <a:rPr b="0" lang="ja-JP" sz="1200" strike="noStrike" u="none">
                <a:solidFill>
                  <a:schemeClr val="dk1">
                    <a:lumMod val="50000"/>
                    <a:lumOff val="50000"/>
                  </a:schemeClr>
                </a:solidFill>
                <a:effectLst/>
                <a:uFillTx/>
                <a:latin typeface="Meiryo"/>
                <a:ea typeface="Meiryo"/>
              </a:rPr>
              <a:t>離脱ユーザーに対して</a:t>
            </a:r>
            <a:endParaRPr b="0" lang="en-US" sz="1200" strike="noStrike" u="none">
              <a:solidFill>
                <a:srgbClr val="000000"/>
              </a:solidFill>
              <a:effectLst/>
              <a:uFillTx/>
              <a:latin typeface="Arial"/>
            </a:endParaRPr>
          </a:p>
          <a:p>
            <a:pPr defTabSz="914400">
              <a:lnSpc>
                <a:spcPct val="100000"/>
              </a:lnSpc>
            </a:pPr>
            <a:r>
              <a:rPr b="0" lang="en-US" sz="1200" strike="noStrike" u="none">
                <a:solidFill>
                  <a:schemeClr val="dk1">
                    <a:lumMod val="50000"/>
                    <a:lumOff val="50000"/>
                  </a:schemeClr>
                </a:solidFill>
                <a:effectLst/>
                <a:uFillTx/>
                <a:latin typeface="Meiryo"/>
                <a:ea typeface="Meiryo"/>
              </a:rPr>
              <a:t>LINE</a:t>
            </a:r>
            <a:r>
              <a:rPr b="0" lang="ja-JP" sz="1200" strike="noStrike" u="none">
                <a:solidFill>
                  <a:schemeClr val="dk1">
                    <a:lumMod val="50000"/>
                    <a:lumOff val="50000"/>
                  </a:schemeClr>
                </a:solidFill>
                <a:effectLst/>
                <a:uFillTx/>
                <a:latin typeface="Meiryo"/>
                <a:ea typeface="Meiryo"/>
              </a:rPr>
              <a:t>誘導を実施。</a:t>
            </a:r>
            <a:endParaRPr b="0" lang="en-US" sz="1200" strike="noStrike" u="none">
              <a:solidFill>
                <a:srgbClr val="000000"/>
              </a:solidFill>
              <a:effectLst/>
              <a:uFillTx/>
              <a:latin typeface="Arial"/>
            </a:endParaRPr>
          </a:p>
          <a:p>
            <a:pPr defTabSz="914400">
              <a:lnSpc>
                <a:spcPct val="100000"/>
              </a:lnSpc>
            </a:pPr>
            <a:r>
              <a:rPr b="0" lang="en-US" sz="1200" strike="noStrike" u="none">
                <a:solidFill>
                  <a:schemeClr val="dk1">
                    <a:lumMod val="50000"/>
                    <a:lumOff val="50000"/>
                  </a:schemeClr>
                </a:solidFill>
                <a:effectLst/>
                <a:uFillTx/>
                <a:latin typeface="Meiryo"/>
                <a:ea typeface="Meiryo"/>
              </a:rPr>
              <a:t>LINE</a:t>
            </a:r>
            <a:r>
              <a:rPr b="0" lang="ja-JP" sz="1200" strike="noStrike" u="none">
                <a:solidFill>
                  <a:schemeClr val="dk1">
                    <a:lumMod val="50000"/>
                    <a:lumOff val="50000"/>
                  </a:schemeClr>
                </a:solidFill>
                <a:effectLst/>
                <a:uFillTx/>
                <a:latin typeface="Meiryo"/>
                <a:ea typeface="Meiryo"/>
              </a:rPr>
              <a:t>追加から</a:t>
            </a:r>
            <a:r>
              <a:rPr b="0" lang="en-US" sz="1200" strike="noStrike" u="none">
                <a:solidFill>
                  <a:schemeClr val="dk1">
                    <a:lumMod val="50000"/>
                    <a:lumOff val="50000"/>
                  </a:schemeClr>
                </a:solidFill>
                <a:effectLst/>
                <a:uFillTx/>
                <a:latin typeface="Meiryo"/>
                <a:ea typeface="Meiryo"/>
              </a:rPr>
              <a:t>20</a:t>
            </a:r>
            <a:r>
              <a:rPr b="0" lang="ja-JP" sz="1200" strike="noStrike" u="none">
                <a:solidFill>
                  <a:schemeClr val="dk1">
                    <a:lumMod val="50000"/>
                    <a:lumOff val="50000"/>
                  </a:schemeClr>
                </a:solidFill>
                <a:effectLst/>
                <a:uFillTx/>
                <a:latin typeface="Meiryo"/>
                <a:ea typeface="Meiryo"/>
              </a:rPr>
              <a:t>％が</a:t>
            </a:r>
            <a:r>
              <a:rPr b="0" lang="en-US" sz="1200" strike="noStrike" u="none">
                <a:solidFill>
                  <a:schemeClr val="dk1">
                    <a:lumMod val="50000"/>
                    <a:lumOff val="50000"/>
                  </a:schemeClr>
                </a:solidFill>
                <a:effectLst/>
                <a:uFillTx/>
                <a:latin typeface="Meiryo"/>
                <a:ea typeface="Meiryo"/>
              </a:rPr>
              <a:t>CV</a:t>
            </a:r>
            <a:endParaRPr b="0" lang="en-US" sz="1200" strike="noStrike" u="none">
              <a:solidFill>
                <a:srgbClr val="000000"/>
              </a:solidFill>
              <a:effectLst/>
              <a:uFillTx/>
              <a:latin typeface="Arial"/>
            </a:endParaRPr>
          </a:p>
          <a:p>
            <a:pPr defTabSz="914400">
              <a:lnSpc>
                <a:spcPct val="100000"/>
              </a:lnSpc>
            </a:pPr>
            <a:endParaRPr b="0" lang="en-US" sz="1200" strike="noStrike" u="none">
              <a:solidFill>
                <a:srgbClr val="000000"/>
              </a:solidFill>
              <a:effectLst/>
              <a:uFillTx/>
              <a:latin typeface="Arial"/>
            </a:endParaRPr>
          </a:p>
        </p:txBody>
      </p:sp>
      <p:sp>
        <p:nvSpPr>
          <p:cNvPr id="512" name="Google Shape;178;p7"/>
          <p:cNvSpPr/>
          <p:nvPr/>
        </p:nvSpPr>
        <p:spPr>
          <a:xfrm>
            <a:off x="6825240" y="5328720"/>
            <a:ext cx="2851560" cy="521280"/>
          </a:xfrm>
          <a:prstGeom prst="rect">
            <a:avLst/>
          </a:prstGeom>
          <a:noFill/>
          <a:ln w="0">
            <a:noFill/>
          </a:ln>
        </p:spPr>
        <p:style>
          <a:lnRef idx="0"/>
          <a:fillRef idx="0"/>
          <a:effectRef idx="0"/>
          <a:fontRef idx="minor"/>
        </p:style>
        <p:txBody>
          <a:bodyPr lIns="150840" rIns="150840" tIns="75240" bIns="75240" anchor="t">
            <a:spAutoFit/>
          </a:bodyPr>
          <a:p>
            <a:pPr defTabSz="914400">
              <a:lnSpc>
                <a:spcPct val="100000"/>
              </a:lnSpc>
            </a:pPr>
            <a:r>
              <a:rPr b="0" lang="ja-JP" sz="1200" strike="noStrike" u="none">
                <a:solidFill>
                  <a:schemeClr val="dk1">
                    <a:lumMod val="50000"/>
                    <a:lumOff val="50000"/>
                  </a:schemeClr>
                </a:solidFill>
                <a:effectLst/>
                <a:uFillTx/>
                <a:latin typeface="Meiryo"/>
                <a:ea typeface="Meiryo"/>
              </a:rPr>
              <a:t>導入後友だち増加数が</a:t>
            </a:r>
            <a:r>
              <a:rPr b="0" lang="en-US" sz="1200" strike="noStrike" u="none">
                <a:solidFill>
                  <a:schemeClr val="dk1">
                    <a:lumMod val="50000"/>
                    <a:lumOff val="50000"/>
                  </a:schemeClr>
                </a:solidFill>
                <a:effectLst/>
                <a:uFillTx/>
                <a:latin typeface="Meiryo"/>
                <a:ea typeface="Meiryo"/>
              </a:rPr>
              <a:t>1.5</a:t>
            </a:r>
            <a:r>
              <a:rPr b="0" lang="ja-JP" sz="1200" strike="noStrike" u="none">
                <a:solidFill>
                  <a:schemeClr val="dk1">
                    <a:lumMod val="50000"/>
                    <a:lumOff val="50000"/>
                  </a:schemeClr>
                </a:solidFill>
                <a:effectLst/>
                <a:uFillTx/>
                <a:latin typeface="Meiryo"/>
                <a:ea typeface="Meiryo"/>
              </a:rPr>
              <a:t>倍に。</a:t>
            </a:r>
            <a:endParaRPr b="0" lang="en-US" sz="1200" strike="noStrike" u="none">
              <a:solidFill>
                <a:srgbClr val="000000"/>
              </a:solidFill>
              <a:effectLst/>
              <a:uFillTx/>
              <a:latin typeface="Arial"/>
            </a:endParaRPr>
          </a:p>
          <a:p>
            <a:pPr defTabSz="914400">
              <a:lnSpc>
                <a:spcPct val="100000"/>
              </a:lnSpc>
            </a:pPr>
            <a:r>
              <a:rPr b="0" lang="ja-JP" sz="1200" strike="noStrike" u="none">
                <a:solidFill>
                  <a:schemeClr val="dk1">
                    <a:lumMod val="50000"/>
                    <a:lumOff val="50000"/>
                  </a:schemeClr>
                </a:solidFill>
                <a:effectLst/>
                <a:uFillTx/>
                <a:latin typeface="Meiryo"/>
                <a:ea typeface="Meiryo"/>
              </a:rPr>
              <a:t>実反響率も</a:t>
            </a:r>
            <a:r>
              <a:rPr b="0" lang="en-US" sz="1200" strike="noStrike" u="none">
                <a:solidFill>
                  <a:schemeClr val="dk1">
                    <a:lumMod val="50000"/>
                    <a:lumOff val="50000"/>
                  </a:schemeClr>
                </a:solidFill>
                <a:effectLst/>
                <a:uFillTx/>
                <a:latin typeface="Meiryo"/>
                <a:ea typeface="Meiryo"/>
              </a:rPr>
              <a:t>40%</a:t>
            </a:r>
            <a:r>
              <a:rPr b="0" lang="ja-JP" sz="1200" strike="noStrike" u="none">
                <a:solidFill>
                  <a:schemeClr val="dk1">
                    <a:lumMod val="50000"/>
                    <a:lumOff val="50000"/>
                  </a:schemeClr>
                </a:solidFill>
                <a:effectLst/>
                <a:uFillTx/>
                <a:latin typeface="Meiryo"/>
                <a:ea typeface="Meiryo"/>
              </a:rPr>
              <a:t>程度改善。</a:t>
            </a:r>
            <a:endParaRPr b="0" lang="en-US" sz="1200" strike="noStrike" u="none">
              <a:solidFill>
                <a:srgbClr val="000000"/>
              </a:solidFill>
              <a:effectLst/>
              <a:uFillTx/>
              <a:latin typeface="Arial"/>
            </a:endParaRPr>
          </a:p>
        </p:txBody>
      </p:sp>
      <p:sp>
        <p:nvSpPr>
          <p:cNvPr id="513" name="角丸四角形 8"/>
          <p:cNvSpPr/>
          <p:nvPr/>
        </p:nvSpPr>
        <p:spPr>
          <a:xfrm>
            <a:off x="3460680" y="1776240"/>
            <a:ext cx="2985840" cy="4470840"/>
          </a:xfrm>
          <a:prstGeom prst="roundRect">
            <a:avLst>
              <a:gd name="adj" fmla="val 3567"/>
            </a:avLst>
          </a:prstGeom>
          <a:solidFill>
            <a:schemeClr val="bg1">
              <a:lumMod val="95000"/>
            </a:schemeClr>
          </a:solidFill>
          <a:ln w="25400">
            <a:solidFill>
              <a:srgbClr val="000000">
                <a:lumMod val="50000"/>
                <a:lumOff val="50000"/>
              </a:srgbClr>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514" name="Google Shape;178;p7"/>
          <p:cNvSpPr/>
          <p:nvPr/>
        </p:nvSpPr>
        <p:spPr>
          <a:xfrm>
            <a:off x="3796560" y="1950120"/>
            <a:ext cx="2314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通知メッセージ</a:t>
            </a:r>
            <a:endParaRPr b="0" lang="en-US" sz="2000" strike="noStrike" u="none">
              <a:solidFill>
                <a:srgbClr val="000000"/>
              </a:solidFill>
              <a:effectLst/>
              <a:uFillTx/>
              <a:latin typeface="Arial"/>
            </a:endParaRPr>
          </a:p>
        </p:txBody>
      </p:sp>
      <p:sp>
        <p:nvSpPr>
          <p:cNvPr id="515" name="Google Shape;178;p7"/>
          <p:cNvSpPr/>
          <p:nvPr/>
        </p:nvSpPr>
        <p:spPr>
          <a:xfrm>
            <a:off x="3232440" y="4068720"/>
            <a:ext cx="3501360" cy="7981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solidFill>
                <a:effectLst/>
                <a:uFillTx/>
                <a:latin typeface="Meiryo"/>
                <a:ea typeface="Meiryo"/>
              </a:rPr>
              <a:t>友だちではないユーザーに</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対して予約完了通知などを</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送り友だちを増やす。</a:t>
            </a:r>
            <a:endParaRPr b="0" lang="en-US" sz="1400" strike="noStrike" u="none">
              <a:solidFill>
                <a:srgbClr val="000000"/>
              </a:solidFill>
              <a:effectLst/>
              <a:uFillTx/>
              <a:latin typeface="Arial"/>
            </a:endParaRPr>
          </a:p>
        </p:txBody>
      </p:sp>
      <p:sp>
        <p:nvSpPr>
          <p:cNvPr id="516" name="Google Shape;178;p7"/>
          <p:cNvSpPr/>
          <p:nvPr/>
        </p:nvSpPr>
        <p:spPr>
          <a:xfrm>
            <a:off x="3232440" y="5014800"/>
            <a:ext cx="2337840" cy="3672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lumMod val="50000"/>
                    <a:lumOff val="50000"/>
                  </a:schemeClr>
                </a:solidFill>
                <a:effectLst/>
                <a:uFillTx/>
                <a:latin typeface="Meiryo"/>
                <a:ea typeface="Meiryo"/>
              </a:rPr>
              <a:t>事例：宅配ピザ</a:t>
            </a:r>
            <a:endParaRPr b="0" lang="en-US" sz="1400" strike="noStrike" u="none">
              <a:solidFill>
                <a:srgbClr val="000000"/>
              </a:solidFill>
              <a:effectLst/>
              <a:uFillTx/>
              <a:latin typeface="Arial"/>
            </a:endParaRPr>
          </a:p>
        </p:txBody>
      </p:sp>
      <p:pic>
        <p:nvPicPr>
          <p:cNvPr id="517" name="図 40" descr=""/>
          <p:cNvPicPr/>
          <p:nvPr/>
        </p:nvPicPr>
        <p:blipFill>
          <a:blip r:embed="rId3"/>
          <a:stretch/>
        </p:blipFill>
        <p:spPr>
          <a:xfrm>
            <a:off x="3968280" y="1481040"/>
            <a:ext cx="2029320" cy="3608280"/>
          </a:xfrm>
          <a:prstGeom prst="rect">
            <a:avLst/>
          </a:prstGeom>
          <a:noFill/>
          <a:ln w="0">
            <a:noFill/>
          </a:ln>
        </p:spPr>
      </p:pic>
      <p:sp>
        <p:nvSpPr>
          <p:cNvPr id="518" name="Google Shape;178;p7"/>
          <p:cNvSpPr/>
          <p:nvPr/>
        </p:nvSpPr>
        <p:spPr>
          <a:xfrm>
            <a:off x="3623040" y="5328720"/>
            <a:ext cx="2851560" cy="521280"/>
          </a:xfrm>
          <a:prstGeom prst="rect">
            <a:avLst/>
          </a:prstGeom>
          <a:noFill/>
          <a:ln w="0">
            <a:noFill/>
          </a:ln>
        </p:spPr>
        <p:style>
          <a:lnRef idx="0"/>
          <a:fillRef idx="0"/>
          <a:effectRef idx="0"/>
          <a:fontRef idx="minor"/>
        </p:style>
        <p:txBody>
          <a:bodyPr lIns="150840" rIns="150840" tIns="75240" bIns="75240" anchor="t">
            <a:spAutoFit/>
          </a:bodyPr>
          <a:p>
            <a:pPr defTabSz="914400">
              <a:lnSpc>
                <a:spcPct val="100000"/>
              </a:lnSpc>
            </a:pPr>
            <a:r>
              <a:rPr b="0" lang="ja-JP" sz="1200" strike="noStrike" u="none">
                <a:solidFill>
                  <a:schemeClr val="dk1">
                    <a:lumMod val="50000"/>
                    <a:lumOff val="50000"/>
                  </a:schemeClr>
                </a:solidFill>
                <a:effectLst/>
                <a:uFillTx/>
                <a:latin typeface="Meiryo"/>
                <a:ea typeface="Meiryo"/>
              </a:rPr>
              <a:t>通知メッセージ導入４ヶ月で</a:t>
            </a:r>
            <a:endParaRPr b="0" lang="en-US" sz="1200" strike="noStrike" u="none">
              <a:solidFill>
                <a:srgbClr val="000000"/>
              </a:solidFill>
              <a:effectLst/>
              <a:uFillTx/>
              <a:latin typeface="Arial"/>
            </a:endParaRPr>
          </a:p>
          <a:p>
            <a:pPr defTabSz="914400">
              <a:lnSpc>
                <a:spcPct val="100000"/>
              </a:lnSpc>
            </a:pPr>
            <a:r>
              <a:rPr b="0" lang="ja-JP" sz="1200" strike="noStrike" u="none">
                <a:solidFill>
                  <a:schemeClr val="dk1">
                    <a:lumMod val="50000"/>
                    <a:lumOff val="50000"/>
                  </a:schemeClr>
                </a:solidFill>
                <a:effectLst/>
                <a:uFillTx/>
                <a:latin typeface="Meiryo"/>
                <a:ea typeface="Meiryo"/>
              </a:rPr>
              <a:t>友だち数</a:t>
            </a:r>
            <a:r>
              <a:rPr b="0" lang="en-US" sz="1200" strike="noStrike" u="none">
                <a:solidFill>
                  <a:schemeClr val="dk1">
                    <a:lumMod val="50000"/>
                    <a:lumOff val="50000"/>
                  </a:schemeClr>
                </a:solidFill>
                <a:effectLst/>
                <a:uFillTx/>
                <a:latin typeface="Meiryo"/>
                <a:ea typeface="Meiryo"/>
              </a:rPr>
              <a:t>2</a:t>
            </a:r>
            <a:r>
              <a:rPr b="0" lang="ja-JP" sz="1200" strike="noStrike" u="none">
                <a:solidFill>
                  <a:schemeClr val="dk1">
                    <a:lumMod val="50000"/>
                    <a:lumOff val="50000"/>
                  </a:schemeClr>
                </a:solidFill>
                <a:effectLst/>
                <a:uFillTx/>
                <a:latin typeface="Meiryo"/>
                <a:ea typeface="Meiryo"/>
              </a:rPr>
              <a:t>倍</a:t>
            </a:r>
            <a:endParaRPr b="0" lang="en-US" sz="1200" strike="noStrike" u="none">
              <a:solidFill>
                <a:srgbClr val="000000"/>
              </a:solidFill>
              <a:effectLst/>
              <a:uFillTx/>
              <a:latin typeface="Arial"/>
            </a:endParaRPr>
          </a:p>
        </p:txBody>
      </p:sp>
      <p:pic>
        <p:nvPicPr>
          <p:cNvPr id="519" name="Picture 2" descr="サンクスページ インスタ無料テンプレートデザイン。イラストや ..."/>
          <p:cNvPicPr/>
          <p:nvPr/>
        </p:nvPicPr>
        <p:blipFill>
          <a:blip r:embed="rId4"/>
          <a:srcRect l="0" t="18238" r="0" b="39631"/>
          <a:stretch/>
        </p:blipFill>
        <p:spPr>
          <a:xfrm>
            <a:off x="7001280" y="2549160"/>
            <a:ext cx="2326320" cy="1225080"/>
          </a:xfrm>
          <a:prstGeom prst="rect">
            <a:avLst/>
          </a:prstGeom>
          <a:noFill/>
          <a:ln w="0">
            <a:noFill/>
          </a:ln>
        </p:spPr>
      </p:pic>
      <p:sp>
        <p:nvSpPr>
          <p:cNvPr id="520"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提供施策について</a:t>
            </a:r>
            <a:endParaRPr b="0" lang="en-US" sz="1600" strike="noStrike" u="none">
              <a:solidFill>
                <a:srgbClr val="000000"/>
              </a:solidFill>
              <a:effectLst/>
              <a:uFillTx/>
              <a:latin typeface="Arial"/>
            </a:endParaRPr>
          </a:p>
        </p:txBody>
      </p:sp>
      <p:sp>
        <p:nvSpPr>
          <p:cNvPr id="521" name="Google Shape;178;p7"/>
          <p:cNvSpPr/>
          <p:nvPr/>
        </p:nvSpPr>
        <p:spPr>
          <a:xfrm>
            <a:off x="77040" y="943920"/>
            <a:ext cx="9751680" cy="5364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solidFill>
                <a:effectLst/>
                <a:uFillTx/>
                <a:latin typeface="Meiryo"/>
                <a:ea typeface="Meiryo"/>
              </a:rPr>
              <a:t>準顕在（獲得見込みが高い）層を効率よく取れる動線を用意し運用します。</a:t>
            </a:r>
            <a:endParaRPr b="0" lang="en-US" sz="1400" strike="noStrike" u="none">
              <a:solidFill>
                <a:srgbClr val="000000"/>
              </a:solidFill>
              <a:effectLst/>
              <a:uFillTx/>
              <a:latin typeface="Arial"/>
            </a:endParaRPr>
          </a:p>
          <a:p>
            <a:pPr algn="ctr" defTabSz="914400">
              <a:lnSpc>
                <a:spcPct val="100000"/>
              </a:lnSpc>
            </a:pPr>
            <a:r>
              <a:rPr b="0" lang="en-US" sz="1100" strike="noStrike" u="none">
                <a:solidFill>
                  <a:srgbClr val="ff0000"/>
                </a:solidFill>
                <a:effectLst/>
                <a:uFillTx/>
                <a:latin typeface="Meiryo"/>
                <a:ea typeface="Meiryo"/>
              </a:rPr>
              <a:t>※実施想定の友だち追加動線について、★を記載しております。</a:t>
            </a:r>
            <a:endParaRPr b="0" lang="en-US" sz="1100" strike="noStrike" u="none">
              <a:solidFill>
                <a:srgbClr val="000000"/>
              </a:solidFill>
              <a:effectLst/>
              <a:uFillTx/>
              <a:latin typeface="Arial"/>
            </a:endParaRPr>
          </a:p>
        </p:txBody>
      </p:sp>
      <p:sp>
        <p:nvSpPr>
          <p:cNvPr id="522" name="星: 5 pt 5"/>
          <p:cNvSpPr/>
          <p:nvPr/>
        </p:nvSpPr>
        <p:spPr>
          <a:xfrm>
            <a:off x="2749320" y="1706760"/>
            <a:ext cx="539640" cy="53964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23" name="星: 5 pt 14"/>
          <p:cNvSpPr/>
          <p:nvPr/>
        </p:nvSpPr>
        <p:spPr>
          <a:xfrm>
            <a:off x="9252720" y="1672200"/>
            <a:ext cx="539640" cy="53964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（ポップアップ </a:t>
            </a:r>
            <a:r>
              <a:rPr b="1" lang="en-US" sz="1600" strike="noStrike" u="none">
                <a:solidFill>
                  <a:srgbClr val="323366"/>
                </a:solidFill>
                <a:effectLst/>
                <a:uFillTx/>
                <a:latin typeface="メイリオ"/>
                <a:ea typeface="メイリオ"/>
              </a:rPr>
              <a:t>/ </a:t>
            </a:r>
            <a:r>
              <a:rPr b="1" lang="ja-JP" sz="1600" strike="noStrike" u="none">
                <a:solidFill>
                  <a:srgbClr val="323366"/>
                </a:solidFill>
                <a:effectLst/>
                <a:uFillTx/>
                <a:latin typeface="メイリオ"/>
                <a:ea typeface="メイリオ"/>
              </a:rPr>
              <a:t>離脱防止）</a:t>
            </a:r>
            <a:endParaRPr b="0" lang="en-US" sz="1600" strike="noStrike" u="none">
              <a:solidFill>
                <a:srgbClr val="000000"/>
              </a:solidFill>
              <a:effectLst/>
              <a:uFillTx/>
              <a:latin typeface="Arial"/>
            </a:endParaRPr>
          </a:p>
        </p:txBody>
      </p:sp>
      <p:grpSp>
        <p:nvGrpSpPr>
          <p:cNvPr id="525" name="グループ化 2"/>
          <p:cNvGrpSpPr/>
          <p:nvPr/>
        </p:nvGrpSpPr>
        <p:grpSpPr>
          <a:xfrm>
            <a:off x="543240" y="777600"/>
            <a:ext cx="3105000" cy="484920"/>
            <a:chOff x="543240" y="777600"/>
            <a:chExt cx="3105000" cy="484920"/>
          </a:xfrm>
        </p:grpSpPr>
        <p:sp>
          <p:nvSpPr>
            <p:cNvPr id="526"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527" name="テキスト ボックス 4"/>
            <p:cNvSpPr/>
            <p:nvPr/>
          </p:nvSpPr>
          <p:spPr>
            <a:xfrm>
              <a:off x="722880" y="788040"/>
              <a:ext cx="274608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ポップアップ</a:t>
              </a:r>
              <a:r>
                <a:rPr b="1" lang="en-US" sz="1500" strike="noStrike" u="none">
                  <a:solidFill>
                    <a:schemeClr val="lt1"/>
                  </a:solidFill>
                  <a:effectLst/>
                  <a:uFillTx/>
                  <a:latin typeface="Meiryo"/>
                  <a:ea typeface="Meiryo"/>
                </a:rPr>
                <a:t>(</a:t>
              </a:r>
              <a:r>
                <a:rPr b="1" lang="ja-JP" sz="1500" strike="noStrike" u="none">
                  <a:solidFill>
                    <a:schemeClr val="lt1"/>
                  </a:solidFill>
                  <a:effectLst/>
                  <a:uFillTx/>
                  <a:latin typeface="Meiryo"/>
                  <a:ea typeface="Meiryo"/>
                </a:rPr>
                <a:t>離脱防止 など</a:t>
              </a:r>
              <a:r>
                <a:rPr b="1" lang="en-US" sz="1500" strike="noStrike" u="none">
                  <a:solidFill>
                    <a:schemeClr val="lt1"/>
                  </a:solidFill>
                  <a:effectLst/>
                  <a:uFillTx/>
                  <a:latin typeface="Meiryo"/>
                  <a:ea typeface="Meiryo"/>
                </a:rPr>
                <a:t>)</a:t>
              </a:r>
              <a:endParaRPr b="0" lang="en-US" sz="1500" strike="noStrike" u="none">
                <a:solidFill>
                  <a:srgbClr val="000000"/>
                </a:solidFill>
                <a:effectLst/>
                <a:uFillTx/>
                <a:latin typeface="Arial"/>
              </a:endParaRPr>
            </a:p>
          </p:txBody>
        </p:sp>
      </p:grpSp>
      <p:sp>
        <p:nvSpPr>
          <p:cNvPr id="528" name="正方形/長方形 7"/>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600" strike="noStrike" u="none">
                <a:solidFill>
                  <a:schemeClr val="dk1"/>
                </a:solidFill>
                <a:effectLst/>
                <a:uFillTx/>
                <a:latin typeface="Meiryo"/>
                <a:ea typeface="Meiryo"/>
              </a:rPr>
              <a:t>WEB</a:t>
            </a:r>
            <a:r>
              <a:rPr b="0" lang="ja-JP" sz="1600" strike="noStrike" u="none">
                <a:solidFill>
                  <a:schemeClr val="dk1"/>
                </a:solidFill>
                <a:effectLst/>
                <a:uFillTx/>
                <a:latin typeface="Meiryo"/>
                <a:ea typeface="Meiryo"/>
              </a:rPr>
              <a:t>サイト上の特定アクションを起こしたユーザーに対して</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ポップアップの形で</a:t>
            </a:r>
            <a:r>
              <a:rPr b="0" lang="en-US" sz="1600" strike="noStrike" u="none">
                <a:solidFill>
                  <a:schemeClr val="dk1"/>
                </a:solidFill>
                <a:effectLst/>
                <a:uFillTx/>
                <a:latin typeface="Meiryo"/>
                <a:ea typeface="Meiryo"/>
              </a:rPr>
              <a:t>LINE</a:t>
            </a:r>
            <a:r>
              <a:rPr b="0" lang="ja-JP" sz="1600" strike="noStrike" u="none">
                <a:solidFill>
                  <a:schemeClr val="dk1"/>
                </a:solidFill>
                <a:effectLst/>
                <a:uFillTx/>
                <a:latin typeface="Meiryo"/>
                <a:ea typeface="Meiryo"/>
              </a:rPr>
              <a:t>誘導の動線を提示。</a:t>
            </a:r>
            <a:endParaRPr b="0" lang="en-US" sz="1600" strike="noStrike" u="none">
              <a:solidFill>
                <a:srgbClr val="000000"/>
              </a:solidFill>
              <a:effectLst/>
              <a:uFillTx/>
              <a:latin typeface="Arial"/>
            </a:endParaRPr>
          </a:p>
        </p:txBody>
      </p:sp>
      <p:pic>
        <p:nvPicPr>
          <p:cNvPr id="529" name="図 5" descr=""/>
          <p:cNvPicPr/>
          <p:nvPr/>
        </p:nvPicPr>
        <p:blipFill>
          <a:blip r:embed="rId1"/>
          <a:stretch/>
        </p:blipFill>
        <p:spPr>
          <a:xfrm>
            <a:off x="5764320" y="2258640"/>
            <a:ext cx="1524240" cy="3096360"/>
          </a:xfrm>
          <a:prstGeom prst="rect">
            <a:avLst/>
          </a:prstGeom>
          <a:noFill/>
          <a:ln w="0">
            <a:noFill/>
          </a:ln>
        </p:spPr>
      </p:pic>
      <p:sp>
        <p:nvSpPr>
          <p:cNvPr id="530" name="テキスト ボックス 8"/>
          <p:cNvSpPr/>
          <p:nvPr/>
        </p:nvSpPr>
        <p:spPr>
          <a:xfrm>
            <a:off x="5214960" y="1373040"/>
            <a:ext cx="4147920" cy="261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50" strike="noStrike" u="none">
                <a:solidFill>
                  <a:srgbClr val="ff0000"/>
                </a:solidFill>
                <a:effectLst/>
                <a:uFillTx/>
                <a:latin typeface="Meiryo"/>
                <a:ea typeface="Meiryo"/>
              </a:rPr>
              <a:t>LINE</a:t>
            </a:r>
            <a:r>
              <a:rPr b="0" lang="ja-JP" sz="1050" strike="noStrike" u="none">
                <a:solidFill>
                  <a:srgbClr val="ff0000"/>
                </a:solidFill>
                <a:effectLst/>
                <a:uFillTx/>
                <a:latin typeface="Meiryo"/>
                <a:ea typeface="Meiryo"/>
              </a:rPr>
              <a:t>以外の注力動線への誘導も同バナーから実施が可能です。</a:t>
            </a:r>
            <a:endParaRPr b="0" lang="en-US" sz="1050" strike="noStrike" u="none">
              <a:solidFill>
                <a:srgbClr val="000000"/>
              </a:solidFill>
              <a:effectLst/>
              <a:uFillTx/>
              <a:latin typeface="Arial"/>
            </a:endParaRPr>
          </a:p>
        </p:txBody>
      </p:sp>
      <p:pic>
        <p:nvPicPr>
          <p:cNvPr id="531" name="図 10" descr=""/>
          <p:cNvPicPr/>
          <p:nvPr/>
        </p:nvPicPr>
        <p:blipFill>
          <a:blip r:embed="rId2"/>
          <a:stretch/>
        </p:blipFill>
        <p:spPr>
          <a:xfrm>
            <a:off x="8033040" y="2846160"/>
            <a:ext cx="1524240" cy="3096360"/>
          </a:xfrm>
          <a:prstGeom prst="rect">
            <a:avLst/>
          </a:prstGeom>
          <a:noFill/>
          <a:ln w="0">
            <a:noFill/>
          </a:ln>
        </p:spPr>
      </p:pic>
      <p:sp>
        <p:nvSpPr>
          <p:cNvPr id="532" name="矢印: 右 11"/>
          <p:cNvSpPr/>
          <p:nvPr/>
        </p:nvSpPr>
        <p:spPr>
          <a:xfrm>
            <a:off x="7373160" y="3359520"/>
            <a:ext cx="571320" cy="618840"/>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33" name="正方形/長方形 12"/>
          <p:cNvSpPr/>
          <p:nvPr/>
        </p:nvSpPr>
        <p:spPr>
          <a:xfrm>
            <a:off x="8116920" y="3057480"/>
            <a:ext cx="1370880" cy="2585160"/>
          </a:xfrm>
          <a:prstGeom prst="rect">
            <a:avLst/>
          </a:prstGeom>
          <a:solidFill>
            <a:schemeClr val="dk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34"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1.5</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535"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3</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pic>
        <p:nvPicPr>
          <p:cNvPr id="536" name="図 18" descr=""/>
          <p:cNvPicPr/>
          <p:nvPr/>
        </p:nvPicPr>
        <p:blipFill>
          <a:blip r:embed="rId3"/>
          <a:stretch/>
        </p:blipFill>
        <p:spPr>
          <a:xfrm>
            <a:off x="8263800" y="3753000"/>
            <a:ext cx="1062360" cy="1114560"/>
          </a:xfrm>
          <a:prstGeom prst="rect">
            <a:avLst/>
          </a:prstGeom>
          <a:noFill/>
          <a:ln w="0">
            <a:noFill/>
          </a:ln>
        </p:spPr>
      </p:pic>
      <p:sp>
        <p:nvSpPr>
          <p:cNvPr id="537" name="正方形/長方形 23"/>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lt1"/>
                </a:solidFill>
                <a:effectLst/>
                <a:uFillTx/>
                <a:latin typeface="メイリオ"/>
                <a:ea typeface="メイリオ"/>
              </a:rPr>
              <a:t>動作イメージ</a:t>
            </a:r>
            <a:endParaRPr b="0" lang="en-US" sz="1100" strike="noStrike" u="none">
              <a:solidFill>
                <a:srgbClr val="ffffff"/>
              </a:solidFill>
              <a:effectLst/>
              <a:uFillTx/>
              <a:latin typeface="Arial"/>
            </a:endParaRPr>
          </a:p>
        </p:txBody>
      </p:sp>
      <p:pic>
        <p:nvPicPr>
          <p:cNvPr id="538" name="図 6" descr=""/>
          <p:cNvPicPr/>
          <p:nvPr/>
        </p:nvPicPr>
        <p:blipFill>
          <a:blip r:embed="rId4"/>
          <a:stretch/>
        </p:blipFill>
        <p:spPr>
          <a:xfrm>
            <a:off x="543240" y="4259880"/>
            <a:ext cx="5058720" cy="2191320"/>
          </a:xfrm>
          <a:prstGeom prst="rect">
            <a:avLst/>
          </a:prstGeom>
          <a:noFill/>
          <a:ln w="0">
            <a:noFill/>
          </a:ln>
        </p:spPr>
      </p:pic>
      <p:pic>
        <p:nvPicPr>
          <p:cNvPr id="539" name="図 13" descr=""/>
          <p:cNvPicPr/>
          <p:nvPr/>
        </p:nvPicPr>
        <p:blipFill>
          <a:blip r:embed="rId5"/>
          <a:stretch/>
        </p:blipFill>
        <p:spPr>
          <a:xfrm>
            <a:off x="579600" y="1977840"/>
            <a:ext cx="5022720" cy="223092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（ポップアップ </a:t>
            </a:r>
            <a:r>
              <a:rPr b="1" lang="en-US" sz="1600" strike="noStrike" u="none">
                <a:solidFill>
                  <a:srgbClr val="323366"/>
                </a:solidFill>
                <a:effectLst/>
                <a:uFillTx/>
                <a:latin typeface="メイリオ"/>
                <a:ea typeface="メイリオ"/>
              </a:rPr>
              <a:t>/ </a:t>
            </a:r>
            <a:r>
              <a:rPr b="1" lang="ja-JP" sz="1600" strike="noStrike" u="none">
                <a:solidFill>
                  <a:srgbClr val="323366"/>
                </a:solidFill>
                <a:effectLst/>
                <a:uFillTx/>
                <a:latin typeface="メイリオ"/>
                <a:ea typeface="メイリオ"/>
              </a:rPr>
              <a:t>離脱防止）</a:t>
            </a:r>
            <a:endParaRPr b="0" lang="en-US" sz="1600" strike="noStrike" u="none">
              <a:solidFill>
                <a:srgbClr val="000000"/>
              </a:solidFill>
              <a:effectLst/>
              <a:uFillTx/>
              <a:latin typeface="Arial"/>
            </a:endParaRPr>
          </a:p>
        </p:txBody>
      </p:sp>
      <p:grpSp>
        <p:nvGrpSpPr>
          <p:cNvPr id="541" name="グループ化 2"/>
          <p:cNvGrpSpPr/>
          <p:nvPr/>
        </p:nvGrpSpPr>
        <p:grpSpPr>
          <a:xfrm>
            <a:off x="543240" y="777600"/>
            <a:ext cx="3105000" cy="484920"/>
            <a:chOff x="543240" y="777600"/>
            <a:chExt cx="3105000" cy="484920"/>
          </a:xfrm>
        </p:grpSpPr>
        <p:sp>
          <p:nvSpPr>
            <p:cNvPr id="542"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543" name="テキスト ボックス 4"/>
            <p:cNvSpPr/>
            <p:nvPr/>
          </p:nvSpPr>
          <p:spPr>
            <a:xfrm>
              <a:off x="722880" y="788040"/>
              <a:ext cx="274608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ポップアップ</a:t>
              </a:r>
              <a:r>
                <a:rPr b="1" lang="en-US" sz="1500" strike="noStrike" u="none">
                  <a:solidFill>
                    <a:schemeClr val="lt1"/>
                  </a:solidFill>
                  <a:effectLst/>
                  <a:uFillTx/>
                  <a:latin typeface="Meiryo"/>
                  <a:ea typeface="Meiryo"/>
                </a:rPr>
                <a:t>(</a:t>
              </a:r>
              <a:r>
                <a:rPr b="1" lang="ja-JP" sz="1500" strike="noStrike" u="none">
                  <a:solidFill>
                    <a:schemeClr val="lt1"/>
                  </a:solidFill>
                  <a:effectLst/>
                  <a:uFillTx/>
                  <a:latin typeface="Meiryo"/>
                  <a:ea typeface="Meiryo"/>
                </a:rPr>
                <a:t>離脱防止 など</a:t>
              </a:r>
              <a:r>
                <a:rPr b="1" lang="en-US" sz="1500" strike="noStrike" u="none">
                  <a:solidFill>
                    <a:schemeClr val="lt1"/>
                  </a:solidFill>
                  <a:effectLst/>
                  <a:uFillTx/>
                  <a:latin typeface="Meiryo"/>
                  <a:ea typeface="Meiryo"/>
                </a:rPr>
                <a:t>)</a:t>
              </a:r>
              <a:endParaRPr b="0" lang="en-US" sz="1500" strike="noStrike" u="none">
                <a:solidFill>
                  <a:srgbClr val="000000"/>
                </a:solidFill>
                <a:effectLst/>
                <a:uFillTx/>
                <a:latin typeface="Arial"/>
              </a:endParaRPr>
            </a:p>
          </p:txBody>
        </p:sp>
      </p:grpSp>
      <p:sp>
        <p:nvSpPr>
          <p:cNvPr id="544" name="正方形/長方形 7"/>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600" strike="noStrike" u="none">
                <a:solidFill>
                  <a:schemeClr val="dk1"/>
                </a:solidFill>
                <a:effectLst/>
                <a:uFillTx/>
                <a:latin typeface="Meiryo"/>
                <a:ea typeface="Meiryo"/>
              </a:rPr>
              <a:t>WEB</a:t>
            </a:r>
            <a:r>
              <a:rPr b="0" lang="ja-JP" sz="1600" strike="noStrike" u="none">
                <a:solidFill>
                  <a:schemeClr val="dk1"/>
                </a:solidFill>
                <a:effectLst/>
                <a:uFillTx/>
                <a:latin typeface="Meiryo"/>
                <a:ea typeface="Meiryo"/>
              </a:rPr>
              <a:t>サイト上の特定アクションを起こしたユーザーに対して</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ポップアップの形で</a:t>
            </a:r>
            <a:r>
              <a:rPr b="0" lang="en-US" sz="1600" strike="noStrike" u="none">
                <a:solidFill>
                  <a:schemeClr val="dk1"/>
                </a:solidFill>
                <a:effectLst/>
                <a:uFillTx/>
                <a:latin typeface="Meiryo"/>
                <a:ea typeface="Meiryo"/>
              </a:rPr>
              <a:t>LINE</a:t>
            </a:r>
            <a:r>
              <a:rPr b="0" lang="ja-JP" sz="1600" strike="noStrike" u="none">
                <a:solidFill>
                  <a:schemeClr val="dk1"/>
                </a:solidFill>
                <a:effectLst/>
                <a:uFillTx/>
                <a:latin typeface="Meiryo"/>
                <a:ea typeface="Meiryo"/>
              </a:rPr>
              <a:t>誘導の動線を提示。</a:t>
            </a:r>
            <a:endParaRPr b="0" lang="en-US" sz="1600" strike="noStrike" u="none">
              <a:solidFill>
                <a:srgbClr val="000000"/>
              </a:solidFill>
              <a:effectLst/>
              <a:uFillTx/>
              <a:latin typeface="Arial"/>
            </a:endParaRPr>
          </a:p>
        </p:txBody>
      </p:sp>
      <p:sp>
        <p:nvSpPr>
          <p:cNvPr id="545" name="テキスト ボックス 8"/>
          <p:cNvSpPr/>
          <p:nvPr/>
        </p:nvSpPr>
        <p:spPr>
          <a:xfrm>
            <a:off x="5214960" y="1373040"/>
            <a:ext cx="4147920" cy="261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50" strike="noStrike" u="none">
                <a:solidFill>
                  <a:srgbClr val="ff0000"/>
                </a:solidFill>
                <a:effectLst/>
                <a:uFillTx/>
                <a:latin typeface="Meiryo"/>
                <a:ea typeface="Meiryo"/>
              </a:rPr>
              <a:t>LINE</a:t>
            </a:r>
            <a:r>
              <a:rPr b="0" lang="ja-JP" sz="1050" strike="noStrike" u="none">
                <a:solidFill>
                  <a:srgbClr val="ff0000"/>
                </a:solidFill>
                <a:effectLst/>
                <a:uFillTx/>
                <a:latin typeface="Meiryo"/>
                <a:ea typeface="Meiryo"/>
              </a:rPr>
              <a:t>以外の注力動線への誘導も同バナーから実施が可能です。</a:t>
            </a:r>
            <a:endParaRPr b="0" lang="en-US" sz="1050" strike="noStrike" u="none">
              <a:solidFill>
                <a:srgbClr val="000000"/>
              </a:solidFill>
              <a:effectLst/>
              <a:uFillTx/>
              <a:latin typeface="Arial"/>
            </a:endParaRPr>
          </a:p>
        </p:txBody>
      </p:sp>
      <p:sp>
        <p:nvSpPr>
          <p:cNvPr id="546"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1.5</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547"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3</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pic>
        <p:nvPicPr>
          <p:cNvPr id="548" name="図 9" descr=""/>
          <p:cNvPicPr/>
          <p:nvPr/>
        </p:nvPicPr>
        <p:blipFill>
          <a:blip r:embed="rId1"/>
          <a:stretch/>
        </p:blipFill>
        <p:spPr>
          <a:xfrm>
            <a:off x="1172160" y="1882080"/>
            <a:ext cx="7561440" cy="466128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（通知メッセージ）</a:t>
            </a:r>
            <a:endParaRPr b="0" lang="en-US" sz="1600" strike="noStrike" u="none">
              <a:solidFill>
                <a:srgbClr val="000000"/>
              </a:solidFill>
              <a:effectLst/>
              <a:uFillTx/>
              <a:latin typeface="Arial"/>
            </a:endParaRPr>
          </a:p>
        </p:txBody>
      </p:sp>
      <p:grpSp>
        <p:nvGrpSpPr>
          <p:cNvPr id="550" name="グループ化 2"/>
          <p:cNvGrpSpPr/>
          <p:nvPr/>
        </p:nvGrpSpPr>
        <p:grpSpPr>
          <a:xfrm>
            <a:off x="543240" y="777600"/>
            <a:ext cx="3105000" cy="484920"/>
            <a:chOff x="543240" y="777600"/>
            <a:chExt cx="3105000" cy="484920"/>
          </a:xfrm>
        </p:grpSpPr>
        <p:sp>
          <p:nvSpPr>
            <p:cNvPr id="551"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552" name="テキスト ボックス 4"/>
            <p:cNvSpPr/>
            <p:nvPr/>
          </p:nvSpPr>
          <p:spPr>
            <a:xfrm>
              <a:off x="1175400" y="837360"/>
              <a:ext cx="153072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通知メッセージ</a:t>
              </a:r>
              <a:endParaRPr b="0" lang="en-US" sz="1500" strike="noStrike" u="none">
                <a:solidFill>
                  <a:srgbClr val="000000"/>
                </a:solidFill>
                <a:effectLst/>
                <a:uFillTx/>
                <a:latin typeface="Arial"/>
              </a:endParaRPr>
            </a:p>
          </p:txBody>
        </p:sp>
      </p:grpSp>
      <p:sp>
        <p:nvSpPr>
          <p:cNvPr id="553" name="正方形/長方形 8"/>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600" strike="noStrike" u="none">
                <a:solidFill>
                  <a:schemeClr val="dk1"/>
                </a:solidFill>
                <a:effectLst/>
                <a:uFillTx/>
                <a:latin typeface="Meiryo"/>
                <a:ea typeface="Meiryo"/>
              </a:rPr>
              <a:t>WEB</a:t>
            </a:r>
            <a:r>
              <a:rPr b="0" lang="ja-JP" sz="1600" strike="noStrike" u="none">
                <a:solidFill>
                  <a:schemeClr val="dk1"/>
                </a:solidFill>
                <a:effectLst/>
                <a:uFillTx/>
                <a:latin typeface="Meiryo"/>
                <a:ea typeface="Meiryo"/>
              </a:rPr>
              <a:t>上のアクションユーザー、貴社保有リスト をターゲット</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に友だち登録、ステータス通知を行うことが出来る機能です。</a:t>
            </a:r>
            <a:endParaRPr b="0" lang="en-US" sz="1600" strike="noStrike" u="none">
              <a:solidFill>
                <a:srgbClr val="000000"/>
              </a:solidFill>
              <a:effectLst/>
              <a:uFillTx/>
              <a:latin typeface="Arial"/>
            </a:endParaRPr>
          </a:p>
        </p:txBody>
      </p:sp>
      <p:sp>
        <p:nvSpPr>
          <p:cNvPr id="554"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10</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555"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8</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ffff00"/>
                </a:solidFill>
                <a:effectLst/>
                <a:uFillTx/>
                <a:latin typeface="Meiryo"/>
                <a:ea typeface="Meiryo"/>
              </a:rPr>
              <a:t>+</a:t>
            </a:r>
            <a:r>
              <a:rPr b="1" lang="ja-JP" sz="1050" strike="noStrike" u="none">
                <a:solidFill>
                  <a:srgbClr val="ffff00"/>
                </a:solidFill>
                <a:effectLst/>
                <a:uFillTx/>
                <a:latin typeface="Meiryo"/>
                <a:ea typeface="Meiryo"/>
              </a:rPr>
              <a:t>通数単価：</a:t>
            </a:r>
            <a:r>
              <a:rPr b="1" lang="en-US" sz="1050" strike="noStrike" u="none">
                <a:solidFill>
                  <a:srgbClr val="ffff00"/>
                </a:solidFill>
                <a:effectLst/>
                <a:uFillTx/>
                <a:latin typeface="Meiryo"/>
                <a:ea typeface="Meiryo"/>
              </a:rPr>
              <a:t>7</a:t>
            </a:r>
            <a:r>
              <a:rPr b="1" lang="ja-JP" sz="1050" strike="noStrike" u="none">
                <a:solidFill>
                  <a:srgbClr val="ffff00"/>
                </a:solidFill>
                <a:effectLst/>
                <a:uFillTx/>
                <a:latin typeface="Meiryo"/>
                <a:ea typeface="Meiryo"/>
              </a:rPr>
              <a:t>円</a:t>
            </a:r>
            <a:endParaRPr b="0" lang="en-US" sz="1050" strike="noStrike" u="none">
              <a:solidFill>
                <a:srgbClr val="ffffff"/>
              </a:solidFill>
              <a:effectLst/>
              <a:uFillTx/>
              <a:latin typeface="Arial"/>
            </a:endParaRPr>
          </a:p>
        </p:txBody>
      </p:sp>
      <p:sp>
        <p:nvSpPr>
          <p:cNvPr id="556" name="正方形/長方形 78"/>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lt1"/>
                </a:solidFill>
                <a:effectLst/>
                <a:uFillTx/>
                <a:latin typeface="メイリオ"/>
                <a:ea typeface="メイリオ"/>
              </a:rPr>
              <a:t>動作イメージ</a:t>
            </a:r>
            <a:endParaRPr b="0" lang="en-US" sz="1100" strike="noStrike" u="none">
              <a:solidFill>
                <a:srgbClr val="ffffff"/>
              </a:solidFill>
              <a:effectLst/>
              <a:uFillTx/>
              <a:latin typeface="Arial"/>
            </a:endParaRPr>
          </a:p>
        </p:txBody>
      </p:sp>
      <p:pic>
        <p:nvPicPr>
          <p:cNvPr id="557" name="図 81" descr=""/>
          <p:cNvPicPr/>
          <p:nvPr/>
        </p:nvPicPr>
        <p:blipFill>
          <a:blip r:embed="rId1"/>
          <a:stretch/>
        </p:blipFill>
        <p:spPr>
          <a:xfrm>
            <a:off x="532440" y="4787640"/>
            <a:ext cx="3533040" cy="1714320"/>
          </a:xfrm>
          <a:prstGeom prst="rect">
            <a:avLst/>
          </a:prstGeom>
          <a:noFill/>
          <a:ln w="0">
            <a:noFill/>
          </a:ln>
        </p:spPr>
      </p:pic>
      <p:pic>
        <p:nvPicPr>
          <p:cNvPr id="558" name="図 83" descr=""/>
          <p:cNvPicPr/>
          <p:nvPr/>
        </p:nvPicPr>
        <p:blipFill>
          <a:blip r:embed="rId2"/>
          <a:stretch/>
        </p:blipFill>
        <p:spPr>
          <a:xfrm>
            <a:off x="4065840" y="4801320"/>
            <a:ext cx="1585800" cy="1700640"/>
          </a:xfrm>
          <a:prstGeom prst="rect">
            <a:avLst/>
          </a:prstGeom>
          <a:noFill/>
          <a:ln w="0">
            <a:noFill/>
          </a:ln>
        </p:spPr>
      </p:pic>
      <p:pic>
        <p:nvPicPr>
          <p:cNvPr id="559" name="図 85" descr=""/>
          <p:cNvPicPr/>
          <p:nvPr/>
        </p:nvPicPr>
        <p:blipFill>
          <a:blip r:embed="rId3"/>
          <a:stretch/>
        </p:blipFill>
        <p:spPr>
          <a:xfrm>
            <a:off x="5988600" y="2468160"/>
            <a:ext cx="3362040" cy="1976760"/>
          </a:xfrm>
          <a:prstGeom prst="rect">
            <a:avLst/>
          </a:prstGeom>
          <a:noFill/>
          <a:ln w="0">
            <a:noFill/>
          </a:ln>
        </p:spPr>
      </p:pic>
      <p:pic>
        <p:nvPicPr>
          <p:cNvPr id="560" name="図 87" descr=""/>
          <p:cNvPicPr/>
          <p:nvPr/>
        </p:nvPicPr>
        <p:blipFill>
          <a:blip r:embed="rId4"/>
          <a:stretch/>
        </p:blipFill>
        <p:spPr>
          <a:xfrm>
            <a:off x="5927400" y="4787640"/>
            <a:ext cx="3471480" cy="1625760"/>
          </a:xfrm>
          <a:prstGeom prst="rect">
            <a:avLst/>
          </a:prstGeom>
          <a:noFill/>
          <a:ln w="0">
            <a:noFill/>
          </a:ln>
        </p:spPr>
      </p:pic>
      <p:sp>
        <p:nvSpPr>
          <p:cNvPr id="561" name="正方形/長方形 89"/>
          <p:cNvSpPr/>
          <p:nvPr/>
        </p:nvSpPr>
        <p:spPr>
          <a:xfrm>
            <a:off x="5941440" y="22240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100" strike="noStrike" u="none">
                <a:solidFill>
                  <a:schemeClr val="dk1"/>
                </a:solidFill>
                <a:effectLst/>
                <a:uFillTx/>
                <a:latin typeface="メイリオ"/>
                <a:ea typeface="メイリオ"/>
              </a:rPr>
              <a:t>佐川急便</a:t>
            </a:r>
            <a:endParaRPr b="0" lang="en-US" sz="1100" strike="noStrike" u="none">
              <a:solidFill>
                <a:srgbClr val="000000"/>
              </a:solidFill>
              <a:effectLst/>
              <a:uFillTx/>
              <a:latin typeface="Arial"/>
            </a:endParaRPr>
          </a:p>
        </p:txBody>
      </p:sp>
      <p:sp>
        <p:nvSpPr>
          <p:cNvPr id="562" name="正方形/長方形 91"/>
          <p:cNvSpPr/>
          <p:nvPr/>
        </p:nvSpPr>
        <p:spPr>
          <a:xfrm>
            <a:off x="5941440" y="44992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100" strike="noStrike" u="none">
                <a:solidFill>
                  <a:schemeClr val="dk1"/>
                </a:solidFill>
                <a:effectLst/>
                <a:uFillTx/>
                <a:latin typeface="メイリオ"/>
                <a:ea typeface="メイリオ"/>
              </a:rPr>
              <a:t>やまや（</a:t>
            </a:r>
            <a:r>
              <a:rPr b="0" lang="en-US" sz="1100" strike="noStrike" u="none">
                <a:solidFill>
                  <a:schemeClr val="dk1"/>
                </a:solidFill>
                <a:effectLst/>
                <a:uFillTx/>
                <a:latin typeface="メイリオ"/>
                <a:ea typeface="メイリオ"/>
              </a:rPr>
              <a:t>EC</a:t>
            </a:r>
            <a:r>
              <a:rPr b="0" lang="ja-JP" sz="1100" strike="noStrike" u="none">
                <a:solidFill>
                  <a:schemeClr val="dk1"/>
                </a:solidFill>
                <a:effectLst/>
                <a:uFillTx/>
                <a:latin typeface="メイリオ"/>
                <a:ea typeface="メイリオ"/>
              </a:rPr>
              <a:t>）</a:t>
            </a:r>
            <a:endParaRPr b="0" lang="en-US" sz="1100" strike="noStrike" u="none">
              <a:solidFill>
                <a:srgbClr val="000000"/>
              </a:solidFill>
              <a:effectLst/>
              <a:uFillTx/>
              <a:latin typeface="Arial"/>
            </a:endParaRPr>
          </a:p>
        </p:txBody>
      </p:sp>
      <p:sp>
        <p:nvSpPr>
          <p:cNvPr id="563" name="テキスト ボックス 93"/>
          <p:cNvSpPr/>
          <p:nvPr/>
        </p:nvSpPr>
        <p:spPr>
          <a:xfrm>
            <a:off x="3904560" y="1368720"/>
            <a:ext cx="496224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900" strike="noStrike" u="none">
                <a:solidFill>
                  <a:srgbClr val="ff0000"/>
                </a:solidFill>
                <a:effectLst/>
                <a:uFillTx/>
                <a:latin typeface="メイリオ"/>
                <a:ea typeface="メイリオ"/>
              </a:rPr>
              <a:t>Sales Partner</a:t>
            </a:r>
            <a:r>
              <a:rPr b="0" lang="ja-JP" sz="900" strike="noStrike" u="none">
                <a:solidFill>
                  <a:srgbClr val="ff0000"/>
                </a:solidFill>
                <a:effectLst/>
                <a:uFillTx/>
                <a:latin typeface="メイリオ"/>
                <a:ea typeface="メイリオ"/>
              </a:rPr>
              <a:t>、</a:t>
            </a:r>
            <a:r>
              <a:rPr b="0" lang="en-US" sz="900" strike="noStrike" u="none">
                <a:solidFill>
                  <a:srgbClr val="ff0000"/>
                </a:solidFill>
                <a:effectLst/>
                <a:uFillTx/>
                <a:latin typeface="メイリオ"/>
                <a:ea typeface="メイリオ"/>
              </a:rPr>
              <a:t>Tech Partner</a:t>
            </a:r>
            <a:r>
              <a:rPr b="0" lang="ja-JP" sz="900" strike="noStrike" u="none">
                <a:solidFill>
                  <a:srgbClr val="ff0000"/>
                </a:solidFill>
                <a:effectLst/>
                <a:uFillTx/>
                <a:latin typeface="メイリオ"/>
                <a:ea typeface="メイリオ"/>
              </a:rPr>
              <a:t>限定公開の</a:t>
            </a:r>
            <a:r>
              <a:rPr b="0" lang="en-US" sz="900" strike="noStrike" u="none">
                <a:solidFill>
                  <a:srgbClr val="ff0000"/>
                </a:solidFill>
                <a:effectLst/>
                <a:uFillTx/>
                <a:latin typeface="メイリオ"/>
                <a:ea typeface="メイリオ"/>
              </a:rPr>
              <a:t>API</a:t>
            </a:r>
            <a:r>
              <a:rPr b="0" lang="ja-JP" sz="900" strike="noStrike" u="none">
                <a:solidFill>
                  <a:srgbClr val="ff0000"/>
                </a:solidFill>
                <a:effectLst/>
                <a:uFillTx/>
                <a:latin typeface="メイリオ"/>
                <a:ea typeface="メイリオ"/>
              </a:rPr>
              <a:t>を使用した機能です。</a:t>
            </a:r>
            <a:endParaRPr b="0" lang="en-US" sz="900" strike="noStrike" u="none">
              <a:solidFill>
                <a:srgbClr val="000000"/>
              </a:solidFill>
              <a:effectLst/>
              <a:uFillTx/>
              <a:latin typeface="Arial"/>
            </a:endParaRPr>
          </a:p>
        </p:txBody>
      </p:sp>
      <p:sp>
        <p:nvSpPr>
          <p:cNvPr id="564" name="正方形/長方形 95"/>
          <p:cNvSpPr/>
          <p:nvPr/>
        </p:nvSpPr>
        <p:spPr>
          <a:xfrm>
            <a:off x="543240" y="1937880"/>
            <a:ext cx="498060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dk1">
                    <a:lumMod val="50000"/>
                    <a:lumOff val="50000"/>
                  </a:schemeClr>
                </a:solidFill>
                <a:effectLst/>
                <a:uFillTx/>
                <a:latin typeface="メイリオ"/>
                <a:ea typeface="メイリオ"/>
              </a:rPr>
              <a:t>利用可能シーン</a:t>
            </a:r>
            <a:endParaRPr b="0" lang="en-US" sz="1100" strike="noStrike" u="none">
              <a:solidFill>
                <a:srgbClr val="000000"/>
              </a:solidFill>
              <a:effectLst/>
              <a:uFillTx/>
              <a:latin typeface="Arial"/>
            </a:endParaRPr>
          </a:p>
        </p:txBody>
      </p:sp>
      <p:pic>
        <p:nvPicPr>
          <p:cNvPr id="565" name="図 6" descr=""/>
          <p:cNvPicPr/>
          <p:nvPr/>
        </p:nvPicPr>
        <p:blipFill>
          <a:blip r:embed="rId5"/>
          <a:stretch/>
        </p:blipFill>
        <p:spPr>
          <a:xfrm>
            <a:off x="381960" y="2197800"/>
            <a:ext cx="5286600" cy="2496600"/>
          </a:xfrm>
          <a:prstGeom prst="rect">
            <a:avLst/>
          </a:prstGeom>
          <a:noFill/>
          <a:ln w="0">
            <a:noFill/>
          </a:ln>
        </p:spPr>
      </p:pic>
      <p:sp>
        <p:nvSpPr>
          <p:cNvPr id="566" name="テキスト ボックス 9"/>
          <p:cNvSpPr/>
          <p:nvPr/>
        </p:nvSpPr>
        <p:spPr>
          <a:xfrm>
            <a:off x="3904560" y="1558440"/>
            <a:ext cx="496224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900" strike="noStrike" u="none">
                <a:solidFill>
                  <a:srgbClr val="ff0000"/>
                </a:solidFill>
                <a:effectLst/>
                <a:uFillTx/>
                <a:latin typeface="メイリオ"/>
                <a:ea typeface="メイリオ"/>
              </a:rPr>
              <a:t>料金プランにより通数単価、利用可能機能が異なります。</a:t>
            </a:r>
            <a:endParaRPr b="0" lang="en-US"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（通知メッセージ）</a:t>
            </a:r>
            <a:endParaRPr b="0" lang="en-US" sz="1600" strike="noStrike" u="none">
              <a:solidFill>
                <a:srgbClr val="000000"/>
              </a:solidFill>
              <a:effectLst/>
              <a:uFillTx/>
              <a:latin typeface="Arial"/>
            </a:endParaRPr>
          </a:p>
        </p:txBody>
      </p:sp>
      <p:grpSp>
        <p:nvGrpSpPr>
          <p:cNvPr id="568" name="グループ化 2"/>
          <p:cNvGrpSpPr/>
          <p:nvPr/>
        </p:nvGrpSpPr>
        <p:grpSpPr>
          <a:xfrm>
            <a:off x="543240" y="777600"/>
            <a:ext cx="3105000" cy="484920"/>
            <a:chOff x="543240" y="777600"/>
            <a:chExt cx="3105000" cy="484920"/>
          </a:xfrm>
        </p:grpSpPr>
        <p:sp>
          <p:nvSpPr>
            <p:cNvPr id="569"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570" name="テキスト ボックス 4"/>
            <p:cNvSpPr/>
            <p:nvPr/>
          </p:nvSpPr>
          <p:spPr>
            <a:xfrm>
              <a:off x="1175400" y="837360"/>
              <a:ext cx="153072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通知メッセージ</a:t>
              </a:r>
              <a:endParaRPr b="0" lang="en-US" sz="1500" strike="noStrike" u="none">
                <a:solidFill>
                  <a:srgbClr val="000000"/>
                </a:solidFill>
                <a:effectLst/>
                <a:uFillTx/>
                <a:latin typeface="Arial"/>
              </a:endParaRPr>
            </a:p>
          </p:txBody>
        </p:sp>
      </p:grpSp>
      <p:sp>
        <p:nvSpPr>
          <p:cNvPr id="571" name="正方形/長方形 8"/>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600" strike="noStrike" u="none">
                <a:solidFill>
                  <a:schemeClr val="dk1"/>
                </a:solidFill>
                <a:effectLst/>
                <a:uFillTx/>
                <a:latin typeface="Meiryo"/>
                <a:ea typeface="Meiryo"/>
              </a:rPr>
              <a:t>WEB</a:t>
            </a:r>
            <a:r>
              <a:rPr b="0" lang="ja-JP" sz="1600" strike="noStrike" u="none">
                <a:solidFill>
                  <a:schemeClr val="dk1"/>
                </a:solidFill>
                <a:effectLst/>
                <a:uFillTx/>
                <a:latin typeface="Meiryo"/>
                <a:ea typeface="Meiryo"/>
              </a:rPr>
              <a:t>上のアクションユーザー、貴社保有リスト をターゲット</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に友だち登録、ステータス通知を行うことが出来る機能です。</a:t>
            </a:r>
            <a:endParaRPr b="0" lang="en-US" sz="1600" strike="noStrike" u="none">
              <a:solidFill>
                <a:srgbClr val="000000"/>
              </a:solidFill>
              <a:effectLst/>
              <a:uFillTx/>
              <a:latin typeface="Arial"/>
            </a:endParaRPr>
          </a:p>
        </p:txBody>
      </p:sp>
      <p:sp>
        <p:nvSpPr>
          <p:cNvPr id="572"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10</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573"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8</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ffff00"/>
                </a:solidFill>
                <a:effectLst/>
                <a:uFillTx/>
                <a:latin typeface="Meiryo"/>
                <a:ea typeface="Meiryo"/>
              </a:rPr>
              <a:t>+</a:t>
            </a:r>
            <a:r>
              <a:rPr b="1" lang="ja-JP" sz="1050" strike="noStrike" u="none">
                <a:solidFill>
                  <a:srgbClr val="ffff00"/>
                </a:solidFill>
                <a:effectLst/>
                <a:uFillTx/>
                <a:latin typeface="Meiryo"/>
                <a:ea typeface="Meiryo"/>
              </a:rPr>
              <a:t>通数単価：</a:t>
            </a:r>
            <a:r>
              <a:rPr b="1" lang="en-US" sz="1050" strike="noStrike" u="none">
                <a:solidFill>
                  <a:srgbClr val="ffff00"/>
                </a:solidFill>
                <a:effectLst/>
                <a:uFillTx/>
                <a:latin typeface="Meiryo"/>
                <a:ea typeface="Meiryo"/>
              </a:rPr>
              <a:t>7</a:t>
            </a:r>
            <a:r>
              <a:rPr b="1" lang="ja-JP" sz="1050" strike="noStrike" u="none">
                <a:solidFill>
                  <a:srgbClr val="ffff00"/>
                </a:solidFill>
                <a:effectLst/>
                <a:uFillTx/>
                <a:latin typeface="Meiryo"/>
                <a:ea typeface="Meiryo"/>
              </a:rPr>
              <a:t>円</a:t>
            </a:r>
            <a:endParaRPr b="0" lang="en-US" sz="1050" strike="noStrike" u="none">
              <a:solidFill>
                <a:srgbClr val="ffffff"/>
              </a:solidFill>
              <a:effectLst/>
              <a:uFillTx/>
              <a:latin typeface="Arial"/>
            </a:endParaRPr>
          </a:p>
        </p:txBody>
      </p:sp>
      <p:sp>
        <p:nvSpPr>
          <p:cNvPr id="574" name="テキスト ボックス 93"/>
          <p:cNvSpPr/>
          <p:nvPr/>
        </p:nvSpPr>
        <p:spPr>
          <a:xfrm>
            <a:off x="3904560" y="1368720"/>
            <a:ext cx="496224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900" strike="noStrike" u="none">
                <a:solidFill>
                  <a:srgbClr val="ff0000"/>
                </a:solidFill>
                <a:effectLst/>
                <a:uFillTx/>
                <a:latin typeface="メイリオ"/>
                <a:ea typeface="メイリオ"/>
              </a:rPr>
              <a:t>Sales Partner</a:t>
            </a:r>
            <a:r>
              <a:rPr b="0" lang="ja-JP" sz="900" strike="noStrike" u="none">
                <a:solidFill>
                  <a:srgbClr val="ff0000"/>
                </a:solidFill>
                <a:effectLst/>
                <a:uFillTx/>
                <a:latin typeface="メイリオ"/>
                <a:ea typeface="メイリオ"/>
              </a:rPr>
              <a:t>、</a:t>
            </a:r>
            <a:r>
              <a:rPr b="0" lang="en-US" sz="900" strike="noStrike" u="none">
                <a:solidFill>
                  <a:srgbClr val="ff0000"/>
                </a:solidFill>
                <a:effectLst/>
                <a:uFillTx/>
                <a:latin typeface="メイリオ"/>
                <a:ea typeface="メイリオ"/>
              </a:rPr>
              <a:t>Tech Partner</a:t>
            </a:r>
            <a:r>
              <a:rPr b="0" lang="ja-JP" sz="900" strike="noStrike" u="none">
                <a:solidFill>
                  <a:srgbClr val="ff0000"/>
                </a:solidFill>
                <a:effectLst/>
                <a:uFillTx/>
                <a:latin typeface="メイリオ"/>
                <a:ea typeface="メイリオ"/>
              </a:rPr>
              <a:t>限定公開の</a:t>
            </a:r>
            <a:r>
              <a:rPr b="0" lang="en-US" sz="900" strike="noStrike" u="none">
                <a:solidFill>
                  <a:srgbClr val="ff0000"/>
                </a:solidFill>
                <a:effectLst/>
                <a:uFillTx/>
                <a:latin typeface="メイリオ"/>
                <a:ea typeface="メイリオ"/>
              </a:rPr>
              <a:t>API</a:t>
            </a:r>
            <a:r>
              <a:rPr b="0" lang="ja-JP" sz="900" strike="noStrike" u="none">
                <a:solidFill>
                  <a:srgbClr val="ff0000"/>
                </a:solidFill>
                <a:effectLst/>
                <a:uFillTx/>
                <a:latin typeface="メイリオ"/>
                <a:ea typeface="メイリオ"/>
              </a:rPr>
              <a:t>を使用した機能です。</a:t>
            </a:r>
            <a:endParaRPr b="0" lang="en-US" sz="900" strike="noStrike" u="none">
              <a:solidFill>
                <a:srgbClr val="000000"/>
              </a:solidFill>
              <a:effectLst/>
              <a:uFillTx/>
              <a:latin typeface="Arial"/>
            </a:endParaRPr>
          </a:p>
        </p:txBody>
      </p:sp>
      <p:sp>
        <p:nvSpPr>
          <p:cNvPr id="575" name="テキスト ボックス 5"/>
          <p:cNvSpPr/>
          <p:nvPr/>
        </p:nvSpPr>
        <p:spPr>
          <a:xfrm>
            <a:off x="3904560" y="1558440"/>
            <a:ext cx="496224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900" strike="noStrike" u="none">
                <a:solidFill>
                  <a:srgbClr val="ff0000"/>
                </a:solidFill>
                <a:effectLst/>
                <a:uFillTx/>
                <a:latin typeface="メイリオ"/>
                <a:ea typeface="メイリオ"/>
              </a:rPr>
              <a:t>料金プランにより通数単価、利用可能機能が異なります。</a:t>
            </a:r>
            <a:endParaRPr b="0" lang="en-US" sz="900" strike="noStrike" u="none">
              <a:solidFill>
                <a:srgbClr val="000000"/>
              </a:solidFill>
              <a:effectLst/>
              <a:uFillTx/>
              <a:latin typeface="Arial"/>
            </a:endParaRPr>
          </a:p>
        </p:txBody>
      </p:sp>
      <p:pic>
        <p:nvPicPr>
          <p:cNvPr id="576" name="図 7" descr=""/>
          <p:cNvPicPr/>
          <p:nvPr/>
        </p:nvPicPr>
        <p:blipFill>
          <a:blip r:embed="rId1"/>
          <a:stretch/>
        </p:blipFill>
        <p:spPr>
          <a:xfrm>
            <a:off x="543240" y="1953360"/>
            <a:ext cx="8917920" cy="4388760"/>
          </a:xfrm>
          <a:prstGeom prst="rect">
            <a:avLst/>
          </a:prstGeom>
          <a:noFill/>
          <a:ln w="0">
            <a:noFill/>
          </a:ln>
        </p:spPr>
      </p:pic>
      <p:sp>
        <p:nvSpPr>
          <p:cNvPr id="577" name="Google Shape;51;p19"/>
          <p:cNvSpPr/>
          <p:nvPr/>
        </p:nvSpPr>
        <p:spPr>
          <a:xfrm>
            <a:off x="6635880" y="5673240"/>
            <a:ext cx="2647080" cy="330840"/>
          </a:xfrm>
          <a:prstGeom prst="roundRect">
            <a:avLst>
              <a:gd name="adj" fmla="val 16667"/>
            </a:avLst>
          </a:prstGeom>
          <a:solidFill>
            <a:schemeClr val="tx1">
              <a:lumMod val="50000"/>
              <a:lumOff val="50000"/>
            </a:schemeClr>
          </a:solidFill>
          <a:ln w="0">
            <a:noFill/>
          </a:ln>
        </p:spPr>
        <p:style>
          <a:lnRef idx="0"/>
          <a:fillRef idx="0"/>
          <a:effectRef idx="0"/>
          <a:fontRef idx="minor"/>
        </p:style>
        <p:txBody>
          <a:bodyPr anchor="ctr">
            <a:noAutofit/>
          </a:bodyPr>
          <a:p>
            <a:pPr algn="ctr" defTabSz="914400">
              <a:lnSpc>
                <a:spcPct val="100000"/>
              </a:lnSpc>
              <a:tabLst>
                <a:tab algn="l" pos="0"/>
              </a:tabLst>
            </a:pPr>
            <a:r>
              <a:rPr b="0" lang="ja-JP" sz="1100" strike="noStrike" u="none">
                <a:solidFill>
                  <a:schemeClr val="lt1"/>
                </a:solidFill>
                <a:effectLst/>
                <a:uFillTx/>
                <a:latin typeface="Meiryo"/>
                <a:ea typeface="Meiryo"/>
              </a:rPr>
              <a:t>利用可能なシーン一例</a:t>
            </a:r>
            <a:endParaRPr b="0" lang="en-US" sz="1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（サンクス</a:t>
            </a:r>
            <a:r>
              <a:rPr b="1" lang="en-US" sz="1600" strike="noStrike" u="none">
                <a:solidFill>
                  <a:srgbClr val="323366"/>
                </a:solidFill>
                <a:effectLst/>
                <a:uFillTx/>
                <a:latin typeface="メイリオ"/>
                <a:ea typeface="メイリオ"/>
              </a:rPr>
              <a:t>LINE</a:t>
            </a:r>
            <a:r>
              <a:rPr b="1" lang="ja-JP" sz="1600" strike="noStrike" u="none">
                <a:solidFill>
                  <a:srgbClr val="323366"/>
                </a:solidFill>
                <a:effectLst/>
                <a:uFillTx/>
                <a:latin typeface="メイリオ"/>
                <a:ea typeface="メイリオ"/>
              </a:rPr>
              <a:t>誘導）</a:t>
            </a:r>
            <a:endParaRPr b="0" lang="en-US" sz="1600" strike="noStrike" u="none">
              <a:solidFill>
                <a:srgbClr val="000000"/>
              </a:solidFill>
              <a:effectLst/>
              <a:uFillTx/>
              <a:latin typeface="Arial"/>
            </a:endParaRPr>
          </a:p>
        </p:txBody>
      </p:sp>
      <p:sp>
        <p:nvSpPr>
          <p:cNvPr id="579" name="正方形/長方形 10"/>
          <p:cNvSpPr/>
          <p:nvPr/>
        </p:nvSpPr>
        <p:spPr>
          <a:xfrm>
            <a:off x="1404720" y="1937880"/>
            <a:ext cx="185868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100" strike="noStrike" u="none">
                <a:solidFill>
                  <a:schemeClr val="dk1">
                    <a:lumMod val="50000"/>
                    <a:lumOff val="50000"/>
                  </a:schemeClr>
                </a:solidFill>
                <a:effectLst/>
                <a:uFillTx/>
                <a:latin typeface="メイリオ"/>
                <a:ea typeface="メイリオ"/>
              </a:rPr>
              <a:t>WEB</a:t>
            </a:r>
            <a:r>
              <a:rPr b="1" lang="ja-JP" sz="1100" strike="noStrike" u="none">
                <a:solidFill>
                  <a:schemeClr val="dk1">
                    <a:lumMod val="50000"/>
                    <a:lumOff val="50000"/>
                  </a:schemeClr>
                </a:solidFill>
                <a:effectLst/>
                <a:uFillTx/>
                <a:latin typeface="メイリオ"/>
                <a:ea typeface="メイリオ"/>
              </a:rPr>
              <a:t>サイト</a:t>
            </a:r>
            <a:endParaRPr b="0" lang="en-US" sz="1100" strike="noStrike" u="none">
              <a:solidFill>
                <a:srgbClr val="000000"/>
              </a:solidFill>
              <a:effectLst/>
              <a:uFillTx/>
              <a:latin typeface="Arial"/>
            </a:endParaRPr>
          </a:p>
        </p:txBody>
      </p:sp>
      <p:sp>
        <p:nvSpPr>
          <p:cNvPr id="580" name="正方形/長方形 15"/>
          <p:cNvSpPr/>
          <p:nvPr/>
        </p:nvSpPr>
        <p:spPr>
          <a:xfrm>
            <a:off x="5808600" y="241560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81" name="正方形/長方形 16"/>
          <p:cNvSpPr/>
          <p:nvPr/>
        </p:nvSpPr>
        <p:spPr>
          <a:xfrm>
            <a:off x="5808600" y="458892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82" name="正方形/長方形 19"/>
          <p:cNvSpPr/>
          <p:nvPr/>
        </p:nvSpPr>
        <p:spPr>
          <a:xfrm>
            <a:off x="5974560" y="230472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dk1"/>
                </a:solidFill>
                <a:effectLst/>
                <a:uFillTx/>
                <a:latin typeface="メイリオ"/>
                <a:ea typeface="メイリオ"/>
              </a:rPr>
              <a:t>非</a:t>
            </a:r>
            <a:r>
              <a:rPr b="1" lang="en-US" sz="1100" strike="noStrike" u="none">
                <a:solidFill>
                  <a:schemeClr val="dk1"/>
                </a:solidFill>
                <a:effectLst/>
                <a:uFillTx/>
                <a:latin typeface="メイリオ"/>
                <a:ea typeface="メイリオ"/>
              </a:rPr>
              <a:t>LINE</a:t>
            </a:r>
            <a:r>
              <a:rPr b="1" lang="ja-JP" sz="1100" strike="noStrike" u="none">
                <a:solidFill>
                  <a:schemeClr val="dk1"/>
                </a:solidFill>
                <a:effectLst/>
                <a:uFillTx/>
                <a:latin typeface="メイリオ"/>
                <a:ea typeface="メイリオ"/>
              </a:rPr>
              <a:t>友だちの場合</a:t>
            </a:r>
            <a:endParaRPr b="0" lang="en-US" sz="1100" strike="noStrike" u="none">
              <a:solidFill>
                <a:srgbClr val="000000"/>
              </a:solidFill>
              <a:effectLst/>
              <a:uFillTx/>
              <a:latin typeface="Arial"/>
            </a:endParaRPr>
          </a:p>
        </p:txBody>
      </p:sp>
      <p:sp>
        <p:nvSpPr>
          <p:cNvPr id="583" name="正方形/長方形 20"/>
          <p:cNvSpPr/>
          <p:nvPr/>
        </p:nvSpPr>
        <p:spPr>
          <a:xfrm>
            <a:off x="5974560" y="446688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dk1"/>
                </a:solidFill>
                <a:effectLst/>
                <a:uFillTx/>
                <a:latin typeface="メイリオ"/>
                <a:ea typeface="メイリオ"/>
              </a:rPr>
              <a:t>既存の</a:t>
            </a:r>
            <a:r>
              <a:rPr b="1" lang="en-US" sz="1100" strike="noStrike" u="none">
                <a:solidFill>
                  <a:schemeClr val="dk1"/>
                </a:solidFill>
                <a:effectLst/>
                <a:uFillTx/>
                <a:latin typeface="メイリオ"/>
                <a:ea typeface="メイリオ"/>
              </a:rPr>
              <a:t>LINE</a:t>
            </a:r>
            <a:r>
              <a:rPr b="1" lang="ja-JP" sz="1100" strike="noStrike" u="none">
                <a:solidFill>
                  <a:schemeClr val="dk1"/>
                </a:solidFill>
                <a:effectLst/>
                <a:uFillTx/>
                <a:latin typeface="メイリオ"/>
                <a:ea typeface="メイリオ"/>
              </a:rPr>
              <a:t>友だちの場合</a:t>
            </a:r>
            <a:endParaRPr b="0" lang="en-US" sz="1100" strike="noStrike" u="none">
              <a:solidFill>
                <a:srgbClr val="000000"/>
              </a:solidFill>
              <a:effectLst/>
              <a:uFillTx/>
              <a:latin typeface="Arial"/>
            </a:endParaRPr>
          </a:p>
        </p:txBody>
      </p:sp>
      <p:cxnSp>
        <p:nvCxnSpPr>
          <p:cNvPr id="584" name="直線矢印コネクタ 22"/>
          <p:cNvCxnSpPr/>
          <p:nvPr/>
        </p:nvCxnSpPr>
        <p:spPr>
          <a:xfrm>
            <a:off x="4361760" y="3239640"/>
            <a:ext cx="1407600" cy="360"/>
          </a:xfrm>
          <a:prstGeom prst="straightConnector1">
            <a:avLst/>
          </a:prstGeom>
          <a:ln w="19050">
            <a:solidFill>
              <a:srgbClr val="00b050">
                <a:alpha val="80000"/>
              </a:srgbClr>
            </a:solidFill>
            <a:prstDash val="sysDot"/>
            <a:round/>
            <a:tailEnd len="med" type="triangle" w="med"/>
          </a:ln>
        </p:spPr>
      </p:cxnSp>
      <p:cxnSp>
        <p:nvCxnSpPr>
          <p:cNvPr id="585" name="直線矢印コネクタ 23"/>
          <p:cNvCxnSpPr/>
          <p:nvPr/>
        </p:nvCxnSpPr>
        <p:spPr>
          <a:xfrm>
            <a:off x="4361760" y="3391920"/>
            <a:ext cx="1407600" cy="1358640"/>
          </a:xfrm>
          <a:prstGeom prst="straightConnector1">
            <a:avLst/>
          </a:prstGeom>
          <a:ln w="19050">
            <a:solidFill>
              <a:srgbClr val="00b050">
                <a:alpha val="80000"/>
              </a:srgbClr>
            </a:solidFill>
            <a:prstDash val="sysDot"/>
            <a:round/>
            <a:tailEnd len="med" type="triangle" w="med"/>
          </a:ln>
        </p:spPr>
      </p:cxnSp>
      <p:sp>
        <p:nvSpPr>
          <p:cNvPr id="586" name="正方形/長方形 28"/>
          <p:cNvSpPr/>
          <p:nvPr/>
        </p:nvSpPr>
        <p:spPr>
          <a:xfrm>
            <a:off x="4867200" y="2304720"/>
            <a:ext cx="374040" cy="3205440"/>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dk1"/>
                </a:solidFill>
                <a:effectLst/>
                <a:uFillTx/>
                <a:latin typeface="メイリオ"/>
                <a:ea typeface="メイリオ"/>
              </a:rPr>
              <a:t>｜</a:t>
            </a:r>
            <a:r>
              <a:rPr b="1" lang="en-US" sz="1100" strike="noStrike" u="none">
                <a:solidFill>
                  <a:schemeClr val="dk1"/>
                </a:solidFill>
                <a:effectLst/>
                <a:uFillTx/>
                <a:latin typeface="メイリオ"/>
                <a:ea typeface="メイリオ"/>
              </a:rPr>
              <a:t>D</a:t>
            </a:r>
            <a:endParaRPr b="0" lang="en-US" sz="1100" strike="noStrike" u="none">
              <a:solidFill>
                <a:srgbClr val="000000"/>
              </a:solidFill>
              <a:effectLst/>
              <a:uFillTx/>
              <a:latin typeface="Arial"/>
            </a:endParaRPr>
          </a:p>
          <a:p>
            <a:pPr algn="ctr" defTabSz="914400">
              <a:lnSpc>
                <a:spcPct val="100000"/>
              </a:lnSpc>
            </a:pPr>
            <a:r>
              <a:rPr b="1" lang="en-US" sz="1100" strike="noStrike" u="none">
                <a:solidFill>
                  <a:schemeClr val="dk1"/>
                </a:solidFill>
                <a:effectLst/>
                <a:uFillTx/>
                <a:latin typeface="メイリオ"/>
                <a:ea typeface="メイリオ"/>
              </a:rPr>
              <a:t>Y</a:t>
            </a:r>
            <a:endParaRPr b="0" lang="en-US" sz="1100" strike="noStrike" u="none">
              <a:solidFill>
                <a:srgbClr val="000000"/>
              </a:solidFill>
              <a:effectLst/>
              <a:uFillTx/>
              <a:latin typeface="Arial"/>
            </a:endParaRPr>
          </a:p>
          <a:p>
            <a:pPr algn="ctr" defTabSz="914400">
              <a:lnSpc>
                <a:spcPct val="100000"/>
              </a:lnSpc>
            </a:pPr>
            <a:r>
              <a:rPr b="1" lang="en-US" sz="1100" strike="noStrike" u="none">
                <a:solidFill>
                  <a:schemeClr val="dk1"/>
                </a:solidFill>
                <a:effectLst/>
                <a:uFillTx/>
                <a:latin typeface="メイリオ"/>
                <a:ea typeface="メイリオ"/>
              </a:rPr>
              <a:t>M</a:t>
            </a:r>
            <a:r>
              <a:rPr b="1" lang="ja-JP" sz="1100" strike="noStrike" u="none">
                <a:solidFill>
                  <a:schemeClr val="dk1"/>
                </a:solidFill>
                <a:effectLst/>
                <a:uFillTx/>
                <a:latin typeface="メイリオ"/>
                <a:ea typeface="メイリオ"/>
              </a:rPr>
              <a:t>ツ</a:t>
            </a:r>
            <a:endParaRPr b="0" lang="en-US" sz="1100" strike="noStrike" u="none">
              <a:solidFill>
                <a:srgbClr val="000000"/>
              </a:solidFill>
              <a:effectLst/>
              <a:uFillTx/>
              <a:latin typeface="Arial"/>
            </a:endParaRPr>
          </a:p>
          <a:p>
            <a:pPr algn="ctr" defTabSz="914400">
              <a:lnSpc>
                <a:spcPct val="100000"/>
              </a:lnSpc>
            </a:pPr>
            <a:r>
              <a:rPr b="1" lang="ja-JP" sz="1100" strike="noStrike" u="none">
                <a:solidFill>
                  <a:schemeClr val="dk1"/>
                </a:solidFill>
                <a:effectLst/>
                <a:uFillTx/>
                <a:latin typeface="メイリオ"/>
                <a:ea typeface="メイリオ"/>
              </a:rPr>
              <a:t>｜ルで</a:t>
            </a:r>
            <a:endParaRPr b="0" lang="en-US" sz="1100" strike="noStrike" u="none">
              <a:solidFill>
                <a:srgbClr val="000000"/>
              </a:solidFill>
              <a:effectLst/>
              <a:uFillTx/>
              <a:latin typeface="Arial"/>
            </a:endParaRPr>
          </a:p>
          <a:p>
            <a:pPr algn="ctr" defTabSz="914400">
              <a:lnSpc>
                <a:spcPct val="100000"/>
              </a:lnSpc>
            </a:pPr>
            <a:r>
              <a:rPr b="1" lang="en-US" sz="1100" strike="noStrike" u="none">
                <a:solidFill>
                  <a:schemeClr val="dk1"/>
                </a:solidFill>
                <a:effectLst/>
                <a:uFillTx/>
                <a:latin typeface="メイリオ"/>
                <a:ea typeface="メイリオ"/>
              </a:rPr>
              <a:t>L</a:t>
            </a:r>
            <a:br>
              <a:rPr sz="1100"/>
            </a:br>
            <a:r>
              <a:rPr b="1" lang="en-US" sz="1100" strike="noStrike" u="none">
                <a:solidFill>
                  <a:schemeClr val="dk1"/>
                </a:solidFill>
                <a:effectLst/>
                <a:uFillTx/>
                <a:latin typeface="メイリオ"/>
                <a:ea typeface="メイリオ"/>
              </a:rPr>
              <a:t>I</a:t>
            </a:r>
            <a:endParaRPr b="0" lang="en-US" sz="1100" strike="noStrike" u="none">
              <a:solidFill>
                <a:srgbClr val="000000"/>
              </a:solidFill>
              <a:effectLst/>
              <a:uFillTx/>
              <a:latin typeface="Arial"/>
            </a:endParaRPr>
          </a:p>
          <a:p>
            <a:pPr algn="ctr" defTabSz="914400">
              <a:lnSpc>
                <a:spcPct val="100000"/>
              </a:lnSpc>
            </a:pPr>
            <a:r>
              <a:rPr b="1" lang="en-US" sz="1100" strike="noStrike" u="none">
                <a:solidFill>
                  <a:schemeClr val="dk1"/>
                </a:solidFill>
                <a:effectLst/>
                <a:uFillTx/>
                <a:latin typeface="メイリオ"/>
                <a:ea typeface="メイリオ"/>
              </a:rPr>
              <a:t>N</a:t>
            </a:r>
            <a:br>
              <a:rPr sz="1100"/>
            </a:br>
            <a:r>
              <a:rPr b="1" lang="en-US" sz="1100" strike="noStrike" u="none">
                <a:solidFill>
                  <a:schemeClr val="dk1"/>
                </a:solidFill>
                <a:effectLst/>
                <a:uFillTx/>
                <a:latin typeface="メイリオ"/>
                <a:ea typeface="メイリオ"/>
              </a:rPr>
              <a:t>E</a:t>
            </a:r>
            <a:endParaRPr b="0" lang="en-US" sz="1100" strike="noStrike" u="none">
              <a:solidFill>
                <a:srgbClr val="000000"/>
              </a:solidFill>
              <a:effectLst/>
              <a:uFillTx/>
              <a:latin typeface="Arial"/>
            </a:endParaRPr>
          </a:p>
          <a:p>
            <a:pPr algn="ctr" defTabSz="914400">
              <a:lnSpc>
                <a:spcPct val="100000"/>
              </a:lnSpc>
            </a:pPr>
            <a:r>
              <a:rPr b="1" lang="ja-JP" sz="1100" strike="noStrike" u="none">
                <a:solidFill>
                  <a:schemeClr val="dk1"/>
                </a:solidFill>
                <a:effectLst/>
                <a:uFillTx/>
                <a:latin typeface="メイリオ"/>
                <a:ea typeface="メイリオ"/>
              </a:rPr>
              <a:t>動線</a:t>
            </a:r>
            <a:endParaRPr b="0" lang="en-US" sz="1100" strike="noStrike" u="none">
              <a:solidFill>
                <a:srgbClr val="000000"/>
              </a:solidFill>
              <a:effectLst/>
              <a:uFillTx/>
              <a:latin typeface="Arial"/>
            </a:endParaRPr>
          </a:p>
          <a:p>
            <a:pPr algn="ctr" defTabSz="914400">
              <a:lnSpc>
                <a:spcPct val="100000"/>
              </a:lnSpc>
            </a:pPr>
            <a:r>
              <a:rPr b="1" lang="ja-JP" sz="1100" strike="noStrike" u="none">
                <a:solidFill>
                  <a:schemeClr val="dk1"/>
                </a:solidFill>
                <a:effectLst/>
                <a:uFillTx/>
                <a:latin typeface="メイリオ"/>
                <a:ea typeface="メイリオ"/>
              </a:rPr>
              <a:t>に</a:t>
            </a:r>
            <a:endParaRPr b="0" lang="en-US" sz="1100" strike="noStrike" u="none">
              <a:solidFill>
                <a:srgbClr val="000000"/>
              </a:solidFill>
              <a:effectLst/>
              <a:uFillTx/>
              <a:latin typeface="Arial"/>
            </a:endParaRPr>
          </a:p>
          <a:p>
            <a:pPr algn="ctr" defTabSz="914400">
              <a:lnSpc>
                <a:spcPct val="100000"/>
              </a:lnSpc>
            </a:pPr>
            <a:r>
              <a:rPr b="1" lang="ja-JP" sz="1100" strike="noStrike" u="none">
                <a:solidFill>
                  <a:schemeClr val="dk1"/>
                </a:solidFill>
                <a:effectLst/>
                <a:uFillTx/>
                <a:latin typeface="メイリオ"/>
                <a:ea typeface="メイリオ"/>
              </a:rPr>
              <a:t>｜</a:t>
            </a:r>
            <a:endParaRPr b="0" lang="en-US" sz="1100" strike="noStrike" u="none">
              <a:solidFill>
                <a:srgbClr val="000000"/>
              </a:solidFill>
              <a:effectLst/>
              <a:uFillTx/>
              <a:latin typeface="Arial"/>
            </a:endParaRPr>
          </a:p>
        </p:txBody>
      </p:sp>
      <p:pic>
        <p:nvPicPr>
          <p:cNvPr id="587" name="図 44" descr="グラフィカル ユーザー インターフェイス, アプリケーション, Teams&#10;&#10;AI 生成コンテンツは誤りを含む可能性があります。"/>
          <p:cNvPicPr/>
          <p:nvPr/>
        </p:nvPicPr>
        <p:blipFill>
          <a:blip r:embed="rId1"/>
          <a:srcRect l="0" t="4578" r="0" b="0"/>
          <a:stretch/>
        </p:blipFill>
        <p:spPr>
          <a:xfrm>
            <a:off x="7999560" y="2129040"/>
            <a:ext cx="1230840" cy="2084760"/>
          </a:xfrm>
          <a:prstGeom prst="rect">
            <a:avLst/>
          </a:prstGeom>
          <a:noFill/>
          <a:ln w="0">
            <a:noFill/>
          </a:ln>
        </p:spPr>
      </p:pic>
      <p:pic>
        <p:nvPicPr>
          <p:cNvPr id="588" name="図 45" descr="電卓の写真のスマートフォンのスクリーンショット&#10;&#10;AI 生成コンテンツは誤りを含む可能性があります。"/>
          <p:cNvPicPr/>
          <p:nvPr/>
        </p:nvPicPr>
        <p:blipFill>
          <a:blip r:embed="rId2"/>
          <a:srcRect l="0" t="4578" r="0" b="0"/>
          <a:stretch/>
        </p:blipFill>
        <p:spPr>
          <a:xfrm>
            <a:off x="7999560" y="4325040"/>
            <a:ext cx="1230840" cy="2084760"/>
          </a:xfrm>
          <a:prstGeom prst="rect">
            <a:avLst/>
          </a:prstGeom>
          <a:noFill/>
          <a:ln w="0">
            <a:noFill/>
          </a:ln>
        </p:spPr>
      </p:pic>
      <p:sp>
        <p:nvSpPr>
          <p:cNvPr id="589" name="テキスト ボックス 47"/>
          <p:cNvSpPr/>
          <p:nvPr/>
        </p:nvSpPr>
        <p:spPr>
          <a:xfrm>
            <a:off x="5974560" y="2701440"/>
            <a:ext cx="1858680" cy="430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ja-JP" sz="1100" strike="noStrike" u="none">
                <a:solidFill>
                  <a:schemeClr val="dk1"/>
                </a:solidFill>
                <a:effectLst/>
                <a:uFillTx/>
                <a:latin typeface="メイリオ"/>
                <a:ea typeface="メイリオ"/>
              </a:rPr>
              <a:t>公式アカウントの友だち</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solidFill>
                <a:effectLst/>
                <a:uFillTx/>
                <a:latin typeface="メイリオ"/>
                <a:ea typeface="メイリオ"/>
              </a:rPr>
              <a:t>登録ページ</a:t>
            </a:r>
            <a:r>
              <a:rPr b="0" lang="ja-JP" sz="1100" strike="noStrike" u="none">
                <a:solidFill>
                  <a:schemeClr val="dk1"/>
                </a:solidFill>
                <a:effectLst/>
                <a:uFillTx/>
                <a:latin typeface="メイリオ"/>
                <a:ea typeface="メイリオ"/>
              </a:rPr>
              <a:t>へ遷移する。</a:t>
            </a:r>
            <a:endParaRPr b="0" lang="en-US" sz="1100" strike="noStrike" u="none">
              <a:solidFill>
                <a:srgbClr val="000000"/>
              </a:solidFill>
              <a:effectLst/>
              <a:uFillTx/>
              <a:latin typeface="Arial"/>
            </a:endParaRPr>
          </a:p>
        </p:txBody>
      </p:sp>
      <p:sp>
        <p:nvSpPr>
          <p:cNvPr id="590" name="テキスト ボックス 48"/>
          <p:cNvSpPr/>
          <p:nvPr/>
        </p:nvSpPr>
        <p:spPr>
          <a:xfrm>
            <a:off x="5972040" y="4914360"/>
            <a:ext cx="1858680" cy="138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ja-JP" sz="1100" strike="noStrike" u="none">
                <a:solidFill>
                  <a:schemeClr val="dk1"/>
                </a:solidFill>
                <a:effectLst/>
                <a:uFillTx/>
                <a:latin typeface="メイリオ"/>
                <a:ea typeface="メイリオ"/>
              </a:rPr>
              <a:t>公式アカウントのトーク</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solidFill>
                <a:effectLst/>
                <a:uFillTx/>
                <a:latin typeface="メイリオ"/>
                <a:ea typeface="メイリオ"/>
              </a:rPr>
              <a:t>画面</a:t>
            </a:r>
            <a:r>
              <a:rPr b="0" lang="ja-JP" sz="1100" strike="noStrike" u="none">
                <a:solidFill>
                  <a:schemeClr val="dk1"/>
                </a:solidFill>
                <a:effectLst/>
                <a:uFillTx/>
                <a:latin typeface="メイリオ"/>
                <a:ea typeface="メイリオ"/>
              </a:rPr>
              <a:t>へ遷移する。</a:t>
            </a:r>
            <a:endParaRPr b="0" lang="en-US" sz="1100" strike="noStrike" u="none">
              <a:solidFill>
                <a:srgbClr val="000000"/>
              </a:solidFill>
              <a:effectLst/>
              <a:uFillTx/>
              <a:latin typeface="Arial"/>
            </a:endParaRPr>
          </a:p>
          <a:p>
            <a:pPr defTabSz="914400">
              <a:lnSpc>
                <a:spcPct val="100000"/>
              </a:lnSpc>
            </a:pPr>
            <a:r>
              <a:rPr b="0" lang="en-US" sz="1000" strike="noStrike" u="none">
                <a:solidFill>
                  <a:srgbClr val="ff0000"/>
                </a:solidFill>
                <a:effectLst/>
                <a:uFillTx/>
                <a:latin typeface="メイリオ"/>
                <a:ea typeface="メイリオ"/>
              </a:rPr>
              <a:t>※設定によりフォーム入力</a:t>
            </a:r>
            <a:endParaRPr b="0" lang="en-US" sz="1000" strike="noStrike" u="none">
              <a:solidFill>
                <a:srgbClr val="000000"/>
              </a:solidFill>
              <a:effectLst/>
              <a:uFillTx/>
              <a:latin typeface="Arial"/>
            </a:endParaRPr>
          </a:p>
          <a:p>
            <a:pPr defTabSz="914400">
              <a:lnSpc>
                <a:spcPct val="100000"/>
              </a:lnSpc>
            </a:pPr>
            <a:r>
              <a:rPr b="0" lang="ja-JP" sz="1000" strike="noStrike" u="none">
                <a:solidFill>
                  <a:srgbClr val="ff0000"/>
                </a:solidFill>
                <a:effectLst/>
                <a:uFillTx/>
                <a:latin typeface="メイリオ"/>
                <a:ea typeface="メイリオ"/>
              </a:rPr>
              <a:t>　内容を踏襲した入力画面</a:t>
            </a:r>
            <a:endParaRPr b="0" lang="en-US" sz="1000" strike="noStrike" u="none">
              <a:solidFill>
                <a:srgbClr val="000000"/>
              </a:solidFill>
              <a:effectLst/>
              <a:uFillTx/>
              <a:latin typeface="Arial"/>
            </a:endParaRPr>
          </a:p>
          <a:p>
            <a:pPr defTabSz="914400">
              <a:lnSpc>
                <a:spcPct val="100000"/>
              </a:lnSpc>
            </a:pPr>
            <a:r>
              <a:rPr b="0" lang="ja-JP" sz="1000" strike="noStrike" u="none">
                <a:solidFill>
                  <a:srgbClr val="ff0000"/>
                </a:solidFill>
                <a:effectLst/>
                <a:uFillTx/>
                <a:latin typeface="メイリオ"/>
                <a:ea typeface="メイリオ"/>
              </a:rPr>
              <a:t>　を表示させることが可能。</a:t>
            </a:r>
            <a:endParaRPr b="0" lang="en-US" sz="1000" strike="noStrike" u="none">
              <a:solidFill>
                <a:srgbClr val="000000"/>
              </a:solidFill>
              <a:effectLst/>
              <a:uFillTx/>
              <a:latin typeface="Arial"/>
            </a:endParaRPr>
          </a:p>
          <a:p>
            <a:pPr defTabSz="914400">
              <a:lnSpc>
                <a:spcPct val="100000"/>
              </a:lnSpc>
            </a:pPr>
            <a:endParaRPr b="0" lang="en-US" sz="1000" strike="noStrike" u="none">
              <a:solidFill>
                <a:srgbClr val="000000"/>
              </a:solidFill>
              <a:effectLst/>
              <a:uFillTx/>
              <a:latin typeface="Arial"/>
            </a:endParaRPr>
          </a:p>
          <a:p>
            <a:pPr defTabSz="914400">
              <a:lnSpc>
                <a:spcPct val="100000"/>
              </a:lnSpc>
            </a:pPr>
            <a:r>
              <a:rPr b="1" lang="en-US" sz="1100" strike="noStrike" u="none">
                <a:solidFill>
                  <a:schemeClr val="dk1"/>
                </a:solidFill>
                <a:effectLst/>
                <a:uFillTx/>
                <a:latin typeface="メイリオ"/>
                <a:ea typeface="メイリオ"/>
              </a:rPr>
              <a:t>↓</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solidFill>
                <a:effectLst/>
                <a:uFillTx/>
                <a:latin typeface="メイリオ"/>
                <a:ea typeface="メイリオ"/>
              </a:rPr>
              <a:t>配信セグメントに利用可</a:t>
            </a:r>
            <a:endParaRPr b="0" lang="en-US" sz="1100" strike="noStrike" u="none">
              <a:solidFill>
                <a:srgbClr val="000000"/>
              </a:solidFill>
              <a:effectLst/>
              <a:uFillTx/>
              <a:latin typeface="Arial"/>
            </a:endParaRPr>
          </a:p>
        </p:txBody>
      </p:sp>
      <p:pic>
        <p:nvPicPr>
          <p:cNvPr id="591" name="図 55" descr=""/>
          <p:cNvPicPr/>
          <p:nvPr/>
        </p:nvPicPr>
        <p:blipFill>
          <a:blip r:embed="rId3"/>
          <a:stretch/>
        </p:blipFill>
        <p:spPr>
          <a:xfrm>
            <a:off x="8048160" y="3085200"/>
            <a:ext cx="1133280" cy="109800"/>
          </a:xfrm>
          <a:prstGeom prst="rect">
            <a:avLst/>
          </a:prstGeom>
          <a:noFill/>
          <a:ln w="0">
            <a:noFill/>
          </a:ln>
        </p:spPr>
      </p:pic>
      <p:pic>
        <p:nvPicPr>
          <p:cNvPr id="592" name="図 56" descr=""/>
          <p:cNvPicPr/>
          <p:nvPr/>
        </p:nvPicPr>
        <p:blipFill>
          <a:blip r:embed="rId4"/>
          <a:stretch/>
        </p:blipFill>
        <p:spPr>
          <a:xfrm>
            <a:off x="8377920" y="3091680"/>
            <a:ext cx="479520" cy="106200"/>
          </a:xfrm>
          <a:prstGeom prst="rect">
            <a:avLst/>
          </a:prstGeom>
          <a:noFill/>
          <a:ln w="0">
            <a:noFill/>
          </a:ln>
        </p:spPr>
      </p:pic>
      <p:pic>
        <p:nvPicPr>
          <p:cNvPr id="593" name="図 57" descr=""/>
          <p:cNvPicPr/>
          <p:nvPr/>
        </p:nvPicPr>
        <p:blipFill>
          <a:blip r:embed="rId5"/>
          <a:stretch/>
        </p:blipFill>
        <p:spPr>
          <a:xfrm>
            <a:off x="8395920" y="4322160"/>
            <a:ext cx="334080" cy="73800"/>
          </a:xfrm>
          <a:prstGeom prst="rect">
            <a:avLst/>
          </a:prstGeom>
          <a:noFill/>
          <a:ln w="0">
            <a:noFill/>
          </a:ln>
        </p:spPr>
      </p:pic>
      <p:pic>
        <p:nvPicPr>
          <p:cNvPr id="594" name="図 58" descr=""/>
          <p:cNvPicPr/>
          <p:nvPr/>
        </p:nvPicPr>
        <p:blipFill>
          <a:blip r:embed="rId6"/>
          <a:stretch/>
        </p:blipFill>
        <p:spPr>
          <a:xfrm>
            <a:off x="8548200" y="4474440"/>
            <a:ext cx="334080" cy="73800"/>
          </a:xfrm>
          <a:prstGeom prst="rect">
            <a:avLst/>
          </a:prstGeom>
          <a:noFill/>
          <a:ln w="0">
            <a:noFill/>
          </a:ln>
        </p:spPr>
      </p:pic>
      <p:sp>
        <p:nvSpPr>
          <p:cNvPr id="595" name="楕円 1029"/>
          <p:cNvSpPr/>
          <p:nvPr/>
        </p:nvSpPr>
        <p:spPr>
          <a:xfrm>
            <a:off x="8414280" y="2644200"/>
            <a:ext cx="395640" cy="395640"/>
          </a:xfrm>
          <a:prstGeom prst="ellipse">
            <a:avLst/>
          </a:prstGeom>
          <a:solidFill>
            <a:schemeClr val="bg1">
              <a:lumMod val="95000"/>
            </a:schemeClr>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600" strike="noStrike" u="none">
                <a:solidFill>
                  <a:schemeClr val="dk1"/>
                </a:solidFill>
                <a:effectLst/>
                <a:uFillTx/>
                <a:latin typeface="メイリオ"/>
                <a:ea typeface="メイリオ"/>
              </a:rPr>
              <a:t>ロゴ</a:t>
            </a:r>
            <a:endParaRPr b="0" lang="en-US" sz="600" strike="noStrike" u="none">
              <a:solidFill>
                <a:srgbClr val="000000"/>
              </a:solidFill>
              <a:effectLst/>
              <a:uFillTx/>
              <a:latin typeface="Arial"/>
            </a:endParaRPr>
          </a:p>
        </p:txBody>
      </p:sp>
      <p:sp>
        <p:nvSpPr>
          <p:cNvPr id="596" name="正方形/長方形 33"/>
          <p:cNvSpPr/>
          <p:nvPr/>
        </p:nvSpPr>
        <p:spPr>
          <a:xfrm>
            <a:off x="315360" y="2196720"/>
            <a:ext cx="1778040" cy="399420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97" name="二等辺三角形 34"/>
          <p:cNvSpPr/>
          <p:nvPr/>
        </p:nvSpPr>
        <p:spPr>
          <a:xfrm rot="5400000">
            <a:off x="210888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98" name="二等辺三角形 35"/>
          <p:cNvSpPr/>
          <p:nvPr/>
        </p:nvSpPr>
        <p:spPr>
          <a:xfrm rot="5400000">
            <a:off x="222552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99" name="二等辺三角形 36"/>
          <p:cNvSpPr/>
          <p:nvPr/>
        </p:nvSpPr>
        <p:spPr>
          <a:xfrm rot="5400000">
            <a:off x="234216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600" name="正方形/長方形 37"/>
          <p:cNvSpPr/>
          <p:nvPr/>
        </p:nvSpPr>
        <p:spPr>
          <a:xfrm>
            <a:off x="614520" y="4198320"/>
            <a:ext cx="1153800" cy="24372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lt1"/>
                </a:solidFill>
                <a:effectLst/>
                <a:uFillTx/>
                <a:latin typeface="メイリオ"/>
                <a:ea typeface="メイリオ"/>
              </a:rPr>
              <a:t>フォーム</a:t>
            </a:r>
            <a:endParaRPr b="0" lang="en-US" sz="1100" strike="noStrike" u="none">
              <a:solidFill>
                <a:srgbClr val="000000"/>
              </a:solidFill>
              <a:effectLst/>
              <a:uFillTx/>
              <a:latin typeface="Arial"/>
            </a:endParaRPr>
          </a:p>
        </p:txBody>
      </p:sp>
      <p:pic>
        <p:nvPicPr>
          <p:cNvPr id="601" name="図 39" descr="テキスト, 手紙&#10;&#10;AI 生成コンテンツは誤りを含む可能性があります。"/>
          <p:cNvPicPr/>
          <p:nvPr/>
        </p:nvPicPr>
        <p:blipFill>
          <a:blip r:embed="rId7"/>
          <a:srcRect l="0" t="4582" r="0" b="0"/>
          <a:stretch/>
        </p:blipFill>
        <p:spPr>
          <a:xfrm>
            <a:off x="663480" y="2289240"/>
            <a:ext cx="1047960" cy="1775160"/>
          </a:xfrm>
          <a:prstGeom prst="rect">
            <a:avLst/>
          </a:prstGeom>
          <a:noFill/>
          <a:ln w="0">
            <a:noFill/>
          </a:ln>
        </p:spPr>
      </p:pic>
      <p:pic>
        <p:nvPicPr>
          <p:cNvPr id="602" name="図 40" descr=""/>
          <p:cNvPicPr/>
          <p:nvPr/>
        </p:nvPicPr>
        <p:blipFill>
          <a:blip r:embed="rId8"/>
          <a:stretch/>
        </p:blipFill>
        <p:spPr>
          <a:xfrm>
            <a:off x="641160" y="2325600"/>
            <a:ext cx="494280" cy="85680"/>
          </a:xfrm>
          <a:prstGeom prst="rect">
            <a:avLst/>
          </a:prstGeom>
          <a:noFill/>
          <a:ln w="0">
            <a:noFill/>
          </a:ln>
        </p:spPr>
      </p:pic>
      <p:pic>
        <p:nvPicPr>
          <p:cNvPr id="603" name="図 41" descr=""/>
          <p:cNvPicPr/>
          <p:nvPr/>
        </p:nvPicPr>
        <p:blipFill>
          <a:blip r:embed="rId9"/>
          <a:stretch/>
        </p:blipFill>
        <p:spPr>
          <a:xfrm>
            <a:off x="630360" y="2328120"/>
            <a:ext cx="494280" cy="85680"/>
          </a:xfrm>
          <a:prstGeom prst="rect">
            <a:avLst/>
          </a:prstGeom>
          <a:noFill/>
          <a:ln w="0">
            <a:noFill/>
          </a:ln>
        </p:spPr>
      </p:pic>
      <p:pic>
        <p:nvPicPr>
          <p:cNvPr id="604" name="図 46" descr=""/>
          <p:cNvPicPr/>
          <p:nvPr/>
        </p:nvPicPr>
        <p:blipFill>
          <a:blip r:embed="rId10"/>
          <a:stretch/>
        </p:blipFill>
        <p:spPr>
          <a:xfrm>
            <a:off x="810000" y="3773160"/>
            <a:ext cx="494280" cy="85680"/>
          </a:xfrm>
          <a:prstGeom prst="rect">
            <a:avLst/>
          </a:prstGeom>
          <a:noFill/>
          <a:ln w="0">
            <a:noFill/>
          </a:ln>
        </p:spPr>
      </p:pic>
      <p:pic>
        <p:nvPicPr>
          <p:cNvPr id="605" name="図 54" descr=""/>
          <p:cNvPicPr/>
          <p:nvPr/>
        </p:nvPicPr>
        <p:blipFill>
          <a:blip r:embed="rId11"/>
          <a:stretch/>
        </p:blipFill>
        <p:spPr>
          <a:xfrm>
            <a:off x="647280" y="2445120"/>
            <a:ext cx="1075680" cy="1468080"/>
          </a:xfrm>
          <a:prstGeom prst="rect">
            <a:avLst/>
          </a:prstGeom>
          <a:noFill/>
          <a:ln w="0">
            <a:noFill/>
          </a:ln>
        </p:spPr>
      </p:pic>
      <p:pic>
        <p:nvPicPr>
          <p:cNvPr id="606" name="図 1023" descr=""/>
          <p:cNvPicPr/>
          <p:nvPr/>
        </p:nvPicPr>
        <p:blipFill>
          <a:blip r:embed="rId12"/>
          <a:stretch/>
        </p:blipFill>
        <p:spPr>
          <a:xfrm>
            <a:off x="1125360" y="2303280"/>
            <a:ext cx="560520" cy="133200"/>
          </a:xfrm>
          <a:prstGeom prst="rect">
            <a:avLst/>
          </a:prstGeom>
          <a:noFill/>
          <a:ln w="0">
            <a:noFill/>
          </a:ln>
        </p:spPr>
      </p:pic>
      <p:sp>
        <p:nvSpPr>
          <p:cNvPr id="607" name="テキスト ボックス 1025"/>
          <p:cNvSpPr/>
          <p:nvPr/>
        </p:nvSpPr>
        <p:spPr>
          <a:xfrm>
            <a:off x="-490680" y="4710960"/>
            <a:ext cx="34052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000" strike="noStrike" u="none">
                <a:solidFill>
                  <a:srgbClr val="ff0000"/>
                </a:solidFill>
                <a:effectLst/>
                <a:uFillTx/>
                <a:latin typeface="メイリオ"/>
                <a:ea typeface="メイリオ"/>
              </a:rPr>
              <a:t>※</a:t>
            </a:r>
            <a:r>
              <a:rPr b="1" lang="ja-JP" sz="1000" strike="noStrike" u="none">
                <a:solidFill>
                  <a:srgbClr val="ff0000"/>
                </a:solidFill>
                <a:effectLst/>
                <a:uFillTx/>
                <a:latin typeface="メイリオ"/>
                <a:ea typeface="メイリオ"/>
              </a:rPr>
              <a:t>入力した内容を</a:t>
            </a:r>
            <a:endParaRPr b="0" lang="en-US" sz="1000" strike="noStrike" u="none">
              <a:solidFill>
                <a:srgbClr val="000000"/>
              </a:solidFill>
              <a:effectLst/>
              <a:uFillTx/>
              <a:latin typeface="Arial"/>
            </a:endParaRPr>
          </a:p>
          <a:p>
            <a:pPr algn="ctr" defTabSz="914400">
              <a:lnSpc>
                <a:spcPct val="100000"/>
              </a:lnSpc>
            </a:pPr>
            <a:r>
              <a:rPr b="1" lang="ja-JP" sz="1000" strike="noStrike" u="none">
                <a:solidFill>
                  <a:srgbClr val="ff0000"/>
                </a:solidFill>
                <a:effectLst/>
                <a:uFillTx/>
                <a:latin typeface="メイリオ"/>
                <a:ea typeface="メイリオ"/>
              </a:rPr>
              <a:t>トークに反映が可能。</a:t>
            </a:r>
            <a:endParaRPr b="0" lang="en-US" sz="1000" strike="noStrike" u="none">
              <a:solidFill>
                <a:srgbClr val="000000"/>
              </a:solidFill>
              <a:effectLst/>
              <a:uFillTx/>
              <a:latin typeface="Arial"/>
            </a:endParaRPr>
          </a:p>
        </p:txBody>
      </p:sp>
      <p:sp>
        <p:nvSpPr>
          <p:cNvPr id="608" name="正方形/長方形 1031"/>
          <p:cNvSpPr/>
          <p:nvPr/>
        </p:nvSpPr>
        <p:spPr>
          <a:xfrm>
            <a:off x="2584080" y="2196720"/>
            <a:ext cx="1778040" cy="3994200"/>
          </a:xfrm>
          <a:prstGeom prst="rect">
            <a:avLst/>
          </a:prstGeom>
          <a:solidFill>
            <a:schemeClr val="bg1"/>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609" name="正方形/長方形 1033"/>
          <p:cNvSpPr/>
          <p:nvPr/>
        </p:nvSpPr>
        <p:spPr>
          <a:xfrm>
            <a:off x="2909160" y="4198320"/>
            <a:ext cx="1153800" cy="2437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100" strike="noStrike" u="none">
                <a:solidFill>
                  <a:schemeClr val="lt1"/>
                </a:solidFill>
                <a:effectLst/>
                <a:uFillTx/>
                <a:latin typeface="メイリオ"/>
                <a:ea typeface="メイリオ"/>
              </a:rPr>
              <a:t>CV</a:t>
            </a:r>
            <a:endParaRPr b="0" lang="en-US" sz="1100" strike="noStrike" u="none">
              <a:solidFill>
                <a:srgbClr val="ffffff"/>
              </a:solidFill>
              <a:effectLst/>
              <a:uFillTx/>
              <a:latin typeface="Arial"/>
            </a:endParaRPr>
          </a:p>
        </p:txBody>
      </p:sp>
      <p:sp>
        <p:nvSpPr>
          <p:cNvPr id="610" name="正方形/長方形 1035"/>
          <p:cNvSpPr/>
          <p:nvPr/>
        </p:nvSpPr>
        <p:spPr>
          <a:xfrm>
            <a:off x="2692800" y="4436280"/>
            <a:ext cx="1396440" cy="10447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1" lang="ja-JP" sz="1100" strike="noStrike" u="none">
                <a:solidFill>
                  <a:schemeClr val="dk1">
                    <a:lumMod val="50000"/>
                    <a:lumOff val="50000"/>
                  </a:schemeClr>
                </a:solidFill>
                <a:effectLst/>
                <a:uFillTx/>
                <a:latin typeface="メイリオ"/>
                <a:ea typeface="メイリオ"/>
              </a:rPr>
              <a:t>・購入完了</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lumMod val="50000"/>
                    <a:lumOff val="50000"/>
                  </a:schemeClr>
                </a:solidFill>
                <a:effectLst/>
                <a:uFillTx/>
                <a:latin typeface="メイリオ"/>
                <a:ea typeface="メイリオ"/>
              </a:rPr>
              <a:t>・セミナー予約</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lumMod val="50000"/>
                    <a:lumOff val="50000"/>
                  </a:schemeClr>
                </a:solidFill>
                <a:effectLst/>
                <a:uFillTx/>
                <a:latin typeface="メイリオ"/>
                <a:ea typeface="メイリオ"/>
              </a:rPr>
              <a:t>・登録完了</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lumMod val="50000"/>
                    <a:lumOff val="50000"/>
                  </a:schemeClr>
                </a:solidFill>
                <a:effectLst/>
                <a:uFillTx/>
                <a:latin typeface="メイリオ"/>
                <a:ea typeface="メイリオ"/>
              </a:rPr>
              <a:t>・メルマガ登録</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lumMod val="50000"/>
                    <a:lumOff val="50000"/>
                  </a:schemeClr>
                </a:solidFill>
                <a:effectLst/>
                <a:uFillTx/>
                <a:latin typeface="メイリオ"/>
                <a:ea typeface="メイリオ"/>
              </a:rPr>
              <a:t>・その他</a:t>
            </a:r>
            <a:endParaRPr b="0" lang="en-US" sz="1100" strike="noStrike" u="none">
              <a:solidFill>
                <a:srgbClr val="000000"/>
              </a:solidFill>
              <a:effectLst/>
              <a:uFillTx/>
              <a:latin typeface="Arial"/>
            </a:endParaRPr>
          </a:p>
        </p:txBody>
      </p:sp>
      <p:pic>
        <p:nvPicPr>
          <p:cNvPr id="611" name="図 1037" descr="テキスト, 手紙&#10;&#10;AI 生成コンテンツは誤りを含む可能性があります。"/>
          <p:cNvPicPr/>
          <p:nvPr/>
        </p:nvPicPr>
        <p:blipFill>
          <a:blip r:embed="rId13"/>
          <a:srcRect l="0" t="4582" r="0" b="0"/>
          <a:stretch/>
        </p:blipFill>
        <p:spPr>
          <a:xfrm>
            <a:off x="2977560" y="2296080"/>
            <a:ext cx="1047960" cy="1775160"/>
          </a:xfrm>
          <a:prstGeom prst="rect">
            <a:avLst/>
          </a:prstGeom>
          <a:noFill/>
          <a:ln w="0">
            <a:noFill/>
          </a:ln>
        </p:spPr>
      </p:pic>
      <p:pic>
        <p:nvPicPr>
          <p:cNvPr id="612" name="Picture 2" descr="買い物完了！イラスト｜無料イラスト・フリー素材なら「イラストAC」"/>
          <p:cNvPicPr/>
          <p:nvPr/>
        </p:nvPicPr>
        <p:blipFill>
          <a:blip r:embed="rId14"/>
          <a:srcRect l="20275" t="0" r="23688" b="0"/>
          <a:stretch/>
        </p:blipFill>
        <p:spPr>
          <a:xfrm>
            <a:off x="3866400" y="4627080"/>
            <a:ext cx="394920" cy="529200"/>
          </a:xfrm>
          <a:prstGeom prst="rect">
            <a:avLst/>
          </a:prstGeom>
          <a:noFill/>
          <a:ln w="0">
            <a:noFill/>
          </a:ln>
        </p:spPr>
      </p:pic>
      <p:pic>
        <p:nvPicPr>
          <p:cNvPr id="613" name="図 1039" descr=""/>
          <p:cNvPicPr/>
          <p:nvPr/>
        </p:nvPicPr>
        <p:blipFill>
          <a:blip r:embed="rId15"/>
          <a:stretch/>
        </p:blipFill>
        <p:spPr>
          <a:xfrm>
            <a:off x="2955240" y="2332440"/>
            <a:ext cx="494280" cy="85680"/>
          </a:xfrm>
          <a:prstGeom prst="rect">
            <a:avLst/>
          </a:prstGeom>
          <a:noFill/>
          <a:ln w="0">
            <a:noFill/>
          </a:ln>
        </p:spPr>
      </p:pic>
      <p:pic>
        <p:nvPicPr>
          <p:cNvPr id="614" name="図 1040" descr=""/>
          <p:cNvPicPr/>
          <p:nvPr/>
        </p:nvPicPr>
        <p:blipFill>
          <a:blip r:embed="rId16"/>
          <a:stretch/>
        </p:blipFill>
        <p:spPr>
          <a:xfrm>
            <a:off x="2944440" y="2334960"/>
            <a:ext cx="494280" cy="85680"/>
          </a:xfrm>
          <a:prstGeom prst="rect">
            <a:avLst/>
          </a:prstGeom>
          <a:noFill/>
          <a:ln w="0">
            <a:noFill/>
          </a:ln>
        </p:spPr>
      </p:pic>
      <p:pic>
        <p:nvPicPr>
          <p:cNvPr id="615" name="図 1041" descr=""/>
          <p:cNvPicPr/>
          <p:nvPr/>
        </p:nvPicPr>
        <p:blipFill>
          <a:blip r:embed="rId17"/>
          <a:stretch/>
        </p:blipFill>
        <p:spPr>
          <a:xfrm>
            <a:off x="3124080" y="3780360"/>
            <a:ext cx="494280" cy="85680"/>
          </a:xfrm>
          <a:prstGeom prst="rect">
            <a:avLst/>
          </a:prstGeom>
          <a:noFill/>
          <a:ln w="0">
            <a:noFill/>
          </a:ln>
        </p:spPr>
      </p:pic>
      <p:sp>
        <p:nvSpPr>
          <p:cNvPr id="616" name="テキスト ボックス 1042"/>
          <p:cNvSpPr/>
          <p:nvPr/>
        </p:nvSpPr>
        <p:spPr>
          <a:xfrm>
            <a:off x="1254960" y="5195880"/>
            <a:ext cx="1679040" cy="338040"/>
          </a:xfrm>
          <a:prstGeom prst="rect">
            <a:avLst/>
          </a:prstGeom>
          <a:solidFill>
            <a:schemeClr val="lt1">
              <a:alpha val="56000"/>
            </a:schemeClr>
          </a:solidFill>
          <a:ln w="0">
            <a:noFill/>
          </a:ln>
        </p:spPr>
        <p:style>
          <a:lnRef idx="0"/>
          <a:fillRef idx="0"/>
          <a:effectRef idx="0"/>
          <a:fontRef idx="minor"/>
        </p:style>
        <p:txBody>
          <a:bodyPr lIns="90000" rIns="90000" tIns="45000" bIns="45000" anchor="t">
            <a:spAutoFit/>
          </a:bodyPr>
          <a:p>
            <a:pPr algn="ctr" defTabSz="914400">
              <a:lnSpc>
                <a:spcPct val="100000"/>
              </a:lnSpc>
            </a:pPr>
            <a:r>
              <a:rPr b="1" lang="en-US" sz="800" strike="noStrike" u="none">
                <a:solidFill>
                  <a:schemeClr val="lt1">
                    <a:lumMod val="85000"/>
                  </a:schemeClr>
                </a:solidFill>
                <a:effectLst/>
                <a:uFillTx/>
                <a:latin typeface="メイリオ"/>
                <a:ea typeface="メイリオ"/>
              </a:rPr>
              <a:t>※</a:t>
            </a:r>
            <a:r>
              <a:rPr b="1" lang="ja-JP" sz="800" strike="noStrike" u="none">
                <a:solidFill>
                  <a:schemeClr val="lt1">
                    <a:lumMod val="85000"/>
                  </a:schemeClr>
                </a:solidFill>
                <a:effectLst/>
                <a:uFillTx/>
                <a:latin typeface="メイリオ"/>
                <a:ea typeface="メイリオ"/>
              </a:rPr>
              <a:t>ユーザーの個人情報収集が</a:t>
            </a:r>
            <a:endParaRPr b="0" lang="en-US" sz="800" strike="noStrike" u="none">
              <a:solidFill>
                <a:srgbClr val="000000"/>
              </a:solidFill>
              <a:effectLst/>
              <a:uFillTx/>
              <a:latin typeface="Arial"/>
            </a:endParaRPr>
          </a:p>
          <a:p>
            <a:pPr algn="ctr" defTabSz="914400">
              <a:lnSpc>
                <a:spcPct val="100000"/>
              </a:lnSpc>
            </a:pPr>
            <a:r>
              <a:rPr b="1" lang="ja-JP" sz="800" strike="noStrike" u="none">
                <a:solidFill>
                  <a:schemeClr val="lt1">
                    <a:lumMod val="85000"/>
                  </a:schemeClr>
                </a:solidFill>
                <a:effectLst/>
                <a:uFillTx/>
                <a:latin typeface="メイリオ"/>
                <a:ea typeface="メイリオ"/>
              </a:rPr>
              <a:t>完了したタイミング</a:t>
            </a:r>
            <a:endParaRPr b="0" lang="en-US" sz="800" strike="noStrike" u="none">
              <a:solidFill>
                <a:srgbClr val="000000"/>
              </a:solidFill>
              <a:effectLst/>
              <a:uFillTx/>
              <a:latin typeface="Arial"/>
            </a:endParaRPr>
          </a:p>
        </p:txBody>
      </p:sp>
      <p:grpSp>
        <p:nvGrpSpPr>
          <p:cNvPr id="617" name="グループ化 2"/>
          <p:cNvGrpSpPr/>
          <p:nvPr/>
        </p:nvGrpSpPr>
        <p:grpSpPr>
          <a:xfrm>
            <a:off x="543240" y="777600"/>
            <a:ext cx="3105000" cy="484920"/>
            <a:chOff x="543240" y="777600"/>
            <a:chExt cx="3105000" cy="484920"/>
          </a:xfrm>
        </p:grpSpPr>
        <p:sp>
          <p:nvSpPr>
            <p:cNvPr id="618"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619" name="テキスト ボックス 4"/>
            <p:cNvSpPr/>
            <p:nvPr/>
          </p:nvSpPr>
          <p:spPr>
            <a:xfrm>
              <a:off x="1175400" y="837360"/>
              <a:ext cx="183204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サンクス</a:t>
              </a:r>
              <a:r>
                <a:rPr b="1" lang="en-US" sz="1500" strike="noStrike" u="none">
                  <a:solidFill>
                    <a:schemeClr val="lt1"/>
                  </a:solidFill>
                  <a:effectLst/>
                  <a:uFillTx/>
                  <a:latin typeface="Meiryo"/>
                  <a:ea typeface="Meiryo"/>
                </a:rPr>
                <a:t>LINE</a:t>
              </a:r>
              <a:r>
                <a:rPr b="1" lang="ja-JP" sz="1500" strike="noStrike" u="none">
                  <a:solidFill>
                    <a:schemeClr val="lt1"/>
                  </a:solidFill>
                  <a:effectLst/>
                  <a:uFillTx/>
                  <a:latin typeface="Meiryo"/>
                  <a:ea typeface="Meiryo"/>
                </a:rPr>
                <a:t>誘導</a:t>
              </a:r>
              <a:endParaRPr b="0" lang="en-US" sz="1500" strike="noStrike" u="none">
                <a:solidFill>
                  <a:srgbClr val="000000"/>
                </a:solidFill>
                <a:effectLst/>
                <a:uFillTx/>
                <a:latin typeface="Arial"/>
              </a:endParaRPr>
            </a:p>
          </p:txBody>
        </p:sp>
      </p:grpSp>
      <p:sp>
        <p:nvSpPr>
          <p:cNvPr id="620" name="正方形/長方形 5"/>
          <p:cNvSpPr/>
          <p:nvPr/>
        </p:nvSpPr>
        <p:spPr>
          <a:xfrm>
            <a:off x="8247240" y="4702320"/>
            <a:ext cx="899280" cy="799200"/>
          </a:xfrm>
          <a:prstGeom prst="rect">
            <a:avLst/>
          </a:prstGeom>
          <a:noFill/>
          <a:ln>
            <a:solidFill>
              <a:srgbClr val="ff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cxnSp>
        <p:nvCxnSpPr>
          <p:cNvPr id="621" name="コネクタ: カギ線 6"/>
          <p:cNvCxnSpPr/>
          <p:nvPr/>
        </p:nvCxnSpPr>
        <p:spPr>
          <a:xfrm flipV="1">
            <a:off x="7672680" y="5102280"/>
            <a:ext cx="574920" cy="333000"/>
          </a:xfrm>
          <a:prstGeom prst="bentConnector3">
            <a:avLst>
              <a:gd name="adj1" fmla="val 50000"/>
            </a:avLst>
          </a:prstGeom>
          <a:ln w="15875">
            <a:solidFill>
              <a:srgbClr val="ff0000"/>
            </a:solidFill>
            <a:prstDash val="sysDot"/>
            <a:round/>
            <a:tailEnd len="med" type="triangle" w="med"/>
          </a:ln>
        </p:spPr>
      </p:cxnSp>
      <p:cxnSp>
        <p:nvCxnSpPr>
          <p:cNvPr id="622" name="直線矢印コネクタ 12"/>
          <p:cNvCxnSpPr>
            <a:stCxn id="589" idx="2"/>
            <a:endCxn id="583" idx="0"/>
          </p:cNvCxnSpPr>
          <p:nvPr/>
        </p:nvCxnSpPr>
        <p:spPr>
          <a:xfrm>
            <a:off x="6903720" y="3132000"/>
            <a:ext cx="360" cy="1335240"/>
          </a:xfrm>
          <a:prstGeom prst="straightConnector1">
            <a:avLst/>
          </a:prstGeom>
          <a:ln w="19050">
            <a:solidFill>
              <a:srgbClr val="00b050">
                <a:alpha val="80000"/>
              </a:srgbClr>
            </a:solidFill>
            <a:prstDash val="sysDot"/>
            <a:round/>
            <a:tailEnd len="med" type="triangle" w="med"/>
          </a:ln>
        </p:spPr>
      </p:cxnSp>
      <p:sp>
        <p:nvSpPr>
          <p:cNvPr id="623" name="テキスト ボックス 18"/>
          <p:cNvSpPr/>
          <p:nvPr/>
        </p:nvSpPr>
        <p:spPr>
          <a:xfrm>
            <a:off x="6323760" y="3523680"/>
            <a:ext cx="1161360" cy="261360"/>
          </a:xfrm>
          <a:prstGeom prst="rect">
            <a:avLst/>
          </a:prstGeom>
          <a:solidFill>
            <a:schemeClr val="lt1">
              <a:alpha val="70000"/>
            </a:schemeClr>
          </a:solidFill>
          <a:ln w="0">
            <a:noFill/>
          </a:ln>
        </p:spPr>
        <p:style>
          <a:lnRef idx="0"/>
          <a:fillRef idx="0"/>
          <a:effectRef idx="0"/>
          <a:fontRef idx="minor"/>
        </p:style>
        <p:txBody>
          <a:bodyPr lIns="90000" rIns="90000" tIns="45000" bIns="45000" anchor="t">
            <a:spAutoFit/>
          </a:bodyPr>
          <a:p>
            <a:pPr algn="ctr" defTabSz="914400">
              <a:lnSpc>
                <a:spcPct val="100000"/>
              </a:lnSpc>
            </a:pPr>
            <a:r>
              <a:rPr b="1" lang="ja-JP" sz="1100" strike="noStrike" u="none">
                <a:solidFill>
                  <a:srgbClr val="00c057"/>
                </a:solidFill>
                <a:effectLst/>
                <a:uFillTx/>
                <a:latin typeface="メイリオ"/>
                <a:ea typeface="メイリオ"/>
              </a:rPr>
              <a:t>友だち追加後</a:t>
            </a:r>
            <a:endParaRPr b="0" lang="en-US" sz="1100" strike="noStrike" u="none">
              <a:solidFill>
                <a:srgbClr val="000000"/>
              </a:solidFill>
              <a:effectLst/>
              <a:uFillTx/>
              <a:latin typeface="Arial"/>
            </a:endParaRPr>
          </a:p>
        </p:txBody>
      </p:sp>
      <p:sp>
        <p:nvSpPr>
          <p:cNvPr id="624" name="正方形/長方形 8"/>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600" strike="noStrike" u="none">
                <a:solidFill>
                  <a:schemeClr val="dk1"/>
                </a:solidFill>
                <a:effectLst/>
                <a:uFillTx/>
                <a:latin typeface="Meiryo"/>
                <a:ea typeface="Meiryo"/>
              </a:rPr>
              <a:t>サンクス到達時の</a:t>
            </a:r>
            <a:r>
              <a:rPr b="0" lang="en-US" sz="1600" strike="noStrike" u="none">
                <a:solidFill>
                  <a:schemeClr val="dk1"/>
                </a:solidFill>
                <a:effectLst/>
                <a:uFillTx/>
                <a:latin typeface="Meiryo"/>
                <a:ea typeface="Meiryo"/>
              </a:rPr>
              <a:t>LINE</a:t>
            </a:r>
            <a:r>
              <a:rPr b="0" lang="ja-JP" sz="1600" strike="noStrike" u="none">
                <a:solidFill>
                  <a:schemeClr val="dk1"/>
                </a:solidFill>
                <a:effectLst/>
                <a:uFillTx/>
                <a:latin typeface="Meiryo"/>
                <a:ea typeface="Meiryo"/>
              </a:rPr>
              <a:t>動線が弊社開発により可能に。</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費用を抑えての導入が可能で、新規反響の質改善に寄与。</a:t>
            </a:r>
            <a:endParaRPr b="0" lang="en-US" sz="1600" strike="noStrike" u="none">
              <a:solidFill>
                <a:srgbClr val="000000"/>
              </a:solidFill>
              <a:effectLst/>
              <a:uFillTx/>
              <a:latin typeface="Arial"/>
            </a:endParaRPr>
          </a:p>
        </p:txBody>
      </p:sp>
      <p:sp>
        <p:nvSpPr>
          <p:cNvPr id="625" name="テキスト ボックス 9"/>
          <p:cNvSpPr/>
          <p:nvPr/>
        </p:nvSpPr>
        <p:spPr>
          <a:xfrm>
            <a:off x="4091400" y="1391760"/>
            <a:ext cx="471816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900" strike="noStrike" u="none">
                <a:solidFill>
                  <a:srgbClr val="ff0000"/>
                </a:solidFill>
                <a:effectLst/>
                <a:uFillTx/>
                <a:latin typeface="メイリオ"/>
                <a:ea typeface="メイリオ"/>
              </a:rPr>
              <a:t>※</a:t>
            </a:r>
            <a:r>
              <a:rPr b="0" lang="ja-JP" sz="900" strike="noStrike" u="none">
                <a:solidFill>
                  <a:srgbClr val="ff0000"/>
                </a:solidFill>
                <a:effectLst/>
                <a:uFillTx/>
                <a:latin typeface="メイリオ"/>
                <a:ea typeface="メイリオ"/>
              </a:rPr>
              <a:t>暫定措置として導入済アカウントについては</a:t>
            </a:r>
            <a:r>
              <a:rPr b="0" lang="en-US" sz="900" strike="noStrike" u="none">
                <a:solidFill>
                  <a:srgbClr val="ff0000"/>
                </a:solidFill>
                <a:effectLst/>
                <a:uFillTx/>
                <a:latin typeface="メイリオ"/>
                <a:ea typeface="メイリオ"/>
              </a:rPr>
              <a:t>2026</a:t>
            </a:r>
            <a:r>
              <a:rPr b="0" lang="ja-JP" sz="900" strike="noStrike" u="none">
                <a:solidFill>
                  <a:srgbClr val="ff0000"/>
                </a:solidFill>
                <a:effectLst/>
                <a:uFillTx/>
                <a:latin typeface="メイリオ"/>
                <a:ea typeface="メイリオ"/>
              </a:rPr>
              <a:t>年</a:t>
            </a:r>
            <a:r>
              <a:rPr b="0" lang="en-US" sz="900" strike="noStrike" u="none">
                <a:solidFill>
                  <a:srgbClr val="ff0000"/>
                </a:solidFill>
                <a:effectLst/>
                <a:uFillTx/>
                <a:latin typeface="メイリオ"/>
                <a:ea typeface="メイリオ"/>
              </a:rPr>
              <a:t>7</a:t>
            </a:r>
            <a:r>
              <a:rPr b="0" lang="ja-JP" sz="900" strike="noStrike" u="none">
                <a:solidFill>
                  <a:srgbClr val="ff0000"/>
                </a:solidFill>
                <a:effectLst/>
                <a:uFillTx/>
                <a:latin typeface="メイリオ"/>
                <a:ea typeface="メイリオ"/>
              </a:rPr>
              <a:t>月～の価格改定の予定</a:t>
            </a:r>
            <a:endParaRPr b="0" lang="en-US" sz="900" strike="noStrike" u="none">
              <a:solidFill>
                <a:srgbClr val="000000"/>
              </a:solidFill>
              <a:effectLst/>
              <a:uFillTx/>
              <a:latin typeface="Arial"/>
            </a:endParaRPr>
          </a:p>
        </p:txBody>
      </p:sp>
      <p:sp>
        <p:nvSpPr>
          <p:cNvPr id="626" name="テキスト ボックス 13"/>
          <p:cNvSpPr/>
          <p:nvPr/>
        </p:nvSpPr>
        <p:spPr>
          <a:xfrm>
            <a:off x="4091400" y="1549800"/>
            <a:ext cx="471816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900" strike="noStrike" u="none">
                <a:solidFill>
                  <a:srgbClr val="ff0000"/>
                </a:solidFill>
                <a:effectLst/>
                <a:uFillTx/>
                <a:latin typeface="メイリオ"/>
                <a:ea typeface="メイリオ"/>
              </a:rPr>
              <a:t>※</a:t>
            </a:r>
            <a:r>
              <a:rPr b="0" lang="ja-JP" sz="900" strike="noStrike" u="none">
                <a:solidFill>
                  <a:srgbClr val="ff0000"/>
                </a:solidFill>
                <a:effectLst/>
                <a:uFillTx/>
                <a:latin typeface="メイリオ"/>
                <a:ea typeface="メイリオ"/>
              </a:rPr>
              <a:t>既存</a:t>
            </a:r>
            <a:r>
              <a:rPr b="0" lang="en-US" sz="900" strike="noStrike" u="none">
                <a:solidFill>
                  <a:srgbClr val="ff0000"/>
                </a:solidFill>
                <a:effectLst/>
                <a:uFillTx/>
                <a:latin typeface="メイリオ"/>
                <a:ea typeface="メイリオ"/>
              </a:rPr>
              <a:t>API</a:t>
            </a:r>
            <a:r>
              <a:rPr b="0" lang="ja-JP" sz="900" strike="noStrike" u="none">
                <a:solidFill>
                  <a:srgbClr val="ff0000"/>
                </a:solidFill>
                <a:effectLst/>
                <a:uFillTx/>
                <a:latin typeface="メイリオ"/>
                <a:ea typeface="メイリオ"/>
              </a:rPr>
              <a:t>ツールとの併用についても、問題なく稼働が可能。</a:t>
            </a:r>
            <a:endParaRPr b="0" lang="en-US" sz="900" strike="noStrike" u="none">
              <a:solidFill>
                <a:srgbClr val="000000"/>
              </a:solidFill>
              <a:effectLst/>
              <a:uFillTx/>
              <a:latin typeface="Arial"/>
            </a:endParaRPr>
          </a:p>
        </p:txBody>
      </p:sp>
      <p:sp>
        <p:nvSpPr>
          <p:cNvPr id="627" name="正方形/長方形 7"/>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lt1"/>
                </a:solidFill>
                <a:effectLst/>
                <a:uFillTx/>
                <a:latin typeface="メイリオ"/>
                <a:ea typeface="メイリオ"/>
              </a:rPr>
              <a:t>動作イメージ</a:t>
            </a:r>
            <a:endParaRPr b="0" lang="en-US" sz="1100" strike="noStrike" u="none">
              <a:solidFill>
                <a:srgbClr val="ffffff"/>
              </a:solidFill>
              <a:effectLst/>
              <a:uFillTx/>
              <a:latin typeface="Arial"/>
            </a:endParaRPr>
          </a:p>
        </p:txBody>
      </p:sp>
      <p:sp>
        <p:nvSpPr>
          <p:cNvPr id="628"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10</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629"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3</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ffff00"/>
                </a:solidFill>
                <a:effectLst/>
                <a:uFillTx/>
                <a:latin typeface="Meiryo"/>
                <a:ea typeface="Meiryo"/>
              </a:rPr>
              <a:t>+</a:t>
            </a:r>
            <a:r>
              <a:rPr b="1" lang="ja-JP" sz="1050" strike="noStrike" u="none">
                <a:solidFill>
                  <a:srgbClr val="ffff00"/>
                </a:solidFill>
                <a:effectLst/>
                <a:uFillTx/>
                <a:latin typeface="Meiryo"/>
                <a:ea typeface="Meiryo"/>
              </a:rPr>
              <a:t>設定地点追加</a:t>
            </a:r>
            <a:endParaRPr b="0" lang="en-US" sz="1050" strike="noStrike" u="none">
              <a:solidFill>
                <a:srgbClr val="ffffff"/>
              </a:solidFill>
              <a:effectLst/>
              <a:uFillTx/>
              <a:latin typeface="Arial"/>
            </a:endParaRPr>
          </a:p>
        </p:txBody>
      </p:sp>
      <p:cxnSp>
        <p:nvCxnSpPr>
          <p:cNvPr id="630" name="コネクタ: カギ線 29"/>
          <p:cNvCxnSpPr/>
          <p:nvPr/>
        </p:nvCxnSpPr>
        <p:spPr>
          <a:xfrm>
            <a:off x="1211760" y="5130000"/>
            <a:ext cx="4597200" cy="431280"/>
          </a:xfrm>
          <a:prstGeom prst="bentConnector3">
            <a:avLst>
              <a:gd name="adj1" fmla="val 50003"/>
            </a:avLst>
          </a:prstGeom>
          <a:ln w="15875">
            <a:solidFill>
              <a:srgbClr val="ff0000"/>
            </a:solidFill>
            <a:prstDash val="sysDot"/>
            <a:round/>
            <a:tailEnd len="med" type="triangle" w="med"/>
          </a:ln>
        </p:spPr>
      </p:cxnSp>
      <p:sp>
        <p:nvSpPr>
          <p:cNvPr id="631" name="テキスト ボックス 49"/>
          <p:cNvSpPr/>
          <p:nvPr/>
        </p:nvSpPr>
        <p:spPr>
          <a:xfrm>
            <a:off x="115200" y="5639400"/>
            <a:ext cx="5785560" cy="461160"/>
          </a:xfrm>
          <a:prstGeom prst="rect">
            <a:avLst/>
          </a:prstGeom>
          <a:solidFill>
            <a:schemeClr val="lt1">
              <a:alpha val="62000"/>
            </a:schemeClr>
          </a:solidFill>
          <a:ln w="0">
            <a:noFill/>
          </a:ln>
        </p:spPr>
        <p:style>
          <a:lnRef idx="0"/>
          <a:fillRef idx="0"/>
          <a:effectRef idx="0"/>
          <a:fontRef idx="minor"/>
        </p:style>
        <p:txBody>
          <a:bodyPr lIns="90000" rIns="90000" tIns="45000" bIns="45000" anchor="t">
            <a:spAutoFit/>
          </a:bodyPr>
          <a:p>
            <a:pPr algn="ctr" defTabSz="914400">
              <a:lnSpc>
                <a:spcPct val="100000"/>
              </a:lnSpc>
            </a:pPr>
            <a:r>
              <a:rPr b="0" lang="ja-JP" sz="1200" strike="noStrike" u="none">
                <a:solidFill>
                  <a:schemeClr val="dk1"/>
                </a:solidFill>
                <a:effectLst/>
                <a:uFillTx/>
                <a:latin typeface="メイリオ"/>
                <a:ea typeface="メイリオ"/>
              </a:rPr>
              <a:t>高開封率の</a:t>
            </a:r>
            <a:r>
              <a:rPr b="0" lang="en-US" sz="1200" strike="noStrike" u="none">
                <a:solidFill>
                  <a:schemeClr val="dk1"/>
                </a:solidFill>
                <a:effectLst/>
                <a:uFillTx/>
                <a:latin typeface="メイリオ"/>
                <a:ea typeface="メイリオ"/>
              </a:rPr>
              <a:t>LINE</a:t>
            </a:r>
            <a:r>
              <a:rPr b="0" lang="ja-JP" sz="1200" strike="noStrike" u="none">
                <a:solidFill>
                  <a:schemeClr val="dk1"/>
                </a:solidFill>
                <a:effectLst/>
                <a:uFillTx/>
                <a:latin typeface="メイリオ"/>
                <a:ea typeface="メイリオ"/>
              </a:rPr>
              <a:t>に誘導して反響→実売上への引上げ率、リピート率改善。</a:t>
            </a:r>
            <a:endParaRPr b="0" lang="en-US" sz="1200" strike="noStrike" u="none">
              <a:solidFill>
                <a:srgbClr val="000000"/>
              </a:solidFill>
              <a:effectLst/>
              <a:uFillTx/>
              <a:latin typeface="Arial"/>
            </a:endParaRPr>
          </a:p>
          <a:p>
            <a:pPr algn="ctr" defTabSz="914400">
              <a:lnSpc>
                <a:spcPct val="100000"/>
              </a:lnSpc>
            </a:pPr>
            <a:r>
              <a:rPr b="0" lang="en-US" sz="1200" strike="noStrike" u="none">
                <a:solidFill>
                  <a:schemeClr val="dk1"/>
                </a:solidFill>
                <a:effectLst/>
                <a:uFillTx/>
                <a:latin typeface="メイリオ"/>
                <a:ea typeface="メイリオ"/>
              </a:rPr>
              <a:t> </a:t>
            </a:r>
            <a:r>
              <a:rPr b="1" lang="ja-JP" sz="1200" strike="noStrike" u="none">
                <a:solidFill>
                  <a:srgbClr val="ff0000"/>
                </a:solidFill>
                <a:effectLst/>
                <a:uFillTx/>
                <a:latin typeface="メイリオ"/>
                <a:ea typeface="メイリオ"/>
              </a:rPr>
              <a:t>弊社運用の美容クリニック様では、予約後来院率にて</a:t>
            </a:r>
            <a:r>
              <a:rPr b="1" lang="en-US" sz="1200" strike="noStrike" u="none">
                <a:solidFill>
                  <a:srgbClr val="ff0000"/>
                </a:solidFill>
                <a:effectLst/>
                <a:uFillTx/>
                <a:latin typeface="メイリオ"/>
                <a:ea typeface="メイリオ"/>
              </a:rPr>
              <a:t>40-50%</a:t>
            </a:r>
            <a:r>
              <a:rPr b="1" lang="ja-JP" sz="1200" strike="noStrike" u="none">
                <a:solidFill>
                  <a:srgbClr val="ff0000"/>
                </a:solidFill>
                <a:effectLst/>
                <a:uFillTx/>
                <a:latin typeface="メイリオ"/>
                <a:ea typeface="メイリオ"/>
              </a:rPr>
              <a:t>程度の改善を実現</a:t>
            </a:r>
            <a:r>
              <a:rPr b="0" lang="ja-JP"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632" name="正方形/長方形 17"/>
          <p:cNvSpPr/>
          <p:nvPr/>
        </p:nvSpPr>
        <p:spPr>
          <a:xfrm>
            <a:off x="396720" y="694440"/>
            <a:ext cx="3469320" cy="1188720"/>
          </a:xfrm>
          <a:prstGeom prst="rect">
            <a:avLst/>
          </a:prstGeom>
          <a:solidFill>
            <a:schemeClr val="lt1">
              <a:alpha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資料アジェンダ</a:t>
            </a:r>
            <a:endParaRPr b="0" lang="en-US" sz="1600" strike="noStrike" u="none">
              <a:solidFill>
                <a:srgbClr val="000000"/>
              </a:solidFill>
              <a:effectLst/>
              <a:uFillTx/>
              <a:latin typeface="Arial"/>
            </a:endParaRPr>
          </a:p>
        </p:txBody>
      </p:sp>
      <p:sp>
        <p:nvSpPr>
          <p:cNvPr id="634" name="正方形/長方形 1"/>
          <p:cNvSpPr/>
          <p:nvPr/>
        </p:nvSpPr>
        <p:spPr>
          <a:xfrm>
            <a:off x="4245120" y="3038040"/>
            <a:ext cx="141552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ja-JP" sz="3200" strike="noStrike" u="none">
                <a:solidFill>
                  <a:schemeClr val="dk1">
                    <a:lumMod val="75000"/>
                    <a:lumOff val="25000"/>
                  </a:schemeClr>
                </a:solidFill>
                <a:effectLst/>
                <a:uFillTx/>
                <a:latin typeface="メイリオ"/>
                <a:ea typeface="メイリオ"/>
              </a:rPr>
              <a:t>費用感</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弊社からご提供できる運用プラン</a:t>
            </a:r>
            <a:endParaRPr b="0" lang="en-US" sz="1600" strike="noStrike" u="none">
              <a:solidFill>
                <a:srgbClr val="000000"/>
              </a:solidFill>
              <a:effectLst/>
              <a:uFillTx/>
              <a:latin typeface="Arial"/>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プラン比較</a:t>
            </a:r>
            <a:endParaRPr b="0" lang="en-US" sz="1400" strike="noStrike" u="none">
              <a:solidFill>
                <a:srgbClr val="ffffff"/>
              </a:solidFill>
              <a:effectLst/>
              <a:uFillTx/>
              <a:latin typeface="Arial"/>
            </a:endParaRPr>
          </a:p>
        </p:txBody>
      </p:sp>
      <p:sp>
        <p:nvSpPr>
          <p:cNvPr id="637" name="Google Shape;752;p28"/>
          <p:cNvSpPr/>
          <p:nvPr/>
        </p:nvSpPr>
        <p:spPr>
          <a:xfrm>
            <a:off x="2983680" y="783000"/>
            <a:ext cx="66196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chemeClr val="dk1"/>
                </a:solidFill>
                <a:effectLst/>
                <a:uFillTx/>
                <a:latin typeface="メイリオ"/>
                <a:ea typeface="メイリオ"/>
              </a:rPr>
              <a:t>ご希望の運用範囲に合わせて、</a:t>
            </a:r>
            <a:r>
              <a:rPr b="1" lang="en-US" sz="1600" strike="noStrike" u="none">
                <a:solidFill>
                  <a:schemeClr val="dk1"/>
                </a:solidFill>
                <a:effectLst/>
                <a:uFillTx/>
                <a:latin typeface="メイリオ"/>
                <a:ea typeface="メイリオ"/>
              </a:rPr>
              <a:t>3</a:t>
            </a:r>
            <a:r>
              <a:rPr b="1" lang="ja-JP" sz="1600" strike="noStrike" u="none">
                <a:solidFill>
                  <a:schemeClr val="dk1"/>
                </a:solidFill>
                <a:effectLst/>
                <a:uFillTx/>
                <a:latin typeface="メイリオ"/>
                <a:ea typeface="メイリオ"/>
              </a:rPr>
              <a:t>つのプランをご用意しました。</a:t>
            </a:r>
            <a:endParaRPr b="0" lang="en-US" sz="1600" strike="noStrike" u="none">
              <a:solidFill>
                <a:srgbClr val="000000"/>
              </a:solidFill>
              <a:effectLst/>
              <a:uFillTx/>
              <a:latin typeface="Arial"/>
            </a:endParaRPr>
          </a:p>
        </p:txBody>
      </p:sp>
      <p:sp>
        <p:nvSpPr>
          <p:cNvPr id="638"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zh-CN" sz="1400" strike="noStrike" u="none">
                <a:solidFill>
                  <a:schemeClr val="lt1"/>
                </a:solidFill>
                <a:effectLst/>
                <a:uFillTx/>
                <a:latin typeface="メイリオ"/>
                <a:ea typeface="メイリオ"/>
              </a:rPr>
              <a:t>あらうち様向けプラン</a:t>
            </a:r>
            <a:endParaRPr b="0" lang="en-US" sz="1400" strike="noStrike" u="none">
              <a:solidFill>
                <a:srgbClr val="ffffff"/>
              </a:solidFill>
              <a:effectLst/>
              <a:uFillTx/>
              <a:latin typeface="Arial"/>
            </a:endParaRPr>
          </a:p>
        </p:txBody>
      </p:sp>
      <p:graphicFrame>
        <p:nvGraphicFramePr>
          <p:cNvPr id="639" name="プラン比較表 17"/>
          <p:cNvGraphicFramePr/>
          <p:nvPr/>
        </p:nvGraphicFramePr>
        <p:xfrm>
          <a:off x="384120" y="1353240"/>
          <a:ext cx="9143640" cy="4087080"/>
        </p:xfrm>
        <a:graphic>
          <a:graphicData uri="http://schemas.openxmlformats.org/drawingml/2006/table">
            <a:tbl>
              <a:tblPr/>
              <a:tblGrid>
                <a:gridCol w="2011680"/>
                <a:gridCol w="2377440"/>
                <a:gridCol w="2377440"/>
                <a:gridCol w="2377440"/>
              </a:tblGrid>
              <a:tr h="548640">
                <a:tc>
                  <a:txBody>
                    <a:bodyPr lIns="73080" rIns="73080" tIns="27360" bIns="27360" anchor="ctr">
                      <a:noAutofit/>
                    </a:bodyPr>
                    <a:p>
                      <a:pPr algn="ctr" defTabSz="914400">
                        <a:lnSpc>
                          <a:spcPct val="100000"/>
                        </a:lnSpc>
                      </a:pPr>
                      <a:r>
                        <a:rPr b="1" lang="ja-JP" sz="1400" strike="noStrike" u="none">
                          <a:solidFill>
                            <a:srgbClr val="ffffff"/>
                          </a:solidFill>
                          <a:effectLst/>
                          <a:uFillTx/>
                          <a:latin typeface="メイリオ"/>
                          <a:ea typeface="メイリオ"/>
                        </a:rPr>
                        <a:t>項目</a:t>
                      </a:r>
                      <a:endParaRPr b="0" lang="en-US" sz="1400" strike="noStrike" u="none">
                        <a:solidFill>
                          <a:srgbClr val="ffffff"/>
                        </a:solidFill>
                        <a:effectLst/>
                        <a:uFillTx/>
                        <a:latin typeface="Arial"/>
                      </a:endParaRPr>
                    </a:p>
                  </a:txBody>
                  <a:tcPr anchor="ctr" marL="73080" marR="73080">
                    <a:lnL w="9360">
                      <a:solidFill>
                        <a:srgbClr val="ffffff"/>
                      </a:solidFill>
                      <a:prstDash val="solid"/>
                    </a:lnL>
                    <a:lnR w="9360">
                      <a:solidFill>
                        <a:srgbClr val="ffffff"/>
                      </a:solidFill>
                      <a:prstDash val="solid"/>
                    </a:lnR>
                    <a:lnT w="9360">
                      <a:solidFill>
                        <a:srgbClr val="1f285a"/>
                      </a:solidFill>
                      <a:prstDash val="solid"/>
                    </a:lnT>
                    <a:lnB w="18720">
                      <a:solidFill>
                        <a:srgbClr val="1f285a"/>
                      </a:solidFill>
                      <a:prstDash val="solid"/>
                    </a:lnB>
                    <a:solidFill>
                      <a:srgbClr val="1f285a"/>
                    </a:solidFill>
                  </a:tcPr>
                </a:tc>
                <a:tc>
                  <a:txBody>
                    <a:bodyPr lIns="73080" rIns="73080" tIns="27360" bIns="27360" anchor="ctr">
                      <a:noAutofit/>
                    </a:bodyPr>
                    <a:p>
                      <a:pPr algn="ctr" defTabSz="914400">
                        <a:lnSpc>
                          <a:spcPct val="100000"/>
                        </a:lnSpc>
                      </a:pPr>
                      <a:r>
                        <a:rPr b="1" lang="ja-JP" sz="1400" strike="noStrike" u="none">
                          <a:solidFill>
                            <a:srgbClr val="ffffff"/>
                          </a:solidFill>
                          <a:effectLst/>
                          <a:uFillTx/>
                          <a:latin typeface="メイリオ"/>
                          <a:ea typeface="メイリオ"/>
                        </a:rPr>
                        <a:t>プラン①｜総合運用</a:t>
                      </a:r>
                      <a:endParaRPr b="0" lang="en-US" sz="1400" strike="noStrike" u="none">
                        <a:solidFill>
                          <a:srgbClr val="ffffff"/>
                        </a:solidFill>
                        <a:effectLst/>
                        <a:uFillTx/>
                        <a:latin typeface="Arial"/>
                      </a:endParaRPr>
                    </a:p>
                  </a:txBody>
                  <a:tcPr anchor="ctr" marL="73080" marR="73080">
                    <a:lnL w="9360">
                      <a:solidFill>
                        <a:srgbClr val="ffffff"/>
                      </a:solidFill>
                      <a:prstDash val="solid"/>
                    </a:lnL>
                    <a:lnR w="9360">
                      <a:solidFill>
                        <a:srgbClr val="ffffff"/>
                      </a:solidFill>
                      <a:prstDash val="solid"/>
                    </a:lnR>
                    <a:lnT w="9360">
                      <a:solidFill>
                        <a:srgbClr val="1f285a"/>
                      </a:solidFill>
                      <a:prstDash val="solid"/>
                    </a:lnT>
                    <a:lnB w="18720">
                      <a:solidFill>
                        <a:srgbClr val="1f285a"/>
                      </a:solidFill>
                      <a:prstDash val="solid"/>
                    </a:lnB>
                    <a:solidFill>
                      <a:srgbClr val="1f285a"/>
                    </a:solidFill>
                  </a:tcPr>
                </a:tc>
                <a:tc>
                  <a:txBody>
                    <a:bodyPr lIns="73080" rIns="73080" tIns="27360" bIns="27360" anchor="ctr">
                      <a:noAutofit/>
                    </a:bodyPr>
                    <a:p>
                      <a:pPr algn="ctr" defTabSz="914400">
                        <a:lnSpc>
                          <a:spcPct val="100000"/>
                        </a:lnSpc>
                      </a:pPr>
                      <a:r>
                        <a:rPr b="1" lang="ja-JP" sz="1400" strike="noStrike" u="none">
                          <a:solidFill>
                            <a:srgbClr val="ffffff"/>
                          </a:solidFill>
                          <a:effectLst/>
                          <a:uFillTx/>
                          <a:latin typeface="メイリオ"/>
                          <a:ea typeface="メイリオ"/>
                        </a:rPr>
                        <a:t>プラン②｜獲得重視</a:t>
                      </a:r>
                      <a:endParaRPr b="0" lang="en-US" sz="1400" strike="noStrike" u="none">
                        <a:solidFill>
                          <a:srgbClr val="ffffff"/>
                        </a:solidFill>
                        <a:effectLst/>
                        <a:uFillTx/>
                        <a:latin typeface="Arial"/>
                      </a:endParaRPr>
                    </a:p>
                  </a:txBody>
                  <a:tcPr anchor="ctr" marL="73080" marR="73080">
                    <a:lnL w="9360">
                      <a:solidFill>
                        <a:srgbClr val="ffffff"/>
                      </a:solidFill>
                      <a:prstDash val="solid"/>
                    </a:lnL>
                    <a:lnR w="9360">
                      <a:solidFill>
                        <a:srgbClr val="ffffff"/>
                      </a:solidFill>
                      <a:prstDash val="solid"/>
                    </a:lnR>
                    <a:lnT w="9360">
                      <a:solidFill>
                        <a:srgbClr val="1f285a"/>
                      </a:solidFill>
                      <a:prstDash val="solid"/>
                    </a:lnT>
                    <a:lnB w="18720">
                      <a:solidFill>
                        <a:srgbClr val="1f285a"/>
                      </a:solidFill>
                      <a:prstDash val="solid"/>
                    </a:lnB>
                    <a:solidFill>
                      <a:srgbClr val="1f285a"/>
                    </a:solidFill>
                  </a:tcPr>
                </a:tc>
                <a:tc>
                  <a:txBody>
                    <a:bodyPr lIns="73080" rIns="73080" tIns="27360" bIns="27360" anchor="ctr">
                      <a:noAutofit/>
                    </a:bodyPr>
                    <a:p>
                      <a:pPr algn="ctr" defTabSz="914400">
                        <a:lnSpc>
                          <a:spcPct val="100000"/>
                        </a:lnSpc>
                      </a:pPr>
                      <a:r>
                        <a:rPr b="1" lang="ja-JP" sz="1400" strike="noStrike" u="none">
                          <a:solidFill>
                            <a:srgbClr val="ffffff"/>
                          </a:solidFill>
                          <a:effectLst/>
                          <a:uFillTx/>
                          <a:latin typeface="メイリオ"/>
                          <a:ea typeface="メイリオ"/>
                        </a:rPr>
                        <a:t>プラン③｜初期導入</a:t>
                      </a:r>
                      <a:endParaRPr b="0" lang="en-US" sz="1400" strike="noStrike" u="none">
                        <a:solidFill>
                          <a:srgbClr val="ffffff"/>
                        </a:solidFill>
                        <a:effectLst/>
                        <a:uFillTx/>
                        <a:latin typeface="Arial"/>
                      </a:endParaRPr>
                    </a:p>
                  </a:txBody>
                  <a:tcPr anchor="ctr" marL="73080" marR="73080">
                    <a:lnL w="9360">
                      <a:solidFill>
                        <a:srgbClr val="ffffff"/>
                      </a:solidFill>
                      <a:prstDash val="solid"/>
                    </a:lnL>
                    <a:lnR w="9360">
                      <a:solidFill>
                        <a:srgbClr val="ffffff"/>
                      </a:solidFill>
                      <a:prstDash val="solid"/>
                    </a:lnR>
                    <a:lnT w="9360">
                      <a:solidFill>
                        <a:srgbClr val="1f285a"/>
                      </a:solidFill>
                      <a:prstDash val="solid"/>
                    </a:lnT>
                    <a:lnB w="18720">
                      <a:solidFill>
                        <a:srgbClr val="1f285a"/>
                      </a:solidFill>
                      <a:prstDash val="solid"/>
                    </a:lnB>
                    <a:solidFill>
                      <a:srgbClr val="1f285a"/>
                    </a:solidFill>
                  </a:tcPr>
                </a:tc>
              </a:tr>
              <a:tr h="393120">
                <a:tc>
                  <a:txBody>
                    <a:bodyPr lIns="73080" rIns="73080" tIns="27360" bIns="27360" anchor="ctr">
                      <a:noAutofit/>
                    </a:bodyPr>
                    <a:p>
                      <a:pPr algn="ctr" defTabSz="914400">
                        <a:lnSpc>
                          <a:spcPct val="100000"/>
                        </a:lnSpc>
                      </a:pPr>
                      <a:r>
                        <a:rPr b="1" lang="ja-JP" sz="1300" strike="noStrike" u="none">
                          <a:solidFill>
                            <a:srgbClr val="1f285a"/>
                          </a:solidFill>
                          <a:effectLst/>
                          <a:uFillTx/>
                          <a:latin typeface="メイリオ"/>
                          <a:ea typeface="メイリオ"/>
                        </a:rPr>
                        <a:t>初期費用</a:t>
                      </a:r>
                      <a:endParaRPr b="0" lang="en-US" sz="13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e8ecf6"/>
                    </a:solidFill>
                  </a:tcPr>
                </a:tc>
                <a:tc>
                  <a:txBody>
                    <a:bodyPr lIns="73080" rIns="73080" tIns="27360" bIns="27360" anchor="ctr">
                      <a:noAutofit/>
                    </a:bodyPr>
                    <a:p>
                      <a:pPr algn="ctr" defTabSz="914400">
                        <a:lnSpc>
                          <a:spcPct val="100000"/>
                        </a:lnSpc>
                      </a:pPr>
                      <a:r>
                        <a:rPr b="0" lang="en-US" sz="1400" strike="noStrike" u="none">
                          <a:solidFill>
                            <a:srgbClr val="333333"/>
                          </a:solidFill>
                          <a:effectLst/>
                          <a:uFillTx/>
                          <a:latin typeface="メイリオ"/>
                          <a:ea typeface="メイリオ"/>
                        </a:rPr>
                        <a:t>21.5</a:t>
                      </a:r>
                      <a:r>
                        <a:rPr b="0" lang="ja-JP" sz="1400" strike="noStrike" u="none">
                          <a:solidFill>
                            <a:srgbClr val="333333"/>
                          </a:solidFill>
                          <a:effectLst/>
                          <a:uFillTx/>
                          <a:latin typeface="メイリオ"/>
                          <a:ea typeface="メイリオ"/>
                        </a:rPr>
                        <a:t>万円</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c>
                  <a:txBody>
                    <a:bodyPr lIns="73080" rIns="73080" tIns="27360" bIns="27360" anchor="ctr">
                      <a:noAutofit/>
                    </a:bodyPr>
                    <a:p>
                      <a:pPr algn="ctr" defTabSz="914400">
                        <a:lnSpc>
                          <a:spcPct val="100000"/>
                        </a:lnSpc>
                      </a:pPr>
                      <a:r>
                        <a:rPr b="0" lang="en-US" sz="1400" strike="noStrike" u="none">
                          <a:solidFill>
                            <a:srgbClr val="333333"/>
                          </a:solidFill>
                          <a:effectLst/>
                          <a:uFillTx/>
                          <a:latin typeface="メイリオ"/>
                          <a:ea typeface="メイリオ"/>
                        </a:rPr>
                        <a:t>21.5</a:t>
                      </a:r>
                      <a:r>
                        <a:rPr b="0" lang="ja-JP" sz="1400" strike="noStrike" u="none">
                          <a:solidFill>
                            <a:srgbClr val="333333"/>
                          </a:solidFill>
                          <a:effectLst/>
                          <a:uFillTx/>
                          <a:latin typeface="メイリオ"/>
                          <a:ea typeface="メイリオ"/>
                        </a:rPr>
                        <a:t>万円</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c>
                  <a:txBody>
                    <a:bodyPr lIns="73080" rIns="73080" tIns="27360" bIns="27360" anchor="ctr">
                      <a:noAutofit/>
                    </a:bodyPr>
                    <a:p>
                      <a:pPr algn="ctr" defTabSz="914400">
                        <a:lnSpc>
                          <a:spcPct val="100000"/>
                        </a:lnSpc>
                      </a:pPr>
                      <a:r>
                        <a:rPr b="0" lang="en-US" sz="1400" strike="noStrike" u="none">
                          <a:solidFill>
                            <a:srgbClr val="333333"/>
                          </a:solidFill>
                          <a:effectLst/>
                          <a:uFillTx/>
                          <a:latin typeface="メイリオ"/>
                          <a:ea typeface="メイリオ"/>
                        </a:rPr>
                        <a:t>21.5</a:t>
                      </a:r>
                      <a:r>
                        <a:rPr b="0" lang="ja-JP" sz="1400" strike="noStrike" u="none">
                          <a:solidFill>
                            <a:srgbClr val="333333"/>
                          </a:solidFill>
                          <a:effectLst/>
                          <a:uFillTx/>
                          <a:latin typeface="メイリオ"/>
                          <a:ea typeface="メイリオ"/>
                        </a:rPr>
                        <a:t>万円</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r>
              <a:tr h="393120">
                <a:tc>
                  <a:txBody>
                    <a:bodyPr lIns="73080" rIns="73080" tIns="27360" bIns="27360" anchor="ctr">
                      <a:noAutofit/>
                    </a:bodyPr>
                    <a:p>
                      <a:pPr algn="ctr" defTabSz="914400">
                        <a:lnSpc>
                          <a:spcPct val="100000"/>
                        </a:lnSpc>
                      </a:pPr>
                      <a:r>
                        <a:rPr b="1" lang="ja-JP" sz="1300" strike="noStrike" u="none">
                          <a:solidFill>
                            <a:srgbClr val="1f285a"/>
                          </a:solidFill>
                          <a:effectLst/>
                          <a:uFillTx/>
                          <a:latin typeface="メイリオ"/>
                          <a:ea typeface="メイリオ"/>
                        </a:rPr>
                        <a:t>月額コンサル費</a:t>
                      </a:r>
                      <a:endParaRPr b="0" lang="en-US" sz="13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e8ecf6"/>
                    </a:solidFill>
                  </a:tcPr>
                </a:tc>
                <a:tc>
                  <a:txBody>
                    <a:bodyPr lIns="73080" rIns="73080" tIns="27360" bIns="27360" anchor="ctr">
                      <a:noAutofit/>
                    </a:bodyPr>
                    <a:p>
                      <a:pPr algn="ctr" defTabSz="914400">
                        <a:lnSpc>
                          <a:spcPct val="100000"/>
                        </a:lnSpc>
                      </a:pPr>
                      <a:r>
                        <a:rPr b="0" lang="en-US" sz="1400" strike="noStrike" u="none">
                          <a:solidFill>
                            <a:srgbClr val="333333"/>
                          </a:solidFill>
                          <a:effectLst/>
                          <a:uFillTx/>
                          <a:latin typeface="メイリオ"/>
                          <a:ea typeface="メイリオ"/>
                        </a:rPr>
                        <a:t>10</a:t>
                      </a:r>
                      <a:r>
                        <a:rPr b="0" lang="ja-JP" sz="1400" strike="noStrike" u="none">
                          <a:solidFill>
                            <a:srgbClr val="333333"/>
                          </a:solidFill>
                          <a:effectLst/>
                          <a:uFillTx/>
                          <a:latin typeface="メイリオ"/>
                          <a:ea typeface="メイリオ"/>
                        </a:rPr>
                        <a:t>万円</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c>
                  <a:txBody>
                    <a:bodyPr lIns="73080" rIns="73080" tIns="27360" bIns="27360" anchor="ctr">
                      <a:noAutofit/>
                    </a:bodyPr>
                    <a:p>
                      <a:pPr algn="ctr" defTabSz="914400">
                        <a:lnSpc>
                          <a:spcPct val="100000"/>
                        </a:lnSpc>
                      </a:pPr>
                      <a:r>
                        <a:rPr b="0" lang="en-US" sz="1400" strike="noStrike" u="none">
                          <a:solidFill>
                            <a:srgbClr val="333333"/>
                          </a:solidFill>
                          <a:effectLst/>
                          <a:uFillTx/>
                          <a:latin typeface="メイリオ"/>
                          <a:ea typeface="メイリオ"/>
                        </a:rPr>
                        <a:t>5</a:t>
                      </a:r>
                      <a:r>
                        <a:rPr b="0" lang="ja-JP" sz="1400" strike="noStrike" u="none">
                          <a:solidFill>
                            <a:srgbClr val="333333"/>
                          </a:solidFill>
                          <a:effectLst/>
                          <a:uFillTx/>
                          <a:latin typeface="メイリオ"/>
                          <a:ea typeface="メイリオ"/>
                        </a:rPr>
                        <a:t>万円</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なし</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r>
              <a:tr h="393120">
                <a:tc>
                  <a:txBody>
                    <a:bodyPr lIns="73080" rIns="73080" tIns="27360" bIns="27360" anchor="ctr">
                      <a:noAutofit/>
                    </a:bodyPr>
                    <a:p>
                      <a:pPr algn="ctr" defTabSz="914400">
                        <a:lnSpc>
                          <a:spcPct val="100000"/>
                        </a:lnSpc>
                      </a:pPr>
                      <a:r>
                        <a:rPr b="1" lang="ja-JP" sz="1300" strike="noStrike" u="none">
                          <a:solidFill>
                            <a:srgbClr val="1f285a"/>
                          </a:solidFill>
                          <a:effectLst/>
                          <a:uFillTx/>
                          <a:latin typeface="メイリオ"/>
                          <a:ea typeface="メイリオ"/>
                        </a:rPr>
                        <a:t>月額ツール・</a:t>
                      </a:r>
                      <a:r>
                        <a:rPr b="1" lang="en-US" sz="1300" strike="noStrike" u="none">
                          <a:solidFill>
                            <a:srgbClr val="1f285a"/>
                          </a:solidFill>
                          <a:effectLst/>
                          <a:uFillTx/>
                          <a:latin typeface="メイリオ"/>
                          <a:ea typeface="メイリオ"/>
                        </a:rPr>
                        <a:t>LINE</a:t>
                      </a:r>
                      <a:r>
                        <a:rPr b="1" lang="ja-JP" sz="1300" strike="noStrike" u="none">
                          <a:solidFill>
                            <a:srgbClr val="1f285a"/>
                          </a:solidFill>
                          <a:effectLst/>
                          <a:uFillTx/>
                          <a:latin typeface="メイリオ"/>
                          <a:ea typeface="メイリオ"/>
                        </a:rPr>
                        <a:t>費</a:t>
                      </a:r>
                      <a:endParaRPr b="0" lang="en-US" sz="13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e8ecf6"/>
                    </a:solidFill>
                  </a:tcPr>
                </a:tc>
                <a:tc>
                  <a:txBody>
                    <a:bodyPr lIns="73080" rIns="73080" tIns="27360" bIns="27360" anchor="ctr">
                      <a:noAutofit/>
                    </a:bodyPr>
                    <a:p>
                      <a:pPr algn="ctr" defTabSz="914400">
                        <a:lnSpc>
                          <a:spcPct val="100000"/>
                        </a:lnSpc>
                      </a:pPr>
                      <a:r>
                        <a:rPr b="0" lang="en-US" sz="1400" strike="noStrike" u="none">
                          <a:solidFill>
                            <a:srgbClr val="333333"/>
                          </a:solidFill>
                          <a:effectLst/>
                          <a:uFillTx/>
                          <a:latin typeface="メイリオ"/>
                          <a:ea typeface="メイリオ"/>
                        </a:rPr>
                        <a:t>3.5</a:t>
                      </a:r>
                      <a:r>
                        <a:rPr b="0" lang="ja-JP" sz="1400" strike="noStrike" u="none">
                          <a:solidFill>
                            <a:srgbClr val="333333"/>
                          </a:solidFill>
                          <a:effectLst/>
                          <a:uFillTx/>
                          <a:latin typeface="メイリオ"/>
                          <a:ea typeface="メイリオ"/>
                        </a:rPr>
                        <a:t>万円</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c>
                  <a:txBody>
                    <a:bodyPr lIns="73080" rIns="73080" tIns="27360" bIns="27360" anchor="ctr">
                      <a:noAutofit/>
                    </a:bodyPr>
                    <a:p>
                      <a:pPr algn="ctr" defTabSz="914400">
                        <a:lnSpc>
                          <a:spcPct val="100000"/>
                        </a:lnSpc>
                      </a:pPr>
                      <a:r>
                        <a:rPr b="0" lang="en-US" sz="1400" strike="noStrike" u="none">
                          <a:solidFill>
                            <a:srgbClr val="333333"/>
                          </a:solidFill>
                          <a:effectLst/>
                          <a:uFillTx/>
                          <a:latin typeface="メイリオ"/>
                          <a:ea typeface="メイリオ"/>
                        </a:rPr>
                        <a:t>3.5</a:t>
                      </a:r>
                      <a:r>
                        <a:rPr b="0" lang="ja-JP" sz="1400" strike="noStrike" u="none">
                          <a:solidFill>
                            <a:srgbClr val="333333"/>
                          </a:solidFill>
                          <a:effectLst/>
                          <a:uFillTx/>
                          <a:latin typeface="メイリオ"/>
                          <a:ea typeface="メイリオ"/>
                        </a:rPr>
                        <a:t>万円</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別途実費</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r>
              <a:tr h="393120">
                <a:tc>
                  <a:txBody>
                    <a:bodyPr lIns="73080" rIns="73080" tIns="27360" bIns="27360" anchor="ctr">
                      <a:noAutofit/>
                    </a:bodyPr>
                    <a:p>
                      <a:pPr algn="ctr" defTabSz="914400">
                        <a:lnSpc>
                          <a:spcPct val="100000"/>
                        </a:lnSpc>
                      </a:pPr>
                      <a:r>
                        <a:rPr b="1" lang="ja-JP" sz="1300" strike="noStrike" u="none">
                          <a:solidFill>
                            <a:srgbClr val="ffffff"/>
                          </a:solidFill>
                          <a:effectLst/>
                          <a:uFillTx/>
                          <a:latin typeface="メイリオ"/>
                          <a:ea typeface="メイリオ"/>
                        </a:rPr>
                        <a:t>月額合計</a:t>
                      </a:r>
                      <a:endParaRPr b="0" lang="en-US" sz="1300" strike="noStrike" u="none">
                        <a:solidFill>
                          <a:srgbClr val="ffffff"/>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18720">
                      <a:solidFill>
                        <a:srgbClr val="1f285a"/>
                      </a:solidFill>
                      <a:prstDash val="solid"/>
                    </a:lnB>
                    <a:solidFill>
                      <a:srgbClr val="1f285a"/>
                    </a:solidFill>
                  </a:tcPr>
                </a:tc>
                <a:tc>
                  <a:txBody>
                    <a:bodyPr lIns="73080" rIns="73080" tIns="27360" bIns="27360" anchor="ctr">
                      <a:noAutofit/>
                    </a:bodyPr>
                    <a:p>
                      <a:pPr algn="ctr" defTabSz="914400">
                        <a:lnSpc>
                          <a:spcPct val="100000"/>
                        </a:lnSpc>
                      </a:pPr>
                      <a:r>
                        <a:rPr b="1" lang="en-US" sz="1600" strike="noStrike" u="none">
                          <a:solidFill>
                            <a:srgbClr val="1f285a"/>
                          </a:solidFill>
                          <a:effectLst/>
                          <a:uFillTx/>
                          <a:latin typeface="メイリオ"/>
                          <a:ea typeface="メイリオ"/>
                        </a:rPr>
                        <a:t>13.5</a:t>
                      </a:r>
                      <a:r>
                        <a:rPr b="1" lang="ja-JP" sz="1600" strike="noStrike" u="none">
                          <a:solidFill>
                            <a:srgbClr val="1f285a"/>
                          </a:solidFill>
                          <a:effectLst/>
                          <a:uFillTx/>
                          <a:latin typeface="メイリオ"/>
                          <a:ea typeface="メイリオ"/>
                        </a:rPr>
                        <a:t>万円</a:t>
                      </a:r>
                      <a:endParaRPr b="0" lang="en-US" sz="16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18720">
                      <a:solidFill>
                        <a:srgbClr val="1f285a"/>
                      </a:solidFill>
                      <a:prstDash val="solid"/>
                    </a:lnB>
                    <a:solidFill>
                      <a:srgbClr val="e8ecf6"/>
                    </a:solidFill>
                  </a:tcPr>
                </a:tc>
                <a:tc>
                  <a:txBody>
                    <a:bodyPr lIns="73080" rIns="73080" tIns="27360" bIns="27360" anchor="ctr">
                      <a:noAutofit/>
                    </a:bodyPr>
                    <a:p>
                      <a:pPr algn="ctr" defTabSz="914400">
                        <a:lnSpc>
                          <a:spcPct val="100000"/>
                        </a:lnSpc>
                      </a:pPr>
                      <a:r>
                        <a:rPr b="1" lang="en-US" sz="1600" strike="noStrike" u="none">
                          <a:solidFill>
                            <a:srgbClr val="1f285a"/>
                          </a:solidFill>
                          <a:effectLst/>
                          <a:uFillTx/>
                          <a:latin typeface="メイリオ"/>
                          <a:ea typeface="メイリオ"/>
                        </a:rPr>
                        <a:t>8.5</a:t>
                      </a:r>
                      <a:r>
                        <a:rPr b="1" lang="ja-JP" sz="1600" strike="noStrike" u="none">
                          <a:solidFill>
                            <a:srgbClr val="1f285a"/>
                          </a:solidFill>
                          <a:effectLst/>
                          <a:uFillTx/>
                          <a:latin typeface="メイリオ"/>
                          <a:ea typeface="メイリオ"/>
                        </a:rPr>
                        <a:t>万円</a:t>
                      </a:r>
                      <a:endParaRPr b="0" lang="en-US" sz="16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18720">
                      <a:solidFill>
                        <a:srgbClr val="1f285a"/>
                      </a:solidFill>
                      <a:prstDash val="solid"/>
                    </a:lnB>
                    <a:solidFill>
                      <a:srgbClr val="e8ecf6"/>
                    </a:solidFill>
                  </a:tcPr>
                </a:tc>
                <a:tc>
                  <a:txBody>
                    <a:bodyPr lIns="73080" rIns="73080" tIns="27360" bIns="27360" anchor="ctr">
                      <a:noAutofit/>
                    </a:bodyPr>
                    <a:p>
                      <a:pPr algn="ctr" defTabSz="914400">
                        <a:lnSpc>
                          <a:spcPct val="100000"/>
                        </a:lnSpc>
                      </a:pPr>
                      <a:r>
                        <a:rPr b="1" lang="ja-JP" sz="1600" strike="noStrike" u="none">
                          <a:solidFill>
                            <a:srgbClr val="1f285a"/>
                          </a:solidFill>
                          <a:effectLst/>
                          <a:uFillTx/>
                          <a:latin typeface="メイリオ"/>
                          <a:ea typeface="メイリオ"/>
                        </a:rPr>
                        <a:t>運用契約なし</a:t>
                      </a:r>
                      <a:endParaRPr b="0" lang="en-US" sz="16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18720">
                      <a:solidFill>
                        <a:srgbClr val="1f285a"/>
                      </a:solidFill>
                      <a:prstDash val="solid"/>
                    </a:lnB>
                    <a:solidFill>
                      <a:srgbClr val="e8ecf6"/>
                    </a:solidFill>
                  </a:tcPr>
                </a:tc>
              </a:tr>
              <a:tr h="393120">
                <a:tc>
                  <a:txBody>
                    <a:bodyPr lIns="73080" rIns="73080" tIns="27360" bIns="27360" anchor="ctr">
                      <a:noAutofit/>
                    </a:bodyPr>
                    <a:p>
                      <a:pPr algn="ctr" defTabSz="914400">
                        <a:lnSpc>
                          <a:spcPct val="100000"/>
                        </a:lnSpc>
                      </a:pPr>
                      <a:r>
                        <a:rPr b="1" lang="ja-JP" sz="1300" strike="noStrike" u="none">
                          <a:solidFill>
                            <a:srgbClr val="1f285a"/>
                          </a:solidFill>
                          <a:effectLst/>
                          <a:uFillTx/>
                          <a:latin typeface="メイリオ"/>
                          <a:ea typeface="メイリオ"/>
                        </a:rPr>
                        <a:t>企画配信</a:t>
                      </a:r>
                      <a:endParaRPr b="0" lang="en-US" sz="13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18720">
                      <a:solidFill>
                        <a:srgbClr val="1f285a"/>
                      </a:solidFill>
                      <a:prstDash val="solid"/>
                    </a:lnT>
                    <a:lnB w="9360">
                      <a:solidFill>
                        <a:srgbClr val="bfc8dc"/>
                      </a:solidFill>
                      <a:prstDash val="solid"/>
                    </a:lnB>
                    <a:solidFill>
                      <a:srgbClr val="e8ecf6"/>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月</a:t>
                      </a:r>
                      <a:r>
                        <a:rPr b="0" lang="en-US" sz="1400" strike="noStrike" u="none">
                          <a:solidFill>
                            <a:srgbClr val="333333"/>
                          </a:solidFill>
                          <a:effectLst/>
                          <a:uFillTx/>
                          <a:latin typeface="メイリオ"/>
                          <a:ea typeface="メイリオ"/>
                        </a:rPr>
                        <a:t>4</a:t>
                      </a:r>
                      <a:r>
                        <a:rPr b="0" lang="ja-JP" sz="1400" strike="noStrike" u="none">
                          <a:solidFill>
                            <a:srgbClr val="333333"/>
                          </a:solidFill>
                          <a:effectLst/>
                          <a:uFillTx/>
                          <a:latin typeface="メイリオ"/>
                          <a:ea typeface="メイリオ"/>
                        </a:rPr>
                        <a:t>〜</a:t>
                      </a:r>
                      <a:r>
                        <a:rPr b="0" lang="en-US" sz="1400" strike="noStrike" u="none">
                          <a:solidFill>
                            <a:srgbClr val="333333"/>
                          </a:solidFill>
                          <a:effectLst/>
                          <a:uFillTx/>
                          <a:latin typeface="メイリオ"/>
                          <a:ea typeface="メイリオ"/>
                        </a:rPr>
                        <a:t>5</a:t>
                      </a:r>
                      <a:r>
                        <a:rPr b="0" lang="ja-JP" sz="1400" strike="noStrike" u="none">
                          <a:solidFill>
                            <a:srgbClr val="333333"/>
                          </a:solidFill>
                          <a:effectLst/>
                          <a:uFillTx/>
                          <a:latin typeface="メイリオ"/>
                          <a:ea typeface="メイリオ"/>
                        </a:rPr>
                        <a:t>本</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18720">
                      <a:solidFill>
                        <a:srgbClr val="1f285a"/>
                      </a:solidFill>
                      <a:prstDash val="solid"/>
                    </a:lnT>
                    <a:lnB w="9360">
                      <a:solidFill>
                        <a:srgbClr val="bfc8dc"/>
                      </a:solidFill>
                      <a:prstDash val="solid"/>
                    </a:lnB>
                    <a:solidFill>
                      <a:srgbClr val="ffffff"/>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月</a:t>
                      </a:r>
                      <a:r>
                        <a:rPr b="0" lang="en-US" sz="1400" strike="noStrike" u="none">
                          <a:solidFill>
                            <a:srgbClr val="333333"/>
                          </a:solidFill>
                          <a:effectLst/>
                          <a:uFillTx/>
                          <a:latin typeface="メイリオ"/>
                          <a:ea typeface="メイリオ"/>
                        </a:rPr>
                        <a:t>1</a:t>
                      </a:r>
                      <a:r>
                        <a:rPr b="0" lang="ja-JP" sz="1400" strike="noStrike" u="none">
                          <a:solidFill>
                            <a:srgbClr val="333333"/>
                          </a:solidFill>
                          <a:effectLst/>
                          <a:uFillTx/>
                          <a:latin typeface="メイリオ"/>
                          <a:ea typeface="メイリオ"/>
                        </a:rPr>
                        <a:t>〜</a:t>
                      </a:r>
                      <a:r>
                        <a:rPr b="0" lang="en-US" sz="1400" strike="noStrike" u="none">
                          <a:solidFill>
                            <a:srgbClr val="333333"/>
                          </a:solidFill>
                          <a:effectLst/>
                          <a:uFillTx/>
                          <a:latin typeface="メイリオ"/>
                          <a:ea typeface="メイリオ"/>
                        </a:rPr>
                        <a:t>2</a:t>
                      </a:r>
                      <a:r>
                        <a:rPr b="0" lang="ja-JP" sz="1400" strike="noStrike" u="none">
                          <a:solidFill>
                            <a:srgbClr val="333333"/>
                          </a:solidFill>
                          <a:effectLst/>
                          <a:uFillTx/>
                          <a:latin typeface="メイリオ"/>
                          <a:ea typeface="メイリオ"/>
                        </a:rPr>
                        <a:t>本</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18720">
                      <a:solidFill>
                        <a:srgbClr val="1f285a"/>
                      </a:solidFill>
                      <a:prstDash val="solid"/>
                    </a:lnT>
                    <a:lnB w="9360">
                      <a:solidFill>
                        <a:srgbClr val="bfc8dc"/>
                      </a:solidFill>
                      <a:prstDash val="solid"/>
                    </a:lnB>
                    <a:solidFill>
                      <a:srgbClr val="ffffff"/>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なし</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18720">
                      <a:solidFill>
                        <a:srgbClr val="1f285a"/>
                      </a:solidFill>
                      <a:prstDash val="solid"/>
                    </a:lnT>
                    <a:lnB w="9360">
                      <a:solidFill>
                        <a:srgbClr val="bfc8dc"/>
                      </a:solidFill>
                      <a:prstDash val="solid"/>
                    </a:lnB>
                    <a:solidFill>
                      <a:srgbClr val="ffffff"/>
                    </a:solidFill>
                  </a:tcPr>
                </a:tc>
              </a:tr>
              <a:tr h="393120">
                <a:tc>
                  <a:txBody>
                    <a:bodyPr lIns="73080" rIns="73080" tIns="27360" bIns="27360" anchor="ctr">
                      <a:noAutofit/>
                    </a:bodyPr>
                    <a:p>
                      <a:pPr algn="ctr" defTabSz="914400">
                        <a:lnSpc>
                          <a:spcPct val="100000"/>
                        </a:lnSpc>
                      </a:pPr>
                      <a:r>
                        <a:rPr b="1" lang="ja-JP" sz="1300" strike="noStrike" u="none">
                          <a:solidFill>
                            <a:srgbClr val="1f285a"/>
                          </a:solidFill>
                          <a:effectLst/>
                          <a:uFillTx/>
                          <a:latin typeface="メイリオ"/>
                          <a:ea typeface="メイリオ"/>
                        </a:rPr>
                        <a:t>ステップ配信</a:t>
                      </a:r>
                      <a:endParaRPr b="0" lang="en-US" sz="13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e8ecf6"/>
                    </a:solidFill>
                  </a:tcPr>
                </a:tc>
                <a:tc>
                  <a:txBody>
                    <a:bodyPr lIns="73080" rIns="73080" tIns="27360" bIns="27360" anchor="ctr">
                      <a:noAutofit/>
                    </a:bodyPr>
                    <a:p>
                      <a:pPr algn="ctr" defTabSz="914400">
                        <a:lnSpc>
                          <a:spcPct val="100000"/>
                        </a:lnSpc>
                      </a:pPr>
                      <a:r>
                        <a:rPr b="0" lang="en-US" sz="1400" strike="noStrike" u="none">
                          <a:solidFill>
                            <a:srgbClr val="333333"/>
                          </a:solidFill>
                          <a:effectLst/>
                          <a:uFillTx/>
                          <a:latin typeface="メイリオ"/>
                          <a:ea typeface="メイリオ"/>
                        </a:rPr>
                        <a:t>10</a:t>
                      </a:r>
                      <a:r>
                        <a:rPr b="0" lang="ja-JP" sz="1400" strike="noStrike" u="none">
                          <a:solidFill>
                            <a:srgbClr val="333333"/>
                          </a:solidFill>
                          <a:effectLst/>
                          <a:uFillTx/>
                          <a:latin typeface="メイリオ"/>
                          <a:ea typeface="メイリオ"/>
                        </a:rPr>
                        <a:t>通</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なし</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なし</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r>
              <a:tr h="393120">
                <a:tc>
                  <a:txBody>
                    <a:bodyPr lIns="73080" rIns="73080" tIns="27360" bIns="27360" anchor="ctr">
                      <a:noAutofit/>
                    </a:bodyPr>
                    <a:p>
                      <a:pPr algn="ctr" defTabSz="914400">
                        <a:lnSpc>
                          <a:spcPct val="100000"/>
                        </a:lnSpc>
                      </a:pPr>
                      <a:r>
                        <a:rPr b="1" lang="ja-JP" sz="1300" strike="noStrike" u="none">
                          <a:solidFill>
                            <a:srgbClr val="1f285a"/>
                          </a:solidFill>
                          <a:effectLst/>
                          <a:uFillTx/>
                          <a:latin typeface="メイリオ"/>
                          <a:ea typeface="メイリオ"/>
                        </a:rPr>
                        <a:t>離脱防止</a:t>
                      </a:r>
                      <a:endParaRPr b="0" lang="en-US" sz="13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e8ecf6"/>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導入・運用</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導入・運用</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初期導入支援</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9360">
                      <a:solidFill>
                        <a:srgbClr val="bfc8dc"/>
                      </a:solidFill>
                      <a:prstDash val="solid"/>
                    </a:lnB>
                    <a:solidFill>
                      <a:srgbClr val="ffffff"/>
                    </a:solidFill>
                  </a:tcPr>
                </a:tc>
              </a:tr>
              <a:tr h="393120">
                <a:tc>
                  <a:txBody>
                    <a:bodyPr lIns="73080" rIns="73080" tIns="27360" bIns="27360" anchor="ctr">
                      <a:noAutofit/>
                    </a:bodyPr>
                    <a:p>
                      <a:pPr algn="ctr" defTabSz="914400">
                        <a:lnSpc>
                          <a:spcPct val="100000"/>
                        </a:lnSpc>
                      </a:pPr>
                      <a:r>
                        <a:rPr b="1" lang="ja-JP" sz="1300" strike="noStrike" u="none">
                          <a:solidFill>
                            <a:srgbClr val="1f285a"/>
                          </a:solidFill>
                          <a:effectLst/>
                          <a:uFillTx/>
                          <a:latin typeface="メイリオ"/>
                          <a:ea typeface="メイリオ"/>
                        </a:rPr>
                        <a:t>継続改善</a:t>
                      </a:r>
                      <a:endParaRPr b="0" lang="en-US" sz="13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18720">
                      <a:solidFill>
                        <a:srgbClr val="1f285a"/>
                      </a:solidFill>
                      <a:prstDash val="solid"/>
                    </a:lnB>
                    <a:solidFill>
                      <a:srgbClr val="e8ecf6"/>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対応</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18720">
                      <a:solidFill>
                        <a:srgbClr val="1f285a"/>
                      </a:solidFill>
                      <a:prstDash val="solid"/>
                    </a:lnB>
                    <a:solidFill>
                      <a:srgbClr val="ffffff"/>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限定的</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18720">
                      <a:solidFill>
                        <a:srgbClr val="1f285a"/>
                      </a:solidFill>
                      <a:prstDash val="solid"/>
                    </a:lnB>
                    <a:solidFill>
                      <a:srgbClr val="ffffff"/>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なし</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9360">
                      <a:solidFill>
                        <a:srgbClr val="bfc8dc"/>
                      </a:solidFill>
                      <a:prstDash val="solid"/>
                    </a:lnT>
                    <a:lnB w="18720">
                      <a:solidFill>
                        <a:srgbClr val="1f285a"/>
                      </a:solidFill>
                      <a:prstDash val="solid"/>
                    </a:lnB>
                    <a:solidFill>
                      <a:srgbClr val="ffffff"/>
                    </a:solidFill>
                  </a:tcPr>
                </a:tc>
              </a:tr>
              <a:tr h="393120">
                <a:tc>
                  <a:txBody>
                    <a:bodyPr lIns="73080" rIns="73080" tIns="27360" bIns="27360" anchor="ctr">
                      <a:noAutofit/>
                    </a:bodyPr>
                    <a:p>
                      <a:pPr algn="ctr" defTabSz="914400">
                        <a:lnSpc>
                          <a:spcPct val="100000"/>
                        </a:lnSpc>
                      </a:pPr>
                      <a:r>
                        <a:rPr b="1" lang="en-US" sz="1300" strike="noStrike" u="none">
                          <a:solidFill>
                            <a:srgbClr val="1f285a"/>
                          </a:solidFill>
                          <a:effectLst/>
                          <a:uFillTx/>
                          <a:latin typeface="メイリオ"/>
                          <a:ea typeface="メイリオ"/>
                        </a:rPr>
                        <a:t>API</a:t>
                      </a:r>
                      <a:r>
                        <a:rPr b="1" lang="ja-JP" sz="1300" strike="noStrike" u="none">
                          <a:solidFill>
                            <a:srgbClr val="1f285a"/>
                          </a:solidFill>
                          <a:effectLst/>
                          <a:uFillTx/>
                          <a:latin typeface="メイリオ"/>
                          <a:ea typeface="メイリオ"/>
                        </a:rPr>
                        <a:t>連携・開発</a:t>
                      </a:r>
                      <a:endParaRPr b="0" lang="en-US" sz="13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18720">
                      <a:solidFill>
                        <a:srgbClr val="1f285a"/>
                      </a:solidFill>
                      <a:prstDash val="solid"/>
                    </a:lnT>
                    <a:lnB w="9360">
                      <a:solidFill>
                        <a:srgbClr val="bfc8dc"/>
                      </a:solidFill>
                      <a:prstDash val="solid"/>
                    </a:lnB>
                    <a:solidFill>
                      <a:srgbClr val="e8ecf6"/>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必要に応じ別途見積</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18720">
                      <a:solidFill>
                        <a:srgbClr val="1f285a"/>
                      </a:solidFill>
                      <a:prstDash val="solid"/>
                    </a:lnT>
                    <a:lnB w="9360">
                      <a:solidFill>
                        <a:srgbClr val="bfc8dc"/>
                      </a:solidFill>
                      <a:prstDash val="solid"/>
                    </a:lnB>
                    <a:solidFill>
                      <a:srgbClr val="ffffff"/>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なし</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18720">
                      <a:solidFill>
                        <a:srgbClr val="1f285a"/>
                      </a:solidFill>
                      <a:prstDash val="solid"/>
                    </a:lnT>
                    <a:lnB w="9360">
                      <a:solidFill>
                        <a:srgbClr val="bfc8dc"/>
                      </a:solidFill>
                      <a:prstDash val="solid"/>
                    </a:lnB>
                    <a:solidFill>
                      <a:srgbClr val="ffffff"/>
                    </a:solidFill>
                  </a:tcPr>
                </a:tc>
                <a:tc>
                  <a:txBody>
                    <a:bodyPr lIns="73080" rIns="73080" tIns="27360" bIns="27360" anchor="ctr">
                      <a:noAutofit/>
                    </a:bodyPr>
                    <a:p>
                      <a:pPr algn="ctr" defTabSz="914400">
                        <a:lnSpc>
                          <a:spcPct val="100000"/>
                        </a:lnSpc>
                      </a:pPr>
                      <a:r>
                        <a:rPr b="0" lang="ja-JP" sz="1400" strike="noStrike" u="none">
                          <a:solidFill>
                            <a:srgbClr val="333333"/>
                          </a:solidFill>
                          <a:effectLst/>
                          <a:uFillTx/>
                          <a:latin typeface="メイリオ"/>
                          <a:ea typeface="メイリオ"/>
                        </a:rPr>
                        <a:t>なし</a:t>
                      </a:r>
                      <a:endParaRPr b="0" lang="en-US" sz="1400" strike="noStrike" u="none">
                        <a:solidFill>
                          <a:srgbClr val="000000"/>
                        </a:solidFill>
                        <a:effectLst/>
                        <a:uFillTx/>
                        <a:latin typeface="Arial"/>
                      </a:endParaRPr>
                    </a:p>
                  </a:txBody>
                  <a:tcPr anchor="ctr" marL="73080" marR="73080">
                    <a:lnL w="9360">
                      <a:solidFill>
                        <a:srgbClr val="bfc8dc"/>
                      </a:solidFill>
                      <a:prstDash val="solid"/>
                    </a:lnL>
                    <a:lnR w="9360">
                      <a:solidFill>
                        <a:srgbClr val="bfc8dc"/>
                      </a:solidFill>
                      <a:prstDash val="solid"/>
                    </a:lnR>
                    <a:lnT w="18720">
                      <a:solidFill>
                        <a:srgbClr val="1f285a"/>
                      </a:solidFill>
                      <a:prstDash val="solid"/>
                    </a:lnT>
                    <a:lnB w="9360">
                      <a:solidFill>
                        <a:srgbClr val="bfc8dc"/>
                      </a:solidFill>
                      <a:prstDash val="solid"/>
                    </a:lnB>
                    <a:solidFill>
                      <a:srgbClr val="ffffff"/>
                    </a:solidFill>
                  </a:tcPr>
                </a:tc>
              </a:tr>
            </a:tbl>
          </a:graphicData>
        </a:graphic>
      </p:graphicFrame>
      <p:sp>
        <p:nvSpPr>
          <p:cNvPr id="640" name="注記"/>
          <p:cNvSpPr/>
          <p:nvPr/>
        </p:nvSpPr>
        <p:spPr>
          <a:xfrm>
            <a:off x="384120" y="5504760"/>
            <a:ext cx="9143640" cy="987120"/>
          </a:xfrm>
          <a:prstGeom prst="rect">
            <a:avLst/>
          </a:prstGeom>
          <a:noFill/>
          <a:ln w="0">
            <a:noFill/>
          </a:ln>
        </p:spPr>
        <p:style>
          <a:lnRef idx="0"/>
          <a:fillRef idx="0"/>
          <a:effectRef idx="0"/>
          <a:fontRef idx="minor"/>
        </p:style>
        <p:txBody>
          <a:bodyPr lIns="18360" rIns="18360" tIns="18360" bIns="18360" anchor="t">
            <a:noAutofit/>
          </a:bodyPr>
          <a:p>
            <a:pPr defTabSz="914400">
              <a:lnSpc>
                <a:spcPct val="100000"/>
              </a:lnSpc>
              <a:spcAft>
                <a:spcPts val="201"/>
              </a:spcAft>
            </a:pPr>
            <a:r>
              <a:rPr b="0" lang="en-US" sz="1100" strike="noStrike" u="none">
                <a:solidFill>
                  <a:srgbClr val="444444"/>
                </a:solidFill>
                <a:effectLst/>
                <a:uFillTx/>
                <a:latin typeface="メイリオ"/>
                <a:ea typeface="メイリオ"/>
              </a:rPr>
              <a:t>※価格はあらうち様向けの個別提案価格です（</a:t>
            </a:r>
            <a:r>
              <a:rPr b="0" lang="en-US" sz="1100" strike="noStrike" u="none">
                <a:solidFill>
                  <a:srgbClr val="444444"/>
                </a:solidFill>
                <a:effectLst/>
                <a:uFillTx/>
                <a:latin typeface="メイリオ"/>
                <a:ea typeface="メイリオ"/>
              </a:rPr>
              <a:t>DYM</a:t>
            </a:r>
            <a:r>
              <a:rPr b="0" lang="ja-JP" sz="1100" strike="noStrike" u="none">
                <a:solidFill>
                  <a:srgbClr val="444444"/>
                </a:solidFill>
                <a:effectLst/>
                <a:uFillTx/>
                <a:latin typeface="メイリオ"/>
                <a:ea typeface="メイリオ"/>
              </a:rPr>
              <a:t>の標準価格ではありません）。初期費用</a:t>
            </a:r>
            <a:r>
              <a:rPr b="0" lang="en-US" sz="1100" strike="noStrike" u="none">
                <a:solidFill>
                  <a:srgbClr val="444444"/>
                </a:solidFill>
                <a:effectLst/>
                <a:uFillTx/>
                <a:latin typeface="メイリオ"/>
                <a:ea typeface="メイリオ"/>
              </a:rPr>
              <a:t>21.5</a:t>
            </a:r>
            <a:r>
              <a:rPr b="0" lang="ja-JP" sz="1100" strike="noStrike" u="none">
                <a:solidFill>
                  <a:srgbClr val="444444"/>
                </a:solidFill>
                <a:effectLst/>
                <a:uFillTx/>
                <a:latin typeface="メイリオ"/>
                <a:ea typeface="メイリオ"/>
              </a:rPr>
              <a:t>万円は</a:t>
            </a:r>
            <a:r>
              <a:rPr b="0" lang="en-US" sz="1100" strike="noStrike" u="none">
                <a:solidFill>
                  <a:srgbClr val="444444"/>
                </a:solidFill>
                <a:effectLst/>
                <a:uFillTx/>
                <a:latin typeface="メイリオ"/>
                <a:ea typeface="メイリオ"/>
              </a:rPr>
              <a:t>3</a:t>
            </a:r>
            <a:r>
              <a:rPr b="0" lang="ja-JP" sz="1100" strike="noStrike" u="none">
                <a:solidFill>
                  <a:srgbClr val="444444"/>
                </a:solidFill>
                <a:effectLst/>
                <a:uFillTx/>
                <a:latin typeface="メイリオ"/>
                <a:ea typeface="メイリオ"/>
              </a:rPr>
              <a:t>プラン共通です。</a:t>
            </a:r>
            <a:endParaRPr b="0" lang="en-US" sz="1100" strike="noStrike" u="none">
              <a:solidFill>
                <a:srgbClr val="000000"/>
              </a:solidFill>
              <a:effectLst/>
              <a:uFillTx/>
              <a:latin typeface="Arial"/>
            </a:endParaRPr>
          </a:p>
          <a:p>
            <a:pPr defTabSz="914400">
              <a:lnSpc>
                <a:spcPct val="100000"/>
              </a:lnSpc>
              <a:spcAft>
                <a:spcPts val="201"/>
              </a:spcAft>
            </a:pPr>
            <a:r>
              <a:rPr b="0" lang="en-US" sz="1100" strike="noStrike" u="none">
                <a:solidFill>
                  <a:srgbClr val="444444"/>
                </a:solidFill>
                <a:effectLst/>
                <a:uFillTx/>
                <a:latin typeface="メイリオ"/>
                <a:ea typeface="メイリオ"/>
              </a:rPr>
              <a:t>※プラン③は月額コンサル契約がありません。ツールを継続して利用する場合の利用料は別途実費です。</a:t>
            </a:r>
            <a:endParaRPr b="0" lang="en-US" sz="1100" strike="noStrike" u="none">
              <a:solidFill>
                <a:srgbClr val="000000"/>
              </a:solidFill>
              <a:effectLst/>
              <a:uFillTx/>
              <a:latin typeface="Arial"/>
            </a:endParaRPr>
          </a:p>
          <a:p>
            <a:pPr defTabSz="914400">
              <a:lnSpc>
                <a:spcPct val="100000"/>
              </a:lnSpc>
              <a:spcAft>
                <a:spcPts val="201"/>
              </a:spcAft>
            </a:pPr>
            <a:r>
              <a:rPr b="0" lang="en-US" sz="1100" strike="noStrike" u="none">
                <a:solidFill>
                  <a:srgbClr val="444444"/>
                </a:solidFill>
                <a:effectLst/>
                <a:uFillTx/>
                <a:latin typeface="メイリオ"/>
                <a:ea typeface="メイリオ"/>
              </a:rPr>
              <a:t>※API</a:t>
            </a:r>
            <a:r>
              <a:rPr b="0" lang="ja-JP" sz="1100" strike="noStrike" u="none">
                <a:solidFill>
                  <a:srgbClr val="444444"/>
                </a:solidFill>
                <a:effectLst/>
                <a:uFillTx/>
                <a:latin typeface="メイリオ"/>
                <a:ea typeface="メイリオ"/>
              </a:rPr>
              <a:t>連携・開発は基本料金に含まれません。必要に応じて、プラン①で別途お見積りします。</a:t>
            </a:r>
            <a:endParaRPr b="0" lang="en-US" sz="1100" strike="noStrike" u="none">
              <a:solidFill>
                <a:srgbClr val="000000"/>
              </a:solidFill>
              <a:effectLst/>
              <a:uFillTx/>
              <a:latin typeface="Arial"/>
            </a:endParaRPr>
          </a:p>
          <a:p>
            <a:pPr defTabSz="914400">
              <a:lnSpc>
                <a:spcPct val="100000"/>
              </a:lnSpc>
              <a:spcAft>
                <a:spcPts val="201"/>
              </a:spcAft>
            </a:pPr>
            <a:r>
              <a:rPr b="0" lang="en-US" sz="1100" strike="noStrike" u="none">
                <a:solidFill>
                  <a:srgbClr val="444444"/>
                </a:solidFill>
                <a:effectLst/>
                <a:uFillTx/>
                <a:latin typeface="メイリオ"/>
                <a:ea typeface="メイリオ"/>
              </a:rPr>
              <a:t>※13</a:t>
            </a:r>
            <a:r>
              <a:rPr b="0" lang="ja-JP" sz="1100" strike="noStrike" u="none">
                <a:solidFill>
                  <a:srgbClr val="444444"/>
                </a:solidFill>
                <a:effectLst/>
                <a:uFillTx/>
                <a:latin typeface="メイリオ"/>
                <a:ea typeface="メイリオ"/>
              </a:rPr>
              <a:t>ページの試算（</a:t>
            </a:r>
            <a:r>
              <a:rPr b="0" lang="en-US" sz="1100" strike="noStrike" u="none">
                <a:solidFill>
                  <a:srgbClr val="444444"/>
                </a:solidFill>
                <a:effectLst/>
                <a:uFillTx/>
                <a:latin typeface="メイリオ"/>
                <a:ea typeface="メイリオ"/>
              </a:rPr>
              <a:t>6</a:t>
            </a:r>
            <a:r>
              <a:rPr b="0" lang="ja-JP" sz="1100" strike="noStrike" u="none">
                <a:solidFill>
                  <a:srgbClr val="444444"/>
                </a:solidFill>
                <a:effectLst/>
                <a:uFillTx/>
                <a:latin typeface="メイリオ"/>
                <a:ea typeface="メイリオ"/>
              </a:rPr>
              <a:t>か月目に月</a:t>
            </a:r>
            <a:r>
              <a:rPr b="0" lang="en-US" sz="1100" strike="noStrike" u="none">
                <a:solidFill>
                  <a:srgbClr val="444444"/>
                </a:solidFill>
                <a:effectLst/>
                <a:uFillTx/>
                <a:latin typeface="メイリオ"/>
                <a:ea typeface="メイリオ"/>
              </a:rPr>
              <a:t>23</a:t>
            </a:r>
            <a:r>
              <a:rPr b="0" lang="ja-JP" sz="1100" strike="noStrike" u="none">
                <a:solidFill>
                  <a:srgbClr val="444444"/>
                </a:solidFill>
                <a:effectLst/>
                <a:uFillTx/>
                <a:latin typeface="メイリオ"/>
                <a:ea typeface="メイリオ"/>
              </a:rPr>
              <a:t>件）は、プラン①｜総合運用の基本施策を対象としたものです。プラン②・③の成果は含みません。</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弊社からご提供できる運用プラン</a:t>
            </a:r>
            <a:endParaRPr b="0" lang="en-US" sz="1600" strike="noStrike" u="non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都度発注プラン</a:t>
            </a:r>
            <a:endParaRPr b="0" lang="en-US" sz="1400" strike="noStrike" u="non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en-US" sz="1600" strike="noStrike" u="none">
                <a:solidFill>
                  <a:schemeClr val="dk1"/>
                </a:solidFill>
                <a:effectLst/>
                <a:uFillTx/>
                <a:latin typeface="メイリオ"/>
                <a:ea typeface="メイリオ"/>
              </a:rPr>
              <a:t>LINEOA</a:t>
            </a:r>
            <a:r>
              <a:rPr b="1" lang="ja-JP" sz="1600" strike="noStrike" u="none">
                <a:solidFill>
                  <a:schemeClr val="dk1"/>
                </a:solidFill>
                <a:effectLst/>
                <a:uFillTx/>
                <a:latin typeface="メイリオ"/>
                <a:ea typeface="メイリオ"/>
              </a:rPr>
              <a:t>の運用業務・</a:t>
            </a:r>
            <a:r>
              <a:rPr b="1" lang="en-US" sz="1600" strike="noStrike" u="none">
                <a:solidFill>
                  <a:schemeClr val="dk1"/>
                </a:solidFill>
                <a:effectLst/>
                <a:uFillTx/>
                <a:latin typeface="メイリオ"/>
                <a:ea typeface="メイリオ"/>
              </a:rPr>
              <a:t>CR</a:t>
            </a:r>
            <a:r>
              <a:rPr b="1" lang="ja-JP" sz="1600" strike="noStrike" u="none">
                <a:solidFill>
                  <a:schemeClr val="dk1"/>
                </a:solidFill>
                <a:effectLst/>
                <a:uFillTx/>
                <a:latin typeface="メイリオ"/>
                <a:ea typeface="メイリオ"/>
              </a:rPr>
              <a:t>制作業務を一部外出ししてご依頼依頼も。</a:t>
            </a:r>
            <a:endParaRPr b="0" lang="en-US" sz="1600" strike="noStrike" u="none">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50" strike="noStrike" u="non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50" strike="noStrike" u="none">
                <a:solidFill>
                  <a:schemeClr val="dk1">
                    <a:lumMod val="65000"/>
                    <a:lumOff val="35000"/>
                  </a:schemeClr>
                </a:solidFill>
                <a:effectLst/>
                <a:uFillTx/>
                <a:latin typeface="メイリオ"/>
                <a:ea typeface="メイリオ"/>
              </a:rPr>
              <a:t>&lt;</a:t>
            </a:r>
            <a:r>
              <a:rPr b="0" lang="ja-JP" sz="1050" strike="noStrike" u="none">
                <a:solidFill>
                  <a:schemeClr val="dk1">
                    <a:lumMod val="65000"/>
                    <a:lumOff val="35000"/>
                  </a:schemeClr>
                </a:solidFill>
                <a:effectLst/>
                <a:uFillTx/>
                <a:latin typeface="メイリオ"/>
                <a:ea typeface="メイリオ"/>
              </a:rPr>
              <a:t>追加作業における費用感　</a:t>
            </a:r>
            <a:r>
              <a:rPr b="0" lang="en-US" sz="900" strike="noStrike" u="none">
                <a:solidFill>
                  <a:srgbClr val="ff0000"/>
                </a:solidFill>
                <a:effectLst/>
                <a:uFillTx/>
                <a:latin typeface="メイリオ"/>
                <a:ea typeface="メイリオ"/>
              </a:rPr>
              <a:t>※作業量により変動する可能性がございます</a:t>
            </a:r>
            <a:r>
              <a:rPr b="0" lang="en-US" sz="1050" strike="noStrike" u="none">
                <a:solidFill>
                  <a:schemeClr val="dk1">
                    <a:lumMod val="65000"/>
                    <a:lumOff val="35000"/>
                  </a:schemeClr>
                </a:solidFill>
                <a:effectLst/>
                <a:uFillTx/>
                <a:latin typeface="メイリオ"/>
                <a:ea typeface="メイリオ"/>
              </a:rPr>
              <a:t>&gt;</a:t>
            </a:r>
            <a:endParaRPr b="0" lang="en-US" sz="1050" strike="noStrike" u="none">
              <a:solidFill>
                <a:srgbClr val="000000"/>
              </a:solidFill>
              <a:effectLst/>
              <a:uFillTx/>
              <a:latin typeface="Arial"/>
            </a:endParaRPr>
          </a:p>
        </p:txBody>
      </p:sp>
      <p:graphicFrame>
        <p:nvGraphicFramePr>
          <p:cNvPr id="646" name="表 13"/>
          <p:cNvGraphicFramePr/>
          <p:nvPr/>
        </p:nvGraphicFramePr>
        <p:xfrm>
          <a:off x="706680" y="1862640"/>
          <a:ext cx="8543520" cy="4069440"/>
        </p:xfrm>
        <a:graphic>
          <a:graphicData uri="http://schemas.openxmlformats.org/drawingml/2006/table">
            <a:tbl>
              <a:tblPr/>
              <a:tblGrid>
                <a:gridCol w="1832400"/>
                <a:gridCol w="1140480"/>
                <a:gridCol w="1140480"/>
                <a:gridCol w="315360"/>
                <a:gridCol w="1832400"/>
                <a:gridCol w="1140480"/>
                <a:gridCol w="1140480"/>
              </a:tblGrid>
              <a:tr h="290520">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対応項目</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初期</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内容</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endParaRPr b="1"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対応項目</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初期</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月額</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アカウント開設</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API</a:t>
                      </a:r>
                      <a:r>
                        <a:rPr b="0" lang="ja-JP" sz="1100" strike="noStrike" u="none">
                          <a:solidFill>
                            <a:srgbClr val="000000"/>
                          </a:solidFill>
                          <a:effectLst/>
                          <a:uFillTx/>
                          <a:latin typeface="メイリオ"/>
                          <a:ea typeface="メイリオ"/>
                        </a:rPr>
                        <a:t>ツール導入</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¥50,000~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プロフィール</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ID</a:t>
                      </a:r>
                      <a:r>
                        <a:rPr b="0" lang="ja-JP" sz="1100" strike="noStrike" u="none">
                          <a:solidFill>
                            <a:srgbClr val="000000"/>
                          </a:solidFill>
                          <a:effectLst/>
                          <a:uFillTx/>
                          <a:latin typeface="メイリオ"/>
                          <a:ea typeface="メイリオ"/>
                        </a:rPr>
                        <a:t>連携</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50" strike="noStrike" u="none">
                          <a:solidFill>
                            <a:schemeClr val="dk1">
                              <a:lumMod val="50000"/>
                              <a:lumOff val="50000"/>
                            </a:schemeClr>
                          </a:solidFill>
                          <a:effectLst/>
                          <a:uFillTx/>
                          <a:latin typeface="メイリオ"/>
                          <a:ea typeface="メイリオ"/>
                        </a:rPr>
                        <a:t>¥200,000~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リッチメニュー</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LINE</a:t>
                      </a:r>
                      <a:r>
                        <a:rPr b="0" lang="ja-JP" sz="1100" strike="noStrike" u="none">
                          <a:solidFill>
                            <a:srgbClr val="000000"/>
                          </a:solidFill>
                          <a:effectLst/>
                          <a:uFillTx/>
                          <a:latin typeface="メイリオ"/>
                          <a:ea typeface="メイリオ"/>
                        </a:rPr>
                        <a:t>ログイン</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50" strike="noStrike" u="none">
                          <a:solidFill>
                            <a:schemeClr val="dk1">
                              <a:lumMod val="50000"/>
                              <a:lumOff val="50000"/>
                            </a:schemeClr>
                          </a:solidFill>
                          <a:effectLst/>
                          <a:uFillTx/>
                          <a:latin typeface="メイリオ"/>
                          <a:ea typeface="メイリオ"/>
                        </a:rPr>
                        <a:t>¥0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あいさつメッセージ</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通知メッセージ</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¥200,000~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初期アンケート</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¥50,000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チャットボット機能</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¥50,000~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KW</a:t>
                      </a:r>
                      <a:r>
                        <a:rPr b="0" lang="ja-JP" sz="1100" strike="noStrike" u="none">
                          <a:solidFill>
                            <a:srgbClr val="000000"/>
                          </a:solidFill>
                          <a:effectLst/>
                          <a:uFillTx/>
                          <a:latin typeface="メイリオ"/>
                          <a:ea typeface="メイリオ"/>
                        </a:rPr>
                        <a:t>の自動応答</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Chat Plus</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¥30,000~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ステップ配信</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¥50,000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Call Plus</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¥200,000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セグメント配信</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LINE</a:t>
                      </a:r>
                      <a:r>
                        <a:rPr b="0" lang="ja-JP" sz="1100" strike="noStrike" u="none">
                          <a:solidFill>
                            <a:srgbClr val="000000"/>
                          </a:solidFill>
                          <a:effectLst/>
                          <a:uFillTx/>
                          <a:latin typeface="メイリオ"/>
                          <a:ea typeface="メイリオ"/>
                        </a:rPr>
                        <a:t>決済</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¥50,000~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チャットタグ管理</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予約管理</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¥20,000~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チャット対応</a:t>
                      </a:r>
                      <a:r>
                        <a:rPr b="0" lang="en-US" sz="700" strike="noStrike" u="none">
                          <a:solidFill>
                            <a:srgbClr val="ff0000"/>
                          </a:solidFill>
                          <a:effectLst/>
                          <a:uFillTx/>
                          <a:latin typeface="メイリオ"/>
                          <a:ea typeface="メイリオ"/>
                        </a:rPr>
                        <a:t> </a:t>
                      </a:r>
                      <a:r>
                        <a:rPr b="0" lang="en-US" sz="700" strike="noStrike" u="none">
                          <a:solidFill>
                            <a:srgbClr val="ff0000"/>
                          </a:solidFill>
                          <a:effectLst/>
                          <a:uFillTx/>
                          <a:latin typeface="メイリオ"/>
                          <a:ea typeface="メイリオ"/>
                        </a:rPr>
                        <a:t>※サポートは可能</a:t>
                      </a:r>
                      <a:endParaRPr b="0" lang="en-US" sz="7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¥100,000</a:t>
                      </a:r>
                      <a:r>
                        <a:rPr b="0" lang="ja-JP" sz="1000" strike="noStrike" u="none">
                          <a:solidFill>
                            <a:srgbClr val="000000"/>
                          </a:solidFill>
                          <a:effectLst/>
                          <a:uFillTx/>
                          <a:latin typeface="メイリオ"/>
                          <a:ea typeface="メイリオ"/>
                        </a:rPr>
                        <a:t>～</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ja-JP" sz="600" strike="noStrike" u="none">
                          <a:solidFill>
                            <a:srgbClr val="000000"/>
                          </a:solidFill>
                          <a:effectLst/>
                          <a:uFillTx/>
                          <a:latin typeface="メイリオ"/>
                          <a:ea typeface="メイリオ"/>
                        </a:rPr>
                        <a:t>件数により変動</a:t>
                      </a:r>
                      <a:endParaRPr b="0" lang="en-US" sz="6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GA(CRM)</a:t>
                      </a:r>
                      <a:r>
                        <a:rPr b="0" lang="ja-JP" sz="1100" strike="noStrike" u="none">
                          <a:solidFill>
                            <a:srgbClr val="000000"/>
                          </a:solidFill>
                          <a:effectLst/>
                          <a:uFillTx/>
                          <a:latin typeface="メイリオ"/>
                          <a:ea typeface="メイリオ"/>
                        </a:rPr>
                        <a:t>レポート連携</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クリエイティブ</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¥15,000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tabLst>
                          <a:tab algn="l" pos="0"/>
                        </a:tabLst>
                      </a:pPr>
                      <a:r>
                        <a:rPr b="0" lang="ja-JP" sz="600" strike="noStrike" u="none">
                          <a:solidFill>
                            <a:srgbClr val="000000"/>
                          </a:solidFill>
                          <a:effectLst/>
                          <a:uFillTx/>
                          <a:latin typeface="メイリオ"/>
                          <a:ea typeface="メイリオ"/>
                        </a:rPr>
                        <a:t>画像</a:t>
                      </a:r>
                      <a:r>
                        <a:rPr b="0" lang="en-US" sz="600" strike="noStrike" u="none">
                          <a:solidFill>
                            <a:srgbClr val="000000"/>
                          </a:solidFill>
                          <a:effectLst/>
                          <a:uFillTx/>
                          <a:latin typeface="メイリオ"/>
                          <a:ea typeface="メイリオ"/>
                        </a:rPr>
                        <a:t>1</a:t>
                      </a:r>
                      <a:r>
                        <a:rPr b="0" lang="ja-JP" sz="600" strike="noStrike" u="none">
                          <a:solidFill>
                            <a:srgbClr val="000000"/>
                          </a:solidFill>
                          <a:effectLst/>
                          <a:uFillTx/>
                          <a:latin typeface="メイリオ"/>
                          <a:ea typeface="メイリオ"/>
                        </a:rPr>
                        <a:t>枚での想定</a:t>
                      </a:r>
                      <a:endParaRPr b="0" lang="en-US" sz="600" strike="noStrike" u="none">
                        <a:solidFill>
                          <a:srgbClr val="000000"/>
                        </a:solidFill>
                        <a:effectLst/>
                        <a:uFillTx/>
                        <a:latin typeface="Arial"/>
                      </a:endParaRPr>
                    </a:p>
                    <a:p>
                      <a:pPr algn="ctr" defTabSz="914400">
                        <a:lnSpc>
                          <a:spcPct val="100000"/>
                        </a:lnSpc>
                        <a:tabLst>
                          <a:tab algn="l" pos="0"/>
                        </a:tabLst>
                      </a:pPr>
                      <a:r>
                        <a:rPr b="0" lang="en-US" sz="600" strike="noStrike" u="none">
                          <a:solidFill>
                            <a:srgbClr val="000000"/>
                          </a:solidFill>
                          <a:effectLst/>
                          <a:uFillTx/>
                          <a:latin typeface="メイリオ"/>
                          <a:ea typeface="メイリオ"/>
                        </a:rPr>
                        <a:t>※バナー、</a:t>
                      </a:r>
                      <a:r>
                        <a:rPr b="0" lang="en-US" sz="600" strike="noStrike" u="none">
                          <a:solidFill>
                            <a:srgbClr val="000000"/>
                          </a:solidFill>
                          <a:effectLst/>
                          <a:uFillTx/>
                          <a:latin typeface="メイリオ"/>
                          <a:ea typeface="メイリオ"/>
                        </a:rPr>
                        <a:t>HTML</a:t>
                      </a:r>
                      <a:r>
                        <a:rPr b="0" lang="ja-JP" sz="600" strike="noStrike" u="none">
                          <a:solidFill>
                            <a:srgbClr val="000000"/>
                          </a:solidFill>
                          <a:effectLst/>
                          <a:uFillTx/>
                          <a:latin typeface="メイリオ"/>
                          <a:ea typeface="メイリオ"/>
                        </a:rPr>
                        <a:t>メール等</a:t>
                      </a:r>
                      <a:endParaRPr b="0" lang="en-US" sz="6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離脱防止ツール</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¥15,000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tabLst>
                          <a:tab algn="l" pos="0"/>
                        </a:tabLst>
                      </a:pPr>
                      <a:r>
                        <a:rPr b="0" lang="ja-JP" sz="600" strike="noStrike" u="none">
                          <a:solidFill>
                            <a:srgbClr val="000000"/>
                          </a:solidFill>
                          <a:effectLst/>
                          <a:uFillTx/>
                          <a:latin typeface="メイリオ"/>
                          <a:ea typeface="メイリオ"/>
                        </a:rPr>
                        <a:t>画像</a:t>
                      </a:r>
                      <a:r>
                        <a:rPr b="0" lang="en-US" sz="600" strike="noStrike" u="none">
                          <a:solidFill>
                            <a:srgbClr val="000000"/>
                          </a:solidFill>
                          <a:effectLst/>
                          <a:uFillTx/>
                          <a:latin typeface="メイリオ"/>
                          <a:ea typeface="メイリオ"/>
                        </a:rPr>
                        <a:t>1</a:t>
                      </a:r>
                      <a:r>
                        <a:rPr b="0" lang="ja-JP" sz="600" strike="noStrike" u="none">
                          <a:solidFill>
                            <a:srgbClr val="000000"/>
                          </a:solidFill>
                          <a:effectLst/>
                          <a:uFillTx/>
                          <a:latin typeface="メイリオ"/>
                          <a:ea typeface="メイリオ"/>
                        </a:rPr>
                        <a:t>枚での想定</a:t>
                      </a:r>
                      <a:endParaRPr b="0" lang="en-US" sz="600" strike="noStrike" u="none">
                        <a:solidFill>
                          <a:srgbClr val="000000"/>
                        </a:solidFill>
                        <a:effectLst/>
                        <a:uFillTx/>
                        <a:latin typeface="Arial"/>
                      </a:endParaRPr>
                    </a:p>
                    <a:p>
                      <a:pPr algn="ctr" defTabSz="914400">
                        <a:lnSpc>
                          <a:spcPct val="100000"/>
                        </a:lnSpc>
                        <a:tabLst>
                          <a:tab algn="l" pos="0"/>
                        </a:tabLst>
                      </a:pPr>
                      <a:r>
                        <a:rPr b="0" lang="en-US" sz="600" strike="noStrike" u="none">
                          <a:solidFill>
                            <a:srgbClr val="000000"/>
                          </a:solidFill>
                          <a:effectLst/>
                          <a:uFillTx/>
                          <a:latin typeface="メイリオ"/>
                          <a:ea typeface="メイリオ"/>
                        </a:rPr>
                        <a:t>※バナー、</a:t>
                      </a:r>
                      <a:r>
                        <a:rPr b="0" lang="en-US" sz="600" strike="noStrike" u="none">
                          <a:solidFill>
                            <a:srgbClr val="000000"/>
                          </a:solidFill>
                          <a:effectLst/>
                          <a:uFillTx/>
                          <a:latin typeface="メイリオ"/>
                          <a:ea typeface="メイリオ"/>
                        </a:rPr>
                        <a:t>HTML</a:t>
                      </a:r>
                      <a:r>
                        <a:rPr b="0" lang="ja-JP" sz="600" strike="noStrike" u="none">
                          <a:solidFill>
                            <a:srgbClr val="000000"/>
                          </a:solidFill>
                          <a:effectLst/>
                          <a:uFillTx/>
                          <a:latin typeface="メイリオ"/>
                          <a:ea typeface="メイリオ"/>
                        </a:rPr>
                        <a:t>メール等</a:t>
                      </a:r>
                      <a:endParaRPr b="0" lang="en-US" sz="6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投稿作成</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サンクス</a:t>
                      </a:r>
                      <a:r>
                        <a:rPr b="0" lang="en-US" sz="1100" strike="noStrike" u="none">
                          <a:solidFill>
                            <a:srgbClr val="000000"/>
                          </a:solidFill>
                          <a:effectLst/>
                          <a:uFillTx/>
                          <a:latin typeface="メイリオ"/>
                          <a:ea typeface="メイリオ"/>
                        </a:rPr>
                        <a:t>LINE</a:t>
                      </a:r>
                      <a:r>
                        <a:rPr b="0" lang="ja-JP" sz="1100" strike="noStrike" u="none">
                          <a:solidFill>
                            <a:srgbClr val="000000"/>
                          </a:solidFill>
                          <a:effectLst/>
                          <a:uFillTx/>
                          <a:latin typeface="メイリオ"/>
                          <a:ea typeface="メイリオ"/>
                        </a:rPr>
                        <a:t>誘導ツール</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¥50,000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400" strike="noStrike" u="none">
                <a:solidFill>
                  <a:srgbClr val="ff0000"/>
                </a:solidFill>
                <a:effectLst/>
                <a:uFillTx/>
                <a:latin typeface="メイリオ"/>
                <a:ea typeface="メイリオ"/>
              </a:rPr>
              <a:t>貴社リソースの状況に応じて都度発注でのご依頼も各単価で受けさせていただきます。</a:t>
            </a:r>
            <a:endParaRPr b="0" lang="en-US" sz="1400" strike="noStrike" u="non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メイリオ"/>
              <a:ea typeface="メイリオ"/>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資料アジェンダ</a:t>
            </a:r>
            <a:endParaRPr b="0" lang="en-US" sz="1600" strike="noStrike" u="none">
              <a:solidFill>
                <a:srgbClr val="000000"/>
              </a:solidFill>
              <a:effectLst/>
              <a:uFillTx/>
              <a:latin typeface="Arial"/>
            </a:endParaRPr>
          </a:p>
        </p:txBody>
      </p:sp>
      <p:sp>
        <p:nvSpPr>
          <p:cNvPr id="650" name="正方形/長方形 1"/>
          <p:cNvSpPr/>
          <p:nvPr/>
        </p:nvSpPr>
        <p:spPr>
          <a:xfrm>
            <a:off x="3629520" y="3038040"/>
            <a:ext cx="264636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ja-JP" sz="3200" strike="noStrike" u="none">
                <a:solidFill>
                  <a:schemeClr val="dk1">
                    <a:lumMod val="75000"/>
                    <a:lumOff val="25000"/>
                  </a:schemeClr>
                </a:solidFill>
                <a:effectLst/>
                <a:uFillTx/>
                <a:latin typeface="メイリオ"/>
                <a:ea typeface="メイリオ"/>
              </a:rPr>
              <a:t>サポート体制</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正方形/長方形 5"/>
          <p:cNvSpPr/>
          <p:nvPr/>
        </p:nvSpPr>
        <p:spPr>
          <a:xfrm>
            <a:off x="300240" y="832680"/>
            <a:ext cx="9355680" cy="866880"/>
          </a:xfrm>
          <a:prstGeom prst="rect">
            <a:avLst/>
          </a:prstGeom>
          <a:solidFill>
            <a:schemeClr val="tx2"/>
          </a:solidFill>
          <a:ln w="22225">
            <a:solidFill>
              <a:srgbClr val="1f497d"/>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2400" strike="noStrike" u="none">
                <a:solidFill>
                  <a:schemeClr val="lt1"/>
                </a:solidFill>
                <a:effectLst/>
                <a:uFillTx/>
                <a:latin typeface="メイリオ"/>
                <a:ea typeface="メイリオ"/>
              </a:rPr>
              <a:t>WEB</a:t>
            </a:r>
            <a:r>
              <a:rPr b="0" lang="ja-JP" sz="2400" strike="noStrike" u="none">
                <a:solidFill>
                  <a:schemeClr val="lt1"/>
                </a:solidFill>
                <a:effectLst/>
                <a:uFillTx/>
                <a:latin typeface="メイリオ"/>
                <a:ea typeface="メイリオ"/>
              </a:rPr>
              <a:t>サイト上情報と連携させ、配信効果を数値化する</a:t>
            </a:r>
            <a:endParaRPr b="0" lang="en-US" sz="2400" strike="noStrike" u="none">
              <a:solidFill>
                <a:srgbClr val="ffffff"/>
              </a:solidFill>
              <a:effectLst/>
              <a:uFillTx/>
              <a:latin typeface="Arial"/>
            </a:endParaRPr>
          </a:p>
        </p:txBody>
      </p:sp>
      <p:pic>
        <p:nvPicPr>
          <p:cNvPr id="652" name="図 6" descr=""/>
          <p:cNvPicPr/>
          <p:nvPr/>
        </p:nvPicPr>
        <p:blipFill>
          <a:blip r:embed="rId1"/>
          <a:stretch/>
        </p:blipFill>
        <p:spPr>
          <a:xfrm>
            <a:off x="1183680" y="2131200"/>
            <a:ext cx="2498040" cy="1743840"/>
          </a:xfrm>
          <a:prstGeom prst="rect">
            <a:avLst/>
          </a:prstGeom>
          <a:noFill/>
          <a:ln w="0">
            <a:noFill/>
          </a:ln>
        </p:spPr>
      </p:pic>
      <p:pic>
        <p:nvPicPr>
          <p:cNvPr id="653" name="図 7" descr=""/>
          <p:cNvPicPr/>
          <p:nvPr/>
        </p:nvPicPr>
        <p:blipFill>
          <a:blip r:embed="rId2"/>
          <a:stretch/>
        </p:blipFill>
        <p:spPr>
          <a:xfrm>
            <a:off x="3456000" y="2402640"/>
            <a:ext cx="2392560" cy="1668240"/>
          </a:xfrm>
          <a:prstGeom prst="rect">
            <a:avLst/>
          </a:prstGeom>
          <a:noFill/>
          <a:ln w="0">
            <a:noFill/>
          </a:ln>
        </p:spPr>
      </p:pic>
      <p:pic>
        <p:nvPicPr>
          <p:cNvPr id="654" name="図 9" descr=""/>
          <p:cNvPicPr/>
          <p:nvPr/>
        </p:nvPicPr>
        <p:blipFill>
          <a:blip r:embed="rId3"/>
          <a:stretch/>
        </p:blipFill>
        <p:spPr>
          <a:xfrm>
            <a:off x="5697720" y="2676600"/>
            <a:ext cx="2431800" cy="1697760"/>
          </a:xfrm>
          <a:prstGeom prst="rect">
            <a:avLst/>
          </a:prstGeom>
          <a:noFill/>
          <a:ln w="0">
            <a:noFill/>
          </a:ln>
        </p:spPr>
      </p:pic>
      <p:pic>
        <p:nvPicPr>
          <p:cNvPr id="655" name="図 13" descr=""/>
          <p:cNvPicPr/>
          <p:nvPr/>
        </p:nvPicPr>
        <p:blipFill>
          <a:blip r:embed="rId4"/>
          <a:stretch/>
        </p:blipFill>
        <p:spPr>
          <a:xfrm>
            <a:off x="1158120" y="4165560"/>
            <a:ext cx="2416680" cy="1682280"/>
          </a:xfrm>
          <a:prstGeom prst="rect">
            <a:avLst/>
          </a:prstGeom>
          <a:noFill/>
          <a:ln w="0">
            <a:noFill/>
          </a:ln>
        </p:spPr>
      </p:pic>
      <p:pic>
        <p:nvPicPr>
          <p:cNvPr id="656" name="図 14" descr=""/>
          <p:cNvPicPr/>
          <p:nvPr/>
        </p:nvPicPr>
        <p:blipFill>
          <a:blip r:embed="rId5"/>
          <a:stretch/>
        </p:blipFill>
        <p:spPr>
          <a:xfrm>
            <a:off x="3434760" y="4410720"/>
            <a:ext cx="2416680" cy="1683000"/>
          </a:xfrm>
          <a:prstGeom prst="rect">
            <a:avLst/>
          </a:prstGeom>
          <a:noFill/>
          <a:ln w="0">
            <a:noFill/>
          </a:ln>
        </p:spPr>
      </p:pic>
      <p:pic>
        <p:nvPicPr>
          <p:cNvPr id="657" name="図 23" descr=""/>
          <p:cNvPicPr/>
          <p:nvPr/>
        </p:nvPicPr>
        <p:blipFill>
          <a:blip r:embed="rId6"/>
          <a:stretch/>
        </p:blipFill>
        <p:spPr>
          <a:xfrm>
            <a:off x="5697720" y="4687200"/>
            <a:ext cx="2426760" cy="1690560"/>
          </a:xfrm>
          <a:prstGeom prst="rect">
            <a:avLst/>
          </a:prstGeom>
          <a:noFill/>
          <a:ln w="0">
            <a:noFill/>
          </a:ln>
        </p:spPr>
      </p:pic>
      <p:pic>
        <p:nvPicPr>
          <p:cNvPr id="658" name="図 25" descr=""/>
          <p:cNvPicPr/>
          <p:nvPr/>
        </p:nvPicPr>
        <p:blipFill>
          <a:blip r:embed="rId7"/>
          <a:stretch/>
        </p:blipFill>
        <p:spPr>
          <a:xfrm>
            <a:off x="8022240" y="1995120"/>
            <a:ext cx="1068120" cy="453960"/>
          </a:xfrm>
          <a:prstGeom prst="rect">
            <a:avLst/>
          </a:prstGeom>
          <a:noFill/>
          <a:ln w="0">
            <a:noFill/>
          </a:ln>
        </p:spPr>
      </p:pic>
      <p:sp>
        <p:nvSpPr>
          <p:cNvPr id="659" name="テキスト ボックス 1"/>
          <p:cNvSpPr/>
          <p:nvPr/>
        </p:nvSpPr>
        <p:spPr>
          <a:xfrm>
            <a:off x="482760" y="989280"/>
            <a:ext cx="93348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3600" strike="noStrike" u="none">
                <a:solidFill>
                  <a:schemeClr val="lt1"/>
                </a:solidFill>
                <a:effectLst/>
                <a:uFillTx/>
                <a:latin typeface="メイリオ"/>
                <a:ea typeface="メイリオ"/>
              </a:rPr>
              <a:t>☑</a:t>
            </a:r>
            <a:endParaRPr b="0" lang="en-US" sz="3600" strike="noStrike" u="none">
              <a:solidFill>
                <a:srgbClr val="000000"/>
              </a:solidFill>
              <a:effectLst/>
              <a:uFillTx/>
              <a:latin typeface="Arial"/>
            </a:endParaRPr>
          </a:p>
        </p:txBody>
      </p:sp>
      <p:pic>
        <p:nvPicPr>
          <p:cNvPr id="660" name="Picture 2" descr="ロゴガイドライン｜LINEヤフー for Business"/>
          <p:cNvPicPr/>
          <p:nvPr/>
        </p:nvPicPr>
        <p:blipFill>
          <a:blip r:embed="rId8"/>
          <a:stretch/>
        </p:blipFill>
        <p:spPr>
          <a:xfrm>
            <a:off x="6485400" y="1788120"/>
            <a:ext cx="2447640" cy="888480"/>
          </a:xfrm>
          <a:prstGeom prst="rect">
            <a:avLst/>
          </a:prstGeom>
          <a:noFill/>
          <a:ln w="0">
            <a:noFill/>
          </a:ln>
        </p:spPr>
      </p:pic>
      <p:sp>
        <p:nvSpPr>
          <p:cNvPr id="661"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サポート体制（報告</a:t>
            </a:r>
            <a:r>
              <a:rPr b="1" lang="en-US" sz="1600" strike="noStrike" u="none">
                <a:solidFill>
                  <a:srgbClr val="002060"/>
                </a:solidFill>
                <a:effectLst/>
                <a:uFillTx/>
                <a:latin typeface="Meiryo"/>
                <a:ea typeface="Meiryo"/>
              </a:rPr>
              <a:t>FMT</a:t>
            </a:r>
            <a:r>
              <a:rPr b="1" lang="ja-JP" sz="1600" strike="noStrike" u="none">
                <a:solidFill>
                  <a:srgbClr val="002060"/>
                </a:solidFill>
                <a:effectLst/>
                <a:uFillTx/>
                <a:latin typeface="Meiryo"/>
                <a:ea typeface="Meiryo"/>
              </a:rPr>
              <a:t>）</a:t>
            </a:r>
            <a:endParaRPr b="0" lang="en-US" sz="1600" strike="noStrike" u="none">
              <a:solidFill>
                <a:srgbClr val="000000"/>
              </a:solidFill>
              <a:effectLst/>
              <a:uFillTx/>
              <a:latin typeface="Arial"/>
            </a:endParaRPr>
          </a:p>
        </p:txBody>
      </p:sp>
      <p:sp>
        <p:nvSpPr>
          <p:cNvPr id="662" name="正方形/長方形 4"/>
          <p:cNvSpPr/>
          <p:nvPr/>
        </p:nvSpPr>
        <p:spPr>
          <a:xfrm>
            <a:off x="167040" y="3583800"/>
            <a:ext cx="9594000" cy="866880"/>
          </a:xfrm>
          <a:prstGeom prst="rect">
            <a:avLst/>
          </a:prstGeom>
          <a:solidFill>
            <a:schemeClr val="dk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2400" strike="noStrike" u="none">
                <a:solidFill>
                  <a:schemeClr val="lt1"/>
                </a:solidFill>
                <a:effectLst/>
                <a:uFillTx/>
                <a:latin typeface="メイリオ"/>
                <a:ea typeface="メイリオ"/>
              </a:rPr>
              <a:t>レポートサンプル</a:t>
            </a:r>
            <a:endParaRPr b="0" lang="en-US" sz="2400" strike="noStrike" u="none">
              <a:solidFill>
                <a:srgbClr val="ffffff"/>
              </a:solidFill>
              <a:effectLst/>
              <a:uFillTx/>
              <a:latin typeface="Arial"/>
            </a:endParaRPr>
          </a:p>
          <a:p>
            <a:pPr algn="ctr" defTabSz="914400">
              <a:lnSpc>
                <a:spcPct val="100000"/>
              </a:lnSpc>
            </a:pPr>
            <a:r>
              <a:rPr b="0" lang="ja-JP" sz="1400" strike="noStrike" u="none">
                <a:solidFill>
                  <a:schemeClr val="lt1"/>
                </a:solidFill>
                <a:effectLst/>
                <a:uFillTx/>
                <a:latin typeface="メイリオ"/>
                <a:ea typeface="メイリオ"/>
              </a:rPr>
              <a:t>（貴社要望によりカスタマイズ予定）</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正方形/長方形 1"/>
          <p:cNvSpPr/>
          <p:nvPr/>
        </p:nvSpPr>
        <p:spPr>
          <a:xfrm>
            <a:off x="6757920" y="93600"/>
            <a:ext cx="1320480" cy="343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100" strike="noStrike" u="none">
                <a:solidFill>
                  <a:schemeClr val="lt1"/>
                </a:solidFill>
                <a:effectLst/>
                <a:uFillTx/>
                <a:latin typeface="メイリオ"/>
                <a:ea typeface="メイリオ"/>
              </a:rPr>
              <a:t>効果計測</a:t>
            </a:r>
            <a:endParaRPr b="0" lang="en-US" sz="1100" strike="noStrike" u="none">
              <a:solidFill>
                <a:srgbClr val="000000"/>
              </a:solidFill>
              <a:effectLst/>
              <a:uFillTx/>
              <a:latin typeface="Arial"/>
            </a:endParaRPr>
          </a:p>
        </p:txBody>
      </p:sp>
      <p:sp>
        <p:nvSpPr>
          <p:cNvPr id="664" name="正方形/長方形 13"/>
          <p:cNvSpPr/>
          <p:nvPr/>
        </p:nvSpPr>
        <p:spPr>
          <a:xfrm>
            <a:off x="258840" y="1486080"/>
            <a:ext cx="9230040" cy="17053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pic>
        <p:nvPicPr>
          <p:cNvPr id="665" name="図 14" descr=""/>
          <p:cNvPicPr/>
          <p:nvPr/>
        </p:nvPicPr>
        <p:blipFill>
          <a:blip r:embed="rId1"/>
          <a:stretch/>
        </p:blipFill>
        <p:spPr>
          <a:xfrm>
            <a:off x="445680" y="4515480"/>
            <a:ext cx="4393080" cy="1885680"/>
          </a:xfrm>
          <a:prstGeom prst="rect">
            <a:avLst/>
          </a:prstGeom>
          <a:noFill/>
          <a:ln w="0">
            <a:noFill/>
          </a:ln>
        </p:spPr>
      </p:pic>
      <p:sp>
        <p:nvSpPr>
          <p:cNvPr id="666" name="正方形/長方形 15"/>
          <p:cNvSpPr/>
          <p:nvPr/>
        </p:nvSpPr>
        <p:spPr>
          <a:xfrm>
            <a:off x="1728720" y="172404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chemeClr val="lt1"/>
                </a:solidFill>
                <a:effectLst/>
                <a:uFillTx/>
                <a:latin typeface="メイリオ"/>
                <a:ea typeface="メイリオ"/>
              </a:rPr>
              <a:t>API</a:t>
            </a:r>
            <a:r>
              <a:rPr b="1" lang="ja-JP" sz="1200" strike="noStrike" u="none">
                <a:solidFill>
                  <a:schemeClr val="lt1"/>
                </a:solidFill>
                <a:effectLst/>
                <a:uFillTx/>
                <a:latin typeface="メイリオ"/>
                <a:ea typeface="メイリオ"/>
              </a:rPr>
              <a:t>ツールなし</a:t>
            </a:r>
            <a:endParaRPr b="0" lang="en-US" sz="1200" strike="noStrike" u="none">
              <a:solidFill>
                <a:srgbClr val="ffffff"/>
              </a:solidFill>
              <a:effectLst/>
              <a:uFillTx/>
              <a:latin typeface="Arial"/>
            </a:endParaRPr>
          </a:p>
        </p:txBody>
      </p:sp>
      <p:sp>
        <p:nvSpPr>
          <p:cNvPr id="667" name="正方形/長方形 16"/>
          <p:cNvSpPr/>
          <p:nvPr/>
        </p:nvSpPr>
        <p:spPr>
          <a:xfrm>
            <a:off x="1728720" y="246492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chemeClr val="lt1"/>
                </a:solidFill>
                <a:effectLst/>
                <a:uFillTx/>
                <a:latin typeface="メイリオ"/>
                <a:ea typeface="メイリオ"/>
              </a:rPr>
              <a:t>API</a:t>
            </a:r>
            <a:r>
              <a:rPr b="1" lang="ja-JP" sz="1200" strike="noStrike" u="none">
                <a:solidFill>
                  <a:schemeClr val="lt1"/>
                </a:solidFill>
                <a:effectLst/>
                <a:uFillTx/>
                <a:latin typeface="メイリオ"/>
                <a:ea typeface="メイリオ"/>
              </a:rPr>
              <a:t>ツールあり</a:t>
            </a:r>
            <a:endParaRPr b="0" lang="en-US" sz="1200" strike="noStrike" u="none">
              <a:solidFill>
                <a:srgbClr val="ffffff"/>
              </a:solidFill>
              <a:effectLst/>
              <a:uFillTx/>
              <a:latin typeface="Arial"/>
            </a:endParaRPr>
          </a:p>
        </p:txBody>
      </p:sp>
      <p:sp>
        <p:nvSpPr>
          <p:cNvPr id="668" name="正方形/長方形 17"/>
          <p:cNvSpPr/>
          <p:nvPr/>
        </p:nvSpPr>
        <p:spPr>
          <a:xfrm>
            <a:off x="3939840" y="2445840"/>
            <a:ext cx="3311640" cy="522720"/>
          </a:xfrm>
          <a:prstGeom prst="rect">
            <a:avLst/>
          </a:prstGeom>
          <a:noFill/>
          <a:ln w="0">
            <a:noFill/>
          </a:ln>
        </p:spPr>
        <p:style>
          <a:lnRef idx="0"/>
          <a:fillRef idx="0"/>
          <a:effectRef idx="0"/>
          <a:fontRef idx="minor"/>
        </p:style>
        <p:txBody>
          <a:bodyPr wrap="none" lIns="90000" rIns="90000" tIns="45000" bIns="45000" anchor="ctr">
            <a:spAutoFit/>
          </a:bodyPr>
          <a:p>
            <a:pPr defTabSz="914400">
              <a:lnSpc>
                <a:spcPct val="100000"/>
              </a:lnSpc>
            </a:pPr>
            <a:r>
              <a:rPr b="0" lang="en-US" sz="1400" strike="noStrike" u="none">
                <a:solidFill>
                  <a:schemeClr val="dk1">
                    <a:lumMod val="50000"/>
                    <a:lumOff val="50000"/>
                  </a:schemeClr>
                </a:solidFill>
                <a:effectLst/>
                <a:uFillTx/>
                <a:latin typeface="メイリオ"/>
                <a:ea typeface="メイリオ"/>
              </a:rPr>
              <a:t>API</a:t>
            </a:r>
            <a:r>
              <a:rPr b="0" lang="ja-JP" sz="1400" strike="noStrike" u="none">
                <a:solidFill>
                  <a:schemeClr val="dk1">
                    <a:lumMod val="50000"/>
                    <a:lumOff val="50000"/>
                  </a:schemeClr>
                </a:solidFill>
                <a:effectLst/>
                <a:uFillTx/>
                <a:latin typeface="メイリオ"/>
                <a:ea typeface="メイリオ"/>
              </a:rPr>
              <a:t>ツール管理画面上にて</a:t>
            </a:r>
            <a:endParaRPr b="0" lang="en-US" sz="1400" strike="noStrike" u="none">
              <a:solidFill>
                <a:srgbClr val="000000"/>
              </a:solidFill>
              <a:effectLst/>
              <a:uFillTx/>
              <a:latin typeface="Arial"/>
            </a:endParaRPr>
          </a:p>
          <a:p>
            <a:pPr defTabSz="914400">
              <a:lnSpc>
                <a:spcPct val="100000"/>
              </a:lnSpc>
            </a:pPr>
            <a:r>
              <a:rPr b="0" lang="ja-JP" sz="1400" strike="noStrike" u="none">
                <a:solidFill>
                  <a:schemeClr val="dk1">
                    <a:lumMod val="50000"/>
                    <a:lumOff val="50000"/>
                  </a:schemeClr>
                </a:solidFill>
                <a:effectLst/>
                <a:uFillTx/>
                <a:latin typeface="メイリオ"/>
                <a:ea typeface="メイリオ"/>
              </a:rPr>
              <a:t>「特定期間に対する</a:t>
            </a:r>
            <a:r>
              <a:rPr b="0" lang="en-US" sz="1400" strike="noStrike" u="none">
                <a:solidFill>
                  <a:schemeClr val="dk1">
                    <a:lumMod val="50000"/>
                    <a:lumOff val="50000"/>
                  </a:schemeClr>
                </a:solidFill>
                <a:effectLst/>
                <a:uFillTx/>
                <a:latin typeface="メイリオ"/>
                <a:ea typeface="メイリオ"/>
              </a:rPr>
              <a:t>CV</a:t>
            </a:r>
            <a:r>
              <a:rPr b="0" lang="ja-JP" sz="1400" strike="noStrike" u="none">
                <a:solidFill>
                  <a:schemeClr val="dk1">
                    <a:lumMod val="50000"/>
                    <a:lumOff val="50000"/>
                  </a:schemeClr>
                </a:solidFill>
                <a:effectLst/>
                <a:uFillTx/>
                <a:latin typeface="メイリオ"/>
                <a:ea typeface="メイリオ"/>
              </a:rPr>
              <a:t>数算出」が可能</a:t>
            </a:r>
            <a:endParaRPr b="0" lang="en-US" sz="1400" strike="noStrike" u="none">
              <a:solidFill>
                <a:srgbClr val="000000"/>
              </a:solidFill>
              <a:effectLst/>
              <a:uFillTx/>
              <a:latin typeface="Arial"/>
            </a:endParaRPr>
          </a:p>
        </p:txBody>
      </p:sp>
      <p:sp>
        <p:nvSpPr>
          <p:cNvPr id="669" name="正方形/長方形 18"/>
          <p:cNvSpPr/>
          <p:nvPr/>
        </p:nvSpPr>
        <p:spPr>
          <a:xfrm>
            <a:off x="3939840" y="1705320"/>
            <a:ext cx="4273560" cy="522720"/>
          </a:xfrm>
          <a:prstGeom prst="rect">
            <a:avLst/>
          </a:prstGeom>
          <a:noFill/>
          <a:ln w="0">
            <a:noFill/>
          </a:ln>
        </p:spPr>
        <p:style>
          <a:lnRef idx="0"/>
          <a:fillRef idx="0"/>
          <a:effectRef idx="0"/>
          <a:fontRef idx="minor"/>
        </p:style>
        <p:txBody>
          <a:bodyPr wrap="none" lIns="90000" rIns="90000" tIns="45000" bIns="45000" anchor="ctr">
            <a:spAutoFit/>
          </a:bodyPr>
          <a:p>
            <a:pPr defTabSz="914400">
              <a:lnSpc>
                <a:spcPct val="100000"/>
              </a:lnSpc>
            </a:pPr>
            <a:r>
              <a:rPr b="0" lang="en-US" sz="1400" strike="noStrike" u="none">
                <a:solidFill>
                  <a:schemeClr val="dk1">
                    <a:lumMod val="50000"/>
                    <a:lumOff val="50000"/>
                  </a:schemeClr>
                </a:solidFill>
                <a:effectLst/>
                <a:uFillTx/>
                <a:latin typeface="メイリオ"/>
                <a:ea typeface="メイリオ"/>
              </a:rPr>
              <a:t>CV</a:t>
            </a:r>
            <a:r>
              <a:rPr b="0" lang="ja-JP" sz="1400" strike="noStrike" u="none">
                <a:solidFill>
                  <a:schemeClr val="dk1">
                    <a:lumMod val="50000"/>
                    <a:lumOff val="50000"/>
                  </a:schemeClr>
                </a:solidFill>
                <a:effectLst/>
                <a:uFillTx/>
                <a:latin typeface="メイリオ"/>
                <a:ea typeface="メイリオ"/>
              </a:rPr>
              <a:t>タグの設定に伴い、計測自体は可能だが</a:t>
            </a:r>
            <a:endParaRPr b="0" lang="en-US" sz="1400" strike="noStrike" u="none">
              <a:solidFill>
                <a:srgbClr val="000000"/>
              </a:solidFill>
              <a:effectLst/>
              <a:uFillTx/>
              <a:latin typeface="Arial"/>
            </a:endParaRPr>
          </a:p>
          <a:p>
            <a:pPr defTabSz="914400">
              <a:lnSpc>
                <a:spcPct val="100000"/>
              </a:lnSpc>
            </a:pPr>
            <a:r>
              <a:rPr b="0" lang="en-US" sz="1400" strike="noStrike" u="none">
                <a:solidFill>
                  <a:schemeClr val="dk1">
                    <a:lumMod val="50000"/>
                    <a:lumOff val="50000"/>
                  </a:schemeClr>
                </a:solidFill>
                <a:effectLst/>
                <a:uFillTx/>
                <a:latin typeface="メイリオ"/>
                <a:ea typeface="メイリオ"/>
              </a:rPr>
              <a:t>CV</a:t>
            </a:r>
            <a:r>
              <a:rPr b="0" lang="ja-JP" sz="1400" strike="noStrike" u="none">
                <a:solidFill>
                  <a:schemeClr val="dk1">
                    <a:lumMod val="50000"/>
                    <a:lumOff val="50000"/>
                  </a:schemeClr>
                </a:solidFill>
                <a:effectLst/>
                <a:uFillTx/>
                <a:latin typeface="メイリオ"/>
                <a:ea typeface="メイリオ"/>
              </a:rPr>
              <a:t>数</a:t>
            </a:r>
            <a:r>
              <a:rPr b="0" lang="en-US" sz="1400" strike="noStrike" u="none">
                <a:solidFill>
                  <a:schemeClr val="dk1">
                    <a:lumMod val="50000"/>
                    <a:lumOff val="50000"/>
                  </a:schemeClr>
                </a:solidFill>
                <a:effectLst/>
                <a:uFillTx/>
                <a:latin typeface="メイリオ"/>
                <a:ea typeface="メイリオ"/>
              </a:rPr>
              <a:t>50</a:t>
            </a:r>
            <a:r>
              <a:rPr b="0" lang="ja-JP" sz="1400" strike="noStrike" u="none">
                <a:solidFill>
                  <a:schemeClr val="dk1">
                    <a:lumMod val="50000"/>
                    <a:lumOff val="50000"/>
                  </a:schemeClr>
                </a:solidFill>
                <a:effectLst/>
                <a:uFillTx/>
                <a:latin typeface="メイリオ"/>
                <a:ea typeface="メイリオ"/>
              </a:rPr>
              <a:t>件以上での数値計測となる（管理画面上）</a:t>
            </a:r>
            <a:endParaRPr b="0" lang="en-US" sz="1400" strike="noStrike" u="none">
              <a:solidFill>
                <a:srgbClr val="000000"/>
              </a:solidFill>
              <a:effectLst/>
              <a:uFillTx/>
              <a:latin typeface="Arial"/>
            </a:endParaRPr>
          </a:p>
        </p:txBody>
      </p:sp>
      <p:sp>
        <p:nvSpPr>
          <p:cNvPr id="670" name="正方形/長方形 19"/>
          <p:cNvSpPr/>
          <p:nvPr/>
        </p:nvSpPr>
        <p:spPr>
          <a:xfrm>
            <a:off x="625680" y="2120040"/>
            <a:ext cx="645840" cy="36900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ja-JP" sz="1800" strike="noStrike" u="none">
                <a:solidFill>
                  <a:schemeClr val="dk1"/>
                </a:solidFill>
                <a:effectLst/>
                <a:uFillTx/>
                <a:latin typeface="メイリオ"/>
                <a:ea typeface="メイリオ"/>
              </a:rPr>
              <a:t>通常</a:t>
            </a:r>
            <a:endParaRPr b="0" lang="en-US" sz="1800" strike="noStrike" u="none">
              <a:solidFill>
                <a:srgbClr val="000000"/>
              </a:solidFill>
              <a:effectLst/>
              <a:uFillTx/>
              <a:latin typeface="Arial"/>
            </a:endParaRPr>
          </a:p>
        </p:txBody>
      </p:sp>
      <p:sp>
        <p:nvSpPr>
          <p:cNvPr id="671" name="正方形/長方形 20"/>
          <p:cNvSpPr/>
          <p:nvPr/>
        </p:nvSpPr>
        <p:spPr>
          <a:xfrm>
            <a:off x="258840" y="3337920"/>
            <a:ext cx="9230040" cy="105264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sp>
        <p:nvSpPr>
          <p:cNvPr id="672" name="正方形/長方形 21"/>
          <p:cNvSpPr/>
          <p:nvPr/>
        </p:nvSpPr>
        <p:spPr>
          <a:xfrm>
            <a:off x="1728720" y="3527640"/>
            <a:ext cx="1984320" cy="70452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chemeClr val="lt1"/>
                </a:solidFill>
                <a:effectLst/>
                <a:uFillTx/>
                <a:latin typeface="メイリオ"/>
                <a:ea typeface="メイリオ"/>
              </a:rPr>
              <a:t>API</a:t>
            </a:r>
            <a:r>
              <a:rPr b="1" lang="ja-JP" sz="1200" strike="noStrike" u="none">
                <a:solidFill>
                  <a:schemeClr val="lt1"/>
                </a:solidFill>
                <a:effectLst/>
                <a:uFillTx/>
                <a:latin typeface="メイリオ"/>
                <a:ea typeface="メイリオ"/>
              </a:rPr>
              <a:t>ツール有無</a:t>
            </a:r>
            <a:endParaRPr b="0" lang="en-US" sz="1200" strike="noStrike" u="none">
              <a:solidFill>
                <a:srgbClr val="ffffff"/>
              </a:solidFill>
              <a:effectLst/>
              <a:uFillTx/>
              <a:latin typeface="Arial"/>
            </a:endParaRPr>
          </a:p>
          <a:p>
            <a:pPr algn="ctr" defTabSz="914400">
              <a:lnSpc>
                <a:spcPct val="100000"/>
              </a:lnSpc>
            </a:pPr>
            <a:r>
              <a:rPr b="1" lang="ja-JP" sz="1200" strike="noStrike" u="none">
                <a:solidFill>
                  <a:schemeClr val="lt1"/>
                </a:solidFill>
                <a:effectLst/>
                <a:uFillTx/>
                <a:latin typeface="メイリオ"/>
                <a:ea typeface="メイリオ"/>
              </a:rPr>
              <a:t>に関わらず</a:t>
            </a:r>
            <a:endParaRPr b="0" lang="en-US" sz="1200" strike="noStrike" u="none">
              <a:solidFill>
                <a:srgbClr val="ffffff"/>
              </a:solidFill>
              <a:effectLst/>
              <a:uFillTx/>
              <a:latin typeface="Arial"/>
            </a:endParaRPr>
          </a:p>
        </p:txBody>
      </p:sp>
      <p:sp>
        <p:nvSpPr>
          <p:cNvPr id="673" name="正方形/長方形 22"/>
          <p:cNvSpPr/>
          <p:nvPr/>
        </p:nvSpPr>
        <p:spPr>
          <a:xfrm>
            <a:off x="3939840" y="3618720"/>
            <a:ext cx="4164480" cy="522720"/>
          </a:xfrm>
          <a:prstGeom prst="rect">
            <a:avLst/>
          </a:prstGeom>
          <a:noFill/>
          <a:ln w="0">
            <a:noFill/>
          </a:ln>
        </p:spPr>
        <p:style>
          <a:lnRef idx="0"/>
          <a:fillRef idx="0"/>
          <a:effectRef idx="0"/>
          <a:fontRef idx="minor"/>
        </p:style>
        <p:txBody>
          <a:bodyPr wrap="none" lIns="90000" rIns="90000" tIns="45000" bIns="45000" anchor="ctr">
            <a:spAutoFit/>
          </a:bodyPr>
          <a:p>
            <a:pPr defTabSz="914400">
              <a:lnSpc>
                <a:spcPct val="100000"/>
              </a:lnSpc>
            </a:pPr>
            <a:r>
              <a:rPr b="0" lang="ja-JP" sz="1400" strike="noStrike" u="none">
                <a:solidFill>
                  <a:schemeClr val="dk1"/>
                </a:solidFill>
                <a:effectLst/>
                <a:uFillTx/>
                <a:latin typeface="メイリオ"/>
                <a:ea typeface="メイリオ"/>
              </a:rPr>
              <a:t>定期投稿、シナリオ、リッチメニュー等に設定の</a:t>
            </a:r>
            <a:endParaRPr b="0" lang="en-US" sz="1400" strike="noStrike" u="none">
              <a:solidFill>
                <a:srgbClr val="000000"/>
              </a:solidFill>
              <a:effectLst/>
              <a:uFillTx/>
              <a:latin typeface="Arial"/>
            </a:endParaRPr>
          </a:p>
          <a:p>
            <a:pPr defTabSz="914400">
              <a:lnSpc>
                <a:spcPct val="100000"/>
              </a:lnSpc>
            </a:pPr>
            <a:r>
              <a:rPr b="0" lang="ja-JP" sz="1400" strike="noStrike" u="none">
                <a:solidFill>
                  <a:schemeClr val="dk1"/>
                </a:solidFill>
                <a:effectLst/>
                <a:uFillTx/>
                <a:latin typeface="メイリオ"/>
                <a:ea typeface="メイリオ"/>
              </a:rPr>
              <a:t>リンクについて、</a:t>
            </a:r>
            <a:r>
              <a:rPr b="0" lang="en-US" sz="1400" strike="noStrike" u="none">
                <a:solidFill>
                  <a:srgbClr val="ff0000"/>
                </a:solidFill>
                <a:effectLst/>
                <a:uFillTx/>
                <a:latin typeface="メイリオ"/>
                <a:ea typeface="メイリオ"/>
              </a:rPr>
              <a:t>GA</a:t>
            </a:r>
            <a:r>
              <a:rPr b="0" lang="ja-JP" sz="1400" strike="noStrike" u="none">
                <a:solidFill>
                  <a:srgbClr val="ff0000"/>
                </a:solidFill>
                <a:effectLst/>
                <a:uFillTx/>
                <a:latin typeface="メイリオ"/>
                <a:ea typeface="メイリオ"/>
              </a:rPr>
              <a:t>、</a:t>
            </a:r>
            <a:r>
              <a:rPr b="0" lang="en-US" sz="1400" strike="noStrike" u="none">
                <a:solidFill>
                  <a:srgbClr val="ff0000"/>
                </a:solidFill>
                <a:effectLst/>
                <a:uFillTx/>
                <a:latin typeface="メイリオ"/>
                <a:ea typeface="メイリオ"/>
              </a:rPr>
              <a:t>MA</a:t>
            </a:r>
            <a:r>
              <a:rPr b="0" lang="ja-JP" sz="1400" strike="noStrike" u="none">
                <a:solidFill>
                  <a:srgbClr val="ff0000"/>
                </a:solidFill>
                <a:effectLst/>
                <a:uFillTx/>
                <a:latin typeface="メイリオ"/>
                <a:ea typeface="メイリオ"/>
              </a:rPr>
              <a:t>ツールでの計測可能</a:t>
            </a:r>
            <a:r>
              <a:rPr b="0" lang="ja-JP" sz="1400" strike="noStrike" u="none">
                <a:solidFill>
                  <a:schemeClr val="dk1"/>
                </a:solidFill>
                <a:effectLst/>
                <a:uFillTx/>
                <a:latin typeface="メイリオ"/>
                <a:ea typeface="メイリオ"/>
              </a:rPr>
              <a:t>に</a:t>
            </a:r>
            <a:endParaRPr b="0" lang="en-US" sz="1400" strike="noStrike" u="none">
              <a:solidFill>
                <a:srgbClr val="000000"/>
              </a:solidFill>
              <a:effectLst/>
              <a:uFillTx/>
              <a:latin typeface="Arial"/>
            </a:endParaRPr>
          </a:p>
        </p:txBody>
      </p:sp>
      <p:sp>
        <p:nvSpPr>
          <p:cNvPr id="674" name="正方形/長方形 23"/>
          <p:cNvSpPr/>
          <p:nvPr/>
        </p:nvSpPr>
        <p:spPr>
          <a:xfrm>
            <a:off x="571320" y="3649320"/>
            <a:ext cx="693720" cy="36900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1800" strike="noStrike" u="none">
                <a:solidFill>
                  <a:schemeClr val="dk1"/>
                </a:solidFill>
                <a:effectLst/>
                <a:uFillTx/>
                <a:latin typeface="メイリオ"/>
                <a:ea typeface="メイリオ"/>
              </a:rPr>
              <a:t>DYM</a:t>
            </a:r>
            <a:endParaRPr b="0" lang="en-US" sz="1800" strike="noStrike" u="none">
              <a:solidFill>
                <a:srgbClr val="000000"/>
              </a:solidFill>
              <a:effectLst/>
              <a:uFillTx/>
              <a:latin typeface="Arial"/>
            </a:endParaRPr>
          </a:p>
        </p:txBody>
      </p:sp>
      <p:pic>
        <p:nvPicPr>
          <p:cNvPr id="675" name="図 26" descr=""/>
          <p:cNvPicPr/>
          <p:nvPr/>
        </p:nvPicPr>
        <p:blipFill>
          <a:blip r:embed="rId2"/>
          <a:stretch/>
        </p:blipFill>
        <p:spPr>
          <a:xfrm>
            <a:off x="5173560" y="4510800"/>
            <a:ext cx="4218840" cy="1912680"/>
          </a:xfrm>
          <a:prstGeom prst="rect">
            <a:avLst/>
          </a:prstGeom>
          <a:noFill/>
          <a:ln w="0">
            <a:noFill/>
          </a:ln>
        </p:spPr>
      </p:pic>
      <p:sp>
        <p:nvSpPr>
          <p:cNvPr id="676" name="正方形/長方形 28"/>
          <p:cNvSpPr/>
          <p:nvPr/>
        </p:nvSpPr>
        <p:spPr>
          <a:xfrm>
            <a:off x="372960" y="4445280"/>
            <a:ext cx="454608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677" name="正方形/長方形 29"/>
          <p:cNvSpPr/>
          <p:nvPr/>
        </p:nvSpPr>
        <p:spPr>
          <a:xfrm>
            <a:off x="5141520" y="4445280"/>
            <a:ext cx="428256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678" name="正方形/長方形 30"/>
          <p:cNvSpPr/>
          <p:nvPr/>
        </p:nvSpPr>
        <p:spPr>
          <a:xfrm>
            <a:off x="78804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effectLst/>
                <a:uFillTx/>
                <a:latin typeface="メイリオ"/>
                <a:ea typeface="メイリオ"/>
              </a:rPr>
              <a:t>GA</a:t>
            </a:r>
            <a:r>
              <a:rPr b="1" lang="ja-JP" sz="1400" strike="noStrike" u="none">
                <a:solidFill>
                  <a:schemeClr val="lt1"/>
                </a:solidFill>
                <a:effectLst/>
                <a:uFillTx/>
                <a:latin typeface="メイリオ"/>
                <a:ea typeface="メイリオ"/>
              </a:rPr>
              <a:t>レポート（日次）</a:t>
            </a:r>
            <a:r>
              <a:rPr b="1" lang="en-US" sz="1100" strike="noStrike" u="none">
                <a:solidFill>
                  <a:schemeClr val="lt1"/>
                </a:solidFill>
                <a:effectLst/>
                <a:uFillTx/>
                <a:latin typeface="メイリオ"/>
                <a:ea typeface="メイリオ"/>
              </a:rPr>
              <a:t> ※サンプル</a:t>
            </a:r>
            <a:endParaRPr b="0" lang="en-US" sz="1100" strike="noStrike" u="none">
              <a:solidFill>
                <a:srgbClr val="000000"/>
              </a:solidFill>
              <a:effectLst/>
              <a:uFillTx/>
              <a:latin typeface="Arial"/>
            </a:endParaRPr>
          </a:p>
        </p:txBody>
      </p:sp>
      <p:sp>
        <p:nvSpPr>
          <p:cNvPr id="679" name="正方形/長方形 31"/>
          <p:cNvSpPr/>
          <p:nvPr/>
        </p:nvSpPr>
        <p:spPr>
          <a:xfrm>
            <a:off x="545328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effectLst/>
                <a:uFillTx/>
                <a:latin typeface="メイリオ"/>
                <a:ea typeface="メイリオ"/>
              </a:rPr>
              <a:t>GA</a:t>
            </a:r>
            <a:r>
              <a:rPr b="1" lang="ja-JP" sz="1400" strike="noStrike" u="none">
                <a:solidFill>
                  <a:schemeClr val="lt1"/>
                </a:solidFill>
                <a:effectLst/>
                <a:uFillTx/>
                <a:latin typeface="メイリオ"/>
                <a:ea typeface="メイリオ"/>
              </a:rPr>
              <a:t>レポート（月次）</a:t>
            </a:r>
            <a:r>
              <a:rPr b="1" lang="en-US" sz="1100" strike="noStrike" u="none">
                <a:solidFill>
                  <a:schemeClr val="lt1"/>
                </a:solidFill>
                <a:effectLst/>
                <a:uFillTx/>
                <a:latin typeface="メイリオ"/>
                <a:ea typeface="メイリオ"/>
              </a:rPr>
              <a:t> ※サンプル</a:t>
            </a:r>
            <a:endParaRPr b="0" lang="en-US" sz="1100" strike="noStrike" u="none">
              <a:solidFill>
                <a:srgbClr val="000000"/>
              </a:solidFill>
              <a:effectLst/>
              <a:uFillTx/>
              <a:latin typeface="Arial"/>
            </a:endParaRPr>
          </a:p>
        </p:txBody>
      </p:sp>
      <p:sp>
        <p:nvSpPr>
          <p:cNvPr id="680" name="正方形/長方形 32"/>
          <p:cNvSpPr/>
          <p:nvPr/>
        </p:nvSpPr>
        <p:spPr>
          <a:xfrm>
            <a:off x="258840" y="776160"/>
            <a:ext cx="9230040" cy="52272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r>
              <a:rPr b="0" lang="ja-JP" sz="1400" strike="noStrike" u="none">
                <a:solidFill>
                  <a:schemeClr val="dk1"/>
                </a:solidFill>
                <a:effectLst/>
                <a:uFillTx/>
                <a:latin typeface="メイリオ"/>
                <a:ea typeface="メイリオ"/>
              </a:rPr>
              <a:t>コンサル費用＋アカウント費用に対する効果を可視化し、課題点を都度確認できる体制に。</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メイリオ"/>
                <a:ea typeface="メイリオ"/>
              </a:rPr>
              <a:t>投稿別</a:t>
            </a:r>
            <a:r>
              <a:rPr b="0" lang="en-US" sz="1400" strike="noStrike" u="none">
                <a:solidFill>
                  <a:schemeClr val="dk1"/>
                </a:solidFill>
                <a:effectLst/>
                <a:uFillTx/>
                <a:latin typeface="メイリオ"/>
                <a:ea typeface="メイリオ"/>
              </a:rPr>
              <a:t>×</a:t>
            </a:r>
            <a:r>
              <a:rPr b="0" lang="ja-JP" sz="1400" strike="noStrike" u="none">
                <a:solidFill>
                  <a:schemeClr val="dk1"/>
                </a:solidFill>
                <a:effectLst/>
                <a:uFillTx/>
                <a:latin typeface="メイリオ"/>
                <a:ea typeface="メイリオ"/>
              </a:rPr>
              <a:t>セグメント別でデータ化でき、</a:t>
            </a:r>
            <a:r>
              <a:rPr b="0" lang="en-US" sz="1400" strike="noStrike" u="none">
                <a:solidFill>
                  <a:schemeClr val="dk1"/>
                </a:solidFill>
                <a:effectLst/>
                <a:uFillTx/>
                <a:latin typeface="メイリオ"/>
                <a:ea typeface="メイリオ"/>
              </a:rPr>
              <a:t>AB</a:t>
            </a:r>
            <a:r>
              <a:rPr b="0" lang="ja-JP" sz="1400" strike="noStrike" u="none">
                <a:solidFill>
                  <a:schemeClr val="dk1"/>
                </a:solidFill>
                <a:effectLst/>
                <a:uFillTx/>
                <a:latin typeface="メイリオ"/>
                <a:ea typeface="メイリオ"/>
              </a:rPr>
              <a:t>テストとクリエイティブ検証を細かく実施。</a:t>
            </a:r>
            <a:endParaRPr b="0" lang="en-US" sz="1400" strike="noStrike" u="none">
              <a:solidFill>
                <a:srgbClr val="000000"/>
              </a:solidFill>
              <a:effectLst/>
              <a:uFillTx/>
              <a:latin typeface="Arial"/>
            </a:endParaRPr>
          </a:p>
        </p:txBody>
      </p:sp>
      <p:sp>
        <p:nvSpPr>
          <p:cNvPr id="681"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サポート体制（報告</a:t>
            </a:r>
            <a:r>
              <a:rPr b="1" lang="en-US" sz="1600" strike="noStrike" u="none">
                <a:solidFill>
                  <a:srgbClr val="002060"/>
                </a:solidFill>
                <a:effectLst/>
                <a:uFillTx/>
                <a:latin typeface="Meiryo"/>
                <a:ea typeface="Meiryo"/>
              </a:rPr>
              <a:t>FMT</a:t>
            </a:r>
            <a:r>
              <a:rPr b="1" lang="ja-JP" sz="1600" strike="noStrike" u="none">
                <a:solidFill>
                  <a:srgbClr val="002060"/>
                </a:solidFill>
                <a:effectLst/>
                <a:uFillTx/>
                <a:latin typeface="Meiryo"/>
                <a:ea typeface="Meiryo"/>
              </a:rPr>
              <a:t>）</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正方形/長方形 3"/>
          <p:cNvSpPr/>
          <p:nvPr/>
        </p:nvSpPr>
        <p:spPr>
          <a:xfrm>
            <a:off x="253800" y="835560"/>
            <a:ext cx="254088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600" strike="noStrike" u="none">
                <a:solidFill>
                  <a:schemeClr val="lt1"/>
                </a:solidFill>
                <a:effectLst/>
                <a:uFillTx/>
                <a:latin typeface="メイリオ"/>
                <a:ea typeface="メイリオ"/>
              </a:rPr>
              <a:t>弊社体制図</a:t>
            </a:r>
            <a:endParaRPr b="0" lang="en-US" sz="1600" strike="noStrike" u="none">
              <a:solidFill>
                <a:srgbClr val="ffffff"/>
              </a:solidFill>
              <a:effectLst/>
              <a:uFillTx/>
              <a:latin typeface="Arial"/>
            </a:endParaRPr>
          </a:p>
        </p:txBody>
      </p:sp>
      <p:sp>
        <p:nvSpPr>
          <p:cNvPr id="683" name="Google Shape;156;p7"/>
          <p:cNvSpPr/>
          <p:nvPr/>
        </p:nvSpPr>
        <p:spPr>
          <a:xfrm>
            <a:off x="2857680" y="786240"/>
            <a:ext cx="7217280" cy="58428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chemeClr val="dk1">
                    <a:lumMod val="65000"/>
                    <a:lumOff val="35000"/>
                  </a:schemeClr>
                </a:solidFill>
                <a:effectLst/>
                <a:uFillTx/>
                <a:latin typeface="Meiryo"/>
                <a:ea typeface="Meiryo"/>
              </a:rPr>
              <a:t>GA</a:t>
            </a:r>
            <a:r>
              <a:rPr b="1" lang="ja-JP" sz="1600" strike="noStrike" u="none">
                <a:solidFill>
                  <a:schemeClr val="dk1">
                    <a:lumMod val="65000"/>
                    <a:lumOff val="35000"/>
                  </a:schemeClr>
                </a:solidFill>
                <a:effectLst/>
                <a:uFillTx/>
                <a:latin typeface="Meiryo"/>
                <a:ea typeface="Meiryo"/>
              </a:rPr>
              <a:t>及び</a:t>
            </a:r>
            <a:r>
              <a:rPr b="1" lang="en-US" sz="1600" strike="noStrike" u="none">
                <a:solidFill>
                  <a:schemeClr val="dk1">
                    <a:lumMod val="65000"/>
                    <a:lumOff val="35000"/>
                  </a:schemeClr>
                </a:solidFill>
                <a:effectLst/>
                <a:uFillTx/>
                <a:latin typeface="Meiryo"/>
                <a:ea typeface="Meiryo"/>
              </a:rPr>
              <a:t>MA</a:t>
            </a:r>
            <a:r>
              <a:rPr b="1" lang="ja-JP" sz="1600" strike="noStrike" u="none">
                <a:solidFill>
                  <a:schemeClr val="dk1">
                    <a:lumMod val="65000"/>
                    <a:lumOff val="35000"/>
                  </a:schemeClr>
                </a:solidFill>
                <a:effectLst/>
                <a:uFillTx/>
                <a:latin typeface="Meiryo"/>
                <a:ea typeface="Meiryo"/>
              </a:rPr>
              <a:t>ツール両面での計測ができるようパラメータ管理。</a:t>
            </a:r>
            <a:endParaRPr b="0" lang="en-US" sz="1600" strike="noStrike" u="none">
              <a:solidFill>
                <a:srgbClr val="000000"/>
              </a:solidFill>
              <a:effectLst/>
              <a:uFillTx/>
              <a:latin typeface="Arial"/>
            </a:endParaRPr>
          </a:p>
          <a:p>
            <a:pPr defTabSz="914400">
              <a:lnSpc>
                <a:spcPct val="100000"/>
              </a:lnSpc>
              <a:tabLst>
                <a:tab algn="l" pos="0"/>
              </a:tabLst>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公式アカウントの管理画面には出ない、サイト上の結果を紐づけ。</a:t>
            </a:r>
            <a:endParaRPr b="0" lang="en-US" sz="1600" strike="noStrike" u="none">
              <a:solidFill>
                <a:srgbClr val="000000"/>
              </a:solidFill>
              <a:effectLst/>
              <a:uFillTx/>
              <a:latin typeface="Arial"/>
            </a:endParaRPr>
          </a:p>
        </p:txBody>
      </p:sp>
      <p:sp>
        <p:nvSpPr>
          <p:cNvPr id="684"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体制図（イメージ）</a:t>
            </a:r>
            <a:endParaRPr b="0" lang="en-US" sz="1600" strike="noStrike" u="none">
              <a:solidFill>
                <a:srgbClr val="000000"/>
              </a:solidFill>
              <a:effectLst/>
              <a:uFillTx/>
              <a:latin typeface="Arial"/>
            </a:endParaRPr>
          </a:p>
        </p:txBody>
      </p:sp>
      <p:sp>
        <p:nvSpPr>
          <p:cNvPr id="685" name="Shape 6"/>
          <p:cNvSpPr/>
          <p:nvPr/>
        </p:nvSpPr>
        <p:spPr>
          <a:xfrm>
            <a:off x="621000" y="3084480"/>
            <a:ext cx="4673880" cy="73800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r>
              <a:rPr b="0" lang="ja-JP" sz="1200" strike="noStrike" u="none">
                <a:solidFill>
                  <a:srgbClr val="1a1a1a"/>
                </a:solidFill>
                <a:effectLst/>
                <a:uFillTx/>
                <a:latin typeface="メイリオ"/>
                <a:ea typeface="メイリオ"/>
              </a:rPr>
              <a:t>　</a:t>
            </a:r>
            <a:r>
              <a:rPr b="0" lang="ja-JP" sz="1200" strike="noStrike" u="none">
                <a:solidFill>
                  <a:srgbClr val="1a1a1a"/>
                </a:solidFill>
                <a:effectLst/>
                <a:uFillTx/>
                <a:latin typeface="メイリオ"/>
                <a:ea typeface="メイリオ"/>
              </a:rPr>
              <a:t>・本プロモーションの戦略立案 </a:t>
            </a:r>
            <a:r>
              <a:rPr b="0" lang="en-US" sz="1200" strike="noStrike" u="none">
                <a:solidFill>
                  <a:srgbClr val="1a1a1a"/>
                </a:solidFill>
                <a:effectLst/>
                <a:uFillTx/>
                <a:latin typeface="メイリオ"/>
                <a:ea typeface="メイリオ"/>
              </a:rPr>
              <a:t>/ </a:t>
            </a:r>
            <a:r>
              <a:rPr b="0" lang="ja-JP" sz="1200" strike="noStrike" u="none">
                <a:solidFill>
                  <a:srgbClr val="1a1a1a"/>
                </a:solidFill>
                <a:effectLst/>
                <a:uFillTx/>
                <a:latin typeface="メイリオ"/>
                <a:ea typeface="メイリオ"/>
              </a:rPr>
              <a:t>方針決定</a:t>
            </a:r>
            <a:endParaRPr b="0" lang="en-US" sz="1200" strike="noStrike" u="none">
              <a:solidFill>
                <a:srgbClr val="000000"/>
              </a:solidFill>
              <a:effectLst/>
              <a:uFillTx/>
              <a:latin typeface="Arial"/>
            </a:endParaRPr>
          </a:p>
        </p:txBody>
      </p:sp>
      <p:sp>
        <p:nvSpPr>
          <p:cNvPr id="686" name="Shape 15"/>
          <p:cNvSpPr/>
          <p:nvPr/>
        </p:nvSpPr>
        <p:spPr>
          <a:xfrm>
            <a:off x="660600" y="4383000"/>
            <a:ext cx="2148480" cy="57852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endParaRPr b="0" lang="en-US" sz="300" strike="noStrike" u="none">
              <a:solidFill>
                <a:srgbClr val="000000"/>
              </a:solidFill>
              <a:effectLst/>
              <a:uFillTx/>
              <a:latin typeface="Arial"/>
            </a:endParaRPr>
          </a:p>
          <a:p>
            <a:pPr defTabSz="914400">
              <a:lnSpc>
                <a:spcPct val="100000"/>
              </a:lnSpc>
            </a:pPr>
            <a:r>
              <a:rPr b="0" lang="zh-CN" sz="1100" strike="noStrike" u="none">
                <a:solidFill>
                  <a:srgbClr val="1a1a1a"/>
                </a:solidFill>
                <a:effectLst/>
                <a:uFillTx/>
                <a:latin typeface="メイリオ"/>
                <a:ea typeface="メイリオ"/>
              </a:rPr>
              <a:t>・アカウント設計</a:t>
            </a:r>
            <a:endParaRPr b="0" lang="en-US" sz="1100" strike="noStrike" u="none">
              <a:solidFill>
                <a:srgbClr val="000000"/>
              </a:solidFill>
              <a:effectLst/>
              <a:uFillTx/>
              <a:latin typeface="Arial"/>
            </a:endParaRPr>
          </a:p>
          <a:p>
            <a:pPr defTabSz="914400">
              <a:lnSpc>
                <a:spcPct val="100000"/>
              </a:lnSpc>
            </a:pPr>
            <a:r>
              <a:rPr b="0" lang="zh-CN" sz="1100" strike="noStrike" u="none">
                <a:solidFill>
                  <a:srgbClr val="1a1a1a"/>
                </a:solidFill>
                <a:effectLst/>
                <a:uFillTx/>
                <a:latin typeface="メイリオ"/>
                <a:ea typeface="メイリオ"/>
              </a:rPr>
              <a:t>・運用調整</a:t>
            </a:r>
            <a:endParaRPr b="0" lang="en-US" sz="1100" strike="noStrike" u="none">
              <a:solidFill>
                <a:srgbClr val="000000"/>
              </a:solidFill>
              <a:effectLst/>
              <a:uFillTx/>
              <a:latin typeface="Arial"/>
            </a:endParaRPr>
          </a:p>
        </p:txBody>
      </p:sp>
      <p:sp>
        <p:nvSpPr>
          <p:cNvPr id="687" name="Shape 16"/>
          <p:cNvSpPr/>
          <p:nvPr/>
        </p:nvSpPr>
        <p:spPr>
          <a:xfrm>
            <a:off x="645120" y="4065840"/>
            <a:ext cx="2148480" cy="347040"/>
          </a:xfrm>
          <a:prstGeom prst="rect">
            <a:avLst/>
          </a:prstGeom>
          <a:solidFill>
            <a:srgbClr val="1f3864"/>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ja-JP" sz="1350" strike="noStrike" u="none">
                <a:solidFill>
                  <a:srgbClr val="ffffff"/>
                </a:solidFill>
                <a:effectLst/>
                <a:uFillTx/>
                <a:latin typeface="メイリオ"/>
                <a:ea typeface="メイリオ"/>
              </a:rPr>
              <a:t>リス・</a:t>
            </a:r>
            <a:r>
              <a:rPr b="1" lang="en-US" sz="1350" strike="noStrike" u="none">
                <a:solidFill>
                  <a:srgbClr val="ffffff"/>
                </a:solidFill>
                <a:effectLst/>
                <a:uFillTx/>
                <a:latin typeface="メイリオ"/>
                <a:ea typeface="メイリオ"/>
              </a:rPr>
              <a:t>SNS</a:t>
            </a:r>
            <a:r>
              <a:rPr b="1" lang="ja-JP" sz="1350" strike="noStrike" u="none">
                <a:solidFill>
                  <a:srgbClr val="ffffff"/>
                </a:solidFill>
                <a:effectLst/>
                <a:uFillTx/>
                <a:latin typeface="メイリオ"/>
                <a:ea typeface="メイリオ"/>
              </a:rPr>
              <a:t>運用</a:t>
            </a:r>
            <a:endParaRPr b="0" lang="en-US" sz="1350" strike="noStrike" u="none">
              <a:solidFill>
                <a:srgbClr val="ffffff"/>
              </a:solidFill>
              <a:effectLst/>
              <a:uFillTx/>
              <a:latin typeface="Arial"/>
            </a:endParaRPr>
          </a:p>
        </p:txBody>
      </p:sp>
      <p:sp>
        <p:nvSpPr>
          <p:cNvPr id="688" name="Shape 26"/>
          <p:cNvSpPr/>
          <p:nvPr/>
        </p:nvSpPr>
        <p:spPr>
          <a:xfrm>
            <a:off x="633240" y="5567040"/>
            <a:ext cx="2139840" cy="62640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r>
              <a:rPr b="0" lang="en-US" sz="1200" strike="noStrike" u="none">
                <a:solidFill>
                  <a:srgbClr val="1a1a1a"/>
                </a:solidFill>
                <a:effectLst/>
                <a:uFillTx/>
                <a:latin typeface="メイリオ"/>
                <a:ea typeface="メイリオ"/>
              </a:rPr>
              <a:t>  ・運用調整</a:t>
            </a:r>
            <a:endParaRPr b="0" lang="en-US" sz="1200" strike="noStrike" u="none">
              <a:solidFill>
                <a:srgbClr val="000000"/>
              </a:solidFill>
              <a:effectLst/>
              <a:uFillTx/>
              <a:latin typeface="Arial"/>
            </a:endParaRPr>
          </a:p>
          <a:p>
            <a:pPr defTabSz="914400">
              <a:lnSpc>
                <a:spcPct val="100000"/>
              </a:lnSpc>
            </a:pPr>
            <a:r>
              <a:rPr b="0" lang="en-US" sz="1200" strike="noStrike" u="none">
                <a:solidFill>
                  <a:srgbClr val="1a1a1a"/>
                </a:solidFill>
                <a:effectLst/>
                <a:uFillTx/>
                <a:latin typeface="メイリオ"/>
                <a:ea typeface="メイリオ"/>
              </a:rPr>
              <a:t> ・入稿作業</a:t>
            </a:r>
            <a:endParaRPr b="0" lang="en-US" sz="1200" strike="noStrike" u="none">
              <a:solidFill>
                <a:srgbClr val="000000"/>
              </a:solidFill>
              <a:effectLst/>
              <a:uFillTx/>
              <a:latin typeface="Arial"/>
            </a:endParaRPr>
          </a:p>
        </p:txBody>
      </p:sp>
      <p:sp>
        <p:nvSpPr>
          <p:cNvPr id="689" name="Shape 27"/>
          <p:cNvSpPr/>
          <p:nvPr/>
        </p:nvSpPr>
        <p:spPr>
          <a:xfrm>
            <a:off x="633240" y="5231160"/>
            <a:ext cx="2139840" cy="347040"/>
          </a:xfrm>
          <a:prstGeom prst="rect">
            <a:avLst/>
          </a:prstGeom>
          <a:solidFill>
            <a:srgbClr val="1f3864"/>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zh-CN" sz="1200" strike="noStrike" u="none">
                <a:solidFill>
                  <a:srgbClr val="ffffff"/>
                </a:solidFill>
                <a:effectLst/>
                <a:uFillTx/>
                <a:latin typeface="メイリオ"/>
                <a:ea typeface="メイリオ"/>
              </a:rPr>
              <a:t>運用サポート</a:t>
            </a:r>
            <a:endParaRPr b="0" lang="en-US" sz="1200" strike="noStrike" u="none">
              <a:solidFill>
                <a:srgbClr val="ffffff"/>
              </a:solidFill>
              <a:effectLst/>
              <a:uFillTx/>
              <a:latin typeface="Arial"/>
            </a:endParaRPr>
          </a:p>
        </p:txBody>
      </p:sp>
      <p:sp>
        <p:nvSpPr>
          <p:cNvPr id="690" name="Text 28"/>
          <p:cNvSpPr/>
          <p:nvPr/>
        </p:nvSpPr>
        <p:spPr>
          <a:xfrm>
            <a:off x="633240" y="5231160"/>
            <a:ext cx="213984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b="0" lang="en-US" sz="1050" strike="noStrike" u="none">
              <a:solidFill>
                <a:schemeClr val="dk1"/>
              </a:solidFill>
              <a:effectLst/>
              <a:uFillTx/>
              <a:latin typeface="メイリオ"/>
              <a:ea typeface="メイリオ"/>
            </a:endParaRPr>
          </a:p>
        </p:txBody>
      </p:sp>
      <p:sp>
        <p:nvSpPr>
          <p:cNvPr id="691" name="Shape 31"/>
          <p:cNvSpPr/>
          <p:nvPr/>
        </p:nvSpPr>
        <p:spPr>
          <a:xfrm>
            <a:off x="2921400" y="5532120"/>
            <a:ext cx="2385720" cy="64116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・バナー制作</a:t>
            </a: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a:t>
            </a:r>
            <a:r>
              <a:rPr b="0" lang="en-US" sz="1200" strike="noStrike" u="none">
                <a:solidFill>
                  <a:srgbClr val="1a1a1a"/>
                </a:solidFill>
                <a:effectLst/>
                <a:uFillTx/>
                <a:latin typeface="メイリオ"/>
                <a:ea typeface="メイリオ"/>
              </a:rPr>
              <a:t>LP</a:t>
            </a:r>
            <a:r>
              <a:rPr b="0" lang="zh-CN" sz="1200" strike="noStrike" u="none">
                <a:solidFill>
                  <a:srgbClr val="1a1a1a"/>
                </a:solidFill>
                <a:effectLst/>
                <a:uFillTx/>
                <a:latin typeface="メイリオ"/>
                <a:ea typeface="メイリオ"/>
              </a:rPr>
              <a:t>制作</a:t>
            </a: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・動画制作</a:t>
            </a:r>
            <a:endParaRPr b="0" lang="en-US" sz="1200" strike="noStrike" u="none">
              <a:solidFill>
                <a:srgbClr val="000000"/>
              </a:solidFill>
              <a:effectLst/>
              <a:uFillTx/>
              <a:latin typeface="Arial"/>
            </a:endParaRPr>
          </a:p>
        </p:txBody>
      </p:sp>
      <p:sp>
        <p:nvSpPr>
          <p:cNvPr id="692" name="Shape 32"/>
          <p:cNvSpPr/>
          <p:nvPr/>
        </p:nvSpPr>
        <p:spPr>
          <a:xfrm>
            <a:off x="2921400" y="5221440"/>
            <a:ext cx="2385720" cy="347040"/>
          </a:xfrm>
          <a:prstGeom prst="rect">
            <a:avLst/>
          </a:prstGeom>
          <a:solidFill>
            <a:schemeClr val="bg1">
              <a:lumMod val="65000"/>
            </a:schemeClr>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zh-CN" sz="1200" strike="noStrike" u="none">
                <a:solidFill>
                  <a:srgbClr val="ffffff"/>
                </a:solidFill>
                <a:effectLst/>
                <a:uFillTx/>
                <a:latin typeface="メイリオ"/>
                <a:ea typeface="メイリオ"/>
              </a:rPr>
              <a:t>制作</a:t>
            </a:r>
            <a:endParaRPr b="0" lang="en-US" sz="1200" strike="noStrike" u="none">
              <a:solidFill>
                <a:srgbClr val="000000"/>
              </a:solidFill>
              <a:effectLst/>
              <a:uFillTx/>
              <a:latin typeface="Arial"/>
            </a:endParaRPr>
          </a:p>
        </p:txBody>
      </p:sp>
      <p:sp>
        <p:nvSpPr>
          <p:cNvPr id="693" name="Shape 38"/>
          <p:cNvSpPr/>
          <p:nvPr/>
        </p:nvSpPr>
        <p:spPr>
          <a:xfrm>
            <a:off x="5740560" y="4097160"/>
            <a:ext cx="3292920" cy="347040"/>
          </a:xfrm>
          <a:prstGeom prst="rect">
            <a:avLst/>
          </a:prstGeom>
          <a:solidFill>
            <a:srgbClr val="8496b8"/>
          </a:solidFill>
          <a:ln w="12700">
            <a:solidFill>
              <a:srgbClr val="8496b8"/>
            </a:solidFill>
            <a:round/>
          </a:ln>
        </p:spPr>
        <p:style>
          <a:lnRef idx="0"/>
          <a:fillRef idx="0"/>
          <a:effectRef idx="0"/>
          <a:fontRef idx="minor"/>
        </p:style>
        <p:txBody>
          <a:bodyPr lIns="90000" rIns="9000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媒体担当</a:t>
            </a:r>
            <a:endParaRPr b="0" lang="en-US" sz="1200" strike="noStrike" u="none">
              <a:solidFill>
                <a:srgbClr val="ffffff"/>
              </a:solidFill>
              <a:effectLst/>
              <a:uFillTx/>
              <a:latin typeface="Arial"/>
            </a:endParaRPr>
          </a:p>
        </p:txBody>
      </p:sp>
      <p:sp>
        <p:nvSpPr>
          <p:cNvPr id="694" name="Shape 20"/>
          <p:cNvSpPr/>
          <p:nvPr/>
        </p:nvSpPr>
        <p:spPr>
          <a:xfrm>
            <a:off x="2930040" y="4391640"/>
            <a:ext cx="2377080" cy="57852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endParaRPr b="0" lang="en-US" sz="1100" strike="noStrike" u="none">
              <a:solidFill>
                <a:srgbClr val="000000"/>
              </a:solidFill>
              <a:effectLst/>
              <a:uFillTx/>
              <a:latin typeface="Arial"/>
            </a:endParaRPr>
          </a:p>
          <a:p>
            <a:pPr defTabSz="914400">
              <a:lnSpc>
                <a:spcPct val="100000"/>
              </a:lnSpc>
            </a:pPr>
            <a:endParaRPr b="0" lang="en-US" sz="1100" strike="noStrike" u="none">
              <a:solidFill>
                <a:srgbClr val="000000"/>
              </a:solidFill>
              <a:effectLst/>
              <a:uFillTx/>
              <a:latin typeface="Arial"/>
            </a:endParaRPr>
          </a:p>
          <a:p>
            <a:pPr defTabSz="914400">
              <a:lnSpc>
                <a:spcPct val="100000"/>
              </a:lnSpc>
            </a:pPr>
            <a:r>
              <a:rPr b="0" lang="zh-CN" sz="1100" strike="noStrike" u="none">
                <a:solidFill>
                  <a:srgbClr val="1a1a1a"/>
                </a:solidFill>
                <a:effectLst/>
                <a:uFillTx/>
                <a:latin typeface="メイリオ"/>
                <a:ea typeface="メイリオ"/>
              </a:rPr>
              <a:t>・アカウント設計</a:t>
            </a:r>
            <a:r>
              <a:rPr b="0" lang="ja-JP" sz="1100" strike="noStrike" u="none">
                <a:solidFill>
                  <a:srgbClr val="1a1a1a"/>
                </a:solidFill>
                <a:effectLst/>
                <a:uFillTx/>
                <a:latin typeface="メイリオ"/>
                <a:ea typeface="メイリオ"/>
              </a:rPr>
              <a:t>・運用調整</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1a1a1a"/>
                </a:solidFill>
                <a:effectLst/>
                <a:uFillTx/>
                <a:latin typeface="メイリオ"/>
                <a:ea typeface="メイリオ"/>
              </a:rPr>
              <a:t>・クリエイティブディレクション</a:t>
            </a:r>
            <a:endParaRPr b="0" lang="en-US" sz="1100" strike="noStrike" u="none">
              <a:solidFill>
                <a:srgbClr val="000000"/>
              </a:solidFill>
              <a:effectLst/>
              <a:uFillTx/>
              <a:latin typeface="Arial"/>
            </a:endParaRPr>
          </a:p>
          <a:p>
            <a:pPr defTabSz="914400">
              <a:lnSpc>
                <a:spcPct val="100000"/>
              </a:lnSpc>
            </a:pPr>
            <a:endParaRPr b="0" lang="en-US" sz="1100" strike="noStrike" u="none">
              <a:solidFill>
                <a:srgbClr val="000000"/>
              </a:solidFill>
              <a:effectLst/>
              <a:uFillTx/>
              <a:latin typeface="Arial"/>
            </a:endParaRPr>
          </a:p>
          <a:p>
            <a:pPr defTabSz="914400">
              <a:lnSpc>
                <a:spcPct val="100000"/>
              </a:lnSpc>
            </a:pPr>
            <a:endParaRPr b="0" lang="en-US" sz="1100" strike="noStrike" u="none">
              <a:solidFill>
                <a:srgbClr val="000000"/>
              </a:solidFill>
              <a:effectLst/>
              <a:uFillTx/>
              <a:latin typeface="Arial"/>
            </a:endParaRPr>
          </a:p>
        </p:txBody>
      </p:sp>
      <p:sp>
        <p:nvSpPr>
          <p:cNvPr id="695" name="Shape 21"/>
          <p:cNvSpPr/>
          <p:nvPr/>
        </p:nvSpPr>
        <p:spPr>
          <a:xfrm>
            <a:off x="2930040" y="4059720"/>
            <a:ext cx="2377080" cy="347040"/>
          </a:xfrm>
          <a:prstGeom prst="rect">
            <a:avLst/>
          </a:prstGeom>
          <a:solidFill>
            <a:srgbClr val="ffc000"/>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en-US" sz="1350" strike="noStrike" u="none">
                <a:solidFill>
                  <a:srgbClr val="ffffff"/>
                </a:solidFill>
                <a:effectLst/>
                <a:uFillTx/>
                <a:latin typeface="メイリオ"/>
                <a:ea typeface="メイリオ"/>
              </a:rPr>
              <a:t>LINEOA</a:t>
            </a:r>
            <a:r>
              <a:rPr b="1" lang="zh-CN" sz="1350" strike="noStrike" u="none">
                <a:solidFill>
                  <a:srgbClr val="ffffff"/>
                </a:solidFill>
                <a:effectLst/>
                <a:uFillTx/>
                <a:latin typeface="メイリオ"/>
                <a:ea typeface="メイリオ"/>
              </a:rPr>
              <a:t>運用</a:t>
            </a:r>
            <a:endParaRPr b="0" lang="en-US" sz="1350" strike="noStrike" u="none">
              <a:solidFill>
                <a:srgbClr val="000000"/>
              </a:solidFill>
              <a:effectLst/>
              <a:uFillTx/>
              <a:latin typeface="Arial"/>
            </a:endParaRPr>
          </a:p>
        </p:txBody>
      </p:sp>
      <p:sp>
        <p:nvSpPr>
          <p:cNvPr id="696" name="Shape 6"/>
          <p:cNvSpPr/>
          <p:nvPr/>
        </p:nvSpPr>
        <p:spPr>
          <a:xfrm>
            <a:off x="5425920" y="3084480"/>
            <a:ext cx="3557520" cy="73800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t">
            <a:noAutofit/>
          </a:bodyPr>
          <a:p>
            <a:pPr defTabSz="914400">
              <a:lnSpc>
                <a:spcPct val="100000"/>
              </a:lnSpc>
            </a:pP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・貴社担当との連絡やり取り全般</a:t>
            </a: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・書</a:t>
            </a:r>
            <a:r>
              <a:rPr b="0" lang="ja-JP" sz="1200" strike="noStrike" u="none">
                <a:solidFill>
                  <a:srgbClr val="1a1a1a"/>
                </a:solidFill>
                <a:effectLst/>
                <a:uFillTx/>
                <a:latin typeface="メイリオ"/>
                <a:ea typeface="メイリオ"/>
              </a:rPr>
              <a:t>類の作成等、事務面までサポート</a:t>
            </a:r>
            <a:endParaRPr b="0" lang="en-US" sz="1200" strike="noStrike" u="none">
              <a:solidFill>
                <a:srgbClr val="000000"/>
              </a:solidFill>
              <a:effectLst/>
              <a:uFillTx/>
              <a:latin typeface="Arial"/>
            </a:endParaRPr>
          </a:p>
        </p:txBody>
      </p:sp>
      <p:sp>
        <p:nvSpPr>
          <p:cNvPr id="697" name="Shape 7"/>
          <p:cNvSpPr/>
          <p:nvPr/>
        </p:nvSpPr>
        <p:spPr>
          <a:xfrm>
            <a:off x="5425920" y="2849400"/>
            <a:ext cx="3557520" cy="347040"/>
          </a:xfrm>
          <a:prstGeom prst="rect">
            <a:avLst/>
          </a:prstGeom>
          <a:solidFill>
            <a:schemeClr val="accent1">
              <a:lumMod val="75000"/>
            </a:schemeClr>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zh-CN" sz="1350" strike="noStrike" u="none">
                <a:solidFill>
                  <a:srgbClr val="ffffff"/>
                </a:solidFill>
                <a:effectLst/>
                <a:uFillTx/>
                <a:latin typeface="メイリオ"/>
                <a:ea typeface="メイリオ"/>
              </a:rPr>
              <a:t>営業 </a:t>
            </a:r>
            <a:r>
              <a:rPr b="1" lang="en-US" sz="1350" strike="noStrike" u="none">
                <a:solidFill>
                  <a:srgbClr val="ffffff"/>
                </a:solidFill>
                <a:effectLst/>
                <a:uFillTx/>
                <a:latin typeface="メイリオ"/>
                <a:ea typeface="メイリオ"/>
              </a:rPr>
              <a:t>/ </a:t>
            </a:r>
            <a:r>
              <a:rPr b="1" lang="zh-CN" sz="1350" strike="noStrike" u="none">
                <a:solidFill>
                  <a:srgbClr val="ffffff"/>
                </a:solidFill>
                <a:effectLst/>
                <a:uFillTx/>
                <a:latin typeface="メイリオ"/>
                <a:ea typeface="メイリオ"/>
              </a:rPr>
              <a:t>フロント対応（サブ）</a:t>
            </a:r>
            <a:endParaRPr b="0" lang="en-US" sz="1350" strike="noStrike" u="none">
              <a:solidFill>
                <a:srgbClr val="ffffff"/>
              </a:solidFill>
              <a:effectLst/>
              <a:uFillTx/>
              <a:latin typeface="Arial"/>
            </a:endParaRPr>
          </a:p>
        </p:txBody>
      </p:sp>
      <p:sp>
        <p:nvSpPr>
          <p:cNvPr id="698" name="Shape 7"/>
          <p:cNvSpPr/>
          <p:nvPr/>
        </p:nvSpPr>
        <p:spPr>
          <a:xfrm>
            <a:off x="612360" y="2849400"/>
            <a:ext cx="4682520" cy="347040"/>
          </a:xfrm>
          <a:prstGeom prst="rect">
            <a:avLst/>
          </a:prstGeom>
          <a:solidFill>
            <a:schemeClr val="accent1">
              <a:lumMod val="75000"/>
            </a:schemeClr>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ja-JP" sz="1350" strike="noStrike" u="none">
                <a:solidFill>
                  <a:srgbClr val="ffffff"/>
                </a:solidFill>
                <a:effectLst/>
                <a:uFillTx/>
                <a:latin typeface="メイリオ"/>
                <a:ea typeface="メイリオ"/>
              </a:rPr>
              <a:t>広告運用統括・コンサル</a:t>
            </a:r>
            <a:endParaRPr b="0" lang="en-US" sz="1350" strike="noStrike" u="none">
              <a:solidFill>
                <a:srgbClr val="ffffff"/>
              </a:solidFill>
              <a:effectLst/>
              <a:uFillTx/>
              <a:latin typeface="Arial"/>
            </a:endParaRPr>
          </a:p>
        </p:txBody>
      </p:sp>
      <p:sp>
        <p:nvSpPr>
          <p:cNvPr id="699" name="Shape 6"/>
          <p:cNvSpPr/>
          <p:nvPr/>
        </p:nvSpPr>
        <p:spPr>
          <a:xfrm>
            <a:off x="549000" y="1995840"/>
            <a:ext cx="8545680" cy="61524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t">
            <a:noAutofit/>
          </a:bodyPr>
          <a:p>
            <a:pPr defTabSz="914400">
              <a:lnSpc>
                <a:spcPct val="100000"/>
              </a:lnSpc>
            </a:pPr>
            <a:endParaRPr b="0" lang="en-US" sz="1200" strike="noStrike" u="none">
              <a:solidFill>
                <a:srgbClr val="000000"/>
              </a:solidFill>
              <a:effectLst/>
              <a:uFillTx/>
              <a:latin typeface="Arial"/>
            </a:endParaRPr>
          </a:p>
          <a:p>
            <a:pPr defTabSz="914400">
              <a:lnSpc>
                <a:spcPct val="100000"/>
              </a:lnSpc>
            </a:pPr>
            <a:r>
              <a:rPr b="0" lang="ja-JP" sz="1200" strike="noStrike" u="none">
                <a:solidFill>
                  <a:srgbClr val="1a1a1a"/>
                </a:solidFill>
                <a:effectLst/>
                <a:uFillTx/>
                <a:latin typeface="メイリオ"/>
                <a:ea typeface="メイリオ"/>
              </a:rPr>
              <a:t>　・本プロモーションの戦略立案 </a:t>
            </a:r>
            <a:r>
              <a:rPr b="0" lang="en-US" sz="1200" strike="noStrike" u="none">
                <a:solidFill>
                  <a:srgbClr val="1a1a1a"/>
                </a:solidFill>
                <a:effectLst/>
                <a:uFillTx/>
                <a:latin typeface="メイリオ"/>
                <a:ea typeface="メイリオ"/>
              </a:rPr>
              <a:t>/ </a:t>
            </a:r>
            <a:r>
              <a:rPr b="0" lang="ja-JP" sz="1200" strike="noStrike" u="none">
                <a:solidFill>
                  <a:srgbClr val="1a1a1a"/>
                </a:solidFill>
                <a:effectLst/>
                <a:uFillTx/>
                <a:latin typeface="メイリオ"/>
                <a:ea typeface="メイリオ"/>
              </a:rPr>
              <a:t>方針決定　　　　・貴社ご担当者様との連絡やり取り全般</a:t>
            </a:r>
            <a:endParaRPr b="0" lang="en-US" sz="1200" strike="noStrike" u="none">
              <a:solidFill>
                <a:srgbClr val="000000"/>
              </a:solidFill>
              <a:effectLst/>
              <a:uFillTx/>
              <a:latin typeface="Arial"/>
            </a:endParaRPr>
          </a:p>
        </p:txBody>
      </p:sp>
      <p:sp>
        <p:nvSpPr>
          <p:cNvPr id="700" name="Shape 7"/>
          <p:cNvSpPr/>
          <p:nvPr/>
        </p:nvSpPr>
        <p:spPr>
          <a:xfrm>
            <a:off x="549000" y="1729800"/>
            <a:ext cx="4073400" cy="347040"/>
          </a:xfrm>
          <a:prstGeom prst="rect">
            <a:avLst/>
          </a:prstGeom>
          <a:solidFill>
            <a:schemeClr val="accent1">
              <a:lumMod val="75000"/>
            </a:schemeClr>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zh-CN" sz="1350" strike="noStrike" u="none">
                <a:solidFill>
                  <a:srgbClr val="ffffff"/>
                </a:solidFill>
                <a:effectLst/>
                <a:uFillTx/>
                <a:latin typeface="メイリオ"/>
                <a:ea typeface="メイリオ"/>
              </a:rPr>
              <a:t>営業 </a:t>
            </a:r>
            <a:r>
              <a:rPr b="1" lang="en-US" sz="1350" strike="noStrike" u="none">
                <a:solidFill>
                  <a:srgbClr val="ffffff"/>
                </a:solidFill>
                <a:effectLst/>
                <a:uFillTx/>
                <a:latin typeface="メイリオ"/>
                <a:ea typeface="メイリオ"/>
              </a:rPr>
              <a:t>/ </a:t>
            </a:r>
            <a:r>
              <a:rPr b="1" lang="zh-CN" sz="1350" strike="noStrike" u="none">
                <a:solidFill>
                  <a:srgbClr val="ffffff"/>
                </a:solidFill>
                <a:effectLst/>
                <a:uFillTx/>
                <a:latin typeface="メイリオ"/>
                <a:ea typeface="メイリオ"/>
              </a:rPr>
              <a:t>フロント対応（</a:t>
            </a:r>
            <a:r>
              <a:rPr b="1" lang="ja-JP" sz="1350" strike="noStrike" u="none">
                <a:solidFill>
                  <a:srgbClr val="ffffff"/>
                </a:solidFill>
                <a:effectLst/>
                <a:uFillTx/>
                <a:latin typeface="メイリオ"/>
                <a:ea typeface="メイリオ"/>
              </a:rPr>
              <a:t>全体統括）　</a:t>
            </a:r>
            <a:endParaRPr b="0" lang="en-US" sz="1350" strike="noStrike" u="none">
              <a:solidFill>
                <a:srgbClr val="ffffff"/>
              </a:solidFill>
              <a:effectLst/>
              <a:uFillTx/>
              <a:latin typeface="Arial"/>
            </a:endParaRPr>
          </a:p>
        </p:txBody>
      </p:sp>
      <p:sp>
        <p:nvSpPr>
          <p:cNvPr id="701" name="Shape 38"/>
          <p:cNvSpPr/>
          <p:nvPr/>
        </p:nvSpPr>
        <p:spPr>
          <a:xfrm>
            <a:off x="5740560" y="4509000"/>
            <a:ext cx="3292920" cy="1146600"/>
          </a:xfrm>
          <a:prstGeom prst="rect">
            <a:avLst/>
          </a:prstGeom>
          <a:solidFill>
            <a:schemeClr val="accent1">
              <a:lumMod val="20000"/>
              <a:lumOff val="80000"/>
            </a:schemeClr>
          </a:solidFill>
          <a:ln w="12700">
            <a:solidFill>
              <a:srgbClr val="8496b8"/>
            </a:solidFill>
            <a:round/>
          </a:ln>
        </p:spPr>
        <p:style>
          <a:lnRef idx="0"/>
          <a:fillRef idx="0"/>
          <a:effectRef idx="0"/>
          <a:fontRef idx="minor"/>
        </p:style>
        <p:txBody>
          <a:bodyPr lIns="90000" rIns="90000" tIns="45000" bIns="45000" anchor="ctr">
            <a:noAutofit/>
          </a:bodyPr>
          <a:p>
            <a:pPr algn="ctr" defTabSz="914400">
              <a:lnSpc>
                <a:spcPct val="100000"/>
              </a:lnSpc>
            </a:pPr>
            <a:endParaRPr b="0" lang="en-US" sz="1200" strike="noStrike" u="none">
              <a:solidFill>
                <a:schemeClr val="lt1"/>
              </a:solidFill>
              <a:effectLst/>
              <a:uFillTx/>
              <a:latin typeface="メイリオ"/>
              <a:ea typeface="メイリオ"/>
            </a:endParaRPr>
          </a:p>
        </p:txBody>
      </p:sp>
      <p:sp>
        <p:nvSpPr>
          <p:cNvPr id="702" name="矢印: 下 35"/>
          <p:cNvSpPr/>
          <p:nvPr/>
        </p:nvSpPr>
        <p:spPr>
          <a:xfrm>
            <a:off x="1528200" y="3735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03" name="矢印: 下 36"/>
          <p:cNvSpPr/>
          <p:nvPr/>
        </p:nvSpPr>
        <p:spPr>
          <a:xfrm>
            <a:off x="3987360" y="37404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pic>
        <p:nvPicPr>
          <p:cNvPr id="704" name="Picture 2" descr=""/>
          <p:cNvPicPr/>
          <p:nvPr/>
        </p:nvPicPr>
        <p:blipFill>
          <a:blip r:embed="rId1"/>
          <a:stretch/>
        </p:blipFill>
        <p:spPr>
          <a:xfrm>
            <a:off x="6549840" y="4692960"/>
            <a:ext cx="569520" cy="375840"/>
          </a:xfrm>
          <a:prstGeom prst="rect">
            <a:avLst/>
          </a:prstGeom>
          <a:noFill/>
          <a:ln w="0">
            <a:noFill/>
          </a:ln>
        </p:spPr>
      </p:pic>
      <p:pic>
        <p:nvPicPr>
          <p:cNvPr id="705" name="Picture 4" descr="ロゴガイドライン｜LINEヤフー for Business"/>
          <p:cNvPicPr/>
          <p:nvPr/>
        </p:nvPicPr>
        <p:blipFill>
          <a:blip r:embed="rId2"/>
          <a:stretch/>
        </p:blipFill>
        <p:spPr>
          <a:xfrm>
            <a:off x="4973040" y="4459680"/>
            <a:ext cx="2356920" cy="855360"/>
          </a:xfrm>
          <a:prstGeom prst="rect">
            <a:avLst/>
          </a:prstGeom>
          <a:noFill/>
          <a:ln w="0">
            <a:noFill/>
          </a:ln>
        </p:spPr>
      </p:pic>
      <p:pic>
        <p:nvPicPr>
          <p:cNvPr id="706" name="図 48" descr=""/>
          <p:cNvPicPr/>
          <p:nvPr/>
        </p:nvPicPr>
        <p:blipFill>
          <a:blip r:embed="rId3"/>
          <a:srcRect l="10000" t="9659" r="9718" b="9659"/>
          <a:stretch/>
        </p:blipFill>
        <p:spPr>
          <a:xfrm>
            <a:off x="7294320" y="4673520"/>
            <a:ext cx="411120" cy="412920"/>
          </a:xfrm>
          <a:prstGeom prst="rect">
            <a:avLst/>
          </a:prstGeom>
          <a:noFill/>
          <a:ln w="0">
            <a:noFill/>
          </a:ln>
        </p:spPr>
      </p:pic>
      <p:pic>
        <p:nvPicPr>
          <p:cNvPr id="707" name="Picture 10" descr="Google ロゴ（グーグル） – ICONLAB（アイコンラボ）"/>
          <p:cNvPicPr/>
          <p:nvPr/>
        </p:nvPicPr>
        <p:blipFill>
          <a:blip r:embed="rId4"/>
          <a:stretch/>
        </p:blipFill>
        <p:spPr>
          <a:xfrm>
            <a:off x="6916320" y="5170680"/>
            <a:ext cx="1167120" cy="382680"/>
          </a:xfrm>
          <a:prstGeom prst="rect">
            <a:avLst/>
          </a:prstGeom>
          <a:noFill/>
          <a:ln w="0">
            <a:noFill/>
          </a:ln>
        </p:spPr>
      </p:pic>
      <p:sp>
        <p:nvSpPr>
          <p:cNvPr id="708" name="AutoShape 16" descr="TikTok Vector Logo - Download Free SVG Icon | Worldvectorlogo"/>
          <p:cNvSpPr/>
          <p:nvPr/>
        </p:nvSpPr>
        <p:spPr>
          <a:xfrm>
            <a:off x="4800600" y="3276720"/>
            <a:ext cx="304560" cy="304560"/>
          </a:xfrm>
          <a:prstGeom prst="rect">
            <a:avLst/>
          </a:prstGeom>
          <a:noFill/>
          <a:ln w="0">
            <a:noFill/>
          </a:ln>
        </p:spPr>
        <p:style>
          <a:lnRef idx="0"/>
          <a:fillRef idx="0"/>
          <a:effectRef idx="0"/>
          <a:fontRef idx="minor"/>
        </p:style>
        <p:txBody>
          <a:bodyPr numCol="1" spcCol="0" anchor="t">
            <a:noAutofit/>
          </a:bodyPr>
          <a:p>
            <a:pPr defTabSz="914400">
              <a:lnSpc>
                <a:spcPct val="100000"/>
              </a:lnSpc>
            </a:pPr>
            <a:endParaRPr b="0" lang="en-US" sz="1800" strike="noStrike" u="none">
              <a:solidFill>
                <a:schemeClr val="dk1"/>
              </a:solidFill>
              <a:effectLst/>
              <a:uFillTx/>
              <a:latin typeface="Calibri"/>
            </a:endParaRPr>
          </a:p>
        </p:txBody>
      </p:sp>
      <p:pic>
        <p:nvPicPr>
          <p:cNvPr id="709" name="グラフィックス 54" descr=""/>
          <p:cNvPicPr/>
          <p:nvPr/>
        </p:nvPicPr>
        <p:blipFill>
          <a:blip r:embed="rId5">
            <a:extLst>
              <a:ext uri="{96DAC541-7B7A-43D3-8B79-37D633B846F1}">
                <asvg:svgBlip xmlns:asvg="http://schemas.microsoft.com/office/drawing/2016/SVG/main" r:embed="rId6"/>
              </a:ext>
            </a:extLst>
          </a:blip>
          <a:stretch/>
        </p:blipFill>
        <p:spPr>
          <a:xfrm>
            <a:off x="7915320" y="4592520"/>
            <a:ext cx="430920" cy="494640"/>
          </a:xfrm>
          <a:prstGeom prst="rect">
            <a:avLst/>
          </a:prstGeom>
          <a:noFill/>
          <a:ln w="0">
            <a:noFill/>
          </a:ln>
        </p:spPr>
      </p:pic>
      <p:pic>
        <p:nvPicPr>
          <p:cNvPr id="710" name="Picture 18" descr="スマートニュースはSNSでも情報を発信しています"/>
          <p:cNvPicPr/>
          <p:nvPr/>
        </p:nvPicPr>
        <p:blipFill>
          <a:blip r:embed="rId7"/>
          <a:srcRect l="0" t="0" r="70057" b="0"/>
          <a:stretch/>
        </p:blipFill>
        <p:spPr>
          <a:xfrm>
            <a:off x="8334000" y="4584600"/>
            <a:ext cx="564120" cy="579960"/>
          </a:xfrm>
          <a:prstGeom prst="rect">
            <a:avLst/>
          </a:prstGeom>
          <a:noFill/>
          <a:ln w="0">
            <a:noFill/>
          </a:ln>
        </p:spPr>
      </p:pic>
      <p:sp>
        <p:nvSpPr>
          <p:cNvPr id="711" name="矢印: 下 55"/>
          <p:cNvSpPr/>
          <p:nvPr/>
        </p:nvSpPr>
        <p:spPr>
          <a:xfrm>
            <a:off x="2694240" y="2529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2" name="矢印: 下 56"/>
          <p:cNvSpPr/>
          <p:nvPr/>
        </p:nvSpPr>
        <p:spPr>
          <a:xfrm>
            <a:off x="7125480" y="25002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3" name="矢印: 下 57"/>
          <p:cNvSpPr/>
          <p:nvPr/>
        </p:nvSpPr>
        <p:spPr>
          <a:xfrm>
            <a:off x="7077960" y="369252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4" name="矢印: 下 58"/>
          <p:cNvSpPr/>
          <p:nvPr/>
        </p:nvSpPr>
        <p:spPr>
          <a:xfrm>
            <a:off x="1531440" y="49431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5" name="矢印: 下 59"/>
          <p:cNvSpPr/>
          <p:nvPr/>
        </p:nvSpPr>
        <p:spPr>
          <a:xfrm>
            <a:off x="3985200" y="49467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6" name="矢印: 下 60"/>
          <p:cNvSpPr/>
          <p:nvPr/>
        </p:nvSpPr>
        <p:spPr>
          <a:xfrm rot="17887800">
            <a:off x="5383800" y="462204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7" name="矢印: 下 61"/>
          <p:cNvSpPr/>
          <p:nvPr/>
        </p:nvSpPr>
        <p:spPr>
          <a:xfrm rot="7261800">
            <a:off x="5310360" y="43599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運用スケジュール</a:t>
            </a:r>
            <a:endParaRPr b="0" lang="en-US" sz="1600" strike="noStrike" u="none">
              <a:solidFill>
                <a:srgbClr val="000000"/>
              </a:solidFill>
              <a:effectLst/>
              <a:uFillTx/>
              <a:latin typeface="Arial"/>
            </a:endParaRPr>
          </a:p>
        </p:txBody>
      </p:sp>
      <p:sp>
        <p:nvSpPr>
          <p:cNvPr id="719" name="角丸四角形 27"/>
          <p:cNvSpPr/>
          <p:nvPr/>
        </p:nvSpPr>
        <p:spPr>
          <a:xfrm>
            <a:off x="910800" y="199404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STEP1</a:t>
            </a:r>
            <a:endParaRPr b="0" lang="en-US" sz="1800" strike="noStrike" u="none">
              <a:solidFill>
                <a:srgbClr val="000000"/>
              </a:solidFill>
              <a:effectLst/>
              <a:uFillTx/>
              <a:latin typeface="Arial"/>
            </a:endParaRPr>
          </a:p>
        </p:txBody>
      </p:sp>
      <p:sp>
        <p:nvSpPr>
          <p:cNvPr id="720" name="角丸四角形 28"/>
          <p:cNvSpPr/>
          <p:nvPr/>
        </p:nvSpPr>
        <p:spPr>
          <a:xfrm>
            <a:off x="910800" y="353700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STEP3</a:t>
            </a:r>
            <a:endParaRPr b="0" lang="en-US" sz="1800" strike="noStrike" u="none">
              <a:solidFill>
                <a:srgbClr val="000000"/>
              </a:solidFill>
              <a:effectLst/>
              <a:uFillTx/>
              <a:latin typeface="Arial"/>
            </a:endParaRPr>
          </a:p>
        </p:txBody>
      </p:sp>
      <p:sp>
        <p:nvSpPr>
          <p:cNvPr id="721" name="角丸四角形 30"/>
          <p:cNvSpPr/>
          <p:nvPr/>
        </p:nvSpPr>
        <p:spPr>
          <a:xfrm>
            <a:off x="910800" y="27655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STEP2</a:t>
            </a:r>
            <a:endParaRPr b="0" lang="en-US" sz="1800" strike="noStrike" u="none">
              <a:solidFill>
                <a:srgbClr val="000000"/>
              </a:solidFill>
              <a:effectLst/>
              <a:uFillTx/>
              <a:latin typeface="Arial"/>
            </a:endParaRPr>
          </a:p>
        </p:txBody>
      </p:sp>
      <p:sp>
        <p:nvSpPr>
          <p:cNvPr id="722" name="角丸四角形 31"/>
          <p:cNvSpPr/>
          <p:nvPr/>
        </p:nvSpPr>
        <p:spPr>
          <a:xfrm>
            <a:off x="910800" y="430848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STEP4</a:t>
            </a:r>
            <a:endParaRPr b="0" lang="en-US" sz="1800" strike="noStrike" u="none">
              <a:solidFill>
                <a:srgbClr val="000000"/>
              </a:solidFill>
              <a:effectLst/>
              <a:uFillTx/>
              <a:latin typeface="Arial"/>
            </a:endParaRPr>
          </a:p>
        </p:txBody>
      </p:sp>
      <p:sp>
        <p:nvSpPr>
          <p:cNvPr id="723" name="角丸四角形 32"/>
          <p:cNvSpPr/>
          <p:nvPr/>
        </p:nvSpPr>
        <p:spPr>
          <a:xfrm>
            <a:off x="910800" y="50803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STEP5</a:t>
            </a:r>
            <a:endParaRPr b="0" lang="en-US" sz="1800" strike="noStrike" u="none">
              <a:solidFill>
                <a:srgbClr val="000000"/>
              </a:solidFill>
              <a:effectLst/>
              <a:uFillTx/>
              <a:latin typeface="Arial"/>
            </a:endParaRPr>
          </a:p>
        </p:txBody>
      </p:sp>
      <p:sp>
        <p:nvSpPr>
          <p:cNvPr id="724" name="正方形/長方形 1"/>
          <p:cNvSpPr/>
          <p:nvPr/>
        </p:nvSpPr>
        <p:spPr>
          <a:xfrm>
            <a:off x="4600800" y="2266920"/>
            <a:ext cx="1638000" cy="39160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25" name="角丸四角形 39"/>
          <p:cNvSpPr/>
          <p:nvPr/>
        </p:nvSpPr>
        <p:spPr>
          <a:xfrm>
            <a:off x="3133800" y="199404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お申込み（書類締結）</a:t>
            </a:r>
            <a:endParaRPr b="0" lang="en-US" sz="1800" strike="noStrike" u="none">
              <a:solidFill>
                <a:srgbClr val="000000"/>
              </a:solidFill>
              <a:effectLst/>
              <a:uFillTx/>
              <a:latin typeface="Arial"/>
            </a:endParaRPr>
          </a:p>
        </p:txBody>
      </p:sp>
      <p:sp>
        <p:nvSpPr>
          <p:cNvPr id="726" name="角丸四角形 40"/>
          <p:cNvSpPr/>
          <p:nvPr/>
        </p:nvSpPr>
        <p:spPr>
          <a:xfrm>
            <a:off x="3133800" y="353700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連携の設定 </a:t>
            </a:r>
            <a:r>
              <a:rPr b="0" lang="en-US" sz="1800" strike="noStrike" u="none">
                <a:solidFill>
                  <a:schemeClr val="lt1">
                    <a:lumMod val="50000"/>
                  </a:schemeClr>
                </a:solidFill>
                <a:effectLst/>
                <a:uFillTx/>
                <a:latin typeface="メイリオ"/>
                <a:ea typeface="メイリオ"/>
              </a:rPr>
              <a:t>/ </a:t>
            </a:r>
            <a:r>
              <a:rPr b="0" lang="ja-JP" sz="1800" strike="noStrike" u="none">
                <a:solidFill>
                  <a:schemeClr val="lt1">
                    <a:lumMod val="50000"/>
                  </a:schemeClr>
                </a:solidFill>
                <a:effectLst/>
                <a:uFillTx/>
                <a:latin typeface="メイリオ"/>
                <a:ea typeface="メイリオ"/>
              </a:rPr>
              <a:t>タグ確認</a:t>
            </a:r>
            <a:endParaRPr b="0" lang="en-US" sz="1800" strike="noStrike" u="none">
              <a:solidFill>
                <a:srgbClr val="000000"/>
              </a:solidFill>
              <a:effectLst/>
              <a:uFillTx/>
              <a:latin typeface="Arial"/>
            </a:endParaRPr>
          </a:p>
        </p:txBody>
      </p:sp>
      <p:sp>
        <p:nvSpPr>
          <p:cNvPr id="727" name="角丸四角形 41"/>
          <p:cNvSpPr/>
          <p:nvPr/>
        </p:nvSpPr>
        <p:spPr>
          <a:xfrm>
            <a:off x="3133800" y="27655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キックオフ</a:t>
            </a:r>
            <a:r>
              <a:rPr b="0" lang="en-US" sz="1800" strike="noStrike" u="none">
                <a:solidFill>
                  <a:schemeClr val="lt1">
                    <a:lumMod val="50000"/>
                  </a:schemeClr>
                </a:solidFill>
                <a:effectLst/>
                <a:uFillTx/>
                <a:latin typeface="メイリオ"/>
                <a:ea typeface="メイリオ"/>
              </a:rPr>
              <a:t>MTG</a:t>
            </a:r>
            <a:endParaRPr b="0" lang="en-US" sz="1800" strike="noStrike" u="none">
              <a:solidFill>
                <a:srgbClr val="000000"/>
              </a:solidFill>
              <a:effectLst/>
              <a:uFillTx/>
              <a:latin typeface="Arial"/>
            </a:endParaRPr>
          </a:p>
        </p:txBody>
      </p:sp>
      <p:sp>
        <p:nvSpPr>
          <p:cNvPr id="728" name="角丸四角形 43"/>
          <p:cNvSpPr/>
          <p:nvPr/>
        </p:nvSpPr>
        <p:spPr>
          <a:xfrm>
            <a:off x="3133800" y="430848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初期設計の構築</a:t>
            </a:r>
            <a:endParaRPr b="0" lang="en-US" sz="1800" strike="noStrike" u="none">
              <a:solidFill>
                <a:srgbClr val="000000"/>
              </a:solidFill>
              <a:effectLst/>
              <a:uFillTx/>
              <a:latin typeface="Arial"/>
            </a:endParaRPr>
          </a:p>
        </p:txBody>
      </p:sp>
      <p:sp>
        <p:nvSpPr>
          <p:cNvPr id="729" name="角丸四角形 44"/>
          <p:cNvSpPr/>
          <p:nvPr/>
        </p:nvSpPr>
        <p:spPr>
          <a:xfrm>
            <a:off x="3133800" y="50803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運用開始</a:t>
            </a:r>
            <a:endParaRPr b="0" lang="en-US" sz="1800" strike="noStrike" u="none">
              <a:solidFill>
                <a:srgbClr val="000000"/>
              </a:solidFill>
              <a:effectLst/>
              <a:uFillTx/>
              <a:latin typeface="Arial"/>
            </a:endParaRPr>
          </a:p>
        </p:txBody>
      </p:sp>
      <p:sp>
        <p:nvSpPr>
          <p:cNvPr id="730" name="正方形/長方形 18"/>
          <p:cNvSpPr/>
          <p:nvPr/>
        </p:nvSpPr>
        <p:spPr>
          <a:xfrm>
            <a:off x="549000" y="1033200"/>
            <a:ext cx="8920800" cy="4611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ja-JP" sz="2400" strike="noStrike" u="none">
                <a:solidFill>
                  <a:schemeClr val="dk1"/>
                </a:solidFill>
                <a:effectLst/>
                <a:uFillTx/>
                <a:latin typeface="メイリオ"/>
                <a:ea typeface="メイリオ"/>
              </a:rPr>
              <a:t>サイト</a:t>
            </a:r>
            <a:r>
              <a:rPr b="0" lang="en-US" sz="2400" strike="noStrike" u="none">
                <a:solidFill>
                  <a:schemeClr val="dk1"/>
                </a:solidFill>
                <a:effectLst/>
                <a:uFillTx/>
                <a:latin typeface="メイリオ"/>
                <a:ea typeface="メイリオ"/>
              </a:rPr>
              <a:t>/LINE</a:t>
            </a:r>
            <a:r>
              <a:rPr b="0" lang="ja-JP" sz="2400" strike="noStrike" u="none">
                <a:solidFill>
                  <a:schemeClr val="dk1"/>
                </a:solidFill>
                <a:effectLst/>
                <a:uFillTx/>
                <a:latin typeface="メイリオ"/>
                <a:ea typeface="メイリオ"/>
              </a:rPr>
              <a:t>上への実装については、約</a:t>
            </a:r>
            <a:r>
              <a:rPr b="0" lang="en-US" sz="2400" strike="noStrike" u="none">
                <a:solidFill>
                  <a:schemeClr val="dk1"/>
                </a:solidFill>
                <a:effectLst/>
                <a:uFillTx/>
                <a:latin typeface="メイリオ"/>
                <a:ea typeface="メイリオ"/>
              </a:rPr>
              <a:t>1</a:t>
            </a:r>
            <a:r>
              <a:rPr b="0" lang="ja-JP" sz="2400" strike="noStrike" u="none">
                <a:solidFill>
                  <a:schemeClr val="dk1"/>
                </a:solidFill>
                <a:effectLst/>
                <a:uFillTx/>
                <a:latin typeface="メイリオ"/>
                <a:ea typeface="メイリオ"/>
              </a:rPr>
              <a:t>か月程度を頂き進行。</a:t>
            </a:r>
            <a:endParaRPr b="0" lang="en-US" sz="2400" strike="noStrike" u="none">
              <a:solidFill>
                <a:srgbClr val="000000"/>
              </a:solidFill>
              <a:effectLst/>
              <a:uFillTx/>
              <a:latin typeface="Arial"/>
            </a:endParaRPr>
          </a:p>
        </p:txBody>
      </p:sp>
      <p:sp>
        <p:nvSpPr>
          <p:cNvPr id="731" name="正方形/長方形 19"/>
          <p:cNvSpPr/>
          <p:nvPr/>
        </p:nvSpPr>
        <p:spPr>
          <a:xfrm>
            <a:off x="4709160" y="5841360"/>
            <a:ext cx="4954680" cy="276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200" strike="noStrike" u="none">
                <a:solidFill>
                  <a:schemeClr val="dk1">
                    <a:lumMod val="50000"/>
                    <a:lumOff val="50000"/>
                  </a:schemeClr>
                </a:solidFill>
                <a:effectLst/>
                <a:uFillTx/>
                <a:latin typeface="メイリオ"/>
                <a:ea typeface="メイリオ"/>
              </a:rPr>
              <a:t>※</a:t>
            </a:r>
            <a:r>
              <a:rPr b="0" lang="ja-JP" sz="1200" strike="noStrike" u="none">
                <a:solidFill>
                  <a:schemeClr val="dk1">
                    <a:lumMod val="50000"/>
                    <a:lumOff val="50000"/>
                  </a:schemeClr>
                </a:solidFill>
                <a:effectLst/>
                <a:uFillTx/>
                <a:latin typeface="メイリオ"/>
                <a:ea typeface="メイリオ"/>
              </a:rPr>
              <a:t>貴社作業・確認にかかる時間により前後する可能性がございます。</a:t>
            </a:r>
            <a:endParaRPr b="0" lang="en-US" sz="1200" strike="noStrike" u="none">
              <a:solidFill>
                <a:srgbClr val="000000"/>
              </a:solidFill>
              <a:effectLst/>
              <a:uFillTx/>
              <a:latin typeface="Arial"/>
            </a:endParaRPr>
          </a:p>
        </p:txBody>
      </p:sp>
      <p:cxnSp>
        <p:nvCxnSpPr>
          <p:cNvPr id="732" name="直線矢印コネクタ 20"/>
          <p:cNvCxnSpPr/>
          <p:nvPr/>
        </p:nvCxnSpPr>
        <p:spPr>
          <a:xfrm>
            <a:off x="6985080" y="2256480"/>
            <a:ext cx="360" cy="3086640"/>
          </a:xfrm>
          <a:prstGeom prst="straightConnector1">
            <a:avLst/>
          </a:prstGeom>
          <a:ln w="38100">
            <a:solidFill>
              <a:srgbClr val="000000">
                <a:lumMod val="75000"/>
                <a:lumOff val="25000"/>
              </a:srgbClr>
            </a:solidFill>
            <a:prstDash val="sysDash"/>
            <a:round/>
            <a:tailEnd len="med" type="triangle" w="med"/>
          </a:ln>
        </p:spPr>
      </p:cxnSp>
      <p:sp>
        <p:nvSpPr>
          <p:cNvPr id="733" name="正方形/長方形 21"/>
          <p:cNvSpPr/>
          <p:nvPr/>
        </p:nvSpPr>
        <p:spPr>
          <a:xfrm>
            <a:off x="7042320" y="2130840"/>
            <a:ext cx="742320" cy="276480"/>
          </a:xfrm>
          <a:prstGeom prst="rect">
            <a:avLst/>
          </a:prstGeom>
          <a:solidFill>
            <a:schemeClr val="accent1">
              <a:lumMod val="20000"/>
              <a:lumOff val="80000"/>
            </a:schemeClr>
          </a:solidFill>
          <a:ln w="0">
            <a:noFill/>
          </a:ln>
        </p:spPr>
        <p:style>
          <a:lnRef idx="0"/>
          <a:fillRef idx="0"/>
          <a:effectRef idx="0"/>
          <a:fontRef idx="minor"/>
        </p:style>
        <p:txBody>
          <a:bodyPr wrap="none" lIns="90000" rIns="90000" tIns="45000" bIns="45000" anchor="t">
            <a:spAutoFit/>
          </a:bodyPr>
          <a:p>
            <a:pPr defTabSz="914400">
              <a:lnSpc>
                <a:spcPct val="100000"/>
              </a:lnSpc>
            </a:pPr>
            <a:r>
              <a:rPr b="0" lang="ja-JP" sz="1200" strike="noStrike" u="none">
                <a:solidFill>
                  <a:schemeClr val="dk1"/>
                </a:solidFill>
                <a:effectLst/>
                <a:uFillTx/>
                <a:latin typeface="メイリオ"/>
                <a:ea typeface="メイリオ"/>
              </a:rPr>
              <a:t>約</a:t>
            </a:r>
            <a:r>
              <a:rPr b="0" lang="en-US" sz="1200" strike="noStrike" u="none">
                <a:solidFill>
                  <a:schemeClr val="dk1"/>
                </a:solidFill>
                <a:effectLst/>
                <a:uFillTx/>
                <a:latin typeface="メイリオ"/>
                <a:ea typeface="メイリオ"/>
              </a:rPr>
              <a:t>1</a:t>
            </a:r>
            <a:r>
              <a:rPr b="0" lang="ja-JP" sz="1200" strike="noStrike" u="none">
                <a:solidFill>
                  <a:schemeClr val="dk1"/>
                </a:solidFill>
                <a:effectLst/>
                <a:uFillTx/>
                <a:latin typeface="メイリオ"/>
                <a:ea typeface="メイリオ"/>
              </a:rPr>
              <a:t>か月</a:t>
            </a:r>
            <a:endParaRPr b="0" lang="en-US" sz="1200" strike="noStrike" u="none">
              <a:solidFill>
                <a:srgbClr val="000000"/>
              </a:solidFill>
              <a:effectLst/>
              <a:uFillTx/>
              <a:latin typeface="Arial"/>
            </a:endParaRPr>
          </a:p>
        </p:txBody>
      </p:sp>
      <p:sp>
        <p:nvSpPr>
          <p:cNvPr id="734" name="正方形/長方形 2"/>
          <p:cNvSpPr/>
          <p:nvPr/>
        </p:nvSpPr>
        <p:spPr>
          <a:xfrm>
            <a:off x="7902360" y="3514320"/>
            <a:ext cx="141552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ja-JP" sz="800" strike="noStrike" u="none">
                <a:solidFill>
                  <a:schemeClr val="lt1">
                    <a:lumMod val="50000"/>
                  </a:schemeClr>
                </a:solidFill>
                <a:effectLst/>
                <a:uFillTx/>
                <a:latin typeface="メイリオ"/>
                <a:ea typeface="メイリオ"/>
              </a:rPr>
              <a:t>オーディエンスリスト作成</a:t>
            </a:r>
            <a:endParaRPr b="0" lang="en-US" sz="800" strike="noStrike" u="none">
              <a:solidFill>
                <a:srgbClr val="000000"/>
              </a:solidFill>
              <a:effectLst/>
              <a:uFillTx/>
              <a:latin typeface="Arial"/>
            </a:endParaRPr>
          </a:p>
          <a:p>
            <a:pPr defTabSz="914400">
              <a:lnSpc>
                <a:spcPct val="100000"/>
              </a:lnSpc>
            </a:pPr>
            <a:r>
              <a:rPr b="0" lang="ja-JP" sz="800" strike="noStrike" u="none">
                <a:solidFill>
                  <a:schemeClr val="lt1">
                    <a:lumMod val="50000"/>
                  </a:schemeClr>
                </a:solidFill>
                <a:effectLst/>
                <a:uFillTx/>
                <a:latin typeface="メイリオ"/>
                <a:ea typeface="メイリオ"/>
              </a:rPr>
              <a:t>タグ設定</a:t>
            </a:r>
            <a:endParaRPr b="0" lang="en-US" sz="800" strike="noStrike" u="none">
              <a:solidFill>
                <a:srgbClr val="000000"/>
              </a:solidFill>
              <a:effectLst/>
              <a:uFillTx/>
              <a:latin typeface="Arial"/>
            </a:endParaRPr>
          </a:p>
          <a:p>
            <a:pPr defTabSz="914400">
              <a:lnSpc>
                <a:spcPct val="100000"/>
              </a:lnSpc>
            </a:pPr>
            <a:r>
              <a:rPr b="0" lang="en-US" sz="800" strike="noStrike" u="none">
                <a:solidFill>
                  <a:schemeClr val="lt1">
                    <a:lumMod val="50000"/>
                  </a:schemeClr>
                </a:solidFill>
                <a:effectLst/>
                <a:uFillTx/>
                <a:latin typeface="メイリオ"/>
                <a:ea typeface="メイリオ"/>
              </a:rPr>
              <a:t>GA</a:t>
            </a:r>
            <a:r>
              <a:rPr b="0" lang="ja-JP" sz="800" strike="noStrike" u="none">
                <a:solidFill>
                  <a:schemeClr val="lt1">
                    <a:lumMod val="50000"/>
                  </a:schemeClr>
                </a:solidFill>
                <a:effectLst/>
                <a:uFillTx/>
                <a:latin typeface="メイリオ"/>
                <a:ea typeface="メイリオ"/>
              </a:rPr>
              <a:t>設定</a:t>
            </a:r>
            <a:endParaRPr b="0" lang="en-US" sz="800" strike="noStrike" u="none">
              <a:solidFill>
                <a:srgbClr val="000000"/>
              </a:solidFill>
              <a:effectLst/>
              <a:uFillTx/>
              <a:latin typeface="Arial"/>
            </a:endParaRPr>
          </a:p>
          <a:p>
            <a:pPr defTabSz="914400">
              <a:lnSpc>
                <a:spcPct val="100000"/>
              </a:lnSpc>
            </a:pPr>
            <a:r>
              <a:rPr b="0" lang="en-US" sz="800" strike="noStrike" u="none">
                <a:solidFill>
                  <a:schemeClr val="lt1">
                    <a:lumMod val="50000"/>
                  </a:schemeClr>
                </a:solidFill>
                <a:effectLst/>
                <a:uFillTx/>
                <a:latin typeface="メイリオ"/>
                <a:ea typeface="メイリオ"/>
              </a:rPr>
              <a:t>etc...</a:t>
            </a:r>
            <a:endParaRPr b="0" lang="en-US" sz="800" strike="noStrike" u="none">
              <a:solidFill>
                <a:srgbClr val="000000"/>
              </a:solidFill>
              <a:effectLst/>
              <a:uFillTx/>
              <a:latin typeface="Arial"/>
            </a:endParaRPr>
          </a:p>
        </p:txBody>
      </p:sp>
      <p:sp>
        <p:nvSpPr>
          <p:cNvPr id="735" name="正方形/長方形 23"/>
          <p:cNvSpPr/>
          <p:nvPr/>
        </p:nvSpPr>
        <p:spPr>
          <a:xfrm>
            <a:off x="7897320" y="4276440"/>
            <a:ext cx="110772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ja-JP" sz="800" strike="noStrike" u="none">
                <a:solidFill>
                  <a:schemeClr val="lt1">
                    <a:lumMod val="50000"/>
                  </a:schemeClr>
                </a:solidFill>
                <a:effectLst/>
                <a:uFillTx/>
                <a:latin typeface="メイリオ"/>
                <a:ea typeface="メイリオ"/>
              </a:rPr>
              <a:t>リッチメニュー作成</a:t>
            </a:r>
            <a:endParaRPr b="0" lang="en-US" sz="800" strike="noStrike" u="none">
              <a:solidFill>
                <a:srgbClr val="000000"/>
              </a:solidFill>
              <a:effectLst/>
              <a:uFillTx/>
              <a:latin typeface="Arial"/>
            </a:endParaRPr>
          </a:p>
          <a:p>
            <a:pPr defTabSz="914400">
              <a:lnSpc>
                <a:spcPct val="100000"/>
              </a:lnSpc>
            </a:pPr>
            <a:r>
              <a:rPr b="0" lang="ja-JP" sz="800" strike="noStrike" u="none">
                <a:solidFill>
                  <a:schemeClr val="lt1">
                    <a:lumMod val="50000"/>
                  </a:schemeClr>
                </a:solidFill>
                <a:effectLst/>
                <a:uFillTx/>
                <a:latin typeface="メイリオ"/>
                <a:ea typeface="メイリオ"/>
              </a:rPr>
              <a:t>アンケート設計</a:t>
            </a:r>
            <a:endParaRPr b="0" lang="en-US" sz="800" strike="noStrike" u="none">
              <a:solidFill>
                <a:srgbClr val="000000"/>
              </a:solidFill>
              <a:effectLst/>
              <a:uFillTx/>
              <a:latin typeface="Arial"/>
            </a:endParaRPr>
          </a:p>
          <a:p>
            <a:pPr defTabSz="914400">
              <a:lnSpc>
                <a:spcPct val="100000"/>
              </a:lnSpc>
            </a:pPr>
            <a:r>
              <a:rPr b="0" lang="ja-JP" sz="800" strike="noStrike" u="none">
                <a:solidFill>
                  <a:schemeClr val="lt1">
                    <a:lumMod val="50000"/>
                  </a:schemeClr>
                </a:solidFill>
                <a:effectLst/>
                <a:uFillTx/>
                <a:latin typeface="メイリオ"/>
                <a:ea typeface="メイリオ"/>
              </a:rPr>
              <a:t>シナリオ設計</a:t>
            </a:r>
            <a:endParaRPr b="0" lang="en-US" sz="800" strike="noStrike" u="none">
              <a:solidFill>
                <a:srgbClr val="000000"/>
              </a:solidFill>
              <a:effectLst/>
              <a:uFillTx/>
              <a:latin typeface="Arial"/>
            </a:endParaRPr>
          </a:p>
          <a:p>
            <a:pPr defTabSz="914400">
              <a:lnSpc>
                <a:spcPct val="100000"/>
              </a:lnSpc>
            </a:pPr>
            <a:r>
              <a:rPr b="0" lang="en-US" sz="800" strike="noStrike" u="none">
                <a:solidFill>
                  <a:schemeClr val="lt1">
                    <a:lumMod val="50000"/>
                  </a:schemeClr>
                </a:solidFill>
                <a:effectLst/>
                <a:uFillTx/>
                <a:latin typeface="メイリオ"/>
                <a:ea typeface="メイリオ"/>
              </a:rPr>
              <a:t>etc...</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資料アジェンダ</a:t>
            </a:r>
            <a:endParaRPr b="0" lang="en-US" sz="1600" strike="noStrike" u="none">
              <a:solidFill>
                <a:srgbClr val="000000"/>
              </a:solidFill>
              <a:effectLst/>
              <a:uFillTx/>
              <a:latin typeface="Arial"/>
            </a:endParaRPr>
          </a:p>
        </p:txBody>
      </p:sp>
      <p:sp>
        <p:nvSpPr>
          <p:cNvPr id="737" name="正方形/長方形 1"/>
          <p:cNvSpPr/>
          <p:nvPr/>
        </p:nvSpPr>
        <p:spPr>
          <a:xfrm>
            <a:off x="1460880" y="3038040"/>
            <a:ext cx="698436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3200" strike="noStrike" u="none">
                <a:solidFill>
                  <a:schemeClr val="dk1">
                    <a:lumMod val="75000"/>
                    <a:lumOff val="25000"/>
                  </a:schemeClr>
                </a:solidFill>
                <a:effectLst/>
                <a:uFillTx/>
                <a:latin typeface="メイリオ"/>
                <a:ea typeface="メイリオ"/>
              </a:rPr>
              <a:t>LINE</a:t>
            </a:r>
            <a:r>
              <a:rPr b="1" lang="ja-JP" sz="3200" strike="noStrike" u="none">
                <a:solidFill>
                  <a:schemeClr val="dk1">
                    <a:lumMod val="75000"/>
                    <a:lumOff val="25000"/>
                  </a:schemeClr>
                </a:solidFill>
                <a:effectLst/>
                <a:uFillTx/>
                <a:latin typeface="メイリオ"/>
                <a:ea typeface="メイリオ"/>
              </a:rPr>
              <a:t>公式アカウント運用のメリット</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73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ja-JP" sz="1400" strike="noStrike" u="none">
                <a:solidFill>
                  <a:srgbClr val="343434"/>
                </a:solidFill>
                <a:effectLst/>
                <a:uFillTx/>
                <a:latin typeface="メイリオ"/>
                <a:ea typeface="メイリオ"/>
              </a:rPr>
              <a:t>ファン化・自社アプリ登録に対して、</a:t>
            </a:r>
            <a:r>
              <a:rPr b="0" lang="en-US" sz="1400" strike="noStrike" u="none">
                <a:solidFill>
                  <a:srgbClr val="343434"/>
                </a:solidFill>
                <a:effectLst/>
                <a:uFillTx/>
                <a:latin typeface="メイリオ"/>
                <a:ea typeface="メイリオ"/>
              </a:rPr>
              <a:t>”ハードルが高く感じる”ユーザーが増えている状況。</a:t>
            </a:r>
            <a:endParaRPr b="0" lang="en-US" sz="1400" strike="noStrike" u="none">
              <a:solidFill>
                <a:srgbClr val="000000"/>
              </a:solidFill>
              <a:effectLst/>
              <a:uFillTx/>
              <a:latin typeface="Arial"/>
            </a:endParaRPr>
          </a:p>
          <a:p>
            <a:pPr algn="ctr" defTabSz="914400">
              <a:lnSpc>
                <a:spcPts val="2455"/>
              </a:lnSpc>
            </a:pPr>
            <a:r>
              <a:rPr b="0" lang="ja-JP" sz="1400" strike="noStrike" u="none">
                <a:solidFill>
                  <a:srgbClr val="343434"/>
                </a:solidFill>
                <a:effectLst/>
                <a:uFillTx/>
                <a:latin typeface="メイリオ"/>
                <a:ea typeface="メイリオ"/>
              </a:rPr>
              <a:t>離脱防止 </a:t>
            </a:r>
            <a:r>
              <a:rPr b="0" lang="en-US" sz="1400" strike="noStrike" u="none">
                <a:solidFill>
                  <a:srgbClr val="343434"/>
                </a:solidFill>
                <a:effectLst/>
                <a:uFillTx/>
                <a:latin typeface="メイリオ"/>
                <a:ea typeface="メイリオ"/>
              </a:rPr>
              <a:t>&gt;&gt; </a:t>
            </a:r>
            <a:r>
              <a:rPr b="0" lang="ja-JP" sz="1400" strike="noStrike" u="none">
                <a:solidFill>
                  <a:srgbClr val="343434"/>
                </a:solidFill>
                <a:effectLst/>
                <a:uFillTx/>
                <a:latin typeface="メイリオ"/>
                <a:ea typeface="メイリオ"/>
              </a:rPr>
              <a:t>友だち追加 </a:t>
            </a:r>
            <a:r>
              <a:rPr b="0" lang="en-US" sz="1400" strike="noStrike" u="none">
                <a:solidFill>
                  <a:srgbClr val="343434"/>
                </a:solidFill>
                <a:effectLst/>
                <a:uFillTx/>
                <a:latin typeface="メイリオ"/>
                <a:ea typeface="メイリオ"/>
              </a:rPr>
              <a:t>&gt;&gt; LINE</a:t>
            </a:r>
            <a:r>
              <a:rPr b="0" lang="ja-JP" sz="1400" strike="noStrike" u="none">
                <a:solidFill>
                  <a:srgbClr val="343434"/>
                </a:solidFill>
                <a:effectLst/>
                <a:uFillTx/>
                <a:latin typeface="メイリオ"/>
                <a:ea typeface="メイリオ"/>
              </a:rPr>
              <a:t>で学習 </a:t>
            </a:r>
            <a:r>
              <a:rPr b="0" lang="en-US" sz="1400" strike="noStrike" u="none">
                <a:solidFill>
                  <a:srgbClr val="343434"/>
                </a:solidFill>
                <a:effectLst/>
                <a:uFillTx/>
                <a:latin typeface="メイリオ"/>
                <a:ea typeface="メイリオ"/>
              </a:rPr>
              <a:t>&gt;&gt; </a:t>
            </a:r>
            <a:r>
              <a:rPr b="0" lang="ja-JP" sz="1400" strike="noStrike" u="none">
                <a:solidFill>
                  <a:srgbClr val="343434"/>
                </a:solidFill>
                <a:effectLst/>
                <a:uFillTx/>
                <a:latin typeface="メイリオ"/>
                <a:ea typeface="メイリオ"/>
              </a:rPr>
              <a:t>リード獲得・利用 の導線設計でハードル抑えつつ運営が可能。</a:t>
            </a:r>
            <a:endParaRPr b="0" lang="en-US" sz="1400" strike="noStrike" u="none">
              <a:solidFill>
                <a:srgbClr val="000000"/>
              </a:solidFill>
              <a:effectLst/>
              <a:uFillTx/>
              <a:latin typeface="Arial"/>
            </a:endParaRPr>
          </a:p>
        </p:txBody>
      </p:sp>
      <p:cxnSp>
        <p:nvCxnSpPr>
          <p:cNvPr id="740"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741"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sp>
        <p:nvSpPr>
          <p:cNvPr id="742" name="台形 1"/>
          <p:cNvSpPr/>
          <p:nvPr/>
        </p:nvSpPr>
        <p:spPr>
          <a:xfrm rot="10800000">
            <a:off x="549000" y="1844640"/>
            <a:ext cx="3274200" cy="603720"/>
          </a:xfrm>
          <a:prstGeom prst="trapezoid">
            <a:avLst>
              <a:gd name="adj" fmla="val 25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3" name="台形 5"/>
          <p:cNvSpPr/>
          <p:nvPr/>
        </p:nvSpPr>
        <p:spPr>
          <a:xfrm rot="10800000">
            <a:off x="752400" y="2518560"/>
            <a:ext cx="2877480" cy="603720"/>
          </a:xfrm>
          <a:prstGeom prst="trapezoid">
            <a:avLst>
              <a:gd name="adj" fmla="val 25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4" name="台形 6"/>
          <p:cNvSpPr/>
          <p:nvPr/>
        </p:nvSpPr>
        <p:spPr>
          <a:xfrm rot="10800000">
            <a:off x="963360" y="3192120"/>
            <a:ext cx="2430720" cy="603720"/>
          </a:xfrm>
          <a:prstGeom prst="trapezoid">
            <a:avLst>
              <a:gd name="adj" fmla="val 25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5" name="台形 7"/>
          <p:cNvSpPr/>
          <p:nvPr/>
        </p:nvSpPr>
        <p:spPr>
          <a:xfrm rot="10800000">
            <a:off x="1195560" y="3866040"/>
            <a:ext cx="1981440" cy="603720"/>
          </a:xfrm>
          <a:prstGeom prst="trapezoid">
            <a:avLst>
              <a:gd name="adj" fmla="val 25000"/>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6" name="台形 8"/>
          <p:cNvSpPr/>
          <p:nvPr/>
        </p:nvSpPr>
        <p:spPr>
          <a:xfrm rot="10800000">
            <a:off x="1422720" y="4539600"/>
            <a:ext cx="1536480" cy="603720"/>
          </a:xfrm>
          <a:prstGeom prst="trapezoid">
            <a:avLst>
              <a:gd name="adj" fmla="val 25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7" name="台形 9"/>
          <p:cNvSpPr/>
          <p:nvPr/>
        </p:nvSpPr>
        <p:spPr>
          <a:xfrm rot="10800000">
            <a:off x="1611720" y="5213520"/>
            <a:ext cx="1133640" cy="469800"/>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8" name="台形 10"/>
          <p:cNvSpPr/>
          <p:nvPr/>
        </p:nvSpPr>
        <p:spPr>
          <a:xfrm rot="10800000">
            <a:off x="1611720" y="5753160"/>
            <a:ext cx="1133640" cy="469800"/>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9" name="テキスト ボックス 12"/>
          <p:cNvSpPr/>
          <p:nvPr/>
        </p:nvSpPr>
        <p:spPr>
          <a:xfrm>
            <a:off x="1459440" y="531504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既存ユーザー</a:t>
            </a:r>
            <a:endParaRPr b="0" lang="en-US" sz="1200" strike="noStrike" u="none">
              <a:solidFill>
                <a:srgbClr val="000000"/>
              </a:solidFill>
              <a:effectLst/>
              <a:uFillTx/>
              <a:latin typeface="Arial"/>
            </a:endParaRPr>
          </a:p>
        </p:txBody>
      </p:sp>
      <p:sp>
        <p:nvSpPr>
          <p:cNvPr id="750" name="テキスト ボックス 13"/>
          <p:cNvSpPr/>
          <p:nvPr/>
        </p:nvSpPr>
        <p:spPr>
          <a:xfrm>
            <a:off x="1458360" y="5884200"/>
            <a:ext cx="1437480" cy="230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900" strike="noStrike" u="none">
                <a:solidFill>
                  <a:schemeClr val="lt1"/>
                </a:solidFill>
                <a:effectLst/>
                <a:uFillTx/>
                <a:latin typeface="メイリオ"/>
                <a:ea typeface="メイリオ"/>
              </a:rPr>
              <a:t>リピート・ファン化</a:t>
            </a:r>
            <a:endParaRPr b="0" lang="en-US" sz="900" strike="noStrike" u="none">
              <a:solidFill>
                <a:srgbClr val="000000"/>
              </a:solidFill>
              <a:effectLst/>
              <a:uFillTx/>
              <a:latin typeface="Arial"/>
            </a:endParaRPr>
          </a:p>
        </p:txBody>
      </p:sp>
      <p:sp>
        <p:nvSpPr>
          <p:cNvPr id="751" name="テキスト ボックス 14"/>
          <p:cNvSpPr/>
          <p:nvPr/>
        </p:nvSpPr>
        <p:spPr>
          <a:xfrm>
            <a:off x="1467360" y="468396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リード獲得層</a:t>
            </a:r>
            <a:endParaRPr b="0" lang="en-US" sz="1200" strike="noStrike" u="none">
              <a:solidFill>
                <a:srgbClr val="000000"/>
              </a:solidFill>
              <a:effectLst/>
              <a:uFillTx/>
              <a:latin typeface="Arial"/>
            </a:endParaRPr>
          </a:p>
        </p:txBody>
      </p:sp>
      <p:sp>
        <p:nvSpPr>
          <p:cNvPr id="752" name="テキスト ボックス 15"/>
          <p:cNvSpPr/>
          <p:nvPr/>
        </p:nvSpPr>
        <p:spPr>
          <a:xfrm>
            <a:off x="1467360" y="405432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顕在層</a:t>
            </a:r>
            <a:endParaRPr b="0" lang="en-US" sz="1200" strike="noStrike" u="none">
              <a:solidFill>
                <a:srgbClr val="000000"/>
              </a:solidFill>
              <a:effectLst/>
              <a:uFillTx/>
              <a:latin typeface="Arial"/>
            </a:endParaRPr>
          </a:p>
        </p:txBody>
      </p:sp>
      <p:sp>
        <p:nvSpPr>
          <p:cNvPr id="753" name="テキスト ボックス 16"/>
          <p:cNvSpPr/>
          <p:nvPr/>
        </p:nvSpPr>
        <p:spPr>
          <a:xfrm>
            <a:off x="1459440" y="337284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準顕在層</a:t>
            </a:r>
            <a:endParaRPr b="0" lang="en-US" sz="1200" strike="noStrike" u="none">
              <a:solidFill>
                <a:srgbClr val="000000"/>
              </a:solidFill>
              <a:effectLst/>
              <a:uFillTx/>
              <a:latin typeface="Arial"/>
            </a:endParaRPr>
          </a:p>
        </p:txBody>
      </p:sp>
      <p:sp>
        <p:nvSpPr>
          <p:cNvPr id="754" name="テキスト ボックス 17"/>
          <p:cNvSpPr/>
          <p:nvPr/>
        </p:nvSpPr>
        <p:spPr>
          <a:xfrm>
            <a:off x="1467360" y="270036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潜在層</a:t>
            </a:r>
            <a:endParaRPr b="0" lang="en-US" sz="1200" strike="noStrike" u="none">
              <a:solidFill>
                <a:srgbClr val="000000"/>
              </a:solidFill>
              <a:effectLst/>
              <a:uFillTx/>
              <a:latin typeface="Arial"/>
            </a:endParaRPr>
          </a:p>
        </p:txBody>
      </p:sp>
      <p:sp>
        <p:nvSpPr>
          <p:cNvPr id="755" name="テキスト ボックス 18"/>
          <p:cNvSpPr/>
          <p:nvPr/>
        </p:nvSpPr>
        <p:spPr>
          <a:xfrm>
            <a:off x="1478160" y="200772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興味関心なし 層</a:t>
            </a:r>
            <a:endParaRPr b="0" lang="en-US" sz="1200" strike="noStrike" u="none">
              <a:solidFill>
                <a:srgbClr val="000000"/>
              </a:solidFill>
              <a:effectLst/>
              <a:uFillTx/>
              <a:latin typeface="Arial"/>
            </a:endParaRPr>
          </a:p>
        </p:txBody>
      </p:sp>
      <p:sp>
        <p:nvSpPr>
          <p:cNvPr id="756" name="台形 21"/>
          <p:cNvSpPr/>
          <p:nvPr/>
        </p:nvSpPr>
        <p:spPr>
          <a:xfrm rot="10800000">
            <a:off x="7612560" y="4021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57" name="テキスト ボックス 22"/>
          <p:cNvSpPr/>
          <p:nvPr/>
        </p:nvSpPr>
        <p:spPr>
          <a:xfrm>
            <a:off x="7655040" y="4152600"/>
            <a:ext cx="1739520" cy="230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900" strike="noStrike" u="none">
                <a:solidFill>
                  <a:schemeClr val="lt1"/>
                </a:solidFill>
                <a:effectLst/>
                <a:uFillTx/>
                <a:latin typeface="メイリオ"/>
                <a:ea typeface="メイリオ"/>
              </a:rPr>
              <a:t>※</a:t>
            </a:r>
            <a:r>
              <a:rPr b="1" lang="ja-JP" sz="900" strike="noStrike" u="none">
                <a:solidFill>
                  <a:schemeClr val="lt1"/>
                </a:solidFill>
                <a:effectLst/>
                <a:uFillTx/>
                <a:latin typeface="メイリオ"/>
                <a:ea typeface="メイリオ"/>
              </a:rPr>
              <a:t>過去の顧客データを活用</a:t>
            </a:r>
            <a:endParaRPr b="0" lang="en-US" sz="900" strike="noStrike" u="none">
              <a:solidFill>
                <a:srgbClr val="000000"/>
              </a:solidFill>
              <a:effectLst/>
              <a:uFillTx/>
              <a:latin typeface="Arial"/>
            </a:endParaRPr>
          </a:p>
        </p:txBody>
      </p:sp>
      <p:sp>
        <p:nvSpPr>
          <p:cNvPr id="758" name="台形 23"/>
          <p:cNvSpPr/>
          <p:nvPr/>
        </p:nvSpPr>
        <p:spPr>
          <a:xfrm rot="10800000">
            <a:off x="7612560" y="33206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59" name="テキスト ボックス 24"/>
          <p:cNvSpPr/>
          <p:nvPr/>
        </p:nvSpPr>
        <p:spPr>
          <a:xfrm>
            <a:off x="7655040" y="3377160"/>
            <a:ext cx="173952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900" strike="noStrike" u="none">
                <a:solidFill>
                  <a:schemeClr val="lt1"/>
                </a:solidFill>
                <a:effectLst/>
                <a:uFillTx/>
                <a:latin typeface="メイリオ"/>
                <a:ea typeface="メイリオ"/>
              </a:rPr>
              <a:t>離脱防止バナーにて</a:t>
            </a:r>
            <a:endParaRPr b="0" lang="en-US" sz="900" strike="noStrike" u="none">
              <a:solidFill>
                <a:srgbClr val="000000"/>
              </a:solidFill>
              <a:effectLst/>
              <a:uFillTx/>
              <a:latin typeface="Arial"/>
            </a:endParaRPr>
          </a:p>
          <a:p>
            <a:pPr algn="ctr" defTabSz="914400">
              <a:lnSpc>
                <a:spcPct val="100000"/>
              </a:lnSpc>
            </a:pPr>
            <a:r>
              <a:rPr b="1" lang="ja-JP" sz="900" strike="noStrike" u="none">
                <a:solidFill>
                  <a:schemeClr val="lt1"/>
                </a:solidFill>
                <a:effectLst/>
                <a:uFillTx/>
                <a:latin typeface="メイリオ"/>
                <a:ea typeface="メイリオ"/>
              </a:rPr>
              <a:t>検討段階ユーザーを</a:t>
            </a:r>
            <a:r>
              <a:rPr b="1" lang="en-US" sz="900" strike="noStrike" u="none">
                <a:solidFill>
                  <a:schemeClr val="lt1"/>
                </a:solidFill>
                <a:effectLst/>
                <a:uFillTx/>
                <a:latin typeface="メイリオ"/>
                <a:ea typeface="メイリオ"/>
              </a:rPr>
              <a:t>LINE</a:t>
            </a:r>
            <a:r>
              <a:rPr b="1" lang="ja-JP" sz="900" strike="noStrike" u="none">
                <a:solidFill>
                  <a:schemeClr val="lt1"/>
                </a:solidFill>
                <a:effectLst/>
                <a:uFillTx/>
                <a:latin typeface="メイリオ"/>
                <a:ea typeface="メイリオ"/>
              </a:rPr>
              <a:t>誘導</a:t>
            </a:r>
            <a:endParaRPr b="0" lang="en-US" sz="900" strike="noStrike" u="none">
              <a:solidFill>
                <a:srgbClr val="000000"/>
              </a:solidFill>
              <a:effectLst/>
              <a:uFillTx/>
              <a:latin typeface="Arial"/>
            </a:endParaRPr>
          </a:p>
        </p:txBody>
      </p:sp>
      <p:sp>
        <p:nvSpPr>
          <p:cNvPr id="760" name="台形 26"/>
          <p:cNvSpPr/>
          <p:nvPr/>
        </p:nvSpPr>
        <p:spPr>
          <a:xfrm rot="10800000">
            <a:off x="7612560" y="2257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61" name="テキスト ボックス 31"/>
          <p:cNvSpPr/>
          <p:nvPr/>
        </p:nvSpPr>
        <p:spPr>
          <a:xfrm>
            <a:off x="7655040" y="2313720"/>
            <a:ext cx="173952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900" strike="noStrike" u="none">
                <a:solidFill>
                  <a:schemeClr val="lt1"/>
                </a:solidFill>
                <a:effectLst/>
                <a:uFillTx/>
                <a:latin typeface="メイリオ"/>
                <a:ea typeface="メイリオ"/>
              </a:rPr>
              <a:t>接触、詳細ページ閲覧</a:t>
            </a:r>
            <a:endParaRPr b="0" lang="en-US" sz="900" strike="noStrike" u="none">
              <a:solidFill>
                <a:srgbClr val="000000"/>
              </a:solidFill>
              <a:effectLst/>
              <a:uFillTx/>
              <a:latin typeface="Arial"/>
            </a:endParaRPr>
          </a:p>
          <a:p>
            <a:pPr algn="ctr" defTabSz="914400">
              <a:lnSpc>
                <a:spcPct val="100000"/>
              </a:lnSpc>
            </a:pPr>
            <a:r>
              <a:rPr b="1" lang="ja-JP" sz="900" strike="noStrike" u="none">
                <a:solidFill>
                  <a:schemeClr val="lt1"/>
                </a:solidFill>
                <a:effectLst/>
                <a:uFillTx/>
                <a:latin typeface="メイリオ"/>
                <a:ea typeface="メイリオ"/>
              </a:rPr>
              <a:t>の動線での</a:t>
            </a:r>
            <a:r>
              <a:rPr b="1" lang="en-US" sz="900" strike="noStrike" u="none">
                <a:solidFill>
                  <a:schemeClr val="lt1"/>
                </a:solidFill>
                <a:effectLst/>
                <a:uFillTx/>
                <a:latin typeface="メイリオ"/>
                <a:ea typeface="メイリオ"/>
              </a:rPr>
              <a:t>LINE</a:t>
            </a:r>
            <a:r>
              <a:rPr b="1" lang="ja-JP" sz="900" strike="noStrike" u="none">
                <a:solidFill>
                  <a:schemeClr val="lt1"/>
                </a:solidFill>
                <a:effectLst/>
                <a:uFillTx/>
                <a:latin typeface="メイリオ"/>
                <a:ea typeface="メイリオ"/>
              </a:rPr>
              <a:t>誘導を整備</a:t>
            </a:r>
            <a:endParaRPr b="0" lang="en-US" sz="900" strike="noStrike" u="none">
              <a:solidFill>
                <a:srgbClr val="000000"/>
              </a:solidFill>
              <a:effectLst/>
              <a:uFillTx/>
              <a:latin typeface="Arial"/>
            </a:endParaRPr>
          </a:p>
        </p:txBody>
      </p:sp>
      <p:sp>
        <p:nvSpPr>
          <p:cNvPr id="762" name="テキスト ボックス 40"/>
          <p:cNvSpPr/>
          <p:nvPr/>
        </p:nvSpPr>
        <p:spPr>
          <a:xfrm>
            <a:off x="7462440" y="1725840"/>
            <a:ext cx="2125440" cy="276480"/>
          </a:xfrm>
          <a:prstGeom prst="rect">
            <a:avLst/>
          </a:prstGeom>
          <a:solidFill>
            <a:schemeClr val="tx2"/>
          </a:solidFill>
          <a:ln w="0">
            <a:noFill/>
          </a:ln>
        </p:spPr>
        <p:style>
          <a:lnRef idx="0"/>
          <a:fillRef idx="0"/>
          <a:effectRef idx="0"/>
          <a:fontRef idx="minor"/>
        </p:style>
        <p:txBody>
          <a:bodyPr lIns="90000" rIns="90000" tIns="45000" bIns="45000" anchor="t">
            <a:spAutoFit/>
          </a:bodyPr>
          <a:p>
            <a:pPr algn="ctr" defTabSz="914400">
              <a:lnSpc>
                <a:spcPct val="100000"/>
              </a:lnSpc>
            </a:pPr>
            <a:r>
              <a:rPr b="0" lang="en-US" sz="1200" strike="noStrike" u="none">
                <a:solidFill>
                  <a:schemeClr val="lt1"/>
                </a:solidFill>
                <a:effectLst/>
                <a:uFillTx/>
                <a:latin typeface="メイリオ"/>
                <a:ea typeface="メイリオ"/>
              </a:rPr>
              <a:t>DYM</a:t>
            </a:r>
            <a:r>
              <a:rPr b="0" lang="ja-JP" sz="1200" strike="noStrike" u="none">
                <a:solidFill>
                  <a:schemeClr val="lt1"/>
                </a:solidFill>
                <a:effectLst/>
                <a:uFillTx/>
                <a:latin typeface="メイリオ"/>
                <a:ea typeface="メイリオ"/>
              </a:rPr>
              <a:t>施策</a:t>
            </a:r>
            <a:endParaRPr b="0" lang="en-US" sz="1200" strike="noStrike" u="none">
              <a:solidFill>
                <a:srgbClr val="ffffff"/>
              </a:solidFill>
              <a:effectLst/>
              <a:uFillTx/>
              <a:latin typeface="Arial"/>
            </a:endParaRPr>
          </a:p>
        </p:txBody>
      </p:sp>
      <p:sp>
        <p:nvSpPr>
          <p:cNvPr id="763" name="テキスト ボックス 43"/>
          <p:cNvSpPr/>
          <p:nvPr/>
        </p:nvSpPr>
        <p:spPr>
          <a:xfrm>
            <a:off x="5273280" y="1735200"/>
            <a:ext cx="2125440" cy="276480"/>
          </a:xfrm>
          <a:prstGeom prst="rect">
            <a:avLst/>
          </a:prstGeom>
          <a:solidFill>
            <a:schemeClr val="tx1"/>
          </a:solidFill>
          <a:ln w="0">
            <a:noFill/>
          </a:ln>
        </p:spPr>
        <p:style>
          <a:lnRef idx="0"/>
          <a:fillRef idx="0"/>
          <a:effectRef idx="0"/>
          <a:fontRef idx="minor"/>
        </p:style>
        <p:txBody>
          <a:bodyPr lIns="90000" rIns="90000" tIns="45000" bIns="45000" anchor="t">
            <a:spAutoFit/>
          </a:bodyPr>
          <a:p>
            <a:pPr algn="ctr" defTabSz="914400">
              <a:lnSpc>
                <a:spcPct val="100000"/>
              </a:lnSpc>
            </a:pPr>
            <a:r>
              <a:rPr b="0" lang="ja-JP" sz="1200" strike="noStrike" u="none">
                <a:solidFill>
                  <a:schemeClr val="lt1"/>
                </a:solidFill>
                <a:effectLst/>
                <a:uFillTx/>
                <a:latin typeface="メイリオ"/>
                <a:ea typeface="メイリオ"/>
              </a:rPr>
              <a:t>現状施策</a:t>
            </a:r>
            <a:endParaRPr b="0" lang="en-US" sz="1200" strike="noStrike" u="none">
              <a:solidFill>
                <a:srgbClr val="ffffff"/>
              </a:solidFill>
              <a:effectLst/>
              <a:uFillTx/>
              <a:latin typeface="Arial"/>
            </a:endParaRPr>
          </a:p>
        </p:txBody>
      </p:sp>
      <p:sp>
        <p:nvSpPr>
          <p:cNvPr id="764" name="台形 45"/>
          <p:cNvSpPr/>
          <p:nvPr/>
        </p:nvSpPr>
        <p:spPr>
          <a:xfrm rot="10800000">
            <a:off x="7612560" y="57254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65" name="テキスト ボックス 46"/>
          <p:cNvSpPr/>
          <p:nvPr/>
        </p:nvSpPr>
        <p:spPr>
          <a:xfrm>
            <a:off x="7655040" y="5785200"/>
            <a:ext cx="173952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900" strike="noStrike" u="none">
                <a:solidFill>
                  <a:schemeClr val="lt1"/>
                </a:solidFill>
                <a:effectLst/>
                <a:uFillTx/>
                <a:latin typeface="メイリオ"/>
                <a:ea typeface="メイリオ"/>
              </a:rPr>
              <a:t>定期購入・クロスセル</a:t>
            </a:r>
            <a:endParaRPr b="0" lang="en-US" sz="900" strike="noStrike" u="none">
              <a:solidFill>
                <a:srgbClr val="000000"/>
              </a:solidFill>
              <a:effectLst/>
              <a:uFillTx/>
              <a:latin typeface="Arial"/>
            </a:endParaRPr>
          </a:p>
          <a:p>
            <a:pPr algn="ctr" defTabSz="914400">
              <a:lnSpc>
                <a:spcPct val="100000"/>
              </a:lnSpc>
            </a:pPr>
            <a:r>
              <a:rPr b="1" lang="ja-JP" sz="900" strike="noStrike" u="none">
                <a:solidFill>
                  <a:schemeClr val="lt1"/>
                </a:solidFill>
                <a:effectLst/>
                <a:uFillTx/>
                <a:latin typeface="メイリオ"/>
                <a:ea typeface="メイリオ"/>
              </a:rPr>
              <a:t>商材への動線設計</a:t>
            </a:r>
            <a:endParaRPr b="0" lang="en-US" sz="900" strike="noStrike" u="none">
              <a:solidFill>
                <a:srgbClr val="000000"/>
              </a:solidFill>
              <a:effectLst/>
              <a:uFillTx/>
              <a:latin typeface="Arial"/>
            </a:endParaRPr>
          </a:p>
        </p:txBody>
      </p:sp>
      <p:sp>
        <p:nvSpPr>
          <p:cNvPr id="766" name="台形 47"/>
          <p:cNvSpPr/>
          <p:nvPr/>
        </p:nvSpPr>
        <p:spPr>
          <a:xfrm rot="10800000">
            <a:off x="7612560" y="51840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67" name="テキスト ボックス 48"/>
          <p:cNvSpPr/>
          <p:nvPr/>
        </p:nvSpPr>
        <p:spPr>
          <a:xfrm>
            <a:off x="7655040" y="5315040"/>
            <a:ext cx="1739520" cy="230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900" strike="noStrike" u="none">
                <a:solidFill>
                  <a:schemeClr val="lt1"/>
                </a:solidFill>
                <a:effectLst/>
                <a:uFillTx/>
                <a:latin typeface="メイリオ"/>
                <a:ea typeface="メイリオ"/>
              </a:rPr>
              <a:t>※ID</a:t>
            </a:r>
            <a:r>
              <a:rPr b="1" lang="ja-JP" sz="900" strike="noStrike" u="none">
                <a:solidFill>
                  <a:schemeClr val="lt1"/>
                </a:solidFill>
                <a:effectLst/>
                <a:uFillTx/>
                <a:latin typeface="メイリオ"/>
                <a:ea typeface="メイリオ"/>
              </a:rPr>
              <a:t>連携特典等を表示</a:t>
            </a:r>
            <a:endParaRPr b="0" lang="en-US" sz="900" strike="noStrike" u="none">
              <a:solidFill>
                <a:srgbClr val="000000"/>
              </a:solidFill>
              <a:effectLst/>
              <a:uFillTx/>
              <a:latin typeface="Arial"/>
            </a:endParaRPr>
          </a:p>
        </p:txBody>
      </p:sp>
      <p:sp>
        <p:nvSpPr>
          <p:cNvPr id="768" name="台形 49"/>
          <p:cNvSpPr/>
          <p:nvPr/>
        </p:nvSpPr>
        <p:spPr>
          <a:xfrm rot="10800000">
            <a:off x="7612560" y="46836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69" name="テキスト ボックス 50"/>
          <p:cNvSpPr/>
          <p:nvPr/>
        </p:nvSpPr>
        <p:spPr>
          <a:xfrm>
            <a:off x="7655040" y="4814640"/>
            <a:ext cx="1739520" cy="230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900" strike="noStrike" u="none">
                <a:solidFill>
                  <a:schemeClr val="lt1"/>
                </a:solidFill>
                <a:effectLst/>
                <a:uFillTx/>
                <a:latin typeface="メイリオ"/>
                <a:ea typeface="メイリオ"/>
              </a:rPr>
              <a:t>※</a:t>
            </a:r>
            <a:r>
              <a:rPr b="1" lang="ja-JP" sz="900" strike="noStrike" u="none">
                <a:solidFill>
                  <a:schemeClr val="lt1"/>
                </a:solidFill>
                <a:effectLst/>
                <a:uFillTx/>
                <a:latin typeface="メイリオ"/>
                <a:ea typeface="メイリオ"/>
              </a:rPr>
              <a:t>ミニアプリ・診断 → 特典</a:t>
            </a:r>
            <a:endParaRPr b="0" lang="en-US" sz="900" strike="noStrike" u="none">
              <a:solidFill>
                <a:srgbClr val="000000"/>
              </a:solidFill>
              <a:effectLst/>
              <a:uFillTx/>
              <a:latin typeface="Arial"/>
            </a:endParaRPr>
          </a:p>
        </p:txBody>
      </p:sp>
      <p:sp>
        <p:nvSpPr>
          <p:cNvPr id="770" name="台形 56"/>
          <p:cNvSpPr/>
          <p:nvPr/>
        </p:nvSpPr>
        <p:spPr>
          <a:xfrm rot="10800000">
            <a:off x="8076240" y="6244920"/>
            <a:ext cx="1825920" cy="26496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71" name="テキスト ボックス 57"/>
          <p:cNvSpPr/>
          <p:nvPr/>
        </p:nvSpPr>
        <p:spPr>
          <a:xfrm>
            <a:off x="8198280" y="6267240"/>
            <a:ext cx="1580760" cy="2458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000" strike="noStrike" u="none">
                <a:solidFill>
                  <a:schemeClr val="lt1"/>
                </a:solidFill>
                <a:effectLst/>
                <a:uFillTx/>
                <a:latin typeface="メイリオ"/>
                <a:ea typeface="メイリオ"/>
              </a:rPr>
              <a:t>※</a:t>
            </a:r>
            <a:r>
              <a:rPr b="0" lang="ja-JP" sz="1000" strike="noStrike" u="none">
                <a:solidFill>
                  <a:schemeClr val="lt1"/>
                </a:solidFill>
                <a:effectLst/>
                <a:uFillTx/>
                <a:latin typeface="メイリオ"/>
                <a:ea typeface="メイリオ"/>
              </a:rPr>
              <a:t>長期施策として想定</a:t>
            </a:r>
            <a:endParaRPr b="0" lang="en-US" sz="1000" strike="noStrike" u="none">
              <a:solidFill>
                <a:srgbClr val="000000"/>
              </a:solidFill>
              <a:effectLst/>
              <a:uFillTx/>
              <a:latin typeface="Arial"/>
            </a:endParaRPr>
          </a:p>
        </p:txBody>
      </p:sp>
      <p:sp>
        <p:nvSpPr>
          <p:cNvPr id="772" name="台形 37"/>
          <p:cNvSpPr/>
          <p:nvPr/>
        </p:nvSpPr>
        <p:spPr>
          <a:xfrm flipV="1" rot="10800000">
            <a:off x="5413320" y="2265480"/>
            <a:ext cx="1825920" cy="3929760"/>
          </a:xfrm>
          <a:prstGeom prst="trapezoid">
            <a:avLst>
              <a:gd name="adj" fmla="val 0"/>
            </a:avLst>
          </a:prstGeom>
          <a:solidFill>
            <a:schemeClr val="lt1">
              <a:lumMod val="95000"/>
              <a:alpha val="67000"/>
            </a:schemeClr>
          </a:solidFill>
          <a:ln w="9525">
            <a:solidFill>
              <a:srgbClr val="ffffff">
                <a:lumMod val="6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dk1"/>
                </a:solidFill>
                <a:effectLst/>
                <a:uFillTx/>
                <a:latin typeface="メイリオ"/>
                <a:ea typeface="メイリオ"/>
              </a:rPr>
              <a:t>ヒアリングの上</a:t>
            </a:r>
            <a:endParaRPr b="0" lang="en-US" sz="1050" strike="noStrike" u="none">
              <a:solidFill>
                <a:srgbClr val="000000"/>
              </a:solidFill>
              <a:effectLst/>
              <a:uFillTx/>
              <a:latin typeface="Arial"/>
            </a:endParaRPr>
          </a:p>
          <a:p>
            <a:pPr algn="ctr" defTabSz="914400">
              <a:lnSpc>
                <a:spcPct val="100000"/>
              </a:lnSpc>
            </a:pPr>
            <a:r>
              <a:rPr b="1" lang="ja-JP" sz="1050" strike="noStrike" u="none">
                <a:solidFill>
                  <a:schemeClr val="dk1"/>
                </a:solidFill>
                <a:effectLst/>
                <a:uFillTx/>
                <a:latin typeface="メイリオ"/>
                <a:ea typeface="メイリオ"/>
              </a:rPr>
              <a:t>確定</a:t>
            </a:r>
            <a:endParaRPr b="0" lang="en-US" sz="1050" strike="noStrike" u="none">
              <a:solidFill>
                <a:srgbClr val="000000"/>
              </a:solidFill>
              <a:effectLst/>
              <a:uFillTx/>
              <a:latin typeface="Arial"/>
            </a:endParaRPr>
          </a:p>
        </p:txBody>
      </p:sp>
      <p:sp>
        <p:nvSpPr>
          <p:cNvPr id="773" name="矢印: 下 11"/>
          <p:cNvSpPr/>
          <p:nvPr/>
        </p:nvSpPr>
        <p:spPr>
          <a:xfrm>
            <a:off x="4075920" y="1862280"/>
            <a:ext cx="1133640" cy="4292280"/>
          </a:xfrm>
          <a:prstGeom prst="downArrow">
            <a:avLst>
              <a:gd name="adj1" fmla="val 50000"/>
              <a:gd name="adj2" fmla="val 50000"/>
            </a:avLst>
          </a:prstGeom>
          <a:gradFill rotWithShape="0">
            <a:gsLst>
              <a:gs pos="0">
                <a:srgbClr val="fdfdfd"/>
              </a:gs>
              <a:gs pos="100000">
                <a:srgbClr val="ebf1de"/>
              </a:gs>
            </a:gsLst>
            <a:lin ang="5400000"/>
          </a:gra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74" name="テキスト ボックス 19"/>
          <p:cNvSpPr/>
          <p:nvPr/>
        </p:nvSpPr>
        <p:spPr>
          <a:xfrm>
            <a:off x="3578760" y="544824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200" strike="noStrike" u="none">
                <a:solidFill>
                  <a:schemeClr val="dk1"/>
                </a:solidFill>
                <a:effectLst/>
                <a:uFillTx/>
                <a:latin typeface="メイリオ"/>
                <a:ea typeface="メイリオ"/>
              </a:rPr>
              <a:t>LINE </a:t>
            </a:r>
            <a:r>
              <a:rPr b="1" lang="ja-JP" sz="1200" strike="noStrike" u="none">
                <a:solidFill>
                  <a:schemeClr val="dk1"/>
                </a:solidFill>
                <a:effectLst/>
                <a:uFillTx/>
                <a:latin typeface="メイリオ"/>
                <a:ea typeface="メイリオ"/>
              </a:rPr>
              <a:t>ミニアプリ</a:t>
            </a:r>
            <a:endParaRPr b="0" lang="en-US" sz="1200" strike="noStrike" u="none">
              <a:solidFill>
                <a:srgbClr val="000000"/>
              </a:solidFill>
              <a:effectLst/>
              <a:uFillTx/>
              <a:latin typeface="Arial"/>
            </a:endParaRPr>
          </a:p>
        </p:txBody>
      </p:sp>
      <p:sp>
        <p:nvSpPr>
          <p:cNvPr id="775" name="テキスト ボックス 20"/>
          <p:cNvSpPr/>
          <p:nvPr/>
        </p:nvSpPr>
        <p:spPr>
          <a:xfrm>
            <a:off x="3578760" y="380376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200" strike="noStrike" u="none">
                <a:solidFill>
                  <a:schemeClr val="dk1"/>
                </a:solidFill>
                <a:effectLst/>
                <a:uFillTx/>
                <a:latin typeface="メイリオ"/>
                <a:ea typeface="メイリオ"/>
              </a:rPr>
              <a:t>LINE</a:t>
            </a:r>
            <a:r>
              <a:rPr b="1" lang="ja-JP" sz="1200" strike="noStrike" u="none">
                <a:solidFill>
                  <a:schemeClr val="dk1"/>
                </a:solidFill>
                <a:effectLst/>
                <a:uFillTx/>
                <a:latin typeface="メイリオ"/>
                <a:ea typeface="メイリオ"/>
              </a:rPr>
              <a:t>友だち</a:t>
            </a:r>
            <a:endParaRPr b="0" lang="en-US" sz="1200" strike="noStrike" u="none">
              <a:solidFill>
                <a:srgbClr val="000000"/>
              </a:solidFill>
              <a:effectLst/>
              <a:uFillTx/>
              <a:latin typeface="Arial"/>
            </a:endParaRPr>
          </a:p>
        </p:txBody>
      </p:sp>
      <p:sp>
        <p:nvSpPr>
          <p:cNvPr id="776" name="テキスト ボックス 25"/>
          <p:cNvSpPr/>
          <p:nvPr/>
        </p:nvSpPr>
        <p:spPr>
          <a:xfrm>
            <a:off x="3578760" y="334764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dk1"/>
                </a:solidFill>
                <a:effectLst/>
                <a:uFillTx/>
                <a:latin typeface="メイリオ"/>
                <a:ea typeface="メイリオ"/>
              </a:rPr>
              <a:t>離脱防止バナー</a:t>
            </a:r>
            <a:endParaRPr b="0" lang="en-US" sz="1200" strike="noStrike" u="none">
              <a:solidFill>
                <a:srgbClr val="000000"/>
              </a:solidFill>
              <a:effectLst/>
              <a:uFillTx/>
              <a:latin typeface="Arial"/>
            </a:endParaRPr>
          </a:p>
        </p:txBody>
      </p:sp>
      <p:sp>
        <p:nvSpPr>
          <p:cNvPr id="777" name="テキスト ボックス 35"/>
          <p:cNvSpPr/>
          <p:nvPr/>
        </p:nvSpPr>
        <p:spPr>
          <a:xfrm>
            <a:off x="3578760" y="198252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lumMod val="65000"/>
                  </a:schemeClr>
                </a:solidFill>
                <a:effectLst/>
                <a:uFillTx/>
                <a:latin typeface="メイリオ"/>
                <a:ea typeface="メイリオ"/>
              </a:rPr>
              <a:t>接触</a:t>
            </a:r>
            <a:endParaRPr b="0" lang="en-US" sz="1200" strike="noStrike" u="none">
              <a:solidFill>
                <a:srgbClr val="000000"/>
              </a:solidFill>
              <a:effectLst/>
              <a:uFillTx/>
              <a:latin typeface="Arial"/>
            </a:endParaRPr>
          </a:p>
        </p:txBody>
      </p:sp>
      <p:sp>
        <p:nvSpPr>
          <p:cNvPr id="778" name="テキスト ボックス 38"/>
          <p:cNvSpPr/>
          <p:nvPr/>
        </p:nvSpPr>
        <p:spPr>
          <a:xfrm>
            <a:off x="3686040" y="5900760"/>
            <a:ext cx="1913400" cy="4611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dk1"/>
                </a:solidFill>
                <a:effectLst/>
                <a:uFillTx/>
                <a:latin typeface="メイリオ"/>
                <a:ea typeface="メイリオ"/>
              </a:rPr>
              <a:t>自社</a:t>
            </a:r>
            <a:r>
              <a:rPr b="1" lang="en-US" sz="1200" strike="noStrike" u="none">
                <a:solidFill>
                  <a:schemeClr val="dk1"/>
                </a:solidFill>
                <a:effectLst/>
                <a:uFillTx/>
                <a:latin typeface="メイリオ"/>
                <a:ea typeface="メイリオ"/>
              </a:rPr>
              <a:t>App/</a:t>
            </a:r>
            <a:r>
              <a:rPr b="1" lang="ja-JP" sz="1200" strike="noStrike" u="none">
                <a:solidFill>
                  <a:schemeClr val="dk1"/>
                </a:solidFill>
                <a:effectLst/>
                <a:uFillTx/>
                <a:latin typeface="メイリオ"/>
                <a:ea typeface="メイリオ"/>
              </a:rPr>
              <a:t>ネットワーク</a:t>
            </a:r>
            <a:endParaRPr b="0" lang="en-US" sz="1200" strike="noStrike" u="none">
              <a:solidFill>
                <a:srgbClr val="000000"/>
              </a:solidFill>
              <a:effectLst/>
              <a:uFillTx/>
              <a:latin typeface="Arial"/>
            </a:endParaRPr>
          </a:p>
          <a:p>
            <a:pPr algn="ctr" defTabSz="914400">
              <a:lnSpc>
                <a:spcPct val="100000"/>
              </a:lnSpc>
            </a:pPr>
            <a:r>
              <a:rPr b="1" lang="ja-JP" sz="1200" strike="noStrike" u="none">
                <a:solidFill>
                  <a:schemeClr val="dk1"/>
                </a:solidFill>
                <a:effectLst/>
                <a:uFillTx/>
                <a:latin typeface="メイリオ"/>
                <a:ea typeface="メイリオ"/>
              </a:rPr>
              <a:t>（</a:t>
            </a:r>
            <a:r>
              <a:rPr b="1" lang="en-US" sz="1200" strike="noStrike" u="none">
                <a:solidFill>
                  <a:schemeClr val="dk1"/>
                </a:solidFill>
                <a:effectLst/>
                <a:uFillTx/>
                <a:latin typeface="メイリオ"/>
                <a:ea typeface="メイリオ"/>
              </a:rPr>
              <a:t>ID</a:t>
            </a:r>
            <a:r>
              <a:rPr b="1" lang="ja-JP" sz="1200" strike="noStrike" u="none">
                <a:solidFill>
                  <a:schemeClr val="dk1"/>
                </a:solidFill>
                <a:effectLst/>
                <a:uFillTx/>
                <a:latin typeface="メイリオ"/>
                <a:ea typeface="メイリオ"/>
              </a:rPr>
              <a:t>連携等の開発）</a:t>
            </a:r>
            <a:endParaRPr b="0" lang="en-US" sz="1200" strike="noStrike" u="none">
              <a:solidFill>
                <a:srgbClr val="000000"/>
              </a:solidFill>
              <a:effectLst/>
              <a:uFillTx/>
              <a:latin typeface="Arial"/>
            </a:endParaRPr>
          </a:p>
        </p:txBody>
      </p:sp>
      <p:sp>
        <p:nvSpPr>
          <p:cNvPr id="779" name="テキスト ボックス 39"/>
          <p:cNvSpPr/>
          <p:nvPr/>
        </p:nvSpPr>
        <p:spPr>
          <a:xfrm>
            <a:off x="3578760" y="265104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lumMod val="65000"/>
                  </a:schemeClr>
                </a:solidFill>
                <a:effectLst/>
                <a:uFillTx/>
                <a:latin typeface="メイリオ"/>
                <a:ea typeface="メイリオ"/>
              </a:rPr>
              <a:t>離脱</a:t>
            </a:r>
            <a:endParaRPr b="0" lang="en-US" sz="1200" strike="noStrike" u="none">
              <a:solidFill>
                <a:srgbClr val="000000"/>
              </a:solidFill>
              <a:effectLst/>
              <a:uFillTx/>
              <a:latin typeface="Arial"/>
            </a:endParaRPr>
          </a:p>
        </p:txBody>
      </p:sp>
      <p:sp>
        <p:nvSpPr>
          <p:cNvPr id="780" name="テキスト ボックス 41"/>
          <p:cNvSpPr/>
          <p:nvPr/>
        </p:nvSpPr>
        <p:spPr>
          <a:xfrm>
            <a:off x="3578760" y="427104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200" strike="noStrike" u="none">
                <a:solidFill>
                  <a:schemeClr val="dk1"/>
                </a:solidFill>
                <a:effectLst/>
                <a:uFillTx/>
                <a:latin typeface="メイリオ"/>
                <a:ea typeface="メイリオ"/>
              </a:rPr>
              <a:t>LINE</a:t>
            </a:r>
            <a:r>
              <a:rPr b="1" lang="ja-JP" sz="1200" strike="noStrike" u="none">
                <a:solidFill>
                  <a:schemeClr val="dk1"/>
                </a:solidFill>
                <a:effectLst/>
                <a:uFillTx/>
                <a:latin typeface="メイリオ"/>
                <a:ea typeface="メイリオ"/>
              </a:rPr>
              <a:t>でログイン</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ja-JP" sz="1400" strike="noStrike" u="none">
                <a:solidFill>
                  <a:srgbClr val="343434"/>
                </a:solidFill>
                <a:effectLst/>
                <a:uFillTx/>
                <a:latin typeface="メイリオ"/>
                <a:ea typeface="メイリオ"/>
              </a:rPr>
              <a:t>ユーザーコミュニケーションに、</a:t>
            </a:r>
            <a:r>
              <a:rPr b="0" lang="en-US" sz="1400" strike="noStrike" u="none">
                <a:solidFill>
                  <a:srgbClr val="343434"/>
                </a:solidFill>
                <a:effectLst/>
                <a:uFillTx/>
                <a:latin typeface="メイリオ"/>
                <a:ea typeface="メイリオ"/>
              </a:rPr>
              <a:t>LINE</a:t>
            </a:r>
            <a:r>
              <a:rPr b="0" lang="ja-JP" sz="1400" strike="noStrike" u="none">
                <a:solidFill>
                  <a:srgbClr val="343434"/>
                </a:solidFill>
                <a:effectLst/>
                <a:uFillTx/>
                <a:latin typeface="メイリオ"/>
                <a:ea typeface="メイリオ"/>
              </a:rPr>
              <a:t>公式アカウントを導入する法人が増加傾向。</a:t>
            </a:r>
            <a:endParaRPr b="0" lang="en-US" sz="1400" strike="noStrike" u="none">
              <a:solidFill>
                <a:srgbClr val="000000"/>
              </a:solidFill>
              <a:effectLst/>
              <a:uFillTx/>
              <a:latin typeface="Arial"/>
            </a:endParaRPr>
          </a:p>
          <a:p>
            <a:pPr algn="ctr" defTabSz="914400">
              <a:lnSpc>
                <a:spcPts val="2455"/>
              </a:lnSpc>
            </a:pPr>
            <a:r>
              <a:rPr b="1" lang="ja-JP" sz="1400" strike="noStrike" u="none">
                <a:solidFill>
                  <a:srgbClr val="343434"/>
                </a:solidFill>
                <a:effectLst/>
                <a:uFillTx/>
                <a:latin typeface="メイリオ"/>
                <a:ea typeface="メイリオ"/>
              </a:rPr>
              <a:t>開封率に関してはメールマガジンの</a:t>
            </a:r>
            <a:r>
              <a:rPr b="1" lang="en-US" sz="1400" strike="noStrike" u="none">
                <a:solidFill>
                  <a:srgbClr val="343434"/>
                </a:solidFill>
                <a:effectLst/>
                <a:uFillTx/>
                <a:latin typeface="メイリオ"/>
                <a:ea typeface="メイリオ"/>
              </a:rPr>
              <a:t>6</a:t>
            </a:r>
            <a:r>
              <a:rPr b="1" lang="ja-JP" sz="1400" strike="noStrike" u="none">
                <a:solidFill>
                  <a:srgbClr val="343434"/>
                </a:solidFill>
                <a:effectLst/>
                <a:uFillTx/>
                <a:latin typeface="メイリオ"/>
                <a:ea typeface="メイリオ"/>
              </a:rPr>
              <a:t>倍を誇る</a:t>
            </a:r>
            <a:r>
              <a:rPr b="0" lang="ja-JP" sz="1400" strike="noStrike" u="none">
                <a:solidFill>
                  <a:srgbClr val="343434"/>
                </a:solidFill>
                <a:effectLst/>
                <a:uFillTx/>
                <a:latin typeface="メイリオ"/>
                <a:ea typeface="メイリオ"/>
              </a:rPr>
              <a:t>と言われています。</a:t>
            </a:r>
            <a:endParaRPr b="0" lang="en-US" sz="1400" strike="noStrike" u="non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400" strike="noStrike" u="non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455"/>
                </a:lnSpc>
              </a:pPr>
              <a:r>
                <a:rPr b="0" lang="ja-JP" sz="1400" strike="noStrike" u="none">
                  <a:solidFill>
                    <a:srgbClr val="040606"/>
                  </a:solidFill>
                  <a:effectLst/>
                  <a:uFillTx/>
                  <a:latin typeface="メイリオ"/>
                  <a:ea typeface="メイリオ"/>
                </a:rPr>
                <a:t>　　　　</a:t>
              </a:r>
              <a:r>
                <a:rPr b="0" lang="ja-JP" sz="1400" strike="noStrike" u="none">
                  <a:solidFill>
                    <a:srgbClr val="040606"/>
                  </a:solidFill>
                  <a:effectLst/>
                  <a:uFillTx/>
                  <a:latin typeface="メイリオ"/>
                  <a:ea typeface="メイリオ"/>
                </a:rPr>
                <a:t>メールマガジン、テレマーケティング が主流</a:t>
              </a:r>
              <a:endParaRPr b="0" lang="en-US" sz="1400" strike="noStrike" u="non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047"/>
                </a:lnSpc>
              </a:pPr>
              <a:endParaRPr b="0" lang="en-US" sz="1800" strike="noStrike" u="non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400" strike="noStrike" u="non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455"/>
                </a:lnSpc>
              </a:pPr>
              <a:r>
                <a:rPr b="1" lang="ja-JP" sz="1400" strike="noStrike" u="none">
                  <a:solidFill>
                    <a:srgbClr val="00b900"/>
                  </a:solidFill>
                  <a:effectLst/>
                  <a:uFillTx/>
                  <a:latin typeface="メイリオ"/>
                  <a:ea typeface="メイリオ"/>
                </a:rPr>
                <a:t>　　　　＋</a:t>
              </a:r>
              <a:r>
                <a:rPr b="1" lang="en-US" sz="1400" strike="noStrike" u="none">
                  <a:solidFill>
                    <a:srgbClr val="00b900"/>
                  </a:solidFill>
                  <a:effectLst/>
                  <a:uFillTx/>
                  <a:latin typeface="メイリオ"/>
                  <a:ea typeface="メイリオ"/>
                </a:rPr>
                <a:t>LINE</a:t>
              </a:r>
              <a:r>
                <a:rPr b="1" lang="ja-JP" sz="1400" strike="noStrike" u="none">
                  <a:solidFill>
                    <a:srgbClr val="00b900"/>
                  </a:solidFill>
                  <a:effectLst/>
                  <a:uFillTx/>
                  <a:latin typeface="メイリオ"/>
                  <a:ea typeface="メイリオ"/>
                </a:rPr>
                <a:t>公式アカウント </a:t>
              </a:r>
              <a:r>
                <a:rPr b="0" lang="ja-JP" sz="1400" strike="noStrike" u="none">
                  <a:solidFill>
                    <a:srgbClr val="00b900"/>
                  </a:solidFill>
                  <a:effectLst/>
                  <a:uFillTx/>
                  <a:latin typeface="メイリオ"/>
                  <a:ea typeface="メイリオ"/>
                </a:rPr>
                <a:t>が主流</a:t>
              </a:r>
              <a:endParaRPr b="0" lang="en-US" sz="1400" strike="noStrike" u="non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fillRef idx="0"/>
          <a:effectRef idx="0"/>
          <a:fontRef idx="minor"/>
        </p:style>
        <p:txBody>
          <a:bodyPr lIns="0" rIns="0" tIns="0" bIns="0" anchor="t">
            <a:spAutoFit/>
          </a:bodyPr>
          <a:p>
            <a:pPr algn="ctr" defTabSz="914400">
              <a:lnSpc>
                <a:spcPts val="2455"/>
              </a:lnSpc>
            </a:pPr>
            <a:r>
              <a:rPr b="0" lang="zh-CN" sz="1400" strike="noStrike" u="none">
                <a:solidFill>
                  <a:srgbClr val="040606"/>
                </a:solidFill>
                <a:effectLst/>
                <a:uFillTx/>
                <a:latin typeface="メイリオ"/>
                <a:ea typeface="メイリオ"/>
              </a:rPr>
              <a:t>メールマガジン</a:t>
            </a:r>
            <a:endParaRPr b="0" lang="en-US" sz="1400" strike="noStrike" u="non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400" strike="noStrike" u="non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047"/>
                </a:lnSpc>
              </a:pPr>
              <a:endParaRPr b="0" lang="en-US" sz="1400" strike="noStrike" u="non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fillRef idx="0"/>
          <a:effectRef idx="0"/>
          <a:fontRef idx="minor"/>
        </p:style>
        <p:txBody>
          <a:bodyPr lIns="90000" rIns="90000" tIns="-38160" bIns="-38160" anchor="t">
            <a:noAutofit/>
          </a:bodyPr>
          <a:p>
            <a:endParaRPr b="0" lang="en-US" sz="1400" strike="noStrike" u="non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入力が面倒・間違いが発生</a:t>
            </a:r>
            <a:endParaRPr b="0" lang="en-US" sz="1400" strike="noStrike" u="non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fillRef idx="0"/>
          <a:effectRef idx="0"/>
          <a:fontRef idx="minor"/>
        </p:style>
        <p:txBody>
          <a:bodyPr lIns="90000" rIns="90000" tIns="-33840" bIns="-33840" anchor="t">
            <a:noAutofit/>
          </a:bodyPr>
          <a:p>
            <a:endParaRPr b="0" lang="en-US" sz="1400" strike="noStrike" u="non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迷惑メールなどに入る</a:t>
            </a:r>
            <a:endParaRPr b="0" lang="en-US" sz="1400" strike="noStrike" u="non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en-US" sz="1400" strike="noStrike" u="none">
                <a:solidFill>
                  <a:srgbClr val="040606"/>
                </a:solidFill>
                <a:effectLst/>
                <a:uFillTx/>
                <a:latin typeface="メイリオ"/>
                <a:ea typeface="メイリオ"/>
              </a:rPr>
              <a:t>10</a:t>
            </a:r>
            <a:r>
              <a:rPr b="0" lang="zh-CN" sz="1400" strike="noStrike" u="none">
                <a:solidFill>
                  <a:srgbClr val="040606"/>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en-US" sz="1400" strike="noStrike" u="none">
                <a:solidFill>
                  <a:srgbClr val="040606"/>
                </a:solidFill>
                <a:effectLst/>
                <a:uFillTx/>
                <a:latin typeface="メイリオ"/>
                <a:ea typeface="メイリオ"/>
              </a:rPr>
              <a:t>1</a:t>
            </a:r>
            <a:r>
              <a:rPr b="0" lang="zh-CN" sz="1400" strike="noStrike" u="none">
                <a:solidFill>
                  <a:srgbClr val="040606"/>
                </a:solidFill>
                <a:effectLst/>
                <a:uFillTx/>
                <a:latin typeface="メイリオ"/>
                <a:ea typeface="メイリオ"/>
              </a:rPr>
              <a:t>時間</a:t>
            </a:r>
            <a:endParaRPr b="0" lang="en-US" sz="1400" strike="noStrike" u="non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fillRef idx="0"/>
          <a:effectRef idx="0"/>
          <a:fontRef idx="minor"/>
        </p:style>
        <p:txBody>
          <a:bodyPr lIns="90000" rIns="90000" tIns="-37800" bIns="-37800" anchor="t">
            <a:noAutofit/>
          </a:bodyPr>
          <a:p>
            <a:endParaRPr b="0" lang="en-US" sz="1400" strike="noStrike" u="non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fillRef idx="0"/>
          <a:effectRef idx="0"/>
          <a:fontRef idx="minor"/>
        </p:style>
        <p:txBody>
          <a:bodyPr lIns="90000" rIns="90000" tIns="-38160" bIns="-38160" anchor="t">
            <a:noAutofit/>
          </a:bodyPr>
          <a:p>
            <a:endParaRPr b="0" lang="en-US" sz="1400" strike="noStrike" u="non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到達</a:t>
            </a:r>
            <a:endParaRPr b="0" lang="en-US" sz="1400" strike="noStrike" u="non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開封率</a:t>
            </a:r>
            <a:endParaRPr b="0" lang="en-US" sz="1400" strike="noStrike" u="non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開封まで</a:t>
            </a:r>
            <a:endParaRPr b="0" lang="en-US" sz="1400" strike="noStrike" u="non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1" lang="en-US" sz="1600" strike="noStrike" u="non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fillRef idx="0"/>
          <a:effectRef idx="0"/>
          <a:fontRef idx="minor"/>
        </p:style>
        <p:txBody>
          <a:bodyPr lIns="90000" rIns="90000" tIns="-33840" bIns="-33840" anchor="t">
            <a:noAutofit/>
          </a:bodyPr>
          <a:p>
            <a:endParaRPr b="1" lang="en-US" sz="1400" strike="noStrike" u="non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fillRef idx="0"/>
          <a:effectRef idx="0"/>
          <a:fontRef idx="minor"/>
        </p:style>
        <p:txBody>
          <a:bodyPr lIns="0" rIns="0" tIns="0" bIns="0" anchor="t">
            <a:spAutoFit/>
          </a:bodyPr>
          <a:p>
            <a:pPr algn="ctr" defTabSz="914400">
              <a:lnSpc>
                <a:spcPts val="2455"/>
              </a:lnSpc>
            </a:pPr>
            <a:r>
              <a:rPr b="1" lang="en-US" sz="1400" strike="noStrike" u="none">
                <a:solidFill>
                  <a:srgbClr val="00b449"/>
                </a:solidFill>
                <a:effectLst/>
                <a:uFillTx/>
                <a:latin typeface="メイリオ"/>
                <a:ea typeface="メイリオ"/>
              </a:rPr>
              <a:t>LINE</a:t>
            </a:r>
            <a:endParaRPr b="0" lang="en-US" sz="1400" strike="noStrike" u="non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fillRef idx="0"/>
            <a:effectRef idx="0"/>
            <a:fontRef idx="minor"/>
          </p:style>
          <p:txBody>
            <a:bodyPr lIns="90000" rIns="90000" tIns="45000" bIns="45000" anchor="t">
              <a:noAutofit/>
            </a:bodyPr>
            <a:p>
              <a:pPr defTabSz="914400">
                <a:lnSpc>
                  <a:spcPct val="100000"/>
                </a:lnSpc>
              </a:pPr>
              <a:endParaRPr b="1" lang="en-US" sz="1400" strike="noStrike" u="non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047"/>
                </a:lnSpc>
              </a:pPr>
              <a:endParaRPr b="1" lang="en-US" sz="1400" strike="noStrike" u="non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1" lang="zh-CN" sz="1400" strike="noStrike" u="none">
                <a:solidFill>
                  <a:srgbClr val="00b449"/>
                </a:solidFill>
                <a:effectLst/>
                <a:uFillTx/>
                <a:latin typeface="メイリオ"/>
                <a:ea typeface="メイリオ"/>
              </a:rPr>
              <a:t>確実に届く</a:t>
            </a:r>
            <a:endParaRPr b="0" lang="en-US" sz="1400" strike="noStrike" u="non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1" lang="en-US" sz="1400" strike="noStrike" u="none">
                <a:solidFill>
                  <a:srgbClr val="00b449"/>
                </a:solidFill>
                <a:effectLst/>
                <a:uFillTx/>
                <a:latin typeface="メイリオ"/>
                <a:ea typeface="メイリオ"/>
              </a:rPr>
              <a:t>60</a:t>
            </a:r>
            <a:r>
              <a:rPr b="1" lang="zh-CN" sz="1400" strike="noStrike" u="none">
                <a:solidFill>
                  <a:srgbClr val="00b449"/>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1" lang="en-US" sz="1400" strike="noStrike" u="none">
                <a:solidFill>
                  <a:srgbClr val="00b449"/>
                </a:solidFill>
                <a:effectLst/>
                <a:uFillTx/>
                <a:latin typeface="メイリオ"/>
                <a:ea typeface="メイリオ"/>
              </a:rPr>
              <a:t>15</a:t>
            </a:r>
            <a:r>
              <a:rPr b="1" lang="zh-CN" sz="1400" strike="noStrike" u="none">
                <a:solidFill>
                  <a:srgbClr val="00b449"/>
                </a:solidFill>
                <a:effectLst/>
                <a:uFillTx/>
                <a:latin typeface="メイリオ"/>
                <a:ea typeface="メイリオ"/>
              </a:rPr>
              <a:t>分</a:t>
            </a:r>
            <a:endParaRPr b="0" lang="en-US" sz="1400" strike="noStrike" u="non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1" lang="zh-CN" sz="1400" strike="noStrike" u="none">
                <a:solidFill>
                  <a:srgbClr val="00b449"/>
                </a:solidFill>
                <a:effectLst/>
                <a:uFillTx/>
                <a:latin typeface="メイリオ"/>
                <a:ea typeface="メイリオ"/>
              </a:rPr>
              <a:t>ワンタップで追加</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zh-CN" sz="1400" strike="noStrike" u="none">
                <a:solidFill>
                  <a:srgbClr val="343434"/>
                </a:solidFill>
                <a:effectLst/>
                <a:uFillTx/>
                <a:latin typeface="メイリオ"/>
                <a:ea typeface="メイリオ"/>
              </a:rPr>
              <a:t>「今すぐ客」以外の</a:t>
            </a:r>
            <a:r>
              <a:rPr b="0" lang="ja-JP" sz="1400" strike="noStrike" u="none">
                <a:solidFill>
                  <a:srgbClr val="343434"/>
                </a:solidFill>
                <a:effectLst/>
                <a:uFillTx/>
                <a:latin typeface="メイリオ"/>
                <a:ea typeface="メイリオ"/>
              </a:rPr>
              <a:t>約</a:t>
            </a:r>
            <a:r>
              <a:rPr b="0" lang="en-US" sz="1400" strike="noStrike" u="none">
                <a:solidFill>
                  <a:srgbClr val="343434"/>
                </a:solidFill>
                <a:effectLst/>
                <a:uFillTx/>
                <a:latin typeface="メイリオ"/>
                <a:ea typeface="メイリオ"/>
              </a:rPr>
              <a:t>99</a:t>
            </a:r>
            <a:r>
              <a:rPr b="0" lang="ja-JP" sz="1400" strike="noStrike" u="none">
                <a:solidFill>
                  <a:srgbClr val="343434"/>
                </a:solidFill>
                <a:effectLst/>
                <a:uFillTx/>
                <a:latin typeface="メイリオ"/>
                <a:ea typeface="メイリオ"/>
              </a:rPr>
              <a:t>％の層をリストマーケティングで顧客に引き上げることが重要。</a:t>
            </a:r>
            <a:endParaRPr b="0" lang="en-US" sz="1400" strike="noStrike" u="none">
              <a:solidFill>
                <a:srgbClr val="000000"/>
              </a:solidFill>
              <a:effectLst/>
              <a:uFillTx/>
              <a:latin typeface="Arial"/>
            </a:endParaRPr>
          </a:p>
          <a:p>
            <a:pPr algn="ctr" defTabSz="914400">
              <a:lnSpc>
                <a:spcPts val="2455"/>
              </a:lnSpc>
            </a:pPr>
            <a:r>
              <a:rPr b="0" lang="ja-JP" sz="1400" strike="noStrike" u="none">
                <a:solidFill>
                  <a:srgbClr val="343434"/>
                </a:solidFill>
                <a:effectLst/>
                <a:uFillTx/>
                <a:latin typeface="メイリオ"/>
                <a:ea typeface="メイリオ"/>
              </a:rPr>
              <a:t>結果として、リード獲得率向上、リピート率向上、売上向上に繋げる。</a:t>
            </a:r>
            <a:endParaRPr b="0" lang="en-US" sz="1400" strike="noStrike" u="non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len="sm" type="arrow" w="me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len="sm" type="arrow" w="me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fillRef idx="0"/>
          <a:effectRef idx="0"/>
          <a:fontRef idx="minor"/>
        </p:style>
        <p:txBody>
          <a:bodyPr lIns="0" rIns="0" tIns="0" bIns="0" anchor="t">
            <a:spAutoFit/>
          </a:bodyPr>
          <a:p>
            <a:pPr defTabSz="914400">
              <a:lnSpc>
                <a:spcPts val="1740"/>
              </a:lnSpc>
            </a:pPr>
            <a:r>
              <a:rPr b="1" lang="zh-CN" sz="1240" strike="noStrike" u="none">
                <a:solidFill>
                  <a:srgbClr val="494848"/>
                </a:solidFill>
                <a:effectLst/>
                <a:uFillTx/>
                <a:latin typeface="メイリオ"/>
                <a:ea typeface="メイリオ"/>
              </a:rPr>
              <a:t>必要性</a:t>
            </a:r>
            <a:endParaRPr b="0" lang="en-US" sz="1240" strike="noStrike" u="non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fillRef idx="0"/>
          <a:effectRef idx="0"/>
          <a:fontRef idx="minor"/>
        </p:style>
        <p:txBody>
          <a:bodyPr lIns="0" rIns="0" tIns="0" bIns="0" anchor="t">
            <a:spAutoFit/>
          </a:bodyPr>
          <a:p>
            <a:pPr defTabSz="914400">
              <a:lnSpc>
                <a:spcPts val="1740"/>
              </a:lnSpc>
            </a:pPr>
            <a:r>
              <a:rPr b="1" lang="zh-CN" sz="1240" strike="noStrike" u="none">
                <a:solidFill>
                  <a:srgbClr val="494848"/>
                </a:solidFill>
                <a:effectLst/>
                <a:uFillTx/>
                <a:latin typeface="メイリオ"/>
                <a:ea typeface="メイリオ"/>
              </a:rPr>
              <a:t>緊急性</a:t>
            </a:r>
            <a:endParaRPr b="0" lang="en-US" sz="1240" strike="noStrike" u="non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fillRef idx="0"/>
          <a:effectRef idx="0"/>
          <a:fontRef idx="minor"/>
        </p:style>
        <p:txBody>
          <a:bodyPr lIns="0" rIns="0" tIns="0" bIns="0" anchor="t">
            <a:spAutoFit/>
          </a:bodyPr>
          <a:p>
            <a:pPr algn="ctr" defTabSz="914400">
              <a:lnSpc>
                <a:spcPts val="1740"/>
              </a:lnSpc>
            </a:pPr>
            <a:r>
              <a:rPr b="0" lang="zh-CN" sz="1240" strike="noStrike" u="none">
                <a:solidFill>
                  <a:srgbClr val="494848"/>
                </a:solidFill>
                <a:effectLst/>
                <a:uFillTx/>
                <a:latin typeface="メイリオ"/>
                <a:ea typeface="メイリオ"/>
              </a:rPr>
              <a:t>今すぐ客</a:t>
            </a:r>
            <a:endParaRPr b="0" lang="en-US" sz="1240" strike="noStrike" u="non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fillRef idx="0"/>
          <a:effectRef idx="0"/>
          <a:fontRef idx="minor"/>
        </p:style>
        <p:txBody>
          <a:bodyPr lIns="0" rIns="0" tIns="0" bIns="0" anchor="t">
            <a:spAutoFit/>
          </a:bodyPr>
          <a:p>
            <a:pPr algn="ctr" defTabSz="914400">
              <a:lnSpc>
                <a:spcPts val="1740"/>
              </a:lnSpc>
            </a:pPr>
            <a:r>
              <a:rPr b="0" lang="zh-CN" sz="1240" strike="noStrike" u="none">
                <a:solidFill>
                  <a:srgbClr val="494848"/>
                </a:solidFill>
                <a:effectLst/>
                <a:uFillTx/>
                <a:latin typeface="メイリオ"/>
                <a:ea typeface="メイリオ"/>
              </a:rPr>
              <a:t>そのうち客</a:t>
            </a:r>
            <a:endParaRPr b="0" lang="en-US" sz="1240" strike="noStrike" u="non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fillRef idx="0"/>
          <a:effectRef idx="0"/>
          <a:fontRef idx="minor"/>
        </p:style>
        <p:txBody>
          <a:bodyPr lIns="0" rIns="0" tIns="0" bIns="0" anchor="t">
            <a:spAutoFit/>
          </a:bodyPr>
          <a:p>
            <a:pPr algn="ctr" defTabSz="914400">
              <a:lnSpc>
                <a:spcPts val="1740"/>
              </a:lnSpc>
            </a:pPr>
            <a:r>
              <a:rPr b="0" lang="zh-CN" sz="1240" strike="noStrike" u="none">
                <a:solidFill>
                  <a:srgbClr val="ffffff"/>
                </a:solidFill>
                <a:effectLst/>
                <a:uFillTx/>
                <a:latin typeface="メイリオ"/>
                <a:ea typeface="メイリオ"/>
              </a:rPr>
              <a:t>まだまだ客</a:t>
            </a:r>
            <a:endParaRPr b="0" lang="en-US" sz="1240" strike="noStrike" u="non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fillRef idx="0"/>
          <a:effectRef idx="0"/>
          <a:fontRef idx="minor"/>
        </p:style>
        <p:txBody>
          <a:bodyPr lIns="0" rIns="0" tIns="0" bIns="0" anchor="t">
            <a:spAutoFit/>
          </a:bodyPr>
          <a:p>
            <a:pPr algn="ctr" defTabSz="914400">
              <a:lnSpc>
                <a:spcPts val="1740"/>
              </a:lnSpc>
            </a:pPr>
            <a:r>
              <a:rPr b="0" lang="zh-CN" sz="1240" strike="noStrike" u="none">
                <a:solidFill>
                  <a:srgbClr val="494848"/>
                </a:solidFill>
                <a:effectLst/>
                <a:uFillTx/>
                <a:latin typeface="メイリオ"/>
                <a:ea typeface="メイリオ"/>
              </a:rPr>
              <a:t>お悩み客</a:t>
            </a:r>
            <a:endParaRPr b="0" lang="en-US" sz="1240" strike="noStrike" u="non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fillRef idx="0"/>
          <a:effectRef idx="0"/>
          <a:fontRef idx="minor"/>
        </p:style>
        <p:txBody>
          <a:bodyPr lIns="0" rIns="0" tIns="0" bIns="0" anchor="t">
            <a:spAutoFit/>
          </a:bodyPr>
          <a:p>
            <a:pPr algn="ctr" defTabSz="914400">
              <a:lnSpc>
                <a:spcPts val="2177"/>
              </a:lnSpc>
            </a:pPr>
            <a:r>
              <a:rPr b="0" lang="en-US" sz="1560" strike="noStrike" u="none">
                <a:solidFill>
                  <a:srgbClr val="494848"/>
                </a:solidFill>
                <a:effectLst/>
                <a:uFillTx/>
                <a:latin typeface="メイリオ"/>
                <a:ea typeface="メイリオ"/>
              </a:rPr>
              <a:t>1-2</a:t>
            </a:r>
            <a:r>
              <a:rPr b="0" lang="zh-CN" sz="1560" strike="noStrike" u="none">
                <a:solidFill>
                  <a:srgbClr val="494848"/>
                </a:solidFill>
                <a:effectLst/>
                <a:uFillTx/>
                <a:latin typeface="メイリオ"/>
                <a:ea typeface="メイリオ"/>
              </a:rPr>
              <a:t>％</a:t>
            </a:r>
            <a:endParaRPr b="0" lang="en-US" sz="1560" strike="noStrike" u="non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fillRef idx="0"/>
          <a:effectRef idx="0"/>
          <a:fontRef idx="minor"/>
        </p:style>
        <p:txBody>
          <a:bodyPr lIns="0" rIns="0" tIns="0" bIns="0" anchor="t">
            <a:spAutoFit/>
          </a:bodyPr>
          <a:p>
            <a:pPr algn="ctr" defTabSz="914400">
              <a:lnSpc>
                <a:spcPts val="2177"/>
              </a:lnSpc>
            </a:pPr>
            <a:r>
              <a:rPr b="0" lang="en-US" sz="1560" strike="noStrike" u="none">
                <a:solidFill>
                  <a:srgbClr val="494848"/>
                </a:solidFill>
                <a:effectLst/>
                <a:uFillTx/>
                <a:latin typeface="メイリオ"/>
                <a:ea typeface="メイリオ"/>
              </a:rPr>
              <a:t>9-9.5</a:t>
            </a:r>
            <a:r>
              <a:rPr b="0" lang="zh-CN" sz="1560" strike="noStrike" u="none">
                <a:solidFill>
                  <a:srgbClr val="494848"/>
                </a:solidFill>
                <a:effectLst/>
                <a:uFillTx/>
                <a:latin typeface="メイリオ"/>
                <a:ea typeface="メイリオ"/>
              </a:rPr>
              <a:t>％</a:t>
            </a:r>
            <a:endParaRPr b="0" lang="en-US" sz="1560" strike="noStrike" u="non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fillRef idx="0"/>
          <a:effectRef idx="0"/>
          <a:fontRef idx="minor"/>
        </p:style>
        <p:txBody>
          <a:bodyPr lIns="0" rIns="0" tIns="0" bIns="0" anchor="t">
            <a:spAutoFit/>
          </a:bodyPr>
          <a:p>
            <a:pPr algn="ctr" defTabSz="914400">
              <a:lnSpc>
                <a:spcPts val="2177"/>
              </a:lnSpc>
            </a:pPr>
            <a:r>
              <a:rPr b="0" lang="en-US" sz="1560" strike="noStrike" u="none">
                <a:solidFill>
                  <a:srgbClr val="494848"/>
                </a:solidFill>
                <a:effectLst/>
                <a:uFillTx/>
                <a:latin typeface="メイリオ"/>
                <a:ea typeface="メイリオ"/>
              </a:rPr>
              <a:t>9-9.5</a:t>
            </a:r>
            <a:r>
              <a:rPr b="0" lang="zh-CN" sz="1560" strike="noStrike" u="none">
                <a:solidFill>
                  <a:srgbClr val="494848"/>
                </a:solidFill>
                <a:effectLst/>
                <a:uFillTx/>
                <a:latin typeface="メイリオ"/>
                <a:ea typeface="メイリオ"/>
              </a:rPr>
              <a:t>％</a:t>
            </a:r>
            <a:endParaRPr b="0" lang="en-US" sz="1560" strike="noStrike" u="non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fillRef idx="0"/>
          <a:effectRef idx="0"/>
          <a:fontRef idx="minor"/>
        </p:style>
        <p:txBody>
          <a:bodyPr lIns="0" rIns="0" tIns="0" bIns="0" anchor="t">
            <a:spAutoFit/>
          </a:bodyPr>
          <a:p>
            <a:pPr algn="ctr" defTabSz="914400">
              <a:lnSpc>
                <a:spcPts val="2177"/>
              </a:lnSpc>
            </a:pPr>
            <a:r>
              <a:rPr b="0" lang="en-US" sz="1560" strike="noStrike" u="none">
                <a:solidFill>
                  <a:srgbClr val="ffffff"/>
                </a:solidFill>
                <a:effectLst/>
                <a:uFillTx/>
                <a:latin typeface="メイリオ"/>
                <a:ea typeface="メイリオ"/>
              </a:rPr>
              <a:t>80</a:t>
            </a:r>
            <a:r>
              <a:rPr b="0" lang="zh-CN" sz="1560" strike="noStrike" u="none">
                <a:solidFill>
                  <a:srgbClr val="ffffff"/>
                </a:solidFill>
                <a:effectLst/>
                <a:uFillTx/>
                <a:latin typeface="メイリオ"/>
                <a:ea typeface="メイリオ"/>
              </a:rPr>
              <a:t>％</a:t>
            </a:r>
            <a:endParaRPr b="0" lang="en-US" sz="1560" strike="noStrike" u="non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zh-CN" sz="1200" strike="noStrike" u="none">
                <a:solidFill>
                  <a:srgbClr val="494848"/>
                </a:solidFill>
                <a:effectLst/>
                <a:uFillTx/>
                <a:latin typeface="メイリオ"/>
                <a:ea typeface="メイリオ"/>
              </a:rPr>
              <a:t>「今すぐ</a:t>
            </a:r>
            <a:r>
              <a:rPr b="1" lang="ja-JP" sz="1200" strike="noStrike" u="none">
                <a:solidFill>
                  <a:srgbClr val="494848"/>
                </a:solidFill>
                <a:effectLst/>
                <a:uFillTx/>
                <a:latin typeface="メイリオ"/>
                <a:ea typeface="メイリオ"/>
              </a:rPr>
              <a:t>顧客」を高い広告費を投資して獲得するのはリスクが大きい。</a:t>
            </a:r>
            <a:endParaRPr b="0" lang="en-US" sz="1200" strike="noStrike" u="non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zh-CN" sz="1200" strike="noStrike" u="none">
                <a:solidFill>
                  <a:srgbClr val="494848"/>
                </a:solidFill>
                <a:effectLst/>
                <a:uFillTx/>
                <a:latin typeface="メイリオ"/>
                <a:ea typeface="メイリオ"/>
              </a:rPr>
              <a:t>リストとして獲得するだけでなく</a:t>
            </a:r>
            <a:endParaRPr b="0" lang="en-US" sz="1200" strike="noStrike" u="none">
              <a:solidFill>
                <a:srgbClr val="000000"/>
              </a:solidFill>
              <a:effectLst/>
              <a:uFillTx/>
              <a:latin typeface="Arial"/>
            </a:endParaRPr>
          </a:p>
          <a:p>
            <a:pPr defTabSz="914400">
              <a:lnSpc>
                <a:spcPts val="2177"/>
              </a:lnSpc>
            </a:pPr>
            <a:r>
              <a:rPr b="1" lang="zh-CN" sz="1200" strike="noStrike" u="none">
                <a:solidFill>
                  <a:srgbClr val="494848"/>
                </a:solidFill>
                <a:effectLst/>
                <a:uFillTx/>
                <a:latin typeface="メイリオ"/>
                <a:ea typeface="メイリオ"/>
              </a:rPr>
              <a:t>「</a:t>
            </a:r>
            <a:r>
              <a:rPr b="1" lang="ja-JP" sz="1200" strike="noStrike" u="none">
                <a:solidFill>
                  <a:srgbClr val="494848"/>
                </a:solidFill>
                <a:effectLst/>
                <a:uFillTx/>
                <a:latin typeface="メイリオ"/>
                <a:ea typeface="メイリオ"/>
              </a:rPr>
              <a:t>将来的な顧客」教育を</a:t>
            </a:r>
            <a:r>
              <a:rPr b="1" lang="en-US" sz="1200" strike="noStrike" u="none">
                <a:solidFill>
                  <a:srgbClr val="494848"/>
                </a:solidFill>
                <a:effectLst/>
                <a:uFillTx/>
                <a:latin typeface="メイリオ"/>
                <a:ea typeface="メイリオ"/>
              </a:rPr>
              <a:t>LINE</a:t>
            </a:r>
            <a:r>
              <a:rPr b="1" lang="ja-JP" sz="1200" strike="noStrike" u="none">
                <a:solidFill>
                  <a:srgbClr val="494848"/>
                </a:solidFill>
                <a:effectLst/>
                <a:uFillTx/>
                <a:latin typeface="メイリオ"/>
                <a:ea typeface="メイリオ"/>
              </a:rPr>
              <a:t>上で構築し行う。</a:t>
            </a:r>
            <a:endParaRPr b="0" lang="en-US" sz="1200" strike="noStrike" u="non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ja-JP" sz="1200" strike="noStrike" u="none">
                <a:solidFill>
                  <a:srgbClr val="494848"/>
                </a:solidFill>
                <a:effectLst/>
                <a:uFillTx/>
                <a:latin typeface="メイリオ"/>
                <a:ea typeface="メイリオ"/>
              </a:rPr>
              <a:t>広告審査がないうえに、ユーザー接点を早めることで大量かつ高効率での獲得を見込むことが出来る。</a:t>
            </a:r>
            <a:endParaRPr b="0" lang="en-US" sz="1200" strike="noStrike" u="non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1400" strike="noStrike" u="none">
                <a:solidFill>
                  <a:schemeClr val="dk1"/>
                </a:solidFill>
                <a:effectLst/>
                <a:uFillTx/>
                <a:latin typeface="Meiryo"/>
                <a:ea typeface="Meiryo"/>
              </a:rPr>
              <a:t>WEB</a:t>
            </a:r>
            <a:r>
              <a:rPr b="0" lang="ja-JP" sz="1400" strike="noStrike" u="none">
                <a:solidFill>
                  <a:schemeClr val="dk1"/>
                </a:solidFill>
                <a:effectLst/>
                <a:uFillTx/>
                <a:latin typeface="Meiryo"/>
                <a:ea typeface="Meiryo"/>
              </a:rPr>
              <a:t>広告における</a:t>
            </a:r>
            <a:r>
              <a:rPr b="1" lang="ja-JP" sz="1400" strike="noStrike" u="none">
                <a:solidFill>
                  <a:schemeClr val="dk1"/>
                </a:solidFill>
                <a:effectLst/>
                <a:uFillTx/>
                <a:latin typeface="Meiryo"/>
                <a:ea typeface="Meiryo"/>
              </a:rPr>
              <a:t>競合性が高</a:t>
            </a:r>
            <a:r>
              <a:rPr b="0" lang="ja-JP" sz="1400" strike="noStrike" u="none">
                <a:solidFill>
                  <a:schemeClr val="dk1"/>
                </a:solidFill>
                <a:effectLst/>
                <a:uFillTx/>
                <a:latin typeface="Meiryo"/>
                <a:ea typeface="Meiryo"/>
              </a:rPr>
              <a:t>くなり</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rgbClr val="ff0000"/>
                </a:solidFill>
                <a:effectLst/>
                <a:uFillTx/>
                <a:latin typeface="Meiryo"/>
                <a:ea typeface="Meiryo"/>
              </a:rPr>
              <a:t>単価指標（</a:t>
            </a:r>
            <a:r>
              <a:rPr b="1" lang="en-US" sz="1400" strike="noStrike" u="none">
                <a:solidFill>
                  <a:srgbClr val="ff0000"/>
                </a:solidFill>
                <a:effectLst/>
                <a:uFillTx/>
                <a:latin typeface="Meiryo"/>
                <a:ea typeface="Meiryo"/>
              </a:rPr>
              <a:t>CPC</a:t>
            </a:r>
            <a:r>
              <a:rPr b="1" lang="ja-JP" sz="1400" strike="noStrike" u="none">
                <a:solidFill>
                  <a:srgbClr val="ff0000"/>
                </a:solidFill>
                <a:effectLst/>
                <a:uFillTx/>
                <a:latin typeface="Meiryo"/>
                <a:ea typeface="Meiryo"/>
              </a:rPr>
              <a:t>及び</a:t>
            </a:r>
            <a:r>
              <a:rPr b="1" lang="en-US" sz="1400" strike="noStrike" u="none">
                <a:solidFill>
                  <a:srgbClr val="ff0000"/>
                </a:solidFill>
                <a:effectLst/>
                <a:uFillTx/>
                <a:latin typeface="Meiryo"/>
                <a:ea typeface="Meiryo"/>
              </a:rPr>
              <a:t>CPA</a:t>
            </a:r>
            <a:r>
              <a:rPr b="1" lang="ja-JP" sz="1400" strike="noStrike" u="none">
                <a:solidFill>
                  <a:srgbClr val="ff0000"/>
                </a:solidFill>
                <a:effectLst/>
                <a:uFillTx/>
                <a:latin typeface="Meiryo"/>
                <a:ea typeface="Meiryo"/>
              </a:rPr>
              <a:t>）が高騰</a:t>
            </a:r>
            <a:r>
              <a:rPr b="0" lang="ja-JP" sz="1400" strike="noStrike" u="none">
                <a:solidFill>
                  <a:schemeClr val="dk1"/>
                </a:solidFill>
                <a:effectLst/>
                <a:uFillTx/>
                <a:latin typeface="Meiryo"/>
                <a:ea typeface="Meiryo"/>
              </a:rPr>
              <a:t>。</a:t>
            </a:r>
            <a:endParaRPr b="0" lang="en-US" sz="1400" strike="noStrike" u="non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ja-JP" sz="1400" strike="noStrike" u="none">
                <a:solidFill>
                  <a:schemeClr val="dk1"/>
                </a:solidFill>
                <a:effectLst/>
                <a:uFillTx/>
                <a:latin typeface="Meiryo"/>
                <a:ea typeface="Meiryo"/>
              </a:rPr>
              <a:t>集客施策における</a:t>
            </a:r>
            <a:r>
              <a:rPr b="1" lang="en-US" sz="1400" strike="noStrike" u="none">
                <a:solidFill>
                  <a:schemeClr val="dk1"/>
                </a:solidFill>
                <a:effectLst/>
                <a:uFillTx/>
                <a:latin typeface="Meiryo"/>
                <a:ea typeface="Meiryo"/>
              </a:rPr>
              <a:t>CVR</a:t>
            </a:r>
            <a:r>
              <a:rPr b="1" lang="ja-JP" sz="1400" strike="noStrike" u="none">
                <a:solidFill>
                  <a:schemeClr val="dk1"/>
                </a:solidFill>
                <a:effectLst/>
                <a:uFillTx/>
                <a:latin typeface="Meiryo"/>
                <a:ea typeface="Meiryo"/>
              </a:rPr>
              <a:t>は高くても</a:t>
            </a:r>
            <a:r>
              <a:rPr b="1" lang="en-US" sz="1400" strike="noStrike" u="none">
                <a:solidFill>
                  <a:schemeClr val="dk1"/>
                </a:solidFill>
                <a:effectLst/>
                <a:uFillTx/>
                <a:latin typeface="Meiryo"/>
                <a:ea typeface="Meiryo"/>
              </a:rPr>
              <a:t>2%</a:t>
            </a:r>
            <a:r>
              <a:rPr b="1" lang="ja-JP" sz="1400" strike="noStrike" u="none">
                <a:solidFill>
                  <a:schemeClr val="dk1"/>
                </a:solidFill>
                <a:effectLst/>
                <a:uFillTx/>
                <a:latin typeface="Meiryo"/>
                <a:ea typeface="Meiryo"/>
              </a:rPr>
              <a:t>程度</a:t>
            </a:r>
            <a:r>
              <a:rPr b="0" lang="ja-JP" sz="1400" strike="noStrike" u="none">
                <a:solidFill>
                  <a:schemeClr val="dk1"/>
                </a:solidFill>
                <a:effectLst/>
                <a:uFillTx/>
                <a:latin typeface="Meiryo"/>
                <a:ea typeface="Meiryo"/>
              </a:rPr>
              <a:t>。</a:t>
            </a:r>
            <a:endParaRPr b="0" lang="en-US" sz="1400" strike="noStrike" u="none">
              <a:solidFill>
                <a:srgbClr val="000000"/>
              </a:solidFill>
              <a:effectLst/>
              <a:uFillTx/>
              <a:latin typeface="Arial"/>
            </a:endParaRPr>
          </a:p>
          <a:p>
            <a:pPr algn="ctr" defTabSz="914400">
              <a:lnSpc>
                <a:spcPct val="100000"/>
              </a:lnSpc>
            </a:pPr>
            <a:r>
              <a:rPr b="0" lang="en-US" sz="1400" strike="noStrike" u="none">
                <a:solidFill>
                  <a:srgbClr val="ff0000"/>
                </a:solidFill>
                <a:effectLst/>
                <a:uFillTx/>
                <a:latin typeface="Meiryo"/>
                <a:ea typeface="Meiryo"/>
              </a:rPr>
              <a:t>CV</a:t>
            </a:r>
            <a:r>
              <a:rPr b="0" lang="ja-JP" sz="1400" strike="noStrike" u="none">
                <a:solidFill>
                  <a:srgbClr val="ff0000"/>
                </a:solidFill>
                <a:effectLst/>
                <a:uFillTx/>
                <a:latin typeface="Meiryo"/>
                <a:ea typeface="Meiryo"/>
              </a:rPr>
              <a:t>に至らず離脱するユーザーが大部分</a:t>
            </a:r>
            <a:r>
              <a:rPr b="0" lang="ja-JP" sz="1400" strike="noStrike" u="none">
                <a:solidFill>
                  <a:schemeClr val="dk1"/>
                </a:solidFill>
                <a:effectLst/>
                <a:uFillTx/>
                <a:latin typeface="Meiryo"/>
                <a:ea typeface="Meiryo"/>
              </a:rPr>
              <a:t>。</a:t>
            </a:r>
            <a:endParaRPr b="0" lang="en-US" sz="1400" strike="noStrike" u="non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800" strike="noStrike" u="none">
                <a:solidFill>
                  <a:schemeClr val="dk1"/>
                </a:solidFill>
                <a:effectLst/>
                <a:uFillTx/>
                <a:latin typeface="メイリオ"/>
                <a:ea typeface="メイリオ"/>
              </a:rPr>
              <a:t>CVR</a:t>
            </a:r>
            <a:endParaRPr b="0" lang="en-US" sz="1800" strike="noStrike" u="non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800" strike="noStrike" u="none">
                <a:solidFill>
                  <a:schemeClr val="dk1"/>
                </a:solidFill>
                <a:effectLst/>
                <a:uFillTx/>
                <a:latin typeface="メイリオ"/>
                <a:ea typeface="メイリオ"/>
              </a:rPr>
              <a:t>CPC</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ja-JP" sz="1400" strike="noStrike" u="none">
                <a:solidFill>
                  <a:srgbClr val="343434"/>
                </a:solidFill>
                <a:effectLst/>
                <a:uFillTx/>
                <a:latin typeface="メイリオ"/>
                <a:ea typeface="メイリオ"/>
              </a:rPr>
              <a:t>利用年齢層により変動はするものの、</a:t>
            </a:r>
            <a:r>
              <a:rPr b="0" lang="en-US" sz="1400" strike="noStrike" u="none">
                <a:solidFill>
                  <a:srgbClr val="343434"/>
                </a:solidFill>
                <a:effectLst/>
                <a:uFillTx/>
                <a:latin typeface="メイリオ"/>
                <a:ea typeface="メイリオ"/>
              </a:rPr>
              <a:t>10-40</a:t>
            </a:r>
            <a:r>
              <a:rPr b="0" lang="ja-JP" sz="1400" strike="noStrike" u="none">
                <a:solidFill>
                  <a:srgbClr val="343434"/>
                </a:solidFill>
                <a:effectLst/>
                <a:uFillTx/>
                <a:latin typeface="メイリオ"/>
                <a:ea typeface="メイリオ"/>
              </a:rPr>
              <a:t>代を中心に電話、メールを忌避する動きが強まっている。</a:t>
            </a:r>
            <a:endParaRPr b="0" lang="en-US" sz="1400" strike="noStrike" u="none">
              <a:solidFill>
                <a:srgbClr val="000000"/>
              </a:solidFill>
              <a:effectLst/>
              <a:uFillTx/>
              <a:latin typeface="Arial"/>
            </a:endParaRPr>
          </a:p>
          <a:p>
            <a:pPr algn="ctr" defTabSz="914400">
              <a:lnSpc>
                <a:spcPts val="2455"/>
              </a:lnSpc>
            </a:pPr>
            <a:r>
              <a:rPr b="1" lang="ja-JP" sz="1400" strike="noStrike" u="none">
                <a:solidFill>
                  <a:srgbClr val="343434"/>
                </a:solidFill>
                <a:effectLst/>
                <a:uFillTx/>
                <a:latin typeface="メイリオ"/>
                <a:ea typeface="メイリオ"/>
              </a:rPr>
              <a:t>既存ユーザー以外の年齢層の獲得にあたって、利用率の高い</a:t>
            </a:r>
            <a:r>
              <a:rPr b="1" lang="en-US" sz="1400" strike="noStrike" u="none">
                <a:solidFill>
                  <a:srgbClr val="343434"/>
                </a:solidFill>
                <a:effectLst/>
                <a:uFillTx/>
                <a:latin typeface="メイリオ"/>
                <a:ea typeface="メイリオ"/>
              </a:rPr>
              <a:t>LINEOA</a:t>
            </a:r>
            <a:r>
              <a:rPr b="1" lang="ja-JP" sz="1400" strike="noStrike" u="none">
                <a:solidFill>
                  <a:srgbClr val="343434"/>
                </a:solidFill>
                <a:effectLst/>
                <a:uFillTx/>
                <a:latin typeface="メイリオ"/>
                <a:ea typeface="メイリオ"/>
              </a:rPr>
              <a:t>施策が非常に重要と想定</a:t>
            </a:r>
            <a:r>
              <a:rPr b="0" lang="ja-JP" sz="1400" strike="noStrike" u="none">
                <a:solidFill>
                  <a:srgbClr val="343434"/>
                </a:solidFill>
                <a:effectLst/>
                <a:uFillTx/>
                <a:latin typeface="メイリオ"/>
                <a:ea typeface="メイリオ"/>
              </a:rPr>
              <a:t>される。</a:t>
            </a:r>
            <a:endParaRPr b="0" lang="en-US" sz="1400" strike="noStrike" u="non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graphicFrame>
        <p:nvGraphicFramePr>
          <p:cNvPr id="875" name="表 49"/>
          <p:cNvGraphicFramePr/>
          <p:nvPr/>
        </p:nvGraphicFramePr>
        <p:xfrm>
          <a:off x="367560" y="1662840"/>
          <a:ext cx="9168120" cy="4493880"/>
        </p:xfrm>
        <a:graphic>
          <a:graphicData uri="http://schemas.openxmlformats.org/drawingml/2006/table">
            <a:tbl>
              <a:tblPr/>
              <a:tblGrid>
                <a:gridCol w="1833480"/>
                <a:gridCol w="1833480"/>
                <a:gridCol w="1833480"/>
                <a:gridCol w="1833480"/>
                <a:gridCol w="1833480"/>
              </a:tblGrid>
              <a:tr h="499320">
                <a:tc>
                  <a:txBody>
                    <a:bodyPr lIns="6480" rIns="6480" tIns="6480" bIns="0" anchor="ctr">
                      <a:noAutofit/>
                    </a:bodyPr>
                    <a:p>
                      <a:pPr algn="ctr" defTabSz="914400">
                        <a:lnSpc>
                          <a:spcPct val="100000"/>
                        </a:lnSpc>
                      </a:pPr>
                      <a:r>
                        <a:rPr b="1" lang="ja-JP" sz="1050" strike="noStrike" u="none">
                          <a:solidFill>
                            <a:srgbClr val="000000"/>
                          </a:solidFill>
                          <a:effectLst/>
                          <a:uFillTx/>
                          <a:latin typeface="メイリオ"/>
                          <a:ea typeface="メイリオ"/>
                        </a:rPr>
                        <a:t>年齢層</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0" lang="en-US" sz="1000" strike="noStrike" u="none">
                          <a:solidFill>
                            <a:srgbClr val="000000"/>
                          </a:solidFill>
                          <a:effectLst/>
                          <a:uFillTx/>
                          <a:latin typeface="メイリオ"/>
                          <a:ea typeface="メイリオ"/>
                        </a:rPr>
                        <a:t>LINE</a:t>
                      </a:r>
                      <a:r>
                        <a:rPr b="0" lang="ja-JP" sz="1000" strike="noStrike" u="none">
                          <a:solidFill>
                            <a:srgbClr val="000000"/>
                          </a:solidFill>
                          <a:effectLst/>
                          <a:uFillTx/>
                          <a:latin typeface="メイリオ"/>
                          <a:ea typeface="メイリオ"/>
                        </a:rPr>
                        <a:t>・チャット系</a:t>
                      </a:r>
                      <a:endParaRPr b="0" lang="en-US" sz="1000" strike="noStrike" u="none">
                        <a:solidFill>
                          <a:srgbClr val="000000"/>
                        </a:solidFill>
                        <a:effectLst/>
                        <a:uFillTx/>
                        <a:latin typeface="Arial"/>
                      </a:endParaRPr>
                    </a:p>
                    <a:p>
                      <a:pPr algn="ctr" defTabSz="914400">
                        <a:lnSpc>
                          <a:spcPct val="100000"/>
                        </a:lnSpc>
                      </a:pP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0" lang="ja-JP" sz="1000" strike="noStrike" u="none">
                          <a:solidFill>
                            <a:srgbClr val="000000"/>
                          </a:solidFill>
                          <a:effectLst/>
                          <a:uFillTx/>
                          <a:latin typeface="メイリオ"/>
                          <a:ea typeface="メイリオ"/>
                        </a:rPr>
                        <a:t>メール・メルマガ</a:t>
                      </a:r>
                      <a:endParaRPr b="0" lang="en-US" sz="1000" strike="noStrike" u="none">
                        <a:solidFill>
                          <a:srgbClr val="000000"/>
                        </a:solidFill>
                        <a:effectLst/>
                        <a:uFillTx/>
                        <a:latin typeface="Arial"/>
                      </a:endParaRPr>
                    </a:p>
                    <a:p>
                      <a:pPr algn="ctr" defTabSz="914400">
                        <a:lnSpc>
                          <a:spcPct val="100000"/>
                        </a:lnSpc>
                      </a:pP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0" lang="ja-JP" sz="1000" strike="noStrike" u="none">
                          <a:solidFill>
                            <a:srgbClr val="000000"/>
                          </a:solidFill>
                          <a:effectLst/>
                          <a:uFillTx/>
                          <a:latin typeface="メイリオ"/>
                          <a:ea typeface="メイリオ"/>
                        </a:rPr>
                        <a:t>電話</a:t>
                      </a:r>
                      <a:endParaRPr b="0" lang="en-US" sz="1000" strike="noStrike" u="none">
                        <a:solidFill>
                          <a:srgbClr val="000000"/>
                        </a:solidFill>
                        <a:effectLst/>
                        <a:uFillTx/>
                        <a:latin typeface="Arial"/>
                      </a:endParaRPr>
                    </a:p>
                    <a:p>
                      <a:pPr algn="ctr" defTabSz="914400">
                        <a:lnSpc>
                          <a:spcPct val="100000"/>
                        </a:lnSpc>
                      </a:pP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0" lang="ja-JP" sz="1000" strike="noStrike" u="none">
                          <a:solidFill>
                            <a:srgbClr val="000000"/>
                          </a:solidFill>
                          <a:effectLst/>
                          <a:uFillTx/>
                          <a:latin typeface="メイリオ"/>
                          <a:ea typeface="メイリオ"/>
                        </a:rPr>
                        <a:t>主要な特徴・</a:t>
                      </a:r>
                      <a:r>
                        <a:rPr b="0" lang="en-US" sz="1000" strike="noStrike" u="none">
                          <a:solidFill>
                            <a:srgbClr val="000000"/>
                          </a:solidFill>
                          <a:effectLst/>
                          <a:uFillTx/>
                          <a:latin typeface="メイリオ"/>
                          <a:ea typeface="メイリオ"/>
                        </a:rPr>
                        <a:t>SNS</a:t>
                      </a:r>
                      <a:endParaRPr b="0" lang="en-US" sz="1000" strike="noStrike" u="none">
                        <a:solidFill>
                          <a:srgbClr val="000000"/>
                        </a:solidFill>
                        <a:effectLst/>
                        <a:uFillTx/>
                        <a:latin typeface="Arial"/>
                      </a:endParaRPr>
                    </a:p>
                    <a:p>
                      <a:pPr algn="ctr" defTabSz="914400">
                        <a:lnSpc>
                          <a:spcPct val="100000"/>
                        </a:lnSpc>
                      </a:pP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r>
              <a:tr h="499320">
                <a:tc rowSpan="2">
                  <a:txBody>
                    <a:bodyPr lIns="6480" rIns="6480" tIns="6480" bIns="0" anchor="ctr">
                      <a:noAutofit/>
                    </a:bodyPr>
                    <a:p>
                      <a:pPr defTabSz="914400">
                        <a:lnSpc>
                          <a:spcPct val="100000"/>
                        </a:lnSpc>
                      </a:pPr>
                      <a:r>
                        <a:rPr b="1" lang="ja-JP" sz="1050" strike="noStrike" u="none">
                          <a:solidFill>
                            <a:srgbClr val="000000"/>
                          </a:solidFill>
                          <a:effectLst/>
                          <a:uFillTx/>
                          <a:latin typeface="メイリオ"/>
                          <a:ea typeface="メイリオ"/>
                        </a:rPr>
                        <a:t>　　　</a:t>
                      </a:r>
                      <a:r>
                        <a:rPr b="1" lang="en-US" sz="1050" strike="noStrike" u="none">
                          <a:solidFill>
                            <a:srgbClr val="000000"/>
                          </a:solidFill>
                          <a:effectLst/>
                          <a:uFillTx/>
                          <a:latin typeface="メイリオ"/>
                          <a:ea typeface="メイリオ"/>
                        </a:rPr>
                        <a:t>10</a:t>
                      </a:r>
                      <a:r>
                        <a:rPr b="1" lang="ja-JP" sz="1050" strike="noStrike" u="none">
                          <a:solidFill>
                            <a:srgbClr val="000000"/>
                          </a:solidFill>
                          <a:effectLst/>
                          <a:uFillTx/>
                          <a:latin typeface="メイリオ"/>
                          <a:ea typeface="メイリオ"/>
                        </a:rPr>
                        <a:t>代〜</a:t>
                      </a:r>
                      <a:r>
                        <a:rPr b="1" lang="en-US" sz="1050" strike="noStrike" u="none">
                          <a:solidFill>
                            <a:srgbClr val="000000"/>
                          </a:solidFill>
                          <a:effectLst/>
                          <a:uFillTx/>
                          <a:latin typeface="メイリオ"/>
                          <a:ea typeface="メイリオ"/>
                        </a:rPr>
                        <a:t>20</a:t>
                      </a:r>
                      <a:r>
                        <a:rPr b="1" lang="ja-JP" sz="1050" strike="noStrike" u="none">
                          <a:solidFill>
                            <a:srgbClr val="000000"/>
                          </a:solidFill>
                          <a:effectLst/>
                          <a:uFillTx/>
                          <a:latin typeface="メイリオ"/>
                          <a:ea typeface="メイリオ"/>
                        </a:rPr>
                        <a:t>代　</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a:t>
                      </a:r>
                      <a:r>
                        <a:rPr b="1" lang="en-US" sz="1000" strike="noStrike" u="none">
                          <a:solidFill>
                            <a:srgbClr val="000000"/>
                          </a:solidFill>
                          <a:effectLst/>
                          <a:uFillTx/>
                          <a:latin typeface="メイリオ"/>
                          <a:ea typeface="メイリオ"/>
                        </a:rPr>
                        <a:t>90%</a:t>
                      </a:r>
                      <a:r>
                        <a:rPr b="1" lang="ja-JP" sz="1000" strike="noStrike" u="none">
                          <a:solidFill>
                            <a:srgbClr val="000000"/>
                          </a:solidFill>
                          <a:effectLst/>
                          <a:uFillTx/>
                          <a:latin typeface="メイリオ"/>
                          <a:ea typeface="メイリオ"/>
                        </a:rPr>
                        <a:t>以上</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利用率：低</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利用率：極めて低</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lIns="6480" rIns="6480" tIns="6480" bIns="0" anchor="ctr">
                      <a:noAutofit/>
                    </a:bodyPr>
                    <a:p>
                      <a:pPr algn="ctr" defTabSz="914400">
                        <a:lnSpc>
                          <a:spcPct val="100000"/>
                        </a:lnSpc>
                      </a:pPr>
                      <a:r>
                        <a:rPr b="0" lang="en-US" sz="800" strike="noStrike" u="none">
                          <a:solidFill>
                            <a:srgbClr val="000000"/>
                          </a:solidFill>
                          <a:effectLst/>
                          <a:uFillTx/>
                          <a:latin typeface="メイリオ"/>
                          <a:ea typeface="メイリオ"/>
                        </a:rPr>
                        <a:t>Tiktok YouTube</a:t>
                      </a:r>
                      <a:r>
                        <a:rPr b="0" lang="ja-JP" sz="800" strike="noStrike" u="none">
                          <a:solidFill>
                            <a:srgbClr val="000000"/>
                          </a:solidFill>
                          <a:effectLst/>
                          <a:uFillTx/>
                          <a:latin typeface="メイリオ"/>
                          <a:ea typeface="メイリオ"/>
                        </a:rPr>
                        <a:t>が情報収集の起点。</a:t>
                      </a:r>
                      <a:br>
                        <a:rPr sz="800"/>
                      </a:br>
                      <a:r>
                        <a:rPr b="0" lang="en-US" sz="800" strike="noStrike" u="none">
                          <a:solidFill>
                            <a:srgbClr val="000000"/>
                          </a:solidFill>
                          <a:effectLst/>
                          <a:uFillTx/>
                          <a:latin typeface="メイリオ"/>
                          <a:ea typeface="メイリオ"/>
                        </a:rPr>
                        <a:t>Instagram</a:t>
                      </a:r>
                      <a:r>
                        <a:rPr b="0" lang="ja-JP" sz="800" strike="noStrike" u="none">
                          <a:solidFill>
                            <a:srgbClr val="000000"/>
                          </a:solidFill>
                          <a:effectLst/>
                          <a:uFillTx/>
                          <a:latin typeface="メイリオ"/>
                          <a:ea typeface="メイリオ"/>
                        </a:rPr>
                        <a:t>、</a:t>
                      </a:r>
                      <a:r>
                        <a:rPr b="0" lang="en-US" sz="800" strike="noStrike" u="none">
                          <a:solidFill>
                            <a:srgbClr val="000000"/>
                          </a:solidFill>
                          <a:effectLst/>
                          <a:uFillTx/>
                          <a:latin typeface="メイリオ"/>
                          <a:ea typeface="メイリオ"/>
                        </a:rPr>
                        <a:t>X</a:t>
                      </a:r>
                      <a:r>
                        <a:rPr b="0" lang="ja-JP" sz="800" strike="noStrike" u="none">
                          <a:solidFill>
                            <a:srgbClr val="000000"/>
                          </a:solidFill>
                          <a:effectLst/>
                          <a:uFillTx/>
                          <a:latin typeface="メイリオ"/>
                          <a:ea typeface="メイリオ"/>
                        </a:rPr>
                        <a:t>の</a:t>
                      </a:r>
                      <a:r>
                        <a:rPr b="0" lang="en-US" sz="800" strike="noStrike" u="none">
                          <a:solidFill>
                            <a:srgbClr val="000000"/>
                          </a:solidFill>
                          <a:effectLst/>
                          <a:uFillTx/>
                          <a:latin typeface="メイリオ"/>
                          <a:ea typeface="メイリオ"/>
                        </a:rPr>
                        <a:t>DM</a:t>
                      </a:r>
                      <a:r>
                        <a:rPr b="0" lang="ja-JP" sz="800" strike="noStrike" u="none">
                          <a:solidFill>
                            <a:srgbClr val="000000"/>
                          </a:solidFill>
                          <a:effectLst/>
                          <a:uFillTx/>
                          <a:latin typeface="メイリオ"/>
                          <a:ea typeface="メイリオ"/>
                        </a:rPr>
                        <a:t>も</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連絡網として活用。</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r>
              <a:tr h="49932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日常連絡の絶対的インフラ。</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企業や公式からの連絡は</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読まれない傾向。</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「電話恐怖症」を持つ人も。</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r h="499320">
                <a:tc rowSpan="2">
                  <a:txBody>
                    <a:bodyPr lIns="6480" rIns="6480" tIns="6480" bIns="0" anchor="ctr">
                      <a:noAutofit/>
                    </a:bodyPr>
                    <a:p>
                      <a:pPr defTabSz="914400">
                        <a:lnSpc>
                          <a:spcPct val="100000"/>
                        </a:lnSpc>
                      </a:pPr>
                      <a:r>
                        <a:rPr b="1" lang="ja-JP" sz="1050" strike="noStrike" u="none">
                          <a:solidFill>
                            <a:srgbClr val="000000"/>
                          </a:solidFill>
                          <a:effectLst/>
                          <a:uFillTx/>
                          <a:latin typeface="メイリオ"/>
                          <a:ea typeface="メイリオ"/>
                        </a:rPr>
                        <a:t>　　　</a:t>
                      </a:r>
                      <a:r>
                        <a:rPr b="1" lang="en-US" sz="1050" strike="noStrike" u="none">
                          <a:solidFill>
                            <a:srgbClr val="000000"/>
                          </a:solidFill>
                          <a:effectLst/>
                          <a:uFillTx/>
                          <a:latin typeface="メイリオ"/>
                          <a:ea typeface="メイリオ"/>
                        </a:rPr>
                        <a:t>30</a:t>
                      </a:r>
                      <a:r>
                        <a:rPr b="1" lang="ja-JP" sz="1050" strike="noStrike" u="none">
                          <a:solidFill>
                            <a:srgbClr val="000000"/>
                          </a:solidFill>
                          <a:effectLst/>
                          <a:uFillTx/>
                          <a:latin typeface="メイリオ"/>
                          <a:ea typeface="メイリオ"/>
                        </a:rPr>
                        <a:t>代〜</a:t>
                      </a:r>
                      <a:r>
                        <a:rPr b="1" lang="en-US" sz="1050" strike="noStrike" u="none">
                          <a:solidFill>
                            <a:srgbClr val="000000"/>
                          </a:solidFill>
                          <a:effectLst/>
                          <a:uFillTx/>
                          <a:latin typeface="メイリオ"/>
                          <a:ea typeface="メイリオ"/>
                        </a:rPr>
                        <a:t>40</a:t>
                      </a:r>
                      <a:r>
                        <a:rPr b="1" lang="ja-JP" sz="1050" strike="noStrike" u="none">
                          <a:solidFill>
                            <a:srgbClr val="000000"/>
                          </a:solidFill>
                          <a:effectLst/>
                          <a:uFillTx/>
                          <a:latin typeface="メイリオ"/>
                          <a:ea typeface="メイリオ"/>
                        </a:rPr>
                        <a:t>代</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a:t>
                      </a:r>
                      <a:r>
                        <a:rPr b="1" lang="en-US" sz="1000" strike="noStrike" u="none">
                          <a:solidFill>
                            <a:srgbClr val="000000"/>
                          </a:solidFill>
                          <a:effectLst/>
                          <a:uFillTx/>
                          <a:latin typeface="メイリオ"/>
                          <a:ea typeface="メイリオ"/>
                        </a:rPr>
                        <a:t>90%</a:t>
                      </a:r>
                      <a:r>
                        <a:rPr b="1" lang="ja-JP" sz="1000" strike="noStrike" u="none">
                          <a:solidFill>
                            <a:srgbClr val="000000"/>
                          </a:solidFill>
                          <a:effectLst/>
                          <a:uFillTx/>
                          <a:latin typeface="メイリオ"/>
                          <a:ea typeface="メイリオ"/>
                        </a:rPr>
                        <a:t>以上</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利用率：中</a:t>
                      </a:r>
                      <a:r>
                        <a:rPr b="1" lang="ja-JP" sz="1000" strike="noStrike" u="none">
                          <a:solidFill>
                            <a:srgbClr val="000000"/>
                          </a:solidFill>
                          <a:effectLst/>
                          <a:uFillTx/>
                          <a:latin typeface="メイリオ"/>
                          <a:ea typeface="メイリオ"/>
                        </a:rPr>
                        <a:t>〜高</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利用率：中</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lIns="6480" rIns="6480" tIns="6480" bIns="0" anchor="ctr">
                      <a:noAutofit/>
                    </a:bodyPr>
                    <a:p>
                      <a:pPr algn="ctr" defTabSz="914400">
                        <a:lnSpc>
                          <a:spcPct val="100000"/>
                        </a:lnSpc>
                      </a:pPr>
                      <a:r>
                        <a:rPr b="0" lang="en-US" sz="800" strike="noStrike" u="none">
                          <a:solidFill>
                            <a:srgbClr val="000000"/>
                          </a:solidFill>
                          <a:effectLst/>
                          <a:uFillTx/>
                          <a:latin typeface="メイリオ"/>
                          <a:ea typeface="メイリオ"/>
                        </a:rPr>
                        <a:t>Facebook</a:t>
                      </a:r>
                      <a:r>
                        <a:rPr b="0" lang="ja-JP" sz="800" strike="noStrike" u="none">
                          <a:solidFill>
                            <a:srgbClr val="000000"/>
                          </a:solidFill>
                          <a:effectLst/>
                          <a:uFillTx/>
                          <a:latin typeface="メイリオ"/>
                          <a:ea typeface="メイリオ"/>
                        </a:rPr>
                        <a:t>や</a:t>
                      </a:r>
                      <a:r>
                        <a:rPr b="0" lang="en-US" sz="800" strike="noStrike" u="none">
                          <a:solidFill>
                            <a:srgbClr val="000000"/>
                          </a:solidFill>
                          <a:effectLst/>
                          <a:uFillTx/>
                          <a:latin typeface="メイリオ"/>
                          <a:ea typeface="メイリオ"/>
                        </a:rPr>
                        <a:t>X</a:t>
                      </a:r>
                      <a:r>
                        <a:rPr b="0" lang="ja-JP" sz="800" strike="noStrike" u="none">
                          <a:solidFill>
                            <a:srgbClr val="000000"/>
                          </a:solidFill>
                          <a:effectLst/>
                          <a:uFillTx/>
                          <a:latin typeface="メイリオ"/>
                          <a:ea typeface="メイリオ"/>
                        </a:rPr>
                        <a:t>での情報収集が活発。</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r>
              <a:tr h="49932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プライベートの連絡網。</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仕事や、メルマガでの</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セールス情報に抵抗なし。</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プライベートでは減少傾向も</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仕事では必須。</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r h="499320">
                <a:tc rowSpan="2">
                  <a:txBody>
                    <a:bodyPr lIns="6480" rIns="6480" tIns="6480" bIns="0" anchor="ctr">
                      <a:noAutofit/>
                    </a:bodyPr>
                    <a:p>
                      <a:pPr defTabSz="914400">
                        <a:lnSpc>
                          <a:spcPct val="100000"/>
                        </a:lnSpc>
                      </a:pPr>
                      <a:r>
                        <a:rPr b="1" lang="ja-JP" sz="1050" strike="noStrike" u="none">
                          <a:solidFill>
                            <a:srgbClr val="000000"/>
                          </a:solidFill>
                          <a:effectLst/>
                          <a:uFillTx/>
                          <a:latin typeface="メイリオ"/>
                          <a:ea typeface="メイリオ"/>
                        </a:rPr>
                        <a:t>　　　</a:t>
                      </a:r>
                      <a:r>
                        <a:rPr b="1" lang="en-US" sz="1050" strike="noStrike" u="none">
                          <a:solidFill>
                            <a:srgbClr val="000000"/>
                          </a:solidFill>
                          <a:effectLst/>
                          <a:uFillTx/>
                          <a:latin typeface="メイリオ"/>
                          <a:ea typeface="メイリオ"/>
                        </a:rPr>
                        <a:t>50</a:t>
                      </a:r>
                      <a:r>
                        <a:rPr b="1" lang="ja-JP" sz="1050" strike="noStrike" u="none">
                          <a:solidFill>
                            <a:srgbClr val="000000"/>
                          </a:solidFill>
                          <a:effectLst/>
                          <a:uFillTx/>
                          <a:latin typeface="メイリオ"/>
                          <a:ea typeface="メイリオ"/>
                        </a:rPr>
                        <a:t>代〜</a:t>
                      </a:r>
                      <a:r>
                        <a:rPr b="1" lang="en-US" sz="1050" strike="noStrike" u="none">
                          <a:solidFill>
                            <a:srgbClr val="000000"/>
                          </a:solidFill>
                          <a:effectLst/>
                          <a:uFillTx/>
                          <a:latin typeface="メイリオ"/>
                          <a:ea typeface="メイリオ"/>
                        </a:rPr>
                        <a:t>60</a:t>
                      </a:r>
                      <a:r>
                        <a:rPr b="1" lang="ja-JP" sz="1050" strike="noStrike" u="none">
                          <a:solidFill>
                            <a:srgbClr val="000000"/>
                          </a:solidFill>
                          <a:effectLst/>
                          <a:uFillTx/>
                          <a:latin typeface="メイリオ"/>
                          <a:ea typeface="メイリオ"/>
                        </a:rPr>
                        <a:t>代</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a:t>
                      </a:r>
                      <a:r>
                        <a:rPr b="1" lang="en-US" sz="1000" strike="noStrike" u="none">
                          <a:solidFill>
                            <a:srgbClr val="000000"/>
                          </a:solidFill>
                          <a:effectLst/>
                          <a:uFillTx/>
                          <a:latin typeface="メイリオ"/>
                          <a:ea typeface="メイリオ"/>
                        </a:rPr>
                        <a:t>80%</a:t>
                      </a:r>
                      <a:r>
                        <a:rPr b="1" lang="ja-JP" sz="1000" strike="noStrike" u="none">
                          <a:solidFill>
                            <a:srgbClr val="000000"/>
                          </a:solidFill>
                          <a:effectLst/>
                          <a:uFillTx/>
                          <a:latin typeface="メイリオ"/>
                          <a:ea typeface="メイリオ"/>
                        </a:rPr>
                        <a:t>〜</a:t>
                      </a:r>
                      <a:r>
                        <a:rPr b="1" lang="en-US" sz="1000" strike="noStrike" u="none">
                          <a:solidFill>
                            <a:srgbClr val="000000"/>
                          </a:solidFill>
                          <a:effectLst/>
                          <a:uFillTx/>
                          <a:latin typeface="メイリオ"/>
                          <a:ea typeface="メイリオ"/>
                        </a:rPr>
                        <a:t>90%</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利用率：高い</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利用率：高い</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lIns="6480" rIns="6480" tIns="6480" bIns="0" anchor="ctr">
                      <a:noAutofit/>
                    </a:bodyPr>
                    <a:p>
                      <a:pPr algn="ctr" defTabSz="914400">
                        <a:lnSpc>
                          <a:spcPct val="100000"/>
                        </a:lnSpc>
                      </a:pPr>
                      <a:r>
                        <a:rPr b="0" lang="en-US" sz="800" strike="noStrike" u="none">
                          <a:solidFill>
                            <a:srgbClr val="000000"/>
                          </a:solidFill>
                          <a:effectLst/>
                          <a:uFillTx/>
                          <a:latin typeface="メイリオ"/>
                          <a:ea typeface="メイリオ"/>
                        </a:rPr>
                        <a:t>YouTube</a:t>
                      </a:r>
                      <a:r>
                        <a:rPr b="0" lang="ja-JP" sz="800" strike="noStrike" u="none">
                          <a:solidFill>
                            <a:srgbClr val="000000"/>
                          </a:solidFill>
                          <a:effectLst/>
                          <a:uFillTx/>
                          <a:latin typeface="メイリオ"/>
                          <a:ea typeface="メイリオ"/>
                        </a:rPr>
                        <a:t>での趣味動画視聴も普及。</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r>
              <a:tr h="49932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家族や友人との連絡で定着。</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最も好まれる企業からの</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情報受取ツール。</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予約や急ぎの用件で信頼性が高い。</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r h="499320">
                <a:tc rowSpan="2">
                  <a:txBody>
                    <a:bodyPr lIns="6480" rIns="6480" tIns="6480" bIns="0" anchor="ctr">
                      <a:noAutofit/>
                    </a:bodyPr>
                    <a:p>
                      <a:pPr algn="ctr" defTabSz="914400">
                        <a:lnSpc>
                          <a:spcPct val="100000"/>
                        </a:lnSpc>
                      </a:pPr>
                      <a:r>
                        <a:rPr b="1" lang="en-US" sz="1050" strike="noStrike" u="none">
                          <a:solidFill>
                            <a:srgbClr val="000000"/>
                          </a:solidFill>
                          <a:effectLst/>
                          <a:uFillTx/>
                          <a:latin typeface="メイリオ"/>
                          <a:ea typeface="メイリオ"/>
                        </a:rPr>
                        <a:t>70</a:t>
                      </a:r>
                      <a:r>
                        <a:rPr b="1" lang="ja-JP" sz="1050" strike="noStrike" u="none">
                          <a:solidFill>
                            <a:srgbClr val="000000"/>
                          </a:solidFill>
                          <a:effectLst/>
                          <a:uFillTx/>
                          <a:latin typeface="メイリオ"/>
                          <a:ea typeface="メイリオ"/>
                        </a:rPr>
                        <a:t>代以上</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a:t>
                      </a:r>
                      <a:r>
                        <a:rPr b="1" lang="en-US" sz="1000" strike="noStrike" u="none">
                          <a:solidFill>
                            <a:srgbClr val="000000"/>
                          </a:solidFill>
                          <a:effectLst/>
                          <a:uFillTx/>
                          <a:latin typeface="メイリオ"/>
                          <a:ea typeface="メイリオ"/>
                        </a:rPr>
                        <a:t>70%</a:t>
                      </a:r>
                      <a:r>
                        <a:rPr b="1" lang="ja-JP" sz="1000" strike="noStrike" u="none">
                          <a:solidFill>
                            <a:srgbClr val="000000"/>
                          </a:solidFill>
                          <a:effectLst/>
                          <a:uFillTx/>
                          <a:latin typeface="メイリオ"/>
                          <a:ea typeface="メイリオ"/>
                        </a:rPr>
                        <a:t>前後</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利用率：低い</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利用率：最も高い</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連絡手段としての電話が</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最優先される層。</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r>
              <a:tr h="49932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高齢者層にも普及が進む。</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操作に不慣れで到達率が下がる。</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重要な連絡や問い合わせは</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電話がメイン。</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bl>
          </a:graphicData>
        </a:graphic>
      </p:graphicFrame>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fillRef idx="0"/>
          <a:effectRef idx="0"/>
          <a:fontRef idx="minor"/>
        </p:style>
        <p:txBody>
          <a:bodyPr anchor="ctr">
            <a:spAutoFit/>
          </a:bodyPr>
          <a:p>
            <a:pPr algn="ctr" defTabSz="914400">
              <a:lnSpc>
                <a:spcPct val="100000"/>
              </a:lnSpc>
            </a:pPr>
            <a:r>
              <a:rPr b="0" lang="en-US" sz="1400" strike="noStrike" u="none">
                <a:solidFill>
                  <a:schemeClr val="dk1"/>
                </a:solidFill>
                <a:effectLst/>
                <a:uFillTx/>
                <a:latin typeface="メイリオ"/>
                <a:ea typeface="メイリオ"/>
              </a:rPr>
              <a:t>LINE</a:t>
            </a:r>
            <a:r>
              <a:rPr b="0" lang="ja-JP" sz="1400" strike="noStrike" u="none">
                <a:solidFill>
                  <a:schemeClr val="dk1"/>
                </a:solidFill>
                <a:effectLst/>
                <a:uFillTx/>
                <a:latin typeface="メイリオ"/>
                <a:ea typeface="メイリオ"/>
              </a:rPr>
              <a:t>公式アカウントの施策内（開封率、クリック率、</a:t>
            </a:r>
            <a:r>
              <a:rPr b="0" lang="en-US" sz="1400" strike="noStrike" u="none">
                <a:solidFill>
                  <a:schemeClr val="dk1"/>
                </a:solidFill>
                <a:effectLst/>
                <a:uFillTx/>
                <a:latin typeface="メイリオ"/>
                <a:ea typeface="メイリオ"/>
              </a:rPr>
              <a:t>CV</a:t>
            </a:r>
            <a:r>
              <a:rPr b="0" lang="ja-JP" sz="1400" strike="noStrike" u="none">
                <a:solidFill>
                  <a:schemeClr val="dk1"/>
                </a:solidFill>
                <a:effectLst/>
                <a:uFillTx/>
                <a:latin typeface="メイリオ"/>
                <a:ea typeface="メイリオ"/>
              </a:rPr>
              <a:t>率）で高い水準の施策をご提供。</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メイリオ"/>
                <a:ea typeface="メイリオ"/>
              </a:rPr>
              <a:t>初期設計のみのご依頼でも、大きく数値改善できるポイントの導入支援が可能です。</a:t>
            </a:r>
            <a:endParaRPr b="0" lang="en-US" sz="1400" strike="noStrike" u="non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endParaRPr b="0" lang="en-US" sz="1050" strike="noStrike" u="non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営業トスアップ</a:t>
            </a:r>
            <a:endParaRPr b="0" lang="en-US" sz="1050" strike="noStrike" u="non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len="med" type="triangle" w="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100" strike="noStrike" u="none">
                <a:solidFill>
                  <a:srgbClr val="ff0000"/>
                </a:solidFill>
                <a:effectLst/>
                <a:uFillTx/>
                <a:latin typeface="メイリオ"/>
                <a:ea typeface="メイリオ"/>
              </a:rPr>
              <a:t>（成果地点）</a:t>
            </a:r>
            <a:endParaRPr b="0" lang="en-US" sz="1100" strike="noStrike" u="non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開封率</a:t>
            </a:r>
            <a:endParaRPr b="0" lang="en-US" sz="1050" strike="noStrike" u="non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クリック率</a:t>
            </a:r>
            <a:endParaRPr b="0" lang="en-US" sz="1050" strike="noStrike" u="non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r>
              <a:rPr b="1" lang="ja-JP" sz="1050" strike="noStrike" u="none">
                <a:solidFill>
                  <a:schemeClr val="lt1"/>
                </a:solidFill>
                <a:effectLst/>
                <a:uFillTx/>
                <a:latin typeface="メイリオ"/>
                <a:ea typeface="メイリオ"/>
              </a:rPr>
              <a:t>率</a:t>
            </a:r>
            <a:endParaRPr b="0" lang="en-US" sz="1050" strike="noStrike" u="non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通常メッセージ（企画投稿）</a:t>
            </a:r>
            <a:endParaRPr b="0" lang="en-US" sz="1050" strike="noStrike" u="non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開封率</a:t>
            </a:r>
            <a:endParaRPr b="0" lang="en-US" sz="1050" strike="noStrike" u="non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クリック率</a:t>
            </a:r>
            <a:endParaRPr b="0" lang="en-US" sz="1050" strike="noStrike" u="non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r>
              <a:rPr b="1" lang="ja-JP" sz="1050" strike="noStrike" u="none">
                <a:solidFill>
                  <a:schemeClr val="lt1"/>
                </a:solidFill>
                <a:effectLst/>
                <a:uFillTx/>
                <a:latin typeface="メイリオ"/>
                <a:ea typeface="メイリオ"/>
              </a:rPr>
              <a:t>率</a:t>
            </a:r>
            <a:endParaRPr b="0" lang="en-US" sz="1050" strike="noStrike" u="non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通常メッセージ（ステップ配信投稿）</a:t>
            </a:r>
            <a:endParaRPr b="0" lang="en-US" sz="1050" strike="noStrike" u="non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開封率</a:t>
            </a:r>
            <a:endParaRPr b="0" lang="en-US" sz="1050" strike="noStrike" u="non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クリック率</a:t>
            </a:r>
            <a:endParaRPr b="0" lang="en-US" sz="1050" strike="noStrike" u="non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r>
              <a:rPr b="1" lang="ja-JP" sz="1050" strike="noStrike" u="none">
                <a:solidFill>
                  <a:schemeClr val="lt1"/>
                </a:solidFill>
                <a:effectLst/>
                <a:uFillTx/>
                <a:latin typeface="メイリオ"/>
                <a:ea typeface="メイリオ"/>
              </a:rPr>
              <a:t>率</a:t>
            </a:r>
            <a:endParaRPr b="0" lang="en-US" sz="1050" strike="noStrike" u="non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その他指標（リッチメニュー、プロフ、挨拶メッセ）</a:t>
            </a:r>
            <a:endParaRPr b="0" lang="en-US" sz="1050" strike="noStrike" u="non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100" strike="noStrike" u="none">
                <a:solidFill>
                  <a:schemeClr val="dk2"/>
                </a:solidFill>
                <a:effectLst/>
                <a:uFillTx/>
                <a:latin typeface="メイリオ"/>
                <a:ea typeface="メイリオ"/>
              </a:rPr>
              <a:t>（</a:t>
            </a:r>
            <a:r>
              <a:rPr b="0" lang="en-US" sz="1100" strike="noStrike" u="none">
                <a:solidFill>
                  <a:schemeClr val="dk2"/>
                </a:solidFill>
                <a:effectLst/>
                <a:uFillTx/>
                <a:latin typeface="メイリオ"/>
                <a:ea typeface="メイリオ"/>
              </a:rPr>
              <a:t>LINE</a:t>
            </a:r>
            <a:r>
              <a:rPr b="0" lang="ja-JP" sz="1100" strike="noStrike" u="none">
                <a:solidFill>
                  <a:schemeClr val="dk2"/>
                </a:solidFill>
                <a:effectLst/>
                <a:uFillTx/>
                <a:latin typeface="メイリオ"/>
                <a:ea typeface="メイリオ"/>
              </a:rPr>
              <a:t>施策内）</a:t>
            </a:r>
            <a:endParaRPr b="0" lang="en-US" sz="1100" strike="noStrike" u="non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友だち追加</a:t>
            </a:r>
            <a:endParaRPr b="0" lang="en-US" sz="1050" strike="noStrike" u="non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000" strike="noStrike" u="none">
                <a:solidFill>
                  <a:schemeClr val="dk1"/>
                </a:solidFill>
                <a:effectLst/>
                <a:uFillTx/>
                <a:latin typeface="メイリオ"/>
                <a:ea typeface="メイリオ"/>
              </a:rPr>
              <a:t>アクティブ数</a:t>
            </a:r>
            <a:endParaRPr b="0" lang="en-US" sz="1000" strike="noStrike" u="none">
              <a:solidFill>
                <a:srgbClr val="000000"/>
              </a:solidFill>
              <a:effectLst/>
              <a:uFillTx/>
              <a:latin typeface="Arial"/>
            </a:endParaRPr>
          </a:p>
          <a:p>
            <a:pPr algn="ctr" defTabSz="914400">
              <a:lnSpc>
                <a:spcPct val="100000"/>
              </a:lnSpc>
            </a:pPr>
            <a:r>
              <a:rPr b="0" lang="ja-JP" sz="800" strike="noStrike" u="none">
                <a:solidFill>
                  <a:schemeClr val="dk1"/>
                </a:solidFill>
                <a:effectLst/>
                <a:uFillTx/>
                <a:latin typeface="メイリオ"/>
                <a:ea typeface="メイリオ"/>
              </a:rPr>
              <a:t>（非ブロック率）</a:t>
            </a:r>
            <a:endParaRPr b="0" lang="en-US" sz="800" strike="noStrike" u="non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000" strike="noStrike" u="none">
                <a:solidFill>
                  <a:schemeClr val="dk1"/>
                </a:solidFill>
                <a:effectLst/>
                <a:uFillTx/>
                <a:latin typeface="メイリオ"/>
                <a:ea typeface="メイリオ"/>
              </a:rPr>
              <a:t>セグメント率</a:t>
            </a:r>
            <a:endParaRPr b="0" lang="en-US" sz="1000" strike="noStrike" u="none">
              <a:solidFill>
                <a:srgbClr val="000000"/>
              </a:solidFill>
              <a:effectLst/>
              <a:uFillTx/>
              <a:latin typeface="Arial"/>
            </a:endParaRPr>
          </a:p>
          <a:p>
            <a:pPr algn="ctr" defTabSz="914400">
              <a:lnSpc>
                <a:spcPct val="100000"/>
              </a:lnSpc>
            </a:pPr>
            <a:r>
              <a:rPr b="0" lang="en-US" sz="1000" strike="noStrike" u="none">
                <a:solidFill>
                  <a:schemeClr val="dk1"/>
                </a:solidFill>
                <a:effectLst/>
                <a:uFillTx/>
                <a:latin typeface="メイリオ"/>
                <a:ea typeface="メイリオ"/>
              </a:rPr>
              <a:t>or</a:t>
            </a:r>
            <a:endParaRPr b="0" lang="en-US" sz="1000" strike="noStrike" u="none">
              <a:solidFill>
                <a:srgbClr val="000000"/>
              </a:solidFill>
              <a:effectLst/>
              <a:uFillTx/>
              <a:latin typeface="Arial"/>
            </a:endParaRPr>
          </a:p>
          <a:p>
            <a:pPr algn="ctr" defTabSz="914400">
              <a:lnSpc>
                <a:spcPct val="100000"/>
              </a:lnSpc>
            </a:pPr>
            <a:r>
              <a:rPr b="1" lang="ja-JP" sz="1000" strike="noStrike" u="none">
                <a:solidFill>
                  <a:schemeClr val="dk1"/>
                </a:solidFill>
                <a:effectLst/>
                <a:uFillTx/>
                <a:latin typeface="メイリオ"/>
                <a:ea typeface="メイリオ"/>
              </a:rPr>
              <a:t>ステップ配信設定数</a:t>
            </a:r>
            <a:endParaRPr b="0" lang="en-US" sz="1000" strike="noStrike" u="non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100" strike="noStrike" u="none">
                <a:solidFill>
                  <a:srgbClr val="00b050"/>
                </a:solidFill>
                <a:effectLst/>
                <a:uFillTx/>
                <a:latin typeface="メイリオ"/>
                <a:ea typeface="メイリオ"/>
              </a:rPr>
              <a:t>（ターゲット戦略）</a:t>
            </a:r>
            <a:endParaRPr b="0" lang="en-US" sz="1100" strike="noStrike" u="non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月間通数</a:t>
            </a:r>
            <a:endParaRPr b="0" lang="en-US" sz="1050" strike="noStrike" u="non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開封率</a:t>
            </a:r>
            <a:endParaRPr b="0" lang="en-US" sz="1050" strike="noStrike" u="non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クリック率</a:t>
            </a:r>
            <a:endParaRPr b="0" lang="en-US" sz="1050" strike="noStrike" u="non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r>
              <a:rPr b="1" lang="ja-JP" sz="1050" strike="noStrike" u="none">
                <a:solidFill>
                  <a:schemeClr val="lt1"/>
                </a:solidFill>
                <a:effectLst/>
                <a:uFillTx/>
                <a:latin typeface="メイリオ"/>
                <a:ea typeface="メイリオ"/>
              </a:rPr>
              <a:t>率</a:t>
            </a:r>
            <a:endParaRPr b="0" lang="en-US" sz="1050" strike="noStrike" u="non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rgbClr val="ff0000"/>
                </a:solidFill>
                <a:effectLst/>
                <a:uFillTx/>
                <a:latin typeface="メイリオ"/>
                <a:ea typeface="メイリオ"/>
              </a:rPr>
              <a:t>85 </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800" strike="noStrike" u="none">
                <a:solidFill>
                  <a:srgbClr val="ff0000"/>
                </a:solidFill>
                <a:effectLst/>
                <a:uFillTx/>
                <a:latin typeface="メイリオ"/>
                <a:ea typeface="メイリオ"/>
              </a:rPr>
              <a:t>12.5 </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rgbClr val="ff0000"/>
                </a:solidFill>
                <a:effectLst/>
                <a:uFillTx/>
                <a:latin typeface="メイリオ"/>
                <a:ea typeface="メイリオ"/>
              </a:rPr>
              <a:t>0.5</a:t>
            </a:r>
            <a:r>
              <a:rPr b="1" lang="en-US" sz="1400" strike="noStrike" u="none">
                <a:solidFill>
                  <a:srgbClr val="ff0000"/>
                </a:solidFill>
                <a:effectLst/>
                <a:uFillTx/>
                <a:latin typeface="メイリオ"/>
                <a:ea typeface="メイリオ"/>
              </a:rPr>
              <a:t> %</a:t>
            </a:r>
            <a:endParaRPr b="0" lang="en-US" sz="1400" strike="noStrike" u="non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dk1"/>
                </a:solidFill>
                <a:effectLst/>
                <a:uFillTx/>
                <a:latin typeface="メイリオ"/>
                <a:ea typeface="メイリオ"/>
              </a:rPr>
              <a:t>70 %</a:t>
            </a:r>
            <a:endParaRPr b="0" lang="en-US" sz="1400" strike="noStrike" u="non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dk1"/>
                </a:solidFill>
                <a:effectLst/>
                <a:uFillTx/>
                <a:latin typeface="メイリオ"/>
                <a:ea typeface="メイリオ"/>
              </a:rPr>
              <a:t>8.25 %</a:t>
            </a:r>
            <a:endParaRPr b="0" lang="en-US" sz="1400" strike="noStrike" u="non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dk1"/>
                </a:solidFill>
                <a:effectLst/>
                <a:uFillTx/>
                <a:latin typeface="メイリオ"/>
                <a:ea typeface="メイリオ"/>
              </a:rPr>
              <a:t>0.3 %</a:t>
            </a:r>
            <a:endParaRPr b="0" lang="en-US" sz="1400" strike="noStrike" u="non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rgbClr val="ffc000"/>
                </a:solidFill>
                <a:effectLst/>
                <a:uFillTx/>
                <a:latin typeface="メイリオ"/>
                <a:ea typeface="メイリオ"/>
              </a:rPr>
              <a:t>DYM</a:t>
            </a:r>
            <a:r>
              <a:rPr b="1" lang="ja-JP" sz="1200" strike="noStrike" u="none">
                <a:solidFill>
                  <a:srgbClr val="ffc000"/>
                </a:solidFill>
                <a:effectLst/>
                <a:uFillTx/>
                <a:latin typeface="メイリオ"/>
                <a:ea typeface="メイリオ"/>
              </a:rPr>
              <a:t>実績</a:t>
            </a:r>
            <a:endParaRPr b="0" lang="en-US" sz="1200" strike="noStrike" u="non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200" strike="noStrike" u="none">
                <a:solidFill>
                  <a:schemeClr val="lt1"/>
                </a:solidFill>
                <a:effectLst/>
                <a:uFillTx/>
                <a:latin typeface="メイリオ"/>
                <a:ea typeface="メイリオ"/>
              </a:rPr>
              <a:t>業界平均</a:t>
            </a:r>
            <a:endParaRPr b="0" lang="en-US" sz="1200" strike="noStrike" u="none">
              <a:solidFill>
                <a:srgbClr val="ffffff"/>
              </a:solidFill>
              <a:effectLst/>
              <a:uFillTx/>
              <a:latin typeface="Arial"/>
            </a:endParaRPr>
          </a:p>
          <a:p>
            <a:pPr algn="ctr" defTabSz="914400">
              <a:lnSpc>
                <a:spcPct val="100000"/>
              </a:lnSpc>
            </a:pPr>
            <a:r>
              <a:rPr b="1" lang="en-US" sz="800" strike="noStrike" u="none">
                <a:solidFill>
                  <a:schemeClr val="lt1"/>
                </a:solidFill>
                <a:effectLst/>
                <a:uFillTx/>
                <a:latin typeface="メイリオ"/>
                <a:ea typeface="メイリオ"/>
              </a:rPr>
              <a:t>(LINE</a:t>
            </a:r>
            <a:r>
              <a:rPr b="1" lang="ja-JP" sz="800" strike="noStrike" u="none">
                <a:solidFill>
                  <a:schemeClr val="lt1"/>
                </a:solidFill>
                <a:effectLst/>
                <a:uFillTx/>
                <a:latin typeface="メイリオ"/>
                <a:ea typeface="メイリオ"/>
              </a:rPr>
              <a:t>ヤフー社より共有）</a:t>
            </a:r>
            <a:endParaRPr b="0" lang="en-US" sz="800" strike="noStrike" u="non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rgbClr val="ffc000"/>
                </a:solidFill>
                <a:effectLst/>
                <a:uFillTx/>
                <a:latin typeface="メイリオ"/>
                <a:ea typeface="メイリオ"/>
              </a:rPr>
              <a:t>施策の流れ</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7"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918"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ja-JP" sz="1400" strike="noStrike" u="none">
                <a:solidFill>
                  <a:srgbClr val="343434"/>
                </a:solidFill>
                <a:effectLst/>
                <a:uFillTx/>
                <a:latin typeface="メイリオ"/>
                <a:ea typeface="メイリオ"/>
              </a:rPr>
              <a:t>業態平均で</a:t>
            </a:r>
            <a:r>
              <a:rPr b="1" lang="ja-JP" sz="1400" strike="noStrike" u="none">
                <a:solidFill>
                  <a:srgbClr val="ff0000"/>
                </a:solidFill>
                <a:effectLst/>
                <a:uFillTx/>
                <a:latin typeface="メイリオ"/>
                <a:ea typeface="メイリオ"/>
              </a:rPr>
              <a:t>最大３</a:t>
            </a:r>
            <a:r>
              <a:rPr b="1" lang="en-US" sz="1400" strike="noStrike" u="none">
                <a:solidFill>
                  <a:srgbClr val="ff0000"/>
                </a:solidFill>
                <a:effectLst/>
                <a:uFillTx/>
                <a:latin typeface="メイリオ"/>
                <a:ea typeface="メイリオ"/>
              </a:rPr>
              <a:t>%</a:t>
            </a:r>
            <a:r>
              <a:rPr b="1" lang="ja-JP" sz="1400" strike="noStrike" u="none">
                <a:solidFill>
                  <a:srgbClr val="ff0000"/>
                </a:solidFill>
                <a:effectLst/>
                <a:uFillTx/>
                <a:latin typeface="メイリオ"/>
                <a:ea typeface="メイリオ"/>
              </a:rPr>
              <a:t>のユーザーは有効化</a:t>
            </a:r>
            <a:r>
              <a:rPr b="1" lang="en-US" sz="1400" strike="noStrike" u="none">
                <a:solidFill>
                  <a:srgbClr val="ff0000"/>
                </a:solidFill>
                <a:effectLst/>
                <a:uFillTx/>
                <a:latin typeface="メイリオ"/>
                <a:ea typeface="メイリオ"/>
              </a:rPr>
              <a:t>/</a:t>
            </a:r>
            <a:r>
              <a:rPr b="1" lang="ja-JP" sz="1400" strike="noStrike" u="none">
                <a:solidFill>
                  <a:srgbClr val="ff0000"/>
                </a:solidFill>
                <a:effectLst/>
                <a:uFillTx/>
                <a:latin typeface="メイリオ"/>
                <a:ea typeface="メイリオ"/>
              </a:rPr>
              <a:t>マネタイズ可能</a:t>
            </a:r>
            <a:r>
              <a:rPr b="0" lang="en-US" sz="1400" strike="noStrike" u="none">
                <a:solidFill>
                  <a:srgbClr val="343434"/>
                </a:solidFill>
                <a:effectLst/>
                <a:uFillTx/>
                <a:latin typeface="メイリオ"/>
                <a:ea typeface="メイリオ"/>
              </a:rPr>
              <a:t> とされている。</a:t>
            </a:r>
            <a:endParaRPr b="0" lang="en-US" sz="1400" strike="noStrike" u="none">
              <a:solidFill>
                <a:srgbClr val="000000"/>
              </a:solidFill>
              <a:effectLst/>
              <a:uFillTx/>
              <a:latin typeface="Arial"/>
            </a:endParaRPr>
          </a:p>
          <a:p>
            <a:pPr algn="ctr" defTabSz="914400">
              <a:lnSpc>
                <a:spcPts val="2455"/>
              </a:lnSpc>
            </a:pPr>
            <a:r>
              <a:rPr b="0" lang="ja-JP" sz="1400" strike="noStrike" u="none">
                <a:solidFill>
                  <a:srgbClr val="343434"/>
                </a:solidFill>
                <a:effectLst/>
                <a:uFillTx/>
                <a:latin typeface="メイリオ"/>
                <a:ea typeface="メイリオ"/>
              </a:rPr>
              <a:t>貴社集客課題に合わせて、</a:t>
            </a:r>
            <a:r>
              <a:rPr b="0" lang="en-US" sz="1400" strike="noStrike" u="none">
                <a:solidFill>
                  <a:srgbClr val="343434"/>
                </a:solidFill>
                <a:effectLst/>
                <a:uFillTx/>
                <a:latin typeface="メイリオ"/>
                <a:ea typeface="メイリオ"/>
              </a:rPr>
              <a:t>LINE</a:t>
            </a:r>
            <a:r>
              <a:rPr b="0" lang="ja-JP" sz="1400" strike="noStrike" u="none">
                <a:solidFill>
                  <a:srgbClr val="343434"/>
                </a:solidFill>
                <a:effectLst/>
                <a:uFillTx/>
                <a:latin typeface="メイリオ"/>
                <a:ea typeface="メイリオ"/>
              </a:rPr>
              <a:t>公式アカウントの構築モデルを活用しながら集客効率を改善。</a:t>
            </a:r>
            <a:endParaRPr b="0" lang="en-US" sz="1400" strike="noStrike" u="none">
              <a:solidFill>
                <a:srgbClr val="000000"/>
              </a:solidFill>
              <a:effectLst/>
              <a:uFillTx/>
              <a:latin typeface="Arial"/>
            </a:endParaRPr>
          </a:p>
        </p:txBody>
      </p:sp>
      <p:cxnSp>
        <p:nvCxnSpPr>
          <p:cNvPr id="919"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920"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sp>
        <p:nvSpPr>
          <p:cNvPr id="921" name="正方形/長方形 1"/>
          <p:cNvSpPr/>
          <p:nvPr/>
        </p:nvSpPr>
        <p:spPr>
          <a:xfrm>
            <a:off x="437760" y="160632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200" strike="noStrike" u="none">
                <a:solidFill>
                  <a:schemeClr val="lt1"/>
                </a:solidFill>
                <a:effectLst/>
                <a:uFillTx/>
                <a:latin typeface="メイリオ"/>
                <a:ea typeface="メイリオ"/>
              </a:rPr>
              <a:t>流入元</a:t>
            </a:r>
            <a:endParaRPr b="0" lang="en-US" sz="1200" strike="noStrike" u="none">
              <a:solidFill>
                <a:srgbClr val="ffffff"/>
              </a:solidFill>
              <a:effectLst/>
              <a:uFillTx/>
              <a:latin typeface="Arial"/>
            </a:endParaRPr>
          </a:p>
        </p:txBody>
      </p:sp>
      <p:sp>
        <p:nvSpPr>
          <p:cNvPr id="922" name="正方形/長方形 7"/>
          <p:cNvSpPr/>
          <p:nvPr/>
        </p:nvSpPr>
        <p:spPr>
          <a:xfrm>
            <a:off x="1940040" y="160632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chemeClr val="lt1"/>
                </a:solidFill>
                <a:effectLst/>
                <a:uFillTx/>
                <a:latin typeface="メイリオ"/>
                <a:ea typeface="メイリオ"/>
              </a:rPr>
              <a:t>LINE</a:t>
            </a:r>
            <a:r>
              <a:rPr b="1" lang="ja-JP" sz="1200" strike="noStrike" u="none">
                <a:solidFill>
                  <a:schemeClr val="lt1"/>
                </a:solidFill>
                <a:effectLst/>
                <a:uFillTx/>
                <a:latin typeface="メイリオ"/>
                <a:ea typeface="メイリオ"/>
              </a:rPr>
              <a:t>誘導</a:t>
            </a:r>
            <a:endParaRPr b="0" lang="en-US" sz="1200" strike="noStrike" u="none">
              <a:solidFill>
                <a:srgbClr val="000000"/>
              </a:solidFill>
              <a:effectLst/>
              <a:uFillTx/>
              <a:latin typeface="Arial"/>
            </a:endParaRPr>
          </a:p>
        </p:txBody>
      </p:sp>
      <p:sp>
        <p:nvSpPr>
          <p:cNvPr id="923" name="正方形/長方形 9"/>
          <p:cNvSpPr/>
          <p:nvPr/>
        </p:nvSpPr>
        <p:spPr>
          <a:xfrm>
            <a:off x="3442320" y="160632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具体の施策方針</a:t>
            </a:r>
            <a:endParaRPr b="0" lang="en-US" sz="1200" strike="noStrike" u="none">
              <a:solidFill>
                <a:srgbClr val="ffffff"/>
              </a:solidFill>
              <a:effectLst/>
              <a:uFillTx/>
              <a:latin typeface="Arial"/>
            </a:endParaRPr>
          </a:p>
        </p:txBody>
      </p:sp>
      <p:sp>
        <p:nvSpPr>
          <p:cNvPr id="924" name="矢印: 右 33"/>
          <p:cNvSpPr/>
          <p:nvPr/>
        </p:nvSpPr>
        <p:spPr>
          <a:xfrm>
            <a:off x="1080720" y="22802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25" name="正方形/長方形 36"/>
          <p:cNvSpPr/>
          <p:nvPr/>
        </p:nvSpPr>
        <p:spPr>
          <a:xfrm>
            <a:off x="1940040" y="20145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75000"/>
                    <a:lumOff val="25000"/>
                  </a:schemeClr>
                </a:solidFill>
                <a:effectLst/>
                <a:uFillTx/>
                <a:latin typeface="メイリオ"/>
                <a:ea typeface="メイリオ"/>
              </a:rPr>
              <a:t>離脱防止</a:t>
            </a:r>
            <a:endParaRPr b="0" lang="en-US" sz="900" strike="noStrike" u="none">
              <a:solidFill>
                <a:srgbClr val="000000"/>
              </a:solidFill>
              <a:effectLst/>
              <a:uFillTx/>
              <a:latin typeface="Arial"/>
            </a:endParaRPr>
          </a:p>
          <a:p>
            <a:pPr algn="ctr" defTabSz="914400">
              <a:lnSpc>
                <a:spcPct val="100000"/>
              </a:lnSpc>
            </a:pPr>
            <a:r>
              <a:rPr b="0" lang="ja-JP" sz="900" strike="noStrike" u="none">
                <a:solidFill>
                  <a:schemeClr val="dk1">
                    <a:lumMod val="75000"/>
                    <a:lumOff val="25000"/>
                  </a:schemeClr>
                </a:solidFill>
                <a:effectLst/>
                <a:uFillTx/>
                <a:latin typeface="メイリオ"/>
                <a:ea typeface="メイリオ"/>
              </a:rPr>
              <a:t>サイト上ポップアップ</a:t>
            </a:r>
            <a:endParaRPr b="0" lang="en-US" sz="900" strike="noStrike" u="none">
              <a:solidFill>
                <a:srgbClr val="000000"/>
              </a:solidFill>
              <a:effectLst/>
              <a:uFillTx/>
              <a:latin typeface="Arial"/>
            </a:endParaRPr>
          </a:p>
        </p:txBody>
      </p:sp>
      <p:sp>
        <p:nvSpPr>
          <p:cNvPr id="926" name="正方形/長方形 38"/>
          <p:cNvSpPr/>
          <p:nvPr/>
        </p:nvSpPr>
        <p:spPr>
          <a:xfrm>
            <a:off x="1940040" y="262764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75000"/>
                    <a:lumOff val="25000"/>
                  </a:schemeClr>
                </a:solidFill>
                <a:effectLst/>
                <a:uFillTx/>
                <a:latin typeface="メイリオ"/>
                <a:ea typeface="メイリオ"/>
              </a:rPr>
              <a:t>離脱防止</a:t>
            </a:r>
            <a:endParaRPr b="0" lang="en-US" sz="900" strike="noStrike" u="none">
              <a:solidFill>
                <a:srgbClr val="000000"/>
              </a:solidFill>
              <a:effectLst/>
              <a:uFillTx/>
              <a:latin typeface="Arial"/>
            </a:endParaRPr>
          </a:p>
          <a:p>
            <a:pPr algn="ctr" defTabSz="914400">
              <a:lnSpc>
                <a:spcPct val="100000"/>
              </a:lnSpc>
            </a:pPr>
            <a:r>
              <a:rPr b="0" lang="ja-JP" sz="900" strike="noStrike" u="none">
                <a:solidFill>
                  <a:schemeClr val="dk1">
                    <a:lumMod val="75000"/>
                    <a:lumOff val="25000"/>
                  </a:schemeClr>
                </a:solidFill>
                <a:effectLst/>
                <a:uFillTx/>
                <a:latin typeface="メイリオ"/>
                <a:ea typeface="メイリオ"/>
              </a:rPr>
              <a:t>サイト上ポップアップ</a:t>
            </a:r>
            <a:endParaRPr b="0" lang="en-US" sz="900" strike="noStrike" u="none">
              <a:solidFill>
                <a:srgbClr val="000000"/>
              </a:solidFill>
              <a:effectLst/>
              <a:uFillTx/>
              <a:latin typeface="Arial"/>
            </a:endParaRPr>
          </a:p>
        </p:txBody>
      </p:sp>
      <p:sp>
        <p:nvSpPr>
          <p:cNvPr id="927" name="正方形/長方形 40"/>
          <p:cNvSpPr/>
          <p:nvPr/>
        </p:nvSpPr>
        <p:spPr>
          <a:xfrm>
            <a:off x="437760" y="20145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000" strike="noStrike" u="none">
                <a:solidFill>
                  <a:schemeClr val="dk1">
                    <a:lumMod val="75000"/>
                    <a:lumOff val="25000"/>
                  </a:schemeClr>
                </a:solidFill>
                <a:effectLst/>
                <a:uFillTx/>
                <a:latin typeface="メイリオ"/>
                <a:ea typeface="メイリオ"/>
              </a:rPr>
              <a:t>SEO</a:t>
            </a:r>
            <a:r>
              <a:rPr b="0" lang="ja-JP" sz="1000" strike="noStrike" u="none">
                <a:solidFill>
                  <a:schemeClr val="dk1">
                    <a:lumMod val="75000"/>
                    <a:lumOff val="25000"/>
                  </a:schemeClr>
                </a:solidFill>
                <a:effectLst/>
                <a:uFillTx/>
                <a:latin typeface="メイリオ"/>
                <a:ea typeface="メイリオ"/>
              </a:rPr>
              <a:t>・</a:t>
            </a:r>
            <a:r>
              <a:rPr b="0" lang="en-US" sz="1000" strike="noStrike" u="none">
                <a:solidFill>
                  <a:schemeClr val="dk1">
                    <a:lumMod val="75000"/>
                    <a:lumOff val="25000"/>
                  </a:schemeClr>
                </a:solidFill>
                <a:effectLst/>
                <a:uFillTx/>
                <a:latin typeface="メイリオ"/>
                <a:ea typeface="メイリオ"/>
              </a:rPr>
              <a:t>AIO</a:t>
            </a:r>
            <a:endParaRPr b="0" lang="en-US" sz="1000" strike="noStrike" u="none">
              <a:solidFill>
                <a:srgbClr val="000000"/>
              </a:solidFill>
              <a:effectLst/>
              <a:uFillTx/>
              <a:latin typeface="Arial"/>
            </a:endParaRPr>
          </a:p>
        </p:txBody>
      </p:sp>
      <p:sp>
        <p:nvSpPr>
          <p:cNvPr id="928" name="正方形/長方形 42"/>
          <p:cNvSpPr/>
          <p:nvPr/>
        </p:nvSpPr>
        <p:spPr>
          <a:xfrm>
            <a:off x="437760" y="262764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000" strike="noStrike" u="none">
                <a:solidFill>
                  <a:schemeClr val="dk1">
                    <a:lumMod val="75000"/>
                    <a:lumOff val="25000"/>
                  </a:schemeClr>
                </a:solidFill>
                <a:effectLst/>
                <a:uFillTx/>
                <a:latin typeface="メイリオ"/>
                <a:ea typeface="メイリオ"/>
              </a:rPr>
              <a:t>広告</a:t>
            </a:r>
            <a:endParaRPr b="0" lang="en-US" sz="1000" strike="noStrike" u="none">
              <a:solidFill>
                <a:srgbClr val="000000"/>
              </a:solidFill>
              <a:effectLst/>
              <a:uFillTx/>
              <a:latin typeface="Arial"/>
            </a:endParaRPr>
          </a:p>
        </p:txBody>
      </p:sp>
      <p:sp>
        <p:nvSpPr>
          <p:cNvPr id="929" name="正方形/長方形 45"/>
          <p:cNvSpPr/>
          <p:nvPr/>
        </p:nvSpPr>
        <p:spPr>
          <a:xfrm>
            <a:off x="3442320" y="200916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75000"/>
                  <a:lumOff val="25000"/>
                </a:schemeClr>
              </a:solidFill>
              <a:effectLst/>
              <a:uFillTx/>
              <a:latin typeface="メイリオ"/>
              <a:ea typeface="メイリオ"/>
            </a:endParaRPr>
          </a:p>
        </p:txBody>
      </p:sp>
      <p:sp>
        <p:nvSpPr>
          <p:cNvPr id="930" name="矢印: 右 47"/>
          <p:cNvSpPr/>
          <p:nvPr/>
        </p:nvSpPr>
        <p:spPr>
          <a:xfrm>
            <a:off x="1080720" y="32320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31" name="矢印: 右 49"/>
          <p:cNvSpPr/>
          <p:nvPr/>
        </p:nvSpPr>
        <p:spPr>
          <a:xfrm>
            <a:off x="1080720" y="3933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cxnSp>
        <p:nvCxnSpPr>
          <p:cNvPr id="932" name="直線コネクタ 50"/>
          <p:cNvCxnSpPr/>
          <p:nvPr/>
        </p:nvCxnSpPr>
        <p:spPr>
          <a:xfrm flipV="1">
            <a:off x="437400" y="3888000"/>
            <a:ext cx="7325280" cy="720"/>
          </a:xfrm>
          <a:prstGeom prst="straightConnector1">
            <a:avLst/>
          </a:prstGeom>
          <a:ln>
            <a:solidFill>
              <a:srgbClr val="4a7ebb"/>
            </a:solidFill>
            <a:prstDash val="sysDash"/>
            <a:round/>
          </a:ln>
        </p:spPr>
      </p:cxnSp>
      <p:sp>
        <p:nvSpPr>
          <p:cNvPr id="933" name="正方形/長方形 51"/>
          <p:cNvSpPr/>
          <p:nvPr/>
        </p:nvSpPr>
        <p:spPr>
          <a:xfrm>
            <a:off x="437760" y="324108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000" strike="noStrike" u="none">
                <a:solidFill>
                  <a:schemeClr val="dk1">
                    <a:lumMod val="65000"/>
                    <a:lumOff val="35000"/>
                  </a:schemeClr>
                </a:solidFill>
                <a:effectLst/>
                <a:uFillTx/>
                <a:latin typeface="メイリオ"/>
                <a:ea typeface="メイリオ"/>
              </a:rPr>
              <a:t>LINE</a:t>
            </a:r>
            <a:r>
              <a:rPr b="0" lang="ja-JP" sz="1000" strike="noStrike" u="none">
                <a:solidFill>
                  <a:schemeClr val="dk1">
                    <a:lumMod val="65000"/>
                    <a:lumOff val="35000"/>
                  </a:schemeClr>
                </a:solidFill>
                <a:effectLst/>
                <a:uFillTx/>
                <a:latin typeface="メイリオ"/>
                <a:ea typeface="メイリオ"/>
              </a:rPr>
              <a:t>広告（</a:t>
            </a:r>
            <a:r>
              <a:rPr b="0" lang="en-US" sz="1000" strike="noStrike" u="none">
                <a:solidFill>
                  <a:schemeClr val="dk1">
                    <a:lumMod val="65000"/>
                    <a:lumOff val="35000"/>
                  </a:schemeClr>
                </a:solidFill>
                <a:effectLst/>
                <a:uFillTx/>
                <a:latin typeface="メイリオ"/>
                <a:ea typeface="メイリオ"/>
              </a:rPr>
              <a:t>CPF</a:t>
            </a:r>
            <a:r>
              <a:rPr b="0" lang="ja-JP" sz="1000" strike="noStrike" u="none">
                <a:solidFill>
                  <a:schemeClr val="dk1">
                    <a:lumMod val="65000"/>
                    <a:lumOff val="35000"/>
                  </a:schemeClr>
                </a:solidFill>
                <a:effectLst/>
                <a:uFillTx/>
                <a:latin typeface="メイリオ"/>
                <a:ea typeface="メイリオ"/>
              </a:rPr>
              <a:t>配信）</a:t>
            </a:r>
            <a:endParaRPr b="0" lang="en-US" sz="1000" strike="noStrike" u="none">
              <a:solidFill>
                <a:srgbClr val="000000"/>
              </a:solidFill>
              <a:effectLst/>
              <a:uFillTx/>
              <a:latin typeface="Arial"/>
            </a:endParaRPr>
          </a:p>
          <a:p>
            <a:pPr algn="ctr" defTabSz="914400">
              <a:lnSpc>
                <a:spcPct val="100000"/>
              </a:lnSpc>
            </a:pPr>
            <a:r>
              <a:rPr b="0" lang="ja-JP" sz="1000" strike="noStrike" u="none">
                <a:solidFill>
                  <a:schemeClr val="dk1">
                    <a:lumMod val="65000"/>
                    <a:lumOff val="35000"/>
                  </a:schemeClr>
                </a:solidFill>
                <a:effectLst/>
                <a:uFillTx/>
                <a:latin typeface="メイリオ"/>
                <a:ea typeface="メイリオ"/>
              </a:rPr>
              <a:t>サイト上ポップアップ</a:t>
            </a:r>
            <a:endParaRPr b="0" lang="en-US" sz="1000" strike="noStrike" u="none">
              <a:solidFill>
                <a:srgbClr val="000000"/>
              </a:solidFill>
              <a:effectLst/>
              <a:uFillTx/>
              <a:latin typeface="Arial"/>
            </a:endParaRPr>
          </a:p>
        </p:txBody>
      </p:sp>
      <p:sp>
        <p:nvSpPr>
          <p:cNvPr id="934" name="正方形/長方形 52"/>
          <p:cNvSpPr/>
          <p:nvPr/>
        </p:nvSpPr>
        <p:spPr>
          <a:xfrm>
            <a:off x="1940040" y="39772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65000"/>
                    <a:lumOff val="35000"/>
                  </a:schemeClr>
                </a:solidFill>
                <a:effectLst/>
                <a:uFillTx/>
                <a:latin typeface="メイリオ"/>
                <a:ea typeface="メイリオ"/>
              </a:rPr>
              <a:t>通知メッセ</a:t>
            </a:r>
            <a:endParaRPr b="0" lang="en-US" sz="900" strike="noStrike" u="none">
              <a:solidFill>
                <a:srgbClr val="000000"/>
              </a:solidFill>
              <a:effectLst/>
              <a:uFillTx/>
              <a:latin typeface="Arial"/>
            </a:endParaRPr>
          </a:p>
        </p:txBody>
      </p:sp>
      <p:sp>
        <p:nvSpPr>
          <p:cNvPr id="935" name="正方形/長方形 53"/>
          <p:cNvSpPr/>
          <p:nvPr/>
        </p:nvSpPr>
        <p:spPr>
          <a:xfrm>
            <a:off x="437760" y="39772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000" strike="noStrike" u="none">
                <a:solidFill>
                  <a:schemeClr val="dk1">
                    <a:lumMod val="65000"/>
                    <a:lumOff val="35000"/>
                  </a:schemeClr>
                </a:solidFill>
                <a:effectLst/>
                <a:uFillTx/>
                <a:latin typeface="メイリオ"/>
                <a:ea typeface="メイリオ"/>
              </a:rPr>
              <a:t>CV</a:t>
            </a:r>
            <a:r>
              <a:rPr b="0" lang="ja-JP" sz="1000" strike="noStrike" u="none">
                <a:solidFill>
                  <a:schemeClr val="dk1">
                    <a:lumMod val="65000"/>
                    <a:lumOff val="35000"/>
                  </a:schemeClr>
                </a:solidFill>
                <a:effectLst/>
                <a:uFillTx/>
                <a:latin typeface="メイリオ"/>
                <a:ea typeface="メイリオ"/>
              </a:rPr>
              <a:t>・</a:t>
            </a:r>
            <a:r>
              <a:rPr b="0" lang="en-US" sz="1000" strike="noStrike" u="none">
                <a:solidFill>
                  <a:schemeClr val="dk1">
                    <a:lumMod val="65000"/>
                    <a:lumOff val="35000"/>
                  </a:schemeClr>
                </a:solidFill>
                <a:effectLst/>
                <a:uFillTx/>
                <a:latin typeface="メイリオ"/>
                <a:ea typeface="メイリオ"/>
              </a:rPr>
              <a:t>mcv</a:t>
            </a:r>
            <a:r>
              <a:rPr b="0" lang="ja-JP" sz="1000" strike="noStrike" u="none">
                <a:solidFill>
                  <a:schemeClr val="dk1">
                    <a:lumMod val="65000"/>
                    <a:lumOff val="35000"/>
                  </a:schemeClr>
                </a:solidFill>
                <a:effectLst/>
                <a:uFillTx/>
                <a:latin typeface="メイリオ"/>
                <a:ea typeface="メイリオ"/>
              </a:rPr>
              <a:t>済</a:t>
            </a:r>
            <a:endParaRPr b="0" lang="en-US" sz="1000" strike="noStrike" u="none">
              <a:solidFill>
                <a:srgbClr val="000000"/>
              </a:solidFill>
              <a:effectLst/>
              <a:uFillTx/>
              <a:latin typeface="Arial"/>
            </a:endParaRPr>
          </a:p>
        </p:txBody>
      </p:sp>
      <p:sp>
        <p:nvSpPr>
          <p:cNvPr id="936" name="正方形/長方形 54"/>
          <p:cNvSpPr/>
          <p:nvPr/>
        </p:nvSpPr>
        <p:spPr>
          <a:xfrm>
            <a:off x="3442320" y="32410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37" name="正方形/長方形 55"/>
          <p:cNvSpPr/>
          <p:nvPr/>
        </p:nvSpPr>
        <p:spPr>
          <a:xfrm>
            <a:off x="3442320" y="3977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38" name="矢印: 右 57"/>
          <p:cNvSpPr/>
          <p:nvPr/>
        </p:nvSpPr>
        <p:spPr>
          <a:xfrm>
            <a:off x="1080720" y="45802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39" name="矢印: 右 59"/>
          <p:cNvSpPr/>
          <p:nvPr/>
        </p:nvSpPr>
        <p:spPr>
          <a:xfrm>
            <a:off x="1080720" y="58118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40" name="矢印: 右 61"/>
          <p:cNvSpPr/>
          <p:nvPr/>
        </p:nvSpPr>
        <p:spPr>
          <a:xfrm>
            <a:off x="1080720" y="52016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41" name="正方形/長方形 63"/>
          <p:cNvSpPr/>
          <p:nvPr/>
        </p:nvSpPr>
        <p:spPr>
          <a:xfrm>
            <a:off x="1940040" y="459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65000"/>
                    <a:lumOff val="35000"/>
                  </a:schemeClr>
                </a:solidFill>
                <a:effectLst/>
                <a:uFillTx/>
                <a:latin typeface="メイリオ"/>
                <a:ea typeface="メイリオ"/>
              </a:rPr>
              <a:t>サンクス</a:t>
            </a:r>
            <a:r>
              <a:rPr b="0" lang="en-US" sz="900" strike="noStrike" u="none">
                <a:solidFill>
                  <a:schemeClr val="dk1">
                    <a:lumMod val="65000"/>
                    <a:lumOff val="35000"/>
                  </a:schemeClr>
                </a:solidFill>
                <a:effectLst/>
                <a:uFillTx/>
                <a:latin typeface="メイリオ"/>
                <a:ea typeface="メイリオ"/>
              </a:rPr>
              <a:t>LINE</a:t>
            </a:r>
            <a:r>
              <a:rPr b="0" lang="ja-JP" sz="900" strike="noStrike" u="none">
                <a:solidFill>
                  <a:schemeClr val="dk1">
                    <a:lumMod val="65000"/>
                    <a:lumOff val="35000"/>
                  </a:schemeClr>
                </a:solidFill>
                <a:effectLst/>
                <a:uFillTx/>
                <a:latin typeface="メイリオ"/>
                <a:ea typeface="メイリオ"/>
              </a:rPr>
              <a:t>誘導</a:t>
            </a:r>
            <a:endParaRPr b="0" lang="en-US" sz="900" strike="noStrike" u="none">
              <a:solidFill>
                <a:srgbClr val="000000"/>
              </a:solidFill>
              <a:effectLst/>
              <a:uFillTx/>
              <a:latin typeface="Arial"/>
            </a:endParaRPr>
          </a:p>
        </p:txBody>
      </p:sp>
      <p:sp>
        <p:nvSpPr>
          <p:cNvPr id="942" name="正方形/長方形 65"/>
          <p:cNvSpPr/>
          <p:nvPr/>
        </p:nvSpPr>
        <p:spPr>
          <a:xfrm>
            <a:off x="437760" y="45957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000" strike="noStrike" u="none">
                <a:solidFill>
                  <a:schemeClr val="dk1">
                    <a:lumMod val="65000"/>
                    <a:lumOff val="35000"/>
                  </a:schemeClr>
                </a:solidFill>
                <a:effectLst/>
                <a:uFillTx/>
                <a:latin typeface="メイリオ"/>
                <a:ea typeface="メイリオ"/>
              </a:rPr>
              <a:t>CV</a:t>
            </a:r>
            <a:r>
              <a:rPr b="0" lang="ja-JP" sz="1000" strike="noStrike" u="none">
                <a:solidFill>
                  <a:schemeClr val="dk1">
                    <a:lumMod val="65000"/>
                    <a:lumOff val="35000"/>
                  </a:schemeClr>
                </a:solidFill>
                <a:effectLst/>
                <a:uFillTx/>
                <a:latin typeface="メイリオ"/>
                <a:ea typeface="メイリオ"/>
              </a:rPr>
              <a:t>・</a:t>
            </a:r>
            <a:r>
              <a:rPr b="0" lang="en-US" sz="1000" strike="noStrike" u="none">
                <a:solidFill>
                  <a:schemeClr val="dk1">
                    <a:lumMod val="65000"/>
                    <a:lumOff val="35000"/>
                  </a:schemeClr>
                </a:solidFill>
                <a:effectLst/>
                <a:uFillTx/>
                <a:latin typeface="メイリオ"/>
                <a:ea typeface="メイリオ"/>
              </a:rPr>
              <a:t>mcv</a:t>
            </a:r>
            <a:r>
              <a:rPr b="0" lang="ja-JP" sz="1000" strike="noStrike" u="none">
                <a:solidFill>
                  <a:schemeClr val="dk1">
                    <a:lumMod val="65000"/>
                    <a:lumOff val="35000"/>
                  </a:schemeClr>
                </a:solidFill>
                <a:effectLst/>
                <a:uFillTx/>
                <a:latin typeface="メイリオ"/>
                <a:ea typeface="メイリオ"/>
              </a:rPr>
              <a:t>済</a:t>
            </a:r>
            <a:endParaRPr b="0" lang="en-US" sz="1000" strike="noStrike" u="none">
              <a:solidFill>
                <a:srgbClr val="000000"/>
              </a:solidFill>
              <a:effectLst/>
              <a:uFillTx/>
              <a:latin typeface="Arial"/>
            </a:endParaRPr>
          </a:p>
        </p:txBody>
      </p:sp>
      <p:sp>
        <p:nvSpPr>
          <p:cNvPr id="943" name="正方形/長方形 67"/>
          <p:cNvSpPr/>
          <p:nvPr/>
        </p:nvSpPr>
        <p:spPr>
          <a:xfrm>
            <a:off x="437760" y="52146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000" strike="noStrike" u="none">
                <a:solidFill>
                  <a:schemeClr val="dk1">
                    <a:lumMod val="65000"/>
                    <a:lumOff val="35000"/>
                  </a:schemeClr>
                </a:solidFill>
                <a:effectLst/>
                <a:uFillTx/>
                <a:latin typeface="メイリオ"/>
                <a:ea typeface="メイリオ"/>
              </a:rPr>
              <a:t>保有リスト</a:t>
            </a:r>
            <a:endParaRPr b="0" lang="en-US" sz="1000" strike="noStrike" u="none">
              <a:solidFill>
                <a:srgbClr val="000000"/>
              </a:solidFill>
              <a:effectLst/>
              <a:uFillTx/>
              <a:latin typeface="Arial"/>
            </a:endParaRPr>
          </a:p>
        </p:txBody>
      </p:sp>
      <p:sp>
        <p:nvSpPr>
          <p:cNvPr id="944" name="正方形/長方形 69"/>
          <p:cNvSpPr/>
          <p:nvPr/>
        </p:nvSpPr>
        <p:spPr>
          <a:xfrm>
            <a:off x="437760" y="58330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000" strike="noStrike" u="none">
                <a:solidFill>
                  <a:schemeClr val="dk1">
                    <a:lumMod val="65000"/>
                    <a:lumOff val="35000"/>
                  </a:schemeClr>
                </a:solidFill>
                <a:effectLst/>
                <a:uFillTx/>
                <a:latin typeface="メイリオ"/>
                <a:ea typeface="メイリオ"/>
              </a:rPr>
              <a:t>保有リスト</a:t>
            </a:r>
            <a:endParaRPr b="0" lang="en-US" sz="1000" strike="noStrike" u="none">
              <a:solidFill>
                <a:srgbClr val="000000"/>
              </a:solidFill>
              <a:effectLst/>
              <a:uFillTx/>
              <a:latin typeface="Arial"/>
            </a:endParaRPr>
          </a:p>
        </p:txBody>
      </p:sp>
      <p:sp>
        <p:nvSpPr>
          <p:cNvPr id="945" name="正方形/長方形 71"/>
          <p:cNvSpPr/>
          <p:nvPr/>
        </p:nvSpPr>
        <p:spPr>
          <a:xfrm>
            <a:off x="1940040" y="52146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65000"/>
                    <a:lumOff val="35000"/>
                  </a:schemeClr>
                </a:solidFill>
                <a:effectLst/>
                <a:uFillTx/>
                <a:latin typeface="メイリオ"/>
                <a:ea typeface="メイリオ"/>
              </a:rPr>
              <a:t>通知メッセ</a:t>
            </a:r>
            <a:endParaRPr b="0" lang="en-US" sz="900" strike="noStrike" u="none">
              <a:solidFill>
                <a:srgbClr val="000000"/>
              </a:solidFill>
              <a:effectLst/>
              <a:uFillTx/>
              <a:latin typeface="Arial"/>
            </a:endParaRPr>
          </a:p>
        </p:txBody>
      </p:sp>
      <p:sp>
        <p:nvSpPr>
          <p:cNvPr id="946" name="正方形/長方形 73"/>
          <p:cNvSpPr/>
          <p:nvPr/>
        </p:nvSpPr>
        <p:spPr>
          <a:xfrm>
            <a:off x="1940040" y="58330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65000"/>
                    <a:lumOff val="35000"/>
                  </a:schemeClr>
                </a:solidFill>
                <a:effectLst/>
                <a:uFillTx/>
                <a:latin typeface="メイリオ"/>
                <a:ea typeface="メイリオ"/>
              </a:rPr>
              <a:t>メルマガ・テレマ</a:t>
            </a:r>
            <a:endParaRPr b="0" lang="en-US" sz="900" strike="noStrike" u="none">
              <a:solidFill>
                <a:srgbClr val="000000"/>
              </a:solidFill>
              <a:effectLst/>
              <a:uFillTx/>
              <a:latin typeface="Arial"/>
            </a:endParaRPr>
          </a:p>
          <a:p>
            <a:pPr algn="ctr" defTabSz="914400">
              <a:lnSpc>
                <a:spcPct val="100000"/>
              </a:lnSpc>
            </a:pPr>
            <a:r>
              <a:rPr b="0" lang="en-US" sz="900" strike="noStrike" u="none">
                <a:solidFill>
                  <a:schemeClr val="dk1">
                    <a:lumMod val="65000"/>
                    <a:lumOff val="35000"/>
                  </a:schemeClr>
                </a:solidFill>
                <a:effectLst/>
                <a:uFillTx/>
                <a:latin typeface="メイリオ"/>
                <a:ea typeface="メイリオ"/>
              </a:rPr>
              <a:t>SNS</a:t>
            </a:r>
            <a:r>
              <a:rPr b="0" lang="ja-JP" sz="900" strike="noStrike" u="none">
                <a:solidFill>
                  <a:schemeClr val="dk1">
                    <a:lumMod val="65000"/>
                    <a:lumOff val="35000"/>
                  </a:schemeClr>
                </a:solidFill>
                <a:effectLst/>
                <a:uFillTx/>
                <a:latin typeface="メイリオ"/>
                <a:ea typeface="メイリオ"/>
              </a:rPr>
              <a:t>告知</a:t>
            </a:r>
            <a:endParaRPr b="0" lang="en-US" sz="900" strike="noStrike" u="none">
              <a:solidFill>
                <a:srgbClr val="000000"/>
              </a:solidFill>
              <a:effectLst/>
              <a:uFillTx/>
              <a:latin typeface="Arial"/>
            </a:endParaRPr>
          </a:p>
        </p:txBody>
      </p:sp>
      <p:sp>
        <p:nvSpPr>
          <p:cNvPr id="947" name="正方形/長方形 75"/>
          <p:cNvSpPr/>
          <p:nvPr/>
        </p:nvSpPr>
        <p:spPr>
          <a:xfrm>
            <a:off x="3442320" y="459576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48" name="正方形/長方形 77"/>
          <p:cNvSpPr/>
          <p:nvPr/>
        </p:nvSpPr>
        <p:spPr>
          <a:xfrm>
            <a:off x="3442320" y="52146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49" name="正方形/長方形 79"/>
          <p:cNvSpPr/>
          <p:nvPr/>
        </p:nvSpPr>
        <p:spPr>
          <a:xfrm>
            <a:off x="3442320" y="5822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50" name="Shape 17"/>
          <p:cNvSpPr/>
          <p:nvPr/>
        </p:nvSpPr>
        <p:spPr>
          <a:xfrm>
            <a:off x="3636360" y="208008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zh-CN" sz="800" strike="noStrike" u="none">
                <a:solidFill>
                  <a:schemeClr val="lt1">
                    <a:lumMod val="65000"/>
                  </a:schemeClr>
                </a:solidFill>
                <a:effectLst/>
                <a:uFillTx/>
                <a:latin typeface="メイリオ"/>
                <a:ea typeface="メイリオ"/>
              </a:rPr>
              <a:t>あいさつ</a:t>
            </a:r>
            <a:r>
              <a:rPr b="0" lang="en-US" sz="800" strike="noStrike" u="none">
                <a:solidFill>
                  <a:schemeClr val="lt1">
                    <a:lumMod val="65000"/>
                  </a:schemeClr>
                </a:solidFill>
                <a:effectLst/>
                <a:uFillTx/>
                <a:latin typeface="メイリオ"/>
                <a:ea typeface="メイリオ"/>
              </a:rPr>
              <a:t>MSG</a:t>
            </a:r>
            <a:r>
              <a:rPr b="0" lang="zh-CN" sz="800" strike="noStrike" u="none">
                <a:solidFill>
                  <a:schemeClr val="lt1">
                    <a:lumMod val="65000"/>
                  </a:schemeClr>
                </a:solidFill>
                <a:effectLst/>
                <a:uFillTx/>
                <a:latin typeface="メイリオ"/>
                <a:ea typeface="メイリオ"/>
              </a:rPr>
              <a:t>＋</a:t>
            </a:r>
            <a:endParaRPr b="0" lang="en-US" sz="800" strike="noStrike" u="none">
              <a:solidFill>
                <a:srgbClr val="000000"/>
              </a:solidFill>
              <a:effectLst/>
              <a:uFillTx/>
              <a:latin typeface="Arial"/>
            </a:endParaRPr>
          </a:p>
          <a:p>
            <a:pPr defTabSz="914400">
              <a:lnSpc>
                <a:spcPct val="135000"/>
              </a:lnSpc>
            </a:pPr>
            <a:r>
              <a:rPr b="0" lang="zh-CN" sz="800" strike="noStrike" u="none">
                <a:solidFill>
                  <a:schemeClr val="lt1">
                    <a:lumMod val="65000"/>
                  </a:schemeClr>
                </a:solidFill>
                <a:effectLst/>
                <a:uFillTx/>
                <a:latin typeface="メイリオ"/>
                <a:ea typeface="メイリオ"/>
              </a:rPr>
              <a:t>登録特典</a:t>
            </a:r>
            <a:r>
              <a:rPr b="0" lang="en-US" sz="800" strike="noStrike" u="none">
                <a:solidFill>
                  <a:schemeClr val="lt1">
                    <a:lumMod val="65000"/>
                  </a:schemeClr>
                </a:solidFill>
                <a:effectLst/>
                <a:uFillTx/>
                <a:latin typeface="メイリオ"/>
                <a:ea typeface="メイリオ"/>
              </a:rPr>
              <a:t>(</a:t>
            </a:r>
            <a:r>
              <a:rPr b="0" lang="zh-CN" sz="800" strike="noStrike" u="none">
                <a:solidFill>
                  <a:schemeClr val="lt1">
                    <a:lumMod val="65000"/>
                  </a:schemeClr>
                </a:solidFill>
                <a:effectLst/>
                <a:uFillTx/>
                <a:latin typeface="メイリオ"/>
                <a:ea typeface="メイリオ"/>
              </a:rPr>
              <a:t>資料</a:t>
            </a:r>
            <a:r>
              <a:rPr b="0" lang="en-US" sz="800" strike="noStrike" u="none">
                <a:solidFill>
                  <a:schemeClr val="lt1">
                    <a:lumMod val="65000"/>
                  </a:schemeClr>
                </a:solidFill>
                <a:effectLst/>
                <a:uFillTx/>
                <a:latin typeface="メイリオ"/>
                <a:ea typeface="メイリオ"/>
              </a:rPr>
              <a:t>/</a:t>
            </a:r>
            <a:r>
              <a:rPr b="0" lang="zh-CN" sz="800" strike="noStrike" u="none">
                <a:solidFill>
                  <a:schemeClr val="lt1">
                    <a:lumMod val="65000"/>
                  </a:schemeClr>
                </a:solidFill>
                <a:effectLst/>
                <a:uFillTx/>
                <a:latin typeface="メイリオ"/>
                <a:ea typeface="メイリオ"/>
              </a:rPr>
              <a:t>診断</a:t>
            </a:r>
            <a:r>
              <a:rPr b="0" lang="en-US" sz="800" strike="noStrike" u="none">
                <a:solidFill>
                  <a:schemeClr val="lt1">
                    <a:lumMod val="65000"/>
                  </a:schemeClr>
                </a:solidFill>
                <a:effectLst/>
                <a:uFillTx/>
                <a:latin typeface="メイリオ"/>
                <a:ea typeface="メイリオ"/>
              </a:rPr>
              <a:t>)</a:t>
            </a:r>
            <a:r>
              <a:rPr b="0" lang="zh-CN" sz="800" strike="noStrike" u="none">
                <a:solidFill>
                  <a:schemeClr val="lt1">
                    <a:lumMod val="65000"/>
                  </a:schemeClr>
                </a:solidFill>
                <a:effectLst/>
                <a:uFillTx/>
                <a:latin typeface="メイリオ"/>
                <a:ea typeface="メイリオ"/>
              </a:rPr>
              <a:t>自動送付</a:t>
            </a:r>
            <a:endParaRPr b="0" lang="en-US" sz="800" strike="noStrike" u="none">
              <a:solidFill>
                <a:srgbClr val="000000"/>
              </a:solidFill>
              <a:effectLst/>
              <a:uFillTx/>
              <a:latin typeface="Arial"/>
            </a:endParaRPr>
          </a:p>
        </p:txBody>
      </p:sp>
      <p:sp>
        <p:nvSpPr>
          <p:cNvPr id="951" name="Shape 18"/>
          <p:cNvSpPr/>
          <p:nvPr/>
        </p:nvSpPr>
        <p:spPr>
          <a:xfrm>
            <a:off x="5685480" y="208008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zh-CN" sz="800" strike="noStrike" u="none">
                <a:solidFill>
                  <a:schemeClr val="lt1">
                    <a:lumMod val="65000"/>
                  </a:schemeClr>
                </a:solidFill>
                <a:effectLst/>
                <a:uFillTx/>
                <a:latin typeface="メイリオ"/>
                <a:ea typeface="メイリオ"/>
              </a:rPr>
              <a:t>教育コンテンツ配信</a:t>
            </a:r>
            <a:endParaRPr b="0" lang="en-US" sz="800" strike="noStrike" u="none">
              <a:solidFill>
                <a:srgbClr val="000000"/>
              </a:solidFill>
              <a:effectLst/>
              <a:uFillTx/>
              <a:latin typeface="Arial"/>
            </a:endParaRPr>
          </a:p>
          <a:p>
            <a:pPr defTabSz="914400">
              <a:lnSpc>
                <a:spcPct val="135000"/>
              </a:lnSpc>
            </a:pPr>
            <a:r>
              <a:rPr b="0" lang="zh-CN" sz="800" strike="noStrike" u="none">
                <a:solidFill>
                  <a:schemeClr val="lt1">
                    <a:lumMod val="65000"/>
                  </a:schemeClr>
                </a:solidFill>
                <a:effectLst/>
                <a:uFillTx/>
                <a:latin typeface="メイリオ"/>
                <a:ea typeface="メイリオ"/>
              </a:rPr>
              <a:t>（週</a:t>
            </a:r>
            <a:r>
              <a:rPr b="0" lang="en-US" sz="800" strike="noStrike" u="none">
                <a:solidFill>
                  <a:schemeClr val="lt1">
                    <a:lumMod val="65000"/>
                  </a:schemeClr>
                </a:solidFill>
                <a:effectLst/>
                <a:uFillTx/>
                <a:latin typeface="メイリオ"/>
                <a:ea typeface="メイリオ"/>
              </a:rPr>
              <a:t>1</a:t>
            </a:r>
            <a:r>
              <a:rPr b="0" lang="zh-CN" sz="800" strike="noStrike" u="none">
                <a:solidFill>
                  <a:schemeClr val="lt1">
                    <a:lumMod val="65000"/>
                  </a:schemeClr>
                </a:solidFill>
                <a:effectLst/>
                <a:uFillTx/>
                <a:latin typeface="メイリオ"/>
                <a:ea typeface="メイリオ"/>
              </a:rPr>
              <a:t>）→ </a:t>
            </a:r>
            <a:r>
              <a:rPr b="0" lang="en-US" sz="800" strike="noStrike" u="none">
                <a:solidFill>
                  <a:schemeClr val="lt1">
                    <a:lumMod val="65000"/>
                  </a:schemeClr>
                </a:solidFill>
                <a:effectLst/>
                <a:uFillTx/>
                <a:latin typeface="メイリオ"/>
                <a:ea typeface="メイリオ"/>
              </a:rPr>
              <a:t>CV</a:t>
            </a:r>
            <a:r>
              <a:rPr b="0" lang="zh-CN" sz="800" strike="noStrike" u="none">
                <a:solidFill>
                  <a:schemeClr val="lt1">
                    <a:lumMod val="65000"/>
                  </a:schemeClr>
                </a:solidFill>
                <a:effectLst/>
                <a:uFillTx/>
                <a:latin typeface="メイリオ"/>
                <a:ea typeface="メイリオ"/>
              </a:rPr>
              <a:t>誘導オファー</a:t>
            </a:r>
            <a:endParaRPr b="0" lang="en-US" sz="800" strike="noStrike" u="none">
              <a:solidFill>
                <a:srgbClr val="000000"/>
              </a:solidFill>
              <a:effectLst/>
              <a:uFillTx/>
              <a:latin typeface="Arial"/>
            </a:endParaRPr>
          </a:p>
        </p:txBody>
      </p:sp>
      <p:sp>
        <p:nvSpPr>
          <p:cNvPr id="952" name="Text 22"/>
          <p:cNvSpPr/>
          <p:nvPr/>
        </p:nvSpPr>
        <p:spPr>
          <a:xfrm>
            <a:off x="-1097280" y="1156320"/>
            <a:ext cx="2358720" cy="58500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endParaRPr b="0" lang="en-US" sz="900" strike="noStrike" u="none">
              <a:solidFill>
                <a:schemeClr val="dk1"/>
              </a:solidFill>
              <a:effectLst/>
              <a:uFillTx/>
              <a:latin typeface="Calibri"/>
            </a:endParaRPr>
          </a:p>
        </p:txBody>
      </p:sp>
      <p:sp>
        <p:nvSpPr>
          <p:cNvPr id="953" name="Text 24"/>
          <p:cNvSpPr/>
          <p:nvPr/>
        </p:nvSpPr>
        <p:spPr>
          <a:xfrm>
            <a:off x="1591200" y="1156320"/>
            <a:ext cx="2944080" cy="58500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endParaRPr b="0" lang="en-US" sz="900" strike="noStrike" u="none">
              <a:solidFill>
                <a:schemeClr val="dk1"/>
              </a:solidFill>
              <a:effectLst/>
              <a:uFillTx/>
              <a:latin typeface="Calibri"/>
            </a:endParaRPr>
          </a:p>
        </p:txBody>
      </p:sp>
      <p:cxnSp>
        <p:nvCxnSpPr>
          <p:cNvPr id="954" name="直線矢印コネクタ 93"/>
          <p:cNvCxnSpPr>
            <a:endCxn id="951" idx="1"/>
          </p:cNvCxnSpPr>
          <p:nvPr/>
        </p:nvCxnSpPr>
        <p:spPr>
          <a:xfrm>
            <a:off x="5416560" y="2304000"/>
            <a:ext cx="269280" cy="9360"/>
          </a:xfrm>
          <a:prstGeom prst="straightConnector1">
            <a:avLst/>
          </a:prstGeom>
          <a:ln>
            <a:solidFill>
              <a:srgbClr val="000000"/>
            </a:solidFill>
            <a:prstDash val="sysDot"/>
            <a:round/>
            <a:tailEnd len="med" type="triangle" w="med"/>
          </a:ln>
        </p:spPr>
      </p:cxnSp>
      <p:sp>
        <p:nvSpPr>
          <p:cNvPr id="955" name="Shape 17"/>
          <p:cNvSpPr/>
          <p:nvPr/>
        </p:nvSpPr>
        <p:spPr>
          <a:xfrm>
            <a:off x="3636360" y="261432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en-US" sz="800" strike="noStrike" u="none">
                <a:solidFill>
                  <a:schemeClr val="lt1">
                    <a:lumMod val="65000"/>
                  </a:schemeClr>
                </a:solidFill>
                <a:effectLst/>
                <a:uFillTx/>
                <a:latin typeface="メイリオ"/>
                <a:ea typeface="メイリオ"/>
              </a:rPr>
              <a:t>KW</a:t>
            </a:r>
            <a:r>
              <a:rPr b="0" lang="ja-JP" sz="800" strike="noStrike" u="none">
                <a:solidFill>
                  <a:schemeClr val="lt1">
                    <a:lumMod val="65000"/>
                  </a:schemeClr>
                </a:solidFill>
                <a:effectLst/>
                <a:uFillTx/>
                <a:latin typeface="メイリオ"/>
                <a:ea typeface="メイリオ"/>
              </a:rPr>
              <a:t>自動応答設定</a:t>
            </a:r>
            <a:endParaRPr b="0" lang="en-US" sz="800" strike="noStrike" u="none">
              <a:solidFill>
                <a:srgbClr val="000000"/>
              </a:solidFill>
              <a:effectLst/>
              <a:uFillTx/>
              <a:latin typeface="Arial"/>
            </a:endParaRPr>
          </a:p>
          <a:p>
            <a:pPr defTabSz="914400">
              <a:lnSpc>
                <a:spcPct val="135000"/>
              </a:lnSpc>
            </a:pPr>
            <a:r>
              <a:rPr b="0" lang="en-US" sz="800" strike="noStrike" u="none">
                <a:solidFill>
                  <a:schemeClr val="lt1">
                    <a:lumMod val="65000"/>
                  </a:schemeClr>
                </a:solidFill>
                <a:effectLst/>
                <a:uFillTx/>
                <a:latin typeface="メイリオ"/>
                <a:ea typeface="メイリオ"/>
              </a:rPr>
              <a:t>→ ユーザー意図別に即返信</a:t>
            </a:r>
            <a:endParaRPr b="0" lang="en-US" sz="800" strike="noStrike" u="none">
              <a:solidFill>
                <a:srgbClr val="000000"/>
              </a:solidFill>
              <a:effectLst/>
              <a:uFillTx/>
              <a:latin typeface="Arial"/>
            </a:endParaRPr>
          </a:p>
        </p:txBody>
      </p:sp>
      <p:sp>
        <p:nvSpPr>
          <p:cNvPr id="956" name="Shape 18"/>
          <p:cNvSpPr/>
          <p:nvPr/>
        </p:nvSpPr>
        <p:spPr>
          <a:xfrm>
            <a:off x="5685480" y="261432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ステップ配信（</a:t>
            </a:r>
            <a:r>
              <a:rPr b="0" lang="en-US" sz="800" strike="noStrike" u="none">
                <a:solidFill>
                  <a:schemeClr val="lt1">
                    <a:lumMod val="65000"/>
                  </a:schemeClr>
                </a:solidFill>
                <a:effectLst/>
                <a:uFillTx/>
                <a:latin typeface="メイリオ"/>
                <a:ea typeface="メイリオ"/>
              </a:rPr>
              <a:t>7</a:t>
            </a:r>
            <a:r>
              <a:rPr b="0" lang="ja-JP" sz="800" strike="noStrike" u="none">
                <a:solidFill>
                  <a:schemeClr val="lt1">
                    <a:lumMod val="65000"/>
                  </a:schemeClr>
                </a:solidFill>
                <a:effectLst/>
                <a:uFillTx/>
                <a:latin typeface="メイリオ"/>
                <a:ea typeface="メイリオ"/>
              </a:rPr>
              <a:t>〜</a:t>
            </a:r>
            <a:r>
              <a:rPr b="0" lang="en-US" sz="800" strike="noStrike" u="none">
                <a:solidFill>
                  <a:schemeClr val="lt1">
                    <a:lumMod val="65000"/>
                  </a:schemeClr>
                </a:solidFill>
                <a:effectLst/>
                <a:uFillTx/>
                <a:latin typeface="メイリオ"/>
                <a:ea typeface="メイリオ"/>
              </a:rPr>
              <a:t>14</a:t>
            </a:r>
            <a:r>
              <a:rPr b="0" lang="ja-JP" sz="800" strike="noStrike" u="none">
                <a:solidFill>
                  <a:schemeClr val="lt1">
                    <a:lumMod val="65000"/>
                  </a:schemeClr>
                </a:solidFill>
                <a:effectLst/>
                <a:uFillTx/>
                <a:latin typeface="メイリオ"/>
                <a:ea typeface="メイリオ"/>
              </a:rPr>
              <a:t>通）</a:t>
            </a:r>
            <a:endParaRPr b="0" lang="en-US" sz="800" strike="noStrike" u="none">
              <a:solidFill>
                <a:srgbClr val="000000"/>
              </a:solidFill>
              <a:effectLst/>
              <a:uFillTx/>
              <a:latin typeface="Arial"/>
            </a:endParaRPr>
          </a:p>
          <a:p>
            <a:pPr defTabSz="914400">
              <a:lnSpc>
                <a:spcPct val="135000"/>
              </a:lnSpc>
            </a:pPr>
            <a:r>
              <a:rPr b="0" lang="en-US" sz="800" strike="noStrike" u="none">
                <a:solidFill>
                  <a:schemeClr val="lt1">
                    <a:lumMod val="65000"/>
                  </a:schemeClr>
                </a:solidFill>
                <a:effectLst/>
                <a:uFillTx/>
                <a:latin typeface="メイリオ"/>
                <a:ea typeface="メイリオ"/>
              </a:rPr>
              <a:t>→ 商談・申込への誘導</a:t>
            </a:r>
            <a:endParaRPr b="0" lang="en-US" sz="800" strike="noStrike" u="none">
              <a:solidFill>
                <a:srgbClr val="000000"/>
              </a:solidFill>
              <a:effectLst/>
              <a:uFillTx/>
              <a:latin typeface="Arial"/>
            </a:endParaRPr>
          </a:p>
        </p:txBody>
      </p:sp>
      <p:cxnSp>
        <p:nvCxnSpPr>
          <p:cNvPr id="957" name="直線矢印コネクタ 98"/>
          <p:cNvCxnSpPr>
            <a:stCxn id="955" idx="3"/>
            <a:endCxn id="956" idx="1"/>
          </p:cNvCxnSpPr>
          <p:nvPr/>
        </p:nvCxnSpPr>
        <p:spPr>
          <a:xfrm>
            <a:off x="5399640" y="2847240"/>
            <a:ext cx="286200" cy="360"/>
          </a:xfrm>
          <a:prstGeom prst="straightConnector1">
            <a:avLst/>
          </a:prstGeom>
          <a:ln>
            <a:solidFill>
              <a:srgbClr val="000000"/>
            </a:solidFill>
            <a:prstDash val="sysDot"/>
            <a:round/>
            <a:tailEnd len="med" type="triangle" w="med"/>
          </a:ln>
        </p:spPr>
      </p:cxnSp>
      <p:sp>
        <p:nvSpPr>
          <p:cNvPr id="958" name="テキスト ボックス 102"/>
          <p:cNvSpPr/>
          <p:nvPr/>
        </p:nvSpPr>
        <p:spPr>
          <a:xfrm>
            <a:off x="7693200" y="1562760"/>
            <a:ext cx="1873800" cy="4305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100" strike="noStrike" u="none">
                <a:solidFill>
                  <a:srgbClr val="ff0000"/>
                </a:solidFill>
                <a:effectLst/>
                <a:uFillTx/>
                <a:latin typeface="メイリオ"/>
                <a:ea typeface="メイリオ"/>
              </a:rPr>
              <a:t>CV</a:t>
            </a:r>
            <a:r>
              <a:rPr b="1" lang="ja-JP" sz="1100" strike="noStrike" u="none">
                <a:solidFill>
                  <a:srgbClr val="ff0000"/>
                </a:solidFill>
                <a:effectLst/>
                <a:uFillTx/>
                <a:latin typeface="メイリオ"/>
                <a:ea typeface="メイリオ"/>
              </a:rPr>
              <a:t>するユーザー割合</a:t>
            </a:r>
            <a:endParaRPr b="0" lang="en-US" sz="1100" strike="noStrike" u="none">
              <a:solidFill>
                <a:srgbClr val="000000"/>
              </a:solidFill>
              <a:effectLst/>
              <a:uFillTx/>
              <a:latin typeface="Arial"/>
            </a:endParaRPr>
          </a:p>
          <a:p>
            <a:pPr algn="ctr" defTabSz="914400">
              <a:lnSpc>
                <a:spcPct val="100000"/>
              </a:lnSpc>
            </a:pPr>
            <a:r>
              <a:rPr b="0" lang="en-US" sz="1000" strike="noStrike" u="none">
                <a:solidFill>
                  <a:srgbClr val="ff0000"/>
                </a:solidFill>
                <a:effectLst/>
                <a:uFillTx/>
                <a:latin typeface="メイリオ"/>
                <a:ea typeface="メイリオ"/>
              </a:rPr>
              <a:t>※平均値</a:t>
            </a:r>
            <a:endParaRPr b="0" lang="en-US" sz="1000" strike="noStrike" u="none">
              <a:solidFill>
                <a:srgbClr val="000000"/>
              </a:solidFill>
              <a:effectLst/>
              <a:uFillTx/>
              <a:latin typeface="Arial"/>
            </a:endParaRPr>
          </a:p>
        </p:txBody>
      </p:sp>
      <p:sp>
        <p:nvSpPr>
          <p:cNvPr id="959" name="テキスト ボックス 104"/>
          <p:cNvSpPr/>
          <p:nvPr/>
        </p:nvSpPr>
        <p:spPr>
          <a:xfrm>
            <a:off x="7845120" y="23140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ja-JP" sz="2800" strike="noStrike" u="none">
                <a:solidFill>
                  <a:srgbClr val="ff0000"/>
                </a:solidFill>
                <a:effectLst/>
                <a:uFillTx/>
                <a:latin typeface="メイリオ"/>
                <a:ea typeface="メイリオ"/>
              </a:rPr>
              <a:t>３</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0" name="テキスト ボックス 106"/>
          <p:cNvSpPr/>
          <p:nvPr/>
        </p:nvSpPr>
        <p:spPr>
          <a:xfrm>
            <a:off x="7831080" y="32590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1.5</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1" name="テキスト ボックス 108"/>
          <p:cNvSpPr/>
          <p:nvPr/>
        </p:nvSpPr>
        <p:spPr>
          <a:xfrm>
            <a:off x="7845120" y="39646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2.5</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2" name="テキスト ボックス 110"/>
          <p:cNvSpPr/>
          <p:nvPr/>
        </p:nvSpPr>
        <p:spPr>
          <a:xfrm>
            <a:off x="7831080" y="460476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2.5</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3" name="テキスト ボックス 112"/>
          <p:cNvSpPr/>
          <p:nvPr/>
        </p:nvSpPr>
        <p:spPr>
          <a:xfrm>
            <a:off x="7831080" y="522900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2.5</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4" name="テキスト ボックス 114"/>
          <p:cNvSpPr/>
          <p:nvPr/>
        </p:nvSpPr>
        <p:spPr>
          <a:xfrm>
            <a:off x="7831080" y="58348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2</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5" name="Shape 17"/>
          <p:cNvSpPr/>
          <p:nvPr/>
        </p:nvSpPr>
        <p:spPr>
          <a:xfrm>
            <a:off x="3636360" y="32918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スクリーニングアンケート</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a:t>
            </a:r>
            <a:r>
              <a:rPr b="0" lang="en-US" sz="800" strike="noStrike" u="none">
                <a:solidFill>
                  <a:schemeClr val="lt1">
                    <a:lumMod val="65000"/>
                  </a:schemeClr>
                </a:solidFill>
                <a:effectLst/>
                <a:uFillTx/>
                <a:latin typeface="メイリオ"/>
                <a:ea typeface="メイリオ"/>
              </a:rPr>
              <a:t>3</a:t>
            </a:r>
            <a:r>
              <a:rPr b="0" lang="ja-JP" sz="800" strike="noStrike" u="none">
                <a:solidFill>
                  <a:schemeClr val="lt1">
                    <a:lumMod val="65000"/>
                  </a:schemeClr>
                </a:solidFill>
                <a:effectLst/>
                <a:uFillTx/>
                <a:latin typeface="メイリオ"/>
                <a:ea typeface="メイリオ"/>
              </a:rPr>
              <a:t>問）→ セグメント分類</a:t>
            </a:r>
            <a:endParaRPr b="0" lang="en-US" sz="800" strike="noStrike" u="none">
              <a:solidFill>
                <a:srgbClr val="000000"/>
              </a:solidFill>
              <a:effectLst/>
              <a:uFillTx/>
              <a:latin typeface="Arial"/>
            </a:endParaRPr>
          </a:p>
        </p:txBody>
      </p:sp>
      <p:sp>
        <p:nvSpPr>
          <p:cNvPr id="966" name="Shape 18"/>
          <p:cNvSpPr/>
          <p:nvPr/>
        </p:nvSpPr>
        <p:spPr>
          <a:xfrm>
            <a:off x="5685480" y="32918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セグメント別シナリオ配信</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ホットリード</a:t>
            </a:r>
            <a:r>
              <a:rPr b="0" lang="en-US" sz="800" strike="noStrike" u="none">
                <a:solidFill>
                  <a:schemeClr val="lt1">
                    <a:lumMod val="65000"/>
                  </a:schemeClr>
                </a:solidFill>
                <a:effectLst/>
                <a:uFillTx/>
                <a:latin typeface="メイリオ"/>
                <a:ea typeface="メイリオ"/>
              </a:rPr>
              <a:t>:</a:t>
            </a:r>
            <a:r>
              <a:rPr b="0" lang="ja-JP" sz="800" strike="noStrike" u="none">
                <a:solidFill>
                  <a:schemeClr val="lt1">
                    <a:lumMod val="65000"/>
                  </a:schemeClr>
                </a:solidFill>
                <a:effectLst/>
                <a:uFillTx/>
                <a:latin typeface="メイリオ"/>
                <a:ea typeface="メイリオ"/>
              </a:rPr>
              <a:t>即スタッフ対応</a:t>
            </a:r>
            <a:endParaRPr b="0" lang="en-US" sz="800" strike="noStrike" u="none">
              <a:solidFill>
                <a:srgbClr val="000000"/>
              </a:solidFill>
              <a:effectLst/>
              <a:uFillTx/>
              <a:latin typeface="Arial"/>
            </a:endParaRPr>
          </a:p>
        </p:txBody>
      </p:sp>
      <p:cxnSp>
        <p:nvCxnSpPr>
          <p:cNvPr id="967" name="直線矢印コネクタ 117"/>
          <p:cNvCxnSpPr>
            <a:stCxn id="965" idx="3"/>
            <a:endCxn id="966" idx="1"/>
          </p:cNvCxnSpPr>
          <p:nvPr/>
        </p:nvCxnSpPr>
        <p:spPr>
          <a:xfrm>
            <a:off x="5399640" y="3524760"/>
            <a:ext cx="286200" cy="360"/>
          </a:xfrm>
          <a:prstGeom prst="straightConnector1">
            <a:avLst/>
          </a:prstGeom>
          <a:ln>
            <a:solidFill>
              <a:srgbClr val="000000"/>
            </a:solidFill>
            <a:prstDash val="sysDot"/>
            <a:round/>
            <a:tailEnd len="med" type="triangle" w="med"/>
          </a:ln>
        </p:spPr>
      </p:cxnSp>
      <p:sp>
        <p:nvSpPr>
          <p:cNvPr id="968" name="Shape 17"/>
          <p:cNvSpPr/>
          <p:nvPr/>
        </p:nvSpPr>
        <p:spPr>
          <a:xfrm>
            <a:off x="3636360" y="403272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サンクス自動</a:t>
            </a:r>
            <a:r>
              <a:rPr b="0" lang="en-US" sz="800" strike="noStrike" u="none">
                <a:solidFill>
                  <a:schemeClr val="lt1">
                    <a:lumMod val="65000"/>
                  </a:schemeClr>
                </a:solidFill>
                <a:effectLst/>
                <a:uFillTx/>
                <a:latin typeface="メイリオ"/>
                <a:ea typeface="メイリオ"/>
              </a:rPr>
              <a:t>MSG</a:t>
            </a:r>
            <a:r>
              <a:rPr b="0" lang="ja-JP" sz="800" strike="noStrike" u="none">
                <a:solidFill>
                  <a:schemeClr val="lt1">
                    <a:lumMod val="65000"/>
                  </a:schemeClr>
                </a:solidFill>
                <a:effectLst/>
                <a:uFillTx/>
                <a:latin typeface="メイリオ"/>
                <a:ea typeface="メイリオ"/>
              </a:rPr>
              <a:t>＋</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次のアクション案内</a:t>
            </a:r>
            <a:endParaRPr b="0" lang="en-US" sz="800" strike="noStrike" u="none">
              <a:solidFill>
                <a:srgbClr val="000000"/>
              </a:solidFill>
              <a:effectLst/>
              <a:uFillTx/>
              <a:latin typeface="Arial"/>
            </a:endParaRPr>
          </a:p>
        </p:txBody>
      </p:sp>
      <p:sp>
        <p:nvSpPr>
          <p:cNvPr id="969" name="Shape 18"/>
          <p:cNvSpPr/>
          <p:nvPr/>
        </p:nvSpPr>
        <p:spPr>
          <a:xfrm>
            <a:off x="5685480" y="403272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リマインド配信</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クロスセル・アップセル</a:t>
            </a:r>
            <a:endParaRPr b="0" lang="en-US" sz="800" strike="noStrike" u="none">
              <a:solidFill>
                <a:srgbClr val="000000"/>
              </a:solidFill>
              <a:effectLst/>
              <a:uFillTx/>
              <a:latin typeface="Arial"/>
            </a:endParaRPr>
          </a:p>
        </p:txBody>
      </p:sp>
      <p:cxnSp>
        <p:nvCxnSpPr>
          <p:cNvPr id="970" name="直線矢印コネクタ 120"/>
          <p:cNvCxnSpPr>
            <a:stCxn id="968" idx="3"/>
            <a:endCxn id="969" idx="1"/>
          </p:cNvCxnSpPr>
          <p:nvPr/>
        </p:nvCxnSpPr>
        <p:spPr>
          <a:xfrm>
            <a:off x="5399640" y="4265640"/>
            <a:ext cx="286200" cy="360"/>
          </a:xfrm>
          <a:prstGeom prst="straightConnector1">
            <a:avLst/>
          </a:prstGeom>
          <a:ln>
            <a:solidFill>
              <a:srgbClr val="000000"/>
            </a:solidFill>
            <a:prstDash val="sysDot"/>
            <a:round/>
            <a:tailEnd len="med" type="triangle" w="med"/>
          </a:ln>
        </p:spPr>
      </p:cxnSp>
      <p:sp>
        <p:nvSpPr>
          <p:cNvPr id="971" name="Shape 17"/>
          <p:cNvSpPr/>
          <p:nvPr/>
        </p:nvSpPr>
        <p:spPr>
          <a:xfrm>
            <a:off x="3636360" y="463896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スクリーニング（</a:t>
            </a:r>
            <a:r>
              <a:rPr b="0" lang="en-US" sz="800" strike="noStrike" u="none">
                <a:solidFill>
                  <a:schemeClr val="lt1">
                    <a:lumMod val="65000"/>
                  </a:schemeClr>
                </a:solidFill>
                <a:effectLst/>
                <a:uFillTx/>
                <a:latin typeface="メイリオ"/>
                <a:ea typeface="メイリオ"/>
              </a:rPr>
              <a:t>3</a:t>
            </a:r>
            <a:r>
              <a:rPr b="0" lang="ja-JP" sz="800" strike="noStrike" u="none">
                <a:solidFill>
                  <a:schemeClr val="lt1">
                    <a:lumMod val="65000"/>
                  </a:schemeClr>
                </a:solidFill>
                <a:effectLst/>
                <a:uFillTx/>
                <a:latin typeface="メイリオ"/>
                <a:ea typeface="メイリオ"/>
              </a:rPr>
              <a:t>問）</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温度感・ニーズ把握</a:t>
            </a:r>
            <a:endParaRPr b="0" lang="en-US" sz="800" strike="noStrike" u="none">
              <a:solidFill>
                <a:srgbClr val="000000"/>
              </a:solidFill>
              <a:effectLst/>
              <a:uFillTx/>
              <a:latin typeface="Arial"/>
            </a:endParaRPr>
          </a:p>
        </p:txBody>
      </p:sp>
      <p:sp>
        <p:nvSpPr>
          <p:cNvPr id="972" name="Shape 18"/>
          <p:cNvSpPr/>
          <p:nvPr/>
        </p:nvSpPr>
        <p:spPr>
          <a:xfrm>
            <a:off x="5685480" y="463896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有効リード育成シナリオ</a:t>
            </a:r>
            <a:endParaRPr b="0" lang="en-US" sz="800" strike="noStrike" u="none">
              <a:solidFill>
                <a:srgbClr val="000000"/>
              </a:solidFill>
              <a:effectLst/>
              <a:uFillTx/>
              <a:latin typeface="Arial"/>
            </a:endParaRPr>
          </a:p>
          <a:p>
            <a:pPr defTabSz="914400">
              <a:lnSpc>
                <a:spcPct val="135000"/>
              </a:lnSpc>
            </a:pPr>
            <a:r>
              <a:rPr b="0" lang="en-US" sz="800" strike="noStrike" u="none">
                <a:solidFill>
                  <a:schemeClr val="lt1">
                    <a:lumMod val="65000"/>
                  </a:schemeClr>
                </a:solidFill>
                <a:effectLst/>
                <a:uFillTx/>
                <a:latin typeface="メイリオ"/>
                <a:ea typeface="メイリオ"/>
              </a:rPr>
              <a:t>→ 商談・再購入誘導</a:t>
            </a:r>
            <a:endParaRPr b="0" lang="en-US" sz="800" strike="noStrike" u="none">
              <a:solidFill>
                <a:srgbClr val="000000"/>
              </a:solidFill>
              <a:effectLst/>
              <a:uFillTx/>
              <a:latin typeface="Arial"/>
            </a:endParaRPr>
          </a:p>
        </p:txBody>
      </p:sp>
      <p:cxnSp>
        <p:nvCxnSpPr>
          <p:cNvPr id="973" name="直線矢印コネクタ 123"/>
          <p:cNvCxnSpPr>
            <a:stCxn id="971" idx="3"/>
            <a:endCxn id="972" idx="1"/>
          </p:cNvCxnSpPr>
          <p:nvPr/>
        </p:nvCxnSpPr>
        <p:spPr>
          <a:xfrm>
            <a:off x="5399640" y="4871880"/>
            <a:ext cx="286200" cy="360"/>
          </a:xfrm>
          <a:prstGeom prst="straightConnector1">
            <a:avLst/>
          </a:prstGeom>
          <a:ln>
            <a:solidFill>
              <a:srgbClr val="000000"/>
            </a:solidFill>
            <a:prstDash val="sysDot"/>
            <a:round/>
            <a:tailEnd len="med" type="triangle" w="med"/>
          </a:ln>
        </p:spPr>
      </p:cxnSp>
      <p:sp>
        <p:nvSpPr>
          <p:cNvPr id="974" name="Shape 17"/>
          <p:cNvSpPr/>
          <p:nvPr/>
        </p:nvSpPr>
        <p:spPr>
          <a:xfrm>
            <a:off x="3636360" y="52628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一斉配信でリスト活性化</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アンケートで属性把握</a:t>
            </a:r>
            <a:endParaRPr b="0" lang="en-US" sz="800" strike="noStrike" u="none">
              <a:solidFill>
                <a:srgbClr val="000000"/>
              </a:solidFill>
              <a:effectLst/>
              <a:uFillTx/>
              <a:latin typeface="Arial"/>
            </a:endParaRPr>
          </a:p>
        </p:txBody>
      </p:sp>
      <p:sp>
        <p:nvSpPr>
          <p:cNvPr id="975" name="Shape 18"/>
          <p:cNvSpPr/>
          <p:nvPr/>
        </p:nvSpPr>
        <p:spPr>
          <a:xfrm>
            <a:off x="5685480" y="52628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セグメント別ナーチャリング</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季節・タイミング別企画配信</a:t>
            </a:r>
            <a:endParaRPr b="0" lang="en-US" sz="800" strike="noStrike" u="none">
              <a:solidFill>
                <a:srgbClr val="000000"/>
              </a:solidFill>
              <a:effectLst/>
              <a:uFillTx/>
              <a:latin typeface="Arial"/>
            </a:endParaRPr>
          </a:p>
        </p:txBody>
      </p:sp>
      <p:cxnSp>
        <p:nvCxnSpPr>
          <p:cNvPr id="976" name="直線矢印コネクタ 126"/>
          <p:cNvCxnSpPr>
            <a:stCxn id="974" idx="3"/>
            <a:endCxn id="975" idx="1"/>
          </p:cNvCxnSpPr>
          <p:nvPr/>
        </p:nvCxnSpPr>
        <p:spPr>
          <a:xfrm>
            <a:off x="5399640" y="5495760"/>
            <a:ext cx="286200" cy="360"/>
          </a:xfrm>
          <a:prstGeom prst="straightConnector1">
            <a:avLst/>
          </a:prstGeom>
          <a:ln>
            <a:solidFill>
              <a:srgbClr val="000000"/>
            </a:solidFill>
            <a:prstDash val="sysDot"/>
            <a:round/>
            <a:tailEnd len="med" type="triangle" w="med"/>
          </a:ln>
        </p:spPr>
      </p:cxnSp>
      <p:sp>
        <p:nvSpPr>
          <p:cNvPr id="977" name="Shape 17"/>
          <p:cNvSpPr/>
          <p:nvPr/>
        </p:nvSpPr>
        <p:spPr>
          <a:xfrm>
            <a:off x="3636360" y="58712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en-US" sz="800" strike="noStrike" u="none">
                <a:solidFill>
                  <a:schemeClr val="lt1">
                    <a:lumMod val="65000"/>
                  </a:schemeClr>
                </a:solidFill>
                <a:effectLst/>
                <a:uFillTx/>
                <a:latin typeface="メイリオ"/>
                <a:ea typeface="メイリオ"/>
              </a:rPr>
              <a:t>LINE</a:t>
            </a:r>
            <a:r>
              <a:rPr b="0" lang="ja-JP" sz="800" strike="noStrike" u="none">
                <a:solidFill>
                  <a:schemeClr val="lt1">
                    <a:lumMod val="65000"/>
                  </a:schemeClr>
                </a:solidFill>
                <a:effectLst/>
                <a:uFillTx/>
                <a:latin typeface="メイリオ"/>
                <a:ea typeface="メイリオ"/>
              </a:rPr>
              <a:t>移行キャンペーン</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（特典訴求で友だち追加促進）</a:t>
            </a:r>
            <a:endParaRPr b="0" lang="en-US" sz="800" strike="noStrike" u="none">
              <a:solidFill>
                <a:srgbClr val="000000"/>
              </a:solidFill>
              <a:effectLst/>
              <a:uFillTx/>
              <a:latin typeface="Arial"/>
            </a:endParaRPr>
          </a:p>
        </p:txBody>
      </p:sp>
      <p:sp>
        <p:nvSpPr>
          <p:cNvPr id="978" name="Shape 18"/>
          <p:cNvSpPr/>
          <p:nvPr/>
        </p:nvSpPr>
        <p:spPr>
          <a:xfrm>
            <a:off x="5685480" y="58712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en-US" sz="800" strike="noStrike" u="none">
                <a:solidFill>
                  <a:schemeClr val="lt1">
                    <a:lumMod val="65000"/>
                  </a:schemeClr>
                </a:solidFill>
                <a:effectLst/>
                <a:uFillTx/>
                <a:latin typeface="メイリオ"/>
                <a:ea typeface="メイリオ"/>
              </a:rPr>
              <a:t>LINE</a:t>
            </a:r>
            <a:r>
              <a:rPr b="0" lang="ja-JP" sz="800" strike="noStrike" u="none">
                <a:solidFill>
                  <a:schemeClr val="lt1">
                    <a:lumMod val="65000"/>
                  </a:schemeClr>
                </a:solidFill>
                <a:effectLst/>
                <a:uFillTx/>
                <a:latin typeface="メイリオ"/>
                <a:ea typeface="メイリオ"/>
              </a:rPr>
              <a:t>でリピート率向上</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紹介キャンペーン・</a:t>
            </a:r>
            <a:r>
              <a:rPr b="0" lang="en-US" sz="800" strike="noStrike" u="none">
                <a:solidFill>
                  <a:schemeClr val="lt1">
                    <a:lumMod val="65000"/>
                  </a:schemeClr>
                </a:solidFill>
                <a:effectLst/>
                <a:uFillTx/>
                <a:latin typeface="メイリオ"/>
                <a:ea typeface="メイリオ"/>
              </a:rPr>
              <a:t>LTV</a:t>
            </a:r>
            <a:r>
              <a:rPr b="0" lang="ja-JP" sz="800" strike="noStrike" u="none">
                <a:solidFill>
                  <a:schemeClr val="lt1">
                    <a:lumMod val="65000"/>
                  </a:schemeClr>
                </a:solidFill>
                <a:effectLst/>
                <a:uFillTx/>
                <a:latin typeface="メイリオ"/>
                <a:ea typeface="メイリオ"/>
              </a:rPr>
              <a:t>最大化</a:t>
            </a:r>
            <a:endParaRPr b="0" lang="en-US" sz="800" strike="noStrike" u="none">
              <a:solidFill>
                <a:srgbClr val="000000"/>
              </a:solidFill>
              <a:effectLst/>
              <a:uFillTx/>
              <a:latin typeface="Arial"/>
            </a:endParaRPr>
          </a:p>
        </p:txBody>
      </p:sp>
      <p:cxnSp>
        <p:nvCxnSpPr>
          <p:cNvPr id="979" name="直線矢印コネクタ 129"/>
          <p:cNvCxnSpPr>
            <a:stCxn id="977" idx="3"/>
            <a:endCxn id="978" idx="1"/>
          </p:cNvCxnSpPr>
          <p:nvPr/>
        </p:nvCxnSpPr>
        <p:spPr>
          <a:xfrm>
            <a:off x="5399640" y="6104160"/>
            <a:ext cx="286200" cy="360"/>
          </a:xfrm>
          <a:prstGeom prst="straightConnector1">
            <a:avLst/>
          </a:prstGeom>
          <a:ln>
            <a:solidFill>
              <a:srgbClr val="000000"/>
            </a:solidFill>
            <a:prstDash val="sysDot"/>
            <a:round/>
            <a:tailEnd len="med" type="triangle" w="med"/>
          </a:ln>
        </p:spPr>
      </p:cxn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資料アジェンダ</a:t>
            </a:r>
            <a:endParaRPr b="0" lang="en-US" sz="1600" strike="noStrike" u="none">
              <a:solidFill>
                <a:srgbClr val="000000"/>
              </a:solidFill>
              <a:effectLst/>
              <a:uFillTx/>
              <a:latin typeface="Arial"/>
            </a:endParaRPr>
          </a:p>
        </p:txBody>
      </p:sp>
      <p:sp>
        <p:nvSpPr>
          <p:cNvPr id="981" name="正方形/長方形 1"/>
          <p:cNvSpPr/>
          <p:nvPr/>
        </p:nvSpPr>
        <p:spPr>
          <a:xfrm>
            <a:off x="2808720" y="3038040"/>
            <a:ext cx="428796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ja-JP" sz="3200" strike="noStrike" u="none">
                <a:solidFill>
                  <a:schemeClr val="dk1">
                    <a:lumMod val="75000"/>
                    <a:lumOff val="25000"/>
                  </a:schemeClr>
                </a:solidFill>
                <a:effectLst/>
                <a:uFillTx/>
                <a:latin typeface="メイリオ"/>
                <a:ea typeface="メイリオ"/>
              </a:rPr>
              <a:t>中長期施策として</a:t>
            </a:r>
            <a:r>
              <a:rPr b="1" lang="en-US" sz="3200" strike="noStrike" u="none">
                <a:solidFill>
                  <a:schemeClr val="dk1">
                    <a:lumMod val="75000"/>
                    <a:lumOff val="25000"/>
                  </a:schemeClr>
                </a:solidFill>
                <a:effectLst/>
                <a:uFillTx/>
                <a:latin typeface="メイリオ"/>
                <a:ea typeface="メイリオ"/>
              </a:rPr>
              <a:t>…。</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提供施策について　</a:t>
            </a:r>
            <a:r>
              <a:rPr b="1" lang="en-US" sz="1400" strike="noStrike" u="none">
                <a:solidFill>
                  <a:srgbClr val="ff0000"/>
                </a:solidFill>
                <a:effectLst/>
                <a:uFillTx/>
                <a:latin typeface="メイリオ"/>
                <a:ea typeface="メイリオ"/>
              </a:rPr>
              <a:t>[CRM</a:t>
            </a:r>
            <a:r>
              <a:rPr b="1" lang="ja-JP" sz="1400" strike="noStrike" u="none">
                <a:solidFill>
                  <a:srgbClr val="ff0000"/>
                </a:solidFill>
                <a:effectLst/>
                <a:uFillTx/>
                <a:latin typeface="メイリオ"/>
                <a:ea typeface="メイリオ"/>
              </a:rPr>
              <a:t>及び</a:t>
            </a:r>
            <a:r>
              <a:rPr b="1" lang="en-US" sz="1400" strike="noStrike" u="none">
                <a:solidFill>
                  <a:srgbClr val="ff0000"/>
                </a:solidFill>
                <a:effectLst/>
                <a:uFillTx/>
                <a:latin typeface="メイリオ"/>
                <a:ea typeface="メイリオ"/>
              </a:rPr>
              <a:t>API</a:t>
            </a:r>
            <a:r>
              <a:rPr b="1" lang="ja-JP" sz="1400" strike="noStrike" u="none">
                <a:solidFill>
                  <a:srgbClr val="ff0000"/>
                </a:solidFill>
                <a:effectLst/>
                <a:uFillTx/>
                <a:latin typeface="メイリオ"/>
                <a:ea typeface="メイリオ"/>
              </a:rPr>
              <a:t>ツールとの連携</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rgbClr val="073763"/>
                </a:solidFill>
                <a:effectLst/>
                <a:uFillTx/>
                <a:latin typeface="メイリオ"/>
                <a:ea typeface="メイリオ"/>
              </a:rPr>
              <a:t>「</a:t>
            </a:r>
            <a:r>
              <a:rPr b="0" lang="en-US" sz="1400" strike="noStrike" u="none">
                <a:solidFill>
                  <a:srgbClr val="073763"/>
                </a:solidFill>
                <a:effectLst/>
                <a:uFillTx/>
                <a:latin typeface="メイリオ"/>
                <a:ea typeface="メイリオ"/>
              </a:rPr>
              <a:t>CRM</a:t>
            </a:r>
            <a:r>
              <a:rPr b="0" lang="ja-JP" sz="1400" strike="noStrike" u="none">
                <a:solidFill>
                  <a:srgbClr val="073763"/>
                </a:solidFill>
                <a:effectLst/>
                <a:uFillTx/>
                <a:latin typeface="メイリオ"/>
                <a:ea typeface="メイリオ"/>
              </a:rPr>
              <a:t>側でどんな情報を取りたいか」が重要</a:t>
            </a:r>
            <a:br>
              <a:rPr sz="1400"/>
            </a:br>
            <a:r>
              <a:rPr b="1" lang="ja-JP" sz="1400" strike="noStrike" u="none">
                <a:solidFill>
                  <a:srgbClr val="073763"/>
                </a:solidFill>
                <a:effectLst/>
                <a:uFillTx/>
                <a:latin typeface="メイリオ"/>
                <a:ea typeface="メイリオ"/>
              </a:rPr>
              <a:t>要件定義</a:t>
            </a:r>
            <a:r>
              <a:rPr b="0" lang="ja-JP" sz="1400" strike="noStrike" u="none">
                <a:solidFill>
                  <a:srgbClr val="073763"/>
                </a:solidFill>
                <a:effectLst/>
                <a:uFillTx/>
                <a:latin typeface="メイリオ"/>
                <a:ea typeface="メイリオ"/>
              </a:rPr>
              <a:t>を先にする必要がある</a:t>
            </a:r>
            <a:endParaRPr b="0" lang="en-US" sz="1400" strike="noStrike" u="non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en-US" sz="1200" strike="noStrike" u="none">
                <a:solidFill>
                  <a:schemeClr val="dk1">
                    <a:lumMod val="75000"/>
                    <a:lumOff val="25000"/>
                  </a:schemeClr>
                </a:solidFill>
                <a:effectLst/>
                <a:uFillTx/>
                <a:latin typeface="メイリオ"/>
                <a:ea typeface="メイリオ"/>
              </a:rPr>
              <a:t>▼</a:t>
            </a:r>
            <a:r>
              <a:rPr b="0" lang="en-US" sz="1200" strike="noStrike" u="none">
                <a:solidFill>
                  <a:schemeClr val="dk1">
                    <a:lumMod val="75000"/>
                    <a:lumOff val="25000"/>
                  </a:schemeClr>
                </a:solidFill>
                <a:effectLst/>
                <a:uFillTx/>
                <a:latin typeface="メイリオ"/>
                <a:ea typeface="メイリオ"/>
              </a:rPr>
              <a:t>CRM</a:t>
            </a:r>
            <a:r>
              <a:rPr b="0" lang="ja-JP" sz="1200" strike="noStrike" u="none">
                <a:solidFill>
                  <a:schemeClr val="dk1">
                    <a:lumMod val="75000"/>
                    <a:lumOff val="25000"/>
                  </a:schemeClr>
                </a:solidFill>
                <a:effectLst/>
                <a:uFillTx/>
                <a:latin typeface="メイリオ"/>
                <a:ea typeface="メイリオ"/>
              </a:rPr>
              <a:t>によるセグメント配信の違い</a:t>
            </a:r>
            <a:endParaRPr b="0" lang="en-US" sz="1200" strike="noStrike" u="non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200" strike="noStrike" u="none">
              <a:solidFill>
                <a:schemeClr val="dk1">
                  <a:lumMod val="75000"/>
                  <a:lumOff val="25000"/>
                </a:schemeClr>
              </a:solidFill>
              <a:effectLst/>
              <a:uFillTx/>
              <a:latin typeface="メイリオ"/>
              <a:ea typeface="メイリオ"/>
            </a:endParaRPr>
          </a:p>
        </p:txBody>
      </p:sp>
      <p:pic>
        <p:nvPicPr>
          <p:cNvPr id="986" name="図 5" descr=""/>
          <p:cNvPicPr/>
          <p:nvPr/>
        </p:nvPicPr>
        <p:blipFill>
          <a:blip r:embed="rId1"/>
          <a:stretch/>
        </p:blipFill>
        <p:spPr>
          <a:xfrm>
            <a:off x="767880" y="2097720"/>
            <a:ext cx="1748520" cy="1226520"/>
          </a:xfrm>
          <a:prstGeom prst="rect">
            <a:avLst/>
          </a:prstGeom>
          <a:noFill/>
          <a:ln w="0">
            <a:noFill/>
          </a:ln>
        </p:spPr>
      </p:pic>
      <p:pic>
        <p:nvPicPr>
          <p:cNvPr id="987" name="図 6" descr=""/>
          <p:cNvPicPr/>
          <p:nvPr/>
        </p:nvPicPr>
        <p:blipFill>
          <a:blip r:embed="rId2"/>
          <a:stretch/>
        </p:blipFill>
        <p:spPr>
          <a:xfrm>
            <a:off x="2629440" y="2290320"/>
            <a:ext cx="2165760" cy="762120"/>
          </a:xfrm>
          <a:prstGeom prst="rect">
            <a:avLst/>
          </a:prstGeom>
          <a:noFill/>
          <a:ln w="0">
            <a:noFill/>
          </a:ln>
        </p:spPr>
      </p:pic>
      <p:pic>
        <p:nvPicPr>
          <p:cNvPr id="988" name="図 7" descr=""/>
          <p:cNvPicPr/>
          <p:nvPr/>
        </p:nvPicPr>
        <p:blipFill>
          <a:blip r:embed="rId3"/>
          <a:stretch/>
        </p:blipFill>
        <p:spPr>
          <a:xfrm>
            <a:off x="732600" y="3382560"/>
            <a:ext cx="1896480" cy="592560"/>
          </a:xfrm>
          <a:prstGeom prst="rect">
            <a:avLst/>
          </a:prstGeom>
          <a:noFill/>
          <a:ln w="0">
            <a:noFill/>
          </a:ln>
        </p:spPr>
      </p:pic>
      <p:pic>
        <p:nvPicPr>
          <p:cNvPr id="989" name="図 9" descr=""/>
          <p:cNvPicPr/>
          <p:nvPr/>
        </p:nvPicPr>
        <p:blipFill>
          <a:blip r:embed="rId4"/>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en-US" sz="1200" strike="noStrike" u="none">
                <a:solidFill>
                  <a:schemeClr val="dk1">
                    <a:lumMod val="75000"/>
                    <a:lumOff val="25000"/>
                  </a:schemeClr>
                </a:solidFill>
                <a:effectLst/>
                <a:uFillTx/>
                <a:latin typeface="メイリオ"/>
                <a:ea typeface="メイリオ"/>
              </a:rPr>
              <a:t>▼参考：</a:t>
            </a:r>
            <a:r>
              <a:rPr b="0" lang="en-US" sz="1200" strike="noStrike" u="none">
                <a:solidFill>
                  <a:schemeClr val="dk1">
                    <a:lumMod val="75000"/>
                    <a:lumOff val="25000"/>
                  </a:schemeClr>
                </a:solidFill>
                <a:effectLst/>
                <a:uFillTx/>
                <a:latin typeface="メイリオ"/>
                <a:ea typeface="メイリオ"/>
              </a:rPr>
              <a:t>L</a:t>
            </a:r>
            <a:r>
              <a:rPr b="0" lang="ja-JP" sz="1200" strike="noStrike" u="none">
                <a:solidFill>
                  <a:schemeClr val="dk1">
                    <a:lumMod val="75000"/>
                    <a:lumOff val="25000"/>
                  </a:schemeClr>
                </a:solidFill>
                <a:effectLst/>
                <a:uFillTx/>
                <a:latin typeface="メイリオ"/>
                <a:ea typeface="メイリオ"/>
              </a:rPr>
              <a:t>ステップ</a:t>
            </a:r>
            <a:r>
              <a:rPr b="0" lang="en-US" sz="1200" strike="noStrike" u="none">
                <a:solidFill>
                  <a:schemeClr val="dk1">
                    <a:lumMod val="75000"/>
                    <a:lumOff val="25000"/>
                  </a:schemeClr>
                </a:solidFill>
                <a:effectLst/>
                <a:uFillTx/>
                <a:latin typeface="メイリオ"/>
                <a:ea typeface="メイリオ"/>
              </a:rPr>
              <a:t>API</a:t>
            </a:r>
            <a:r>
              <a:rPr b="0" lang="ja-JP" sz="1200" strike="noStrike" u="none">
                <a:solidFill>
                  <a:schemeClr val="dk1">
                    <a:lumMod val="75000"/>
                    <a:lumOff val="25000"/>
                  </a:schemeClr>
                </a:solidFill>
                <a:effectLst/>
                <a:uFillTx/>
                <a:latin typeface="メイリオ"/>
                <a:ea typeface="メイリオ"/>
              </a:rPr>
              <a:t>連携機能</a:t>
            </a:r>
            <a:endParaRPr b="0" lang="en-US" sz="1200" strike="noStrike" u="none">
              <a:solidFill>
                <a:srgbClr val="000000"/>
              </a:solidFill>
              <a:effectLst/>
              <a:uFillTx/>
              <a:latin typeface="Arial"/>
            </a:endParaRPr>
          </a:p>
        </p:txBody>
      </p:sp>
      <p:pic>
        <p:nvPicPr>
          <p:cNvPr id="992" name="図 12" descr=""/>
          <p:cNvPicPr/>
          <p:nvPr/>
        </p:nvPicPr>
        <p:blipFill>
          <a:blip r:embed="rId5"/>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fillRef idx="0"/>
          <a:effectRef idx="0"/>
          <a:fontRef idx="minor"/>
        </p:style>
        <p:txBody>
          <a:bodyPr anchor="ctr">
            <a:spAutoFit/>
          </a:bodyPr>
          <a:p>
            <a:pPr algn="ctr" defTabSz="914400">
              <a:lnSpc>
                <a:spcPct val="100000"/>
              </a:lnSpc>
            </a:pPr>
            <a:r>
              <a:rPr b="0" lang="en-US" sz="1400" strike="noStrike" u="none">
                <a:solidFill>
                  <a:schemeClr val="dk1"/>
                </a:solidFill>
                <a:effectLst/>
                <a:uFillTx/>
                <a:latin typeface="メイリオ"/>
                <a:ea typeface="メイリオ"/>
              </a:rPr>
              <a:t>CRM</a:t>
            </a:r>
            <a:r>
              <a:rPr b="0" lang="ja-JP" sz="1400" strike="noStrike" u="none">
                <a:solidFill>
                  <a:schemeClr val="dk1"/>
                </a:solidFill>
                <a:effectLst/>
                <a:uFillTx/>
                <a:latin typeface="メイリオ"/>
                <a:ea typeface="メイリオ"/>
              </a:rPr>
              <a:t>、</a:t>
            </a:r>
            <a:r>
              <a:rPr b="0" lang="en-US" sz="1400" strike="noStrike" u="none">
                <a:solidFill>
                  <a:schemeClr val="dk1"/>
                </a:solidFill>
                <a:effectLst/>
                <a:uFillTx/>
                <a:latin typeface="メイリオ"/>
                <a:ea typeface="メイリオ"/>
              </a:rPr>
              <a:t>API</a:t>
            </a:r>
            <a:r>
              <a:rPr b="0" lang="ja-JP" sz="1400" strike="noStrike" u="none">
                <a:solidFill>
                  <a:schemeClr val="dk1"/>
                </a:solidFill>
                <a:effectLst/>
                <a:uFillTx/>
                <a:latin typeface="メイリオ"/>
                <a:ea typeface="メイリオ"/>
              </a:rPr>
              <a:t>ツールで要件定義を行いつつ、効率化及び詳細なセグメント設計を目的として、</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メイリオ"/>
                <a:ea typeface="メイリオ"/>
              </a:rPr>
              <a:t>貴社内の顧客管理（</a:t>
            </a:r>
            <a:r>
              <a:rPr b="0" lang="en-US" sz="1400" strike="noStrike" u="none">
                <a:solidFill>
                  <a:schemeClr val="dk1"/>
                </a:solidFill>
                <a:effectLst/>
                <a:uFillTx/>
                <a:latin typeface="メイリオ"/>
                <a:ea typeface="メイリオ"/>
              </a:rPr>
              <a:t>CRM</a:t>
            </a:r>
            <a:r>
              <a:rPr b="0" lang="ja-JP" sz="1400" strike="noStrike" u="none">
                <a:solidFill>
                  <a:schemeClr val="dk1"/>
                </a:solidFill>
                <a:effectLst/>
                <a:uFillTx/>
                <a:latin typeface="メイリオ"/>
                <a:ea typeface="メイリオ"/>
              </a:rPr>
              <a:t>）ツールとの連携の実施も可能です。</a:t>
            </a:r>
            <a:r>
              <a:rPr b="0" lang="en-US" sz="1100" strike="noStrike" u="none">
                <a:solidFill>
                  <a:srgbClr val="ff0000"/>
                </a:solidFill>
                <a:effectLst/>
                <a:uFillTx/>
                <a:latin typeface="メイリオ"/>
                <a:ea typeface="メイリオ"/>
              </a:rPr>
              <a:t> ※開発は別途費用</a:t>
            </a:r>
            <a:endParaRPr b="0" lang="en-US" sz="1100" strike="noStrike" u="none">
              <a:solidFill>
                <a:srgbClr val="000000"/>
              </a:solidFill>
              <a:effectLst/>
              <a:uFillTx/>
              <a:latin typeface="Arial"/>
            </a:endParaRPr>
          </a:p>
        </p:txBody>
      </p:sp>
      <p:pic>
        <p:nvPicPr>
          <p:cNvPr id="994" name="図 15" descr=""/>
          <p:cNvPicPr/>
          <p:nvPr/>
        </p:nvPicPr>
        <p:blipFill>
          <a:blip r:embed="rId6"/>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en-US" sz="1200" strike="noStrike" u="none">
                <a:solidFill>
                  <a:schemeClr val="dk1">
                    <a:lumMod val="75000"/>
                    <a:lumOff val="25000"/>
                  </a:schemeClr>
                </a:solidFill>
                <a:effectLst/>
                <a:uFillTx/>
                <a:latin typeface="メイリオ"/>
                <a:ea typeface="メイリオ"/>
              </a:rPr>
              <a:t>LINE</a:t>
            </a:r>
            <a:r>
              <a:rPr b="0" lang="ja-JP" sz="1200" strike="noStrike" u="none">
                <a:solidFill>
                  <a:schemeClr val="dk1">
                    <a:lumMod val="75000"/>
                    <a:lumOff val="25000"/>
                  </a:schemeClr>
                </a:solidFill>
                <a:effectLst/>
                <a:uFillTx/>
                <a:latin typeface="メイリオ"/>
                <a:ea typeface="メイリオ"/>
              </a:rPr>
              <a:t>公式と</a:t>
            </a:r>
            <a:r>
              <a:rPr b="0" lang="en-US" sz="1200" strike="noStrike" u="none">
                <a:solidFill>
                  <a:schemeClr val="dk1">
                    <a:lumMod val="75000"/>
                    <a:lumOff val="25000"/>
                  </a:schemeClr>
                </a:solidFill>
                <a:effectLst/>
                <a:uFillTx/>
                <a:latin typeface="メイリオ"/>
                <a:ea typeface="メイリオ"/>
              </a:rPr>
              <a:t>API</a:t>
            </a:r>
            <a:r>
              <a:rPr b="0" lang="ja-JP" sz="1200" strike="noStrike" u="none">
                <a:solidFill>
                  <a:schemeClr val="dk1">
                    <a:lumMod val="75000"/>
                    <a:lumOff val="25000"/>
                  </a:schemeClr>
                </a:solidFill>
                <a:effectLst/>
                <a:uFillTx/>
                <a:latin typeface="メイリオ"/>
                <a:ea typeface="メイリオ"/>
              </a:rPr>
              <a:t>ツール間の</a:t>
            </a:r>
            <a:endParaRPr b="0" lang="en-US" sz="1200" strike="noStrike" u="none">
              <a:solidFill>
                <a:srgbClr val="000000"/>
              </a:solidFill>
              <a:effectLst/>
              <a:uFillTx/>
              <a:latin typeface="Arial"/>
            </a:endParaRPr>
          </a:p>
          <a:p>
            <a:pPr defTabSz="914400">
              <a:lnSpc>
                <a:spcPct val="100000"/>
              </a:lnSpc>
            </a:pPr>
            <a:r>
              <a:rPr b="0" lang="ja-JP" sz="1200" strike="noStrike" u="none">
                <a:solidFill>
                  <a:schemeClr val="dk1">
                    <a:lumMod val="75000"/>
                    <a:lumOff val="25000"/>
                  </a:schemeClr>
                </a:solidFill>
                <a:effectLst/>
                <a:uFillTx/>
                <a:latin typeface="メイリオ"/>
                <a:ea typeface="メイリオ"/>
              </a:rPr>
              <a:t>情報連携</a:t>
            </a:r>
            <a:endParaRPr b="0" lang="en-US" sz="1200" strike="noStrike" u="non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ja-JP" sz="1200" strike="noStrike" u="none">
                <a:solidFill>
                  <a:schemeClr val="dk1">
                    <a:lumMod val="75000"/>
                    <a:lumOff val="25000"/>
                  </a:schemeClr>
                </a:solidFill>
                <a:effectLst/>
                <a:uFillTx/>
                <a:latin typeface="メイリオ"/>
                <a:ea typeface="メイリオ"/>
              </a:rPr>
              <a:t>メッセ送信</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その他 代表的な活用機能</a:t>
            </a:r>
            <a:endParaRPr b="0" lang="en-US" sz="1600" strike="noStrike" u="non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600" strike="noStrike" u="none">
                <a:solidFill>
                  <a:schemeClr val="lt1"/>
                </a:solidFill>
                <a:effectLst/>
                <a:uFillTx/>
                <a:latin typeface="メイリオ"/>
                <a:ea typeface="メイリオ"/>
              </a:rPr>
              <a:t>ミニアプリ</a:t>
            </a:r>
            <a:endParaRPr b="0" lang="en-US" sz="1600" strike="noStrike" u="none">
              <a:solidFill>
                <a:srgbClr val="ffffff"/>
              </a:solidFill>
              <a:effectLst/>
              <a:uFillTx/>
              <a:latin typeface="Arial"/>
            </a:endParaRPr>
          </a:p>
        </p:txBody>
      </p:sp>
      <p:pic>
        <p:nvPicPr>
          <p:cNvPr id="999" name="図 14" descr=""/>
          <p:cNvPicPr/>
          <p:nvPr/>
        </p:nvPicPr>
        <p:blipFill>
          <a:blip r:embed="rId1"/>
          <a:stretch/>
        </p:blipFill>
        <p:spPr>
          <a:xfrm>
            <a:off x="394920" y="4223520"/>
            <a:ext cx="4883400" cy="2255040"/>
          </a:xfrm>
          <a:prstGeom prst="rect">
            <a:avLst/>
          </a:prstGeom>
          <a:noFill/>
          <a:ln w="0">
            <a:noFill/>
          </a:ln>
        </p:spPr>
      </p:pic>
      <p:pic>
        <p:nvPicPr>
          <p:cNvPr id="1000" name="図 15" descr=""/>
          <p:cNvPicPr/>
          <p:nvPr/>
        </p:nvPicPr>
        <p:blipFill>
          <a:blip r:embed="rId2"/>
          <a:stretch/>
        </p:blipFill>
        <p:spPr>
          <a:xfrm>
            <a:off x="5447520" y="4291920"/>
            <a:ext cx="4377240" cy="1962000"/>
          </a:xfrm>
          <a:prstGeom prst="rect">
            <a:avLst/>
          </a:prstGeom>
          <a:noFill/>
          <a:ln w="0">
            <a:noFill/>
          </a:ln>
        </p:spPr>
      </p:pic>
      <p:pic>
        <p:nvPicPr>
          <p:cNvPr id="1001" name="図 16" descr=""/>
          <p:cNvPicPr/>
          <p:nvPr/>
        </p:nvPicPr>
        <p:blipFill>
          <a:blip r:embed="rId3"/>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内で活用できるミニアプリでは、ゲームや抽選といった機能を</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アプリ開発よりも大幅に格安な価格帯で利用できるサービス。</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その他 代表的な活用機能</a:t>
            </a:r>
            <a:endParaRPr b="0" lang="en-US" sz="1600" strike="noStrike" u="non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チャット</a:t>
            </a:r>
            <a:r>
              <a:rPr b="1" lang="en-US" sz="1600" strike="noStrike" u="none">
                <a:solidFill>
                  <a:schemeClr val="dk1">
                    <a:lumMod val="65000"/>
                    <a:lumOff val="35000"/>
                  </a:schemeClr>
                </a:solidFill>
                <a:effectLst/>
                <a:uFillTx/>
                <a:latin typeface="Meiryo"/>
                <a:ea typeface="Meiryo"/>
              </a:rPr>
              <a:t>Plus</a:t>
            </a:r>
            <a:r>
              <a:rPr b="1" lang="ja-JP" sz="1600" strike="noStrike" u="none">
                <a:solidFill>
                  <a:schemeClr val="dk1">
                    <a:lumMod val="65000"/>
                    <a:lumOff val="35000"/>
                  </a:schemeClr>
                </a:solidFill>
                <a:effectLst/>
                <a:uFillTx/>
                <a:latin typeface="Meiryo"/>
                <a:ea typeface="Meiryo"/>
              </a:rPr>
              <a:t>」は、</a:t>
            </a:r>
            <a:r>
              <a:rPr b="1" lang="en-US" sz="1600" strike="noStrike" u="none">
                <a:solidFill>
                  <a:schemeClr val="dk1">
                    <a:lumMod val="65000"/>
                    <a:lumOff val="35000"/>
                  </a:schemeClr>
                </a:solidFill>
                <a:effectLst/>
                <a:uFillTx/>
                <a:latin typeface="Meiryo"/>
                <a:ea typeface="Meiryo"/>
              </a:rPr>
              <a:t>FAQ</a:t>
            </a:r>
            <a:r>
              <a:rPr b="1" lang="ja-JP" sz="1600" strike="noStrike" u="none">
                <a:solidFill>
                  <a:schemeClr val="dk1">
                    <a:lumMod val="65000"/>
                    <a:lumOff val="35000"/>
                  </a:schemeClr>
                </a:solidFill>
                <a:effectLst/>
                <a:uFillTx/>
                <a:latin typeface="Meiryo"/>
                <a:ea typeface="Meiryo"/>
              </a:rPr>
              <a:t>をもとにした</a:t>
            </a:r>
            <a:r>
              <a:rPr b="1" lang="en-US" sz="1600" strike="noStrike" u="none">
                <a:solidFill>
                  <a:schemeClr val="dk1">
                    <a:lumMod val="65000"/>
                    <a:lumOff val="35000"/>
                  </a:schemeClr>
                </a:solidFill>
                <a:effectLst/>
                <a:uFillTx/>
                <a:latin typeface="Meiryo"/>
                <a:ea typeface="Meiryo"/>
              </a:rPr>
              <a:t>AI</a:t>
            </a:r>
            <a:r>
              <a:rPr b="1" lang="ja-JP" sz="1600" strike="noStrike" u="none">
                <a:solidFill>
                  <a:schemeClr val="dk1">
                    <a:lumMod val="65000"/>
                    <a:lumOff val="35000"/>
                  </a:schemeClr>
                </a:solidFill>
                <a:effectLst/>
                <a:uFillTx/>
                <a:latin typeface="Meiryo"/>
                <a:ea typeface="Meiryo"/>
              </a:rPr>
              <a:t>による自動応答や、</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有人でのチャット対応による細かなサポートを可能にするオプション機能。</a:t>
            </a:r>
            <a:endParaRPr b="0" lang="en-US" sz="1600" strike="noStrike" u="non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zh-CN" sz="1600" strike="noStrike" u="none">
                <a:solidFill>
                  <a:schemeClr val="lt1"/>
                </a:solidFill>
                <a:effectLst/>
                <a:uFillTx/>
                <a:latin typeface="メイリオ"/>
                <a:ea typeface="メイリオ"/>
              </a:rPr>
              <a:t>【</a:t>
            </a:r>
            <a:r>
              <a:rPr b="1" lang="en-US" sz="1600" strike="noStrike" u="none">
                <a:solidFill>
                  <a:schemeClr val="lt1"/>
                </a:solidFill>
                <a:effectLst/>
                <a:uFillTx/>
                <a:latin typeface="メイリオ"/>
                <a:ea typeface="メイリオ"/>
              </a:rPr>
              <a:t>LINE</a:t>
            </a:r>
            <a:r>
              <a:rPr b="1" lang="zh-CN" sz="1600" strike="noStrike" u="none">
                <a:solidFill>
                  <a:schemeClr val="lt1"/>
                </a:solidFill>
                <a:effectLst/>
                <a:uFillTx/>
                <a:latin typeface="メイリオ"/>
                <a:ea typeface="メイリオ"/>
              </a:rPr>
              <a:t>】</a:t>
            </a:r>
            <a:r>
              <a:rPr b="1" lang="en-US" sz="1600" strike="noStrike" u="none">
                <a:solidFill>
                  <a:schemeClr val="lt1"/>
                </a:solidFill>
                <a:effectLst/>
                <a:uFillTx/>
                <a:latin typeface="メイリオ"/>
                <a:ea typeface="メイリオ"/>
              </a:rPr>
              <a:t>Chat Plus</a:t>
            </a:r>
            <a:endParaRPr b="0" lang="en-US" sz="1600" strike="noStrike" u="non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pic>
        <p:nvPicPr>
          <p:cNvPr id="1007" name="図 2" descr=""/>
          <p:cNvPicPr/>
          <p:nvPr/>
        </p:nvPicPr>
        <p:blipFill>
          <a:blip r:embed="rId1"/>
          <a:srcRect l="0" t="34311" r="0"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ホームページから気軽にチャットで</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問い合わせができるようになり</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資料請求や商品の購入に繋がる。</a:t>
            </a:r>
            <a:endParaRPr b="0" lang="en-US" sz="1600" strike="noStrike" u="non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ja-JP" sz="1560" strike="noStrike" u="none">
                <a:solidFill>
                  <a:srgbClr val="494848"/>
                </a:solidFill>
                <a:effectLst/>
                <a:uFillTx/>
                <a:latin typeface="メイリオ"/>
                <a:ea typeface="メイリオ"/>
              </a:rPr>
              <a:t>自動応答と有人応答を使い分けることが</a:t>
            </a:r>
            <a:endParaRPr b="0" lang="en-US" sz="1560" strike="noStrike" u="none">
              <a:solidFill>
                <a:srgbClr val="000000"/>
              </a:solidFill>
              <a:effectLst/>
              <a:uFillTx/>
              <a:latin typeface="Arial"/>
            </a:endParaRPr>
          </a:p>
          <a:p>
            <a:pPr defTabSz="914400">
              <a:lnSpc>
                <a:spcPts val="2177"/>
              </a:lnSpc>
            </a:pPr>
            <a:r>
              <a:rPr b="1" lang="ja-JP" sz="1560" strike="noStrike" u="none">
                <a:solidFill>
                  <a:srgbClr val="494848"/>
                </a:solidFill>
                <a:effectLst/>
                <a:uFillTx/>
                <a:latin typeface="メイリオ"/>
                <a:ea typeface="メイリオ"/>
              </a:rPr>
              <a:t>できる</a:t>
            </a:r>
            <a:endParaRPr b="0" lang="en-US" sz="1560" strike="noStrike" u="non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ja-JP" sz="1560" strike="noStrike" u="none">
                <a:solidFill>
                  <a:srgbClr val="494848"/>
                </a:solidFill>
                <a:effectLst/>
                <a:uFillTx/>
                <a:latin typeface="メイリオ"/>
                <a:ea typeface="メイリオ"/>
              </a:rPr>
              <a:t>「訪問者管理機能」により、ホームページに訪れたユーザーを一覧で見ることが可能</a:t>
            </a:r>
            <a:endParaRPr b="0" lang="en-US" sz="1560" strike="noStrike" u="non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ja-JP" sz="1560" strike="noStrike" u="none">
                <a:solidFill>
                  <a:srgbClr val="494848"/>
                </a:solidFill>
                <a:effectLst/>
                <a:uFillTx/>
                <a:latin typeface="メイリオ"/>
                <a:ea typeface="メイリオ"/>
              </a:rPr>
              <a:t>公式</a:t>
            </a:r>
            <a:r>
              <a:rPr b="1" lang="en-US" sz="1560" strike="noStrike" u="none">
                <a:solidFill>
                  <a:srgbClr val="494848"/>
                </a:solidFill>
                <a:effectLst/>
                <a:uFillTx/>
                <a:latin typeface="メイリオ"/>
                <a:ea typeface="メイリオ"/>
              </a:rPr>
              <a:t>LINE</a:t>
            </a:r>
            <a:r>
              <a:rPr b="1" lang="ja-JP" sz="1560" strike="noStrike" u="none">
                <a:solidFill>
                  <a:srgbClr val="494848"/>
                </a:solidFill>
                <a:effectLst/>
                <a:uFillTx/>
                <a:latin typeface="メイリオ"/>
                <a:ea typeface="メイリオ"/>
              </a:rPr>
              <a:t>とチャットボットを連携し</a:t>
            </a:r>
            <a:endParaRPr b="0" lang="en-US" sz="1560" strike="noStrike" u="none">
              <a:solidFill>
                <a:srgbClr val="000000"/>
              </a:solidFill>
              <a:effectLst/>
              <a:uFillTx/>
              <a:latin typeface="Arial"/>
            </a:endParaRPr>
          </a:p>
          <a:p>
            <a:pPr defTabSz="914400">
              <a:lnSpc>
                <a:spcPts val="2177"/>
              </a:lnSpc>
            </a:pPr>
            <a:r>
              <a:rPr b="1" lang="en-US" sz="1560" strike="noStrike" u="none">
                <a:solidFill>
                  <a:srgbClr val="494848"/>
                </a:solidFill>
                <a:effectLst/>
                <a:uFillTx/>
                <a:latin typeface="メイリオ"/>
                <a:ea typeface="メイリオ"/>
              </a:rPr>
              <a:t>LINE</a:t>
            </a:r>
            <a:r>
              <a:rPr b="1" lang="ja-JP" sz="1560" strike="noStrike" u="none">
                <a:solidFill>
                  <a:srgbClr val="494848"/>
                </a:solidFill>
                <a:effectLst/>
                <a:uFillTx/>
                <a:latin typeface="メイリオ"/>
                <a:ea typeface="メイリオ"/>
              </a:rPr>
              <a:t>上でも同じチャットボットを活用</a:t>
            </a:r>
            <a:endParaRPr b="0" lang="en-US" sz="1560" strike="noStrike" u="none">
              <a:solidFill>
                <a:srgbClr val="000000"/>
              </a:solidFill>
              <a:effectLst/>
              <a:uFillTx/>
              <a:latin typeface="Arial"/>
            </a:endParaRPr>
          </a:p>
          <a:p>
            <a:pPr defTabSz="914400">
              <a:lnSpc>
                <a:spcPts val="2177"/>
              </a:lnSpc>
            </a:pPr>
            <a:r>
              <a:rPr b="1" lang="ja-JP" sz="1560" strike="noStrike" u="none">
                <a:solidFill>
                  <a:srgbClr val="494848"/>
                </a:solidFill>
                <a:effectLst/>
                <a:uFillTx/>
                <a:latin typeface="メイリオ"/>
                <a:ea typeface="メイリオ"/>
              </a:rPr>
              <a:t>できる</a:t>
            </a:r>
            <a:endParaRPr b="0" lang="en-US" sz="156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その他 代表的な活用機能</a:t>
            </a:r>
            <a:endParaRPr b="0" lang="en-US" sz="1600" strike="noStrike" u="non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コール</a:t>
            </a:r>
            <a:r>
              <a:rPr b="1" lang="en-US" sz="1600" strike="noStrike" u="none">
                <a:solidFill>
                  <a:schemeClr val="dk1">
                    <a:lumMod val="65000"/>
                    <a:lumOff val="35000"/>
                  </a:schemeClr>
                </a:solidFill>
                <a:effectLst/>
                <a:uFillTx/>
                <a:latin typeface="Meiryo"/>
                <a:ea typeface="Meiryo"/>
              </a:rPr>
              <a:t>Plus</a:t>
            </a:r>
            <a:r>
              <a:rPr b="1" lang="ja-JP" sz="1600" strike="noStrike" u="none">
                <a:solidFill>
                  <a:schemeClr val="dk1">
                    <a:lumMod val="65000"/>
                    <a:lumOff val="35000"/>
                  </a:schemeClr>
                </a:solidFill>
                <a:effectLst/>
                <a:uFillTx/>
                <a:latin typeface="Meiryo"/>
                <a:ea typeface="Meiryo"/>
              </a:rPr>
              <a:t>」は、</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公式アカウントの有料オプション機能で、</a:t>
            </a:r>
            <a:endParaRPr b="0" lang="en-US" sz="1600" strike="noStrike" u="none">
              <a:solidFill>
                <a:srgbClr val="000000"/>
              </a:solidFill>
              <a:effectLst/>
              <a:uFillTx/>
              <a:latin typeface="Arial"/>
            </a:endParaRPr>
          </a:p>
          <a:p>
            <a:pPr defTabSz="914400">
              <a:lnSpc>
                <a:spcPct val="100000"/>
              </a:lnSpc>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公式アカウントからユーザーがカスタマーサポートに電話できるサービス。</a:t>
            </a:r>
            <a:endParaRPr b="0" lang="en-US" sz="1600" strike="noStrike" u="non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zh-CN" sz="1600" strike="noStrike" u="none">
                <a:solidFill>
                  <a:schemeClr val="lt1"/>
                </a:solidFill>
                <a:effectLst/>
                <a:uFillTx/>
                <a:latin typeface="メイリオ"/>
                <a:ea typeface="メイリオ"/>
              </a:rPr>
              <a:t>【</a:t>
            </a:r>
            <a:r>
              <a:rPr b="1" lang="en-US" sz="1600" strike="noStrike" u="none">
                <a:solidFill>
                  <a:schemeClr val="lt1"/>
                </a:solidFill>
                <a:effectLst/>
                <a:uFillTx/>
                <a:latin typeface="メイリオ"/>
                <a:ea typeface="メイリオ"/>
              </a:rPr>
              <a:t>LINE</a:t>
            </a:r>
            <a:r>
              <a:rPr b="1" lang="zh-CN" sz="1600" strike="noStrike" u="none">
                <a:solidFill>
                  <a:schemeClr val="lt1"/>
                </a:solidFill>
                <a:effectLst/>
                <a:uFillTx/>
                <a:latin typeface="メイリオ"/>
                <a:ea typeface="メイリオ"/>
              </a:rPr>
              <a:t>】</a:t>
            </a:r>
            <a:r>
              <a:rPr b="1" lang="en-US" sz="1600" strike="noStrike" u="none">
                <a:solidFill>
                  <a:schemeClr val="lt1"/>
                </a:solidFill>
                <a:effectLst/>
                <a:uFillTx/>
                <a:latin typeface="メイリオ"/>
                <a:ea typeface="メイリオ"/>
              </a:rPr>
              <a:t>Call Plus</a:t>
            </a:r>
            <a:endParaRPr b="0" lang="en-US" sz="1600" strike="noStrike" u="none">
              <a:solidFill>
                <a:srgbClr val="ffffff"/>
              </a:solidFill>
              <a:effectLst/>
              <a:uFillTx/>
              <a:latin typeface="Arial"/>
            </a:endParaRPr>
          </a:p>
        </p:txBody>
      </p:sp>
      <p:pic>
        <p:nvPicPr>
          <p:cNvPr id="1024" name="図 5" descr=""/>
          <p:cNvPicPr/>
          <p:nvPr/>
        </p:nvPicPr>
        <p:blipFill>
          <a:blip r:embed="rId1"/>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000" strike="noStrike" u="none">
                <a:solidFill>
                  <a:schemeClr val="dk1">
                    <a:lumMod val="65000"/>
                    <a:lumOff val="35000"/>
                  </a:schemeClr>
                </a:solidFill>
                <a:effectLst/>
                <a:uFillTx/>
                <a:latin typeface="Meiryo"/>
                <a:ea typeface="Meiryo"/>
              </a:rPr>
              <a:t>引用：</a:t>
            </a:r>
            <a:r>
              <a:rPr b="1" lang="en-US" sz="1000" strike="noStrike" u="none">
                <a:solidFill>
                  <a:schemeClr val="dk1">
                    <a:lumMod val="65000"/>
                    <a:lumOff val="35000"/>
                  </a:schemeClr>
                </a:solidFill>
                <a:effectLst/>
                <a:uFillTx/>
                <a:latin typeface="Meiryo"/>
                <a:ea typeface="Meiryo"/>
              </a:rPr>
              <a:t>https://prtimes.jp/main/html/rd/p/000003920.000001594.html</a:t>
            </a:r>
            <a:endParaRPr b="0" lang="en-US" sz="1000" strike="noStrike" u="non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さらに「</a:t>
            </a:r>
            <a:r>
              <a:rPr b="1" lang="en-US" sz="1600" strike="noStrike" u="none">
                <a:solidFill>
                  <a:schemeClr val="dk1">
                    <a:lumMod val="65000"/>
                    <a:lumOff val="35000"/>
                  </a:schemeClr>
                </a:solidFill>
                <a:effectLst/>
                <a:uFillTx/>
                <a:latin typeface="Meiryo"/>
                <a:ea typeface="Meiryo"/>
              </a:rPr>
              <a:t>LINE Ai Call</a:t>
            </a:r>
            <a:r>
              <a:rPr b="1" lang="ja-JP" sz="1600" strike="noStrike" u="none">
                <a:solidFill>
                  <a:schemeClr val="dk1">
                    <a:lumMod val="65000"/>
                    <a:lumOff val="35000"/>
                  </a:schemeClr>
                </a:solidFill>
                <a:effectLst/>
                <a:uFillTx/>
                <a:latin typeface="Meiryo"/>
                <a:ea typeface="Meiryo"/>
              </a:rPr>
              <a:t>」を活用するとユーザーの要望に対して</a:t>
            </a:r>
            <a:r>
              <a:rPr b="1" lang="en-US" sz="1600" strike="noStrike" u="none">
                <a:solidFill>
                  <a:schemeClr val="dk1">
                    <a:lumMod val="65000"/>
                    <a:lumOff val="35000"/>
                  </a:schemeClr>
                </a:solidFill>
                <a:effectLst/>
                <a:uFillTx/>
                <a:latin typeface="Meiryo"/>
                <a:ea typeface="Meiryo"/>
              </a:rPr>
              <a:t>AI</a:t>
            </a:r>
            <a:r>
              <a:rPr b="1" lang="ja-JP" sz="1600" strike="noStrike" u="none">
                <a:solidFill>
                  <a:schemeClr val="dk1">
                    <a:lumMod val="65000"/>
                    <a:lumOff val="35000"/>
                  </a:schemeClr>
                </a:solidFill>
                <a:effectLst/>
                <a:uFillTx/>
                <a:latin typeface="Meiryo"/>
                <a:ea typeface="Meiryo"/>
              </a:rPr>
              <a:t>による自然な</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対話応答が可能に。要件に応じて</a:t>
            </a:r>
            <a:r>
              <a:rPr b="1" lang="en-US" sz="1600" strike="noStrike" u="none">
                <a:solidFill>
                  <a:schemeClr val="dk1">
                    <a:lumMod val="65000"/>
                    <a:lumOff val="35000"/>
                  </a:schemeClr>
                </a:solidFill>
                <a:effectLst/>
                <a:uFillTx/>
                <a:latin typeface="Meiryo"/>
                <a:ea typeface="Meiryo"/>
              </a:rPr>
              <a:t>Ai</a:t>
            </a:r>
            <a:r>
              <a:rPr b="1" lang="ja-JP" sz="1600" strike="noStrike" u="none">
                <a:solidFill>
                  <a:schemeClr val="dk1">
                    <a:lumMod val="65000"/>
                    <a:lumOff val="35000"/>
                  </a:schemeClr>
                </a:solidFill>
                <a:effectLst/>
                <a:uFillTx/>
                <a:latin typeface="Meiryo"/>
                <a:ea typeface="Meiryo"/>
              </a:rPr>
              <a:t>と有人オペレータの振り分け業務効率化を支援。</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その他 代表的な活用機能</a:t>
            </a:r>
            <a:endParaRPr b="0" lang="en-US" sz="1600" strike="noStrike" u="non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chemeClr val="lt1"/>
                </a:solidFill>
                <a:effectLst/>
                <a:uFillTx/>
                <a:latin typeface="メイリオ"/>
                <a:ea typeface="メイリオ"/>
              </a:rPr>
              <a:t>LINE</a:t>
            </a:r>
            <a:r>
              <a:rPr b="1" lang="ja-JP" sz="1600" strike="noStrike" u="none">
                <a:solidFill>
                  <a:schemeClr val="lt1"/>
                </a:solidFill>
                <a:effectLst/>
                <a:uFillTx/>
                <a:latin typeface="メイリオ"/>
                <a:ea typeface="メイリオ"/>
              </a:rPr>
              <a:t>でログイン</a:t>
            </a:r>
            <a:endParaRPr b="0" lang="en-US" sz="1600" strike="noStrike" u="non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000" strike="noStrike" u="none">
                <a:solidFill>
                  <a:schemeClr val="dk1">
                    <a:lumMod val="65000"/>
                    <a:lumOff val="35000"/>
                  </a:schemeClr>
                </a:solidFill>
                <a:effectLst/>
                <a:uFillTx/>
                <a:latin typeface="Meiryo"/>
                <a:ea typeface="Meiryo"/>
              </a:rPr>
              <a:t>引用：</a:t>
            </a:r>
            <a:r>
              <a:rPr b="1" lang="en-US" sz="1000" strike="noStrike" u="none">
                <a:solidFill>
                  <a:schemeClr val="dk1">
                    <a:lumMod val="65000"/>
                    <a:lumOff val="35000"/>
                  </a:schemeClr>
                </a:solidFill>
                <a:effectLst/>
                <a:uFillTx/>
                <a:latin typeface="Meiryo"/>
                <a:ea typeface="Meiryo"/>
              </a:rPr>
              <a:t>https://prtimes.jp/main/html/rd/p/000003920.000001594.html</a:t>
            </a:r>
            <a:endParaRPr b="0" lang="en-US" sz="1000" strike="noStrike" u="none">
              <a:solidFill>
                <a:srgbClr val="000000"/>
              </a:solidFill>
              <a:effectLst/>
              <a:uFillTx/>
              <a:latin typeface="Arial"/>
            </a:endParaRPr>
          </a:p>
        </p:txBody>
      </p:sp>
      <p:pic>
        <p:nvPicPr>
          <p:cNvPr id="1031" name="図 2" descr=""/>
          <p:cNvPicPr/>
          <p:nvPr/>
        </p:nvPicPr>
        <p:blipFill>
          <a:blip r:embed="rId1"/>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でログイン」は、</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上のユーザー情報を活用して</a:t>
            </a:r>
            <a:r>
              <a:rPr b="1" lang="en-US" sz="1600" strike="noStrike" u="none">
                <a:solidFill>
                  <a:schemeClr val="dk1">
                    <a:lumMod val="65000"/>
                    <a:lumOff val="35000"/>
                  </a:schemeClr>
                </a:solidFill>
                <a:effectLst/>
                <a:uFillTx/>
                <a:latin typeface="Meiryo"/>
                <a:ea typeface="Meiryo"/>
              </a:rPr>
              <a:t>WEB</a:t>
            </a:r>
            <a:r>
              <a:rPr b="1" lang="ja-JP" sz="1600" strike="noStrike" u="none">
                <a:solidFill>
                  <a:schemeClr val="dk1">
                    <a:lumMod val="65000"/>
                    <a:lumOff val="35000"/>
                  </a:schemeClr>
                </a:solidFill>
                <a:effectLst/>
                <a:uFillTx/>
                <a:latin typeface="Meiryo"/>
                <a:ea typeface="Meiryo"/>
              </a:rPr>
              <a:t>サイト登録が出来る仕組み。</a:t>
            </a:r>
            <a:endParaRPr b="0" lang="en-US" sz="1600" strike="noStrike" u="none">
              <a:solidFill>
                <a:srgbClr val="000000"/>
              </a:solidFill>
              <a:effectLst/>
              <a:uFillTx/>
              <a:latin typeface="Arial"/>
            </a:endParaRPr>
          </a:p>
          <a:p>
            <a:pPr defTabSz="914400">
              <a:lnSpc>
                <a:spcPct val="100000"/>
              </a:lnSpc>
            </a:pPr>
            <a:r>
              <a:rPr b="1" lang="en-US" sz="1600" strike="noStrike" u="none">
                <a:solidFill>
                  <a:schemeClr val="dk1">
                    <a:lumMod val="65000"/>
                    <a:lumOff val="35000"/>
                  </a:schemeClr>
                </a:solidFill>
                <a:effectLst/>
                <a:uFillTx/>
                <a:latin typeface="Meiryo"/>
                <a:ea typeface="Meiryo"/>
              </a:rPr>
              <a:t>ID</a:t>
            </a:r>
            <a:r>
              <a:rPr b="1" lang="ja-JP" sz="1600" strike="noStrike" u="none">
                <a:solidFill>
                  <a:schemeClr val="dk1">
                    <a:lumMod val="65000"/>
                    <a:lumOff val="35000"/>
                  </a:schemeClr>
                </a:solidFill>
                <a:effectLst/>
                <a:uFillTx/>
                <a:latin typeface="Meiryo"/>
                <a:ea typeface="Meiryo"/>
              </a:rPr>
              <a:t>連携を完了することにより、サービス</a:t>
            </a:r>
            <a:r>
              <a:rPr b="1" lang="en-US" sz="1600" strike="noStrike" u="none">
                <a:solidFill>
                  <a:schemeClr val="dk1">
                    <a:lumMod val="65000"/>
                    <a:lumOff val="35000"/>
                  </a:schemeClr>
                </a:solidFill>
                <a:effectLst/>
                <a:uFillTx/>
                <a:latin typeface="Meiryo"/>
                <a:ea typeface="Meiryo"/>
              </a:rPr>
              <a:t>(WEB) ⇔ LINE </a:t>
            </a:r>
            <a:r>
              <a:rPr b="1" lang="ja-JP" sz="1600" strike="noStrike" u="none">
                <a:solidFill>
                  <a:schemeClr val="dk1">
                    <a:lumMod val="65000"/>
                    <a:lumOff val="35000"/>
                  </a:schemeClr>
                </a:solidFill>
                <a:effectLst/>
                <a:uFillTx/>
                <a:latin typeface="Meiryo"/>
                <a:ea typeface="Meiryo"/>
              </a:rPr>
              <a:t>での効果的なメッセージが可能に。</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提供施策について</a:t>
            </a:r>
            <a:endParaRPr b="0" lang="en-US" sz="1600" strike="noStrike" u="non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オフライン動線</a:t>
            </a:r>
            <a:endParaRPr b="0" lang="en-US" sz="2000" strike="noStrike" u="none">
              <a:solidFill>
                <a:srgbClr val="000000"/>
              </a:solidFill>
              <a:effectLst/>
              <a:uFillTx/>
              <a:latin typeface="Arial"/>
            </a:endParaRPr>
          </a:p>
          <a:p>
            <a:pPr algn="ctr" defTabSz="914400">
              <a:lnSpc>
                <a:spcPct val="100000"/>
              </a:lnSpc>
            </a:pPr>
            <a:r>
              <a:rPr b="1" lang="ja-JP" sz="1400" strike="noStrike" u="none">
                <a:solidFill>
                  <a:srgbClr val="002060"/>
                </a:solidFill>
                <a:effectLst/>
                <a:uFillTx/>
                <a:latin typeface="Meiryo"/>
                <a:ea typeface="Meiryo"/>
              </a:rPr>
              <a:t>ニュースリリース等</a:t>
            </a:r>
            <a:endParaRPr b="0" lang="en-US" sz="1400" strike="noStrike" u="non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en-US" sz="2000" strike="noStrike" u="none">
                <a:solidFill>
                  <a:srgbClr val="002060"/>
                </a:solidFill>
                <a:effectLst/>
                <a:uFillTx/>
                <a:latin typeface="Meiryo"/>
                <a:ea typeface="Meiryo"/>
              </a:rPr>
              <a:t>WEB</a:t>
            </a:r>
            <a:r>
              <a:rPr b="1" lang="ja-JP" sz="2000" strike="noStrike" u="none">
                <a:solidFill>
                  <a:srgbClr val="002060"/>
                </a:solidFill>
                <a:effectLst/>
                <a:uFillTx/>
                <a:latin typeface="Meiryo"/>
                <a:ea typeface="Meiryo"/>
              </a:rPr>
              <a:t>サイト動線整備</a:t>
            </a:r>
            <a:endParaRPr b="0" lang="en-US" sz="2000" strike="noStrike" u="non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友だち紹介</a:t>
            </a:r>
            <a:endParaRPr b="0" lang="en-US" sz="2000" strike="noStrike" u="none">
              <a:solidFill>
                <a:srgbClr val="000000"/>
              </a:solidFill>
              <a:effectLst/>
              <a:uFillTx/>
              <a:latin typeface="Arial"/>
            </a:endParaRPr>
          </a:p>
          <a:p>
            <a:pPr algn="ctr" defTabSz="914400">
              <a:lnSpc>
                <a:spcPct val="100000"/>
              </a:lnSpc>
            </a:pPr>
            <a:r>
              <a:rPr b="1" lang="ja-JP" sz="1200" strike="noStrike" u="none">
                <a:solidFill>
                  <a:srgbClr val="002060"/>
                </a:solidFill>
                <a:effectLst/>
                <a:uFillTx/>
                <a:latin typeface="Meiryo"/>
                <a:ea typeface="Meiryo"/>
              </a:rPr>
              <a:t>（</a:t>
            </a:r>
            <a:r>
              <a:rPr b="1" lang="en-US" sz="1200" strike="noStrike" u="none">
                <a:solidFill>
                  <a:srgbClr val="002060"/>
                </a:solidFill>
                <a:effectLst/>
                <a:uFillTx/>
                <a:latin typeface="Meiryo"/>
                <a:ea typeface="Meiryo"/>
              </a:rPr>
              <a:t>LINE</a:t>
            </a:r>
            <a:r>
              <a:rPr b="1" lang="ja-JP" sz="1200" strike="noStrike" u="none">
                <a:solidFill>
                  <a:srgbClr val="002060"/>
                </a:solidFill>
                <a:effectLst/>
                <a:uFillTx/>
                <a:latin typeface="Meiryo"/>
                <a:ea typeface="Meiryo"/>
              </a:rPr>
              <a:t>ポイントコネクト）</a:t>
            </a:r>
            <a:endParaRPr b="0" lang="en-US" sz="1200" strike="noStrike" u="non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en-US" sz="2000" strike="noStrike" u="none">
                <a:solidFill>
                  <a:srgbClr val="002060"/>
                </a:solidFill>
                <a:effectLst/>
                <a:uFillTx/>
                <a:latin typeface="Meiryo"/>
                <a:ea typeface="Meiryo"/>
              </a:rPr>
              <a:t>LINE</a:t>
            </a:r>
            <a:r>
              <a:rPr b="1" lang="ja-JP" sz="2000" strike="noStrike" u="none">
                <a:solidFill>
                  <a:srgbClr val="002060"/>
                </a:solidFill>
                <a:effectLst/>
                <a:uFillTx/>
                <a:latin typeface="Meiryo"/>
                <a:ea typeface="Meiryo"/>
              </a:rPr>
              <a:t>ポイント</a:t>
            </a:r>
            <a:r>
              <a:rPr b="1" lang="en-US" sz="2000" strike="noStrike" u="none">
                <a:solidFill>
                  <a:srgbClr val="002060"/>
                </a:solidFill>
                <a:effectLst/>
                <a:uFillTx/>
                <a:latin typeface="Meiryo"/>
                <a:ea typeface="Meiryo"/>
              </a:rPr>
              <a:t>Ads</a:t>
            </a:r>
            <a:endParaRPr b="0" lang="en-US" sz="2000" strike="noStrike" u="non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スタンプ施策</a:t>
            </a:r>
            <a:endParaRPr b="0" lang="en-US" sz="2000" strike="noStrike" u="non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en-US" sz="2000" strike="noStrike" u="none">
                <a:solidFill>
                  <a:srgbClr val="002060"/>
                </a:solidFill>
                <a:effectLst/>
                <a:uFillTx/>
                <a:latin typeface="Meiryo"/>
                <a:ea typeface="Meiryo"/>
              </a:rPr>
              <a:t>CPF</a:t>
            </a:r>
            <a:r>
              <a:rPr b="1" lang="ja-JP" sz="2000" strike="noStrike" u="none">
                <a:solidFill>
                  <a:srgbClr val="002060"/>
                </a:solidFill>
                <a:effectLst/>
                <a:uFillTx/>
                <a:latin typeface="Meiryo"/>
                <a:ea typeface="Meiryo"/>
              </a:rPr>
              <a:t>広告</a:t>
            </a:r>
            <a:endParaRPr b="0" lang="en-US" sz="2000" strike="noStrike" u="non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600" strike="noStrike" u="none">
                <a:solidFill>
                  <a:schemeClr val="dk1"/>
                </a:solidFill>
                <a:effectLst/>
                <a:uFillTx/>
                <a:latin typeface="Meiryo"/>
                <a:ea typeface="Meiryo"/>
              </a:rPr>
              <a:t>コンサル発注</a:t>
            </a:r>
            <a:r>
              <a:rPr b="0" lang="ja-JP" sz="1200" strike="noStrike" u="none">
                <a:solidFill>
                  <a:schemeClr val="dk1"/>
                </a:solidFill>
                <a:effectLst/>
                <a:uFillTx/>
                <a:latin typeface="Meiryo"/>
                <a:ea typeface="Meiryo"/>
              </a:rPr>
              <a:t>であれば </a:t>
            </a:r>
            <a:r>
              <a:rPr b="1" lang="ja-JP" sz="1800" strike="noStrike" u="none">
                <a:solidFill>
                  <a:srgbClr val="ff0000"/>
                </a:solidFill>
                <a:effectLst/>
                <a:uFillTx/>
                <a:latin typeface="Meiryo"/>
                <a:ea typeface="Meiryo"/>
              </a:rPr>
              <a:t>無償</a:t>
            </a:r>
            <a:endParaRPr b="0" lang="en-US" sz="1800" strike="noStrike" u="non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600" strike="noStrike" u="none">
                <a:solidFill>
                  <a:schemeClr val="dk1"/>
                </a:solidFill>
                <a:effectLst/>
                <a:uFillTx/>
                <a:latin typeface="Meiryo"/>
                <a:ea typeface="Meiryo"/>
              </a:rPr>
              <a:t>コンサル発注</a:t>
            </a:r>
            <a:r>
              <a:rPr b="0" lang="ja-JP" sz="1200" strike="noStrike" u="none">
                <a:solidFill>
                  <a:schemeClr val="dk1"/>
                </a:solidFill>
                <a:effectLst/>
                <a:uFillTx/>
                <a:latin typeface="Meiryo"/>
                <a:ea typeface="Meiryo"/>
              </a:rPr>
              <a:t>であれば </a:t>
            </a:r>
            <a:r>
              <a:rPr b="1" lang="ja-JP" sz="1800" strike="noStrike" u="none">
                <a:solidFill>
                  <a:srgbClr val="ff0000"/>
                </a:solidFill>
                <a:effectLst/>
                <a:uFillTx/>
                <a:latin typeface="Meiryo"/>
                <a:ea typeface="Meiryo"/>
              </a:rPr>
              <a:t>無償</a:t>
            </a:r>
            <a:endParaRPr b="0" lang="en-US" sz="1800" strike="noStrike" u="non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800" strike="noStrike" u="none">
                <a:solidFill>
                  <a:schemeClr val="dk1">
                    <a:lumMod val="50000"/>
                    <a:lumOff val="50000"/>
                  </a:schemeClr>
                </a:solidFill>
                <a:effectLst/>
                <a:uFillTx/>
                <a:latin typeface="Meiryo"/>
                <a:ea typeface="Meiryo"/>
              </a:rPr>
              <a:t>サービス停止中</a:t>
            </a:r>
            <a:endParaRPr b="0" lang="en-US" sz="1800" strike="noStrike" u="non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2000" strike="noStrike" u="none">
                <a:solidFill>
                  <a:srgbClr val="ff0000"/>
                </a:solidFill>
                <a:effectLst/>
                <a:uFillTx/>
                <a:latin typeface="Meiryo"/>
                <a:ea typeface="Meiryo"/>
              </a:rPr>
              <a:t>200</a:t>
            </a:r>
            <a:r>
              <a:rPr b="1" lang="ja-JP" sz="2000" strike="noStrike" u="none">
                <a:solidFill>
                  <a:srgbClr val="ff0000"/>
                </a:solidFill>
                <a:effectLst/>
                <a:uFillTx/>
                <a:latin typeface="Meiryo"/>
                <a:ea typeface="Meiryo"/>
              </a:rPr>
              <a:t>万円</a:t>
            </a:r>
            <a:r>
              <a:rPr b="1" lang="en-US" sz="2000" strike="noStrike" u="none">
                <a:solidFill>
                  <a:srgbClr val="ff0000"/>
                </a:solidFill>
                <a:effectLst/>
                <a:uFillTx/>
                <a:latin typeface="Meiryo"/>
                <a:ea typeface="Meiryo"/>
              </a:rPr>
              <a:t>~</a:t>
            </a:r>
            <a:r>
              <a:rPr b="0" lang="ja-JP" sz="1200" strike="noStrike" u="none">
                <a:solidFill>
                  <a:schemeClr val="dk1"/>
                </a:solidFill>
                <a:effectLst/>
                <a:uFillTx/>
                <a:latin typeface="Meiryo"/>
                <a:ea typeface="Meiryo"/>
              </a:rPr>
              <a:t>（期間合計）</a:t>
            </a:r>
            <a:endParaRPr b="0" lang="en-US" sz="1200" strike="noStrike" u="non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2000" strike="noStrike" u="none">
                <a:solidFill>
                  <a:srgbClr val="ff0000"/>
                </a:solidFill>
                <a:effectLst/>
                <a:uFillTx/>
                <a:latin typeface="Meiryo"/>
                <a:ea typeface="Meiryo"/>
              </a:rPr>
              <a:t>200</a:t>
            </a:r>
            <a:r>
              <a:rPr b="1" lang="ja-JP" sz="2000" strike="noStrike" u="none">
                <a:solidFill>
                  <a:srgbClr val="ff0000"/>
                </a:solidFill>
                <a:effectLst/>
                <a:uFillTx/>
                <a:latin typeface="Meiryo"/>
                <a:ea typeface="Meiryo"/>
              </a:rPr>
              <a:t>万円</a:t>
            </a:r>
            <a:r>
              <a:rPr b="1" lang="en-US" sz="2000" strike="noStrike" u="none">
                <a:solidFill>
                  <a:srgbClr val="ff0000"/>
                </a:solidFill>
                <a:effectLst/>
                <a:uFillTx/>
                <a:latin typeface="Meiryo"/>
                <a:ea typeface="Meiryo"/>
              </a:rPr>
              <a:t>~</a:t>
            </a:r>
            <a:r>
              <a:rPr b="0" lang="ja-JP" sz="1200" strike="noStrike" u="none">
                <a:solidFill>
                  <a:schemeClr val="dk1"/>
                </a:solidFill>
                <a:effectLst/>
                <a:uFillTx/>
                <a:latin typeface="Meiryo"/>
                <a:ea typeface="Meiryo"/>
              </a:rPr>
              <a:t>（期間合計）</a:t>
            </a:r>
            <a:endParaRPr b="0" lang="en-US" sz="1200" strike="noStrike" u="non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2000" strike="noStrike" u="none">
                <a:solidFill>
                  <a:srgbClr val="ff0000"/>
                </a:solidFill>
                <a:effectLst/>
                <a:uFillTx/>
                <a:latin typeface="Meiryo"/>
                <a:ea typeface="Meiryo"/>
              </a:rPr>
              <a:t>20</a:t>
            </a:r>
            <a:r>
              <a:rPr b="1" lang="ja-JP" sz="2000" strike="noStrike" u="none">
                <a:solidFill>
                  <a:srgbClr val="ff0000"/>
                </a:solidFill>
                <a:effectLst/>
                <a:uFillTx/>
                <a:latin typeface="Meiryo"/>
                <a:ea typeface="Meiryo"/>
              </a:rPr>
              <a:t>万円</a:t>
            </a:r>
            <a:r>
              <a:rPr b="1" lang="en-US" sz="2000" strike="noStrike" u="none">
                <a:solidFill>
                  <a:srgbClr val="ff0000"/>
                </a:solidFill>
                <a:effectLst/>
                <a:uFillTx/>
                <a:latin typeface="Meiryo"/>
                <a:ea typeface="Meiryo"/>
              </a:rPr>
              <a:t>~</a:t>
            </a:r>
            <a:r>
              <a:rPr b="0" lang="ja-JP" sz="1200" strike="noStrike" u="none">
                <a:solidFill>
                  <a:schemeClr val="dk1"/>
                </a:solidFill>
                <a:effectLst/>
                <a:uFillTx/>
                <a:latin typeface="Meiryo"/>
                <a:ea typeface="Meiryo"/>
              </a:rPr>
              <a:t>（</a:t>
            </a:r>
            <a:r>
              <a:rPr b="0" lang="en-US" sz="1200" strike="noStrike" u="none">
                <a:solidFill>
                  <a:schemeClr val="dk1"/>
                </a:solidFill>
                <a:effectLst/>
                <a:uFillTx/>
                <a:latin typeface="Meiryo"/>
                <a:ea typeface="Meiryo"/>
              </a:rPr>
              <a:t>1</a:t>
            </a:r>
            <a:r>
              <a:rPr b="0" lang="ja-JP" sz="1200" strike="noStrike" u="none">
                <a:solidFill>
                  <a:schemeClr val="dk1"/>
                </a:solidFill>
                <a:effectLst/>
                <a:uFillTx/>
                <a:latin typeface="Meiryo"/>
                <a:ea typeface="Meiryo"/>
              </a:rPr>
              <a:t>ヶ月</a:t>
            </a:r>
            <a:r>
              <a:rPr b="0" lang="en-US" sz="1200" strike="noStrike" u="none">
                <a:solidFill>
                  <a:schemeClr val="dk1"/>
                </a:solidFill>
                <a:effectLst/>
                <a:uFillTx/>
                <a:latin typeface="Meiryo"/>
                <a:ea typeface="Meiryo"/>
              </a:rPr>
              <a:t>~</a:t>
            </a:r>
            <a:r>
              <a:rPr b="0" lang="ja-JP" sz="1200" strike="noStrike" u="none">
                <a:solidFill>
                  <a:schemeClr val="dk1"/>
                </a:solidFill>
                <a:effectLst/>
                <a:uFillTx/>
                <a:latin typeface="Meiryo"/>
                <a:ea typeface="Meiryo"/>
              </a:rPr>
              <a:t>）</a:t>
            </a:r>
            <a:endParaRPr b="0" lang="en-US" sz="1200" strike="noStrike" u="non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600" strike="noStrike" u="none">
                <a:solidFill>
                  <a:schemeClr val="dk1">
                    <a:lumMod val="65000"/>
                    <a:lumOff val="35000"/>
                  </a:schemeClr>
                </a:solidFill>
                <a:effectLst/>
                <a:uFillTx/>
                <a:latin typeface="Meiryo"/>
                <a:ea typeface="Meiryo"/>
              </a:rPr>
              <a:t>各拡張施策についても</a:t>
            </a:r>
            <a:r>
              <a:rPr b="1" lang="en-US" sz="1600" strike="noStrike" u="none">
                <a:solidFill>
                  <a:schemeClr val="dk1">
                    <a:lumMod val="65000"/>
                    <a:lumOff val="35000"/>
                  </a:schemeClr>
                </a:solidFill>
                <a:effectLst/>
                <a:uFillTx/>
                <a:latin typeface="Meiryo"/>
                <a:ea typeface="Meiryo"/>
              </a:rPr>
              <a:t>MIN</a:t>
            </a:r>
            <a:r>
              <a:rPr b="1" lang="ja-JP" sz="1600" strike="noStrike" u="none">
                <a:solidFill>
                  <a:schemeClr val="dk1">
                    <a:lumMod val="65000"/>
                    <a:lumOff val="35000"/>
                  </a:schemeClr>
                </a:solidFill>
                <a:effectLst/>
                <a:uFillTx/>
                <a:latin typeface="Meiryo"/>
                <a:ea typeface="Meiryo"/>
              </a:rPr>
              <a:t>金額からの発注、動線設計が可能です。</a:t>
            </a:r>
            <a:endParaRPr b="0" lang="en-US" sz="1600" strike="noStrike" u="none">
              <a:solidFill>
                <a:srgbClr val="000000"/>
              </a:solidFill>
              <a:effectLst/>
              <a:uFillTx/>
              <a:latin typeface="Arial"/>
            </a:endParaRPr>
          </a:p>
          <a:p>
            <a:pPr algn="ctr" defTabSz="914400">
              <a:lnSpc>
                <a:spcPct val="100000"/>
              </a:lnSpc>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友だち追加後の動線設計（特に友だち追加後すぐ）の検証後の拡大施策として用意。</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提供施策について</a:t>
            </a:r>
            <a:endParaRPr b="0" lang="en-US" sz="1600" strike="noStrike" u="none">
              <a:solidFill>
                <a:srgbClr val="000000"/>
              </a:solidFill>
              <a:effectLst/>
              <a:uFillTx/>
              <a:latin typeface="Arial"/>
            </a:endParaRPr>
          </a:p>
        </p:txBody>
      </p:sp>
      <p:pic>
        <p:nvPicPr>
          <p:cNvPr id="1060" name="図 51" descr=""/>
          <p:cNvPicPr/>
          <p:nvPr/>
        </p:nvPicPr>
        <p:blipFill>
          <a:blip r:embed="rId1"/>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chemeClr val="lt1"/>
                </a:solidFill>
                <a:effectLst/>
                <a:uFillTx/>
                <a:latin typeface="メイリオ"/>
                <a:ea typeface="メイリオ"/>
              </a:rPr>
              <a:t>LINE</a:t>
            </a:r>
            <a:r>
              <a:rPr b="1" lang="ja-JP" sz="1600" strike="noStrike" u="none">
                <a:solidFill>
                  <a:schemeClr val="lt1"/>
                </a:solidFill>
                <a:effectLst/>
                <a:uFillTx/>
                <a:latin typeface="メイリオ"/>
                <a:ea typeface="メイリオ"/>
              </a:rPr>
              <a:t>広告</a:t>
            </a:r>
            <a:r>
              <a:rPr b="1" lang="ja-JP" sz="1200" strike="noStrike" u="none">
                <a:solidFill>
                  <a:schemeClr val="lt1"/>
                </a:solidFill>
                <a:effectLst/>
                <a:uFillTx/>
                <a:latin typeface="メイリオ"/>
                <a:ea typeface="メイリオ"/>
              </a:rPr>
              <a:t>（友だち追加）</a:t>
            </a:r>
            <a:endParaRPr b="0" lang="en-US" sz="1200" strike="noStrike" u="none">
              <a:solidFill>
                <a:srgbClr val="ffffff"/>
              </a:solidFill>
              <a:effectLst/>
              <a:uFillTx/>
              <a:latin typeface="Arial"/>
            </a:endParaRPr>
          </a:p>
          <a:p>
            <a:pPr algn="ctr" defTabSz="914400">
              <a:lnSpc>
                <a:spcPct val="100000"/>
              </a:lnSpc>
            </a:pPr>
            <a:r>
              <a:rPr b="1" lang="en-US" sz="1200" strike="noStrike" u="none">
                <a:solidFill>
                  <a:srgbClr val="ffff00"/>
                </a:solidFill>
                <a:effectLst/>
                <a:uFillTx/>
                <a:latin typeface="メイリオ"/>
                <a:ea typeface="メイリオ"/>
              </a:rPr>
              <a:t>※CPF</a:t>
            </a:r>
            <a:r>
              <a:rPr b="1" lang="ja-JP" sz="1200" strike="noStrike" u="none">
                <a:solidFill>
                  <a:srgbClr val="ffff00"/>
                </a:solidFill>
                <a:effectLst/>
                <a:uFillTx/>
                <a:latin typeface="メイリオ"/>
                <a:ea typeface="メイリオ"/>
              </a:rPr>
              <a:t>広告※</a:t>
            </a:r>
            <a:endParaRPr b="0" lang="en-US" sz="1200" strike="noStrike" u="non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公式アカウントの友だちを増やすための広告を、</a:t>
            </a:r>
            <a:br>
              <a:rPr sz="1600"/>
            </a:b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広告の管理画面より</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アプリ内で掲載できる機能。</a:t>
            </a:r>
            <a:endParaRPr b="0" lang="en-US" sz="1600" strike="noStrike" u="non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200" strike="noStrike" u="none">
                  <a:solidFill>
                    <a:srgbClr val="0070c0"/>
                  </a:solidFill>
                  <a:effectLst/>
                  <a:uFillTx/>
                  <a:latin typeface="Meiryo"/>
                  <a:ea typeface="Meiryo"/>
                </a:rPr>
                <a:t>LINE</a:t>
              </a:r>
              <a:r>
                <a:rPr b="1" lang="ja-JP" sz="1200" strike="noStrike" u="none">
                  <a:solidFill>
                    <a:srgbClr val="0070c0"/>
                  </a:solidFill>
                  <a:effectLst/>
                  <a:uFillTx/>
                  <a:latin typeface="Meiryo"/>
                  <a:ea typeface="Meiryo"/>
                </a:rPr>
                <a:t>公式アカウントまでの導線</a:t>
              </a:r>
              <a:endParaRPr b="0" lang="en-US" sz="1200" strike="noStrike" u="non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rgbClr val="0070c0"/>
                  </a:solidFill>
                  <a:effectLst/>
                  <a:uFillTx/>
                  <a:latin typeface="Meiryo"/>
                  <a:ea typeface="Meiryo"/>
                </a:rPr>
                <a:t>「友だち追加広告」との違い</a:t>
              </a:r>
              <a:endParaRPr b="0" lang="en-US" sz="1200" strike="noStrike" u="none">
                <a:solidFill>
                  <a:srgbClr val="000000"/>
                </a:solidFill>
                <a:effectLst/>
                <a:uFillTx/>
                <a:latin typeface="Arial"/>
              </a:endParaRPr>
            </a:p>
          </p:txBody>
        </p:sp>
      </p:grpSp>
      <p:pic>
        <p:nvPicPr>
          <p:cNvPr id="1069" name="table" descr=""/>
          <p:cNvPicPr/>
          <p:nvPr/>
        </p:nvPicPr>
        <p:blipFill>
          <a:blip r:embed="rId2"/>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pic>
        <p:nvPicPr>
          <p:cNvPr id="1071" name="図 62" descr=""/>
          <p:cNvPicPr/>
          <p:nvPr/>
        </p:nvPicPr>
        <p:blipFill>
          <a:blip r:embed="rId3"/>
          <a:srcRect l="35512" t="0" r="35510" b="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200" strike="noStrike" u="none">
                <a:solidFill>
                  <a:srgbClr val="000000"/>
                </a:solidFill>
                <a:effectLst/>
                <a:uFillTx/>
                <a:latin typeface="メイリオ"/>
                <a:ea typeface="メイリオ"/>
              </a:rPr>
              <a:t>LINE</a:t>
            </a:r>
            <a:r>
              <a:rPr b="0" lang="ja-JP" sz="1200" strike="noStrike" u="none">
                <a:solidFill>
                  <a:srgbClr val="000000"/>
                </a:solidFill>
                <a:effectLst/>
                <a:uFillTx/>
                <a:latin typeface="メイリオ"/>
                <a:ea typeface="メイリオ"/>
              </a:rPr>
              <a:t>アプリ内から</a:t>
            </a:r>
            <a:br>
              <a:rPr sz="1200"/>
            </a:br>
            <a:r>
              <a:rPr b="0" lang="ja-JP" sz="1200" strike="noStrike" u="none">
                <a:solidFill>
                  <a:srgbClr val="000000"/>
                </a:solidFill>
                <a:effectLst/>
                <a:uFillTx/>
                <a:latin typeface="メイリオ"/>
                <a:ea typeface="メイリオ"/>
              </a:rPr>
              <a:t>自社アカウントに</a:t>
            </a:r>
            <a:r>
              <a:rPr b="1" lang="en-US" sz="1600" strike="noStrike" u="none">
                <a:solidFill>
                  <a:srgbClr val="33cc33"/>
                </a:solidFill>
                <a:effectLst/>
                <a:uFillTx/>
                <a:latin typeface="メイリオ"/>
                <a:ea typeface="メイリオ"/>
              </a:rPr>
              <a:t>“直接”</a:t>
            </a:r>
            <a:r>
              <a:rPr b="0" lang="ja-JP" sz="1200" strike="noStrike" u="none">
                <a:solidFill>
                  <a:srgbClr val="000000"/>
                </a:solidFill>
                <a:effectLst/>
                <a:uFillTx/>
                <a:latin typeface="メイリオ"/>
                <a:ea typeface="メイリオ"/>
              </a:rPr>
              <a:t>誘導</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fillRef idx="0"/>
          <a:effectRef idx="0"/>
          <a:fontRef idx="minor"/>
        </p:style>
        <p:txBody>
          <a:bodyPr lIns="90000" rIns="90000" tIns="45000" bIns="45000" anchor="ctr">
            <a:spAutoFit/>
          </a:bodyPr>
          <a:p>
            <a:pPr defTabSz="914400">
              <a:lnSpc>
                <a:spcPct val="100000"/>
              </a:lnSpc>
              <a:spcBef>
                <a:spcPts val="167"/>
              </a:spcBef>
            </a:pPr>
            <a:r>
              <a:rPr b="1" lang="ja-JP" sz="830" strike="noStrike" u="none">
                <a:solidFill>
                  <a:srgbClr val="000000"/>
                </a:solidFill>
                <a:effectLst/>
                <a:uFillTx/>
                <a:latin typeface="メイリオ"/>
                <a:ea typeface="メイリオ"/>
              </a:rPr>
              <a:t>株式会社</a:t>
            </a:r>
            <a:r>
              <a:rPr b="1" lang="en-US" sz="830" strike="noStrike" u="none">
                <a:solidFill>
                  <a:srgbClr val="000000"/>
                </a:solidFill>
                <a:effectLst/>
                <a:uFillTx/>
                <a:latin typeface="メイリオ"/>
                <a:ea typeface="メイリオ"/>
              </a:rPr>
              <a:t>DYM</a:t>
            </a:r>
            <a:r>
              <a:rPr b="1" lang="ja-JP" sz="830" strike="noStrike" u="none">
                <a:solidFill>
                  <a:srgbClr val="000000"/>
                </a:solidFill>
                <a:effectLst/>
                <a:uFillTx/>
                <a:latin typeface="メイリオ"/>
                <a:ea typeface="メイリオ"/>
              </a:rPr>
              <a:t>　〒</a:t>
            </a:r>
            <a:r>
              <a:rPr b="1" lang="en-US" sz="830" strike="noStrike" u="none">
                <a:solidFill>
                  <a:srgbClr val="000000"/>
                </a:solidFill>
                <a:effectLst/>
                <a:uFillTx/>
                <a:latin typeface="メイリオ"/>
                <a:ea typeface="メイリオ"/>
              </a:rPr>
              <a:t>141-0032</a:t>
            </a:r>
            <a:r>
              <a:rPr b="1" lang="ja-JP" sz="830" strike="noStrike" u="none">
                <a:solidFill>
                  <a:srgbClr val="000000"/>
                </a:solidFill>
                <a:effectLst/>
                <a:uFillTx/>
                <a:latin typeface="メイリオ"/>
                <a:ea typeface="メイリオ"/>
              </a:rPr>
              <a:t>　東京都品川区大崎</a:t>
            </a:r>
            <a:r>
              <a:rPr b="1" lang="en-US" sz="830" strike="noStrike" u="none">
                <a:solidFill>
                  <a:srgbClr val="000000"/>
                </a:solidFill>
                <a:effectLst/>
                <a:uFillTx/>
                <a:latin typeface="メイリオ"/>
                <a:ea typeface="メイリオ"/>
              </a:rPr>
              <a:t>1-11-2</a:t>
            </a:r>
            <a:r>
              <a:rPr b="1" lang="ja-JP" sz="830" strike="noStrike" u="none">
                <a:solidFill>
                  <a:srgbClr val="000000"/>
                </a:solidFill>
                <a:effectLst/>
                <a:uFillTx/>
                <a:latin typeface="メイリオ"/>
                <a:ea typeface="メイリオ"/>
              </a:rPr>
              <a:t>　ゲートシティ大崎イーストタワー</a:t>
            </a:r>
            <a:r>
              <a:rPr b="1" lang="en-US" sz="830" strike="noStrike" u="none">
                <a:solidFill>
                  <a:srgbClr val="000000"/>
                </a:solidFill>
                <a:effectLst/>
                <a:uFillTx/>
                <a:latin typeface="メイリオ"/>
                <a:ea typeface="メイリオ"/>
              </a:rPr>
              <a:t>10</a:t>
            </a:r>
            <a:r>
              <a:rPr b="1" lang="ja-JP" sz="830" strike="noStrike" u="none">
                <a:solidFill>
                  <a:srgbClr val="000000"/>
                </a:solidFill>
                <a:effectLst/>
                <a:uFillTx/>
                <a:latin typeface="メイリオ"/>
                <a:ea typeface="メイリオ"/>
              </a:rPr>
              <a:t>階</a:t>
            </a:r>
            <a:endParaRPr b="0" lang="en-US" sz="830" strike="noStrike" u="none">
              <a:solidFill>
                <a:srgbClr val="000000"/>
              </a:solidFill>
              <a:effectLst/>
              <a:uFillTx/>
              <a:latin typeface="Arial"/>
            </a:endParaRPr>
          </a:p>
          <a:p>
            <a:pPr defTabSz="914400">
              <a:lnSpc>
                <a:spcPct val="100000"/>
              </a:lnSpc>
              <a:spcBef>
                <a:spcPts val="167"/>
              </a:spcBef>
            </a:pPr>
            <a:r>
              <a:rPr b="1" lang="en-US" sz="830" strike="noStrike" u="none">
                <a:solidFill>
                  <a:srgbClr val="000000"/>
                </a:solidFill>
                <a:effectLst/>
                <a:uFillTx/>
                <a:latin typeface="メイリオ"/>
                <a:ea typeface="メイリオ"/>
              </a:rPr>
              <a:t>TEL: 03-5745-0200</a:t>
            </a:r>
            <a:r>
              <a:rPr b="1" lang="ja-JP" sz="830" strike="noStrike" u="none">
                <a:solidFill>
                  <a:srgbClr val="000000"/>
                </a:solidFill>
                <a:effectLst/>
                <a:uFillTx/>
                <a:latin typeface="メイリオ"/>
                <a:ea typeface="メイリオ"/>
              </a:rPr>
              <a:t>　</a:t>
            </a:r>
            <a:r>
              <a:rPr b="1" lang="en-US" sz="830" strike="noStrike" u="none">
                <a:solidFill>
                  <a:srgbClr val="000000"/>
                </a:solidFill>
                <a:effectLst/>
                <a:uFillTx/>
                <a:latin typeface="メイリオ"/>
                <a:ea typeface="メイリオ"/>
              </a:rPr>
              <a:t>FAX: 03-3779-8720 </a:t>
            </a:r>
            <a:r>
              <a:rPr b="1" lang="ja-JP" sz="830" strike="noStrike" u="none">
                <a:solidFill>
                  <a:srgbClr val="000000"/>
                </a:solidFill>
                <a:effectLst/>
                <a:uFillTx/>
                <a:latin typeface="メイリオ"/>
                <a:ea typeface="メイリオ"/>
              </a:rPr>
              <a:t>　</a:t>
            </a:r>
            <a:r>
              <a:rPr b="1" lang="en-US" sz="830" strike="noStrike" u="none">
                <a:solidFill>
                  <a:srgbClr val="000000"/>
                </a:solidFill>
                <a:effectLst/>
                <a:uFillTx/>
                <a:latin typeface="メイリオ"/>
                <a:ea typeface="メイリオ"/>
              </a:rPr>
              <a:t>http://dym.asia   </a:t>
            </a:r>
            <a:r>
              <a:rPr b="1" lang="ja-JP" sz="830" strike="noStrike" u="none">
                <a:solidFill>
                  <a:srgbClr val="000000"/>
                </a:solidFill>
                <a:effectLst/>
                <a:uFillTx/>
                <a:latin typeface="メイリオ"/>
                <a:ea typeface="メイリオ"/>
              </a:rPr>
              <a:t>代表取締役　水谷佑毅</a:t>
            </a:r>
            <a:endParaRPr b="0" lang="en-US" sz="830" strike="noStrike" u="none">
              <a:solidFill>
                <a:srgbClr val="000000"/>
              </a:solidFill>
              <a:effectLst/>
              <a:uFillTx/>
              <a:latin typeface="Arial"/>
            </a:endParaRPr>
          </a:p>
        </p:txBody>
      </p:sp>
      <p:pic>
        <p:nvPicPr>
          <p:cNvPr id="1074" name="図 1" descr=""/>
          <p:cNvPicPr/>
          <p:nvPr/>
        </p:nvPicPr>
        <p:blipFill>
          <a:blip r:embed="rId1"/>
          <a:srcRect l="-1652" t="0" r="-11179" b="0"/>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endParaRPr b="0" lang="en-US" sz="1800" strike="noStrike" u="non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spcBef>
                <a:spcPts val="360"/>
              </a:spcBef>
            </a:pPr>
            <a:r>
              <a:rPr b="1" lang="ja-JP" sz="1800" strike="noStrike" u="none">
                <a:solidFill>
                  <a:srgbClr val="000000"/>
                </a:solidFill>
                <a:effectLst/>
                <a:uFillTx/>
                <a:latin typeface="メイリオ"/>
                <a:ea typeface="メイリオ"/>
              </a:rPr>
              <a:t>貴社の明るい未来に必ず貢献致します。</a:t>
            </a:r>
            <a:endParaRPr b="0" lang="en-US" sz="1800" strike="noStrike" u="non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spcBef>
                <a:spcPts val="147"/>
              </a:spcBef>
            </a:pPr>
            <a:r>
              <a:rPr b="0" lang="ja-JP" sz="740" strike="noStrike" u="none">
                <a:solidFill>
                  <a:srgbClr val="ffffff"/>
                </a:solidFill>
                <a:effectLst/>
                <a:uFillTx/>
                <a:latin typeface="メイリオ"/>
                <a:ea typeface="メイリオ"/>
              </a:rPr>
              <a:t>本社</a:t>
            </a:r>
            <a:endParaRPr b="0" lang="en-US" sz="740" strike="noStrike" u="non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spcBef>
                <a:spcPts val="159"/>
              </a:spcBef>
            </a:pPr>
            <a:r>
              <a:rPr b="0" lang="ja-JP" sz="800" strike="noStrike" u="none">
                <a:solidFill>
                  <a:srgbClr val="ffffff"/>
                </a:solidFill>
                <a:effectLst/>
                <a:uFillTx/>
                <a:latin typeface="メイリオ"/>
                <a:ea typeface="メイリオ"/>
              </a:rPr>
              <a:t>本社</a:t>
            </a:r>
            <a:endParaRPr b="0" lang="en-US" sz="800" strike="noStrike" u="non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2"/>
            <a:srcRect l="3642" t="0" r="4070" b="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3"/>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4"/>
            <a:srcRect l="10699" t="0" r="10360" b="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5"/>
            <a:srcRect l="2513" t="12878" r="2480" b="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6"/>
            <a:srcRect l="8592" t="0" r="6764" b="0"/>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Default Theme</Template>
  <TotalTime>143137</TotalTime>
  <Application>LibreOffice/25.2.3.2$Linux_X86_64 LibreOffice_project/520$Build-2</Application>
  <AppVersion>15.0000</AppVersion>
  <Words>5594</Words>
  <Paragraphs>1142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2015-09-04T09:21:15Z</dcterms:created>
  <dc:creator>中村 駿</dc:creator>
  <dc:description/>
  <dc:language>en-US</dc:language>
  <cp:lastModifiedBy>殿村 亮太</cp:lastModifiedBy>
  <cp:lastPrinted>2022-11-01T11:38:14Z</cp:lastPrinted>
  <dcterms:modified xsi:type="dcterms:W3CDTF">2026-10-12T04:56:31Z</dcterms:modified>
  <cp:revision>1962</cp:revision>
  <dc:subject/>
  <dc:title>PowerPoint プレゼンテーション</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