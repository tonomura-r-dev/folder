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71" r:id="rId7"/>
    <p:sldId id="2736" r:id="rId14"/>
    <p:sldId id="2976" r:id="rId12"/>
    <p:sldId id="3026" r:id="rId8"/>
    <p:sldId id="2986" r:id="rId13"/>
    <p:sldId id="2975" r:id="rId9"/>
    <p:sldId id="2985" r:id="rId10"/>
    <p:sldId id="3004" r:id="rId11"/>
    <p:sldId id="2761" r:id="rId47"/>
    <p:sldId id="3021" r:id="rId48"/>
    <p:sldId id="3008" r:id="rId64"/>
    <p:sldId id="2737" r:id="rId29"/>
    <p:sldId id="2979" r:id="rId15"/>
    <p:sldId id="3006" r:id="rId16"/>
    <p:sldId id="3027" r:id="rId72"/>
    <p:sldId id="2989" r:id="rId6"/>
    <p:sldId id="3015" r:id="rId20"/>
    <p:sldId id="3013" r:id="rId21"/>
    <p:sldId id="2957" r:id="rId36"/>
    <p:sldId id="3022" r:id="rId17"/>
    <p:sldId id="3031" r:id="rId76"/>
    <p:sldId id="3023" r:id="rId39"/>
    <p:sldId id="3024" r:id="rId40"/>
    <p:sldId id="3019" r:id="rId37"/>
    <p:sldId id="3032" r:id="rId77"/>
    <p:sldId id="3028" r:id="rId73"/>
    <p:sldId id="2970" r:id="rId31"/>
    <p:sldId id="2959" r:id="rId32"/>
    <p:sldId id="3025" r:id="rId33"/>
    <p:sldId id="2966" r:id="rId19"/>
    <p:sldId id="3029" r:id="rId74"/>
    <p:sldId id="3011" r:id="rId28"/>
    <p:sldId id="2734" r:id="rId42"/>
    <p:sldId id="2595" r:id="rId43"/>
    <p:sldId id="2566" r:id="rId44"/>
    <p:sldId id="2915" r:id="rId45"/>
    <p:sldId id="3030" r:id="rId75"/>
    <p:sldId id="2619" r:id="rId46"/>
    <p:sldId id="1169" r:id="rId65"/>
    <p:sldId id="2961" r:id="rId55"/>
    <p:sldId id="2908" r:id="rId18"/>
    <p:sldId id="2935" r:id="rId49"/>
    <p:sldId id="2919" r:id="rId50"/>
    <p:sldId id="2519" r:id="rId51"/>
    <p:sldId id="2931" r:id="rId52"/>
    <p:sldId id="2749" r:id="rId53"/>
    <p:sldId id="2950" r:id="rId54"/>
    <p:sldId id="2563" r:id="rId30"/>
    <p:sldId id="2968" r:id="rId34"/>
    <p:sldId id="2969" r:id="rId35"/>
    <p:sldId id="2951" r:id="rId38"/>
    <p:sldId id="2841" r:id="rId41"/>
    <p:sldId id="2849" r:id="rId56"/>
    <p:sldId id="2904" r:id="rId57"/>
    <p:sldId id="2905" r:id="rId58"/>
    <p:sldId id="2906" r:id="rId59"/>
    <p:sldId id="2907" r:id="rId60"/>
    <p:sldId id="2575" r:id="rId61"/>
    <p:sldId id="2910" r:id="rId6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3.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jpeg"/><Relationship Id="rId8" Type="http://schemas.openxmlformats.org/officeDocument/2006/relationships/image" Target="../media/image27.jp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hyperlink" Target="https://youtube.com/shorts/0qI4QgrOppQ"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svg"/><Relationship Id="rId8"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2.svg"/><Relationship Id="rId4" Type="http://schemas.openxmlformats.org/officeDocument/2006/relationships/image" Target="../media/image53.svg"/><Relationship Id="rId5" Type="http://schemas.openxmlformats.org/officeDocument/2006/relationships/image" Target="../media/image54.svg"/><Relationship Id="rId6" Type="http://schemas.openxmlformats.org/officeDocument/2006/relationships/image" Target="../media/image55.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emf"/><Relationship Id="rId4" Type="http://schemas.openxmlformats.org/officeDocument/2006/relationships/image" Target="../media/image71.jpeg"/><Relationship Id="rId5" Type="http://schemas.openxmlformats.org/officeDocument/2006/relationships/image" Target="../media/image72.jpeg"/><Relationship Id="rId6" Type="http://schemas.openxmlformats.org/officeDocument/2006/relationships/image" Target="../media/image73.jpeg"/><Relationship Id="rId7" Type="http://schemas.openxmlformats.org/officeDocument/2006/relationships/image" Target="../media/image74.jpeg"/><Relationship Id="rId8" Type="http://schemas.openxmlformats.org/officeDocument/2006/relationships/image" Target="../media/image75.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現状把握・課題</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という特性から、</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次のイベントまで、接点を持ち続ける仕組みを強化できる。</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見込み客との継続的な接点として活用できる。</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保険営業の方は毎年約24万人。会える回数が減るなか、成果を出すやり方へのニーズは続く</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697480"/>
        </p:xfrm>
        <a:graphic>
          <a:graphicData uri="http://schemas.openxmlformats.org/drawingml/2006/table">
            <a:tbl>
              <a:tblPr/>
              <a:tblGrid>
                <a:gridCol w="1920240"/>
                <a:gridCol w="3566160"/>
                <a:gridCol w="356616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営業職員数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約24万人で、5年間ほぼ横ばい（2020年度 248,601人 → 2024年度 241,507人）</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毎年ほぼ同じ規模の方が、営業を続けている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保険の加入経路</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加入経路のうち「生命保険会社の営業職員」が56.7%（2024年調査）</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保険の加入は、今も営業職員が中心。営業力を上げたいニーズは続く</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お客様との接触回数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会える回数が減り、限られた面談で成果を出すやり方が求められている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51" name="示唆 線"/>
          <p:cNvSpPr/>
          <p:nvPr/>
        </p:nvSpPr>
        <p:spPr>
          <a:xfrm>
            <a:off x="420624" y="4434840"/>
            <a:ext cx="64008" cy="91440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434840"/>
            <a:ext cx="8988552" cy="91440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貴社の「週2日で成果を出す面談メソッド」は、このニーズに合う。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広告で集めた方と、LINEで次のイベントまでつながり続ける。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※営業職員数：生命保険協会「2025年版 生命保険の動向」／加入経路：生命保険文化センター「2024（令和6）年度 生命保険に関する全国実態調査」</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nvGraphicFramePr>
        <p:xfrm>
          <a:off x="420624" y="1645920"/>
          <a:ext cx="6492240" cy="2194560"/>
        </p:xfrm>
        <a:graphic>
          <a:graphicData uri="http://schemas.openxmlformats.org/drawingml/2006/table">
            <a:tbl>
              <a:tblPr/>
              <a:tblGrid>
                <a:gridCol w="1600200"/>
                <a:gridCol w="2148840"/>
                <a:gridCol w="274320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保険営業の方向けの無料の学習サービス（2026年9月開始）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※R&amp;C保険営業ラボ：R&amp;C株式会社のプレスリリースより。招待制のため、画面は未掲載</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nvGraphicFramePr>
        <p:xfrm>
          <a:off x="420624" y="1219199"/>
          <a:ext cx="9052560" cy="4023360"/>
        </p:xfrm>
        <a:graphic>
          <a:graphicData uri="http://schemas.openxmlformats.org/drawingml/2006/table">
            <a:tbl>
              <a:tblPr/>
              <a:tblGrid>
                <a:gridCol w="2011680"/>
                <a:gridCol w="7040880"/>
              </a:tblGrid>
              <a:tr h="77724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広告で獲得した見込み客をLINE公式アカウントに蓄積し、継続的な情報配信で、次回セミナーへの参加とオンラインサロンへの入会を増やす</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入会後の継続利用・紹介にもLINEを活用し、LTVの向上をめざす</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友だち獲得を増やし、ブロック率を抑えながら、配信可能な人数を積み上げる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10515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離脱防止ポップアップと予約完了後の友だち追加誘導で、友だちを集める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友だち追加直後・予約した方・参加後の段階ごとに、案内を変える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平常期は月2回、セミナー開催月は月4〜5回の企画配信で、つながりを保つ</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9601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3つのポイントで、見込み客との接点を継続する仕組みを強化する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052560"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イベント開催時だけでなく、平常期にも継続して情報を届ける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nvGraphicFramePr>
        <p:xfrm>
          <a:off x="420624" y="2926080"/>
          <a:ext cx="9052560" cy="2834640"/>
        </p:xfrm>
        <a:graphic>
          <a:graphicData uri="http://schemas.openxmlformats.org/drawingml/2006/table">
            <a:tbl>
              <a:tblPr/>
              <a:tblGrid>
                <a:gridCol w="1554480"/>
                <a:gridCol w="2468880"/>
                <a:gridCol w="3840480"/>
                <a:gridCol w="118872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・予約完了後に、友だち追加をご案内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平常期・開催月それぞれの時期に合わせて届ける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月2回／開催月 月4〜5回の企画配信</a:t>
                      </a:r>
                      <a:endParaRPr lang="ja-JP" altLang="en-US" sz="1300" dirty="0">
                        <a:latin typeface="メイリオ"/>
                        <a:ea typeface="メイリオ"/>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参加後、関心が高いうちにサロンを案内する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概算お見積り：6か月目の配信可能な人数90人・セミナー予約11件（想定）</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6か月後（想定）</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146304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※セミナー予約・サロン入会は、LINEの配信・リンクからの件数として想定（広告からの直接の予約は含まない）</a:t>
            </a:r>
            <a:endParaRPr lang="ja-JP" altLang="en-US" sz="1200" dirty="0">
              <a:latin typeface="メイリオ"/>
              <a:ea typeface="メイリオ"/>
              <a:cs typeface="メイリオ"/>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Tree>
    <p:extLst>
      <p:ext uri="{BB962C8B-B14F-4D97-AF65-F5344CB8AC3E}">
        <p14:creationId xmlns:p14="http://schemas.microsoft.com/office/powerpoint/2010/main" val="3947487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05156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予約していない方は平常期の配信で次のイベントへつなげる。予約・参加・入会の状況での出し分けは、連携の可否を確認のうえ設計。</a:t>
            </a:r>
          </a:p>
        </p:txBody>
      </p:sp>
    </p:spTree>
    <p:extLst>
      <p:ext uri="{BB962C8B-B14F-4D97-AF65-F5344CB8AC3E}">
        <p14:creationId xmlns:p14="http://schemas.microsoft.com/office/powerpoint/2010/main" val="320364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熱が高いうちに、サロンをご案内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セミナーの振り返り</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両想い営業・ライフプランブロックの要点をおさらい</a:t>
            </a:r>
            <a:endParaRPr lang="ja-JP" altLang="en-US" sz="1200" dirty="0"/>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「契約で頭がいっぱい」だった方が、個人保険でTOT</a:t>
            </a:r>
            <a:endParaRPr lang="ja-JP" altLang="en-US" sz="1200" dirty="0"/>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サロンのご案内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ライフプランブロックは、サロンの方だけが使える</a:t>
            </a:r>
            <a:endParaRPr lang="ja-JP" altLang="en-US" sz="1200" dirty="0"/>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ロープレ動画で面談を振り返り、TOTを達成</a:t>
            </a:r>
            <a:endParaRPr lang="ja-JP" altLang="en-US" sz="1200" dirty="0"/>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講師メッセージ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毎日遅くまで働いた頃から、働く時間を半分以下に</a:t>
            </a:r>
            <a:endParaRPr lang="ja-JP" altLang="en-US" sz="1200" dirty="0"/>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次のセミナーのご案内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次回の日程と、サロン入会のお申込み方法</a:t>
            </a:r>
            <a:endParaRPr lang="ja-JP" altLang="en-US" sz="1200" dirty="0"/>
          </a:p>
        </p:txBody>
      </p:sp>
      <p:sp>
        <p:nvSpPr>
          <p:cNvPr id="22" name="注記"/>
          <p:cNvSpPr/>
          <p:nvPr/>
        </p:nvSpPr>
        <p:spPr>
          <a:xfrm>
            <a:off x="457200" y="6047231"/>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※配信内容は、貴社LPの「受講生の声」「講師メッセージ」「よくある質問」「講師紹介」をもとにした例</a:t>
            </a:r>
            <a:endParaRPr lang="ja-JP" altLang="en-US" sz="1200" dirty="0"/>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他の案</a:t>
            </a:r>
            <a:endParaRPr lang="ja-JP" altLang="en-US" sz="1200" dirty="0"/>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よくある質問</a:t>
            </a:r>
            <a:endParaRPr lang="ja-JP" altLang="en-US" sz="1200" dirty="0"/>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rPr>
              <a:t>次のセミナーの案内に添える</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地方からも参加できる・録画はない・初心者でも分かる・参加は無料</a:t>
            </a:r>
            <a:endParaRPr lang="ja-JP" altLang="en-US" sz="1200" dirty="0"/>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講師紹介</a:t>
            </a:r>
            <a:endParaRPr lang="ja-JP" altLang="en-US" sz="1200" dirty="0"/>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rPr>
              <a:t>入会を迷っている方へ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谷岡さんの経歴：契約件数全国1位で表彰・週2日の営業で毎年TOT</a:t>
            </a:r>
            <a:endParaRPr lang="ja-JP" altLang="en-US" sz="1200" dirty="0"/>
          </a:p>
        </p:txBody>
      </p:sp>
    </p:spTree>
    <p:extLst>
      <p:ext uri="{BB962C8B-B14F-4D97-AF65-F5344CB8AC3E}">
        <p14:creationId xmlns:p14="http://schemas.microsoft.com/office/powerpoint/2010/main" val="4396800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広告で新しい接点をつくり、LINEで継続して情報を届ける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nvGraphicFramePr>
        <p:xfrm>
          <a:off x="502920" y="1508760"/>
          <a:ext cx="8897112" cy="2194560"/>
        </p:xfrm>
        <a:graphic>
          <a:graphicData uri="http://schemas.openxmlformats.org/drawingml/2006/table">
            <a:tbl>
              <a:tblPr/>
              <a:tblGrid>
                <a:gridCol w="1828800"/>
                <a:gridCol w="3520440"/>
                <a:gridCol w="3547872"/>
              </a:tblGrid>
              <a:tr h="365760">
                <a:tc>
                  <a:txBody>
                    <a:bodyPr/>
                    <a:lstStyle/>
                    <a:p>
                      <a:pPr algn="l">
                        <a:buNone/>
                      </a:pPr>
                      <a:endParaRPr lang="ja-JP" altLang="en-US" sz="1300" dirty="0">
                        <a:latin typeface="メイリオ"/>
                        <a:ea typeface="メイリオ"/>
                        <a:cs typeface="メイリオ"/>
                      </a:endParaRPr>
                    </a:p>
                  </a:txBody>
                  <a:tcPr marL="109728" marR="9144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一度つながった見込み客に、継続して情報を届ける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・友だち追加された方に、次回以降のイベントを案内できる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・イベントのない期間も、継続して接点を持てる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・興味や参加状況に応じた情報配信を設計できる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・新規集客だけに頼らない導線を構築できる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保険・イベント集客におけるLINE公式アカウントの活用事例</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生命保険会社</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約8倍</a:t>
            </a:r>
          </a:p>
          <a:p>
            <a:pPr algn="ctr"/>
            <a:r>
              <a:rPr sz="1000">
                <a:solidFill>
                  <a:srgbClr val="FFFFFF"/>
                </a:solidFill>
                <a:latin typeface="メイリオ" panose="020B0604030504040204" pitchFamily="50" charset="-128"/>
                <a:ea typeface="メイリオ" panose="020B0604030504040204" pitchFamily="50" charset="-128"/>
              </a:rPr>
              <a:t>資料請求の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CV率</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（メール比）</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5.2%</a:t>
            </a:r>
          </a:p>
          <a:p>
            <a:pPr algn="ctr"/>
            <a:r>
              <a:rPr sz="1000">
                <a:solidFill>
                  <a:srgbClr val="FFFFFF"/>
                </a:solidFill>
                <a:latin typeface="メイリオ" panose="020B0604030504040204" pitchFamily="50" charset="-128"/>
                <a:ea typeface="メイリオ" panose="020B0604030504040204" pitchFamily="50" charset="-128"/>
              </a:rPr>
              <a:t>営業職員経由</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の友だちの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ブロック率</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教室・スクール（見学会などのイベント集客）</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914400" y="3838575"/>
            <a:ext cx="14630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dirty="0">
                <a:solidFill>
                  <a:srgbClr val="FFFFFF"/>
                </a:solidFill>
                <a:latin typeface="メイリオ" panose="020B0604030504040204" pitchFamily="50" charset="-128"/>
                <a:ea typeface="メイリオ" panose="020B0604030504040204" pitchFamily="50" charset="-128"/>
              </a:rPr>
              <a:t>約7割</a:t>
            </a:r>
          </a:p>
          <a:p>
            <a:pPr algn="ctr"/>
            <a:r>
              <a:rPr sz="1000" dirty="0" err="1">
                <a:solidFill>
                  <a:srgbClr val="FFFFFF"/>
                </a:solidFill>
                <a:latin typeface="メイリオ" panose="020B0604030504040204" pitchFamily="50" charset="-128"/>
                <a:ea typeface="メイリオ" panose="020B0604030504040204" pitchFamily="50" charset="-128"/>
              </a:rPr>
              <a:t>見学会の参加者の</a:t>
            </a:r>
            <a:br>
              <a:rPr sz="1000" dirty="0" err="1">
                <a:solidFill>
                  <a:srgbClr val="FFFFFF"/>
                </a:solidFill>
                <a:latin typeface="メイリオ" panose="020B0604030504040204" pitchFamily="50" charset="-128"/>
                <a:ea typeface="メイリオ" panose="020B0604030504040204" pitchFamily="50" charset="-128"/>
              </a:rPr>
            </a:br>
            <a:r>
              <a:rPr sz="1000" dirty="0" err="1">
                <a:solidFill>
                  <a:srgbClr val="FFFFFF"/>
                </a:solidFill>
                <a:latin typeface="メイリオ" panose="020B0604030504040204" pitchFamily="50" charset="-128"/>
                <a:ea typeface="メイリオ" panose="020B0604030504040204" pitchFamily="50" charset="-128"/>
              </a:rPr>
              <a:t>入会率</a:t>
            </a:r>
            <a:endParaRPr sz="800" dirty="0">
              <a:solidFill>
                <a:srgbClr val="FFFFFF"/>
              </a:solidFill>
              <a:latin typeface="メイリオ" panose="020B0604030504040204" pitchFamily="50" charset="-128"/>
              <a:ea typeface="メイリオ" panose="020B0604030504040204" pitchFamily="50" charset="-128"/>
            </a:endParaRPr>
          </a:p>
        </p:txBody>
      </p:sp>
      <p:sp>
        <p:nvSpPr>
          <p:cNvPr id="17" name="注記"/>
          <p:cNvSpPr/>
          <p:nvPr/>
        </p:nvSpPr>
        <p:spPr>
          <a:xfrm>
            <a:off x="365760" y="52120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※LINEヤフー for Business 掲載の事例（数値は各社調べ）。生命保険会社＝2024年4月・2025年2月公開、教室＝2021年8月公開。5.2%は営業職員経由の友だち（自然に友だちになった方は74.9%）</a:t>
            </a:r>
            <a:endParaRPr lang="ja-JP" altLang="en-US" sz="1200" dirty="0"/>
          </a:p>
        </p:txBody>
      </p:sp>
    </p:spTree>
    <p:extLst>
      <p:ext uri="{BB962C8B-B14F-4D97-AF65-F5344CB8AC3E}">
        <p14:creationId xmlns:p14="http://schemas.microsoft.com/office/powerpoint/2010/main" val="21557982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nvGraphicFramePr>
        <p:xfrm>
          <a:off x="420624" y="1645920"/>
          <a:ext cx="9052559" cy="2633472"/>
        </p:xfrm>
        <a:graphic>
          <a:graphicData uri="http://schemas.openxmlformats.org/drawingml/2006/table">
            <a:tbl>
              <a:tblPr/>
              <a:tblGrid>
                <a:gridCol w="1920240"/>
                <a:gridCol w="3749039"/>
                <a:gridCol w="338328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主な関心</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主な申込先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一般の方向けの申込みページ等から友だち追加</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示唆 線"/>
          <p:cNvSpPr/>
          <p:nvPr/>
        </p:nvSpPr>
        <p:spPr>
          <a:xfrm>
            <a:off x="420624" y="4526280"/>
            <a:ext cx="64008" cy="109728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2" name="示唆"/>
          <p:cNvSpPr/>
          <p:nvPr/>
        </p:nvSpPr>
        <p:spPr>
          <a:xfrm>
            <a:off x="484632" y="4526280"/>
            <a:ext cx="8988552"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
        <p:nvSpPr>
          <p:cNvPr id="53"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※流入経路で分けられない方には、どちらにも当てはまる内容（開催のお知らせなど）を基本に配信</a:t>
            </a:r>
            <a:endParaRPr lang="ja-JP" altLang="en-US" sz="1200" dirty="0">
              <a:latin typeface="メイリオ"/>
              <a:ea typeface="メイリオ"/>
              <a:cs typeface="メイリオ"/>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41732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Meta広告などで、新しい見込み客と接点をつくる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41732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セミナーの内容を知り、予約する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41732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離脱防止ポップアップ／予約完了後の友だち追加のご案内</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41732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41732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オンラインサロン入会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41732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43484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
        <p:nvSpPr>
          <p:cNvPr id="70"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※一般の方向けセミナーから友だち追加した方は、流入経路で分け、一般の方向けの案内を中心に配信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nvGraphicFramePr>
        <p:xfrm>
          <a:off x="420624" y="1600200"/>
          <a:ext cx="9052560" cy="3767328"/>
        </p:xfrm>
        <a:graphic>
          <a:graphicData uri="http://schemas.openxmlformats.org/drawingml/2006/table">
            <a:tbl>
              <a:tblPr/>
              <a:tblGrid>
                <a:gridCol w="1828800"/>
                <a:gridCol w="4206240"/>
                <a:gridCol w="301752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離脱防止ポップアップ／セミナー予約完了後の友だち追加誘導</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あいさつメッセージ・見どころ動画・参加特典（必要に応じて、簡易的な興味分野の把握）</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セミナー内容の振り返り／オンラインサロンの内容紹介・入会のご案内</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月2回の企画配信／次回イベントのご案内</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注記"/>
          <p:cNvSpPr/>
          <p:nvPr/>
        </p:nvSpPr>
        <p:spPr>
          <a:xfrm>
            <a:off x="420624" y="548640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※前後検索のデータを取得後、内容・順番を見直す</a:t>
            </a:r>
            <a:endParaRPr lang="ja-JP" altLang="en-US" sz="1200" dirty="0">
              <a:latin typeface="メイリオ"/>
              <a:ea typeface="メイリオ"/>
              <a:cs typeface="メイリオ"/>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導入前に確認させていただきたい事項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連携の可否と成果の数え方によって、配信の設計と費用が変わるため、事前に確認する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確認事項 49"/>
          <p:cNvGraphicFramePr>
            <a:graphicFrameLocks noGrp="1"/>
          </p:cNvGraphicFramePr>
          <p:nvPr/>
        </p:nvGraphicFramePr>
        <p:xfrm>
          <a:off x="420624" y="1600200"/>
          <a:ext cx="9052560" cy="3703320"/>
        </p:xfrm>
        <a:graphic>
          <a:graphicData uri="http://schemas.openxmlformats.org/drawingml/2006/table">
            <a:tbl>
              <a:tblPr/>
              <a:tblGrid>
                <a:gridCol w="2331720"/>
                <a:gridCol w="3383280"/>
                <a:gridCol w="333756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確認させていただきたいこと</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確認後の対応</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86868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予約・顧客情報との連携</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予約システム・フォーム・顧客管理の情報と、LINEの友だちを紐づけられるか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可能な場合：予約・参加・入会の状況に応じた配信を設計／難しい場合：流入経路などで分けた配信・全体配信を基本にする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4008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予約完了後の友だち追加</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サンクスLINE誘導ツールを使うか、通常の友だち追加ボタン等にするか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ボタン等の設置費用・実装条件は、予約フォームの仕様を確認のうえお見積り</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73152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成果の数え方</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セミナー予約・サロン入会を、LINEからの件数とするか、広告からの予約も含めるか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概算お見積りの想定（LINEの配信・リンクからの件数）を、定義に合わせて見直す</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486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成果報酬型プラン（別案）</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成果地点の定義・重複計上の有無・計測方法</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確認のうえ、成果報酬単価（12,000円／件）での条件を決定</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5486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一般の方向けセミナー</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同じLINE公式アカウントで運用するか、流入経路を分けられるか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出し分けの方法を決定</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51" name="注記"/>
          <p:cNvSpPr/>
          <p:nvPr/>
        </p:nvSpPr>
        <p:spPr>
          <a:xfrm>
            <a:off x="420624" y="548640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※データ連携が必要な高度な施策は、別途要件定義・お見積りのうえ実施</a:t>
            </a:r>
            <a:endParaRPr lang="ja-JP" altLang="en-US" sz="1200" dirty="0">
              <a:latin typeface="メイリオ"/>
              <a:ea typeface="メイリオ"/>
              <a:cs typeface="メイリオ"/>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費用の比較：サンクスLINE誘導あり（基本案）・なし（参考）</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基本案はプラン②。ツールを調整する場合の参考も記載</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127248"/>
        </p:xfrm>
        <a:graphic>
          <a:graphicData uri="http://schemas.openxmlformats.org/drawingml/2006/table">
            <a:tbl>
              <a:tblPr/>
              <a:tblGrid>
                <a:gridCol w="2468880"/>
                <a:gridCol w="3337560"/>
                <a:gridCol w="3337560"/>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基本案：サンクスLINE誘導あり</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参考：サンクスLINE誘導なし</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3152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予約完了後の友だち追加</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サンクスLINE誘導ツールで、LINEへ自動遷移（フォームの入力内容の引き継ぎも可能）</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予約完了ページに、通常の友だち追加ボタン等を設置（自動遷移・入力内容の引き継ぎはなし）</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成果の想定</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概算お見積りのとおり（SIMによる想定値）</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予約した方の友だち追加率が下がる可能性があるため、想定は別途見直し</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39" name="注記"/>
          <p:cNvSpPr/>
          <p:nvPr/>
        </p:nvSpPr>
        <p:spPr>
          <a:xfrm>
            <a:off x="420624" y="4754880"/>
            <a:ext cx="9052560" cy="77724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 65,000円〜（参考は 35,000円〜）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※参考の金額は、基本案からサンクスLINE誘導（初期 150,000円・月額 30,000円）を除いた単純計算</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※通常の友だち追加ボタン等の設置にかかる費用・実装条件は、予約フォームの仕様を確認のうえお見積り</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142239</TotalTime>
  <Words>6597</Words>
  <Application>Microsoft Office PowerPoint</Application>
  <PresentationFormat>A4 210 x 297 mm</PresentationFormat>
  <Paragraphs>1355</Paragraphs>
  <Slides>63</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63</vt:i4>
      </vt:variant>
    </vt:vector>
  </HeadingPairs>
  <TitlesOfParts>
    <vt:vector size="69"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1951</cp:revision>
  <cp:lastPrinted>2022-11-01T11:38:14Z</cp:lastPrinted>
  <dcterms:created xsi:type="dcterms:W3CDTF">2015-09-04T09:21:15Z</dcterms:created>
  <dcterms:modified xsi:type="dcterms:W3CDTF">2026-10-20T07:51:33Z</dcterms:modified>
</cp:coreProperties>
</file>