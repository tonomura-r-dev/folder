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18" r:id="rId40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20.xml"/><Relationship Id="rId38" Type="http://schemas.openxmlformats.org/officeDocument/2006/relationships/slide" Target="slides/slide24.xml"/><Relationship Id="rId39" Type="http://schemas.openxmlformats.org/officeDocument/2006/relationships/slide" Target="slides/slide27.xml"/><Relationship Id="rId40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―LINEの初期構築と、サイトリニューアルでの連携のご提案―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marL="539750" lvl="0" indent="-53975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】</a:t>
            </a:r>
          </a:p>
          <a:p>
            <a:pPr marL="88900" lvl="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lvl="0"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受賞時の</a:t>
            </a: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1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枚</a:t>
            </a:r>
            <a:endParaRPr lang="en-US" altLang="ja-JP" sz="700" dirty="0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ja-JP" altLang="en-US" sz="9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370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497760"/>
            <a:ext cx="8319744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68416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053440" cy="23846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13984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295128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376272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139840"/>
            <a:ext cx="2424384" cy="23846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82256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636640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5"/>
          <p:cNvSpPr/>
          <p:nvPr/>
        </p:nvSpPr>
        <p:spPr>
          <a:xfrm>
            <a:off x="3608879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549672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738456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100320"/>
            <a:ext cx="16560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05440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775520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398145"/>
            <a:ext cx="5166720" cy="19872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457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299040"/>
            <a:ext cx="2987424" cy="13910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875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31312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793680" y="1808639"/>
          <a:ext cx="8319743" cy="206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3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348072"/>
            <a:ext cx="8319744" cy="36432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3895200"/>
            <a:ext cx="8319744" cy="224182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193280"/>
            <a:ext cx="4040640" cy="86112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193280"/>
            <a:ext cx="4047264" cy="86112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2531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LINE側は先に構築し、サイト側はリニューアルに合わせてつなぐ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280224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172144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3878640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793680" y="4226400"/>
            <a:ext cx="8319744" cy="76175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3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3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04064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793680" y="2172959"/>
          <a:ext cx="4040638" cy="13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3878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4921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2584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5000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5000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5000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57416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57416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574160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※月約17人＝サイトからの応募（月約47件）×完了画面の表示80%×友だち追加45%の想定／求人ボックス・Indeed経由の応募は完了画面を触れないため対象外／画面はイメージです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求人ボックス・Indeed経由の応募者への導線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64000"/>
            <a:ext cx="8313120" cy="288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サンクスLINEは自社サイトの応募が対象。外部経由は、求人ページ上の導線でつなぐ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2000" y="1584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自社サイトから応募する方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2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0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376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応募フォーム</a:t>
            </a:r>
          </a:p>
        </p:txBody>
      </p:sp>
      <p:sp>
        <p:nvSpPr>
          <p:cNvPr id="10" name="Right Arrow 6"/>
          <p:cNvSpPr/>
          <p:nvPr/>
        </p:nvSpPr>
        <p:spPr>
          <a:xfrm>
            <a:off x="3654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5"/>
          <p:cNvSpPr/>
          <p:nvPr/>
        </p:nvSpPr>
        <p:spPr>
          <a:xfrm>
            <a:off x="3960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Right Arrow 6"/>
          <p:cNvSpPr/>
          <p:nvPr/>
        </p:nvSpPr>
        <p:spPr>
          <a:xfrm>
            <a:off x="5238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5544000" y="1908000"/>
            <a:ext cx="1872000" cy="540000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ight Arrow 6"/>
          <p:cNvSpPr/>
          <p:nvPr/>
        </p:nvSpPr>
        <p:spPr>
          <a:xfrm>
            <a:off x="74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776000" y="1908000"/>
            <a:ext cx="1296000" cy="54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792000" y="2772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求人ボックス・Indeedから来る方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92000" y="3131999"/>
            <a:ext cx="1512000" cy="14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求人ボックス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Indeed</a:t>
            </a:r>
          </a:p>
        </p:txBody>
      </p:sp>
      <p:sp>
        <p:nvSpPr>
          <p:cNvPr id="18" name="Right Arrow 6"/>
          <p:cNvSpPr/>
          <p:nvPr/>
        </p:nvSpPr>
        <p:spPr>
          <a:xfrm>
            <a:off x="234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6"/>
          <p:cNvSpPr/>
          <p:nvPr/>
        </p:nvSpPr>
        <p:spPr>
          <a:xfrm>
            <a:off x="234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2664000" y="3131999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貴社の求人ページに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着地する場合</a:t>
            </a:r>
          </a:p>
        </p:txBody>
      </p:sp>
      <p:sp>
        <p:nvSpPr>
          <p:cNvPr id="21" name="Right Arrow 6"/>
          <p:cNvSpPr/>
          <p:nvPr/>
        </p:nvSpPr>
        <p:spPr>
          <a:xfrm>
            <a:off x="459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932000" y="3131999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23" name="Right Arrow 6"/>
          <p:cNvSpPr/>
          <p:nvPr/>
        </p:nvSpPr>
        <p:spPr>
          <a:xfrm>
            <a:off x="7002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ounded Rectangle 5"/>
          <p:cNvSpPr/>
          <p:nvPr/>
        </p:nvSpPr>
        <p:spPr>
          <a:xfrm>
            <a:off x="7343999" y="3131999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25" name="Rounded Rectangle 5"/>
          <p:cNvSpPr/>
          <p:nvPr/>
        </p:nvSpPr>
        <p:spPr>
          <a:xfrm>
            <a:off x="2664000" y="3960000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応募が先方の画面で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完結する場合</a:t>
            </a:r>
          </a:p>
        </p:txBody>
      </p:sp>
      <p:sp>
        <p:nvSpPr>
          <p:cNvPr id="26" name="Right Arrow 6"/>
          <p:cNvSpPr/>
          <p:nvPr/>
        </p:nvSpPr>
        <p:spPr>
          <a:xfrm>
            <a:off x="459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932000" y="3960000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貴社の画面を通らない</a:t>
            </a:r>
          </a:p>
        </p:txBody>
      </p:sp>
      <p:sp>
        <p:nvSpPr>
          <p:cNvPr id="28" name="Right Arrow 6"/>
          <p:cNvSpPr/>
          <p:nvPr/>
        </p:nvSpPr>
        <p:spPr>
          <a:xfrm>
            <a:off x="7002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7343999" y="3960000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導線を置けない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（対象外）</a:t>
            </a:r>
          </a:p>
        </p:txBody>
      </p:sp>
      <p:sp>
        <p:nvSpPr>
          <p:cNvPr id="30" name="Rounded Rectangle 24"/>
          <p:cNvSpPr/>
          <p:nvPr/>
        </p:nvSpPr>
        <p:spPr>
          <a:xfrm>
            <a:off x="792000" y="4968000"/>
            <a:ext cx="83160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貴社の求人ページに来た方は、離脱防止と「LINEで登録」で友だち追加へつなげる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92000" y="6048000"/>
            <a:ext cx="8316000" cy="28800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※求人ボックス・Indeedからの着地先と、応募の完結先は、掲載方法により異なるため、確認のうえ決定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67456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612840" y="1610640"/>
          <a:ext cx="7223036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644" y="1630165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644" y="2807813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612840" y="5602320"/>
            <a:ext cx="8681472" cy="389048"/>
          </a:xfrm>
          <a:prstGeom prst="rect">
            <a:avLst/>
          </a:prstGeom>
          <a:noFill/>
        </p:spPr>
        <p:txBody>
          <a:bodyPr wrap="square" lIns="0" tIns="20736" rIns="48384" bIns="2073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</a:t>
            </a: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データを初日から蓄積できる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弊社シミュレーション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リニューアルの要件に入れておけば、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サイトの改修が二度手間にならない。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399456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060800"/>
            <a:ext cx="7054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052240" y="4276080"/>
            <a:ext cx="705456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59072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4656960"/>
            <a:ext cx="3312000" cy="19872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5364240" y="4656960"/>
            <a:ext cx="3742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2052240" y="4872240"/>
            <a:ext cx="331200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ご契約後すぐに構築を始め、4月のリニューアルと同時に運用を本格化することをご提案します。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LINEでログイン」とLINE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127040"/>
            <a:ext cx="8319744" cy="7948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1206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スケジュール｜ご契約後に構築、4月に運用を本格化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5207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5207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あいさつ・リッチメニュー・配信の設計、離脱防止ポップアップ・サンクスLINE誘導・Profile+の実装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2659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2659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LINEを追加してもらう期間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離脱防止ポップアップなどで、LINEを追加してもらう（この期間の数字はシミュレーションに含めない）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0111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85359" y="40111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リニューアルと同時に運用を本格化（月額の固定費）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リニューアルしたサイトに「LINEで登録」を組み込み、計測と配信を本格化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793680" y="47563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2085359" y="47563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Profile+の審査期間は、申請内容により変わります／現行サイトへの実装可否、求人ボックス・Indeed経由の応募者への導線は、確認のうえ決定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177552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299040"/>
          <a:ext cx="8319744" cy="1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073599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139840"/>
            <a:ext cx="1656000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973200" y="2073599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5704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636640"/>
            <a:ext cx="1599705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916905" y="25704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0672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133440"/>
            <a:ext cx="1548101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3865301" y="30672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3630240"/>
            <a:ext cx="364320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040479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3630240"/>
            <a:ext cx="440496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31312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8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9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