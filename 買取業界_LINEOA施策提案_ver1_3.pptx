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4"/>
  </p:notesMasterIdLst>
  <p:handoutMasterIdLst>
    <p:handoutMasterId r:id="rId45"/>
  </p:handoutMasterIdLst>
  <p:sldIdLst>
    <p:sldId id="2363" r:id="rId3"/>
    <p:sldId id="2935" r:id="rId4"/>
    <p:sldId id="2908" r:id="rId5"/>
    <p:sldId id="2950" r:id="rId6"/>
    <p:sldId id="2937" r:id="rId7"/>
    <p:sldId id="2966" r:id="rId8"/>
    <p:sldId id="2939" r:id="rId9"/>
    <p:sldId id="2997" r:id="rId10"/>
    <p:sldId id="2956" r:id="rId11"/>
    <p:sldId id="2988" r:id="rId12"/>
    <p:sldId id="2972" r:id="rId13"/>
    <p:sldId id="2977" r:id="rId14"/>
    <p:sldId id="2995" r:id="rId15"/>
    <p:sldId id="2975" r:id="rId16"/>
    <p:sldId id="2992" r:id="rId17"/>
    <p:sldId id="2993" r:id="rId18"/>
    <p:sldId id="2994" r:id="rId19"/>
    <p:sldId id="2986" r:id="rId20"/>
    <p:sldId id="2982" r:id="rId21"/>
    <p:sldId id="2998" r:id="rId22"/>
    <p:sldId id="2999" r:id="rId23"/>
    <p:sldId id="3000" r:id="rId24"/>
    <p:sldId id="3001" r:id="rId25"/>
    <p:sldId id="2736" r:id="rId26"/>
    <p:sldId id="2983" r:id="rId27"/>
    <p:sldId id="2996" r:id="rId28"/>
    <p:sldId id="2984" r:id="rId29"/>
    <p:sldId id="2985" r:id="rId30"/>
    <p:sldId id="2962" r:id="rId31"/>
    <p:sldId id="2942" r:id="rId32"/>
    <p:sldId id="2941" r:id="rId33"/>
    <p:sldId id="2943" r:id="rId34"/>
    <p:sldId id="2944" r:id="rId35"/>
    <p:sldId id="2990" r:id="rId36"/>
    <p:sldId id="2991" r:id="rId37"/>
    <p:sldId id="2967" r:id="rId38"/>
    <p:sldId id="2946" r:id="rId39"/>
    <p:sldId id="2947" r:id="rId40"/>
    <p:sldId id="2948" r:id="rId41"/>
    <p:sldId id="2958" r:id="rId42"/>
    <p:sldId id="1169" r:id="rId4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71" autoAdjust="0"/>
    <p:restoredTop sz="94424" autoAdjust="0"/>
  </p:normalViewPr>
  <p:slideViewPr>
    <p:cSldViewPr snapToGrid="0">
      <p:cViewPr>
        <p:scale>
          <a:sx n="75" d="100"/>
          <a:sy n="75" d="100"/>
        </p:scale>
        <p:origin x="2136" y="756"/>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r>
              <a:rPr lang="ja-JP" altLang="en-US" sz="1100" b="1" dirty="0">
                <a:latin typeface="メイリオ" panose="020B0604030504040204" pitchFamily="50" charset="-128"/>
                <a:ea typeface="メイリオ" panose="020B0604030504040204" pitchFamily="50" charset="-128"/>
              </a:rPr>
              <a:t>全業界平均</a:t>
            </a:r>
            <a:r>
              <a:rPr lang="en-US" altLang="ja-JP" sz="1100" b="1" dirty="0">
                <a:latin typeface="メイリオ" panose="020B0604030504040204" pitchFamily="50" charset="-128"/>
                <a:ea typeface="メイリオ" panose="020B0604030504040204" pitchFamily="50" charset="-128"/>
              </a:rPr>
              <a:t>CPC</a:t>
            </a:r>
            <a:r>
              <a:rPr lang="ja-JP" altLang="en-US" sz="1100" b="1" dirty="0">
                <a:latin typeface="メイリオ" panose="020B0604030504040204" pitchFamily="50" charset="-128"/>
                <a:ea typeface="メイリオ" panose="020B0604030504040204" pitchFamily="50" charset="-128"/>
              </a:rPr>
              <a:t>推移</a:t>
            </a:r>
            <a:endParaRPr lang="en-US" altLang="ja-JP" sz="1100" b="1" dirty="0">
              <a:latin typeface="メイリオ" panose="020B0604030504040204" pitchFamily="50" charset="-128"/>
              <a:ea typeface="メイリオ" panose="020B0604030504040204" pitchFamily="50" charset="-128"/>
            </a:endParaRPr>
          </a:p>
        </c:rich>
      </c:tx>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ltLang="ja-JP"/>
        </a:p>
      </c:txPr>
    </c:title>
    <c:autoTitleDeleted val="0"/>
    <c:plotArea>
      <c:layout/>
      <c:barChart>
        <c:barDir val="col"/>
        <c:grouping val="clustered"/>
        <c:varyColors val="0"/>
        <c:dLbls>
          <c:showLegendKey val="0"/>
          <c:showVal val="0"/>
          <c:showCatName val="0"/>
          <c:showSerName val="0"/>
          <c:showPercent val="0"/>
          <c:showBubbleSize val="0"/>
        </c:dLbls>
        <c:gapWidth val="219"/>
        <c:overlap val="-27"/>
        <c:axId val="613844591"/>
        <c:axId val="613845071"/>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列1</c:v>
                      </c:pt>
                    </c:strCache>
                  </c:strRef>
                </c:tx>
                <c:spPr>
                  <a:solidFill>
                    <a:schemeClr val="accent1"/>
                  </a:solidFill>
                  <a:ln>
                    <a:noFill/>
                  </a:ln>
                  <a:effectLst/>
                </c:spPr>
                <c:invertIfNegative val="0"/>
                <c:cat>
                  <c:numRef>
                    <c:extLst>
                      <c:ext uri="{02D57815-91ED-43cb-92C2-25804820EDAC}">
                        <c15:formulaRef>
                          <c15:sqref>Sheet1!$A$2:$A$5</c15:sqref>
                        </c15:formulaRef>
                      </c:ext>
                    </c:extLst>
                    <c:numCache>
                      <c:formatCode>General</c:formatCode>
                      <c:ptCount val="3"/>
                      <c:pt idx="0">
                        <c:v>2023</c:v>
                      </c:pt>
                      <c:pt idx="1">
                        <c:v>2024</c:v>
                      </c:pt>
                      <c:pt idx="2">
                        <c:v>2025</c:v>
                      </c:pt>
                    </c:numCache>
                  </c:numRef>
                </c:cat>
                <c:val>
                  <c:numRef>
                    <c:extLst>
                      <c:ext uri="{02D57815-91ED-43cb-92C2-25804820EDAC}">
                        <c15:formulaRef>
                          <c15:sqref>Sheet1!$B$2:$B$5</c15:sqref>
                        </c15:formulaRef>
                      </c:ext>
                    </c:extLst>
                    <c:numCache>
                      <c:formatCode>General</c:formatCode>
                      <c:ptCount val="3"/>
                    </c:numCache>
                  </c:numRef>
                </c:val>
                <c:extLst>
                  <c:ext xmlns:c16="http://schemas.microsoft.com/office/drawing/2014/chart" uri="{C3380CC4-5D6E-409C-BE32-E72D297353CC}">
                    <c16:uniqueId val="{00000001-335C-474F-A41A-28537628ECF9}"/>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系列 2</c:v>
                      </c:pt>
                    </c:strCache>
                  </c:strRef>
                </c:tx>
                <c:spPr>
                  <a:solidFill>
                    <a:schemeClr val="accent2"/>
                  </a:solidFill>
                  <a:ln>
                    <a:noFill/>
                  </a:ln>
                  <a:effectLst/>
                </c:spPr>
                <c:invertIfNegative val="0"/>
                <c:cat>
                  <c:numRef>
                    <c:extLst xmlns:c15="http://schemas.microsoft.com/office/drawing/2012/chart">
                      <c:ext xmlns:c15="http://schemas.microsoft.com/office/drawing/2012/chart" uri="{02D57815-91ED-43cb-92C2-25804820EDAC}">
                        <c15:formulaRef>
                          <c15:sqref>Sheet1!$A$2:$A$5</c15:sqref>
                        </c15:formulaRef>
                      </c:ext>
                    </c:extLst>
                    <c:numCache>
                      <c:formatCode>General</c:formatCode>
                      <c:ptCount val="3"/>
                      <c:pt idx="0">
                        <c:v>2023</c:v>
                      </c:pt>
                      <c:pt idx="1">
                        <c:v>2024</c:v>
                      </c:pt>
                      <c:pt idx="2">
                        <c:v>2025</c:v>
                      </c:pt>
                    </c:numCache>
                  </c:numRef>
                </c:cat>
                <c:val>
                  <c:numRef>
                    <c:extLst xmlns:c15="http://schemas.microsoft.com/office/drawing/2012/chart">
                      <c:ext xmlns:c15="http://schemas.microsoft.com/office/drawing/2012/chart" uri="{02D57815-91ED-43cb-92C2-25804820EDAC}">
                        <c15:formulaRef>
                          <c15:sqref>Sheet1!$C$2:$C$5</c15:sqref>
                        </c15:formulaRef>
                      </c:ext>
                    </c:extLst>
                    <c:numCache>
                      <c:formatCode>General</c:formatCode>
                      <c:ptCount val="3"/>
                    </c:numCache>
                  </c:numRef>
                </c:val>
                <c:extLst xmlns:c15="http://schemas.microsoft.com/office/drawing/2012/chart">
                  <c:ext xmlns:c16="http://schemas.microsoft.com/office/drawing/2014/chart" uri="{C3380CC4-5D6E-409C-BE32-E72D297353CC}">
                    <c16:uniqueId val="{00000002-335C-474F-A41A-28537628ECF9}"/>
                  </c:ext>
                </c:extLst>
              </c15:ser>
            </c15:filteredBarSeries>
          </c:ext>
        </c:extLst>
      </c:barChart>
      <c:lineChart>
        <c:grouping val="standard"/>
        <c:varyColors val="0"/>
        <c:ser>
          <c:idx val="2"/>
          <c:order val="2"/>
          <c:tx>
            <c:strRef>
              <c:f>Sheet1!$D$1</c:f>
              <c:strCache>
                <c:ptCount val="1"/>
                <c:pt idx="0">
                  <c:v>CPC</c:v>
                </c:pt>
              </c:strCache>
            </c:strRef>
          </c:tx>
          <c:spPr>
            <a:ln w="28575" cap="rnd">
              <a:solidFill>
                <a:schemeClr val="accent3"/>
              </a:solidFill>
              <a:round/>
            </a:ln>
            <a:effectLst/>
          </c:spPr>
          <c:marker>
            <c:symbol val="none"/>
          </c:marker>
          <c:cat>
            <c:numRef>
              <c:f>Sheet1!$A$2:$A$5</c:f>
              <c:numCache>
                <c:formatCode>General</c:formatCode>
                <c:ptCount val="3"/>
                <c:pt idx="0">
                  <c:v>2023</c:v>
                </c:pt>
                <c:pt idx="1">
                  <c:v>2024</c:v>
                </c:pt>
                <c:pt idx="2">
                  <c:v>2025</c:v>
                </c:pt>
              </c:numCache>
              <c:extLst/>
            </c:numRef>
          </c:cat>
          <c:val>
            <c:numRef>
              <c:f>Sheet1!$D$2:$D$5</c:f>
              <c:numCache>
                <c:formatCode>\$#,##0.00_);[Red]\(\$#,##0.00\)</c:formatCode>
                <c:ptCount val="3"/>
                <c:pt idx="0">
                  <c:v>4.22</c:v>
                </c:pt>
                <c:pt idx="1">
                  <c:v>4.66</c:v>
                </c:pt>
                <c:pt idx="2">
                  <c:v>5.26</c:v>
                </c:pt>
              </c:numCache>
              <c:extLst/>
            </c:numRef>
          </c:val>
          <c:smooth val="0"/>
          <c:extLst>
            <c:ext xmlns:c16="http://schemas.microsoft.com/office/drawing/2014/chart" uri="{C3380CC4-5D6E-409C-BE32-E72D297353CC}">
              <c16:uniqueId val="{00000000-335C-474F-A41A-28537628ECF9}"/>
            </c:ext>
          </c:extLst>
        </c:ser>
        <c:dLbls>
          <c:showLegendKey val="0"/>
          <c:showVal val="0"/>
          <c:showCatName val="0"/>
          <c:showSerName val="0"/>
          <c:showPercent val="0"/>
          <c:showBubbleSize val="0"/>
        </c:dLbls>
        <c:marker val="1"/>
        <c:smooth val="0"/>
        <c:axId val="613844591"/>
        <c:axId val="613845071"/>
      </c:lineChart>
      <c:catAx>
        <c:axId val="613844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5071"/>
        <c:crosses val="autoZero"/>
        <c:auto val="1"/>
        <c:lblAlgn val="ctr"/>
        <c:lblOffset val="100"/>
        <c:noMultiLvlLbl val="0"/>
      </c:catAx>
      <c:valAx>
        <c:axId val="61384507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4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31358-5359-73C9-5456-7FDD6F1757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300674-1CDB-B9C3-A112-B682EADD22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06E74F-04CE-DC56-828C-9681532B27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47246-7F2B-5A40-F4E7-147CCEAD5693}"/>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4212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094192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93312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13E29-7CC7-BE85-E19B-E9F4D0298E5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B98A0A-9BA7-2740-0F18-9BCA62FA71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4E924E-F5CF-C251-E064-D21AAB7BE3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332600D-7FF1-C780-807C-79046E45152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216428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BB225-C5A3-7C9D-D90C-01A9BD22F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B05269-85C2-F1B9-FAE0-1EBA40A69B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6019B9-4CE6-1FD5-4883-8C61460A59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5ECC0A1-5A0F-BBA4-F004-0D7E56F9608B}"/>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3402418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A0CC-1E18-2CD6-495D-FEE426CF8D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121464-B459-A8F6-5A00-FE8A5CEEE3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F030D6-B0B1-19AA-D395-5190A91298B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1E75321-6414-59EE-6D99-1ED7DC26E8A1}"/>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099084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41</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17.png"/><Relationship Id="rId7"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9" Type="http://schemas.openxmlformats.org/officeDocument/2006/relationships/image" Target="../media/image28.jpeg"/></Relationships>
</file>

<file path=ppt/slides/_rels/slide22.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17.png"/><Relationship Id="rId7"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32.jpeg"/></Relationships>
</file>

<file path=ppt/slides/_rels/slide23.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17.png"/><Relationship Id="rId7" Type="http://schemas.openxmlformats.org/officeDocument/2006/relationships/image" Target="../media/image32.jpeg"/><Relationship Id="rId12"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jpeg"/><Relationship Id="rId11" Type="http://schemas.openxmlformats.org/officeDocument/2006/relationships/image" Target="../media/image36.jpeg"/><Relationship Id="rId5" Type="http://schemas.openxmlformats.org/officeDocument/2006/relationships/image" Target="../media/image31.jpeg"/><Relationship Id="rId10" Type="http://schemas.openxmlformats.org/officeDocument/2006/relationships/image" Target="../media/image35.jpeg"/><Relationship Id="rId4" Type="http://schemas.openxmlformats.org/officeDocument/2006/relationships/image" Target="../media/image23.jpeg"/><Relationship Id="rId9" Type="http://schemas.openxmlformats.org/officeDocument/2006/relationships/image" Target="../media/image3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emf"/><Relationship Id="rId7"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業界：買取</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で学習・査定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2501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a:t>
            </a:r>
            <a:r>
              <a:rPr kumimoji="1"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で査定」にて</a:t>
            </a:r>
            <a:endParaRPr lang="en-US" altLang="ja-JP" sz="900" b="1" dirty="0">
              <a:solidFill>
                <a:schemeClr val="bg1"/>
              </a:solidFill>
              <a:latin typeface="メイリオ" panose="020B0604030504040204" pitchFamily="50" charset="-128"/>
              <a:ea typeface="メイリオ" panose="020B0604030504040204" pitchFamily="50" charset="-128"/>
            </a:endParaRPr>
          </a:p>
          <a:p>
            <a:pPr algn="ct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176742"/>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２回目の査定</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別商品査定　に繋げる</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55205" y="3677135"/>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検討時期・保有アイテム</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を確認</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ヒヤリングの上、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不足施策を明治</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誘導から最大３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簡易査定</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480000"/>
            <a:ext cx="9200000" cy="280000"/>
          </a:xfrm>
          <a:prstGeom prst="rect">
            <a:avLst/>
          </a:prstGeom>
          <a:noFill/>
        </p:spPr>
        <p:txBody>
          <a:bodyPr wrap="square">
            <a:spAutoFit/>
          </a:bodyPr>
          <a:lstStyle/>
          <a:p>
            <a:r>
              <a:rPr sz="900">
                <a:solidFill>
                  <a:srgbClr val="555555"/>
                </a:solidFill>
                <a:latin typeface="メイリオ"/>
              </a:rPr>
              <a:t>※ 「最大3%」は業態平均として共有されている水準（出典確認中）。保証値ではありません。</a:t>
            </a:r>
          </a:p>
        </p:txBody>
      </p:sp>
    </p:spTree>
    <p:extLst>
      <p:ext uri="{BB962C8B-B14F-4D97-AF65-F5344CB8AC3E}">
        <p14:creationId xmlns:p14="http://schemas.microsoft.com/office/powerpoint/2010/main" val="20700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で査定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6"/>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⑦買取の成立</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⑧他商品の査定・友だち紹介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ネットワーク内回遊</a:t>
            </a:r>
            <a:r>
              <a:rPr lang="ja-JP" altLang="en-US" sz="800" b="1" dirty="0">
                <a:solidFill>
                  <a:schemeClr val="bg1"/>
                </a:solidFill>
                <a:latin typeface="メイリオ" panose="020B0604030504040204" pitchFamily="50" charset="-128"/>
                <a:ea typeface="メイリオ" panose="020B0604030504040204" pitchFamily="50" charset="-128"/>
              </a:rPr>
              <a:t>（トレカ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④査定</a:t>
            </a:r>
            <a:r>
              <a:rPr lang="en-US" altLang="ja-JP" sz="900" b="1" dirty="0">
                <a:latin typeface="メイリオ" panose="020B0604030504040204" pitchFamily="50" charset="-128"/>
                <a:ea typeface="メイリオ" panose="020B0604030504040204" pitchFamily="50" charset="-128"/>
              </a:rPr>
              <a:t>(web/LINE)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32171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a:t>
            </a:r>
            <a:r>
              <a:rPr kumimoji="1" lang="en-US" altLang="ja-JP" sz="1400" dirty="0">
                <a:latin typeface="メイリオ" panose="020B0604030504040204" pitchFamily="50" charset="-128"/>
                <a:ea typeface="メイリオ" panose="020B0604030504040204" pitchFamily="50" charset="-128"/>
              </a:rPr>
              <a:t>--- </a:t>
            </a:r>
            <a:r>
              <a:rPr kumimoji="1" lang="ja-JP" altLang="en-US" sz="1400" b="1" dirty="0">
                <a:latin typeface="メイリオ" panose="020B0604030504040204" pitchFamily="50" charset="-128"/>
                <a:ea typeface="メイリオ" panose="020B0604030504040204" pitchFamily="50" charset="-128"/>
              </a:rPr>
              <a:t>買取</a:t>
            </a:r>
            <a:r>
              <a:rPr kumimoji="1" lang="ja-JP" altLang="en-US" sz="1400" dirty="0">
                <a:latin typeface="メイリオ" panose="020B0604030504040204" pitchFamily="50" charset="-128"/>
                <a:ea typeface="メイリオ" panose="020B0604030504040204" pitchFamily="50" charset="-128"/>
              </a:rPr>
              <a:t>業界の場合 </a:t>
            </a:r>
            <a:r>
              <a:rPr kumimoji="1" lang="en-US" altLang="ja-JP" sz="1400" dirty="0">
                <a:latin typeface="メイリオ" panose="020B0604030504040204" pitchFamily="50" charset="-128"/>
                <a:ea typeface="メイリオ" panose="020B0604030504040204" pitchFamily="50" charset="-128"/>
              </a:rPr>
              <a:t>--- </a:t>
            </a:r>
            <a:r>
              <a:rPr kumimoji="1" lang="ja-JP" altLang="en-US" sz="1400" dirty="0">
                <a:latin typeface="メイリオ" panose="020B0604030504040204" pitchFamily="50" charset="-128"/>
                <a:ea typeface="メイリオ" panose="020B0604030504040204" pitchFamily="50" charset="-128"/>
              </a:rPr>
              <a:t>→</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0948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買取業界でも、</a:t>
            </a:r>
            <a:r>
              <a:rPr lang="en-US" altLang="ja-JP" sz="1400" b="1" dirty="0">
                <a:solidFill>
                  <a:srgbClr val="343434"/>
                </a:solidFill>
                <a:latin typeface="メイリオ" panose="020B0604030504040204" pitchFamily="50" charset="-128"/>
                <a:ea typeface="メイリオ" panose="020B0604030504040204" pitchFamily="50" charset="-128"/>
              </a:rPr>
              <a:t>CPC</a:t>
            </a:r>
            <a:r>
              <a:rPr lang="ja-JP" altLang="en-US" sz="1400" b="1" dirty="0">
                <a:solidFill>
                  <a:srgbClr val="343434"/>
                </a:solidFill>
                <a:latin typeface="メイリオ" panose="020B0604030504040204" pitchFamily="50" charset="-128"/>
                <a:ea typeface="メイリオ" panose="020B0604030504040204" pitchFamily="50" charset="-128"/>
              </a:rPr>
              <a:t>にて３年で２０</a:t>
            </a:r>
            <a:r>
              <a:rPr lang="en-US" altLang="ja-JP" sz="1400" b="1" dirty="0">
                <a:solidFill>
                  <a:srgbClr val="343434"/>
                </a:solidFill>
                <a:latin typeface="メイリオ" panose="020B0604030504040204" pitchFamily="50" charset="-128"/>
                <a:ea typeface="メイリオ" panose="020B0604030504040204" pitchFamily="50" charset="-128"/>
              </a:rPr>
              <a:t>%</a:t>
            </a:r>
            <a:r>
              <a:rPr lang="ja-JP" altLang="en-US" sz="1400" b="1" dirty="0">
                <a:solidFill>
                  <a:srgbClr val="343434"/>
                </a:solidFill>
                <a:latin typeface="メイリオ" panose="020B0604030504040204" pitchFamily="50" charset="-128"/>
                <a:ea typeface="メイリオ" panose="020B0604030504040204" pitchFamily="50" charset="-128"/>
              </a:rPr>
              <a:t>超程度の上昇</a:t>
            </a:r>
            <a:r>
              <a:rPr lang="ja-JP" altLang="en-US" sz="1400" dirty="0">
                <a:solidFill>
                  <a:srgbClr val="343434"/>
                </a:solidFill>
                <a:latin typeface="メイリオ" panose="020B0604030504040204" pitchFamily="50" charset="-128"/>
                <a:ea typeface="メイリオ" panose="020B0604030504040204" pitchFamily="50" charset="-128"/>
              </a:rPr>
              <a:t>が見られる。</a:t>
            </a:r>
            <a:r>
              <a:rPr lang="en-US" altLang="ja-JP" sz="1400" dirty="0">
                <a:solidFill>
                  <a:srgbClr val="343434"/>
                </a:solidFill>
                <a:latin typeface="メイリオ" panose="020B0604030504040204" pitchFamily="50" charset="-128"/>
                <a:ea typeface="メイリオ" panose="020B0604030504040204" pitchFamily="50" charset="-128"/>
              </a:rPr>
              <a:t>※SNS</a:t>
            </a:r>
            <a:r>
              <a:rPr lang="ja-JP" altLang="en-US" sz="1400" dirty="0">
                <a:solidFill>
                  <a:srgbClr val="343434"/>
                </a:solidFill>
                <a:latin typeface="メイリオ" panose="020B0604030504040204" pitchFamily="50" charset="-128"/>
                <a:ea typeface="メイリオ" panose="020B0604030504040204" pitchFamily="50" charset="-128"/>
              </a:rPr>
              <a:t>も同様帯と想定</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rPr>
              <a:t>早期タッチポイントの設定とリード有効化</a:t>
            </a:r>
            <a:r>
              <a:rPr lang="ja-JP" altLang="en-US"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rPr>
              <a:t>施策全体における</a:t>
            </a:r>
            <a:r>
              <a:rPr lang="en-US" altLang="ja-JP" sz="1400" dirty="0">
                <a:solidFill>
                  <a:srgbClr val="FF0000"/>
                </a:solidFill>
                <a:latin typeface="メイリオ" panose="020B0604030504040204" pitchFamily="50" charset="-128"/>
                <a:ea typeface="メイリオ" panose="020B0604030504040204" pitchFamily="50" charset="-128"/>
              </a:rPr>
              <a:t>CVR</a:t>
            </a:r>
            <a:r>
              <a:rPr lang="ja-JP" altLang="en-US" sz="1400" dirty="0">
                <a:solidFill>
                  <a:srgbClr val="FF0000"/>
                </a:solidFill>
                <a:latin typeface="メイリオ" panose="020B0604030504040204" pitchFamily="50" charset="-128"/>
                <a:ea typeface="メイリオ" panose="020B0604030504040204" pitchFamily="50" charset="-128"/>
              </a:rPr>
              <a:t>改善</a:t>
            </a:r>
            <a:r>
              <a:rPr lang="ja-JP" altLang="en-US" sz="1400" dirty="0">
                <a:solidFill>
                  <a:srgbClr val="343434"/>
                </a:solidFill>
                <a:latin typeface="メイリオ" panose="020B0604030504040204" pitchFamily="50" charset="-128"/>
                <a:ea typeface="メイリオ" panose="020B0604030504040204" pitchFamily="50" charset="-128"/>
              </a:rPr>
              <a:t>の</a:t>
            </a:r>
            <a:r>
              <a:rPr lang="ja-JP" altLang="en-US" sz="1400" b="1" dirty="0">
                <a:solidFill>
                  <a:srgbClr val="343434"/>
                </a:solidFill>
                <a:latin typeface="メイリオ" panose="020B0604030504040204" pitchFamily="50" charset="-128"/>
                <a:ea typeface="メイリオ" panose="020B0604030504040204" pitchFamily="50" charset="-128"/>
              </a:rPr>
              <a:t>２点は非常に施策重要度が高い</a:t>
            </a:r>
            <a:r>
              <a:rPr lang="ja-JP" altLang="en-US" sz="1400" dirty="0">
                <a:solidFill>
                  <a:srgbClr val="343434"/>
                </a:solidFill>
                <a:latin typeface="メイリオ" panose="020B0604030504040204" pitchFamily="50" charset="-128"/>
                <a:ea typeface="メイリオ" panose="020B0604030504040204" pitchFamily="50" charset="-128"/>
              </a:rPr>
              <a:t>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741470"/>
            <a:ext cx="5512524" cy="530915"/>
          </a:xfrm>
          <a:prstGeom prst="rect">
            <a:avLst/>
          </a:prstGeom>
          <a:noFill/>
        </p:spPr>
        <p:txBody>
          <a:bodyPr wrap="square">
            <a:spAutoFit/>
          </a:bodyPr>
          <a:lstStyle/>
          <a:p>
            <a:r>
              <a:rPr lang="ja-JP" altLang="en-US" sz="105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050" b="1" i="0" dirty="0">
                <a:solidFill>
                  <a:srgbClr val="525860"/>
                </a:solidFill>
                <a:effectLst/>
                <a:latin typeface="メイリオ" panose="020B0604030504040204" pitchFamily="50" charset="-128"/>
                <a:ea typeface="メイリオ" panose="020B0604030504040204" pitchFamily="50" charset="-128"/>
              </a:rPr>
              <a:t>CPC</a:t>
            </a:r>
            <a:r>
              <a:rPr lang="ja-JP" altLang="en-US" sz="1050" b="1" i="0" dirty="0">
                <a:solidFill>
                  <a:srgbClr val="525860"/>
                </a:solidFill>
                <a:effectLst/>
                <a:latin typeface="メイリオ" panose="020B0604030504040204" pitchFamily="50" charset="-128"/>
                <a:ea typeface="メイリオ" panose="020B0604030504040204" pitchFamily="50" charset="-128"/>
              </a:rPr>
              <a:t>の推移</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163446"/>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3054973"/>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参入企業の増加</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LTV</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前提の過剰入札</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240301"/>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147637"/>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3054972"/>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3048097"/>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graphicFrame>
        <p:nvGraphicFramePr>
          <p:cNvPr id="19" name="グラフ 18">
            <a:extLst>
              <a:ext uri="{FF2B5EF4-FFF2-40B4-BE49-F238E27FC236}">
                <a16:creationId xmlns:a16="http://schemas.microsoft.com/office/drawing/2014/main" id="{5EA7F6E2-FBD6-2741-2B81-44C2000E63B4}"/>
              </a:ext>
            </a:extLst>
          </p:cNvPr>
          <p:cNvGraphicFramePr/>
          <p:nvPr>
            <p:extLst>
              <p:ext uri="{D42A27DB-BD31-4B8C-83A1-F6EECF244321}">
                <p14:modId xmlns:p14="http://schemas.microsoft.com/office/powerpoint/2010/main" val="2371059319"/>
              </p:ext>
            </p:extLst>
          </p:nvPr>
        </p:nvGraphicFramePr>
        <p:xfrm>
          <a:off x="4855027" y="3736504"/>
          <a:ext cx="2159726" cy="2543145"/>
        </p:xfrm>
        <a:graphic>
          <a:graphicData uri="http://schemas.openxmlformats.org/drawingml/2006/chart">
            <c:chart xmlns:c="http://schemas.openxmlformats.org/drawingml/2006/chart" xmlns:r="http://schemas.openxmlformats.org/officeDocument/2006/relationships" r:id="rId3"/>
          </a:graphicData>
        </a:graphic>
      </p:graphicFrame>
      <p:sp>
        <p:nvSpPr>
          <p:cNvPr id="21" name="テキスト ボックス 20">
            <a:extLst>
              <a:ext uri="{FF2B5EF4-FFF2-40B4-BE49-F238E27FC236}">
                <a16:creationId xmlns:a16="http://schemas.microsoft.com/office/drawing/2014/main" id="{9841DBEB-4FEB-CEA2-AFE8-D557C1258B6F}"/>
              </a:ext>
            </a:extLst>
          </p:cNvPr>
          <p:cNvSpPr txBox="1"/>
          <p:nvPr/>
        </p:nvSpPr>
        <p:spPr>
          <a:xfrm>
            <a:off x="4855027" y="5654374"/>
            <a:ext cx="450764" cy="215444"/>
          </a:xfrm>
          <a:prstGeom prst="rect">
            <a:avLst/>
          </a:prstGeom>
          <a:noFill/>
        </p:spPr>
        <p:txBody>
          <a:bodyPr wrap="square" rtlCol="0">
            <a:spAutoFit/>
          </a:bodyPr>
          <a:lstStyle/>
          <a:p>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736504"/>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75000"/>
                    <a:lumOff val="25000"/>
                  </a:schemeClr>
                </a:solidFill>
                <a:latin typeface="名色"/>
                <a:ea typeface="メイリオ" panose="020B0604030504040204" pitchFamily="50" charset="-128"/>
              </a:rPr>
              <a:t>【2025</a:t>
            </a:r>
            <a:r>
              <a:rPr kumimoji="1" lang="ja-JP" altLang="en-US" sz="1050" dirty="0">
                <a:solidFill>
                  <a:schemeClr val="tx1">
                    <a:lumMod val="75000"/>
                    <a:lumOff val="25000"/>
                  </a:schemeClr>
                </a:solidFill>
                <a:latin typeface="名色"/>
                <a:ea typeface="メイリオ" panose="020B0604030504040204" pitchFamily="50" charset="-128"/>
              </a:rPr>
              <a:t>年検索エンジン流入</a:t>
            </a:r>
            <a:r>
              <a:rPr kumimoji="1" lang="en-US" altLang="ja-JP" sz="1050" dirty="0">
                <a:solidFill>
                  <a:schemeClr val="tx1">
                    <a:lumMod val="75000"/>
                    <a:lumOff val="25000"/>
                  </a:schemeClr>
                </a:solidFill>
                <a:latin typeface="名色"/>
                <a:ea typeface="メイリオ" panose="020B0604030504040204" pitchFamily="50" charset="-128"/>
              </a:rPr>
              <a:t>】</a:t>
            </a:r>
          </a:p>
          <a:p>
            <a:pPr algn="ctr"/>
            <a:r>
              <a:rPr lang="ja-JP" altLang="en-US" sz="1050" dirty="0">
                <a:solidFill>
                  <a:schemeClr val="tx1">
                    <a:lumMod val="75000"/>
                    <a:lumOff val="25000"/>
                  </a:schemeClr>
                </a:solidFill>
                <a:latin typeface="名色"/>
                <a:ea typeface="メイリオ" panose="020B0604030504040204" pitchFamily="50" charset="-128"/>
              </a:rPr>
              <a:t>前年比＋</a:t>
            </a:r>
            <a:r>
              <a:rPr lang="en-US" altLang="ja-JP" sz="1050" dirty="0">
                <a:solidFill>
                  <a:schemeClr val="tx1">
                    <a:lumMod val="75000"/>
                    <a:lumOff val="25000"/>
                  </a:schemeClr>
                </a:solidFill>
                <a:latin typeface="名色"/>
                <a:ea typeface="メイリオ" panose="020B0604030504040204" pitchFamily="50" charset="-128"/>
              </a:rPr>
              <a:t>0.4</a:t>
            </a:r>
            <a:r>
              <a:rPr lang="ja-JP" altLang="en-US" sz="1050" dirty="0">
                <a:solidFill>
                  <a:schemeClr val="tx1">
                    <a:lumMod val="75000"/>
                    <a:lumOff val="25000"/>
                  </a:schemeClr>
                </a:solidFill>
                <a:latin typeface="名色"/>
                <a:ea typeface="メイリオ" panose="020B0604030504040204" pitchFamily="50" charset="-128"/>
              </a:rPr>
              <a:t>％</a:t>
            </a: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dirty="0">
              <a:solidFill>
                <a:schemeClr val="tx1">
                  <a:lumMod val="75000"/>
                  <a:lumOff val="25000"/>
                </a:schemeClr>
              </a:solidFill>
              <a:latin typeface="名色"/>
              <a:ea typeface="メイリオ" panose="020B0604030504040204" pitchFamily="50" charset="-128"/>
            </a:endParaRPr>
          </a:p>
          <a:p>
            <a:pPr algn="ctr"/>
            <a:r>
              <a:rPr kumimoji="1" lang="en-US" altLang="ja-JP" sz="1050" dirty="0">
                <a:solidFill>
                  <a:schemeClr val="tx1">
                    <a:lumMod val="75000"/>
                    <a:lumOff val="25000"/>
                  </a:schemeClr>
                </a:solidFill>
                <a:latin typeface="名色"/>
                <a:ea typeface="メイリオ" panose="020B0604030504040204" pitchFamily="50" charset="-128"/>
              </a:rPr>
              <a:t>【2023</a:t>
            </a:r>
            <a:r>
              <a:rPr kumimoji="1" lang="ja-JP" altLang="en-US" sz="1050" dirty="0">
                <a:solidFill>
                  <a:schemeClr val="tx1">
                    <a:lumMod val="75000"/>
                    <a:lumOff val="25000"/>
                  </a:schemeClr>
                </a:solidFill>
                <a:latin typeface="名色"/>
                <a:ea typeface="メイリオ" panose="020B0604030504040204" pitchFamily="50" charset="-128"/>
              </a:rPr>
              <a:t>年以降</a:t>
            </a:r>
            <a:r>
              <a:rPr kumimoji="1" lang="en-US" altLang="ja-JP" sz="1050" dirty="0">
                <a:solidFill>
                  <a:schemeClr val="tx1">
                    <a:lumMod val="75000"/>
                    <a:lumOff val="25000"/>
                  </a:schemeClr>
                </a:solidFill>
                <a:latin typeface="名色"/>
                <a:ea typeface="メイリオ" panose="020B0604030504040204" pitchFamily="50" charset="-128"/>
              </a:rPr>
              <a:t>】</a:t>
            </a:r>
          </a:p>
          <a:p>
            <a:pPr algn="ctr"/>
            <a:r>
              <a:rPr lang="ja-JP" altLang="en-US" sz="1050" dirty="0">
                <a:solidFill>
                  <a:schemeClr val="tx1">
                    <a:lumMod val="75000"/>
                    <a:lumOff val="25000"/>
                  </a:schemeClr>
                </a:solidFill>
                <a:latin typeface="名色"/>
                <a:ea typeface="メイリオ" panose="020B0604030504040204" pitchFamily="50" charset="-128"/>
              </a:rPr>
              <a:t>約</a:t>
            </a:r>
            <a:r>
              <a:rPr lang="en-US" altLang="ja-JP" sz="1050" dirty="0">
                <a:solidFill>
                  <a:schemeClr val="tx1">
                    <a:lumMod val="75000"/>
                    <a:lumOff val="25000"/>
                  </a:schemeClr>
                </a:solidFill>
                <a:latin typeface="名色"/>
                <a:ea typeface="メイリオ" panose="020B0604030504040204" pitchFamily="50" charset="-128"/>
              </a:rPr>
              <a:t>-</a:t>
            </a:r>
            <a:r>
              <a:rPr lang="ja-JP" altLang="en-US" sz="1050" dirty="0">
                <a:solidFill>
                  <a:schemeClr val="tx1">
                    <a:lumMod val="75000"/>
                    <a:lumOff val="25000"/>
                  </a:schemeClr>
                </a:solidFill>
                <a:latin typeface="名色"/>
                <a:ea typeface="メイリオ" panose="020B0604030504040204" pitchFamily="50" charset="-128"/>
              </a:rPr>
              <a:t>１％程度の微減～横ばい</a:t>
            </a: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dirty="0">
              <a:solidFill>
                <a:schemeClr val="tx1">
                  <a:lumMod val="75000"/>
                  <a:lumOff val="25000"/>
                </a:schemeClr>
              </a:solidFill>
              <a:latin typeface="名色"/>
              <a:ea typeface="メイリオ" panose="020B0604030504040204" pitchFamily="50" charset="-128"/>
            </a:endParaRPr>
          </a:p>
          <a:p>
            <a:pPr algn="ctr"/>
            <a:r>
              <a:rPr lang="en-US" altLang="ja-JP" sz="1050" dirty="0">
                <a:solidFill>
                  <a:schemeClr val="tx1">
                    <a:lumMod val="75000"/>
                    <a:lumOff val="25000"/>
                  </a:schemeClr>
                </a:solidFill>
                <a:latin typeface="名色"/>
                <a:ea typeface="メイリオ" panose="020B0604030504040204" pitchFamily="50" charset="-128"/>
              </a:rPr>
              <a:t>【</a:t>
            </a:r>
            <a:r>
              <a:rPr lang="ja-JP" altLang="en-US" sz="1050" dirty="0">
                <a:solidFill>
                  <a:schemeClr val="tx1">
                    <a:lumMod val="75000"/>
                    <a:lumOff val="25000"/>
                  </a:schemeClr>
                </a:solidFill>
                <a:latin typeface="名色"/>
                <a:ea typeface="メイリオ" panose="020B0604030504040204" pitchFamily="50" charset="-128"/>
              </a:rPr>
              <a:t>重複ユーザー数</a:t>
            </a:r>
            <a:r>
              <a:rPr lang="en-US" altLang="ja-JP" sz="1050" dirty="0">
                <a:solidFill>
                  <a:schemeClr val="tx1">
                    <a:lumMod val="75000"/>
                    <a:lumOff val="25000"/>
                  </a:schemeClr>
                </a:solidFill>
                <a:latin typeface="名色"/>
                <a:ea typeface="メイリオ" panose="020B0604030504040204" pitchFamily="50" charset="-128"/>
              </a:rPr>
              <a:t>】</a:t>
            </a:r>
          </a:p>
          <a:p>
            <a:pPr algn="ctr"/>
            <a:r>
              <a:rPr lang="ja-JP" altLang="en-US" sz="1050" dirty="0">
                <a:solidFill>
                  <a:schemeClr val="tx1">
                    <a:lumMod val="75000"/>
                    <a:lumOff val="25000"/>
                  </a:schemeClr>
                </a:solidFill>
                <a:latin typeface="名色"/>
                <a:ea typeface="メイリオ" panose="020B0604030504040204" pitchFamily="50" charset="-128"/>
              </a:rPr>
              <a:t>前年比</a:t>
            </a:r>
            <a:r>
              <a:rPr lang="en-US" altLang="ja-JP" sz="1050" dirty="0">
                <a:solidFill>
                  <a:schemeClr val="tx1">
                    <a:lumMod val="75000"/>
                    <a:lumOff val="25000"/>
                  </a:schemeClr>
                </a:solidFill>
                <a:latin typeface="名色"/>
                <a:ea typeface="メイリオ" panose="020B0604030504040204" pitchFamily="50" charset="-128"/>
              </a:rPr>
              <a:t>-0.3%</a:t>
            </a:r>
            <a:r>
              <a:rPr lang="ja-JP" altLang="en-US" sz="1050" dirty="0">
                <a:solidFill>
                  <a:schemeClr val="tx1">
                    <a:lumMod val="75000"/>
                    <a:lumOff val="25000"/>
                  </a:schemeClr>
                </a:solidFill>
                <a:latin typeface="名色"/>
                <a:ea typeface="メイリオ" panose="020B0604030504040204" pitchFamily="50" charset="-128"/>
              </a:rPr>
              <a:t>（実質停滞）</a:t>
            </a: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dirty="0">
              <a:solidFill>
                <a:schemeClr val="tx1">
                  <a:lumMod val="75000"/>
                  <a:lumOff val="25000"/>
                </a:schemeClr>
              </a:solidFill>
              <a:latin typeface="名色"/>
              <a:ea typeface="メイリオ" panose="020B0604030504040204" pitchFamily="50" charset="-128"/>
            </a:endParaRPr>
          </a:p>
          <a:p>
            <a:pPr algn="ctr"/>
            <a:r>
              <a:rPr lang="ja-JP" altLang="en-US" sz="1050" dirty="0">
                <a:solidFill>
                  <a:schemeClr val="tx1">
                    <a:lumMod val="75000"/>
                    <a:lumOff val="25000"/>
                  </a:schemeClr>
                </a:solidFill>
                <a:latin typeface="名色"/>
                <a:ea typeface="メイリオ" panose="020B0604030504040204" pitchFamily="50" charset="-128"/>
              </a:rPr>
              <a:t>⇊</a:t>
            </a:r>
            <a:endParaRPr lang="en-US" altLang="ja-JP" sz="1050" dirty="0">
              <a:solidFill>
                <a:schemeClr val="tx1">
                  <a:lumMod val="75000"/>
                  <a:lumOff val="25000"/>
                </a:schemeClr>
              </a:solidFill>
              <a:latin typeface="名色"/>
              <a:ea typeface="メイリオ" panose="020B0604030504040204" pitchFamily="50" charset="-128"/>
            </a:endParaRPr>
          </a:p>
          <a:p>
            <a:pPr algn="ctr"/>
            <a:r>
              <a:rPr lang="ja-JP" altLang="en-US" sz="1050" b="1" dirty="0">
                <a:solidFill>
                  <a:schemeClr val="tx1">
                    <a:lumMod val="75000"/>
                    <a:lumOff val="25000"/>
                  </a:schemeClr>
                </a:solidFill>
                <a:latin typeface="名色"/>
                <a:ea typeface="メイリオ" panose="020B0604030504040204" pitchFamily="50" charset="-128"/>
              </a:rPr>
              <a:t>検索需要は拡大していない</a:t>
            </a:r>
            <a:endParaRPr lang="en-US" altLang="ja-JP" sz="1050" b="1" dirty="0">
              <a:solidFill>
                <a:schemeClr val="tx1">
                  <a:lumMod val="75000"/>
                  <a:lumOff val="25000"/>
                </a:schemeClr>
              </a:solidFill>
              <a:latin typeface="名色"/>
              <a:ea typeface="メイリオ" panose="020B0604030504040204" pitchFamily="50" charset="-128"/>
            </a:endParaRPr>
          </a:p>
        </p:txBody>
      </p:sp>
      <p:cxnSp>
        <p:nvCxnSpPr>
          <p:cNvPr id="26" name="直線矢印コネクタ 25">
            <a:extLst>
              <a:ext uri="{FF2B5EF4-FFF2-40B4-BE49-F238E27FC236}">
                <a16:creationId xmlns:a16="http://schemas.microsoft.com/office/drawing/2014/main" id="{F2ED569F-B88F-268D-C92E-3B1A33C6FC2C}"/>
              </a:ext>
            </a:extLst>
          </p:cNvPr>
          <p:cNvCxnSpPr/>
          <p:nvPr/>
        </p:nvCxnSpPr>
        <p:spPr>
          <a:xfrm flipV="1">
            <a:off x="5503817" y="4147637"/>
            <a:ext cx="1001486" cy="85826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四角形: 角を丸くする 27">
            <a:extLst>
              <a:ext uri="{FF2B5EF4-FFF2-40B4-BE49-F238E27FC236}">
                <a16:creationId xmlns:a16="http://schemas.microsoft.com/office/drawing/2014/main" id="{5E9B660E-A4CD-9923-72EA-226C228A8CCD}"/>
              </a:ext>
            </a:extLst>
          </p:cNvPr>
          <p:cNvSpPr/>
          <p:nvPr/>
        </p:nvSpPr>
        <p:spPr>
          <a:xfrm>
            <a:off x="5381802" y="4430651"/>
            <a:ext cx="709750" cy="236864"/>
          </a:xfrm>
          <a:prstGeom prst="roundRect">
            <a:avLst/>
          </a:prstGeom>
          <a:solidFill>
            <a:schemeClr val="bg1"/>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rgbClr val="FF0000"/>
                </a:solidFill>
                <a:latin typeface="メイリオ" panose="020B0604030504040204" pitchFamily="50" charset="-128"/>
                <a:ea typeface="メイリオ" panose="020B0604030504040204" pitchFamily="50" charset="-128"/>
              </a:rPr>
              <a:t>1.23</a:t>
            </a:r>
            <a:r>
              <a:rPr kumimoji="1" lang="ja-JP" altLang="en-US" sz="1050" dirty="0">
                <a:solidFill>
                  <a:srgbClr val="FF0000"/>
                </a:solidFill>
                <a:latin typeface="メイリオ" panose="020B0604030504040204" pitchFamily="50" charset="-128"/>
                <a:ea typeface="メイリオ" panose="020B0604030504040204" pitchFamily="50" charset="-128"/>
              </a:rPr>
              <a:t>倍</a:t>
            </a:r>
          </a:p>
        </p:txBody>
      </p:sp>
      <p:sp>
        <p:nvSpPr>
          <p:cNvPr id="93" name="TextBox 92"/>
          <p:cNvSpPr txBox="1"/>
          <p:nvPr/>
        </p:nvSpPr>
        <p:spPr>
          <a:xfrm>
            <a:off x="350000" y="6480000"/>
            <a:ext cx="9200000" cy="280000"/>
          </a:xfrm>
          <a:prstGeom prst="rect">
            <a:avLst/>
          </a:prstGeom>
          <a:noFill/>
        </p:spPr>
        <p:txBody>
          <a:bodyPr wrap="square">
            <a:spAutoFit/>
          </a:bodyPr>
          <a:lstStyle/>
          <a:p>
            <a:r>
              <a:rPr sz="900">
                <a:solidFill>
                  <a:srgbClr val="555555"/>
                </a:solidFill>
                <a:latin typeface="メイリオ"/>
              </a:rPr>
              <a:t>※ CPC推移・上昇率は公開情報および運用実績に基づく想定値。出典は確認のうえ最終版で明記予定。</a:t>
            </a:r>
          </a:p>
        </p:txBody>
      </p:sp>
    </p:spTree>
    <p:extLst>
      <p:ext uri="{BB962C8B-B14F-4D97-AF65-F5344CB8AC3E}">
        <p14:creationId xmlns:p14="http://schemas.microsoft.com/office/powerpoint/2010/main" val="1187594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買取業界においても、マーケティング支援実績が豊富。CV地点は査定／購入申込で CVR 1.5〜4%</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CPA ¥8,000〜15,000。配信コンテンツを出し分け、LINE施策から高CVを狙う。</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C8BBE82-7A1B-2AA4-680B-9A59DF463243}"/>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1389A796-B845-887E-D54B-16DCC75361E0}"/>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A66A2D24-D49A-2FD7-CA11-EF7C8D631F70}"/>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051870B5-8B63-8F32-9E3E-2906547978E5}"/>
              </a:ext>
            </a:extLst>
          </p:cNvPr>
          <p:cNvSpPr txBox="1"/>
          <p:nvPr/>
        </p:nvSpPr>
        <p:spPr>
          <a:xfrm>
            <a:off x="422366" y="1741470"/>
            <a:ext cx="5512524" cy="530915"/>
          </a:xfrm>
          <a:prstGeom prst="rect">
            <a:avLst/>
          </a:prstGeom>
          <a:no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　広告実績CVR（CV地点記載）</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graphicFrame>
        <p:nvGraphicFramePr>
          <p:cNvPr id="93" name="Table 92"/>
          <p:cNvGraphicFramePr>
            <a:graphicFrameLocks noGrp="1"/>
          </p:cNvGraphicFramePr>
          <p:nvPr/>
        </p:nvGraphicFramePr>
        <p:xfrm>
          <a:off x="550000" y="2450000"/>
          <a:ext cx="8800000" cy="2350000"/>
        </p:xfrm>
        <a:graphic>
          <a:graphicData uri="http://schemas.openxmlformats.org/drawingml/2006/table">
            <a:tbl>
              <a:tblPr firstRow="1" bandRow="1">
                <a:tableStyleId>{5C22544A-7EE6-4342-B048-85BDC9FD1C3A}</a:tableStyleId>
              </a:tblPr>
              <a:tblGrid>
                <a:gridCol w="225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650000">
                  <a:extLst>
                    <a:ext uri="{9D8B030D-6E8A-4147-A177-3AD203B41FA5}">
                      <a16:colId xmlns:a16="http://schemas.microsoft.com/office/drawing/2014/main" val="20002"/>
                    </a:ext>
                  </a:extLst>
                </a:gridCol>
                <a:gridCol w="1100000">
                  <a:extLst>
                    <a:ext uri="{9D8B030D-6E8A-4147-A177-3AD203B41FA5}">
                      <a16:colId xmlns:a16="http://schemas.microsoft.com/office/drawing/2014/main" val="20003"/>
                    </a:ext>
                  </a:extLst>
                </a:gridCol>
                <a:gridCol w="1100000">
                  <a:extLst>
                    <a:ext uri="{9D8B030D-6E8A-4147-A177-3AD203B41FA5}">
                      <a16:colId xmlns:a16="http://schemas.microsoft.com/office/drawing/2014/main" val="20004"/>
                    </a:ext>
                  </a:extLst>
                </a:gridCol>
                <a:gridCol w="1200000">
                  <a:extLst>
                    <a:ext uri="{9D8B030D-6E8A-4147-A177-3AD203B41FA5}">
                      <a16:colId xmlns:a16="http://schemas.microsoft.com/office/drawing/2014/main" val="20005"/>
                    </a:ext>
                  </a:extLst>
                </a:gridCol>
              </a:tblGrid>
              <a:tr h="470000">
                <a:tc>
                  <a:txBody>
                    <a:bodyPr/>
                    <a:lstStyle/>
                    <a:p>
                      <a:pPr algn="l"/>
                      <a:r>
                        <a:rPr sz="1000" b="1">
                          <a:solidFill>
                            <a:srgbClr val="FFFFFF"/>
                          </a:solidFill>
                          <a:latin typeface="メイリオ"/>
                        </a:rPr>
                        <a:t>カテゴリ（メインKW）</a:t>
                      </a:r>
                    </a:p>
                  </a:txBody>
                  <a:tcPr>
                    <a:solidFill>
                      <a:srgbClr val="24345A"/>
                    </a:solidFill>
                  </a:tcPr>
                </a:tc>
                <a:tc>
                  <a:txBody>
                    <a:bodyPr/>
                    <a:lstStyle/>
                    <a:p>
                      <a:pPr algn="l"/>
                      <a:r>
                        <a:rPr sz="1000" b="1">
                          <a:solidFill>
                            <a:srgbClr val="FFFFFF"/>
                          </a:solidFill>
                          <a:latin typeface="メイリオ"/>
                        </a:rPr>
                        <a:t>CV地点</a:t>
                      </a:r>
                    </a:p>
                  </a:txBody>
                  <a:tcPr>
                    <a:solidFill>
                      <a:srgbClr val="24345A"/>
                    </a:solidFill>
                  </a:tcPr>
                </a:tc>
                <a:tc>
                  <a:txBody>
                    <a:bodyPr/>
                    <a:lstStyle/>
                    <a:p>
                      <a:pPr algn="l"/>
                      <a:r>
                        <a:rPr sz="1000" b="1">
                          <a:solidFill>
                            <a:srgbClr val="FFFFFF"/>
                          </a:solidFill>
                          <a:latin typeface="メイリオ"/>
                        </a:rPr>
                        <a:t>運用予算/月</a:t>
                      </a:r>
                    </a:p>
                  </a:txBody>
                  <a:tcPr>
                    <a:solidFill>
                      <a:srgbClr val="24345A"/>
                    </a:solidFill>
                  </a:tcPr>
                </a:tc>
                <a:tc>
                  <a:txBody>
                    <a:bodyPr/>
                    <a:lstStyle/>
                    <a:p>
                      <a:pPr algn="l"/>
                      <a:r>
                        <a:rPr sz="1000" b="1">
                          <a:solidFill>
                            <a:srgbClr val="FFFFFF"/>
                          </a:solidFill>
                          <a:latin typeface="メイリオ"/>
                        </a:rPr>
                        <a:t>平均CPC</a:t>
                      </a:r>
                    </a:p>
                  </a:txBody>
                  <a:tcPr>
                    <a:solidFill>
                      <a:srgbClr val="24345A"/>
                    </a:solidFill>
                  </a:tcPr>
                </a:tc>
                <a:tc>
                  <a:txBody>
                    <a:bodyPr/>
                    <a:lstStyle/>
                    <a:p>
                      <a:pPr algn="l"/>
                      <a:r>
                        <a:rPr sz="1000" b="1">
                          <a:solidFill>
                            <a:srgbClr val="FFFFFF"/>
                          </a:solidFill>
                          <a:latin typeface="メイリオ"/>
                        </a:rPr>
                        <a:t>平均CVR</a:t>
                      </a:r>
                    </a:p>
                  </a:txBody>
                  <a:tcPr>
                    <a:solidFill>
                      <a:srgbClr val="24345A"/>
                    </a:solidFill>
                  </a:tcPr>
                </a:tc>
                <a:tc>
                  <a:txBody>
                    <a:bodyPr/>
                    <a:lstStyle/>
                    <a:p>
                      <a:pPr algn="l"/>
                      <a:r>
                        <a:rPr sz="1000" b="1">
                          <a:solidFill>
                            <a:srgbClr val="FFFFFF"/>
                          </a:solidFill>
                          <a:latin typeface="メイリオ"/>
                        </a:rPr>
                        <a:t>CPA</a:t>
                      </a:r>
                    </a:p>
                  </a:txBody>
                  <a:tcPr>
                    <a:solidFill>
                      <a:srgbClr val="24345A"/>
                    </a:solidFill>
                  </a:tcPr>
                </a:tc>
                <a:extLst>
                  <a:ext uri="{0D108BD9-81ED-4DB2-BD59-A6C34878D82A}">
                    <a16:rowId xmlns:a16="http://schemas.microsoft.com/office/drawing/2014/main" val="10000"/>
                  </a:ext>
                </a:extLst>
              </a:tr>
              <a:tr h="470000">
                <a:tc>
                  <a:txBody>
                    <a:bodyPr/>
                    <a:lstStyle/>
                    <a:p>
                      <a:pPr algn="l"/>
                      <a:r>
                        <a:rPr sz="950" b="1">
                          <a:solidFill>
                            <a:srgbClr val="1F3A5F"/>
                          </a:solidFill>
                          <a:latin typeface="メイリオ"/>
                        </a:rPr>
                        <a:t>金 買取</a:t>
                      </a:r>
                    </a:p>
                  </a:txBody>
                  <a:tcPr>
                    <a:solidFill>
                      <a:srgbClr val="FFFFFF"/>
                    </a:solidFill>
                  </a:tcPr>
                </a:tc>
                <a:tc>
                  <a:txBody>
                    <a:bodyPr/>
                    <a:lstStyle/>
                    <a:p>
                      <a:pPr algn="l"/>
                      <a:r>
                        <a:rPr sz="950" b="0">
                          <a:solidFill>
                            <a:srgbClr val="555555"/>
                          </a:solidFill>
                          <a:latin typeface="メイリオ"/>
                        </a:rPr>
                        <a:t>無料査定</a:t>
                      </a:r>
                    </a:p>
                  </a:txBody>
                  <a:tcPr>
                    <a:solidFill>
                      <a:srgbClr val="FFFFFF"/>
                    </a:solidFill>
                  </a:tcPr>
                </a:tc>
                <a:tc>
                  <a:txBody>
                    <a:bodyPr/>
                    <a:lstStyle/>
                    <a:p>
                      <a:pPr algn="l"/>
                      <a:r>
                        <a:rPr sz="950" b="0">
                          <a:solidFill>
                            <a:srgbClr val="555555"/>
                          </a:solidFill>
                          <a:latin typeface="メイリオ"/>
                        </a:rPr>
                        <a:t>¥1,000,000</a:t>
                      </a:r>
                    </a:p>
                  </a:txBody>
                  <a:tcPr>
                    <a:solidFill>
                      <a:srgbClr val="FFFFFF"/>
                    </a:solidFill>
                  </a:tcPr>
                </a:tc>
                <a:tc>
                  <a:txBody>
                    <a:bodyPr/>
                    <a:lstStyle/>
                    <a:p>
                      <a:pPr algn="l"/>
                      <a:r>
                        <a:rPr sz="950" b="0">
                          <a:solidFill>
                            <a:srgbClr val="555555"/>
                          </a:solidFill>
                          <a:latin typeface="メイリオ"/>
                        </a:rPr>
                        <a:t>¥120</a:t>
                      </a:r>
                    </a:p>
                  </a:txBody>
                  <a:tcPr>
                    <a:solidFill>
                      <a:srgbClr val="FFFFFF"/>
                    </a:solidFill>
                  </a:tcPr>
                </a:tc>
                <a:tc>
                  <a:txBody>
                    <a:bodyPr/>
                    <a:lstStyle/>
                    <a:p>
                      <a:pPr algn="l"/>
                      <a:r>
                        <a:rPr sz="950" b="0">
                          <a:solidFill>
                            <a:srgbClr val="555555"/>
                          </a:solidFill>
                          <a:latin typeface="メイリオ"/>
                        </a:rPr>
                        <a:t>2.0%</a:t>
                      </a:r>
                    </a:p>
                  </a:txBody>
                  <a:tcPr>
                    <a:solidFill>
                      <a:srgbClr val="FFFFFF"/>
                    </a:solidFill>
                  </a:tcPr>
                </a:tc>
                <a:tc>
                  <a:txBody>
                    <a:bodyPr/>
                    <a:lstStyle/>
                    <a:p>
                      <a:pPr algn="l"/>
                      <a:r>
                        <a:rPr sz="950" b="0">
                          <a:solidFill>
                            <a:srgbClr val="555555"/>
                          </a:solidFill>
                          <a:latin typeface="メイリオ"/>
                        </a:rPr>
                        <a:t>¥8,000</a:t>
                      </a:r>
                    </a:p>
                  </a:txBody>
                  <a:tcPr>
                    <a:solidFill>
                      <a:srgbClr val="FFFFFF"/>
                    </a:solidFill>
                  </a:tcPr>
                </a:tc>
                <a:extLst>
                  <a:ext uri="{0D108BD9-81ED-4DB2-BD59-A6C34878D82A}">
                    <a16:rowId xmlns:a16="http://schemas.microsoft.com/office/drawing/2014/main" val="10001"/>
                  </a:ext>
                </a:extLst>
              </a:tr>
              <a:tr h="470000">
                <a:tc>
                  <a:txBody>
                    <a:bodyPr/>
                    <a:lstStyle/>
                    <a:p>
                      <a:pPr algn="l"/>
                      <a:r>
                        <a:rPr sz="950" b="1">
                          <a:solidFill>
                            <a:srgbClr val="1F3A5F"/>
                          </a:solidFill>
                          <a:latin typeface="メイリオ"/>
                        </a:rPr>
                        <a:t>ブランド買取</a:t>
                      </a:r>
                    </a:p>
                  </a:txBody>
                  <a:tcPr>
                    <a:solidFill>
                      <a:srgbClr val="F2F5F9"/>
                    </a:solidFill>
                  </a:tcPr>
                </a:tc>
                <a:tc>
                  <a:txBody>
                    <a:bodyPr/>
                    <a:lstStyle/>
                    <a:p>
                      <a:pPr algn="l"/>
                      <a:r>
                        <a:rPr sz="950" b="0">
                          <a:solidFill>
                            <a:srgbClr val="555555"/>
                          </a:solidFill>
                          <a:latin typeface="メイリオ"/>
                        </a:rPr>
                        <a:t>購入申込み</a:t>
                      </a:r>
                    </a:p>
                  </a:txBody>
                  <a:tcPr>
                    <a:solidFill>
                      <a:srgbClr val="F2F5F9"/>
                    </a:solidFill>
                  </a:tcPr>
                </a:tc>
                <a:tc>
                  <a:txBody>
                    <a:bodyPr/>
                    <a:lstStyle/>
                    <a:p>
                      <a:pPr algn="l"/>
                      <a:r>
                        <a:rPr sz="950" b="0">
                          <a:solidFill>
                            <a:srgbClr val="555555"/>
                          </a:solidFill>
                          <a:latin typeface="メイリオ"/>
                        </a:rPr>
                        <a:t>¥500,000</a:t>
                      </a:r>
                    </a:p>
                  </a:txBody>
                  <a:tcPr>
                    <a:solidFill>
                      <a:srgbClr val="F2F5F9"/>
                    </a:solidFill>
                  </a:tcPr>
                </a:tc>
                <a:tc>
                  <a:txBody>
                    <a:bodyPr/>
                    <a:lstStyle/>
                    <a:p>
                      <a:pPr algn="l"/>
                      <a:r>
                        <a:rPr sz="950" b="0">
                          <a:solidFill>
                            <a:srgbClr val="555555"/>
                          </a:solidFill>
                          <a:latin typeface="メイリオ"/>
                        </a:rPr>
                        <a:t>¥200</a:t>
                      </a:r>
                    </a:p>
                  </a:txBody>
                  <a:tcPr>
                    <a:solidFill>
                      <a:srgbClr val="F2F5F9"/>
                    </a:solidFill>
                  </a:tcPr>
                </a:tc>
                <a:tc>
                  <a:txBody>
                    <a:bodyPr/>
                    <a:lstStyle/>
                    <a:p>
                      <a:pPr algn="l"/>
                      <a:r>
                        <a:rPr sz="950" b="0">
                          <a:solidFill>
                            <a:srgbClr val="555555"/>
                          </a:solidFill>
                          <a:latin typeface="メイリオ"/>
                        </a:rPr>
                        <a:t>1.5%</a:t>
                      </a:r>
                    </a:p>
                  </a:txBody>
                  <a:tcPr>
                    <a:solidFill>
                      <a:srgbClr val="F2F5F9"/>
                    </a:solidFill>
                  </a:tcPr>
                </a:tc>
                <a:tc>
                  <a:txBody>
                    <a:bodyPr/>
                    <a:lstStyle/>
                    <a:p>
                      <a:pPr algn="l"/>
                      <a:r>
                        <a:rPr sz="950" b="0">
                          <a:solidFill>
                            <a:srgbClr val="555555"/>
                          </a:solidFill>
                          <a:latin typeface="メイリオ"/>
                        </a:rPr>
                        <a:t>¥12,000</a:t>
                      </a:r>
                    </a:p>
                  </a:txBody>
                  <a:tcPr>
                    <a:solidFill>
                      <a:srgbClr val="F2F5F9"/>
                    </a:solidFill>
                  </a:tcPr>
                </a:tc>
                <a:extLst>
                  <a:ext uri="{0D108BD9-81ED-4DB2-BD59-A6C34878D82A}">
                    <a16:rowId xmlns:a16="http://schemas.microsoft.com/office/drawing/2014/main" val="10002"/>
                  </a:ext>
                </a:extLst>
              </a:tr>
              <a:tr h="470000">
                <a:tc>
                  <a:txBody>
                    <a:bodyPr/>
                    <a:lstStyle/>
                    <a:p>
                      <a:pPr algn="l"/>
                      <a:r>
                        <a:rPr sz="950" b="1">
                          <a:solidFill>
                            <a:srgbClr val="1F3A5F"/>
                          </a:solidFill>
                          <a:latin typeface="メイリオ"/>
                        </a:rPr>
                        <a:t>時計 買取</a:t>
                      </a:r>
                    </a:p>
                  </a:txBody>
                  <a:tcPr>
                    <a:solidFill>
                      <a:srgbClr val="FFFFFF"/>
                    </a:solidFill>
                  </a:tcPr>
                </a:tc>
                <a:tc>
                  <a:txBody>
                    <a:bodyPr/>
                    <a:lstStyle/>
                    <a:p>
                      <a:pPr algn="l"/>
                      <a:r>
                        <a:rPr sz="950" b="0">
                          <a:solidFill>
                            <a:srgbClr val="555555"/>
                          </a:solidFill>
                          <a:latin typeface="メイリオ"/>
                        </a:rPr>
                        <a:t>無料査定</a:t>
                      </a:r>
                    </a:p>
                  </a:txBody>
                  <a:tcPr>
                    <a:solidFill>
                      <a:srgbClr val="FFFFFF"/>
                    </a:solidFill>
                  </a:tcPr>
                </a:tc>
                <a:tc>
                  <a:txBody>
                    <a:bodyPr/>
                    <a:lstStyle/>
                    <a:p>
                      <a:pPr algn="l"/>
                      <a:r>
                        <a:rPr sz="950" b="0">
                          <a:solidFill>
                            <a:srgbClr val="555555"/>
                          </a:solidFill>
                          <a:latin typeface="メイリオ"/>
                        </a:rPr>
                        <a:t>¥800,000</a:t>
                      </a:r>
                    </a:p>
                  </a:txBody>
                  <a:tcPr>
                    <a:solidFill>
                      <a:srgbClr val="FFFFFF"/>
                    </a:solidFill>
                  </a:tcPr>
                </a:tc>
                <a:tc>
                  <a:txBody>
                    <a:bodyPr/>
                    <a:lstStyle/>
                    <a:p>
                      <a:pPr algn="l"/>
                      <a:r>
                        <a:rPr sz="950" b="0">
                          <a:solidFill>
                            <a:srgbClr val="555555"/>
                          </a:solidFill>
                          <a:latin typeface="メイリオ"/>
                        </a:rPr>
                        <a:t>¥300</a:t>
                      </a:r>
                    </a:p>
                  </a:txBody>
                  <a:tcPr>
                    <a:solidFill>
                      <a:srgbClr val="FFFFFF"/>
                    </a:solidFill>
                  </a:tcPr>
                </a:tc>
                <a:tc>
                  <a:txBody>
                    <a:bodyPr/>
                    <a:lstStyle/>
                    <a:p>
                      <a:pPr algn="l"/>
                      <a:r>
                        <a:rPr sz="950" b="0">
                          <a:solidFill>
                            <a:srgbClr val="555555"/>
                          </a:solidFill>
                          <a:latin typeface="メイリオ"/>
                        </a:rPr>
                        <a:t>3.0%</a:t>
                      </a:r>
                    </a:p>
                  </a:txBody>
                  <a:tcPr>
                    <a:solidFill>
                      <a:srgbClr val="FFFFFF"/>
                    </a:solidFill>
                  </a:tcPr>
                </a:tc>
                <a:tc>
                  <a:txBody>
                    <a:bodyPr/>
                    <a:lstStyle/>
                    <a:p>
                      <a:pPr algn="l"/>
                      <a:r>
                        <a:rPr sz="950" b="0">
                          <a:solidFill>
                            <a:srgbClr val="555555"/>
                          </a:solidFill>
                          <a:latin typeface="メイリオ"/>
                        </a:rPr>
                        <a:t>¥15,000</a:t>
                      </a:r>
                    </a:p>
                  </a:txBody>
                  <a:tcPr>
                    <a:solidFill>
                      <a:srgbClr val="FFFFFF"/>
                    </a:solidFill>
                  </a:tcPr>
                </a:tc>
                <a:extLst>
                  <a:ext uri="{0D108BD9-81ED-4DB2-BD59-A6C34878D82A}">
                    <a16:rowId xmlns:a16="http://schemas.microsoft.com/office/drawing/2014/main" val="10003"/>
                  </a:ext>
                </a:extLst>
              </a:tr>
              <a:tr h="470000">
                <a:tc>
                  <a:txBody>
                    <a:bodyPr/>
                    <a:lstStyle/>
                    <a:p>
                      <a:pPr algn="l"/>
                      <a:r>
                        <a:rPr sz="950" b="1">
                          <a:solidFill>
                            <a:srgbClr val="1F3A5F"/>
                          </a:solidFill>
                          <a:latin typeface="メイリオ"/>
                        </a:rPr>
                        <a:t>不動産査定</a:t>
                      </a:r>
                    </a:p>
                  </a:txBody>
                  <a:tcPr>
                    <a:solidFill>
                      <a:srgbClr val="F2F5F9"/>
                    </a:solidFill>
                  </a:tcPr>
                </a:tc>
                <a:tc>
                  <a:txBody>
                    <a:bodyPr/>
                    <a:lstStyle/>
                    <a:p>
                      <a:pPr algn="l"/>
                      <a:r>
                        <a:rPr sz="950" b="0">
                          <a:solidFill>
                            <a:srgbClr val="555555"/>
                          </a:solidFill>
                          <a:latin typeface="メイリオ"/>
                        </a:rPr>
                        <a:t>無料査定申込</a:t>
                      </a:r>
                    </a:p>
                  </a:txBody>
                  <a:tcPr>
                    <a:solidFill>
                      <a:srgbClr val="F2F5F9"/>
                    </a:solidFill>
                  </a:tcPr>
                </a:tc>
                <a:tc>
                  <a:txBody>
                    <a:bodyPr/>
                    <a:lstStyle/>
                    <a:p>
                      <a:pPr algn="l"/>
                      <a:r>
                        <a:rPr sz="950" b="0">
                          <a:solidFill>
                            <a:srgbClr val="555555"/>
                          </a:solidFill>
                          <a:latin typeface="メイリオ"/>
                        </a:rPr>
                        <a:t>¥1,500,000</a:t>
                      </a:r>
                    </a:p>
                  </a:txBody>
                  <a:tcPr>
                    <a:solidFill>
                      <a:srgbClr val="F2F5F9"/>
                    </a:solidFill>
                  </a:tcPr>
                </a:tc>
                <a:tc>
                  <a:txBody>
                    <a:bodyPr/>
                    <a:lstStyle/>
                    <a:p>
                      <a:pPr algn="l"/>
                      <a:r>
                        <a:rPr sz="950" b="0">
                          <a:solidFill>
                            <a:srgbClr val="555555"/>
                          </a:solidFill>
                          <a:latin typeface="メイリオ"/>
                        </a:rPr>
                        <a:t>¥250</a:t>
                      </a:r>
                    </a:p>
                  </a:txBody>
                  <a:tcPr>
                    <a:solidFill>
                      <a:srgbClr val="F2F5F9"/>
                    </a:solidFill>
                  </a:tcPr>
                </a:tc>
                <a:tc>
                  <a:txBody>
                    <a:bodyPr/>
                    <a:lstStyle/>
                    <a:p>
                      <a:pPr algn="l"/>
                      <a:r>
                        <a:rPr sz="950" b="0">
                          <a:solidFill>
                            <a:srgbClr val="555555"/>
                          </a:solidFill>
                          <a:latin typeface="メイリオ"/>
                        </a:rPr>
                        <a:t>4.0%</a:t>
                      </a:r>
                    </a:p>
                  </a:txBody>
                  <a:tcPr>
                    <a:solidFill>
                      <a:srgbClr val="F2F5F9"/>
                    </a:solidFill>
                  </a:tcPr>
                </a:tc>
                <a:tc>
                  <a:txBody>
                    <a:bodyPr/>
                    <a:lstStyle/>
                    <a:p>
                      <a:pPr algn="l"/>
                      <a:r>
                        <a:rPr sz="950" b="0">
                          <a:solidFill>
                            <a:srgbClr val="555555"/>
                          </a:solidFill>
                          <a:latin typeface="メイリオ"/>
                        </a:rPr>
                        <a:t>¥10,500</a:t>
                      </a:r>
                    </a:p>
                  </a:txBody>
                  <a:tcPr>
                    <a:solidFill>
                      <a:srgbClr val="F2F5F9"/>
                    </a:solidFill>
                  </a:tcPr>
                </a:tc>
                <a:extLst>
                  <a:ext uri="{0D108BD9-81ED-4DB2-BD59-A6C34878D82A}">
                    <a16:rowId xmlns:a16="http://schemas.microsoft.com/office/drawing/2014/main" val="10004"/>
                  </a:ext>
                </a:extLst>
              </a:tr>
            </a:tbl>
          </a:graphicData>
        </a:graphic>
      </p:graphicFrame>
      <p:sp>
        <p:nvSpPr>
          <p:cNvPr id="94" name="TextBox 93"/>
          <p:cNvSpPr txBox="1"/>
          <p:nvPr/>
        </p:nvSpPr>
        <p:spPr>
          <a:xfrm>
            <a:off x="550000" y="4900000"/>
            <a:ext cx="8800000" cy="280000"/>
          </a:xfrm>
          <a:prstGeom prst="rect">
            <a:avLst/>
          </a:prstGeom>
          <a:noFill/>
        </p:spPr>
        <p:txBody>
          <a:bodyPr wrap="none">
            <a:spAutoFit/>
          </a:bodyPr>
          <a:lstStyle/>
          <a:p>
            <a:r>
              <a:rPr sz="900">
                <a:solidFill>
                  <a:srgbClr val="555555"/>
                </a:solidFill>
                <a:latin typeface="メイリオ"/>
              </a:rPr>
              <a:t>※ 社内データベース出力の参考値（2023年10月・メインKW別）。CVは査定/購入申込＝リード地点で成約率は含まない。最新実績の確認後に差し替え予定。</a:t>
            </a:r>
          </a:p>
        </p:txBody>
      </p:sp>
    </p:spTree>
    <p:extLst>
      <p:ext uri="{BB962C8B-B14F-4D97-AF65-F5344CB8AC3E}">
        <p14:creationId xmlns:p14="http://schemas.microsoft.com/office/powerpoint/2010/main" val="466478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pic>
        <p:nvPicPr>
          <p:cNvPr id="5" name="図 4">
            <a:extLst>
              <a:ext uri="{FF2B5EF4-FFF2-40B4-BE49-F238E27FC236}">
                <a16:creationId xmlns:a16="http://schemas.microsoft.com/office/drawing/2014/main" id="{707324D2-E1D0-314B-0B3A-D271CD8B7482}"/>
              </a:ext>
            </a:extLst>
          </p:cNvPr>
          <p:cNvPicPr>
            <a:picLocks noChangeAspect="1"/>
          </p:cNvPicPr>
          <p:nvPr/>
        </p:nvPicPr>
        <p:blipFill>
          <a:blip r:embed="rId2"/>
          <a:stretch>
            <a:fillRect/>
          </a:stretch>
        </p:blipFill>
        <p:spPr>
          <a:xfrm>
            <a:off x="373806" y="1566622"/>
            <a:ext cx="9235778" cy="3451290"/>
          </a:xfrm>
          <a:prstGeom prst="rect">
            <a:avLst/>
          </a:prstGeom>
        </p:spPr>
      </p:pic>
      <p:cxnSp>
        <p:nvCxnSpPr>
          <p:cNvPr id="6" name="直線コネクタ 5">
            <a:extLst>
              <a:ext uri="{FF2B5EF4-FFF2-40B4-BE49-F238E27FC236}">
                <a16:creationId xmlns:a16="http://schemas.microsoft.com/office/drawing/2014/main" id="{57006A34-E0FD-C2ED-2162-46ECD9FAEE3B}"/>
              </a:ext>
            </a:extLst>
          </p:cNvPr>
          <p:cNvCxnSpPr>
            <a:cxnSpLocks/>
          </p:cNvCxnSpPr>
          <p:nvPr/>
        </p:nvCxnSpPr>
        <p:spPr>
          <a:xfrm>
            <a:off x="0" y="12637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7" name="テキスト ボックス 7">
            <a:extLst>
              <a:ext uri="{FF2B5EF4-FFF2-40B4-BE49-F238E27FC236}">
                <a16:creationId xmlns:a16="http://schemas.microsoft.com/office/drawing/2014/main" id="{AB3D5176-7A86-8B1D-B537-7482C61F2830}"/>
              </a:ext>
            </a:extLst>
          </p:cNvPr>
          <p:cNvSpPr txBox="1"/>
          <p:nvPr/>
        </p:nvSpPr>
        <p:spPr>
          <a:xfrm>
            <a:off x="8151224" y="5091461"/>
            <a:ext cx="1458360" cy="230832"/>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トレンドより</a:t>
            </a:r>
            <a:endParaRPr lang="ja-JP" altLang="en-US" sz="1400" dirty="0">
              <a:solidFill>
                <a:schemeClr val="bg1">
                  <a:lumMod val="65000"/>
                </a:schemeClr>
              </a:solidFill>
            </a:endParaRPr>
          </a:p>
        </p:txBody>
      </p:sp>
      <p:sp>
        <p:nvSpPr>
          <p:cNvPr id="9" name="四角形: 角を丸くする 8">
            <a:extLst>
              <a:ext uri="{FF2B5EF4-FFF2-40B4-BE49-F238E27FC236}">
                <a16:creationId xmlns:a16="http://schemas.microsoft.com/office/drawing/2014/main" id="{167288C5-6D0E-B1A5-9723-7204968F67FF}"/>
              </a:ext>
            </a:extLst>
          </p:cNvPr>
          <p:cNvSpPr/>
          <p:nvPr/>
        </p:nvSpPr>
        <p:spPr>
          <a:xfrm>
            <a:off x="3557452" y="5362983"/>
            <a:ext cx="1185818" cy="253916"/>
          </a:xfrm>
          <a:prstGeom prst="roundRect">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55BBB246-4429-0EC3-BA37-C6F75A46553F}"/>
              </a:ext>
            </a:extLst>
          </p:cNvPr>
          <p:cNvSpPr/>
          <p:nvPr/>
        </p:nvSpPr>
        <p:spPr>
          <a:xfrm>
            <a:off x="3806311" y="5664370"/>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F4673438-E50B-A69D-0E5F-057018581FBA}"/>
              </a:ext>
            </a:extLst>
          </p:cNvPr>
          <p:cNvSpPr/>
          <p:nvPr/>
        </p:nvSpPr>
        <p:spPr>
          <a:xfrm>
            <a:off x="5877922" y="5193860"/>
            <a:ext cx="1185818" cy="253916"/>
          </a:xfrm>
          <a:prstGeom prst="roundRect">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B0F112D8-7975-C56B-C82F-A0BD3C233E70}"/>
              </a:ext>
            </a:extLst>
          </p:cNvPr>
          <p:cNvSpPr/>
          <p:nvPr/>
        </p:nvSpPr>
        <p:spPr>
          <a:xfrm>
            <a:off x="5877922" y="54899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金 買取</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61282C12-CDD9-56A4-5995-69F2F2EFEB00}"/>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9AD361F6-370A-CDD8-7AEF-EB40F67A3BBF}"/>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0B123AE6-777C-7350-7358-F0D545DFA021}"/>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CA6D63DC-3D58-46D6-9E32-877A5C994DEA}"/>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 name="四角形: 角を丸くする 36">
            <a:extLst>
              <a:ext uri="{FF2B5EF4-FFF2-40B4-BE49-F238E27FC236}">
                <a16:creationId xmlns:a16="http://schemas.microsoft.com/office/drawing/2014/main" id="{DC3BA3B8-AC83-B1A8-CAB7-577C9DDB3EBF}"/>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pic>
        <p:nvPicPr>
          <p:cNvPr id="46" name="Picture 45" descr="Journey_金 買取_直近1年間(20250217-20260222).png"/>
          <p:cNvPicPr>
            <a:picLocks noChangeAspect="1"/>
          </p:cNvPicPr>
          <p:nvPr/>
        </p:nvPicPr>
        <p:blipFill>
          <a:blip r:embed="rId3"/>
          <a:stretch>
            <a:fillRect/>
          </a:stretch>
        </p:blipFill>
        <p:spPr>
          <a:xfrm>
            <a:off x="1315977" y="1830651"/>
            <a:ext cx="7152121" cy="4172071"/>
          </a:xfrm>
          <a:prstGeom prst="rect">
            <a:avLst/>
          </a:prstGeom>
        </p:spPr>
      </p:pic>
      <p:sp>
        <p:nvSpPr>
          <p:cNvPr id="8" name="直角三角形 7">
            <a:extLst>
              <a:ext uri="{FF2B5EF4-FFF2-40B4-BE49-F238E27FC236}">
                <a16:creationId xmlns:a16="http://schemas.microsoft.com/office/drawing/2014/main" id="{39BE1A1C-E912-4F39-A808-D4756B896FA6}"/>
              </a:ext>
            </a:extLst>
          </p:cNvPr>
          <p:cNvSpPr/>
          <p:nvPr/>
        </p:nvSpPr>
        <p:spPr>
          <a:xfrm rot="16200000" flipV="1">
            <a:off x="5690701" y="151968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pic>
        <p:nvPicPr>
          <p:cNvPr id="13" name="図 12" descr="LINE公式アカウントのロゴの種類とダウンロード方法、利用時の ...">
            <a:extLst>
              <a:ext uri="{FF2B5EF4-FFF2-40B4-BE49-F238E27FC236}">
                <a16:creationId xmlns:a16="http://schemas.microsoft.com/office/drawing/2014/main" id="{FBD044B8-6CAF-7960-86E0-00E3A1831CEC}"/>
              </a:ext>
            </a:extLst>
          </p:cNvPr>
          <p:cNvPicPr>
            <a:picLocks noChangeAspect="1"/>
          </p:cNvPicPr>
          <p:nvPr/>
        </p:nvPicPr>
        <p:blipFill>
          <a:blip r:embed="rId4"/>
          <a:stretch>
            <a:fillRect/>
          </a:stretch>
        </p:blipFill>
        <p:spPr>
          <a:xfrm>
            <a:off x="5183350" y="1824217"/>
            <a:ext cx="432756" cy="432324"/>
          </a:xfrm>
          <a:prstGeom prst="rect">
            <a:avLst/>
          </a:prstGeom>
        </p:spPr>
      </p:pic>
      <p:sp>
        <p:nvSpPr>
          <p:cNvPr id="16" name="テキスト ボックス 15">
            <a:extLst>
              <a:ext uri="{FF2B5EF4-FFF2-40B4-BE49-F238E27FC236}">
                <a16:creationId xmlns:a16="http://schemas.microsoft.com/office/drawing/2014/main" id="{4D41DEC4-E5DE-B6BA-3284-9E7C11FF0A49}"/>
              </a:ext>
            </a:extLst>
          </p:cNvPr>
          <p:cNvSpPr txBox="1"/>
          <p:nvPr/>
        </p:nvSpPr>
        <p:spPr>
          <a:xfrm>
            <a:off x="5109349" y="221556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18" name="四角形: 角を丸くする 17">
            <a:extLst>
              <a:ext uri="{FF2B5EF4-FFF2-40B4-BE49-F238E27FC236}">
                <a16:creationId xmlns:a16="http://schemas.microsoft.com/office/drawing/2014/main" id="{62C4C314-4C8B-D934-D36C-A0E678023498}"/>
              </a:ext>
            </a:extLst>
          </p:cNvPr>
          <p:cNvSpPr/>
          <p:nvPr/>
        </p:nvSpPr>
        <p:spPr>
          <a:xfrm>
            <a:off x="5109348" y="5774414"/>
            <a:ext cx="1531143"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7" name="TextBox 46"/>
          <p:cNvSpPr txBox="1"/>
          <p:nvPr/>
        </p:nvSpPr>
        <p:spPr>
          <a:xfrm>
            <a:off x="350000" y="6300000"/>
            <a:ext cx="9200000" cy="480000"/>
          </a:xfrm>
          <a:prstGeom prst="rect">
            <a:avLst/>
          </a:prstGeom>
          <a:noFill/>
        </p:spPr>
        <p:txBody>
          <a:bodyPr wrap="square">
            <a:spAutoFit/>
          </a:bodyPr>
          <a:lstStyle/>
          <a:p>
            <a:r>
              <a:rPr sz="900">
                <a:solidFill>
                  <a:srgbClr val="333333"/>
                </a:solidFill>
                <a:latin typeface="メイリオ"/>
              </a:rPr>
              <a:t>前＝相場と純度（刻印・比重）の自己確認 → 0〜3日＝業者指名＋税金・手数料の不安が噴出 → 後＝チャートで売り時ウォッチ</a:t>
            </a:r>
          </a:p>
          <a:p>
            <a:r>
              <a:rPr sz="950" b="1">
                <a:solidFill>
                  <a:srgbClr val="1F3A5F"/>
                </a:solidFill>
                <a:latin typeface="メイリオ"/>
              </a:rPr>
              <a:t>⇒ 「刻印の写真でグラム目安を即答」＋手数料無料＋税金の基礎知識で、成約直前の不安を独占して査定予約へ</a:t>
            </a:r>
          </a:p>
        </p:txBody>
      </p:sp>
    </p:spTree>
    <p:extLst>
      <p:ext uri="{BB962C8B-B14F-4D97-AF65-F5344CB8AC3E}">
        <p14:creationId xmlns:p14="http://schemas.microsoft.com/office/powerpoint/2010/main" val="1438123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1747-1CCA-0E60-4A82-31EE81D41B6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C26E367-3F09-8712-1D7B-93B5C05B00E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D0396A-E784-CE01-45A4-95BC982BCFA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87A7F74-23D6-2345-090E-4097D57A4D51}"/>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AC4786F-1B1F-294E-14FA-EFA8BBF357D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230" name="図 229">
            <a:extLst>
              <a:ext uri="{FF2B5EF4-FFF2-40B4-BE49-F238E27FC236}">
                <a16:creationId xmlns:a16="http://schemas.microsoft.com/office/drawing/2014/main" id="{AB179AC7-1A07-6D80-9CC2-BC0DCE7D06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9527" y="1832514"/>
            <a:ext cx="7152121" cy="4172072"/>
          </a:xfrm>
          <a:prstGeom prst="rect">
            <a:avLst/>
          </a:prstGeom>
        </p:spPr>
      </p:pic>
      <p:sp>
        <p:nvSpPr>
          <p:cNvPr id="232" name="四角形: 角を丸くする 231">
            <a:extLst>
              <a:ext uri="{FF2B5EF4-FFF2-40B4-BE49-F238E27FC236}">
                <a16:creationId xmlns:a16="http://schemas.microsoft.com/office/drawing/2014/main" id="{A4009437-EAD6-4C4E-E49B-6BDDE2156354}"/>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ブランド名</a:t>
            </a:r>
          </a:p>
        </p:txBody>
      </p:sp>
      <p:sp>
        <p:nvSpPr>
          <p:cNvPr id="234" name="四角形: 角を丸くする 233">
            <a:extLst>
              <a:ext uri="{FF2B5EF4-FFF2-40B4-BE49-F238E27FC236}">
                <a16:creationId xmlns:a16="http://schemas.microsoft.com/office/drawing/2014/main" id="{B97FA54D-49B5-3431-A244-453892766FDC}"/>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他社名</a:t>
            </a:r>
          </a:p>
        </p:txBody>
      </p:sp>
      <p:sp>
        <p:nvSpPr>
          <p:cNvPr id="236" name="四角形: 角を丸くする 235">
            <a:extLst>
              <a:ext uri="{FF2B5EF4-FFF2-40B4-BE49-F238E27FC236}">
                <a16:creationId xmlns:a16="http://schemas.microsoft.com/office/drawing/2014/main" id="{5F0F65AB-7DE8-585D-7C90-2DDC82FCCE8E}"/>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別商材・相場</a:t>
            </a:r>
          </a:p>
        </p:txBody>
      </p:sp>
      <p:sp>
        <p:nvSpPr>
          <p:cNvPr id="238" name="四角形: 角を丸くする 237">
            <a:extLst>
              <a:ext uri="{FF2B5EF4-FFF2-40B4-BE49-F238E27FC236}">
                <a16:creationId xmlns:a16="http://schemas.microsoft.com/office/drawing/2014/main" id="{C6505647-41AA-768F-7D7A-89260E2445FC}"/>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ライフイベント</a:t>
            </a:r>
          </a:p>
        </p:txBody>
      </p:sp>
      <p:sp>
        <p:nvSpPr>
          <p:cNvPr id="327" name="正方形/長方形 326">
            <a:extLst>
              <a:ext uri="{FF2B5EF4-FFF2-40B4-BE49-F238E27FC236}">
                <a16:creationId xmlns:a16="http://schemas.microsoft.com/office/drawing/2014/main" id="{76B0AA74-DC92-7D07-8779-08845550C607}"/>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328" name="正方形/長方形 327">
            <a:extLst>
              <a:ext uri="{FF2B5EF4-FFF2-40B4-BE49-F238E27FC236}">
                <a16:creationId xmlns:a16="http://schemas.microsoft.com/office/drawing/2014/main" id="{8E33F495-92B1-9E14-019D-916A2AC3749A}"/>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329" name="直線矢印コネクタ 328">
            <a:extLst>
              <a:ext uri="{FF2B5EF4-FFF2-40B4-BE49-F238E27FC236}">
                <a16:creationId xmlns:a16="http://schemas.microsoft.com/office/drawing/2014/main" id="{3FA1EAF4-FFC8-190E-571F-F3DFFE61115F}"/>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0" name="テキスト ボックス 329">
            <a:extLst>
              <a:ext uri="{FF2B5EF4-FFF2-40B4-BE49-F238E27FC236}">
                <a16:creationId xmlns:a16="http://schemas.microsoft.com/office/drawing/2014/main" id="{730CCC30-3058-E45F-34A7-1A26CB1C6EE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331" name="正方形/長方形 330">
            <a:extLst>
              <a:ext uri="{FF2B5EF4-FFF2-40B4-BE49-F238E27FC236}">
                <a16:creationId xmlns:a16="http://schemas.microsoft.com/office/drawing/2014/main" id="{A3415409-EAE9-9E52-5EE5-39957199A004}"/>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ブランド 買取</a:t>
            </a:r>
          </a:p>
        </p:txBody>
      </p:sp>
      <p:sp>
        <p:nvSpPr>
          <p:cNvPr id="332" name="テキスト ボックス 331">
            <a:extLst>
              <a:ext uri="{FF2B5EF4-FFF2-40B4-BE49-F238E27FC236}">
                <a16:creationId xmlns:a16="http://schemas.microsoft.com/office/drawing/2014/main" id="{B09A8CEE-08C8-FA74-13CC-E7CDF2442483}"/>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333" name="直角三角形 332">
            <a:extLst>
              <a:ext uri="{FF2B5EF4-FFF2-40B4-BE49-F238E27FC236}">
                <a16:creationId xmlns:a16="http://schemas.microsoft.com/office/drawing/2014/main" id="{A93AA7F5-6B23-4351-471C-53D602EF570F}"/>
              </a:ext>
            </a:extLst>
          </p:cNvPr>
          <p:cNvSpPr/>
          <p:nvPr/>
        </p:nvSpPr>
        <p:spPr>
          <a:xfrm rot="16200000" flipV="1">
            <a:off x="5690701" y="151968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pic>
        <p:nvPicPr>
          <p:cNvPr id="334" name="図 333" descr="LINE公式アカウントのロゴの種類とダウンロード方法、利用時の ...">
            <a:extLst>
              <a:ext uri="{FF2B5EF4-FFF2-40B4-BE49-F238E27FC236}">
                <a16:creationId xmlns:a16="http://schemas.microsoft.com/office/drawing/2014/main" id="{B9B8A494-C77C-DAAA-BFEE-5600ACE09C32}"/>
              </a:ext>
            </a:extLst>
          </p:cNvPr>
          <p:cNvPicPr>
            <a:picLocks noChangeAspect="1"/>
          </p:cNvPicPr>
          <p:nvPr/>
        </p:nvPicPr>
        <p:blipFill>
          <a:blip r:embed="rId4"/>
          <a:stretch>
            <a:fillRect/>
          </a:stretch>
        </p:blipFill>
        <p:spPr>
          <a:xfrm>
            <a:off x="5183350" y="1824217"/>
            <a:ext cx="432756" cy="432324"/>
          </a:xfrm>
          <a:prstGeom prst="rect">
            <a:avLst/>
          </a:prstGeom>
        </p:spPr>
      </p:pic>
      <p:sp>
        <p:nvSpPr>
          <p:cNvPr id="335" name="テキスト ボックス 334">
            <a:extLst>
              <a:ext uri="{FF2B5EF4-FFF2-40B4-BE49-F238E27FC236}">
                <a16:creationId xmlns:a16="http://schemas.microsoft.com/office/drawing/2014/main" id="{841CEEAF-1D1D-228D-7E35-8CF4AED9F707}"/>
              </a:ext>
            </a:extLst>
          </p:cNvPr>
          <p:cNvSpPr txBox="1"/>
          <p:nvPr/>
        </p:nvSpPr>
        <p:spPr>
          <a:xfrm>
            <a:off x="5109349" y="221556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336" name="四角形: 角を丸くする 335">
            <a:extLst>
              <a:ext uri="{FF2B5EF4-FFF2-40B4-BE49-F238E27FC236}">
                <a16:creationId xmlns:a16="http://schemas.microsoft.com/office/drawing/2014/main" id="{EF4A4851-E784-B354-577C-7166F0DBEB4D}"/>
              </a:ext>
            </a:extLst>
          </p:cNvPr>
          <p:cNvSpPr/>
          <p:nvPr/>
        </p:nvSpPr>
        <p:spPr>
          <a:xfrm>
            <a:off x="5109348" y="5774414"/>
            <a:ext cx="1531143"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7" name="四角形: 角を丸くする 336">
            <a:extLst>
              <a:ext uri="{FF2B5EF4-FFF2-40B4-BE49-F238E27FC236}">
                <a16:creationId xmlns:a16="http://schemas.microsoft.com/office/drawing/2014/main" id="{E0598F7B-B512-AA47-7EBC-C8D38B4CEBFA}"/>
              </a:ext>
            </a:extLst>
          </p:cNvPr>
          <p:cNvSpPr/>
          <p:nvPr/>
        </p:nvSpPr>
        <p:spPr>
          <a:xfrm>
            <a:off x="5461793" y="3245411"/>
            <a:ext cx="809930"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8" name="四角形: 角を丸くする 337">
            <a:extLst>
              <a:ext uri="{FF2B5EF4-FFF2-40B4-BE49-F238E27FC236}">
                <a16:creationId xmlns:a16="http://schemas.microsoft.com/office/drawing/2014/main" id="{8D1DA202-C0CA-3951-670B-D1D660A7D25D}"/>
              </a:ext>
            </a:extLst>
          </p:cNvPr>
          <p:cNvSpPr/>
          <p:nvPr/>
        </p:nvSpPr>
        <p:spPr>
          <a:xfrm>
            <a:off x="4933387" y="2926549"/>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9" name="四角形: 角を丸くする 338">
            <a:extLst>
              <a:ext uri="{FF2B5EF4-FFF2-40B4-BE49-F238E27FC236}">
                <a16:creationId xmlns:a16="http://schemas.microsoft.com/office/drawing/2014/main" id="{4659CA5D-E8E3-1767-A770-8344EEE18E36}"/>
              </a:ext>
            </a:extLst>
          </p:cNvPr>
          <p:cNvSpPr/>
          <p:nvPr/>
        </p:nvSpPr>
        <p:spPr>
          <a:xfrm>
            <a:off x="4824527" y="3061532"/>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0" name="四角形: 角を丸くする 339">
            <a:extLst>
              <a:ext uri="{FF2B5EF4-FFF2-40B4-BE49-F238E27FC236}">
                <a16:creationId xmlns:a16="http://schemas.microsoft.com/office/drawing/2014/main" id="{696A9FCF-1641-F91F-5B80-C3EDBB8C180D}"/>
              </a:ext>
            </a:extLst>
          </p:cNvPr>
          <p:cNvSpPr/>
          <p:nvPr/>
        </p:nvSpPr>
        <p:spPr>
          <a:xfrm>
            <a:off x="4881130" y="3475191"/>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1" name="四角形: 角を丸くする 340">
            <a:extLst>
              <a:ext uri="{FF2B5EF4-FFF2-40B4-BE49-F238E27FC236}">
                <a16:creationId xmlns:a16="http://schemas.microsoft.com/office/drawing/2014/main" id="{FB1ED216-F265-85BD-95A2-8C12D411C811}"/>
              </a:ext>
            </a:extLst>
          </p:cNvPr>
          <p:cNvSpPr/>
          <p:nvPr/>
        </p:nvSpPr>
        <p:spPr>
          <a:xfrm>
            <a:off x="5412913" y="3758224"/>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2" name="四角形: 角を丸くする 341">
            <a:extLst>
              <a:ext uri="{FF2B5EF4-FFF2-40B4-BE49-F238E27FC236}">
                <a16:creationId xmlns:a16="http://schemas.microsoft.com/office/drawing/2014/main" id="{278FCD3A-1DEC-28FD-C173-F4098CE429C1}"/>
              </a:ext>
            </a:extLst>
          </p:cNvPr>
          <p:cNvSpPr/>
          <p:nvPr/>
        </p:nvSpPr>
        <p:spPr>
          <a:xfrm>
            <a:off x="4911064" y="3965124"/>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3" name="四角形: 角を丸くする 342">
            <a:extLst>
              <a:ext uri="{FF2B5EF4-FFF2-40B4-BE49-F238E27FC236}">
                <a16:creationId xmlns:a16="http://schemas.microsoft.com/office/drawing/2014/main" id="{4BD75F31-9AE2-1291-81DD-3749DC785432}"/>
              </a:ext>
            </a:extLst>
          </p:cNvPr>
          <p:cNvSpPr/>
          <p:nvPr/>
        </p:nvSpPr>
        <p:spPr>
          <a:xfrm>
            <a:off x="3677817" y="2579078"/>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4" name="四角形: 角を丸くする 343">
            <a:extLst>
              <a:ext uri="{FF2B5EF4-FFF2-40B4-BE49-F238E27FC236}">
                <a16:creationId xmlns:a16="http://schemas.microsoft.com/office/drawing/2014/main" id="{5CEA280E-23A5-F7E6-6A95-03FB0AACF938}"/>
              </a:ext>
            </a:extLst>
          </p:cNvPr>
          <p:cNvSpPr/>
          <p:nvPr/>
        </p:nvSpPr>
        <p:spPr>
          <a:xfrm>
            <a:off x="1815467" y="1897886"/>
            <a:ext cx="66936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5" name="四角形: 角を丸くする 344">
            <a:extLst>
              <a:ext uri="{FF2B5EF4-FFF2-40B4-BE49-F238E27FC236}">
                <a16:creationId xmlns:a16="http://schemas.microsoft.com/office/drawing/2014/main" id="{E7854DB4-D816-0D46-8499-958DAC21EE86}"/>
              </a:ext>
            </a:extLst>
          </p:cNvPr>
          <p:cNvSpPr/>
          <p:nvPr/>
        </p:nvSpPr>
        <p:spPr>
          <a:xfrm>
            <a:off x="1854653" y="2450883"/>
            <a:ext cx="66936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6" name="四角形: 角を丸くする 345">
            <a:extLst>
              <a:ext uri="{FF2B5EF4-FFF2-40B4-BE49-F238E27FC236}">
                <a16:creationId xmlns:a16="http://schemas.microsoft.com/office/drawing/2014/main" id="{250D2327-516C-3F08-2FCB-1CD9766F4449}"/>
              </a:ext>
            </a:extLst>
          </p:cNvPr>
          <p:cNvSpPr/>
          <p:nvPr/>
        </p:nvSpPr>
        <p:spPr>
          <a:xfrm>
            <a:off x="1690661" y="2559740"/>
            <a:ext cx="55319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7" name="四角形: 角を丸くする 346">
            <a:extLst>
              <a:ext uri="{FF2B5EF4-FFF2-40B4-BE49-F238E27FC236}">
                <a16:creationId xmlns:a16="http://schemas.microsoft.com/office/drawing/2014/main" id="{415CE358-CB78-3A8C-2B37-8E0D12F37850}"/>
              </a:ext>
            </a:extLst>
          </p:cNvPr>
          <p:cNvSpPr/>
          <p:nvPr/>
        </p:nvSpPr>
        <p:spPr>
          <a:xfrm>
            <a:off x="2445493" y="2817009"/>
            <a:ext cx="34349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8" name="四角形: 角を丸くする 347">
            <a:extLst>
              <a:ext uri="{FF2B5EF4-FFF2-40B4-BE49-F238E27FC236}">
                <a16:creationId xmlns:a16="http://schemas.microsoft.com/office/drawing/2014/main" id="{B7753F38-2DD1-0168-CB74-A94DD8DA6A92}"/>
              </a:ext>
            </a:extLst>
          </p:cNvPr>
          <p:cNvSpPr/>
          <p:nvPr/>
        </p:nvSpPr>
        <p:spPr>
          <a:xfrm>
            <a:off x="3648294" y="3999186"/>
            <a:ext cx="457185"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9" name="四角形: 角を丸くする 348">
            <a:extLst>
              <a:ext uri="{FF2B5EF4-FFF2-40B4-BE49-F238E27FC236}">
                <a16:creationId xmlns:a16="http://schemas.microsoft.com/office/drawing/2014/main" id="{83E0AF82-DDAA-F9B0-19AA-55402C502877}"/>
              </a:ext>
            </a:extLst>
          </p:cNvPr>
          <p:cNvSpPr/>
          <p:nvPr/>
        </p:nvSpPr>
        <p:spPr>
          <a:xfrm>
            <a:off x="2208192" y="3031097"/>
            <a:ext cx="457185"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0" name="四角形: 角を丸くする 349">
            <a:extLst>
              <a:ext uri="{FF2B5EF4-FFF2-40B4-BE49-F238E27FC236}">
                <a16:creationId xmlns:a16="http://schemas.microsoft.com/office/drawing/2014/main" id="{82526C57-1402-943F-C2E2-A7BD8EE164B0}"/>
              </a:ext>
            </a:extLst>
          </p:cNvPr>
          <p:cNvSpPr/>
          <p:nvPr/>
        </p:nvSpPr>
        <p:spPr>
          <a:xfrm>
            <a:off x="1590188" y="3468376"/>
            <a:ext cx="55319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1" name="四角形: 角を丸くする 350">
            <a:extLst>
              <a:ext uri="{FF2B5EF4-FFF2-40B4-BE49-F238E27FC236}">
                <a16:creationId xmlns:a16="http://schemas.microsoft.com/office/drawing/2014/main" id="{C185B512-DAA3-002A-E5BC-59F9317FACFC}"/>
              </a:ext>
            </a:extLst>
          </p:cNvPr>
          <p:cNvSpPr/>
          <p:nvPr/>
        </p:nvSpPr>
        <p:spPr>
          <a:xfrm>
            <a:off x="2947475" y="3462502"/>
            <a:ext cx="457185"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2" name="四角形: 角を丸くする 351">
            <a:extLst>
              <a:ext uri="{FF2B5EF4-FFF2-40B4-BE49-F238E27FC236}">
                <a16:creationId xmlns:a16="http://schemas.microsoft.com/office/drawing/2014/main" id="{DAD05B42-133A-43FC-6278-BFFBFD47258C}"/>
              </a:ext>
            </a:extLst>
          </p:cNvPr>
          <p:cNvSpPr/>
          <p:nvPr/>
        </p:nvSpPr>
        <p:spPr>
          <a:xfrm>
            <a:off x="2013049" y="3806597"/>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3" name="四角形: 角を丸くする 352">
            <a:extLst>
              <a:ext uri="{FF2B5EF4-FFF2-40B4-BE49-F238E27FC236}">
                <a16:creationId xmlns:a16="http://schemas.microsoft.com/office/drawing/2014/main" id="{97D74AE5-2BF7-F427-8F13-8E7DA4C4E8E9}"/>
              </a:ext>
            </a:extLst>
          </p:cNvPr>
          <p:cNvSpPr/>
          <p:nvPr/>
        </p:nvSpPr>
        <p:spPr>
          <a:xfrm>
            <a:off x="2296076" y="3967706"/>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4" name="四角形: 角を丸くする 353">
            <a:extLst>
              <a:ext uri="{FF2B5EF4-FFF2-40B4-BE49-F238E27FC236}">
                <a16:creationId xmlns:a16="http://schemas.microsoft.com/office/drawing/2014/main" id="{27A68A71-C539-4CDE-BD12-39888FB9998D}"/>
              </a:ext>
            </a:extLst>
          </p:cNvPr>
          <p:cNvSpPr/>
          <p:nvPr/>
        </p:nvSpPr>
        <p:spPr>
          <a:xfrm>
            <a:off x="2726326" y="3761285"/>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5" name="四角形: 角を丸くする 354">
            <a:extLst>
              <a:ext uri="{FF2B5EF4-FFF2-40B4-BE49-F238E27FC236}">
                <a16:creationId xmlns:a16="http://schemas.microsoft.com/office/drawing/2014/main" id="{B7AAE03D-8223-5D6B-8207-5846351AFBA4}"/>
              </a:ext>
            </a:extLst>
          </p:cNvPr>
          <p:cNvSpPr/>
          <p:nvPr/>
        </p:nvSpPr>
        <p:spPr>
          <a:xfrm>
            <a:off x="6627024" y="3422243"/>
            <a:ext cx="553194"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6" name="四角形: 角を丸くする 355">
            <a:extLst>
              <a:ext uri="{FF2B5EF4-FFF2-40B4-BE49-F238E27FC236}">
                <a16:creationId xmlns:a16="http://schemas.microsoft.com/office/drawing/2014/main" id="{E224A0F0-3BFA-01D5-4925-637AC1F594CF}"/>
              </a:ext>
            </a:extLst>
          </p:cNvPr>
          <p:cNvSpPr/>
          <p:nvPr/>
        </p:nvSpPr>
        <p:spPr>
          <a:xfrm>
            <a:off x="3465714" y="3857497"/>
            <a:ext cx="377839"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7" name="四角形: 角を丸くする 356">
            <a:extLst>
              <a:ext uri="{FF2B5EF4-FFF2-40B4-BE49-F238E27FC236}">
                <a16:creationId xmlns:a16="http://schemas.microsoft.com/office/drawing/2014/main" id="{7EA580F5-130A-B48D-2462-D1506D07AB97}"/>
              </a:ext>
            </a:extLst>
          </p:cNvPr>
          <p:cNvSpPr/>
          <p:nvPr/>
        </p:nvSpPr>
        <p:spPr>
          <a:xfrm>
            <a:off x="5744930" y="4059028"/>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8" name="四角形: 角を丸くする 357">
            <a:extLst>
              <a:ext uri="{FF2B5EF4-FFF2-40B4-BE49-F238E27FC236}">
                <a16:creationId xmlns:a16="http://schemas.microsoft.com/office/drawing/2014/main" id="{9305A680-7F5A-2C53-9839-7992EFFAF290}"/>
              </a:ext>
            </a:extLst>
          </p:cNvPr>
          <p:cNvSpPr/>
          <p:nvPr/>
        </p:nvSpPr>
        <p:spPr>
          <a:xfrm>
            <a:off x="7590503" y="3999186"/>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9" name="四角形: 角を丸くする 358">
            <a:extLst>
              <a:ext uri="{FF2B5EF4-FFF2-40B4-BE49-F238E27FC236}">
                <a16:creationId xmlns:a16="http://schemas.microsoft.com/office/drawing/2014/main" id="{B471E1AD-E5F9-5F03-7C00-253BA2FDF2D4}"/>
              </a:ext>
            </a:extLst>
          </p:cNvPr>
          <p:cNvSpPr/>
          <p:nvPr/>
        </p:nvSpPr>
        <p:spPr>
          <a:xfrm>
            <a:off x="7526609" y="4223747"/>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0" name="四角形: 角を丸くする 359">
            <a:extLst>
              <a:ext uri="{FF2B5EF4-FFF2-40B4-BE49-F238E27FC236}">
                <a16:creationId xmlns:a16="http://schemas.microsoft.com/office/drawing/2014/main" id="{28202DB6-CF3B-325C-B8AC-DC7F7BEC6C9A}"/>
              </a:ext>
            </a:extLst>
          </p:cNvPr>
          <p:cNvSpPr/>
          <p:nvPr/>
        </p:nvSpPr>
        <p:spPr>
          <a:xfrm>
            <a:off x="3280144" y="4294200"/>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1" name="四角形: 角を丸くする 360">
            <a:extLst>
              <a:ext uri="{FF2B5EF4-FFF2-40B4-BE49-F238E27FC236}">
                <a16:creationId xmlns:a16="http://schemas.microsoft.com/office/drawing/2014/main" id="{83DD8CC2-A6F7-5F76-D0A0-5B6AEC4509D3}"/>
              </a:ext>
            </a:extLst>
          </p:cNvPr>
          <p:cNvSpPr/>
          <p:nvPr/>
        </p:nvSpPr>
        <p:spPr>
          <a:xfrm>
            <a:off x="2800623" y="3651347"/>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2" name="四角形: 角を丸くする 361">
            <a:extLst>
              <a:ext uri="{FF2B5EF4-FFF2-40B4-BE49-F238E27FC236}">
                <a16:creationId xmlns:a16="http://schemas.microsoft.com/office/drawing/2014/main" id="{BFC75324-A43D-F834-6139-F4C893251E15}"/>
              </a:ext>
            </a:extLst>
          </p:cNvPr>
          <p:cNvSpPr/>
          <p:nvPr/>
        </p:nvSpPr>
        <p:spPr>
          <a:xfrm>
            <a:off x="2338337" y="3351113"/>
            <a:ext cx="89092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3" name="四角形: 角を丸くする 362">
            <a:extLst>
              <a:ext uri="{FF2B5EF4-FFF2-40B4-BE49-F238E27FC236}">
                <a16:creationId xmlns:a16="http://schemas.microsoft.com/office/drawing/2014/main" id="{A9C43635-CB98-3359-9855-68403DDA6325}"/>
              </a:ext>
            </a:extLst>
          </p:cNvPr>
          <p:cNvSpPr/>
          <p:nvPr/>
        </p:nvSpPr>
        <p:spPr>
          <a:xfrm>
            <a:off x="4499234" y="3785832"/>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4" name="四角形: 角を丸くする 363">
            <a:extLst>
              <a:ext uri="{FF2B5EF4-FFF2-40B4-BE49-F238E27FC236}">
                <a16:creationId xmlns:a16="http://schemas.microsoft.com/office/drawing/2014/main" id="{54982610-29EE-E2B2-F81A-B3D40B479442}"/>
              </a:ext>
            </a:extLst>
          </p:cNvPr>
          <p:cNvSpPr/>
          <p:nvPr/>
        </p:nvSpPr>
        <p:spPr>
          <a:xfrm>
            <a:off x="6166727" y="3808549"/>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5" name="四角形: 角を丸くする 364">
            <a:extLst>
              <a:ext uri="{FF2B5EF4-FFF2-40B4-BE49-F238E27FC236}">
                <a16:creationId xmlns:a16="http://schemas.microsoft.com/office/drawing/2014/main" id="{33FAA04B-0C6B-CD06-695B-993D9AFFE44F}"/>
              </a:ext>
            </a:extLst>
          </p:cNvPr>
          <p:cNvSpPr/>
          <p:nvPr/>
        </p:nvSpPr>
        <p:spPr>
          <a:xfrm>
            <a:off x="4949253" y="4121368"/>
            <a:ext cx="809930" cy="14332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6" name="四角形: 角を丸くする 365">
            <a:extLst>
              <a:ext uri="{FF2B5EF4-FFF2-40B4-BE49-F238E27FC236}">
                <a16:creationId xmlns:a16="http://schemas.microsoft.com/office/drawing/2014/main" id="{526A961E-B36F-E1B5-5CE7-002B5336D413}"/>
              </a:ext>
            </a:extLst>
          </p:cNvPr>
          <p:cNvSpPr/>
          <p:nvPr/>
        </p:nvSpPr>
        <p:spPr>
          <a:xfrm>
            <a:off x="4824527" y="4268171"/>
            <a:ext cx="809930"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7" name="四角形: 角を丸くする 366">
            <a:extLst>
              <a:ext uri="{FF2B5EF4-FFF2-40B4-BE49-F238E27FC236}">
                <a16:creationId xmlns:a16="http://schemas.microsoft.com/office/drawing/2014/main" id="{B04A8903-357C-B209-EDC6-8C86E15C4885}"/>
              </a:ext>
            </a:extLst>
          </p:cNvPr>
          <p:cNvSpPr/>
          <p:nvPr/>
        </p:nvSpPr>
        <p:spPr>
          <a:xfrm>
            <a:off x="4919773" y="4383638"/>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8" name="四角形: 角を丸くする 367">
            <a:extLst>
              <a:ext uri="{FF2B5EF4-FFF2-40B4-BE49-F238E27FC236}">
                <a16:creationId xmlns:a16="http://schemas.microsoft.com/office/drawing/2014/main" id="{5F38A340-6042-D7C0-BAF2-9098F7E44718}"/>
              </a:ext>
            </a:extLst>
          </p:cNvPr>
          <p:cNvSpPr/>
          <p:nvPr/>
        </p:nvSpPr>
        <p:spPr>
          <a:xfrm>
            <a:off x="4981838" y="4466138"/>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9" name="四角形: 角を丸くする 368">
            <a:extLst>
              <a:ext uri="{FF2B5EF4-FFF2-40B4-BE49-F238E27FC236}">
                <a16:creationId xmlns:a16="http://schemas.microsoft.com/office/drawing/2014/main" id="{3167C7E4-2E38-B2E8-9982-78E91534F4E7}"/>
              </a:ext>
            </a:extLst>
          </p:cNvPr>
          <p:cNvSpPr/>
          <p:nvPr/>
        </p:nvSpPr>
        <p:spPr>
          <a:xfrm>
            <a:off x="4844443" y="4618415"/>
            <a:ext cx="89092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0" name="四角形: 角を丸くする 369">
            <a:extLst>
              <a:ext uri="{FF2B5EF4-FFF2-40B4-BE49-F238E27FC236}">
                <a16:creationId xmlns:a16="http://schemas.microsoft.com/office/drawing/2014/main" id="{161CCF96-5B73-60E3-6C19-770EB3CEA526}"/>
              </a:ext>
            </a:extLst>
          </p:cNvPr>
          <p:cNvSpPr/>
          <p:nvPr/>
        </p:nvSpPr>
        <p:spPr>
          <a:xfrm>
            <a:off x="5728568" y="4608374"/>
            <a:ext cx="669364"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1" name="四角形: 角を丸くする 370">
            <a:extLst>
              <a:ext uri="{FF2B5EF4-FFF2-40B4-BE49-F238E27FC236}">
                <a16:creationId xmlns:a16="http://schemas.microsoft.com/office/drawing/2014/main" id="{501F5E14-9BC4-1F0B-22BB-E2631167FC66}"/>
              </a:ext>
            </a:extLst>
          </p:cNvPr>
          <p:cNvSpPr/>
          <p:nvPr/>
        </p:nvSpPr>
        <p:spPr>
          <a:xfrm>
            <a:off x="6985015" y="4877634"/>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2" name="四角形: 角を丸くする 371">
            <a:extLst>
              <a:ext uri="{FF2B5EF4-FFF2-40B4-BE49-F238E27FC236}">
                <a16:creationId xmlns:a16="http://schemas.microsoft.com/office/drawing/2014/main" id="{8D4106DA-7349-EAA9-06B7-AE43530F9499}"/>
              </a:ext>
            </a:extLst>
          </p:cNvPr>
          <p:cNvSpPr/>
          <p:nvPr/>
        </p:nvSpPr>
        <p:spPr>
          <a:xfrm>
            <a:off x="7723761" y="470616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3" name="四角形: 角を丸くする 372">
            <a:extLst>
              <a:ext uri="{FF2B5EF4-FFF2-40B4-BE49-F238E27FC236}">
                <a16:creationId xmlns:a16="http://schemas.microsoft.com/office/drawing/2014/main" id="{E4C8EA01-C150-3662-8096-D512B7403260}"/>
              </a:ext>
            </a:extLst>
          </p:cNvPr>
          <p:cNvSpPr/>
          <p:nvPr/>
        </p:nvSpPr>
        <p:spPr>
          <a:xfrm>
            <a:off x="2055335" y="4457429"/>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4" name="四角形: 角を丸くする 373">
            <a:extLst>
              <a:ext uri="{FF2B5EF4-FFF2-40B4-BE49-F238E27FC236}">
                <a16:creationId xmlns:a16="http://schemas.microsoft.com/office/drawing/2014/main" id="{652E437E-0050-EABA-2DC3-41F15BFDAE9B}"/>
              </a:ext>
            </a:extLst>
          </p:cNvPr>
          <p:cNvSpPr/>
          <p:nvPr/>
        </p:nvSpPr>
        <p:spPr>
          <a:xfrm>
            <a:off x="3721359" y="5476034"/>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5" name="四角形: 角を丸くする 374">
            <a:extLst>
              <a:ext uri="{FF2B5EF4-FFF2-40B4-BE49-F238E27FC236}">
                <a16:creationId xmlns:a16="http://schemas.microsoft.com/office/drawing/2014/main" id="{5B45ADAC-B00D-9D6C-A7CD-3680732D1D97}"/>
              </a:ext>
            </a:extLst>
          </p:cNvPr>
          <p:cNvSpPr/>
          <p:nvPr/>
        </p:nvSpPr>
        <p:spPr>
          <a:xfrm>
            <a:off x="1511127" y="5378242"/>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6" name="四角形: 角を丸くする 375">
            <a:extLst>
              <a:ext uri="{FF2B5EF4-FFF2-40B4-BE49-F238E27FC236}">
                <a16:creationId xmlns:a16="http://schemas.microsoft.com/office/drawing/2014/main" id="{4AC03075-6B4D-146E-91CA-36D6A1BACD84}"/>
              </a:ext>
            </a:extLst>
          </p:cNvPr>
          <p:cNvSpPr/>
          <p:nvPr/>
        </p:nvSpPr>
        <p:spPr>
          <a:xfrm>
            <a:off x="2429498" y="5564134"/>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7" name="四角形: 角を丸くする 376">
            <a:extLst>
              <a:ext uri="{FF2B5EF4-FFF2-40B4-BE49-F238E27FC236}">
                <a16:creationId xmlns:a16="http://schemas.microsoft.com/office/drawing/2014/main" id="{E82D475C-C4D2-B629-EA5B-3B51B94D8252}"/>
              </a:ext>
            </a:extLst>
          </p:cNvPr>
          <p:cNvSpPr/>
          <p:nvPr/>
        </p:nvSpPr>
        <p:spPr>
          <a:xfrm>
            <a:off x="3241561" y="5298086"/>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8" name="四角形: 角を丸くする 377">
            <a:extLst>
              <a:ext uri="{FF2B5EF4-FFF2-40B4-BE49-F238E27FC236}">
                <a16:creationId xmlns:a16="http://schemas.microsoft.com/office/drawing/2014/main" id="{60888206-EDCA-C699-B3FB-0B241FC334DE}"/>
              </a:ext>
            </a:extLst>
          </p:cNvPr>
          <p:cNvSpPr/>
          <p:nvPr/>
        </p:nvSpPr>
        <p:spPr>
          <a:xfrm>
            <a:off x="6665583" y="4295805"/>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9" name="四角形: 角を丸くする 378">
            <a:extLst>
              <a:ext uri="{FF2B5EF4-FFF2-40B4-BE49-F238E27FC236}">
                <a16:creationId xmlns:a16="http://schemas.microsoft.com/office/drawing/2014/main" id="{0E37A820-F7C8-8552-B761-84F5343D61C2}"/>
              </a:ext>
            </a:extLst>
          </p:cNvPr>
          <p:cNvSpPr/>
          <p:nvPr/>
        </p:nvSpPr>
        <p:spPr>
          <a:xfrm>
            <a:off x="6977588" y="4065132"/>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0" name="四角形: 角を丸くする 379">
            <a:extLst>
              <a:ext uri="{FF2B5EF4-FFF2-40B4-BE49-F238E27FC236}">
                <a16:creationId xmlns:a16="http://schemas.microsoft.com/office/drawing/2014/main" id="{CAE4E7A4-46E0-FDB2-7527-F74FD9CA94E8}"/>
              </a:ext>
            </a:extLst>
          </p:cNvPr>
          <p:cNvSpPr/>
          <p:nvPr/>
        </p:nvSpPr>
        <p:spPr>
          <a:xfrm>
            <a:off x="7715866" y="3634447"/>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1" name="TextBox 380"/>
          <p:cNvSpPr txBox="1"/>
          <p:nvPr/>
        </p:nvSpPr>
        <p:spPr>
          <a:xfrm>
            <a:off x="583350" y="767521"/>
            <a:ext cx="9200000" cy="415498"/>
          </a:xfrm>
          <a:prstGeom prst="rect">
            <a:avLst/>
          </a:prstGeom>
          <a:noFill/>
        </p:spPr>
        <p:txBody>
          <a:bodyPr wrap="square">
            <a:spAutoFit/>
          </a:bodyPr>
          <a:lstStyle/>
          <a:p>
            <a:pPr algn="ctr"/>
            <a:r>
              <a:rPr sz="1050" dirty="0" err="1">
                <a:solidFill>
                  <a:srgbClr val="333333"/>
                </a:solidFill>
                <a:latin typeface="メイリオ"/>
              </a:rPr>
              <a:t>前＝価値確認（ブランド名・相場</a:t>
            </a:r>
            <a:r>
              <a:rPr sz="1050" dirty="0">
                <a:solidFill>
                  <a:srgbClr val="333333"/>
                </a:solidFill>
                <a:latin typeface="メイリオ"/>
              </a:rPr>
              <a:t>）→ 0〜3日＝業者比較・口コミ・配送手段の確認（勝負どころ）→ </a:t>
            </a:r>
            <a:r>
              <a:rPr sz="1050" dirty="0" err="1">
                <a:solidFill>
                  <a:srgbClr val="333333"/>
                </a:solidFill>
                <a:latin typeface="メイリオ"/>
              </a:rPr>
              <a:t>後＝口コミ最終確認・別品目売却</a:t>
            </a:r>
            <a:endParaRPr sz="1050" dirty="0">
              <a:solidFill>
                <a:srgbClr val="333333"/>
              </a:solidFill>
              <a:latin typeface="メイリオ"/>
            </a:endParaRPr>
          </a:p>
          <a:p>
            <a:pPr algn="ctr"/>
            <a:r>
              <a:rPr sz="1050" b="1" dirty="0">
                <a:solidFill>
                  <a:srgbClr val="1F3A5F"/>
                </a:solidFill>
                <a:latin typeface="メイリオ"/>
              </a:rPr>
              <a:t>⇒ 相場を調べる段階で「写真1枚のLINE査定」接点を作り、査定額保証×クーポンで比較をスキップさせて査定予約へ</a:t>
            </a:r>
          </a:p>
        </p:txBody>
      </p:sp>
    </p:spTree>
    <p:extLst>
      <p:ext uri="{BB962C8B-B14F-4D97-AF65-F5344CB8AC3E}">
        <p14:creationId xmlns:p14="http://schemas.microsoft.com/office/powerpoint/2010/main" val="393908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C26E367-3F09-8712-1D7B-93B5C05B00E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D0396A-E784-CE01-45A4-95BC982BCFA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87A7F74-23D6-2345-090E-4097D57A4D51}"/>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AC4786F-1B1F-294E-14FA-EFA8BBF357D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76B0AA74-DC92-7D07-8779-08845550C607}"/>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8E33F495-92B1-9E14-019D-916A2AC3749A}"/>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3FA1EAF4-FFC8-190E-571F-F3DFFE61115F}"/>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30CCC30-3058-E45F-34A7-1A26CB1C6EE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3415409-EAE9-9E52-5EE5-39957199A004}"/>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時計 買取</a:t>
            </a:r>
          </a:p>
        </p:txBody>
      </p:sp>
      <p:sp>
        <p:nvSpPr>
          <p:cNvPr id="35" name="テキスト ボックス 34">
            <a:extLst>
              <a:ext uri="{FF2B5EF4-FFF2-40B4-BE49-F238E27FC236}">
                <a16:creationId xmlns:a16="http://schemas.microsoft.com/office/drawing/2014/main" id="{B09A8CEE-08C8-FA74-13CC-E7CDF2442483}"/>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37" name="四角形: 角を丸くする 36">
            <a:extLst>
              <a:ext uri="{FF2B5EF4-FFF2-40B4-BE49-F238E27FC236}">
                <a16:creationId xmlns:a16="http://schemas.microsoft.com/office/drawing/2014/main" id="{634D9C4D-854D-D279-B738-CD47C3260CE0}"/>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型番・モデル</a:t>
            </a:r>
          </a:p>
        </p:txBody>
      </p:sp>
      <p:sp>
        <p:nvSpPr>
          <p:cNvPr id="39" name="四角形: 角を丸くする 38">
            <a:extLst>
              <a:ext uri="{FF2B5EF4-FFF2-40B4-BE49-F238E27FC236}">
                <a16:creationId xmlns:a16="http://schemas.microsoft.com/office/drawing/2014/main" id="{4EA5DFB2-CBE5-913A-CD42-88E0BA1CDC80}"/>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専門店名（指名）</a:t>
            </a:r>
          </a:p>
        </p:txBody>
      </p:sp>
      <p:sp>
        <p:nvSpPr>
          <p:cNvPr id="41" name="四角形: 角を丸くする 40">
            <a:extLst>
              <a:ext uri="{FF2B5EF4-FFF2-40B4-BE49-F238E27FC236}">
                <a16:creationId xmlns:a16="http://schemas.microsoft.com/office/drawing/2014/main" id="{916D3B08-1552-5D7B-5F9D-F1606F5628D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相場・価格表</a:t>
            </a:r>
          </a:p>
        </p:txBody>
      </p:sp>
      <p:sp>
        <p:nvSpPr>
          <p:cNvPr id="43" name="四角形: 角を丸くする 42">
            <a:extLst>
              <a:ext uri="{FF2B5EF4-FFF2-40B4-BE49-F238E27FC236}">
                <a16:creationId xmlns:a16="http://schemas.microsoft.com/office/drawing/2014/main" id="{3DB43549-E4B9-4919-87CF-7240CAB93DC0}"/>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ランキング・口コミ</a:t>
            </a:r>
          </a:p>
        </p:txBody>
      </p:sp>
      <p:pic>
        <p:nvPicPr>
          <p:cNvPr id="46" name="Picture 45" descr="Journey_時計 買取_直近1年間(20250217-20260222).png"/>
          <p:cNvPicPr>
            <a:picLocks noChangeAspect="1"/>
          </p:cNvPicPr>
          <p:nvPr/>
        </p:nvPicPr>
        <p:blipFill>
          <a:blip r:embed="rId2"/>
          <a:stretch>
            <a:fillRect/>
          </a:stretch>
        </p:blipFill>
        <p:spPr>
          <a:xfrm>
            <a:off x="1359527" y="1832514"/>
            <a:ext cx="7152121" cy="4172072"/>
          </a:xfrm>
          <a:prstGeom prst="rect">
            <a:avLst/>
          </a:prstGeom>
        </p:spPr>
      </p:pic>
      <p:sp>
        <p:nvSpPr>
          <p:cNvPr id="4" name="直角三角形 3">
            <a:extLst>
              <a:ext uri="{FF2B5EF4-FFF2-40B4-BE49-F238E27FC236}">
                <a16:creationId xmlns:a16="http://schemas.microsoft.com/office/drawing/2014/main" id="{C0512425-46E3-23A7-4D18-105A654E55DF}"/>
              </a:ext>
            </a:extLst>
          </p:cNvPr>
          <p:cNvSpPr/>
          <p:nvPr/>
        </p:nvSpPr>
        <p:spPr>
          <a:xfrm rot="16200000" flipV="1">
            <a:off x="5690701" y="151968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pic>
        <p:nvPicPr>
          <p:cNvPr id="8" name="図 7" descr="LINE公式アカウントのロゴの種類とダウンロード方法、利用時の ...">
            <a:extLst>
              <a:ext uri="{FF2B5EF4-FFF2-40B4-BE49-F238E27FC236}">
                <a16:creationId xmlns:a16="http://schemas.microsoft.com/office/drawing/2014/main" id="{396CD2C7-5053-C24D-8269-A3B36C06C54F}"/>
              </a:ext>
            </a:extLst>
          </p:cNvPr>
          <p:cNvPicPr>
            <a:picLocks noChangeAspect="1"/>
          </p:cNvPicPr>
          <p:nvPr/>
        </p:nvPicPr>
        <p:blipFill>
          <a:blip r:embed="rId3"/>
          <a:stretch>
            <a:fillRect/>
          </a:stretch>
        </p:blipFill>
        <p:spPr>
          <a:xfrm>
            <a:off x="5183350" y="1824217"/>
            <a:ext cx="432756" cy="432324"/>
          </a:xfrm>
          <a:prstGeom prst="rect">
            <a:avLst/>
          </a:prstGeom>
        </p:spPr>
      </p:pic>
      <p:sp>
        <p:nvSpPr>
          <p:cNvPr id="11" name="テキスト ボックス 10">
            <a:extLst>
              <a:ext uri="{FF2B5EF4-FFF2-40B4-BE49-F238E27FC236}">
                <a16:creationId xmlns:a16="http://schemas.microsoft.com/office/drawing/2014/main" id="{D4694FC8-EE91-AE12-8099-95EB90673BCA}"/>
              </a:ext>
            </a:extLst>
          </p:cNvPr>
          <p:cNvSpPr txBox="1"/>
          <p:nvPr/>
        </p:nvSpPr>
        <p:spPr>
          <a:xfrm>
            <a:off x="5109349" y="221556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15" name="四角形: 角を丸くする 14">
            <a:extLst>
              <a:ext uri="{FF2B5EF4-FFF2-40B4-BE49-F238E27FC236}">
                <a16:creationId xmlns:a16="http://schemas.microsoft.com/office/drawing/2014/main" id="{9D8DA1BF-5008-EC12-2D63-A5945E10C300}"/>
              </a:ext>
            </a:extLst>
          </p:cNvPr>
          <p:cNvSpPr/>
          <p:nvPr/>
        </p:nvSpPr>
        <p:spPr>
          <a:xfrm>
            <a:off x="5109348" y="5774414"/>
            <a:ext cx="1531143"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F4D38C4B-E95F-1501-AE96-4F1A920734B8}"/>
              </a:ext>
            </a:extLst>
          </p:cNvPr>
          <p:cNvSpPr txBox="1"/>
          <p:nvPr/>
        </p:nvSpPr>
        <p:spPr>
          <a:xfrm>
            <a:off x="1549539" y="690561"/>
            <a:ext cx="7267622" cy="661720"/>
          </a:xfrm>
          <a:prstGeom prst="rect">
            <a:avLst/>
          </a:prstGeom>
          <a:noFill/>
        </p:spPr>
        <p:txBody>
          <a:bodyPr wrap="square">
            <a:spAutoFit/>
          </a:bodyPr>
          <a:lstStyle/>
          <a:p>
            <a:r>
              <a:rPr lang="ja-JP" altLang="en-US" sz="900" dirty="0">
                <a:solidFill>
                  <a:srgbClr val="333333"/>
                </a:solidFill>
                <a:latin typeface="メイリオ"/>
              </a:rPr>
              <a:t>前＝型番・リファレンス単位の資産価値確認 → </a:t>
            </a:r>
            <a:r>
              <a:rPr lang="en-US" altLang="ja-JP" sz="900" dirty="0">
                <a:solidFill>
                  <a:srgbClr val="333333"/>
                </a:solidFill>
                <a:latin typeface="メイリオ"/>
              </a:rPr>
              <a:t>0〜3</a:t>
            </a:r>
            <a:r>
              <a:rPr lang="ja-JP" altLang="en-US" sz="900" dirty="0">
                <a:solidFill>
                  <a:srgbClr val="333333"/>
                </a:solidFill>
                <a:latin typeface="メイリオ"/>
              </a:rPr>
              <a:t>日＝専門店の比較・相場表・ランキング → 後＝どこがいい・口コミ・質屋比較</a:t>
            </a:r>
          </a:p>
          <a:p>
            <a:r>
              <a:rPr lang="ja-JP" altLang="en-US" sz="950" b="1" dirty="0">
                <a:solidFill>
                  <a:srgbClr val="1F3A5F"/>
                </a:solidFill>
                <a:latin typeface="メイリオ"/>
              </a:rPr>
              <a:t>⇒ 「型番を送るだけで相場即答」＋モデル別価格表の配信。鑑定士・実績の専門性訴求で高知識層を取り切る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C26E367-3F09-8712-1D7B-93B5C05B00E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D0396A-E784-CE01-45A4-95BC982BCFA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87A7F74-23D6-2345-090E-4097D57A4D51}"/>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AC4786F-1B1F-294E-14FA-EFA8BBF357D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76B0AA74-DC92-7D07-8779-08845550C607}"/>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8E33F495-92B1-9E14-019D-916A2AC3749A}"/>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3FA1EAF4-FFC8-190E-571F-F3DFFE61115F}"/>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30CCC30-3058-E45F-34A7-1A26CB1C6EE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3415409-EAE9-9E52-5EE5-39957199A004}"/>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不動産査定</a:t>
            </a:r>
          </a:p>
        </p:txBody>
      </p:sp>
      <p:sp>
        <p:nvSpPr>
          <p:cNvPr id="35" name="テキスト ボックス 34">
            <a:extLst>
              <a:ext uri="{FF2B5EF4-FFF2-40B4-BE49-F238E27FC236}">
                <a16:creationId xmlns:a16="http://schemas.microsoft.com/office/drawing/2014/main" id="{B09A8CEE-08C8-FA74-13CC-E7CDF2442483}"/>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pic>
        <p:nvPicPr>
          <p:cNvPr id="46" name="Picture 45" descr="Journey_不動産査定_直近1年間(20240617-20250622).png"/>
          <p:cNvPicPr>
            <a:picLocks noChangeAspect="1"/>
          </p:cNvPicPr>
          <p:nvPr/>
        </p:nvPicPr>
        <p:blipFill>
          <a:blip r:embed="rId2"/>
          <a:stretch>
            <a:fillRect/>
          </a:stretch>
        </p:blipFill>
        <p:spPr>
          <a:xfrm>
            <a:off x="1359527" y="1832514"/>
            <a:ext cx="7152121" cy="4172072"/>
          </a:xfrm>
          <a:prstGeom prst="rect">
            <a:avLst/>
          </a:prstGeom>
        </p:spPr>
      </p:pic>
      <p:sp>
        <p:nvSpPr>
          <p:cNvPr id="4" name="直角三角形 3">
            <a:extLst>
              <a:ext uri="{FF2B5EF4-FFF2-40B4-BE49-F238E27FC236}">
                <a16:creationId xmlns:a16="http://schemas.microsoft.com/office/drawing/2014/main" id="{2F339B60-311C-AAE2-C228-C56363DBDADA}"/>
              </a:ext>
            </a:extLst>
          </p:cNvPr>
          <p:cNvSpPr/>
          <p:nvPr/>
        </p:nvSpPr>
        <p:spPr>
          <a:xfrm rot="16200000" flipV="1">
            <a:off x="5690701" y="151968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pic>
        <p:nvPicPr>
          <p:cNvPr id="8" name="図 7" descr="LINE公式アカウントのロゴの種類とダウンロード方法、利用時の ...">
            <a:extLst>
              <a:ext uri="{FF2B5EF4-FFF2-40B4-BE49-F238E27FC236}">
                <a16:creationId xmlns:a16="http://schemas.microsoft.com/office/drawing/2014/main" id="{1C2A6789-4405-3F47-27CF-74D2D968D036}"/>
              </a:ext>
            </a:extLst>
          </p:cNvPr>
          <p:cNvPicPr>
            <a:picLocks noChangeAspect="1"/>
          </p:cNvPicPr>
          <p:nvPr/>
        </p:nvPicPr>
        <p:blipFill>
          <a:blip r:embed="rId3"/>
          <a:stretch>
            <a:fillRect/>
          </a:stretch>
        </p:blipFill>
        <p:spPr>
          <a:xfrm>
            <a:off x="5183350" y="1824217"/>
            <a:ext cx="432756" cy="432324"/>
          </a:xfrm>
          <a:prstGeom prst="rect">
            <a:avLst/>
          </a:prstGeom>
        </p:spPr>
      </p:pic>
      <p:sp>
        <p:nvSpPr>
          <p:cNvPr id="11" name="テキスト ボックス 10">
            <a:extLst>
              <a:ext uri="{FF2B5EF4-FFF2-40B4-BE49-F238E27FC236}">
                <a16:creationId xmlns:a16="http://schemas.microsoft.com/office/drawing/2014/main" id="{E2568E4B-79B5-8AE4-52E0-25AEEBAF4FA5}"/>
              </a:ext>
            </a:extLst>
          </p:cNvPr>
          <p:cNvSpPr txBox="1"/>
          <p:nvPr/>
        </p:nvSpPr>
        <p:spPr>
          <a:xfrm>
            <a:off x="5109349" y="221556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15" name="四角形: 角を丸くする 14">
            <a:extLst>
              <a:ext uri="{FF2B5EF4-FFF2-40B4-BE49-F238E27FC236}">
                <a16:creationId xmlns:a16="http://schemas.microsoft.com/office/drawing/2014/main" id="{DCE4E75F-92B7-4EB0-B446-8D42BB7C0507}"/>
              </a:ext>
            </a:extLst>
          </p:cNvPr>
          <p:cNvSpPr/>
          <p:nvPr/>
        </p:nvSpPr>
        <p:spPr>
          <a:xfrm>
            <a:off x="5109348" y="5774414"/>
            <a:ext cx="1531143"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250E85A9-2727-75EC-BC00-AD7133A09D23}"/>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ポータル・業者名</a:t>
            </a:r>
          </a:p>
        </p:txBody>
      </p:sp>
      <p:sp>
        <p:nvSpPr>
          <p:cNvPr id="19" name="四角形: 角を丸くする 18">
            <a:extLst>
              <a:ext uri="{FF2B5EF4-FFF2-40B4-BE49-F238E27FC236}">
                <a16:creationId xmlns:a16="http://schemas.microsoft.com/office/drawing/2014/main" id="{9F38166A-D91F-5235-68E3-DC86A7853D84}"/>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公的価格指標</a:t>
            </a:r>
          </a:p>
        </p:txBody>
      </p:sp>
      <p:sp>
        <p:nvSpPr>
          <p:cNvPr id="23" name="四角形: 角を丸くする 22">
            <a:extLst>
              <a:ext uri="{FF2B5EF4-FFF2-40B4-BE49-F238E27FC236}">
                <a16:creationId xmlns:a16="http://schemas.microsoft.com/office/drawing/2014/main" id="{741704AD-87F1-CC03-4C22-A1AC22AC62C2}"/>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税金・手続き</a:t>
            </a:r>
          </a:p>
        </p:txBody>
      </p:sp>
      <p:sp>
        <p:nvSpPr>
          <p:cNvPr id="25" name="四角形: 角を丸くする 24">
            <a:extLst>
              <a:ext uri="{FF2B5EF4-FFF2-40B4-BE49-F238E27FC236}">
                <a16:creationId xmlns:a16="http://schemas.microsoft.com/office/drawing/2014/main" id="{B6FA0F36-FBE1-B779-B537-2149229FA284}"/>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ライフイベント</a:t>
            </a:r>
          </a:p>
        </p:txBody>
      </p:sp>
      <p:sp>
        <p:nvSpPr>
          <p:cNvPr id="47" name="TextBox 46"/>
          <p:cNvSpPr txBox="1"/>
          <p:nvPr/>
        </p:nvSpPr>
        <p:spPr>
          <a:xfrm>
            <a:off x="1403070" y="853411"/>
            <a:ext cx="9200000" cy="480000"/>
          </a:xfrm>
          <a:prstGeom prst="rect">
            <a:avLst/>
          </a:prstGeom>
          <a:noFill/>
        </p:spPr>
        <p:txBody>
          <a:bodyPr wrap="square">
            <a:spAutoFit/>
          </a:bodyPr>
          <a:lstStyle/>
          <a:p>
            <a:r>
              <a:rPr sz="900">
                <a:solidFill>
                  <a:srgbClr val="333333"/>
                </a:solidFill>
                <a:latin typeface="メイリオ"/>
              </a:rPr>
              <a:t>前＝相続・離婚・ローン（人生の節目の検索）→ 0〜3日＝一括査定ポータル比較＋税金・手数料 → 後＝手続きの海＋実家じまい副次ニーズ</a:t>
            </a:r>
          </a:p>
          <a:p>
            <a:r>
              <a:rPr sz="950" b="1">
                <a:solidFill>
                  <a:srgbClr val="1F3A5F"/>
                </a:solidFill>
                <a:latin typeface="メイリオ"/>
              </a:rPr>
              <a:t>⇒ 「電話営業なし・LINEで概算査定」を売却理由別の入口で。長期戦は手続きガイド配信で“相談先”の座を取る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dirty="0" err="1">
                <a:solidFill>
                  <a:srgbClr val="333333"/>
                </a:solidFill>
                <a:latin typeface="メイリオ"/>
              </a:rPr>
              <a:t>競合はLINE査定などの「入口」と、キャンペーン・投稿の「継続接点」を両輪で運用</a:t>
            </a:r>
            <a:r>
              <a:rPr sz="1200" b="0" dirty="0">
                <a:solidFill>
                  <a:srgbClr val="333333"/>
                </a:solidFill>
                <a:latin typeface="メイリオ"/>
              </a:rPr>
              <a:t>。</a:t>
            </a:r>
            <a:endParaRPr lang="en-US" sz="1200" b="0" dirty="0">
              <a:solidFill>
                <a:srgbClr val="333333"/>
              </a:solidFill>
              <a:latin typeface="メイリオ"/>
            </a:endParaRPr>
          </a:p>
          <a:p>
            <a:pPr algn="ctr">
              <a:lnSpc>
                <a:spcPts val="2455"/>
              </a:lnSpc>
            </a:pPr>
            <a:r>
              <a:rPr sz="1200" b="0" dirty="0">
                <a:solidFill>
                  <a:srgbClr val="333333"/>
                </a:solidFill>
                <a:latin typeface="メイリオ"/>
              </a:rPr>
              <a:t>上位社は数十万〜150万の友だち資産を構築済み。</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47" name="TextBox 46"/>
          <p:cNvSpPr txBox="1"/>
          <p:nvPr/>
        </p:nvSpPr>
        <p:spPr>
          <a:xfrm>
            <a:off x="350000" y="5150000"/>
            <a:ext cx="9200000" cy="230832"/>
          </a:xfrm>
          <a:prstGeom prst="rect">
            <a:avLst/>
          </a:prstGeom>
          <a:noFill/>
        </p:spPr>
        <p:txBody>
          <a:bodyPr wrap="square">
            <a:spAutoFit/>
          </a:bodyPr>
          <a:lstStyle/>
          <a:p>
            <a:pPr algn="l"/>
            <a:r>
              <a:rPr sz="900" b="0" dirty="0">
                <a:solidFill>
                  <a:srgbClr val="555555"/>
                </a:solidFill>
                <a:latin typeface="メイリオ"/>
              </a:rPr>
              <a:t>※ </a:t>
            </a:r>
            <a:r>
              <a:rPr sz="900" b="0" dirty="0" err="1">
                <a:solidFill>
                  <a:srgbClr val="555555"/>
                </a:solidFill>
                <a:latin typeface="メイリオ"/>
              </a:rPr>
              <a:t>友だち数は各社LINE公式ページより。トーク配信の頻度・内容は友だち追加調査で確認予定</a:t>
            </a:r>
            <a:r>
              <a:rPr sz="900" b="0" dirty="0">
                <a:solidFill>
                  <a:srgbClr val="555555"/>
                </a:solidFill>
                <a:latin typeface="メイリオ"/>
              </a:rPr>
              <a:t>。</a:t>
            </a:r>
          </a:p>
        </p:txBody>
      </p:sp>
      <p:graphicFrame>
        <p:nvGraphicFramePr>
          <p:cNvPr id="48" name="Table 47"/>
          <p:cNvGraphicFramePr>
            <a:graphicFrameLocks noGrp="1"/>
          </p:cNvGraphicFramePr>
          <p:nvPr/>
        </p:nvGraphicFramePr>
        <p:xfrm>
          <a:off x="350000" y="1700000"/>
          <a:ext cx="9200000" cy="3300000"/>
        </p:xfrm>
        <a:graphic>
          <a:graphicData uri="http://schemas.openxmlformats.org/drawingml/2006/table">
            <a:tbl>
              <a:tblPr firstRow="1" bandRow="1">
                <a:tableStyleId>{5C22544A-7EE6-4342-B048-85BDC9FD1C3A}</a:tableStyleId>
              </a:tblPr>
              <a:tblGrid>
                <a:gridCol w="165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3100000">
                  <a:extLst>
                    <a:ext uri="{9D8B030D-6E8A-4147-A177-3AD203B41FA5}">
                      <a16:colId xmlns:a16="http://schemas.microsoft.com/office/drawing/2014/main" val="20002"/>
                    </a:ext>
                  </a:extLst>
                </a:gridCol>
                <a:gridCol w="3100000">
                  <a:extLst>
                    <a:ext uri="{9D8B030D-6E8A-4147-A177-3AD203B41FA5}">
                      <a16:colId xmlns:a16="http://schemas.microsoft.com/office/drawing/2014/main" val="20003"/>
                    </a:ext>
                  </a:extLst>
                </a:gridCol>
              </a:tblGrid>
              <a:tr h="550000">
                <a:tc>
                  <a:txBody>
                    <a:bodyPr/>
                    <a:lstStyle/>
                    <a:p>
                      <a:pPr algn="l"/>
                      <a:r>
                        <a:rPr sz="1000" b="1">
                          <a:solidFill>
                            <a:srgbClr val="FFFFFF"/>
                          </a:solidFill>
                          <a:latin typeface="メイリオ"/>
                        </a:rPr>
                        <a:t>競合</a:t>
                      </a:r>
                    </a:p>
                  </a:txBody>
                  <a:tcPr>
                    <a:solidFill>
                      <a:srgbClr val="24345A"/>
                    </a:solidFill>
                  </a:tcPr>
                </a:tc>
                <a:tc>
                  <a:txBody>
                    <a:bodyPr/>
                    <a:lstStyle/>
                    <a:p>
                      <a:pPr algn="l"/>
                      <a:r>
                        <a:rPr sz="1000" b="1">
                          <a:solidFill>
                            <a:srgbClr val="FFFFFF"/>
                          </a:solidFill>
                          <a:latin typeface="メイリオ"/>
                        </a:rPr>
                        <a:t>友だち数※</a:t>
                      </a:r>
                    </a:p>
                  </a:txBody>
                  <a:tcPr>
                    <a:solidFill>
                      <a:srgbClr val="24345A"/>
                    </a:solidFill>
                  </a:tcPr>
                </a:tc>
                <a:tc>
                  <a:txBody>
                    <a:bodyPr/>
                    <a:lstStyle/>
                    <a:p>
                      <a:pPr algn="l"/>
                      <a:r>
                        <a:rPr sz="1000" b="1">
                          <a:solidFill>
                            <a:srgbClr val="FFFFFF"/>
                          </a:solidFill>
                          <a:latin typeface="メイリオ"/>
                        </a:rPr>
                        <a:t>入口（LINE査定・導線）</a:t>
                      </a:r>
                    </a:p>
                  </a:txBody>
                  <a:tcPr>
                    <a:solidFill>
                      <a:srgbClr val="24345A"/>
                    </a:solidFill>
                  </a:tcPr>
                </a:tc>
                <a:tc>
                  <a:txBody>
                    <a:bodyPr/>
                    <a:lstStyle/>
                    <a:p>
                      <a:pPr algn="l"/>
                      <a:r>
                        <a:rPr sz="1000" b="1">
                          <a:solidFill>
                            <a:srgbClr val="FFFFFF"/>
                          </a:solidFill>
                          <a:latin typeface="メイリオ"/>
                        </a:rPr>
                        <a:t>継続接点（CP・投稿）</a:t>
                      </a:r>
                    </a:p>
                  </a:txBody>
                  <a:tcPr>
                    <a:solidFill>
                      <a:srgbClr val="24345A"/>
                    </a:solidFill>
                  </a:tcPr>
                </a:tc>
                <a:extLst>
                  <a:ext uri="{0D108BD9-81ED-4DB2-BD59-A6C34878D82A}">
                    <a16:rowId xmlns:a16="http://schemas.microsoft.com/office/drawing/2014/main" val="10000"/>
                  </a:ext>
                </a:extLst>
              </a:tr>
              <a:tr h="550000">
                <a:tc>
                  <a:txBody>
                    <a:bodyPr/>
                    <a:lstStyle/>
                    <a:p>
                      <a:pPr algn="l"/>
                      <a:r>
                        <a:rPr sz="950" b="1">
                          <a:solidFill>
                            <a:srgbClr val="1F3A5F"/>
                          </a:solidFill>
                          <a:latin typeface="メイリオ"/>
                        </a:rPr>
                        <a:t>おたからや</a:t>
                      </a:r>
                    </a:p>
                  </a:txBody>
                  <a:tcPr>
                    <a:solidFill>
                      <a:srgbClr val="FFFFFF"/>
                    </a:solidFill>
                  </a:tcPr>
                </a:tc>
                <a:tc>
                  <a:txBody>
                    <a:bodyPr/>
                    <a:lstStyle/>
                    <a:p>
                      <a:pPr algn="l"/>
                      <a:r>
                        <a:rPr sz="950" b="0">
                          <a:solidFill>
                            <a:srgbClr val="555555"/>
                          </a:solidFill>
                          <a:latin typeface="メイリオ"/>
                        </a:rPr>
                        <a:t>1,572,934</a:t>
                      </a:r>
                    </a:p>
                  </a:txBody>
                  <a:tcPr>
                    <a:solidFill>
                      <a:srgbClr val="FFFFFF"/>
                    </a:solidFill>
                  </a:tcPr>
                </a:tc>
                <a:tc>
                  <a:txBody>
                    <a:bodyPr/>
                    <a:lstStyle/>
                    <a:p>
                      <a:pPr algn="l"/>
                      <a:r>
                        <a:rPr sz="950" b="0">
                          <a:solidFill>
                            <a:srgbClr val="555555"/>
                          </a:solidFill>
                          <a:latin typeface="メイリオ"/>
                        </a:rPr>
                        <a:t>写真1枚のLINE査定／クーポン常設</a:t>
                      </a:r>
                    </a:p>
                  </a:txBody>
                  <a:tcPr>
                    <a:solidFill>
                      <a:srgbClr val="FFFFFF"/>
                    </a:solidFill>
                  </a:tcPr>
                </a:tc>
                <a:tc>
                  <a:txBody>
                    <a:bodyPr/>
                    <a:lstStyle/>
                    <a:p>
                      <a:pPr algn="l"/>
                      <a:r>
                        <a:rPr sz="950" b="0">
                          <a:solidFill>
                            <a:srgbClr val="555555"/>
                          </a:solidFill>
                          <a:latin typeface="メイリオ"/>
                        </a:rPr>
                        <a:t>現金10万円CP／タクシー代・駐車場代負担</a:t>
                      </a:r>
                    </a:p>
                  </a:txBody>
                  <a:tcPr>
                    <a:solidFill>
                      <a:srgbClr val="FFFFFF"/>
                    </a:solidFill>
                  </a:tcPr>
                </a:tc>
                <a:extLst>
                  <a:ext uri="{0D108BD9-81ED-4DB2-BD59-A6C34878D82A}">
                    <a16:rowId xmlns:a16="http://schemas.microsoft.com/office/drawing/2014/main" val="10001"/>
                  </a:ext>
                </a:extLst>
              </a:tr>
              <a:tr h="550000">
                <a:tc>
                  <a:txBody>
                    <a:bodyPr/>
                    <a:lstStyle/>
                    <a:p>
                      <a:pPr algn="l"/>
                      <a:r>
                        <a:rPr sz="950" b="1">
                          <a:solidFill>
                            <a:srgbClr val="1F3A5F"/>
                          </a:solidFill>
                          <a:latin typeface="メイリオ"/>
                        </a:rPr>
                        <a:t>エコリング</a:t>
                      </a:r>
                    </a:p>
                  </a:txBody>
                  <a:tcPr>
                    <a:solidFill>
                      <a:srgbClr val="F2F5F9"/>
                    </a:solidFill>
                  </a:tcPr>
                </a:tc>
                <a:tc>
                  <a:txBody>
                    <a:bodyPr/>
                    <a:lstStyle/>
                    <a:p>
                      <a:pPr algn="l"/>
                      <a:r>
                        <a:rPr sz="950" b="0">
                          <a:solidFill>
                            <a:srgbClr val="555555"/>
                          </a:solidFill>
                          <a:latin typeface="メイリオ"/>
                        </a:rPr>
                        <a:t>959,347</a:t>
                      </a:r>
                    </a:p>
                  </a:txBody>
                  <a:tcPr>
                    <a:solidFill>
                      <a:srgbClr val="F2F5F9"/>
                    </a:solidFill>
                  </a:tcPr>
                </a:tc>
                <a:tc>
                  <a:txBody>
                    <a:bodyPr/>
                    <a:lstStyle/>
                    <a:p>
                      <a:pPr algn="l"/>
                      <a:r>
                        <a:rPr sz="950" b="0">
                          <a:solidFill>
                            <a:srgbClr val="555555"/>
                          </a:solidFill>
                          <a:latin typeface="メイリオ"/>
                        </a:rPr>
                        <a:t>LINE査定×査定価格保証／宅配3ステップ</a:t>
                      </a:r>
                    </a:p>
                  </a:txBody>
                  <a:tcPr>
                    <a:solidFill>
                      <a:srgbClr val="F2F5F9"/>
                    </a:solidFill>
                  </a:tcPr>
                </a:tc>
                <a:tc>
                  <a:txBody>
                    <a:bodyPr/>
                    <a:lstStyle/>
                    <a:p>
                      <a:pPr algn="l"/>
                      <a:r>
                        <a:rPr sz="950" b="0">
                          <a:solidFill>
                            <a:srgbClr val="555555"/>
                          </a:solidFill>
                          <a:latin typeface="メイリオ"/>
                        </a:rPr>
                        <a:t>査定額UPクーポン</a:t>
                      </a:r>
                    </a:p>
                  </a:txBody>
                  <a:tcPr>
                    <a:solidFill>
                      <a:srgbClr val="F2F5F9"/>
                    </a:solidFill>
                  </a:tcPr>
                </a:tc>
                <a:extLst>
                  <a:ext uri="{0D108BD9-81ED-4DB2-BD59-A6C34878D82A}">
                    <a16:rowId xmlns:a16="http://schemas.microsoft.com/office/drawing/2014/main" val="10002"/>
                  </a:ext>
                </a:extLst>
              </a:tr>
              <a:tr h="550000">
                <a:tc>
                  <a:txBody>
                    <a:bodyPr/>
                    <a:lstStyle/>
                    <a:p>
                      <a:pPr algn="l"/>
                      <a:r>
                        <a:rPr sz="950" b="1">
                          <a:solidFill>
                            <a:srgbClr val="1F3A5F"/>
                          </a:solidFill>
                          <a:latin typeface="メイリオ"/>
                        </a:rPr>
                        <a:t>ザ・ゴールド</a:t>
                      </a:r>
                    </a:p>
                  </a:txBody>
                  <a:tcPr>
                    <a:solidFill>
                      <a:srgbClr val="FFFFFF"/>
                    </a:solidFill>
                  </a:tcPr>
                </a:tc>
                <a:tc>
                  <a:txBody>
                    <a:bodyPr/>
                    <a:lstStyle/>
                    <a:p>
                      <a:pPr algn="l"/>
                      <a:r>
                        <a:rPr sz="950" b="0">
                          <a:solidFill>
                            <a:srgbClr val="555555"/>
                          </a:solidFill>
                          <a:latin typeface="メイリオ"/>
                        </a:rPr>
                        <a:t>431,986</a:t>
                      </a:r>
                    </a:p>
                  </a:txBody>
                  <a:tcPr>
                    <a:solidFill>
                      <a:srgbClr val="FFFFFF"/>
                    </a:solidFill>
                  </a:tcPr>
                </a:tc>
                <a:tc>
                  <a:txBody>
                    <a:bodyPr/>
                    <a:lstStyle/>
                    <a:p>
                      <a:pPr algn="l"/>
                      <a:r>
                        <a:rPr sz="950" b="0">
                          <a:solidFill>
                            <a:srgbClr val="555555"/>
                          </a:solidFill>
                          <a:latin typeface="メイリオ"/>
                        </a:rPr>
                        <a:t>ショップカード（ポイント）</a:t>
                      </a:r>
                    </a:p>
                  </a:txBody>
                  <a:tcPr>
                    <a:solidFill>
                      <a:srgbClr val="FFFFFF"/>
                    </a:solidFill>
                  </a:tcPr>
                </a:tc>
                <a:tc>
                  <a:txBody>
                    <a:bodyPr/>
                    <a:lstStyle/>
                    <a:p>
                      <a:pPr algn="l"/>
                      <a:r>
                        <a:rPr sz="950" b="0">
                          <a:solidFill>
                            <a:srgbClr val="555555"/>
                          </a:solidFill>
                          <a:latin typeface="メイリオ"/>
                        </a:rPr>
                        <a:t>毎月の懸賞くじ／店舗・スタッフ投稿</a:t>
                      </a:r>
                    </a:p>
                  </a:txBody>
                  <a:tcPr>
                    <a:solidFill>
                      <a:srgbClr val="FFFFFF"/>
                    </a:solidFill>
                  </a:tcPr>
                </a:tc>
                <a:extLst>
                  <a:ext uri="{0D108BD9-81ED-4DB2-BD59-A6C34878D82A}">
                    <a16:rowId xmlns:a16="http://schemas.microsoft.com/office/drawing/2014/main" val="10003"/>
                  </a:ext>
                </a:extLst>
              </a:tr>
              <a:tr h="550000">
                <a:tc>
                  <a:txBody>
                    <a:bodyPr/>
                    <a:lstStyle/>
                    <a:p>
                      <a:pPr algn="l"/>
                      <a:r>
                        <a:rPr sz="950" b="1">
                          <a:solidFill>
                            <a:srgbClr val="1F3A5F"/>
                          </a:solidFill>
                          <a:latin typeface="メイリオ"/>
                        </a:rPr>
                        <a:t>バイセル</a:t>
                      </a:r>
                    </a:p>
                  </a:txBody>
                  <a:tcPr>
                    <a:solidFill>
                      <a:srgbClr val="F2F5F9"/>
                    </a:solidFill>
                  </a:tcPr>
                </a:tc>
                <a:tc>
                  <a:txBody>
                    <a:bodyPr/>
                    <a:lstStyle/>
                    <a:p>
                      <a:pPr algn="l"/>
                      <a:r>
                        <a:rPr sz="950" b="0">
                          <a:solidFill>
                            <a:srgbClr val="555555"/>
                          </a:solidFill>
                          <a:latin typeface="メイリオ"/>
                        </a:rPr>
                        <a:t>89,163</a:t>
                      </a:r>
                    </a:p>
                  </a:txBody>
                  <a:tcPr>
                    <a:solidFill>
                      <a:srgbClr val="F2F5F9"/>
                    </a:solidFill>
                  </a:tcPr>
                </a:tc>
                <a:tc>
                  <a:txBody>
                    <a:bodyPr/>
                    <a:lstStyle/>
                    <a:p>
                      <a:pPr algn="l"/>
                      <a:r>
                        <a:rPr sz="950" b="0">
                          <a:solidFill>
                            <a:srgbClr val="555555"/>
                          </a:solidFill>
                          <a:latin typeface="メイリオ"/>
                        </a:rPr>
                        <a:t>出張・店頭・宅配の導線整理</a:t>
                      </a:r>
                    </a:p>
                  </a:txBody>
                  <a:tcPr>
                    <a:solidFill>
                      <a:srgbClr val="F2F5F9"/>
                    </a:solidFill>
                  </a:tcPr>
                </a:tc>
                <a:tc>
                  <a:txBody>
                    <a:bodyPr/>
                    <a:lstStyle/>
                    <a:p>
                      <a:pPr algn="l"/>
                      <a:r>
                        <a:rPr sz="950" b="0">
                          <a:solidFill>
                            <a:srgbClr val="555555"/>
                          </a:solidFill>
                          <a:latin typeface="メイリオ"/>
                        </a:rPr>
                        <a:t>通知メッセージで予約確定通知</a:t>
                      </a:r>
                    </a:p>
                  </a:txBody>
                  <a:tcPr>
                    <a:solidFill>
                      <a:srgbClr val="F2F5F9"/>
                    </a:solidFill>
                  </a:tcPr>
                </a:tc>
                <a:extLst>
                  <a:ext uri="{0D108BD9-81ED-4DB2-BD59-A6C34878D82A}">
                    <a16:rowId xmlns:a16="http://schemas.microsoft.com/office/drawing/2014/main" val="10004"/>
                  </a:ext>
                </a:extLst>
              </a:tr>
              <a:tr h="550000">
                <a:tc>
                  <a:txBody>
                    <a:bodyPr/>
                    <a:lstStyle/>
                    <a:p>
                      <a:pPr algn="l"/>
                      <a:r>
                        <a:rPr sz="950" b="1">
                          <a:solidFill>
                            <a:srgbClr val="1F3A5F"/>
                          </a:solidFill>
                          <a:latin typeface="メイリオ"/>
                        </a:rPr>
                        <a:t>福ちゃん</a:t>
                      </a:r>
                    </a:p>
                  </a:txBody>
                  <a:tcPr>
                    <a:solidFill>
                      <a:srgbClr val="FFFFFF"/>
                    </a:solidFill>
                  </a:tcPr>
                </a:tc>
                <a:tc>
                  <a:txBody>
                    <a:bodyPr/>
                    <a:lstStyle/>
                    <a:p>
                      <a:pPr algn="l"/>
                      <a:r>
                        <a:rPr sz="950" b="0">
                          <a:solidFill>
                            <a:srgbClr val="555555"/>
                          </a:solidFill>
                          <a:latin typeface="メイリオ"/>
                        </a:rPr>
                        <a:t>37,092</a:t>
                      </a:r>
                    </a:p>
                  </a:txBody>
                  <a:tcPr>
                    <a:solidFill>
                      <a:srgbClr val="FFFFFF"/>
                    </a:solidFill>
                  </a:tcPr>
                </a:tc>
                <a:tc>
                  <a:txBody>
                    <a:bodyPr/>
                    <a:lstStyle/>
                    <a:p>
                      <a:pPr algn="l"/>
                      <a:r>
                        <a:rPr sz="950" b="0">
                          <a:solidFill>
                            <a:srgbClr val="555555"/>
                          </a:solidFill>
                          <a:latin typeface="メイリオ"/>
                        </a:rPr>
                        <a:t>LINE相談・予約変更・査定方法診断</a:t>
                      </a:r>
                    </a:p>
                  </a:txBody>
                  <a:tcPr>
                    <a:solidFill>
                      <a:srgbClr val="FFFFFF"/>
                    </a:solidFill>
                  </a:tcPr>
                </a:tc>
                <a:tc>
                  <a:txBody>
                    <a:bodyPr/>
                    <a:lstStyle/>
                    <a:p>
                      <a:pPr algn="l"/>
                      <a:r>
                        <a:rPr sz="950" b="0">
                          <a:solidFill>
                            <a:srgbClr val="555555"/>
                          </a:solidFill>
                          <a:latin typeface="メイリオ"/>
                        </a:rPr>
                        <a:t>月替わり買取CP（買取額10万UP等）</a:t>
                      </a:r>
                    </a:p>
                  </a:txBody>
                  <a:tcPr>
                    <a:solidFill>
                      <a:srgbClr val="FFFFFF"/>
                    </a:solidFill>
                  </a:tcPr>
                </a:tc>
                <a:extLst>
                  <a:ext uri="{0D108BD9-81ED-4DB2-BD59-A6C34878D82A}">
                    <a16:rowId xmlns:a16="http://schemas.microsoft.com/office/drawing/2014/main" val="10005"/>
                  </a:ext>
                </a:extLst>
              </a:tr>
            </a:tbl>
          </a:graphicData>
        </a:graphic>
      </p:graphicFrame>
      <p:sp>
        <p:nvSpPr>
          <p:cNvPr id="49" name="Rounded Rectangle 48"/>
          <p:cNvSpPr/>
          <p:nvPr/>
        </p:nvSpPr>
        <p:spPr>
          <a:xfrm>
            <a:off x="350000" y="5520000"/>
            <a:ext cx="4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他社事例から見える共通点</a:t>
            </a:r>
          </a:p>
          <a:p>
            <a:pPr algn="l"/>
            <a:r>
              <a:rPr sz="900" b="0">
                <a:solidFill>
                  <a:srgbClr val="333333"/>
                </a:solidFill>
                <a:latin typeface="メイリオ"/>
              </a:rPr>
              <a:t>・LINE査定を「入口」に据えるのが業界標準</a:t>
            </a:r>
          </a:p>
          <a:p>
            <a:pPr algn="l"/>
            <a:r>
              <a:rPr sz="900" b="0">
                <a:solidFill>
                  <a:srgbClr val="333333"/>
                </a:solidFill>
                <a:latin typeface="メイリオ"/>
              </a:rPr>
              <a:t>・CP・投稿で継続接点を維持</a:t>
            </a:r>
          </a:p>
          <a:p>
            <a:pPr algn="l"/>
            <a:r>
              <a:rPr sz="900" b="0">
                <a:solidFill>
                  <a:srgbClr val="333333"/>
                </a:solidFill>
                <a:latin typeface="メイリオ"/>
              </a:rPr>
              <a:t>・配信量が増えるほどブロック率の上昇が課題に</a:t>
            </a:r>
          </a:p>
        </p:txBody>
      </p:sp>
      <p:sp>
        <p:nvSpPr>
          <p:cNvPr id="50" name="Right Arrow 49"/>
          <p:cNvSpPr/>
          <p:nvPr/>
        </p:nvSpPr>
        <p:spPr>
          <a:xfrm>
            <a:off x="4620000" y="5880000"/>
            <a:ext cx="330000" cy="28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5020000" y="5520000"/>
            <a:ext cx="4530000" cy="10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FFFFFF"/>
                </a:solidFill>
                <a:latin typeface="メイリオ"/>
              </a:rPr>
              <a:t>DYMの打ち手（強み）</a:t>
            </a:r>
          </a:p>
          <a:p>
            <a:pPr algn="l"/>
            <a:r>
              <a:rPr sz="900" b="0">
                <a:solidFill>
                  <a:srgbClr val="FFFFFF"/>
                </a:solidFill>
                <a:latin typeface="メイリオ"/>
              </a:rPr>
              <a:t>「配信頻度 × 配信商材」の二軸アンケートで希望を取得し、</a:t>
            </a:r>
          </a:p>
          <a:p>
            <a:pPr algn="l"/>
            <a:r>
              <a:rPr sz="900" b="0">
                <a:solidFill>
                  <a:srgbClr val="FFFFFF"/>
                </a:solidFill>
                <a:latin typeface="メイリオ"/>
              </a:rPr>
              <a:t>希望に合わせたセグメント配信でブロック率を抑制。</a:t>
            </a:r>
          </a:p>
          <a:p>
            <a:pPr algn="l"/>
            <a:r>
              <a:rPr sz="900" b="0">
                <a:solidFill>
                  <a:srgbClr val="FFFFFF"/>
                </a:solidFill>
                <a:latin typeface="メイリオ"/>
              </a:rPr>
              <a:t>配信はステップ化で全日システム運用が可能。</a:t>
            </a:r>
          </a:p>
        </p:txBody>
      </p:sp>
    </p:spTree>
    <p:extLst>
      <p:ext uri="{BB962C8B-B14F-4D97-AF65-F5344CB8AC3E}">
        <p14:creationId xmlns:p14="http://schemas.microsoft.com/office/powerpoint/2010/main" val="1709060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356CEC6-1AE2-70AC-4ACA-400B9D728A79}"/>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99DA5A8-E206-903E-A096-E705AFAFE56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5F2670A-819F-8FEC-6F6A-76B4A93BE2A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46" name="Picture 45" descr="買取5社_LINE公式比較.png"/>
          <p:cNvPicPr>
            <a:picLocks noChangeAspect="1"/>
          </p:cNvPicPr>
          <p:nvPr/>
        </p:nvPicPr>
        <p:blipFill>
          <a:blip r:embed="rId3"/>
          <a:stretch>
            <a:fillRect/>
          </a:stretch>
        </p:blipFill>
        <p:spPr>
          <a:xfrm>
            <a:off x="330000" y="1530000"/>
            <a:ext cx="4219672" cy="4950000"/>
          </a:xfrm>
          <a:prstGeom prst="rect">
            <a:avLst/>
          </a:prstGeom>
        </p:spPr>
      </p:pic>
      <p:sp>
        <p:nvSpPr>
          <p:cNvPr id="47" name="TextBox 46"/>
          <p:cNvSpPr txBox="1"/>
          <p:nvPr/>
        </p:nvSpPr>
        <p:spPr>
          <a:xfrm>
            <a:off x="4899672" y="1560000"/>
            <a:ext cx="4750328" cy="300000"/>
          </a:xfrm>
          <a:prstGeom prst="rect">
            <a:avLst/>
          </a:prstGeom>
          <a:noFill/>
        </p:spPr>
        <p:txBody>
          <a:bodyPr wrap="square">
            <a:spAutoFit/>
          </a:bodyPr>
          <a:lstStyle/>
          <a:p>
            <a:pPr algn="l"/>
            <a:r>
              <a:rPr sz="1250" b="1">
                <a:solidFill>
                  <a:srgbClr val="1F3A5F"/>
                </a:solidFill>
                <a:latin typeface="メイリオ"/>
              </a:rPr>
              <a:t>友だち数（2026/7/22時点）</a:t>
            </a:r>
          </a:p>
        </p:txBody>
      </p:sp>
      <p:sp>
        <p:nvSpPr>
          <p:cNvPr id="48" name="TextBox 47"/>
          <p:cNvSpPr txBox="1"/>
          <p:nvPr/>
        </p:nvSpPr>
        <p:spPr>
          <a:xfrm>
            <a:off x="4899672" y="1980000"/>
            <a:ext cx="1500000" cy="260000"/>
          </a:xfrm>
          <a:prstGeom prst="rect">
            <a:avLst/>
          </a:prstGeom>
          <a:noFill/>
        </p:spPr>
        <p:txBody>
          <a:bodyPr wrap="square">
            <a:spAutoFit/>
          </a:bodyPr>
          <a:lstStyle/>
          <a:p>
            <a:pPr algn="l"/>
            <a:r>
              <a:rPr sz="1000" b="1">
                <a:solidFill>
                  <a:srgbClr val="333333"/>
                </a:solidFill>
                <a:latin typeface="メイリオ"/>
              </a:rPr>
              <a:t>おたからや</a:t>
            </a:r>
          </a:p>
        </p:txBody>
      </p:sp>
      <p:sp>
        <p:nvSpPr>
          <p:cNvPr id="49" name="Rounded Rectangle 48"/>
          <p:cNvSpPr/>
          <p:nvPr/>
        </p:nvSpPr>
        <p:spPr>
          <a:xfrm>
            <a:off x="6419672" y="2000000"/>
            <a:ext cx="1450328"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910000" y="1980000"/>
            <a:ext cx="1500000" cy="260000"/>
          </a:xfrm>
          <a:prstGeom prst="rect">
            <a:avLst/>
          </a:prstGeom>
          <a:noFill/>
        </p:spPr>
        <p:txBody>
          <a:bodyPr wrap="square">
            <a:spAutoFit/>
          </a:bodyPr>
          <a:lstStyle/>
          <a:p>
            <a:pPr algn="l"/>
            <a:r>
              <a:rPr sz="950" b="0">
                <a:solidFill>
                  <a:srgbClr val="555555"/>
                </a:solidFill>
                <a:latin typeface="メイリオ"/>
              </a:rPr>
              <a:t>1,572,934</a:t>
            </a:r>
          </a:p>
        </p:txBody>
      </p:sp>
      <p:sp>
        <p:nvSpPr>
          <p:cNvPr id="51" name="TextBox 50"/>
          <p:cNvSpPr txBox="1"/>
          <p:nvPr/>
        </p:nvSpPr>
        <p:spPr>
          <a:xfrm>
            <a:off x="4899672" y="2380000"/>
            <a:ext cx="1500000" cy="260000"/>
          </a:xfrm>
          <a:prstGeom prst="rect">
            <a:avLst/>
          </a:prstGeom>
          <a:noFill/>
        </p:spPr>
        <p:txBody>
          <a:bodyPr wrap="square">
            <a:spAutoFit/>
          </a:bodyPr>
          <a:lstStyle/>
          <a:p>
            <a:pPr algn="l"/>
            <a:r>
              <a:rPr sz="1000" b="1">
                <a:solidFill>
                  <a:srgbClr val="333333"/>
                </a:solidFill>
                <a:latin typeface="メイリオ"/>
              </a:rPr>
              <a:t>エコリング</a:t>
            </a:r>
          </a:p>
        </p:txBody>
      </p:sp>
      <p:sp>
        <p:nvSpPr>
          <p:cNvPr id="52" name="Rounded Rectangle 51"/>
          <p:cNvSpPr/>
          <p:nvPr/>
        </p:nvSpPr>
        <p:spPr>
          <a:xfrm>
            <a:off x="6419672" y="2400000"/>
            <a:ext cx="884568"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44240" y="2380000"/>
            <a:ext cx="1500000" cy="260000"/>
          </a:xfrm>
          <a:prstGeom prst="rect">
            <a:avLst/>
          </a:prstGeom>
          <a:noFill/>
        </p:spPr>
        <p:txBody>
          <a:bodyPr wrap="square">
            <a:spAutoFit/>
          </a:bodyPr>
          <a:lstStyle/>
          <a:p>
            <a:pPr algn="l"/>
            <a:r>
              <a:rPr sz="950" b="0">
                <a:solidFill>
                  <a:srgbClr val="555555"/>
                </a:solidFill>
                <a:latin typeface="メイリオ"/>
              </a:rPr>
              <a:t>959,347</a:t>
            </a:r>
          </a:p>
        </p:txBody>
      </p:sp>
      <p:sp>
        <p:nvSpPr>
          <p:cNvPr id="54" name="TextBox 53"/>
          <p:cNvSpPr txBox="1"/>
          <p:nvPr/>
        </p:nvSpPr>
        <p:spPr>
          <a:xfrm>
            <a:off x="4899672" y="2780000"/>
            <a:ext cx="1500000" cy="260000"/>
          </a:xfrm>
          <a:prstGeom prst="rect">
            <a:avLst/>
          </a:prstGeom>
          <a:noFill/>
        </p:spPr>
        <p:txBody>
          <a:bodyPr wrap="square">
            <a:spAutoFit/>
          </a:bodyPr>
          <a:lstStyle/>
          <a:p>
            <a:pPr algn="l"/>
            <a:r>
              <a:rPr sz="1000" b="1">
                <a:solidFill>
                  <a:srgbClr val="333333"/>
                </a:solidFill>
                <a:latin typeface="メイリオ"/>
              </a:rPr>
              <a:t>ザ・ゴールド</a:t>
            </a:r>
          </a:p>
        </p:txBody>
      </p:sp>
      <p:sp>
        <p:nvSpPr>
          <p:cNvPr id="55" name="Rounded Rectangle 54"/>
          <p:cNvSpPr/>
          <p:nvPr/>
        </p:nvSpPr>
        <p:spPr>
          <a:xfrm>
            <a:off x="6419672" y="2800000"/>
            <a:ext cx="398313"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857985" y="2780000"/>
            <a:ext cx="1500000" cy="260000"/>
          </a:xfrm>
          <a:prstGeom prst="rect">
            <a:avLst/>
          </a:prstGeom>
          <a:noFill/>
        </p:spPr>
        <p:txBody>
          <a:bodyPr wrap="square">
            <a:spAutoFit/>
          </a:bodyPr>
          <a:lstStyle/>
          <a:p>
            <a:pPr algn="l"/>
            <a:r>
              <a:rPr sz="950" b="0">
                <a:solidFill>
                  <a:srgbClr val="555555"/>
                </a:solidFill>
                <a:latin typeface="メイリオ"/>
              </a:rPr>
              <a:t>431,986</a:t>
            </a:r>
          </a:p>
        </p:txBody>
      </p:sp>
      <p:sp>
        <p:nvSpPr>
          <p:cNvPr id="57" name="TextBox 56"/>
          <p:cNvSpPr txBox="1"/>
          <p:nvPr/>
        </p:nvSpPr>
        <p:spPr>
          <a:xfrm>
            <a:off x="4899672" y="3180000"/>
            <a:ext cx="1500000" cy="260000"/>
          </a:xfrm>
          <a:prstGeom prst="rect">
            <a:avLst/>
          </a:prstGeom>
          <a:noFill/>
        </p:spPr>
        <p:txBody>
          <a:bodyPr wrap="square">
            <a:spAutoFit/>
          </a:bodyPr>
          <a:lstStyle/>
          <a:p>
            <a:pPr algn="l"/>
            <a:r>
              <a:rPr sz="1000" b="1">
                <a:solidFill>
                  <a:srgbClr val="333333"/>
                </a:solidFill>
                <a:latin typeface="メイリオ"/>
              </a:rPr>
              <a:t>バイセル</a:t>
            </a:r>
          </a:p>
        </p:txBody>
      </p:sp>
      <p:sp>
        <p:nvSpPr>
          <p:cNvPr id="58" name="Rounded Rectangle 57"/>
          <p:cNvSpPr/>
          <p:nvPr/>
        </p:nvSpPr>
        <p:spPr>
          <a:xfrm>
            <a:off x="6419672" y="3200000"/>
            <a:ext cx="90000" cy="220000"/>
          </a:xfrm>
          <a:prstGeom prst="roundRect">
            <a:avLst/>
          </a:prstGeom>
          <a:solidFill>
            <a:srgbClr val="7F8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549672" y="3180000"/>
            <a:ext cx="1500000" cy="260000"/>
          </a:xfrm>
          <a:prstGeom prst="rect">
            <a:avLst/>
          </a:prstGeom>
          <a:noFill/>
        </p:spPr>
        <p:txBody>
          <a:bodyPr wrap="square">
            <a:spAutoFit/>
          </a:bodyPr>
          <a:lstStyle/>
          <a:p>
            <a:pPr algn="l"/>
            <a:r>
              <a:rPr sz="950" b="0">
                <a:solidFill>
                  <a:srgbClr val="555555"/>
                </a:solidFill>
                <a:latin typeface="メイリオ"/>
              </a:rPr>
              <a:t>89,163</a:t>
            </a:r>
          </a:p>
        </p:txBody>
      </p:sp>
      <p:sp>
        <p:nvSpPr>
          <p:cNvPr id="60" name="TextBox 59"/>
          <p:cNvSpPr txBox="1"/>
          <p:nvPr/>
        </p:nvSpPr>
        <p:spPr>
          <a:xfrm>
            <a:off x="4899672" y="3580000"/>
            <a:ext cx="1500000" cy="260000"/>
          </a:xfrm>
          <a:prstGeom prst="rect">
            <a:avLst/>
          </a:prstGeom>
          <a:noFill/>
        </p:spPr>
        <p:txBody>
          <a:bodyPr wrap="square">
            <a:spAutoFit/>
          </a:bodyPr>
          <a:lstStyle/>
          <a:p>
            <a:pPr algn="l"/>
            <a:r>
              <a:rPr sz="1000" b="1">
                <a:solidFill>
                  <a:srgbClr val="333333"/>
                </a:solidFill>
                <a:latin typeface="メイリオ"/>
              </a:rPr>
              <a:t>福ちゃん</a:t>
            </a:r>
          </a:p>
        </p:txBody>
      </p:sp>
      <p:sp>
        <p:nvSpPr>
          <p:cNvPr id="61" name="Rounded Rectangle 60"/>
          <p:cNvSpPr/>
          <p:nvPr/>
        </p:nvSpPr>
        <p:spPr>
          <a:xfrm>
            <a:off x="6419672" y="3600000"/>
            <a:ext cx="90000" cy="220000"/>
          </a:xfrm>
          <a:prstGeom prst="roundRect">
            <a:avLst/>
          </a:prstGeom>
          <a:solidFill>
            <a:srgbClr val="7F8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49672" y="3580000"/>
            <a:ext cx="1500000" cy="260000"/>
          </a:xfrm>
          <a:prstGeom prst="rect">
            <a:avLst/>
          </a:prstGeom>
          <a:noFill/>
        </p:spPr>
        <p:txBody>
          <a:bodyPr wrap="square">
            <a:spAutoFit/>
          </a:bodyPr>
          <a:lstStyle/>
          <a:p>
            <a:pPr algn="l"/>
            <a:r>
              <a:rPr sz="950" b="0">
                <a:solidFill>
                  <a:srgbClr val="555555"/>
                </a:solidFill>
                <a:latin typeface="メイリオ"/>
              </a:rPr>
              <a:t>37,092</a:t>
            </a:r>
          </a:p>
        </p:txBody>
      </p:sp>
      <p:sp>
        <p:nvSpPr>
          <p:cNvPr id="63" name="Rounded Rectangle 62"/>
          <p:cNvSpPr/>
          <p:nvPr/>
        </p:nvSpPr>
        <p:spPr>
          <a:xfrm>
            <a:off x="4899672" y="4100000"/>
            <a:ext cx="4550328" cy="15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60000" rIns="90000" rtlCol="0" anchor="t"/>
          <a:lstStyle/>
          <a:p>
            <a:pPr algn="ctr"/>
            <a:r>
              <a:rPr sz="1600" b="1" dirty="0" err="1">
                <a:solidFill>
                  <a:srgbClr val="1F3A5F"/>
                </a:solidFill>
                <a:latin typeface="メイリオ"/>
              </a:rPr>
              <a:t>LINE活用は業界標準</a:t>
            </a:r>
            <a:endParaRPr sz="1600" b="1" dirty="0">
              <a:solidFill>
                <a:srgbClr val="1F3A5F"/>
              </a:solidFill>
              <a:latin typeface="メイリオ"/>
            </a:endParaRPr>
          </a:p>
          <a:p>
            <a:pPr algn="ctr"/>
            <a:r>
              <a:rPr sz="1200" b="0" dirty="0" err="1">
                <a:solidFill>
                  <a:srgbClr val="333333"/>
                </a:solidFill>
                <a:latin typeface="メイリオ"/>
              </a:rPr>
              <a:t>競合はキャンペーン・査定保証・投稿を使い分けて</a:t>
            </a:r>
            <a:endParaRPr sz="1200" b="0" dirty="0">
              <a:solidFill>
                <a:srgbClr val="333333"/>
              </a:solidFill>
              <a:latin typeface="メイリオ"/>
            </a:endParaRPr>
          </a:p>
          <a:p>
            <a:pPr algn="ctr"/>
            <a:r>
              <a:rPr sz="1200" b="0" dirty="0" err="1">
                <a:solidFill>
                  <a:srgbClr val="333333"/>
                </a:solidFill>
                <a:latin typeface="メイリオ"/>
              </a:rPr>
              <a:t>友だち資産を積み上げている。後発は「型」を押さえ</a:t>
            </a:r>
            <a:r>
              <a:rPr sz="1200" b="0" dirty="0">
                <a:solidFill>
                  <a:srgbClr val="333333"/>
                </a:solidFill>
                <a:latin typeface="メイリオ"/>
              </a:rPr>
              <a:t>、</a:t>
            </a:r>
          </a:p>
          <a:p>
            <a:pPr algn="ctr"/>
            <a:r>
              <a:rPr sz="1200" b="0" dirty="0" err="1">
                <a:solidFill>
                  <a:srgbClr val="333333"/>
                </a:solidFill>
                <a:latin typeface="メイリオ"/>
              </a:rPr>
              <a:t>離脱防止×LINE査定で最短キャッチアップを図る</a:t>
            </a:r>
            <a:r>
              <a:rPr sz="1200" b="0" dirty="0">
                <a:solidFill>
                  <a:srgbClr val="333333"/>
                </a:solidFill>
                <a:latin typeface="メイリオ"/>
              </a:rPr>
              <a:t>。</a:t>
            </a:r>
          </a:p>
        </p:txBody>
      </p:sp>
      <p:sp>
        <p:nvSpPr>
          <p:cNvPr id="64" name="TextBox 63"/>
          <p:cNvSpPr txBox="1"/>
          <p:nvPr/>
        </p:nvSpPr>
        <p:spPr>
          <a:xfrm>
            <a:off x="330000" y="6560000"/>
            <a:ext cx="9200000" cy="240000"/>
          </a:xfrm>
          <a:prstGeom prst="rect">
            <a:avLst/>
          </a:prstGeom>
          <a:noFill/>
        </p:spPr>
        <p:txBody>
          <a:bodyPr wrap="square">
            <a:spAutoFit/>
          </a:bodyPr>
          <a:lstStyle/>
          <a:p>
            <a:pPr algn="l"/>
            <a:r>
              <a:rPr sz="900" b="0">
                <a:solidFill>
                  <a:srgbClr val="555555"/>
                </a:solidFill>
                <a:latin typeface="メイリオ"/>
              </a:rPr>
              <a:t>※ 各社LINE公式アカウントページ（page.line.me）2026年7月22日取得。友だち数は同時点の公表値。</a:t>
            </a:r>
          </a:p>
        </p:txBody>
      </p:sp>
    </p:spTree>
    <p:extLst>
      <p:ext uri="{BB962C8B-B14F-4D97-AF65-F5344CB8AC3E}">
        <p14:creationId xmlns:p14="http://schemas.microsoft.com/office/powerpoint/2010/main" val="653866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1C633AFA-AD53-2F0B-9BF6-E78EF6322609}"/>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ED6E1118-51D8-709C-DDBF-5F0B5D00EAE9}"/>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1D65602-1211-B0CC-4828-ABAE02C33457}"/>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CEB884D6-F59B-133B-06A1-B241D718A972}"/>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6799ECF-394D-A93E-2E30-EF63D6F7ED73}"/>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5F58EF3-37FE-035A-4F88-7D5DFBDEEE2C}"/>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1BD6280E-B3F0-2AFB-2583-A7ACD73A942E}"/>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C3286217-468D-2C59-DAFC-FFE5479B9D27}"/>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E933DD65-23A3-43A9-73FB-1116D2DFAF8F}"/>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E6D3AD92-0B94-48BB-C36C-156CFAF78E74}"/>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A523513D-5453-426D-D0CA-5892ED357A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0221" y="2426165"/>
            <a:ext cx="1569483" cy="3396128"/>
          </a:xfrm>
          <a:prstGeom prst="rect">
            <a:avLst/>
          </a:prstGeom>
        </p:spPr>
      </p:pic>
      <p:pic>
        <p:nvPicPr>
          <p:cNvPr id="20" name="図 19">
            <a:extLst>
              <a:ext uri="{FF2B5EF4-FFF2-40B4-BE49-F238E27FC236}">
                <a16:creationId xmlns:a16="http://schemas.microsoft.com/office/drawing/2014/main" id="{D587113C-A02B-D851-785D-6C61F187E1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84396" y="2418172"/>
            <a:ext cx="1559149" cy="3373765"/>
          </a:xfrm>
          <a:prstGeom prst="rect">
            <a:avLst/>
          </a:prstGeom>
        </p:spPr>
      </p:pic>
      <p:pic>
        <p:nvPicPr>
          <p:cNvPr id="42" name="図 41">
            <a:extLst>
              <a:ext uri="{FF2B5EF4-FFF2-40B4-BE49-F238E27FC236}">
                <a16:creationId xmlns:a16="http://schemas.microsoft.com/office/drawing/2014/main" id="{CF5B6A61-0DCE-4AB0-9C32-7A16CB0490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10219" y="2447866"/>
            <a:ext cx="1560385" cy="3376438"/>
          </a:xfrm>
          <a:prstGeom prst="rect">
            <a:avLst/>
          </a:prstGeom>
        </p:spPr>
      </p:pic>
      <p:pic>
        <p:nvPicPr>
          <p:cNvPr id="44" name="図 43">
            <a:extLst>
              <a:ext uri="{FF2B5EF4-FFF2-40B4-BE49-F238E27FC236}">
                <a16:creationId xmlns:a16="http://schemas.microsoft.com/office/drawing/2014/main" id="{1BBAB3DD-B4BB-5ACC-C520-13FD686AC7AA}"/>
              </a:ext>
            </a:extLst>
          </p:cNvPr>
          <p:cNvPicPr>
            <a:picLocks noChangeAspect="1"/>
          </p:cNvPicPr>
          <p:nvPr/>
        </p:nvPicPr>
        <p:blipFill>
          <a:blip r:embed="rId7" cstate="print">
            <a:extLst>
              <a:ext uri="{28A0092B-C50C-407E-A947-70E740481C1C}">
                <a14:useLocalDpi xmlns:a14="http://schemas.microsoft.com/office/drawing/2010/main" val="0"/>
              </a:ext>
            </a:extLst>
          </a:blip>
          <a:srcRect t="56784"/>
          <a:stretch>
            <a:fillRect/>
          </a:stretch>
        </p:blipFill>
        <p:spPr>
          <a:xfrm>
            <a:off x="3325824" y="2856376"/>
            <a:ext cx="1560385" cy="1459171"/>
          </a:xfrm>
          <a:prstGeom prst="rect">
            <a:avLst/>
          </a:prstGeom>
        </p:spPr>
      </p:pic>
      <p:pic>
        <p:nvPicPr>
          <p:cNvPr id="47" name="図 46">
            <a:extLst>
              <a:ext uri="{FF2B5EF4-FFF2-40B4-BE49-F238E27FC236}">
                <a16:creationId xmlns:a16="http://schemas.microsoft.com/office/drawing/2014/main" id="{5E82AD9F-9E66-DDB4-DCA7-A9B854DD3CE4}"/>
              </a:ext>
            </a:extLst>
          </p:cNvPr>
          <p:cNvPicPr>
            <a:picLocks noChangeAspect="1"/>
          </p:cNvPicPr>
          <p:nvPr/>
        </p:nvPicPr>
        <p:blipFill>
          <a:blip r:embed="rId3"/>
          <a:stretch>
            <a:fillRect/>
          </a:stretch>
        </p:blipFill>
        <p:spPr>
          <a:xfrm>
            <a:off x="7361712" y="2418172"/>
            <a:ext cx="1732686" cy="3519238"/>
          </a:xfrm>
          <a:prstGeom prst="rect">
            <a:avLst/>
          </a:prstGeom>
        </p:spPr>
      </p:pic>
      <p:sp>
        <p:nvSpPr>
          <p:cNvPr id="50" name="テキスト ボックス 49">
            <a:extLst>
              <a:ext uri="{FF2B5EF4-FFF2-40B4-BE49-F238E27FC236}">
                <a16:creationId xmlns:a16="http://schemas.microsoft.com/office/drawing/2014/main" id="{E23AF6B2-7DC2-7C1A-C4FF-AE0CCDEDC2DE}"/>
              </a:ext>
            </a:extLst>
          </p:cNvPr>
          <p:cNvSpPr txBox="1"/>
          <p:nvPr/>
        </p:nvSpPr>
        <p:spPr>
          <a:xfrm>
            <a:off x="7452489" y="2679667"/>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58" name="図 57">
            <a:extLst>
              <a:ext uri="{FF2B5EF4-FFF2-40B4-BE49-F238E27FC236}">
                <a16:creationId xmlns:a16="http://schemas.microsoft.com/office/drawing/2014/main" id="{D9300C97-CFD2-6B04-9F05-CFA3F1EAAE7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47862" y="2663599"/>
            <a:ext cx="1560385" cy="3376438"/>
          </a:xfrm>
          <a:prstGeom prst="rect">
            <a:avLst/>
          </a:prstGeom>
        </p:spPr>
      </p:pic>
    </p:spTree>
    <p:extLst>
      <p:ext uri="{BB962C8B-B14F-4D97-AF65-F5344CB8AC3E}">
        <p14:creationId xmlns:p14="http://schemas.microsoft.com/office/powerpoint/2010/main" val="3676433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3B106-4781-19D1-5BB6-0C877AD097F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EDB1ED58-18F6-6904-78AE-CEFB977673F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DFC63D8F-E798-D553-CC64-166A49006F75}"/>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F8E7FBD7-2DC2-9F3C-71FA-37A723A36E51}"/>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CF948E83-8E6F-1079-1AE2-482D999D82BE}"/>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92D32BA7-41A6-CAEA-735B-B2A0FE4AB13C}"/>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5789208-C1B2-5CAC-1010-BBD871AAFF1E}"/>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F974F78A-D4D7-4302-DCD3-F17530FD2D03}"/>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2051D757-1A40-EE3B-890B-DA14817F26EC}"/>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E3FB7984-AF61-382F-B231-347497F08A7A}"/>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DCD7A28E-9ACC-0890-4EF0-692F40536F2D}"/>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14EA3763-6BBE-8453-19AD-746F59C3920A}"/>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A54BB86B-1120-5A86-1F22-B017427878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08988" y="2451245"/>
            <a:ext cx="1572614" cy="3402899"/>
          </a:xfrm>
          <a:prstGeom prst="rect">
            <a:avLst/>
          </a:prstGeom>
        </p:spPr>
      </p:pic>
      <p:pic>
        <p:nvPicPr>
          <p:cNvPr id="29" name="図 28">
            <a:extLst>
              <a:ext uri="{FF2B5EF4-FFF2-40B4-BE49-F238E27FC236}">
                <a16:creationId xmlns:a16="http://schemas.microsoft.com/office/drawing/2014/main" id="{3F4293D0-A985-AA94-9DEB-D4F7CBF209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89445" y="2433060"/>
            <a:ext cx="1550038" cy="3354048"/>
          </a:xfrm>
          <a:prstGeom prst="rect">
            <a:avLst/>
          </a:prstGeom>
        </p:spPr>
      </p:pic>
      <p:pic>
        <p:nvPicPr>
          <p:cNvPr id="32" name="図 31">
            <a:extLst>
              <a:ext uri="{FF2B5EF4-FFF2-40B4-BE49-F238E27FC236}">
                <a16:creationId xmlns:a16="http://schemas.microsoft.com/office/drawing/2014/main" id="{3D178932-55B3-232D-FBA9-6F5F642B6DD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3060" y="2449664"/>
            <a:ext cx="1534691" cy="3320841"/>
          </a:xfrm>
          <a:prstGeom prst="rect">
            <a:avLst/>
          </a:prstGeom>
        </p:spPr>
      </p:pic>
      <p:pic>
        <p:nvPicPr>
          <p:cNvPr id="35" name="図 34">
            <a:extLst>
              <a:ext uri="{FF2B5EF4-FFF2-40B4-BE49-F238E27FC236}">
                <a16:creationId xmlns:a16="http://schemas.microsoft.com/office/drawing/2014/main" id="{B464D293-DF65-B9D8-C0CF-6D0A541645BB}"/>
              </a:ext>
            </a:extLst>
          </p:cNvPr>
          <p:cNvPicPr>
            <a:picLocks noChangeAspect="1"/>
          </p:cNvPicPr>
          <p:nvPr/>
        </p:nvPicPr>
        <p:blipFill>
          <a:blip r:embed="rId7" cstate="print">
            <a:extLst>
              <a:ext uri="{28A0092B-C50C-407E-A947-70E740481C1C}">
                <a14:useLocalDpi xmlns:a14="http://schemas.microsoft.com/office/drawing/2010/main" val="0"/>
              </a:ext>
            </a:extLst>
          </a:blip>
          <a:srcRect t="60504"/>
          <a:stretch>
            <a:fillRect/>
          </a:stretch>
        </p:blipFill>
        <p:spPr>
          <a:xfrm>
            <a:off x="3384060" y="3080083"/>
            <a:ext cx="1554329" cy="1328377"/>
          </a:xfrm>
          <a:prstGeom prst="rect">
            <a:avLst/>
          </a:prstGeom>
        </p:spPr>
      </p:pic>
      <p:pic>
        <p:nvPicPr>
          <p:cNvPr id="62" name="図 61">
            <a:extLst>
              <a:ext uri="{FF2B5EF4-FFF2-40B4-BE49-F238E27FC236}">
                <a16:creationId xmlns:a16="http://schemas.microsoft.com/office/drawing/2014/main" id="{55F56333-7600-9C8E-48B3-D4C1FA89A1F3}"/>
              </a:ext>
            </a:extLst>
          </p:cNvPr>
          <p:cNvPicPr>
            <a:picLocks noChangeAspect="1"/>
          </p:cNvPicPr>
          <p:nvPr/>
        </p:nvPicPr>
        <p:blipFill>
          <a:blip r:embed="rId3"/>
          <a:stretch>
            <a:fillRect/>
          </a:stretch>
        </p:blipFill>
        <p:spPr>
          <a:xfrm>
            <a:off x="6594141" y="2369106"/>
            <a:ext cx="1732686" cy="3519238"/>
          </a:xfrm>
          <a:prstGeom prst="rect">
            <a:avLst/>
          </a:prstGeom>
        </p:spPr>
      </p:pic>
      <p:sp>
        <p:nvSpPr>
          <p:cNvPr id="64" name="テキスト ボックス 63">
            <a:extLst>
              <a:ext uri="{FF2B5EF4-FFF2-40B4-BE49-F238E27FC236}">
                <a16:creationId xmlns:a16="http://schemas.microsoft.com/office/drawing/2014/main" id="{975BEDD7-EC42-A79B-37CF-73CC1EABA175}"/>
              </a:ext>
            </a:extLst>
          </p:cNvPr>
          <p:cNvSpPr txBox="1"/>
          <p:nvPr/>
        </p:nvSpPr>
        <p:spPr>
          <a:xfrm>
            <a:off x="6684918" y="2630601"/>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6" name="図 65">
            <a:extLst>
              <a:ext uri="{FF2B5EF4-FFF2-40B4-BE49-F238E27FC236}">
                <a16:creationId xmlns:a16="http://schemas.microsoft.com/office/drawing/2014/main" id="{7E7CA340-82EC-B512-90E0-C3F7C13CBF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92182" y="2613997"/>
            <a:ext cx="1550076" cy="3354131"/>
          </a:xfrm>
          <a:prstGeom prst="rect">
            <a:avLst/>
          </a:prstGeom>
        </p:spPr>
      </p:pic>
      <p:pic>
        <p:nvPicPr>
          <p:cNvPr id="70" name="図 69">
            <a:extLst>
              <a:ext uri="{FF2B5EF4-FFF2-40B4-BE49-F238E27FC236}">
                <a16:creationId xmlns:a16="http://schemas.microsoft.com/office/drawing/2014/main" id="{D27A7765-8113-814D-FECB-AEB7AA44C7E4}"/>
              </a:ext>
            </a:extLst>
          </p:cNvPr>
          <p:cNvPicPr>
            <a:picLocks noChangeAspect="1"/>
          </p:cNvPicPr>
          <p:nvPr/>
        </p:nvPicPr>
        <p:blipFill>
          <a:blip r:embed="rId3"/>
          <a:stretch>
            <a:fillRect/>
          </a:stretch>
        </p:blipFill>
        <p:spPr>
          <a:xfrm>
            <a:off x="7999709" y="2555928"/>
            <a:ext cx="1732686" cy="3519238"/>
          </a:xfrm>
          <a:prstGeom prst="rect">
            <a:avLst/>
          </a:prstGeom>
        </p:spPr>
      </p:pic>
      <p:sp>
        <p:nvSpPr>
          <p:cNvPr id="72" name="テキスト ボックス 71">
            <a:extLst>
              <a:ext uri="{FF2B5EF4-FFF2-40B4-BE49-F238E27FC236}">
                <a16:creationId xmlns:a16="http://schemas.microsoft.com/office/drawing/2014/main" id="{6CBF25E3-07ED-4325-E794-239C6C5217CD}"/>
              </a:ext>
            </a:extLst>
          </p:cNvPr>
          <p:cNvSpPr txBox="1"/>
          <p:nvPr/>
        </p:nvSpPr>
        <p:spPr>
          <a:xfrm>
            <a:off x="8090486" y="281742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4" name="図 73">
            <a:extLst>
              <a:ext uri="{FF2B5EF4-FFF2-40B4-BE49-F238E27FC236}">
                <a16:creationId xmlns:a16="http://schemas.microsoft.com/office/drawing/2014/main" id="{475F5E85-3FAF-2A73-44C9-2E04FE52ABC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084527" y="2775221"/>
            <a:ext cx="1565105" cy="3386650"/>
          </a:xfrm>
          <a:prstGeom prst="rect">
            <a:avLst/>
          </a:prstGeom>
        </p:spPr>
      </p:pic>
    </p:spTree>
    <p:extLst>
      <p:ext uri="{BB962C8B-B14F-4D97-AF65-F5344CB8AC3E}">
        <p14:creationId xmlns:p14="http://schemas.microsoft.com/office/powerpoint/2010/main" val="77320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347A-E5F2-AF9A-70D9-9B3ED8AF9F0A}"/>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91322A09-55B7-902C-3D3D-2589C978528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76AEA910-6BD0-FB18-EF78-F69C5D6E7FFA}"/>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A163442B-765E-490B-B827-EFAF9B737FA0}"/>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8BEC227D-503C-BCAF-6F41-E3ABF3A962AF}"/>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9DC44F14-EEA2-B5BE-F5D3-F18BFF094740}"/>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7B7C329-26EC-3C70-99FD-1A2572C02AF0}"/>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EE82C273-D100-7C76-EAD2-83A42F71BCEB}"/>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0CA57FF5-0BD8-F4F7-C681-E09FE7E743D9}"/>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A7FDCC50-56B3-4C1C-F70C-06FF4AA5250F}"/>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904D714D-A245-7B37-818C-B77DA2CD90BE}"/>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CD7BA50F-A90D-C452-F3EE-B0E6FBC9B36D}"/>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B4999EDD-932F-3CE0-305D-5056AEE24B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08988" y="2451245"/>
            <a:ext cx="1572614" cy="3402899"/>
          </a:xfrm>
          <a:prstGeom prst="rect">
            <a:avLst/>
          </a:prstGeom>
        </p:spPr>
      </p:pic>
      <p:pic>
        <p:nvPicPr>
          <p:cNvPr id="17" name="図 16">
            <a:extLst>
              <a:ext uri="{FF2B5EF4-FFF2-40B4-BE49-F238E27FC236}">
                <a16:creationId xmlns:a16="http://schemas.microsoft.com/office/drawing/2014/main" id="{64439350-9C09-07ED-A44A-6CD7907BD9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942" y="2445136"/>
            <a:ext cx="1550038" cy="3354048"/>
          </a:xfrm>
          <a:prstGeom prst="rect">
            <a:avLst/>
          </a:prstGeom>
        </p:spPr>
      </p:pic>
      <p:pic>
        <p:nvPicPr>
          <p:cNvPr id="24" name="図 23">
            <a:extLst>
              <a:ext uri="{FF2B5EF4-FFF2-40B4-BE49-F238E27FC236}">
                <a16:creationId xmlns:a16="http://schemas.microsoft.com/office/drawing/2014/main" id="{15F4CA74-DF62-46E9-2AB3-C1A65DD6C7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71403" y="2442525"/>
            <a:ext cx="1559250" cy="3373982"/>
          </a:xfrm>
          <a:prstGeom prst="rect">
            <a:avLst/>
          </a:prstGeom>
        </p:spPr>
      </p:pic>
      <p:pic>
        <p:nvPicPr>
          <p:cNvPr id="36" name="図 35">
            <a:extLst>
              <a:ext uri="{FF2B5EF4-FFF2-40B4-BE49-F238E27FC236}">
                <a16:creationId xmlns:a16="http://schemas.microsoft.com/office/drawing/2014/main" id="{C1915086-B82B-1337-3B5A-611BBE3555D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08988" y="2451244"/>
            <a:ext cx="1572614" cy="3402899"/>
          </a:xfrm>
          <a:prstGeom prst="rect">
            <a:avLst/>
          </a:prstGeom>
        </p:spPr>
      </p:pic>
      <p:pic>
        <p:nvPicPr>
          <p:cNvPr id="40" name="図 39">
            <a:extLst>
              <a:ext uri="{FF2B5EF4-FFF2-40B4-BE49-F238E27FC236}">
                <a16:creationId xmlns:a16="http://schemas.microsoft.com/office/drawing/2014/main" id="{90F2072C-F005-AB2D-DB2B-05B6E4515FA6}"/>
              </a:ext>
            </a:extLst>
          </p:cNvPr>
          <p:cNvPicPr>
            <a:picLocks noChangeAspect="1"/>
          </p:cNvPicPr>
          <p:nvPr/>
        </p:nvPicPr>
        <p:blipFill>
          <a:blip r:embed="rId3"/>
          <a:stretch>
            <a:fillRect/>
          </a:stretch>
        </p:blipFill>
        <p:spPr>
          <a:xfrm>
            <a:off x="7360797" y="2422931"/>
            <a:ext cx="1732686" cy="3519238"/>
          </a:xfrm>
          <a:prstGeom prst="rect">
            <a:avLst/>
          </a:prstGeom>
        </p:spPr>
      </p:pic>
      <p:sp>
        <p:nvSpPr>
          <p:cNvPr id="42" name="テキスト ボックス 41">
            <a:extLst>
              <a:ext uri="{FF2B5EF4-FFF2-40B4-BE49-F238E27FC236}">
                <a16:creationId xmlns:a16="http://schemas.microsoft.com/office/drawing/2014/main" id="{36CD58B6-84D7-44BF-F6A4-969960D690D7}"/>
              </a:ext>
            </a:extLst>
          </p:cNvPr>
          <p:cNvSpPr txBox="1"/>
          <p:nvPr/>
        </p:nvSpPr>
        <p:spPr>
          <a:xfrm>
            <a:off x="7451574" y="2684426"/>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44" name="図 43">
            <a:extLst>
              <a:ext uri="{FF2B5EF4-FFF2-40B4-BE49-F238E27FC236}">
                <a16:creationId xmlns:a16="http://schemas.microsoft.com/office/drawing/2014/main" id="{06B2EA3F-DB7C-E53F-8434-7E22FF86EC3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58838" y="2667822"/>
            <a:ext cx="1550076" cy="3354131"/>
          </a:xfrm>
          <a:prstGeom prst="rect">
            <a:avLst/>
          </a:prstGeom>
        </p:spPr>
      </p:pic>
      <p:pic>
        <p:nvPicPr>
          <p:cNvPr id="53" name="図 52">
            <a:extLst>
              <a:ext uri="{FF2B5EF4-FFF2-40B4-BE49-F238E27FC236}">
                <a16:creationId xmlns:a16="http://schemas.microsoft.com/office/drawing/2014/main" id="{73FC106C-FEC5-E630-9126-35D7BB7E53C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50128" y="2658935"/>
            <a:ext cx="1554183" cy="3363018"/>
          </a:xfrm>
          <a:prstGeom prst="rect">
            <a:avLst/>
          </a:prstGeom>
        </p:spPr>
      </p:pic>
    </p:spTree>
    <p:extLst>
      <p:ext uri="{BB962C8B-B14F-4D97-AF65-F5344CB8AC3E}">
        <p14:creationId xmlns:p14="http://schemas.microsoft.com/office/powerpoint/2010/main" val="1460100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9CAA7-E825-95B5-7BC8-7778A2442F5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CC41C5D8-7A15-4B99-CA90-DF66AB21B1F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E9909255-FE97-51F9-9413-EF11AA0B138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A7D3CB85-9008-0416-AC61-3D6F373384AE}"/>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648039F6-D221-2CE7-78B4-8E7E6F87ADF5}"/>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C6FE052-0CFE-031D-DB9D-7C7CA9FF7236}"/>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01237C99-2415-F87A-85C4-294A40E19F8C}"/>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3D1A6516-DFD6-158F-4E30-32FD452DDA11}"/>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6142A4D8-C3B3-276E-B3B3-47C4F0202B24}"/>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04970162-C7C2-BB22-7155-7967A4603FC5}"/>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5583C4E4-107F-ABE6-043F-8DE8475C66C5}"/>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C03CDEBE-9527-3871-7C6C-A58F3E2647C2}"/>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C1D619D1-B09E-150A-1EF6-924AF99CB25F}"/>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09173089-C0CC-D795-B55F-816413414E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08988" y="2451245"/>
            <a:ext cx="1572614" cy="3402899"/>
          </a:xfrm>
          <a:prstGeom prst="rect">
            <a:avLst/>
          </a:prstGeom>
        </p:spPr>
      </p:pic>
      <p:pic>
        <p:nvPicPr>
          <p:cNvPr id="36" name="図 35">
            <a:extLst>
              <a:ext uri="{FF2B5EF4-FFF2-40B4-BE49-F238E27FC236}">
                <a16:creationId xmlns:a16="http://schemas.microsoft.com/office/drawing/2014/main" id="{AE908F7A-B631-DDE2-3C4C-8C72A16B345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8988" y="2451244"/>
            <a:ext cx="1572614" cy="3402899"/>
          </a:xfrm>
          <a:prstGeom prst="rect">
            <a:avLst/>
          </a:prstGeom>
        </p:spPr>
      </p:pic>
      <p:pic>
        <p:nvPicPr>
          <p:cNvPr id="40" name="図 39">
            <a:extLst>
              <a:ext uri="{FF2B5EF4-FFF2-40B4-BE49-F238E27FC236}">
                <a16:creationId xmlns:a16="http://schemas.microsoft.com/office/drawing/2014/main" id="{A5696D5F-9AF5-F713-351E-D92051143BA5}"/>
              </a:ext>
            </a:extLst>
          </p:cNvPr>
          <p:cNvPicPr>
            <a:picLocks noChangeAspect="1"/>
          </p:cNvPicPr>
          <p:nvPr/>
        </p:nvPicPr>
        <p:blipFill>
          <a:blip r:embed="rId3"/>
          <a:stretch>
            <a:fillRect/>
          </a:stretch>
        </p:blipFill>
        <p:spPr>
          <a:xfrm>
            <a:off x="7360797" y="2422931"/>
            <a:ext cx="1732686" cy="3519238"/>
          </a:xfrm>
          <a:prstGeom prst="rect">
            <a:avLst/>
          </a:prstGeom>
        </p:spPr>
      </p:pic>
      <p:sp>
        <p:nvSpPr>
          <p:cNvPr id="42" name="テキスト ボックス 41">
            <a:extLst>
              <a:ext uri="{FF2B5EF4-FFF2-40B4-BE49-F238E27FC236}">
                <a16:creationId xmlns:a16="http://schemas.microsoft.com/office/drawing/2014/main" id="{EA17B308-467B-4970-B114-B9370460BF3A}"/>
              </a:ext>
            </a:extLst>
          </p:cNvPr>
          <p:cNvSpPr txBox="1"/>
          <p:nvPr/>
        </p:nvSpPr>
        <p:spPr>
          <a:xfrm>
            <a:off x="7451574" y="2684426"/>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44" name="図 43">
            <a:extLst>
              <a:ext uri="{FF2B5EF4-FFF2-40B4-BE49-F238E27FC236}">
                <a16:creationId xmlns:a16="http://schemas.microsoft.com/office/drawing/2014/main" id="{AE33C5D1-B2FE-D964-827E-2B4EF70437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58838" y="2667822"/>
            <a:ext cx="1550076" cy="3354131"/>
          </a:xfrm>
          <a:prstGeom prst="rect">
            <a:avLst/>
          </a:prstGeom>
        </p:spPr>
      </p:pic>
      <p:pic>
        <p:nvPicPr>
          <p:cNvPr id="53" name="図 52">
            <a:extLst>
              <a:ext uri="{FF2B5EF4-FFF2-40B4-BE49-F238E27FC236}">
                <a16:creationId xmlns:a16="http://schemas.microsoft.com/office/drawing/2014/main" id="{45215D89-4D6E-219A-6484-12861A5F735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50128" y="2658935"/>
            <a:ext cx="1554183" cy="3363018"/>
          </a:xfrm>
          <a:prstGeom prst="rect">
            <a:avLst/>
          </a:prstGeom>
        </p:spPr>
      </p:pic>
      <p:pic>
        <p:nvPicPr>
          <p:cNvPr id="20" name="図 19">
            <a:extLst>
              <a:ext uri="{FF2B5EF4-FFF2-40B4-BE49-F238E27FC236}">
                <a16:creationId xmlns:a16="http://schemas.microsoft.com/office/drawing/2014/main" id="{331A4173-0DE8-EE79-43EF-9BF7D680E6F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2503" y="2442525"/>
            <a:ext cx="1559249" cy="3373980"/>
          </a:xfrm>
          <a:prstGeom prst="rect">
            <a:avLst/>
          </a:prstGeom>
        </p:spPr>
      </p:pic>
      <p:pic>
        <p:nvPicPr>
          <p:cNvPr id="28" name="図 27">
            <a:extLst>
              <a:ext uri="{FF2B5EF4-FFF2-40B4-BE49-F238E27FC236}">
                <a16:creationId xmlns:a16="http://schemas.microsoft.com/office/drawing/2014/main" id="{43C8166E-26C7-18A5-2636-4B2564F855F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70363" y="2442524"/>
            <a:ext cx="1559249" cy="3373979"/>
          </a:xfrm>
          <a:prstGeom prst="rect">
            <a:avLst/>
          </a:prstGeom>
        </p:spPr>
      </p:pic>
      <p:pic>
        <p:nvPicPr>
          <p:cNvPr id="31" name="図 30">
            <a:extLst>
              <a:ext uri="{FF2B5EF4-FFF2-40B4-BE49-F238E27FC236}">
                <a16:creationId xmlns:a16="http://schemas.microsoft.com/office/drawing/2014/main" id="{D675F61A-02F5-CB6B-F620-C18AFBC5ACD4}"/>
              </a:ext>
            </a:extLst>
          </p:cNvPr>
          <p:cNvPicPr>
            <a:picLocks noChangeAspect="1"/>
          </p:cNvPicPr>
          <p:nvPr/>
        </p:nvPicPr>
        <p:blipFill>
          <a:blip r:embed="rId10" cstate="print">
            <a:extLst>
              <a:ext uri="{28A0092B-C50C-407E-A947-70E740481C1C}">
                <a14:useLocalDpi xmlns:a14="http://schemas.microsoft.com/office/drawing/2010/main" val="0"/>
              </a:ext>
            </a:extLst>
          </a:blip>
          <a:srcRect t="72423"/>
          <a:stretch>
            <a:fillRect/>
          </a:stretch>
        </p:blipFill>
        <p:spPr>
          <a:xfrm>
            <a:off x="3255548" y="3963029"/>
            <a:ext cx="1530915" cy="913536"/>
          </a:xfrm>
          <a:prstGeom prst="rect">
            <a:avLst/>
          </a:prstGeom>
        </p:spPr>
      </p:pic>
      <p:pic>
        <p:nvPicPr>
          <p:cNvPr id="39" name="図 38">
            <a:extLst>
              <a:ext uri="{FF2B5EF4-FFF2-40B4-BE49-F238E27FC236}">
                <a16:creationId xmlns:a16="http://schemas.microsoft.com/office/drawing/2014/main" id="{5F92E6F9-0170-ACF3-CE54-0D1132EE689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450127" y="2665376"/>
            <a:ext cx="1554183" cy="3363018"/>
          </a:xfrm>
          <a:prstGeom prst="rect">
            <a:avLst/>
          </a:prstGeom>
        </p:spPr>
      </p:pic>
      <p:pic>
        <p:nvPicPr>
          <p:cNvPr id="43" name="図 42">
            <a:extLst>
              <a:ext uri="{FF2B5EF4-FFF2-40B4-BE49-F238E27FC236}">
                <a16:creationId xmlns:a16="http://schemas.microsoft.com/office/drawing/2014/main" id="{3695A458-E844-29ED-0564-ED23E88A215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315373" y="2422930"/>
            <a:ext cx="1555446" cy="3365751"/>
          </a:xfrm>
          <a:prstGeom prst="rect">
            <a:avLst/>
          </a:prstGeom>
        </p:spPr>
      </p:pic>
    </p:spTree>
    <p:extLst>
      <p:ext uri="{BB962C8B-B14F-4D97-AF65-F5344CB8AC3E}">
        <p14:creationId xmlns:p14="http://schemas.microsoft.com/office/powerpoint/2010/main" val="3210271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想定のユーザーニーズ・インサイトの変化と施策方針</a:t>
            </a:r>
            <a:endParaRPr sz="1600" b="1" dirty="0">
              <a:solidFill>
                <a:srgbClr val="002060"/>
              </a:solidFill>
              <a:latin typeface="Meiryo"/>
              <a:ea typeface="Meiryo"/>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⑦買取の成立</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⑧他商品の査定・友だち紹介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ネットワーク内回遊</a:t>
            </a:r>
            <a:r>
              <a:rPr lang="ja-JP" altLang="en-US" sz="800" b="1" dirty="0">
                <a:solidFill>
                  <a:schemeClr val="bg1"/>
                </a:solidFill>
                <a:latin typeface="メイリオ" panose="020B0604030504040204" pitchFamily="50" charset="-128"/>
                <a:ea typeface="メイリオ" panose="020B0604030504040204" pitchFamily="50" charset="-128"/>
              </a:rPr>
              <a:t>（トレカ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④査定</a:t>
            </a:r>
            <a:r>
              <a:rPr lang="en-US" altLang="ja-JP" sz="900" b="1" dirty="0">
                <a:latin typeface="メイリオ" panose="020B0604030504040204" pitchFamily="50" charset="-128"/>
                <a:ea typeface="メイリオ" panose="020B0604030504040204" pitchFamily="50" charset="-128"/>
              </a:rPr>
              <a:t>(web/LINE)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 </a:t>
            </a:r>
            <a:r>
              <a:rPr kumimoji="1" lang="en-US" altLang="ja-JP" sz="1050" dirty="0">
                <a:latin typeface="メイリオ" panose="020B0604030504040204" pitchFamily="50" charset="-128"/>
                <a:ea typeface="メイリオ" panose="020B0604030504040204" pitchFamily="50" charset="-128"/>
              </a:rPr>
              <a:t>--- </a:t>
            </a:r>
            <a:r>
              <a:rPr kumimoji="1" lang="ja-JP" altLang="en-US" sz="1050" b="1" dirty="0">
                <a:latin typeface="メイリオ" panose="020B0604030504040204" pitchFamily="50" charset="-128"/>
                <a:ea typeface="メイリオ" panose="020B0604030504040204" pitchFamily="50" charset="-128"/>
              </a:rPr>
              <a:t>買取</a:t>
            </a:r>
            <a:r>
              <a:rPr kumimoji="1" lang="ja-JP" altLang="en-US" sz="1050" dirty="0">
                <a:latin typeface="メイリオ" panose="020B0604030504040204" pitchFamily="50" charset="-128"/>
                <a:ea typeface="メイリオ" panose="020B0604030504040204" pitchFamily="50" charset="-128"/>
              </a:rPr>
              <a:t>業界の場合 </a:t>
            </a:r>
            <a:r>
              <a:rPr kumimoji="1" lang="en-US" altLang="ja-JP" sz="1050" dirty="0">
                <a:latin typeface="メイリオ" panose="020B0604030504040204" pitchFamily="50" charset="-128"/>
                <a:ea typeface="メイリオ" panose="020B0604030504040204" pitchFamily="50" charset="-128"/>
              </a:rPr>
              <a:t>--- </a:t>
            </a:r>
            <a:r>
              <a:rPr kumimoji="1" lang="ja-JP" altLang="en-US" sz="1050" dirty="0">
                <a:latin typeface="メイリオ" panose="020B0604030504040204" pitchFamily="50" charset="-128"/>
                <a:ea typeface="メイリオ" panose="020B0604030504040204" pitchFamily="50" charset="-128"/>
              </a:rPr>
              <a:t>→</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インサイト</a:t>
            </a:r>
          </a:p>
        </p:txBody>
      </p:sp>
      <p:cxnSp>
        <p:nvCxnSpPr>
          <p:cNvPr id="72" name="直線矢印コネクタ 71">
            <a:extLst>
              <a:ext uri="{FF2B5EF4-FFF2-40B4-BE49-F238E27FC236}">
                <a16:creationId xmlns:a16="http://schemas.microsoft.com/office/drawing/2014/main" id="{88208618-7FE9-D014-BD25-B6D1CE9B7086}"/>
              </a:ext>
            </a:extLst>
          </p:cNvPr>
          <p:cNvCxnSpPr>
            <a:cxnSpLocks/>
          </p:cNvCxnSpPr>
          <p:nvPr/>
        </p:nvCxnSpPr>
        <p:spPr>
          <a:xfrm>
            <a:off x="1670507" y="496267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32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6AC494D3-54D6-FBA3-7EE3-0E146E5805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9527" y="726524"/>
            <a:ext cx="7152121" cy="4172072"/>
          </a:xfrm>
          <a:prstGeom prst="rect">
            <a:avLst/>
          </a:prstGeom>
        </p:spPr>
      </p:pic>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320" name="四角形: 角を丸くする 319">
            <a:extLst>
              <a:ext uri="{FF2B5EF4-FFF2-40B4-BE49-F238E27FC236}">
                <a16:creationId xmlns:a16="http://schemas.microsoft.com/office/drawing/2014/main" id="{23791D57-82C2-E1BB-C0FC-E0A978959917}"/>
              </a:ext>
            </a:extLst>
          </p:cNvPr>
          <p:cNvSpPr/>
          <p:nvPr/>
        </p:nvSpPr>
        <p:spPr>
          <a:xfrm>
            <a:off x="5461793" y="2139421"/>
            <a:ext cx="809930"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22" name="四角形: 角を丸くする 321">
            <a:extLst>
              <a:ext uri="{FF2B5EF4-FFF2-40B4-BE49-F238E27FC236}">
                <a16:creationId xmlns:a16="http://schemas.microsoft.com/office/drawing/2014/main" id="{5FAB6204-2136-631D-9D44-DCC0BB4DE553}"/>
              </a:ext>
            </a:extLst>
          </p:cNvPr>
          <p:cNvSpPr/>
          <p:nvPr/>
        </p:nvSpPr>
        <p:spPr>
          <a:xfrm>
            <a:off x="4933387" y="1820559"/>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24" name="四角形: 角を丸くする 323">
            <a:extLst>
              <a:ext uri="{FF2B5EF4-FFF2-40B4-BE49-F238E27FC236}">
                <a16:creationId xmlns:a16="http://schemas.microsoft.com/office/drawing/2014/main" id="{6ED66A10-41D0-9902-7A34-807C6777F9EE}"/>
              </a:ext>
            </a:extLst>
          </p:cNvPr>
          <p:cNvSpPr/>
          <p:nvPr/>
        </p:nvSpPr>
        <p:spPr>
          <a:xfrm>
            <a:off x="4824527" y="1955542"/>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26" name="四角形: 角を丸くする 325">
            <a:extLst>
              <a:ext uri="{FF2B5EF4-FFF2-40B4-BE49-F238E27FC236}">
                <a16:creationId xmlns:a16="http://schemas.microsoft.com/office/drawing/2014/main" id="{1EBD30E1-86AC-6FE8-2A24-8B7703D817D5}"/>
              </a:ext>
            </a:extLst>
          </p:cNvPr>
          <p:cNvSpPr/>
          <p:nvPr/>
        </p:nvSpPr>
        <p:spPr>
          <a:xfrm>
            <a:off x="4881130" y="2369201"/>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3" name="四角形: 角を丸くする 382">
            <a:extLst>
              <a:ext uri="{FF2B5EF4-FFF2-40B4-BE49-F238E27FC236}">
                <a16:creationId xmlns:a16="http://schemas.microsoft.com/office/drawing/2014/main" id="{46960604-B5F3-9528-93CB-45C014D0EEF1}"/>
              </a:ext>
            </a:extLst>
          </p:cNvPr>
          <p:cNvSpPr/>
          <p:nvPr/>
        </p:nvSpPr>
        <p:spPr>
          <a:xfrm>
            <a:off x="5412913" y="2652234"/>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5" name="四角形: 角を丸くする 384">
            <a:extLst>
              <a:ext uri="{FF2B5EF4-FFF2-40B4-BE49-F238E27FC236}">
                <a16:creationId xmlns:a16="http://schemas.microsoft.com/office/drawing/2014/main" id="{F4769977-7CFB-9336-E948-3F6FF432A4CE}"/>
              </a:ext>
            </a:extLst>
          </p:cNvPr>
          <p:cNvSpPr/>
          <p:nvPr/>
        </p:nvSpPr>
        <p:spPr>
          <a:xfrm>
            <a:off x="4911064" y="2859134"/>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7" name="四角形: 角を丸くする 386">
            <a:extLst>
              <a:ext uri="{FF2B5EF4-FFF2-40B4-BE49-F238E27FC236}">
                <a16:creationId xmlns:a16="http://schemas.microsoft.com/office/drawing/2014/main" id="{E3D6C490-BF7F-24C0-344D-7CECA0B3F48D}"/>
              </a:ext>
            </a:extLst>
          </p:cNvPr>
          <p:cNvSpPr/>
          <p:nvPr/>
        </p:nvSpPr>
        <p:spPr>
          <a:xfrm>
            <a:off x="3677817" y="1473088"/>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9" name="四角形: 角を丸くする 388">
            <a:extLst>
              <a:ext uri="{FF2B5EF4-FFF2-40B4-BE49-F238E27FC236}">
                <a16:creationId xmlns:a16="http://schemas.microsoft.com/office/drawing/2014/main" id="{EFFDCA24-00E1-A4DD-957A-D332EC56709F}"/>
              </a:ext>
            </a:extLst>
          </p:cNvPr>
          <p:cNvSpPr/>
          <p:nvPr/>
        </p:nvSpPr>
        <p:spPr>
          <a:xfrm>
            <a:off x="1815467" y="791896"/>
            <a:ext cx="66936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1" name="四角形: 角を丸くする 390">
            <a:extLst>
              <a:ext uri="{FF2B5EF4-FFF2-40B4-BE49-F238E27FC236}">
                <a16:creationId xmlns:a16="http://schemas.microsoft.com/office/drawing/2014/main" id="{B13AE15B-7EB1-C2A6-90A8-031878E43451}"/>
              </a:ext>
            </a:extLst>
          </p:cNvPr>
          <p:cNvSpPr/>
          <p:nvPr/>
        </p:nvSpPr>
        <p:spPr>
          <a:xfrm>
            <a:off x="1854653" y="1344893"/>
            <a:ext cx="66936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3" name="四角形: 角を丸くする 392">
            <a:extLst>
              <a:ext uri="{FF2B5EF4-FFF2-40B4-BE49-F238E27FC236}">
                <a16:creationId xmlns:a16="http://schemas.microsoft.com/office/drawing/2014/main" id="{78267361-75C1-3A56-1CDA-07324CFF753E}"/>
              </a:ext>
            </a:extLst>
          </p:cNvPr>
          <p:cNvSpPr/>
          <p:nvPr/>
        </p:nvSpPr>
        <p:spPr>
          <a:xfrm>
            <a:off x="1690661" y="1453750"/>
            <a:ext cx="55319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5" name="四角形: 角を丸くする 394">
            <a:extLst>
              <a:ext uri="{FF2B5EF4-FFF2-40B4-BE49-F238E27FC236}">
                <a16:creationId xmlns:a16="http://schemas.microsoft.com/office/drawing/2014/main" id="{DA38F9FB-11E3-7319-1E68-8113517CE837}"/>
              </a:ext>
            </a:extLst>
          </p:cNvPr>
          <p:cNvSpPr/>
          <p:nvPr/>
        </p:nvSpPr>
        <p:spPr>
          <a:xfrm>
            <a:off x="2445493" y="1711019"/>
            <a:ext cx="34349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7" name="四角形: 角を丸くする 396">
            <a:extLst>
              <a:ext uri="{FF2B5EF4-FFF2-40B4-BE49-F238E27FC236}">
                <a16:creationId xmlns:a16="http://schemas.microsoft.com/office/drawing/2014/main" id="{416363E4-A40A-4EDB-51D9-B4E80153070B}"/>
              </a:ext>
            </a:extLst>
          </p:cNvPr>
          <p:cNvSpPr/>
          <p:nvPr/>
        </p:nvSpPr>
        <p:spPr>
          <a:xfrm>
            <a:off x="3648294" y="2893196"/>
            <a:ext cx="457185"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9" name="四角形: 角を丸くする 398">
            <a:extLst>
              <a:ext uri="{FF2B5EF4-FFF2-40B4-BE49-F238E27FC236}">
                <a16:creationId xmlns:a16="http://schemas.microsoft.com/office/drawing/2014/main" id="{68D69BDF-BAAD-A139-F0F3-E00F73BBB699}"/>
              </a:ext>
            </a:extLst>
          </p:cNvPr>
          <p:cNvSpPr/>
          <p:nvPr/>
        </p:nvSpPr>
        <p:spPr>
          <a:xfrm>
            <a:off x="2208192" y="1925107"/>
            <a:ext cx="457185"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1" name="四角形: 角を丸くする 400">
            <a:extLst>
              <a:ext uri="{FF2B5EF4-FFF2-40B4-BE49-F238E27FC236}">
                <a16:creationId xmlns:a16="http://schemas.microsoft.com/office/drawing/2014/main" id="{EFA2071C-A4FF-502C-9AAB-9078D25A8FC1}"/>
              </a:ext>
            </a:extLst>
          </p:cNvPr>
          <p:cNvSpPr/>
          <p:nvPr/>
        </p:nvSpPr>
        <p:spPr>
          <a:xfrm>
            <a:off x="1590188" y="2362386"/>
            <a:ext cx="553194"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3" name="四角形: 角を丸くする 402">
            <a:extLst>
              <a:ext uri="{FF2B5EF4-FFF2-40B4-BE49-F238E27FC236}">
                <a16:creationId xmlns:a16="http://schemas.microsoft.com/office/drawing/2014/main" id="{D93DFAC4-D035-1E1A-B506-BC4D7264CBCA}"/>
              </a:ext>
            </a:extLst>
          </p:cNvPr>
          <p:cNvSpPr/>
          <p:nvPr/>
        </p:nvSpPr>
        <p:spPr>
          <a:xfrm>
            <a:off x="2947475" y="2356512"/>
            <a:ext cx="457185"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5" name="四角形: 角を丸くする 404">
            <a:extLst>
              <a:ext uri="{FF2B5EF4-FFF2-40B4-BE49-F238E27FC236}">
                <a16:creationId xmlns:a16="http://schemas.microsoft.com/office/drawing/2014/main" id="{7CF32CFE-D4D9-4EFE-AAAE-36EEC538C087}"/>
              </a:ext>
            </a:extLst>
          </p:cNvPr>
          <p:cNvSpPr/>
          <p:nvPr/>
        </p:nvSpPr>
        <p:spPr>
          <a:xfrm>
            <a:off x="2013049" y="2700607"/>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7" name="四角形: 角を丸くする 406">
            <a:extLst>
              <a:ext uri="{FF2B5EF4-FFF2-40B4-BE49-F238E27FC236}">
                <a16:creationId xmlns:a16="http://schemas.microsoft.com/office/drawing/2014/main" id="{DD5B62D7-E91E-4F2D-2781-D52D1FC1A6FE}"/>
              </a:ext>
            </a:extLst>
          </p:cNvPr>
          <p:cNvSpPr/>
          <p:nvPr/>
        </p:nvSpPr>
        <p:spPr>
          <a:xfrm>
            <a:off x="2296076" y="2861716"/>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9" name="四角形: 角を丸くする 408">
            <a:extLst>
              <a:ext uri="{FF2B5EF4-FFF2-40B4-BE49-F238E27FC236}">
                <a16:creationId xmlns:a16="http://schemas.microsoft.com/office/drawing/2014/main" id="{1C93C745-049D-AA7B-4747-4ADF7D9C5C6C}"/>
              </a:ext>
            </a:extLst>
          </p:cNvPr>
          <p:cNvSpPr/>
          <p:nvPr/>
        </p:nvSpPr>
        <p:spPr>
          <a:xfrm>
            <a:off x="2726326" y="2655295"/>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1" name="四角形: 角を丸くする 410">
            <a:extLst>
              <a:ext uri="{FF2B5EF4-FFF2-40B4-BE49-F238E27FC236}">
                <a16:creationId xmlns:a16="http://schemas.microsoft.com/office/drawing/2014/main" id="{37D2DCB6-81C7-E01D-7156-F5CDFB1EEE37}"/>
              </a:ext>
            </a:extLst>
          </p:cNvPr>
          <p:cNvSpPr/>
          <p:nvPr/>
        </p:nvSpPr>
        <p:spPr>
          <a:xfrm>
            <a:off x="6627024" y="2316253"/>
            <a:ext cx="553194"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3" name="四角形: 角を丸くする 412">
            <a:extLst>
              <a:ext uri="{FF2B5EF4-FFF2-40B4-BE49-F238E27FC236}">
                <a16:creationId xmlns:a16="http://schemas.microsoft.com/office/drawing/2014/main" id="{A8790EA6-DD70-B1CB-97BC-0332E8F44515}"/>
              </a:ext>
            </a:extLst>
          </p:cNvPr>
          <p:cNvSpPr/>
          <p:nvPr/>
        </p:nvSpPr>
        <p:spPr>
          <a:xfrm>
            <a:off x="3465714" y="2751507"/>
            <a:ext cx="377839"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5" name="四角形: 角を丸くする 414">
            <a:extLst>
              <a:ext uri="{FF2B5EF4-FFF2-40B4-BE49-F238E27FC236}">
                <a16:creationId xmlns:a16="http://schemas.microsoft.com/office/drawing/2014/main" id="{18E570DA-2B2D-BB27-0584-A835DA448D91}"/>
              </a:ext>
            </a:extLst>
          </p:cNvPr>
          <p:cNvSpPr/>
          <p:nvPr/>
        </p:nvSpPr>
        <p:spPr>
          <a:xfrm>
            <a:off x="5744930" y="2953038"/>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7" name="四角形: 角を丸くする 416">
            <a:extLst>
              <a:ext uri="{FF2B5EF4-FFF2-40B4-BE49-F238E27FC236}">
                <a16:creationId xmlns:a16="http://schemas.microsoft.com/office/drawing/2014/main" id="{86757594-1241-2C67-CA66-DC0491DECD90}"/>
              </a:ext>
            </a:extLst>
          </p:cNvPr>
          <p:cNvSpPr/>
          <p:nvPr/>
        </p:nvSpPr>
        <p:spPr>
          <a:xfrm>
            <a:off x="7590503" y="2893196"/>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9" name="四角形: 角を丸くする 418">
            <a:extLst>
              <a:ext uri="{FF2B5EF4-FFF2-40B4-BE49-F238E27FC236}">
                <a16:creationId xmlns:a16="http://schemas.microsoft.com/office/drawing/2014/main" id="{AFF35E56-1C38-9FFA-38A7-BDFF10725CD2}"/>
              </a:ext>
            </a:extLst>
          </p:cNvPr>
          <p:cNvSpPr/>
          <p:nvPr/>
        </p:nvSpPr>
        <p:spPr>
          <a:xfrm>
            <a:off x="7526609" y="3117757"/>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21" name="四角形: 角を丸くする 420">
            <a:extLst>
              <a:ext uri="{FF2B5EF4-FFF2-40B4-BE49-F238E27FC236}">
                <a16:creationId xmlns:a16="http://schemas.microsoft.com/office/drawing/2014/main" id="{76DADA61-4966-FE69-D09F-F1C7C8A58155}"/>
              </a:ext>
            </a:extLst>
          </p:cNvPr>
          <p:cNvSpPr/>
          <p:nvPr/>
        </p:nvSpPr>
        <p:spPr>
          <a:xfrm>
            <a:off x="3280144" y="3188210"/>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23" name="四角形: 角を丸くする 422">
            <a:extLst>
              <a:ext uri="{FF2B5EF4-FFF2-40B4-BE49-F238E27FC236}">
                <a16:creationId xmlns:a16="http://schemas.microsoft.com/office/drawing/2014/main" id="{8C3E34C7-3CA0-E59B-C4AB-4244D315D6A0}"/>
              </a:ext>
            </a:extLst>
          </p:cNvPr>
          <p:cNvSpPr/>
          <p:nvPr/>
        </p:nvSpPr>
        <p:spPr>
          <a:xfrm>
            <a:off x="2800623" y="2545357"/>
            <a:ext cx="60851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25" name="四角形: 角を丸くする 424">
            <a:extLst>
              <a:ext uri="{FF2B5EF4-FFF2-40B4-BE49-F238E27FC236}">
                <a16:creationId xmlns:a16="http://schemas.microsoft.com/office/drawing/2014/main" id="{C6435EF9-33D0-903E-5592-46717511F9D9}"/>
              </a:ext>
            </a:extLst>
          </p:cNvPr>
          <p:cNvSpPr/>
          <p:nvPr/>
        </p:nvSpPr>
        <p:spPr>
          <a:xfrm>
            <a:off x="2338337" y="2245123"/>
            <a:ext cx="890923"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27" name="四角形: 角を丸くする 426">
            <a:extLst>
              <a:ext uri="{FF2B5EF4-FFF2-40B4-BE49-F238E27FC236}">
                <a16:creationId xmlns:a16="http://schemas.microsoft.com/office/drawing/2014/main" id="{9AF74AE5-527E-F25E-E2DB-B364715A49DE}"/>
              </a:ext>
            </a:extLst>
          </p:cNvPr>
          <p:cNvSpPr/>
          <p:nvPr/>
        </p:nvSpPr>
        <p:spPr>
          <a:xfrm>
            <a:off x="4499234" y="2679842"/>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29" name="四角形: 角を丸くする 428">
            <a:extLst>
              <a:ext uri="{FF2B5EF4-FFF2-40B4-BE49-F238E27FC236}">
                <a16:creationId xmlns:a16="http://schemas.microsoft.com/office/drawing/2014/main" id="{0532BFAC-41FD-CA28-04B4-D15D3BB77492}"/>
              </a:ext>
            </a:extLst>
          </p:cNvPr>
          <p:cNvSpPr/>
          <p:nvPr/>
        </p:nvSpPr>
        <p:spPr>
          <a:xfrm>
            <a:off x="6166727" y="2702559"/>
            <a:ext cx="809930"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1" name="四角形: 角を丸くする 430">
            <a:extLst>
              <a:ext uri="{FF2B5EF4-FFF2-40B4-BE49-F238E27FC236}">
                <a16:creationId xmlns:a16="http://schemas.microsoft.com/office/drawing/2014/main" id="{72EF553F-46BD-24FB-B9F3-89FF3925734E}"/>
              </a:ext>
            </a:extLst>
          </p:cNvPr>
          <p:cNvSpPr/>
          <p:nvPr/>
        </p:nvSpPr>
        <p:spPr>
          <a:xfrm>
            <a:off x="4949253" y="3015378"/>
            <a:ext cx="809930" cy="14332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3" name="四角形: 角を丸くする 432">
            <a:extLst>
              <a:ext uri="{FF2B5EF4-FFF2-40B4-BE49-F238E27FC236}">
                <a16:creationId xmlns:a16="http://schemas.microsoft.com/office/drawing/2014/main" id="{43ADEDF4-0015-7260-4A59-392191B96C90}"/>
              </a:ext>
            </a:extLst>
          </p:cNvPr>
          <p:cNvSpPr/>
          <p:nvPr/>
        </p:nvSpPr>
        <p:spPr>
          <a:xfrm>
            <a:off x="4824527" y="3162181"/>
            <a:ext cx="809930"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5" name="四角形: 角を丸くする 434">
            <a:extLst>
              <a:ext uri="{FF2B5EF4-FFF2-40B4-BE49-F238E27FC236}">
                <a16:creationId xmlns:a16="http://schemas.microsoft.com/office/drawing/2014/main" id="{9AC88DE7-1B58-9C68-DDE3-6F05208FA25E}"/>
              </a:ext>
            </a:extLst>
          </p:cNvPr>
          <p:cNvSpPr/>
          <p:nvPr/>
        </p:nvSpPr>
        <p:spPr>
          <a:xfrm>
            <a:off x="4919773" y="3277648"/>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7" name="四角形: 角を丸くする 436">
            <a:extLst>
              <a:ext uri="{FF2B5EF4-FFF2-40B4-BE49-F238E27FC236}">
                <a16:creationId xmlns:a16="http://schemas.microsoft.com/office/drawing/2014/main" id="{4AA37009-5B6A-D352-6279-6F2C577860DC}"/>
              </a:ext>
            </a:extLst>
          </p:cNvPr>
          <p:cNvSpPr/>
          <p:nvPr/>
        </p:nvSpPr>
        <p:spPr>
          <a:xfrm>
            <a:off x="4981838" y="3360148"/>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9" name="四角形: 角を丸くする 438">
            <a:extLst>
              <a:ext uri="{FF2B5EF4-FFF2-40B4-BE49-F238E27FC236}">
                <a16:creationId xmlns:a16="http://schemas.microsoft.com/office/drawing/2014/main" id="{027507BF-D63E-C57B-0963-1C69FD55F450}"/>
              </a:ext>
            </a:extLst>
          </p:cNvPr>
          <p:cNvSpPr/>
          <p:nvPr/>
        </p:nvSpPr>
        <p:spPr>
          <a:xfrm>
            <a:off x="4844443" y="3512425"/>
            <a:ext cx="89092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1" name="四角形: 角を丸くする 440">
            <a:extLst>
              <a:ext uri="{FF2B5EF4-FFF2-40B4-BE49-F238E27FC236}">
                <a16:creationId xmlns:a16="http://schemas.microsoft.com/office/drawing/2014/main" id="{624F8A04-0736-37C1-8F35-587702B62FEE}"/>
              </a:ext>
            </a:extLst>
          </p:cNvPr>
          <p:cNvSpPr/>
          <p:nvPr/>
        </p:nvSpPr>
        <p:spPr>
          <a:xfrm>
            <a:off x="5728568" y="3502384"/>
            <a:ext cx="669364"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3" name="四角形: 角を丸くする 442">
            <a:extLst>
              <a:ext uri="{FF2B5EF4-FFF2-40B4-BE49-F238E27FC236}">
                <a16:creationId xmlns:a16="http://schemas.microsoft.com/office/drawing/2014/main" id="{567E5B77-EEB9-0ADA-F9FE-936A973DD3D7}"/>
              </a:ext>
            </a:extLst>
          </p:cNvPr>
          <p:cNvSpPr/>
          <p:nvPr/>
        </p:nvSpPr>
        <p:spPr>
          <a:xfrm>
            <a:off x="6985015" y="3771644"/>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5" name="四角形: 角を丸くする 444">
            <a:extLst>
              <a:ext uri="{FF2B5EF4-FFF2-40B4-BE49-F238E27FC236}">
                <a16:creationId xmlns:a16="http://schemas.microsoft.com/office/drawing/2014/main" id="{0DE5A262-68F4-EB07-8CFF-02466258471B}"/>
              </a:ext>
            </a:extLst>
          </p:cNvPr>
          <p:cNvSpPr/>
          <p:nvPr/>
        </p:nvSpPr>
        <p:spPr>
          <a:xfrm>
            <a:off x="7723761" y="360017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7" name="四角形: 角を丸くする 446">
            <a:extLst>
              <a:ext uri="{FF2B5EF4-FFF2-40B4-BE49-F238E27FC236}">
                <a16:creationId xmlns:a16="http://schemas.microsoft.com/office/drawing/2014/main" id="{65758FEE-B1D8-3C63-F521-A0BD84FB1EDB}"/>
              </a:ext>
            </a:extLst>
          </p:cNvPr>
          <p:cNvSpPr/>
          <p:nvPr/>
        </p:nvSpPr>
        <p:spPr>
          <a:xfrm>
            <a:off x="2055335" y="3351439"/>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9" name="四角形: 角を丸くする 448">
            <a:extLst>
              <a:ext uri="{FF2B5EF4-FFF2-40B4-BE49-F238E27FC236}">
                <a16:creationId xmlns:a16="http://schemas.microsoft.com/office/drawing/2014/main" id="{66824AF3-424E-E612-B25D-8ED89773C122}"/>
              </a:ext>
            </a:extLst>
          </p:cNvPr>
          <p:cNvSpPr/>
          <p:nvPr/>
        </p:nvSpPr>
        <p:spPr>
          <a:xfrm>
            <a:off x="3721359" y="4370044"/>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51" name="四角形: 角を丸くする 450">
            <a:extLst>
              <a:ext uri="{FF2B5EF4-FFF2-40B4-BE49-F238E27FC236}">
                <a16:creationId xmlns:a16="http://schemas.microsoft.com/office/drawing/2014/main" id="{0AE37945-B58E-3E5F-C42B-6D57F771FCFE}"/>
              </a:ext>
            </a:extLst>
          </p:cNvPr>
          <p:cNvSpPr/>
          <p:nvPr/>
        </p:nvSpPr>
        <p:spPr>
          <a:xfrm>
            <a:off x="1511127" y="4272252"/>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53" name="四角形: 角を丸くする 452">
            <a:extLst>
              <a:ext uri="{FF2B5EF4-FFF2-40B4-BE49-F238E27FC236}">
                <a16:creationId xmlns:a16="http://schemas.microsoft.com/office/drawing/2014/main" id="{F2F848A5-BD78-2C9E-1F00-7781FC0B1B22}"/>
              </a:ext>
            </a:extLst>
          </p:cNvPr>
          <p:cNvSpPr/>
          <p:nvPr/>
        </p:nvSpPr>
        <p:spPr>
          <a:xfrm>
            <a:off x="2429498" y="4458144"/>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55" name="四角形: 角を丸くする 454">
            <a:extLst>
              <a:ext uri="{FF2B5EF4-FFF2-40B4-BE49-F238E27FC236}">
                <a16:creationId xmlns:a16="http://schemas.microsoft.com/office/drawing/2014/main" id="{59F6BA66-0D43-99DC-FF96-11C13D7106D0}"/>
              </a:ext>
            </a:extLst>
          </p:cNvPr>
          <p:cNvSpPr/>
          <p:nvPr/>
        </p:nvSpPr>
        <p:spPr>
          <a:xfrm>
            <a:off x="3241561" y="4192096"/>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57" name="四角形: 角を丸くする 456">
            <a:extLst>
              <a:ext uri="{FF2B5EF4-FFF2-40B4-BE49-F238E27FC236}">
                <a16:creationId xmlns:a16="http://schemas.microsoft.com/office/drawing/2014/main" id="{9A0513BD-9420-3CB4-7997-1E144E57F5DA}"/>
              </a:ext>
            </a:extLst>
          </p:cNvPr>
          <p:cNvSpPr/>
          <p:nvPr/>
        </p:nvSpPr>
        <p:spPr>
          <a:xfrm>
            <a:off x="6665583" y="3189815"/>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59" name="四角形: 角を丸くする 458">
            <a:extLst>
              <a:ext uri="{FF2B5EF4-FFF2-40B4-BE49-F238E27FC236}">
                <a16:creationId xmlns:a16="http://schemas.microsoft.com/office/drawing/2014/main" id="{55364DDA-0565-263D-6991-F410F6ABE952}"/>
              </a:ext>
            </a:extLst>
          </p:cNvPr>
          <p:cNvSpPr/>
          <p:nvPr/>
        </p:nvSpPr>
        <p:spPr>
          <a:xfrm>
            <a:off x="6977588" y="2959142"/>
            <a:ext cx="608513" cy="14332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61" name="四角形: 角を丸くする 460">
            <a:extLst>
              <a:ext uri="{FF2B5EF4-FFF2-40B4-BE49-F238E27FC236}">
                <a16:creationId xmlns:a16="http://schemas.microsoft.com/office/drawing/2014/main" id="{C5F04857-D220-8E54-27EB-4BD6AC1BA505}"/>
              </a:ext>
            </a:extLst>
          </p:cNvPr>
          <p:cNvSpPr/>
          <p:nvPr/>
        </p:nvSpPr>
        <p:spPr>
          <a:xfrm>
            <a:off x="7715866" y="2528457"/>
            <a:ext cx="736300" cy="173428"/>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63" name="Rounded Rectangle 47">
            <a:extLst>
              <a:ext uri="{FF2B5EF4-FFF2-40B4-BE49-F238E27FC236}">
                <a16:creationId xmlns:a16="http://schemas.microsoft.com/office/drawing/2014/main" id="{CDE0B279-5917-179F-369E-CB1B519BB9B0}"/>
              </a:ext>
            </a:extLst>
          </p:cNvPr>
          <p:cNvSpPr/>
          <p:nvPr/>
        </p:nvSpPr>
        <p:spPr>
          <a:xfrm>
            <a:off x="908428" y="4993039"/>
            <a:ext cx="118571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rgbClr val="FFFFFF"/>
                </a:solidFill>
                <a:latin typeface="メイリオ"/>
              </a:rPr>
              <a:t>離脱防止で</a:t>
            </a:r>
            <a:r>
              <a:rPr lang="en-US" altLang="ja-JP" sz="850" b="0" dirty="0">
                <a:solidFill>
                  <a:srgbClr val="FFFFFF"/>
                </a:solidFill>
                <a:latin typeface="メイリオ"/>
              </a:rPr>
              <a:t>…</a:t>
            </a:r>
            <a:r>
              <a:rPr lang="ja-JP" altLang="en-US" sz="850" b="0" dirty="0">
                <a:solidFill>
                  <a:srgbClr val="FFFFFF"/>
                </a:solidFill>
                <a:latin typeface="メイリオ"/>
              </a:rPr>
              <a:t>。</a:t>
            </a:r>
            <a:endParaRPr lang="en-US" altLang="ja-JP" sz="850" b="0" dirty="0">
              <a:solidFill>
                <a:srgbClr val="FFFFFF"/>
              </a:solidFill>
              <a:latin typeface="メイリオ"/>
            </a:endParaRPr>
          </a:p>
          <a:p>
            <a:pPr algn="ctr"/>
            <a:endParaRPr lang="en-US" altLang="ja-JP" sz="850" b="0" dirty="0">
              <a:solidFill>
                <a:srgbClr val="FFFFFF"/>
              </a:solidFill>
              <a:latin typeface="メイリオ"/>
            </a:endParaRPr>
          </a:p>
          <a:p>
            <a:pPr algn="ctr"/>
            <a:r>
              <a:rPr lang="ja-JP" altLang="en-US" sz="850" dirty="0">
                <a:solidFill>
                  <a:srgbClr val="FFFFFF"/>
                </a:solidFill>
                <a:latin typeface="メイリオ"/>
              </a:rPr>
              <a:t>買取</a:t>
            </a:r>
            <a:r>
              <a:rPr lang="ja-JP" altLang="en-US" sz="850" b="0" dirty="0">
                <a:solidFill>
                  <a:srgbClr val="FFFFFF"/>
                </a:solidFill>
                <a:latin typeface="メイリオ"/>
              </a:rPr>
              <a:t>実績</a:t>
            </a:r>
            <a:endParaRPr lang="en-US" altLang="ja-JP" sz="850" b="0" dirty="0">
              <a:solidFill>
                <a:srgbClr val="FFFFFF"/>
              </a:solidFill>
              <a:latin typeface="メイリオ"/>
            </a:endParaRPr>
          </a:p>
          <a:p>
            <a:pPr algn="ctr"/>
            <a:r>
              <a:rPr lang="ja-JP" altLang="en-US" sz="850" dirty="0">
                <a:solidFill>
                  <a:srgbClr val="FFFFFF"/>
                </a:solidFill>
                <a:latin typeface="メイリオ"/>
              </a:rPr>
              <a:t>「こんなものも売れました・・・（お客様の声）」</a:t>
            </a:r>
            <a:endParaRPr lang="en-US" sz="850" b="0" dirty="0">
              <a:solidFill>
                <a:srgbClr val="FFFFFF"/>
              </a:solidFill>
              <a:latin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2" y="4993039"/>
            <a:ext cx="118571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dirty="0">
                <a:solidFill>
                  <a:srgbClr val="FFFFFF"/>
                </a:solidFill>
                <a:latin typeface="メイリオ"/>
              </a:rPr>
              <a:t>この機会に</a:t>
            </a:r>
            <a:endParaRPr lang="en-US" altLang="ja-JP" sz="900" dirty="0">
              <a:solidFill>
                <a:srgbClr val="FFFFFF"/>
              </a:solidFill>
              <a:latin typeface="メイリオ"/>
            </a:endParaRPr>
          </a:p>
          <a:p>
            <a:pPr algn="ctr"/>
            <a:r>
              <a:rPr lang="en-US" altLang="ja-JP" sz="900" dirty="0">
                <a:solidFill>
                  <a:srgbClr val="FFFFFF"/>
                </a:solidFill>
                <a:latin typeface="メイリオ"/>
              </a:rPr>
              <a:t>LINE</a:t>
            </a:r>
            <a:r>
              <a:rPr lang="ja-JP" altLang="en-US" sz="900" dirty="0">
                <a:solidFill>
                  <a:srgbClr val="FFFFFF"/>
                </a:solidFill>
                <a:latin typeface="メイリオ"/>
              </a:rPr>
              <a:t>で簡単査定申込ませんか？</a:t>
            </a:r>
            <a:endParaRPr lang="en-US" altLang="ja-JP" sz="900" dirty="0">
              <a:solidFill>
                <a:srgbClr val="FFFFFF"/>
              </a:solidFill>
              <a:latin typeface="メイリオ"/>
            </a:endParaRP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531143"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5" y="136794"/>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ブランド 買取</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712282" y="16025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2965105"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5585737"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7" y="5381476"/>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050" b="1" dirty="0">
                <a:solidFill>
                  <a:srgbClr val="FFFFFF"/>
                </a:solidFill>
                <a:latin typeface="メイリオ"/>
              </a:rPr>
              <a:t>2</a:t>
            </a:r>
            <a:r>
              <a:rPr sz="1050" b="1" dirty="0">
                <a:solidFill>
                  <a:srgbClr val="FFFFFF"/>
                </a:solidFill>
                <a:latin typeface="メイリオ"/>
              </a:rPr>
              <a:t>日目</a:t>
            </a:r>
          </a:p>
          <a:p>
            <a:pPr algn="ctr"/>
            <a:endParaRPr sz="1050" b="1" dirty="0">
              <a:solidFill>
                <a:srgbClr val="FFFFFF"/>
              </a:solidFill>
              <a:latin typeface="メイリオ"/>
            </a:endParaRPr>
          </a:p>
          <a:p>
            <a:pPr algn="ctr"/>
            <a:r>
              <a:rPr lang="ja-JP" altLang="en-US" sz="850" b="0" dirty="0">
                <a:solidFill>
                  <a:srgbClr val="FFFFFF"/>
                </a:solidFill>
                <a:latin typeface="メイリオ"/>
              </a:rPr>
              <a:t>こんな買取店には</a:t>
            </a:r>
            <a:endParaRPr lang="en-US" altLang="ja-JP" sz="850" b="0" dirty="0">
              <a:solidFill>
                <a:srgbClr val="FFFFFF"/>
              </a:solidFill>
              <a:latin typeface="メイリオ"/>
            </a:endParaRPr>
          </a:p>
          <a:p>
            <a:pPr algn="ctr"/>
            <a:r>
              <a:rPr lang="ja-JP" altLang="en-US" sz="850" b="0" dirty="0">
                <a:solidFill>
                  <a:srgbClr val="FFFFFF"/>
                </a:solidFill>
                <a:latin typeface="メイリオ"/>
              </a:rPr>
              <a:t>注意！（啓蒙）</a:t>
            </a:r>
            <a:endParaRPr sz="850" b="0" dirty="0">
              <a:solidFill>
                <a:srgbClr val="FFFFFF"/>
              </a:solidFill>
              <a:latin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943072"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8" y="5384876"/>
            <a:ext cx="1185714"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rPr>
              <a:t>４</a:t>
            </a:r>
            <a:r>
              <a:rPr sz="1050" b="1" dirty="0" err="1">
                <a:solidFill>
                  <a:srgbClr val="FFFFFF"/>
                </a:solidFill>
                <a:latin typeface="メイリオ"/>
              </a:rPr>
              <a:t>日目</a:t>
            </a:r>
            <a:endParaRPr sz="1050" b="1" dirty="0">
              <a:solidFill>
                <a:srgbClr val="FFFFFF"/>
              </a:solidFill>
              <a:latin typeface="メイリオ"/>
            </a:endParaRPr>
          </a:p>
          <a:p>
            <a:pPr algn="ctr"/>
            <a:endParaRPr sz="1050" b="1" dirty="0">
              <a:solidFill>
                <a:srgbClr val="FFFFFF"/>
              </a:solidFill>
              <a:latin typeface="メイリオ"/>
            </a:endParaRPr>
          </a:p>
          <a:p>
            <a:pPr algn="ctr"/>
            <a:r>
              <a:rPr sz="850" b="0" dirty="0" err="1">
                <a:solidFill>
                  <a:srgbClr val="FFFFFF"/>
                </a:solidFill>
                <a:latin typeface="メイリオ"/>
              </a:rPr>
              <a:t>査定予約オファ</a:t>
            </a:r>
            <a:r>
              <a:rPr sz="850" b="0" dirty="0">
                <a:solidFill>
                  <a:srgbClr val="FFFFFF"/>
                </a:solidFill>
                <a:latin typeface="メイリオ"/>
              </a:rPr>
              <a:t>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2" y="5384876"/>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rPr>
              <a:t>５</a:t>
            </a:r>
            <a:r>
              <a:rPr sz="1050" b="1" dirty="0" err="1">
                <a:solidFill>
                  <a:srgbClr val="FFFFFF"/>
                </a:solidFill>
                <a:latin typeface="メイリオ"/>
              </a:rPr>
              <a:t>日目</a:t>
            </a:r>
            <a:endParaRPr sz="1050" b="1" dirty="0">
              <a:solidFill>
                <a:srgbClr val="FFFFFF"/>
              </a:solidFill>
              <a:latin typeface="メイリオ"/>
            </a:endParaRPr>
          </a:p>
          <a:p>
            <a:pPr algn="ctr"/>
            <a:endParaRPr sz="1050" b="1" dirty="0">
              <a:solidFill>
                <a:srgbClr val="FFFFFF"/>
              </a:solidFill>
              <a:latin typeface="メイリオ"/>
            </a:endParaRPr>
          </a:p>
          <a:p>
            <a:pPr algn="ctr"/>
            <a:r>
              <a:rPr lang="ja-JP" altLang="en-US" sz="850" b="0" dirty="0">
                <a:solidFill>
                  <a:srgbClr val="FFFFFF"/>
                </a:solidFill>
                <a:latin typeface="メイリオ"/>
              </a:rPr>
              <a:t>○か月前よりこれだけ相場上がってる</a:t>
            </a:r>
            <a:endParaRPr lang="en-US" altLang="ja-JP" sz="850" b="0" dirty="0">
              <a:solidFill>
                <a:srgbClr val="FFFFFF"/>
              </a:solidFill>
              <a:latin typeface="メイリオ"/>
            </a:endParaRPr>
          </a:p>
          <a:p>
            <a:pPr algn="ctr"/>
            <a:r>
              <a:rPr lang="ja-JP" altLang="en-US" sz="850" b="0" dirty="0">
                <a:solidFill>
                  <a:srgbClr val="FFFFFF"/>
                </a:solidFill>
                <a:latin typeface="メイリオ"/>
              </a:rPr>
              <a:t>○○の買取強化中！</a:t>
            </a:r>
            <a:endParaRPr sz="850" b="0" dirty="0">
              <a:solidFill>
                <a:srgbClr val="FFFFFF"/>
              </a:solidFill>
              <a:latin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6" y="5384876"/>
            <a:ext cx="1185714"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050" b="1" dirty="0">
                <a:solidFill>
                  <a:srgbClr val="FFFFFF"/>
                </a:solidFill>
                <a:latin typeface="メイリオ"/>
              </a:rPr>
              <a:t>8</a:t>
            </a:r>
            <a:r>
              <a:rPr sz="1050" b="1" dirty="0">
                <a:solidFill>
                  <a:srgbClr val="FFFFFF"/>
                </a:solidFill>
                <a:latin typeface="メイリオ"/>
              </a:rPr>
              <a:t>日目〜</a:t>
            </a:r>
          </a:p>
          <a:p>
            <a:pPr algn="ctr"/>
            <a:endParaRPr sz="1050" b="1" dirty="0">
              <a:solidFill>
                <a:srgbClr val="FFFFFF"/>
              </a:solidFill>
              <a:latin typeface="メイリオ"/>
            </a:endParaRPr>
          </a:p>
          <a:p>
            <a:pPr algn="ctr"/>
            <a:r>
              <a:rPr lang="ja-JP" altLang="en-US" sz="850" b="0" dirty="0">
                <a:solidFill>
                  <a:srgbClr val="FFFFFF"/>
                </a:solidFill>
                <a:latin typeface="メイリオ"/>
              </a:rPr>
              <a:t>限定クーポンなど</a:t>
            </a:r>
            <a:endParaRPr lang="en-US" altLang="ja-JP" sz="850" b="0" dirty="0">
              <a:solidFill>
                <a:srgbClr val="FFFFFF"/>
              </a:solidFill>
              <a:latin typeface="メイリオ"/>
            </a:endParaRPr>
          </a:p>
          <a:p>
            <a:pPr algn="ctr"/>
            <a:r>
              <a:rPr lang="ja-JP" altLang="en-US" sz="850" b="0" dirty="0">
                <a:solidFill>
                  <a:srgbClr val="FFFFFF"/>
                </a:solidFill>
                <a:latin typeface="メイリオ"/>
              </a:rPr>
              <a:t>査定額</a:t>
            </a:r>
            <a:r>
              <a:rPr lang="en-US" altLang="ja-JP" sz="850" b="0" dirty="0">
                <a:solidFill>
                  <a:srgbClr val="FFFFFF"/>
                </a:solidFill>
                <a:latin typeface="メイリオ"/>
              </a:rPr>
              <a:t>10%</a:t>
            </a:r>
            <a:r>
              <a:rPr lang="ja-JP" altLang="en-US" sz="850" b="0" dirty="0">
                <a:solidFill>
                  <a:srgbClr val="FFFFFF"/>
                </a:solidFill>
                <a:latin typeface="メイリオ"/>
              </a:rPr>
              <a:t>上乗せ！</a:t>
            </a:r>
            <a:endParaRPr sz="850" b="0" dirty="0">
              <a:solidFill>
                <a:srgbClr val="FFFFFF"/>
              </a:solidFill>
              <a:latin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商品名・ブランド名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他社名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別商材・相場</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ライフイベント</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902793" y="6022295"/>
            <a:ext cx="118571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chemeClr val="tx1"/>
                </a:solidFill>
                <a:latin typeface="メイリオ"/>
              </a:rPr>
              <a:t>同様商品があれば</a:t>
            </a:r>
            <a:endParaRPr lang="en-US" altLang="ja-JP" sz="850" b="0" dirty="0">
              <a:solidFill>
                <a:schemeClr val="tx1"/>
              </a:solidFill>
              <a:latin typeface="メイリオ"/>
            </a:endParaRPr>
          </a:p>
          <a:p>
            <a:pPr algn="ctr"/>
            <a:r>
              <a:rPr lang="ja-JP" altLang="en-US" sz="850" dirty="0">
                <a:solidFill>
                  <a:schemeClr val="tx1"/>
                </a:solidFill>
                <a:latin typeface="メイリオ"/>
              </a:rPr>
              <a:t>売る！決断になる</a:t>
            </a:r>
            <a:endParaRPr lang="en-US" altLang="ja-JP" sz="850" dirty="0">
              <a:solidFill>
                <a:schemeClr val="tx1"/>
              </a:solidFill>
              <a:latin typeface="メイリオ"/>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7" y="6022295"/>
            <a:ext cx="118571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00" dirty="0">
                <a:solidFill>
                  <a:schemeClr val="tx1"/>
                </a:solidFill>
                <a:latin typeface="メイリオ"/>
              </a:rPr>
              <a:t>買い換えニーズがありそう</a:t>
            </a:r>
            <a:endParaRPr lang="en-US" altLang="ja-JP" sz="800" dirty="0">
              <a:solidFill>
                <a:schemeClr val="tx1"/>
              </a:solidFill>
              <a:latin typeface="メイリオ"/>
            </a:endParaRPr>
          </a:p>
          <a:p>
            <a:pPr algn="ctr"/>
            <a:r>
              <a:rPr lang="ja-JP" altLang="en-US" sz="800" dirty="0">
                <a:solidFill>
                  <a:schemeClr val="tx1"/>
                </a:solidFill>
                <a:latin typeface="メイリオ"/>
              </a:rPr>
              <a:t>査定ハードルを下げる</a:t>
            </a:r>
            <a:endParaRPr lang="en-US" altLang="ja-JP" sz="800" dirty="0">
              <a:solidFill>
                <a:schemeClr val="tx1"/>
              </a:solidFill>
              <a:latin typeface="メイリオ"/>
            </a:endParaRPr>
          </a:p>
          <a:p>
            <a:pPr algn="ctr"/>
            <a:r>
              <a:rPr lang="ja-JP" altLang="en-US" sz="800" dirty="0">
                <a:solidFill>
                  <a:schemeClr val="tx1"/>
                </a:solidFill>
                <a:latin typeface="メイリオ"/>
              </a:rPr>
              <a:t>（</a:t>
            </a:r>
            <a:r>
              <a:rPr lang="en-US" altLang="ja-JP" sz="800" dirty="0">
                <a:solidFill>
                  <a:schemeClr val="tx1"/>
                </a:solidFill>
                <a:latin typeface="メイリオ"/>
              </a:rPr>
              <a:t>LINE</a:t>
            </a:r>
            <a:r>
              <a:rPr lang="ja-JP" altLang="en-US" sz="800" dirty="0">
                <a:solidFill>
                  <a:schemeClr val="tx1"/>
                </a:solidFill>
                <a:latin typeface="メイリオ"/>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9" y="6932236"/>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rPr>
              <a:t>長期</a:t>
            </a:r>
            <a:endParaRPr sz="1050" b="1" dirty="0">
              <a:solidFill>
                <a:srgbClr val="FFFFFF"/>
              </a:solidFill>
              <a:latin typeface="メイリオ"/>
            </a:endParaRPr>
          </a:p>
          <a:p>
            <a:pPr algn="ctr"/>
            <a:endParaRPr sz="1050" b="1" dirty="0">
              <a:solidFill>
                <a:srgbClr val="FFFFFF"/>
              </a:solidFill>
              <a:latin typeface="メイリオ"/>
            </a:endParaRPr>
          </a:p>
          <a:p>
            <a:pPr algn="ctr"/>
            <a:r>
              <a:rPr sz="850" b="0" dirty="0" err="1">
                <a:solidFill>
                  <a:srgbClr val="FFFFFF"/>
                </a:solidFill>
                <a:latin typeface="メイリオ"/>
              </a:rPr>
              <a:t>期間限定</a:t>
            </a:r>
            <a:r>
              <a:rPr sz="850" b="0" dirty="0">
                <a:solidFill>
                  <a:srgbClr val="FFFFFF"/>
                </a:solidFill>
                <a:latin typeface="メイリオ"/>
              </a:rPr>
              <a:t>
</a:t>
            </a:r>
            <a:r>
              <a:rPr sz="850" b="0" dirty="0" err="1">
                <a:solidFill>
                  <a:srgbClr val="FFFFFF"/>
                </a:solidFill>
                <a:latin typeface="メイリオ"/>
              </a:rPr>
              <a:t>買取強化CP</a:t>
            </a:r>
            <a:endParaRPr sz="850" b="0" dirty="0">
              <a:solidFill>
                <a:srgbClr val="FFFFFF"/>
              </a:solidFill>
              <a:latin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3" y="6932236"/>
            <a:ext cx="1185714"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rPr>
              <a:t>長期</a:t>
            </a:r>
          </a:p>
          <a:p>
            <a:pPr algn="ctr"/>
            <a:endParaRPr sz="1050" b="1" dirty="0">
              <a:solidFill>
                <a:srgbClr val="FFFFFF"/>
              </a:solidFill>
              <a:latin typeface="メイリオ"/>
            </a:endParaRPr>
          </a:p>
          <a:p>
            <a:pPr algn="ctr"/>
            <a:r>
              <a:rPr sz="850" b="0" dirty="0" err="1">
                <a:solidFill>
                  <a:srgbClr val="FFFFFF"/>
                </a:solidFill>
                <a:latin typeface="メイリオ"/>
              </a:rPr>
              <a:t>他品目クロス</a:t>
            </a:r>
            <a:r>
              <a:rPr sz="850" b="0" dirty="0">
                <a:solidFill>
                  <a:srgbClr val="FFFFFF"/>
                </a:solidFill>
                <a:latin typeface="メイリオ"/>
              </a:rPr>
              <a:t>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7" y="6572782"/>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rPr>
              <a:t>３</a:t>
            </a:r>
            <a:r>
              <a:rPr sz="1050" b="1" dirty="0" err="1">
                <a:solidFill>
                  <a:srgbClr val="FFFFFF"/>
                </a:solidFill>
                <a:latin typeface="メイリオ"/>
              </a:rPr>
              <a:t>日目</a:t>
            </a:r>
            <a:endParaRPr sz="1050" b="1" dirty="0">
              <a:solidFill>
                <a:srgbClr val="FFFFFF"/>
              </a:solidFill>
              <a:latin typeface="メイリオ"/>
            </a:endParaRPr>
          </a:p>
          <a:p>
            <a:pPr algn="ctr"/>
            <a:endParaRPr sz="1050" b="1" dirty="0">
              <a:solidFill>
                <a:srgbClr val="FFFFFF"/>
              </a:solidFill>
              <a:latin typeface="メイリオ"/>
            </a:endParaRPr>
          </a:p>
          <a:p>
            <a:pPr algn="ctr"/>
            <a:r>
              <a:rPr lang="ja-JP" altLang="en-US" sz="850" b="0" dirty="0">
                <a:solidFill>
                  <a:srgbClr val="FFFFFF"/>
                </a:solidFill>
                <a:latin typeface="メイリオ"/>
              </a:rPr>
              <a:t>自社ブランドの</a:t>
            </a:r>
            <a:endParaRPr lang="en-US" altLang="ja-JP" sz="850" b="0" dirty="0">
              <a:solidFill>
                <a:srgbClr val="FFFFFF"/>
              </a:solidFill>
              <a:latin typeface="メイリオ"/>
            </a:endParaRPr>
          </a:p>
          <a:p>
            <a:pPr algn="ctr"/>
            <a:r>
              <a:rPr lang="ja-JP" altLang="en-US" sz="850" dirty="0">
                <a:solidFill>
                  <a:srgbClr val="FFFFFF"/>
                </a:solidFill>
                <a:latin typeface="メイリオ"/>
              </a:rPr>
              <a:t>こだわり</a:t>
            </a:r>
            <a:endParaRPr lang="en-US" altLang="ja-JP" sz="850" dirty="0">
              <a:solidFill>
                <a:srgbClr val="FFFFFF"/>
              </a:solidFill>
              <a:latin typeface="メイリオ"/>
            </a:endParaRPr>
          </a:p>
          <a:p>
            <a:pPr algn="ctr"/>
            <a:r>
              <a:rPr lang="ja-JP" altLang="en-US" sz="850" b="0" dirty="0">
                <a:solidFill>
                  <a:srgbClr val="FFFFFF"/>
                </a:solidFill>
                <a:latin typeface="メイリオ"/>
              </a:rPr>
              <a:t>鑑定士のここがすごい</a:t>
            </a:r>
            <a:endParaRPr sz="850" b="0" dirty="0">
              <a:solidFill>
                <a:srgbClr val="FFFFFF"/>
              </a:solidFill>
              <a:latin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ステップ配信のブレスト</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37463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a:solidFill>
                  <a:srgbClr val="333333"/>
                </a:solidFill>
                <a:latin typeface="メイリオ"/>
              </a:rPr>
              <a:t>"手放すきっかけ"の繁忙期に合わせた企画配信で、査定申込のピークを創出する。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7" name="Rounded Rectangle 6"/>
          <p:cNvSpPr/>
          <p:nvPr/>
        </p:nvSpPr>
        <p:spPr>
          <a:xfrm>
            <a:off x="350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12月</a:t>
            </a:r>
          </a:p>
        </p:txBody>
      </p:sp>
      <p:sp>
        <p:nvSpPr>
          <p:cNvPr id="8" name="Rounded Rectangle 7"/>
          <p:cNvSpPr/>
          <p:nvPr/>
        </p:nvSpPr>
        <p:spPr>
          <a:xfrm>
            <a:off x="1116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1月</a:t>
            </a:r>
          </a:p>
        </p:txBody>
      </p:sp>
      <p:sp>
        <p:nvSpPr>
          <p:cNvPr id="9" name="Rounded Rectangle 8"/>
          <p:cNvSpPr/>
          <p:nvPr/>
        </p:nvSpPr>
        <p:spPr>
          <a:xfrm>
            <a:off x="1882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2月</a:t>
            </a:r>
          </a:p>
        </p:txBody>
      </p:sp>
      <p:sp>
        <p:nvSpPr>
          <p:cNvPr id="10" name="Rounded Rectangle 9"/>
          <p:cNvSpPr/>
          <p:nvPr/>
        </p:nvSpPr>
        <p:spPr>
          <a:xfrm>
            <a:off x="2648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3月</a:t>
            </a:r>
          </a:p>
        </p:txBody>
      </p:sp>
      <p:sp>
        <p:nvSpPr>
          <p:cNvPr id="11" name="Rounded Rectangle 10"/>
          <p:cNvSpPr/>
          <p:nvPr/>
        </p:nvSpPr>
        <p:spPr>
          <a:xfrm>
            <a:off x="3414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4月</a:t>
            </a:r>
          </a:p>
        </p:txBody>
      </p:sp>
      <p:sp>
        <p:nvSpPr>
          <p:cNvPr id="12" name="Rounded Rectangle 11"/>
          <p:cNvSpPr/>
          <p:nvPr/>
        </p:nvSpPr>
        <p:spPr>
          <a:xfrm>
            <a:off x="4180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5月</a:t>
            </a:r>
          </a:p>
        </p:txBody>
      </p:sp>
      <p:sp>
        <p:nvSpPr>
          <p:cNvPr id="13" name="Rounded Rectangle 12"/>
          <p:cNvSpPr/>
          <p:nvPr/>
        </p:nvSpPr>
        <p:spPr>
          <a:xfrm>
            <a:off x="4946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6月</a:t>
            </a:r>
          </a:p>
        </p:txBody>
      </p:sp>
      <p:sp>
        <p:nvSpPr>
          <p:cNvPr id="14" name="Rounded Rectangle 13"/>
          <p:cNvSpPr/>
          <p:nvPr/>
        </p:nvSpPr>
        <p:spPr>
          <a:xfrm>
            <a:off x="5712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7月</a:t>
            </a:r>
          </a:p>
        </p:txBody>
      </p:sp>
      <p:sp>
        <p:nvSpPr>
          <p:cNvPr id="15" name="Rounded Rectangle 14"/>
          <p:cNvSpPr/>
          <p:nvPr/>
        </p:nvSpPr>
        <p:spPr>
          <a:xfrm>
            <a:off x="6478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8月</a:t>
            </a:r>
          </a:p>
        </p:txBody>
      </p:sp>
      <p:sp>
        <p:nvSpPr>
          <p:cNvPr id="16" name="Rounded Rectangle 15"/>
          <p:cNvSpPr/>
          <p:nvPr/>
        </p:nvSpPr>
        <p:spPr>
          <a:xfrm>
            <a:off x="7244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9月</a:t>
            </a:r>
          </a:p>
        </p:txBody>
      </p:sp>
      <p:sp>
        <p:nvSpPr>
          <p:cNvPr id="17" name="Rounded Rectangle 16"/>
          <p:cNvSpPr/>
          <p:nvPr/>
        </p:nvSpPr>
        <p:spPr>
          <a:xfrm>
            <a:off x="8010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10月</a:t>
            </a:r>
          </a:p>
        </p:txBody>
      </p:sp>
      <p:sp>
        <p:nvSpPr>
          <p:cNvPr id="18" name="Rounded Rectangle 17"/>
          <p:cNvSpPr/>
          <p:nvPr/>
        </p:nvSpPr>
        <p:spPr>
          <a:xfrm>
            <a:off x="8776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11月</a:t>
            </a:r>
          </a:p>
        </p:txBody>
      </p:sp>
      <p:sp>
        <p:nvSpPr>
          <p:cNvPr id="19" name="Rounded Rectangle 18"/>
          <p:cNvSpPr/>
          <p:nvPr/>
        </p:nvSpPr>
        <p:spPr>
          <a:xfrm>
            <a:off x="350000" y="2400000"/>
            <a:ext cx="3816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1F3A5F"/>
                </a:solidFill>
                <a:latin typeface="メイリオ"/>
              </a:rPr>
              <a:t>12〜4月　片付け・引っ越し期</a:t>
            </a:r>
          </a:p>
          <a:p>
            <a:pPr algn="l"/>
            <a:r>
              <a:rPr sz="950" b="0">
                <a:solidFill>
                  <a:srgbClr val="333333"/>
                </a:solidFill>
                <a:latin typeface="メイリオ"/>
              </a:rPr>
              <a:t>・大掃除・年末年始の不用品</a:t>
            </a:r>
          </a:p>
          <a:p>
            <a:pPr algn="l"/>
            <a:r>
              <a:rPr sz="950" b="0">
                <a:solidFill>
                  <a:srgbClr val="333333"/>
                </a:solidFill>
                <a:latin typeface="メイリオ"/>
              </a:rPr>
              <a:t>・引っ越し／新生活／実家じまい</a:t>
            </a:r>
          </a:p>
          <a:p>
            <a:pPr algn="l"/>
            <a:r>
              <a:rPr sz="950" b="0">
                <a:solidFill>
                  <a:srgbClr val="333333"/>
                </a:solidFill>
                <a:latin typeface="メイリオ"/>
              </a:rPr>
              <a:t>・まとめ査定キャンペーン</a:t>
            </a:r>
          </a:p>
        </p:txBody>
      </p:sp>
      <p:sp>
        <p:nvSpPr>
          <p:cNvPr id="20" name="Rounded Rectangle 19"/>
          <p:cNvSpPr/>
          <p:nvPr/>
        </p:nvSpPr>
        <p:spPr>
          <a:xfrm>
            <a:off x="4180000" y="2400000"/>
            <a:ext cx="3050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06C755"/>
                </a:solidFill>
                <a:latin typeface="メイリオ"/>
              </a:rPr>
              <a:t>5〜8月　衣替え・夏の断捨離</a:t>
            </a:r>
          </a:p>
          <a:p>
            <a:pPr algn="l"/>
            <a:r>
              <a:rPr sz="950" b="0">
                <a:solidFill>
                  <a:srgbClr val="333333"/>
                </a:solidFill>
                <a:latin typeface="メイリオ"/>
              </a:rPr>
              <a:t>・衣替えで出る不用品</a:t>
            </a:r>
          </a:p>
          <a:p>
            <a:pPr algn="l"/>
            <a:r>
              <a:rPr sz="950" b="0">
                <a:solidFill>
                  <a:srgbClr val="333333"/>
                </a:solidFill>
                <a:latin typeface="メイリオ"/>
              </a:rPr>
              <a:t>・夏の断捨離・大掃除</a:t>
            </a:r>
          </a:p>
          <a:p>
            <a:pPr algn="l"/>
            <a:r>
              <a:rPr sz="950" b="0">
                <a:solidFill>
                  <a:srgbClr val="333333"/>
                </a:solidFill>
                <a:latin typeface="メイリオ"/>
              </a:rPr>
              <a:t>・季節家電の買い替え</a:t>
            </a:r>
          </a:p>
        </p:txBody>
      </p:sp>
      <p:sp>
        <p:nvSpPr>
          <p:cNvPr id="21" name="Rounded Rectangle 20"/>
          <p:cNvSpPr/>
          <p:nvPr/>
        </p:nvSpPr>
        <p:spPr>
          <a:xfrm>
            <a:off x="7244000" y="2400000"/>
            <a:ext cx="2284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24345A"/>
                </a:solidFill>
                <a:latin typeface="メイリオ"/>
              </a:rPr>
              <a:t>9〜11月＋通年　相続・終活</a:t>
            </a:r>
          </a:p>
          <a:p>
            <a:pPr algn="l"/>
            <a:r>
              <a:rPr sz="950" b="0">
                <a:solidFill>
                  <a:srgbClr val="333333"/>
                </a:solidFill>
                <a:latin typeface="メイリオ"/>
              </a:rPr>
              <a:t>・相続・遺品整理</a:t>
            </a:r>
          </a:p>
          <a:p>
            <a:pPr algn="l"/>
            <a:r>
              <a:rPr sz="950" b="0">
                <a:solidFill>
                  <a:srgbClr val="333333"/>
                </a:solidFill>
                <a:latin typeface="メイリオ"/>
              </a:rPr>
              <a:t>・終活・生前整理</a:t>
            </a:r>
          </a:p>
          <a:p>
            <a:pPr algn="l"/>
            <a:r>
              <a:rPr sz="950" b="0">
                <a:solidFill>
                  <a:srgbClr val="333333"/>
                </a:solidFill>
                <a:latin typeface="メイリオ"/>
              </a:rPr>
              <a:t>・年末に向けた早めの査定</a:t>
            </a:r>
          </a:p>
        </p:txBody>
      </p:sp>
      <p:sp>
        <p:nvSpPr>
          <p:cNvPr id="22" name="TextBox 21"/>
          <p:cNvSpPr txBox="1"/>
          <p:nvPr/>
        </p:nvSpPr>
        <p:spPr>
          <a:xfrm>
            <a:off x="350000" y="6480000"/>
            <a:ext cx="9200000" cy="280000"/>
          </a:xfrm>
          <a:prstGeom prst="rect">
            <a:avLst/>
          </a:prstGeom>
          <a:noFill/>
        </p:spPr>
        <p:txBody>
          <a:bodyPr wrap="square">
            <a:spAutoFit/>
          </a:bodyPr>
          <a:lstStyle/>
          <a:p>
            <a:r>
              <a:rPr sz="900">
                <a:solidFill>
                  <a:srgbClr val="555555"/>
                </a:solidFill>
                <a:latin typeface="メイリオ"/>
              </a:rPr>
              <a:t>※ 季節区分・企画は生活行動に基づく想定。検索データ・実績に合わせて最適化します。</a:t>
            </a:r>
          </a:p>
        </p:txBody>
      </p:sp>
      <p:sp>
        <p:nvSpPr>
          <p:cNvPr id="23" name="TextBox 22"/>
          <p:cNvSpPr txBox="1"/>
          <p:nvPr/>
        </p:nvSpPr>
        <p:spPr>
          <a:xfrm>
            <a:off x="350000" y="4480000"/>
            <a:ext cx="6000000" cy="300000"/>
          </a:xfrm>
          <a:prstGeom prst="rect">
            <a:avLst/>
          </a:prstGeom>
          <a:noFill/>
        </p:spPr>
        <p:txBody>
          <a:bodyPr wrap="square">
            <a:spAutoFit/>
          </a:bodyPr>
          <a:lstStyle/>
          <a:p>
            <a:r>
              <a:rPr sz="1200" b="1">
                <a:solidFill>
                  <a:srgbClr val="1F3A5F"/>
                </a:solidFill>
                <a:latin typeface="メイリオ"/>
              </a:rPr>
              <a:t>配信運用のリズム（システム化：いつ・何を投稿するか）</a:t>
            </a:r>
          </a:p>
        </p:txBody>
      </p:sp>
      <p:sp>
        <p:nvSpPr>
          <p:cNvPr id="24" name="Rounded Rectangle 23"/>
          <p:cNvSpPr/>
          <p:nvPr/>
        </p:nvSpPr>
        <p:spPr>
          <a:xfrm>
            <a:off x="35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050" b="1" dirty="0">
                <a:solidFill>
                  <a:srgbClr val="1F3A5F"/>
                </a:solidFill>
                <a:latin typeface="メイリオ"/>
              </a:rPr>
              <a:t>月</a:t>
            </a:r>
            <a:r>
              <a:rPr lang="en-US" altLang="ja-JP" sz="1050" b="1" dirty="0">
                <a:solidFill>
                  <a:srgbClr val="1F3A5F"/>
                </a:solidFill>
                <a:latin typeface="メイリオ"/>
              </a:rPr>
              <a:t>4</a:t>
            </a:r>
            <a:r>
              <a:rPr sz="1050" b="1" dirty="0">
                <a:solidFill>
                  <a:srgbClr val="1F3A5F"/>
                </a:solidFill>
                <a:latin typeface="メイリオ"/>
              </a:rPr>
              <a:t>回：定期投稿</a:t>
            </a:r>
          </a:p>
          <a:p>
            <a:pPr algn="l"/>
            <a:endParaRPr sz="1050" b="1" dirty="0">
              <a:solidFill>
                <a:srgbClr val="1F3A5F"/>
              </a:solidFill>
              <a:latin typeface="メイリオ"/>
            </a:endParaRPr>
          </a:p>
          <a:p>
            <a:pPr algn="l"/>
            <a:r>
              <a:rPr sz="900" b="0" dirty="0" err="1">
                <a:solidFill>
                  <a:srgbClr val="333333"/>
                </a:solidFill>
                <a:latin typeface="メイリオ"/>
              </a:rPr>
              <a:t>月次プランで「いつ・何を」を事前確定し、システム化して運用</a:t>
            </a:r>
            <a:endParaRPr sz="900" b="0" dirty="0">
              <a:solidFill>
                <a:srgbClr val="333333"/>
              </a:solidFill>
              <a:latin typeface="メイリオ"/>
            </a:endParaRPr>
          </a:p>
        </p:txBody>
      </p:sp>
      <p:sp>
        <p:nvSpPr>
          <p:cNvPr id="25" name="Rounded Rectangle 24"/>
          <p:cNvSpPr/>
          <p:nvPr/>
        </p:nvSpPr>
        <p:spPr>
          <a:xfrm>
            <a:off x="268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時期・時事の特別配信</a:t>
            </a:r>
          </a:p>
          <a:p>
            <a:pPr algn="l"/>
            <a:endParaRPr sz="1050" b="1">
              <a:solidFill>
                <a:srgbClr val="1F3A5F"/>
              </a:solidFill>
              <a:latin typeface="メイリオ"/>
            </a:endParaRPr>
          </a:p>
          <a:p>
            <a:pPr algn="l"/>
            <a:r>
              <a:rPr sz="900" b="0">
                <a:solidFill>
                  <a:srgbClr val="333333"/>
                </a:solidFill>
                <a:latin typeface="メイリオ"/>
              </a:rPr>
              <a:t>繁忙期CP、相場や時事ニュースに連動した配信を追加</a:t>
            </a:r>
          </a:p>
        </p:txBody>
      </p:sp>
      <p:sp>
        <p:nvSpPr>
          <p:cNvPr id="26" name="Rounded Rectangle 25"/>
          <p:cNvSpPr/>
          <p:nvPr/>
        </p:nvSpPr>
        <p:spPr>
          <a:xfrm>
            <a:off x="501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ステップ配信は全自動</a:t>
            </a:r>
          </a:p>
          <a:p>
            <a:pPr algn="l"/>
            <a:endParaRPr sz="1050" b="1">
              <a:solidFill>
                <a:srgbClr val="1F3A5F"/>
              </a:solidFill>
              <a:latin typeface="メイリオ"/>
            </a:endParaRPr>
          </a:p>
          <a:p>
            <a:pPr algn="l"/>
            <a:r>
              <a:rPr sz="900" b="0">
                <a:solidFill>
                  <a:srgbClr val="333333"/>
                </a:solidFill>
                <a:latin typeface="メイリオ"/>
              </a:rPr>
              <a:t>友だち追加後の育成配信はシナリオで常時稼働</a:t>
            </a:r>
          </a:p>
        </p:txBody>
      </p:sp>
      <p:sp>
        <p:nvSpPr>
          <p:cNvPr id="27" name="Rounded Rectangle 26"/>
          <p:cNvSpPr/>
          <p:nvPr/>
        </p:nvSpPr>
        <p:spPr>
          <a:xfrm>
            <a:off x="734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クリエイティブABテスト</a:t>
            </a:r>
          </a:p>
          <a:p>
            <a:pPr algn="l"/>
            <a:endParaRPr sz="1050" b="1">
              <a:solidFill>
                <a:srgbClr val="1F3A5F"/>
              </a:solidFill>
              <a:latin typeface="メイリオ"/>
            </a:endParaRPr>
          </a:p>
          <a:p>
            <a:pPr algn="l"/>
            <a:r>
              <a:rPr sz="900" b="0">
                <a:solidFill>
                  <a:srgbClr val="333333"/>
                </a:solidFill>
                <a:latin typeface="メイリオ"/>
              </a:rPr>
              <a:t>商材×訴求×時期でテストし、勝ちパターンを更新</a:t>
            </a:r>
          </a:p>
        </p:txBody>
      </p:sp>
    </p:spTree>
    <p:extLst>
      <p:ext uri="{BB962C8B-B14F-4D97-AF65-F5344CB8AC3E}">
        <p14:creationId xmlns:p14="http://schemas.microsoft.com/office/powerpoint/2010/main" val="3225074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a:solidFill>
                  <a:srgbClr val="333333"/>
                </a:solidFill>
                <a:latin typeface="メイリオ"/>
              </a:rPr>
              <a:t>非友だち・保有リストにも接点を作り（通知メッセ）、参加型の企画で友だちとCVを両取りする。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7" name="TextBox 6"/>
          <p:cNvSpPr txBox="1"/>
          <p:nvPr/>
        </p:nvSpPr>
        <p:spPr>
          <a:xfrm>
            <a:off x="350000" y="1650000"/>
            <a:ext cx="4400000" cy="280000"/>
          </a:xfrm>
          <a:prstGeom prst="rect">
            <a:avLst/>
          </a:prstGeom>
          <a:noFill/>
        </p:spPr>
        <p:txBody>
          <a:bodyPr wrap="square">
            <a:spAutoFit/>
          </a:bodyPr>
          <a:lstStyle/>
          <a:p>
            <a:pPr algn="l"/>
            <a:r>
              <a:rPr sz="1100" b="1">
                <a:solidFill>
                  <a:srgbClr val="1F3A5F"/>
                </a:solidFill>
                <a:latin typeface="メイリオ"/>
              </a:rPr>
              <a:t>■ 通知メッセージ 利用シーン</a:t>
            </a:r>
          </a:p>
        </p:txBody>
      </p:sp>
      <p:sp>
        <p:nvSpPr>
          <p:cNvPr id="8" name="Rounded Rectangle 7"/>
          <p:cNvSpPr/>
          <p:nvPr/>
        </p:nvSpPr>
        <p:spPr>
          <a:xfrm>
            <a:off x="35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査定完了のお知らせ</a:t>
            </a:r>
          </a:p>
          <a:p>
            <a:pPr algn="ctr"/>
            <a:endParaRPr sz="1000" b="1">
              <a:solidFill>
                <a:srgbClr val="1F3A5F"/>
              </a:solidFill>
              <a:latin typeface="メイリオ"/>
            </a:endParaRPr>
          </a:p>
          <a:p>
            <a:pPr algn="ctr"/>
            <a:r>
              <a:rPr sz="850" b="0">
                <a:solidFill>
                  <a:srgbClr val="333333"/>
                </a:solidFill>
                <a:latin typeface="メイリオ"/>
              </a:rPr>
              <a:t>査定額連絡→買取(CV②)へ</a:t>
            </a:r>
          </a:p>
        </p:txBody>
      </p:sp>
      <p:sp>
        <p:nvSpPr>
          <p:cNvPr id="9" name="Rounded Rectangle 8"/>
          <p:cNvSpPr/>
          <p:nvPr/>
        </p:nvSpPr>
        <p:spPr>
          <a:xfrm>
            <a:off x="273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買取代金 入金通知</a:t>
            </a:r>
          </a:p>
          <a:p>
            <a:pPr algn="ctr"/>
            <a:endParaRPr sz="1000" b="1">
              <a:solidFill>
                <a:srgbClr val="1F3A5F"/>
              </a:solidFill>
              <a:latin typeface="メイリオ"/>
            </a:endParaRPr>
          </a:p>
          <a:p>
            <a:pPr algn="ctr"/>
            <a:r>
              <a:rPr sz="850" b="0">
                <a:solidFill>
                  <a:srgbClr val="333333"/>
                </a:solidFill>
                <a:latin typeface="メイリオ"/>
              </a:rPr>
              <a:t>満足度UP・再依頼(CV③)</a:t>
            </a:r>
          </a:p>
        </p:txBody>
      </p:sp>
      <p:sp>
        <p:nvSpPr>
          <p:cNvPr id="10" name="Rounded Rectangle 9"/>
          <p:cNvSpPr/>
          <p:nvPr/>
        </p:nvSpPr>
        <p:spPr>
          <a:xfrm>
            <a:off x="511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出張査定 前日リマインド</a:t>
            </a:r>
          </a:p>
          <a:p>
            <a:pPr algn="ctr"/>
            <a:endParaRPr sz="1000" b="1">
              <a:solidFill>
                <a:srgbClr val="1F3A5F"/>
              </a:solidFill>
              <a:latin typeface="メイリオ"/>
            </a:endParaRPr>
          </a:p>
          <a:p>
            <a:pPr algn="ctr"/>
            <a:r>
              <a:rPr sz="850" b="0">
                <a:solidFill>
                  <a:srgbClr val="333333"/>
                </a:solidFill>
                <a:latin typeface="メイリオ"/>
              </a:rPr>
              <a:t>当日キャンセル防止</a:t>
            </a:r>
          </a:p>
        </p:txBody>
      </p:sp>
      <p:sp>
        <p:nvSpPr>
          <p:cNvPr id="11" name="Rounded Rectangle 10"/>
          <p:cNvSpPr/>
          <p:nvPr/>
        </p:nvSpPr>
        <p:spPr>
          <a:xfrm>
            <a:off x="749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買取強化CP告知</a:t>
            </a:r>
          </a:p>
          <a:p>
            <a:pPr algn="ctr"/>
            <a:endParaRPr sz="1000" b="1">
              <a:solidFill>
                <a:srgbClr val="1F3A5F"/>
              </a:solidFill>
              <a:latin typeface="メイリオ"/>
            </a:endParaRPr>
          </a:p>
          <a:p>
            <a:pPr algn="ctr"/>
            <a:r>
              <a:rPr sz="850" b="0">
                <a:solidFill>
                  <a:srgbClr val="333333"/>
                </a:solidFill>
                <a:latin typeface="メイリオ"/>
              </a:rPr>
              <a:t>保有リストへ再アプローチ</a:t>
            </a:r>
          </a:p>
        </p:txBody>
      </p:sp>
      <p:sp>
        <p:nvSpPr>
          <p:cNvPr id="12" name="TextBox 11"/>
          <p:cNvSpPr txBox="1"/>
          <p:nvPr/>
        </p:nvSpPr>
        <p:spPr>
          <a:xfrm>
            <a:off x="350000" y="3200000"/>
            <a:ext cx="4400000" cy="261610"/>
          </a:xfrm>
          <a:prstGeom prst="rect">
            <a:avLst/>
          </a:prstGeom>
          <a:noFill/>
        </p:spPr>
        <p:txBody>
          <a:bodyPr wrap="square">
            <a:spAutoFit/>
          </a:bodyPr>
          <a:lstStyle/>
          <a:p>
            <a:pPr algn="l"/>
            <a:r>
              <a:rPr sz="1100" b="1" dirty="0">
                <a:solidFill>
                  <a:srgbClr val="1F3A5F"/>
                </a:solidFill>
                <a:latin typeface="メイリオ"/>
              </a:rPr>
              <a:t>■ </a:t>
            </a:r>
            <a:r>
              <a:rPr lang="ja-JP" altLang="en-US" sz="1100" b="1" dirty="0">
                <a:solidFill>
                  <a:srgbClr val="1F3A5F"/>
                </a:solidFill>
                <a:latin typeface="メイリオ"/>
              </a:rPr>
              <a:t>その他特殊動線の利用シーン</a:t>
            </a:r>
            <a:endParaRPr sz="1100" b="1" dirty="0">
              <a:solidFill>
                <a:srgbClr val="1F3A5F"/>
              </a:solidFill>
              <a:latin typeface="メイリオ"/>
            </a:endParaRPr>
          </a:p>
        </p:txBody>
      </p:sp>
      <p:sp>
        <p:nvSpPr>
          <p:cNvPr id="13" name="Rounded Rectangle 12"/>
          <p:cNvSpPr/>
          <p:nvPr/>
        </p:nvSpPr>
        <p:spPr>
          <a:xfrm>
            <a:off x="35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① 写真1枚→AI簡易査定</a:t>
            </a:r>
          </a:p>
          <a:p>
            <a:pPr algn="ctr"/>
            <a:endParaRPr sz="950" b="1">
              <a:solidFill>
                <a:srgbClr val="FFFFFF"/>
              </a:solidFill>
              <a:latin typeface="メイリオ"/>
            </a:endParaRPr>
          </a:p>
          <a:p>
            <a:pPr algn="ctr"/>
            <a:r>
              <a:rPr sz="850" b="0">
                <a:solidFill>
                  <a:srgbClr val="FFFFFF"/>
                </a:solidFill>
                <a:latin typeface="メイリオ"/>
              </a:rPr>
              <a:t>LINEで写真を送るだけ。心理ハードルを最小化</a:t>
            </a:r>
          </a:p>
        </p:txBody>
      </p:sp>
      <p:sp>
        <p:nvSpPr>
          <p:cNvPr id="14" name="Rounded Rectangle 13"/>
          <p:cNvSpPr/>
          <p:nvPr/>
        </p:nvSpPr>
        <p:spPr>
          <a:xfrm>
            <a:off x="273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② 「まとめ査定」診断</a:t>
            </a:r>
          </a:p>
          <a:p>
            <a:pPr algn="ctr"/>
            <a:endParaRPr sz="950" b="1">
              <a:solidFill>
                <a:srgbClr val="FFFFFF"/>
              </a:solidFill>
              <a:latin typeface="メイリオ"/>
            </a:endParaRPr>
          </a:p>
          <a:p>
            <a:pPr algn="ctr"/>
            <a:r>
              <a:rPr sz="850" b="0">
                <a:solidFill>
                  <a:srgbClr val="FFFFFF"/>
                </a:solidFill>
                <a:latin typeface="メイリオ"/>
              </a:rPr>
              <a:t>数問で"いくら？"提示→査定予約へ</a:t>
            </a:r>
          </a:p>
        </p:txBody>
      </p:sp>
      <p:sp>
        <p:nvSpPr>
          <p:cNvPr id="15" name="Rounded Rectangle 14"/>
          <p:cNvSpPr/>
          <p:nvPr/>
        </p:nvSpPr>
        <p:spPr>
          <a:xfrm>
            <a:off x="511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③ 買取金額 予想クイズ</a:t>
            </a:r>
          </a:p>
          <a:p>
            <a:pPr algn="ctr"/>
            <a:endParaRPr sz="950" b="1">
              <a:solidFill>
                <a:srgbClr val="FFFFFF"/>
              </a:solidFill>
              <a:latin typeface="メイリオ"/>
            </a:endParaRPr>
          </a:p>
          <a:p>
            <a:pPr algn="ctr"/>
            <a:r>
              <a:rPr sz="850" b="0">
                <a:solidFill>
                  <a:srgbClr val="FFFFFF"/>
                </a:solidFill>
                <a:latin typeface="メイリオ"/>
              </a:rPr>
              <a:t>参加型で拡散＋友だち獲得</a:t>
            </a:r>
          </a:p>
        </p:txBody>
      </p:sp>
      <p:sp>
        <p:nvSpPr>
          <p:cNvPr id="16" name="Rounded Rectangle 15"/>
          <p:cNvSpPr/>
          <p:nvPr/>
        </p:nvSpPr>
        <p:spPr>
          <a:xfrm>
            <a:off x="749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④ 相続・終活セミナー配信</a:t>
            </a:r>
          </a:p>
          <a:p>
            <a:pPr algn="ctr"/>
            <a:endParaRPr sz="950" b="1">
              <a:solidFill>
                <a:srgbClr val="FFFFFF"/>
              </a:solidFill>
              <a:latin typeface="メイリオ"/>
            </a:endParaRPr>
          </a:p>
          <a:p>
            <a:pPr algn="ctr"/>
            <a:r>
              <a:rPr sz="850" b="0">
                <a:solidFill>
                  <a:srgbClr val="FFFFFF"/>
                </a:solidFill>
                <a:latin typeface="メイリオ"/>
              </a:rPr>
              <a:t>高単価案件の入口に</a:t>
            </a:r>
          </a:p>
        </p:txBody>
      </p:sp>
    </p:spTree>
    <p:extLst>
      <p:ext uri="{BB962C8B-B14F-4D97-AF65-F5344CB8AC3E}">
        <p14:creationId xmlns:p14="http://schemas.microsoft.com/office/powerpoint/2010/main" val="4224870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④査定</a:t>
            </a:r>
            <a:r>
              <a:rPr lang="en-US" altLang="ja-JP" sz="900" b="1" dirty="0">
                <a:latin typeface="メイリオ" panose="020B0604030504040204" pitchFamily="50" charset="-128"/>
                <a:ea typeface="メイリオ" panose="020B0604030504040204" pitchFamily="50" charset="-128"/>
              </a:rPr>
              <a:t>(LINE)</a:t>
            </a: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⑦買取の成立</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⑧他商品の査定・友だち紹介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ネットワーク内回遊</a:t>
            </a:r>
            <a:r>
              <a:rPr lang="ja-JP" altLang="en-US" sz="800" b="1" dirty="0">
                <a:solidFill>
                  <a:schemeClr val="bg1"/>
                </a:solidFill>
                <a:latin typeface="メイリオ" panose="020B0604030504040204" pitchFamily="50" charset="-128"/>
                <a:ea typeface="メイリオ" panose="020B0604030504040204" pitchFamily="50" charset="-128"/>
              </a:rPr>
              <a:t>（トレカ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④査定</a:t>
            </a:r>
            <a:r>
              <a:rPr lang="en-US" altLang="ja-JP" sz="900" b="1" dirty="0">
                <a:latin typeface="メイリオ" panose="020B0604030504040204" pitchFamily="50" charset="-128"/>
                <a:ea typeface="メイリオ" panose="020B0604030504040204" pitchFamily="50" charset="-128"/>
              </a:rPr>
              <a:t>(WEB)</a:t>
            </a: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⑦買取の成立</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来店・買取依頼</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⑧他商品の査定・友だち紹介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ネットワーク内回遊</a:t>
            </a:r>
            <a:r>
              <a:rPr lang="ja-JP" altLang="en-US" sz="800" b="1" dirty="0">
                <a:solidFill>
                  <a:schemeClr val="bg1"/>
                </a:solidFill>
                <a:latin typeface="メイリオ" panose="020B0604030504040204" pitchFamily="50" charset="-128"/>
                <a:ea typeface="メイリオ" panose="020B0604030504040204" pitchFamily="50" charset="-128"/>
              </a:rPr>
              <a:t>（トレカ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正方形/長方形 103">
            <a:extLst>
              <a:ext uri="{FF2B5EF4-FFF2-40B4-BE49-F238E27FC236}">
                <a16:creationId xmlns:a16="http://schemas.microsoft.com/office/drawing/2014/main" id="{FEDCBEDF-3AA0-5304-246A-9DE0FEF053CC}"/>
              </a:ext>
            </a:extLst>
          </p:cNvPr>
          <p:cNvSpPr/>
          <p:nvPr/>
        </p:nvSpPr>
        <p:spPr>
          <a:xfrm>
            <a:off x="7323909" y="3811717"/>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423615" y="2848236"/>
            <a:ext cx="2279014"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a:t>
            </a:r>
            <a:r>
              <a:rPr lang="ja-JP" altLang="en-US" sz="1050" b="1" dirty="0">
                <a:solidFill>
                  <a:srgbClr val="FF0000"/>
                </a:solidFill>
                <a:latin typeface="メイリオ" panose="020B0604030504040204" pitchFamily="50" charset="-128"/>
                <a:ea typeface="メイリオ" panose="020B0604030504040204" pitchFamily="50" charset="-128"/>
                <a:sym typeface="Meiryo"/>
              </a:rPr>
              <a:t>で簡単査定</a:t>
            </a:r>
            <a:r>
              <a:rPr lang="en-US" altLang="ja-JP" sz="1050" b="1" dirty="0">
                <a:solidFill>
                  <a:srgbClr val="FF0000"/>
                </a:solidFill>
                <a:latin typeface="メイリオ" panose="020B0604030504040204" pitchFamily="50" charset="-128"/>
                <a:ea typeface="メイリオ" panose="020B0604030504040204" pitchFamily="50" charset="-128"/>
                <a:sym typeface="Meiryo"/>
              </a:rPr>
              <a:t>]</a:t>
            </a:r>
            <a:r>
              <a:rPr lang="ja-JP" altLang="en-US" sz="1050" b="1" dirty="0">
                <a:solidFill>
                  <a:srgbClr val="FF0000"/>
                </a:solidFill>
                <a:latin typeface="メイリオ" panose="020B0604030504040204" pitchFamily="50" charset="-128"/>
                <a:ea typeface="メイリオ" panose="020B0604030504040204" pitchFamily="50" charset="-128"/>
                <a:sym typeface="Meiryo"/>
              </a:rPr>
              <a:t> </a:t>
            </a:r>
            <a:r>
              <a:rPr lang="ja-JP" altLang="en-US" sz="1050" dirty="0">
                <a:solidFill>
                  <a:srgbClr val="FF0000"/>
                </a:solidFill>
                <a:latin typeface="メイリオ" panose="020B0604030504040204" pitchFamily="50" charset="-128"/>
                <a:ea typeface="メイリオ" panose="020B0604030504040204" pitchFamily="50" charset="-128"/>
                <a:sym typeface="Meiryo"/>
              </a:rPr>
              <a:t>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01976" y="3640541"/>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査定完了</a:t>
            </a:r>
            <a:r>
              <a:rPr lang="en-US" altLang="ja-JP" sz="1050" b="1" dirty="0">
                <a:solidFill>
                  <a:srgbClr val="FF0000"/>
                </a:solidFill>
                <a:latin typeface="メイリオ" panose="020B0604030504040204" pitchFamily="50" charset="-128"/>
                <a:ea typeface="メイリオ" panose="020B0604030504040204" pitchFamily="50" charset="-128"/>
                <a:sym typeface="Meiryo"/>
              </a:rPr>
              <a:t>/</a:t>
            </a:r>
            <a:r>
              <a:rPr lang="ja-JP" altLang="en-US" sz="1050" b="1" dirty="0">
                <a:solidFill>
                  <a:srgbClr val="FF0000"/>
                </a:solidFill>
                <a:latin typeface="メイリオ" panose="020B0604030504040204" pitchFamily="50" charset="-128"/>
                <a:ea typeface="メイリオ" panose="020B0604030504040204" pitchFamily="50" charset="-128"/>
                <a:sym typeface="Meiryo"/>
              </a:rPr>
              <a:t>買取依頼 </a:t>
            </a:r>
            <a:r>
              <a:rPr lang="ja-JP" altLang="en-US" sz="1050" dirty="0">
                <a:solidFill>
                  <a:srgbClr val="FF0000"/>
                </a:solidFill>
                <a:latin typeface="メイリオ" panose="020B0604030504040204" pitchFamily="50" charset="-128"/>
                <a:ea typeface="メイリオ" panose="020B0604030504040204" pitchFamily="50" charset="-128"/>
                <a:sym typeface="Meiryo"/>
              </a:rPr>
              <a:t>から</a:t>
            </a:r>
            <a:endParaRPr lang="ja-JP" altLang="en-US" sz="1100" dirty="0">
              <a:solidFill>
                <a:srgbClr val="FF0000"/>
              </a:solidFill>
            </a:endParaRPr>
          </a:p>
        </p:txBody>
      </p:sp>
    </p:spTree>
    <p:extLst>
      <p:ext uri="{BB962C8B-B14F-4D97-AF65-F5344CB8AC3E}">
        <p14:creationId xmlns:p14="http://schemas.microsoft.com/office/powerpoint/2010/main" val="2299358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dirty="0">
                <a:solidFill>
                  <a:srgbClr val="333333"/>
                </a:solidFill>
                <a:latin typeface="メイリオ"/>
              </a:rPr>
              <a:t>「</a:t>
            </a:r>
            <a:r>
              <a:rPr sz="1200" b="0" dirty="0" err="1">
                <a:solidFill>
                  <a:srgbClr val="333333"/>
                </a:solidFill>
                <a:latin typeface="メイリオ"/>
              </a:rPr>
              <a:t>ターゲット</a:t>
            </a:r>
            <a:r>
              <a:rPr sz="1200" b="0" dirty="0">
                <a:solidFill>
                  <a:srgbClr val="333333"/>
                </a:solidFill>
                <a:latin typeface="メイリオ"/>
              </a:rPr>
              <a:t> × </a:t>
            </a:r>
            <a:r>
              <a:rPr sz="1200" b="0" dirty="0" err="1">
                <a:solidFill>
                  <a:srgbClr val="333333"/>
                </a:solidFill>
                <a:latin typeface="メイリオ"/>
              </a:rPr>
              <a:t>ステップ」を軸にした構成</a:t>
            </a:r>
            <a:r>
              <a:rPr sz="1200" b="0" dirty="0">
                <a:solidFill>
                  <a:srgbClr val="333333"/>
                </a:solidFill>
                <a:latin typeface="メイリオ"/>
              </a:rPr>
              <a:t>。◯</a:t>
            </a:r>
            <a:r>
              <a:rPr sz="1200" b="0" dirty="0" err="1">
                <a:solidFill>
                  <a:srgbClr val="333333"/>
                </a:solidFill>
                <a:latin typeface="メイリオ"/>
              </a:rPr>
              <a:t>の数は貴社の商材数・リスト規模に合わせて確定します</a:t>
            </a:r>
            <a:r>
              <a:rPr sz="1200" b="0" dirty="0">
                <a:solidFill>
                  <a:srgbClr val="333333"/>
                </a:solidFill>
                <a:latin typeface="メイリオ"/>
              </a:rPr>
              <a:t>。</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ご提供プラン（運用構成）</a:t>
            </a:r>
            <a:endParaRPr sz="1600" b="1" dirty="0">
              <a:solidFill>
                <a:srgbClr val="002060"/>
              </a:solidFill>
              <a:latin typeface="Meiryo"/>
              <a:ea typeface="Meiryo"/>
              <a:cs typeface="Meiryo"/>
              <a:sym typeface="Meiryo"/>
            </a:endParaRPr>
          </a:p>
        </p:txBody>
      </p:sp>
      <p:sp>
        <p:nvSpPr>
          <p:cNvPr id="46" name="Rounded Rectangle 45"/>
          <p:cNvSpPr/>
          <p:nvPr/>
        </p:nvSpPr>
        <p:spPr>
          <a:xfrm>
            <a:off x="350000" y="1560000"/>
            <a:ext cx="43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運用構成（貴社に合わせて確定）</a:t>
            </a:r>
          </a:p>
        </p:txBody>
      </p:sp>
      <p:sp>
        <p:nvSpPr>
          <p:cNvPr id="47" name="Rounded Rectangle 46"/>
          <p:cNvSpPr/>
          <p:nvPr/>
        </p:nvSpPr>
        <p:spPr>
          <a:xfrm>
            <a:off x="350000" y="19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ターゲット：◯ 個</a:t>
            </a:r>
          </a:p>
          <a:p>
            <a:pPr algn="l"/>
            <a:r>
              <a:rPr sz="950" b="0">
                <a:solidFill>
                  <a:srgbClr val="333333"/>
                </a:solidFill>
                <a:latin typeface="メイリオ"/>
              </a:rPr>
              <a:t>二軸アンケート（配信頻度×商材）で分類</a:t>
            </a:r>
          </a:p>
          <a:p>
            <a:pPr algn="l"/>
            <a:r>
              <a:rPr sz="900" b="0">
                <a:solidFill>
                  <a:srgbClr val="555555"/>
                </a:solidFill>
                <a:latin typeface="メイリオ"/>
              </a:rPr>
              <a:t>例：3個｜「今すぐ売りたい/相場を知りたい/まとめて処分」</a:t>
            </a:r>
          </a:p>
        </p:txBody>
      </p:sp>
      <p:sp>
        <p:nvSpPr>
          <p:cNvPr id="48" name="Rounded Rectangle 47"/>
          <p:cNvSpPr/>
          <p:nvPr/>
        </p:nvSpPr>
        <p:spPr>
          <a:xfrm>
            <a:off x="350000" y="308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ステップ配信：各◯ 通 × ◯ セット</a:t>
            </a:r>
          </a:p>
          <a:p>
            <a:pPr algn="l"/>
            <a:r>
              <a:rPr sz="950" b="0">
                <a:solidFill>
                  <a:srgbClr val="333333"/>
                </a:solidFill>
                <a:latin typeface="メイリオ"/>
              </a:rPr>
              <a:t>ターゲット別シナリオを全自動で稼働</a:t>
            </a:r>
          </a:p>
          <a:p>
            <a:pPr algn="l"/>
            <a:r>
              <a:rPr sz="900" b="0">
                <a:solidFill>
                  <a:srgbClr val="555555"/>
                </a:solidFill>
                <a:latin typeface="メイリオ"/>
              </a:rPr>
              <a:t>例：6通×3セット＝18通</a:t>
            </a:r>
          </a:p>
        </p:txBody>
      </p:sp>
      <p:sp>
        <p:nvSpPr>
          <p:cNvPr id="49" name="Rounded Rectangle 48"/>
          <p:cNvSpPr/>
          <p:nvPr/>
        </p:nvSpPr>
        <p:spPr>
          <a:xfrm>
            <a:off x="350000" y="42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企画投稿：月◯ 本</a:t>
            </a:r>
          </a:p>
          <a:p>
            <a:pPr algn="l"/>
            <a:r>
              <a:rPr sz="950" b="0">
                <a:solidFill>
                  <a:srgbClr val="333333"/>
                </a:solidFill>
                <a:latin typeface="メイリオ"/>
              </a:rPr>
              <a:t>週1回の定期投稿＋時期・時事の特別配信</a:t>
            </a:r>
          </a:p>
          <a:p>
            <a:pPr algn="l"/>
            <a:r>
              <a:rPr sz="900" b="0">
                <a:solidFill>
                  <a:srgbClr val="555555"/>
                </a:solidFill>
                <a:latin typeface="メイリオ"/>
              </a:rPr>
              <a:t>例：月4本（週1回）</a:t>
            </a:r>
          </a:p>
        </p:txBody>
      </p:sp>
      <p:sp>
        <p:nvSpPr>
          <p:cNvPr id="50" name="Rounded Rectangle 49"/>
          <p:cNvSpPr/>
          <p:nvPr/>
        </p:nvSpPr>
        <p:spPr>
          <a:xfrm>
            <a:off x="4850000" y="1560000"/>
            <a:ext cx="47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費用・ツール・運営（標準）</a:t>
            </a:r>
          </a:p>
        </p:txBody>
      </p:sp>
      <p:sp>
        <p:nvSpPr>
          <p:cNvPr id="51" name="Rounded Rectangle 50"/>
          <p:cNvSpPr/>
          <p:nvPr/>
        </p:nvSpPr>
        <p:spPr>
          <a:xfrm>
            <a:off x="4850000" y="1930000"/>
            <a:ext cx="4700000" cy="118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500" b="1">
                <a:solidFill>
                  <a:srgbClr val="FFFFFF"/>
                </a:solidFill>
                <a:latin typeface="メイリオ"/>
              </a:rPr>
              <a:t>月額 25万円〜（3投稿〜）</a:t>
            </a:r>
          </a:p>
          <a:p>
            <a:pPr algn="l"/>
            <a:r>
              <a:rPr sz="1000" b="0">
                <a:solidFill>
                  <a:srgbClr val="FFFFFF"/>
                </a:solidFill>
                <a:latin typeface="メイリオ"/>
              </a:rPr>
              <a:t>初期費用 10万円〜 ／ 6か月〜契約</a:t>
            </a:r>
          </a:p>
          <a:p>
            <a:pPr algn="l"/>
            <a:r>
              <a:rPr sz="900" b="0">
                <a:solidFill>
                  <a:srgbClr val="FFFFFF"/>
                </a:solidFill>
                <a:latin typeface="メイリオ"/>
              </a:rPr>
              <a:t>※投稿数・セット数に応じて変動</a:t>
            </a:r>
          </a:p>
        </p:txBody>
      </p:sp>
      <p:sp>
        <p:nvSpPr>
          <p:cNvPr id="53" name="Rounded Rectangle 52"/>
          <p:cNvSpPr/>
          <p:nvPr/>
        </p:nvSpPr>
        <p:spPr>
          <a:xfrm>
            <a:off x="4850000" y="4230000"/>
            <a:ext cx="47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150" b="1">
                <a:solidFill>
                  <a:srgbClr val="1F3A5F"/>
                </a:solidFill>
                <a:latin typeface="メイリオ"/>
              </a:rPr>
              <a:t>個別チャット運営</a:t>
            </a:r>
          </a:p>
          <a:p>
            <a:pPr algn="l"/>
            <a:r>
              <a:rPr sz="950" b="0">
                <a:solidFill>
                  <a:srgbClr val="333333"/>
                </a:solidFill>
                <a:latin typeface="メイリオ"/>
              </a:rPr>
              <a:t>よくある質問＝KW自動応答／営業時間内は有人対応</a:t>
            </a:r>
          </a:p>
          <a:p>
            <a:pPr algn="l"/>
            <a:r>
              <a:rPr sz="950" b="0">
                <a:solidFill>
                  <a:srgbClr val="333333"/>
                </a:solidFill>
                <a:latin typeface="メイリオ"/>
              </a:rPr>
              <a:t>写真査定はチャット受付 → 査定士へトスアップ</a:t>
            </a:r>
          </a:p>
        </p:txBody>
      </p:sp>
      <p:sp>
        <p:nvSpPr>
          <p:cNvPr id="54" name="Rounded Rectangle 53"/>
          <p:cNvSpPr/>
          <p:nvPr/>
        </p:nvSpPr>
        <p:spPr>
          <a:xfrm>
            <a:off x="4850000" y="3230000"/>
            <a:ext cx="4700000" cy="98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pPr algn="ctr"/>
            <a:r>
              <a:rPr sz="1150" b="1">
                <a:solidFill>
                  <a:srgbClr val="1F3A5F"/>
                </a:solidFill>
                <a:latin typeface="メイリオ"/>
              </a:rPr>
              <a:t>導入ツール：役割別に選定</a:t>
            </a:r>
          </a:p>
          <a:p>
            <a:r>
              <a:rPr sz="900" b="1">
                <a:solidFill>
                  <a:srgbClr val="333333"/>
                </a:solidFill>
                <a:latin typeface="メイリオ"/>
              </a:rPr>
              <a:t>入口＝Sitelead（離脱防止ポップアップ）※別途費用</a:t>
            </a:r>
          </a:p>
          <a:p>
            <a:r>
              <a:rPr sz="900" b="1">
                <a:solidFill>
                  <a:srgbClr val="333333"/>
                </a:solidFill>
                <a:latin typeface="メイリオ"/>
              </a:rPr>
              <a:t>配信＝Lstep または Hachidori のどちらか一方を要件で選定</a:t>
            </a:r>
          </a:p>
          <a:p>
            <a:r>
              <a:rPr sz="850" b="0">
                <a:solidFill>
                  <a:srgbClr val="333333"/>
                </a:solidFill>
                <a:latin typeface="メイリオ"/>
              </a:rPr>
              <a:t>　Lstep＝タグ・セグメント・ステップ自動化／Hachidori＝通知メッセ・保有リスト活用</a:t>
            </a:r>
          </a:p>
          <a:p>
            <a:r>
              <a:rPr sz="850" b="0">
                <a:solidFill>
                  <a:srgbClr val="555555"/>
                </a:solidFill>
                <a:latin typeface="メイリオ"/>
              </a:rPr>
              <a:t>既存CRMとのAPI連携も対応（特定ツールに依存しない）</a:t>
            </a:r>
          </a:p>
        </p:txBody>
      </p:sp>
    </p:spTree>
    <p:extLst>
      <p:ext uri="{BB962C8B-B14F-4D97-AF65-F5344CB8AC3E}">
        <p14:creationId xmlns:p14="http://schemas.microsoft.com/office/powerpoint/2010/main" val="39437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141799</TotalTime>
  <Words>5689</Words>
  <Application>Microsoft Office PowerPoint</Application>
  <PresentationFormat>A4 210 x 297 mm</PresentationFormat>
  <Paragraphs>1871</Paragraphs>
  <Slides>41</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41</vt:i4>
      </vt:variant>
    </vt:vector>
  </HeadingPairs>
  <TitlesOfParts>
    <vt:vector size="49" baseType="lpstr">
      <vt:lpstr>メイリオ</vt:lpstr>
      <vt:lpstr>メイリオ</vt:lpstr>
      <vt:lpstr>名色</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1935</cp:revision>
  <cp:lastPrinted>2022-11-01T11:38:14Z</cp:lastPrinted>
  <dcterms:created xsi:type="dcterms:W3CDTF">2015-09-04T09:21:15Z</dcterms:created>
  <dcterms:modified xsi:type="dcterms:W3CDTF">2026-07-22T10:52:12Z</dcterms:modified>
</cp:coreProperties>
</file>