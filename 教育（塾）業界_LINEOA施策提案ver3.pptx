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3009" r:id="rId62"/>
    <p:sldId id="3010" r:id="rId63"/>
    <p:sldId id="2982" r:id="rId11"/>
    <p:sldId id="2986" r:id="rId16"/>
    <p:sldId id="2983" r:id="rId13"/>
    <p:sldId id="3011" r:id="rId64"/>
    <p:sldId id="3012" r:id="rId65"/>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11.png"/><Relationship Id="rId3" Type="http://schemas.openxmlformats.org/officeDocument/2006/relationships/image" Target="../media/juku_zengo_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21.png"/><Relationship Id="rId3" Type="http://schemas.openxmlformats.org/officeDocument/2006/relationships/image" Target="../media/juku_zengo_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3467B2"/>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8E4EC6"/>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8D7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2185B"/>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897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明光義塾はLINEで成果を出している（公式事例・P14）</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P7〜P11のデータを、すべきことに置き換える。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検索の山は2月と7月（P11）</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※ボタン文言の言い換えはDYM見解。離脱防止ポップアップはSitelead等（別途費用）。明光義塾も、サイトの初回訪問時・離脱時のポップアップで友だちを集めている（P14）</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「一緒に体験しよう」をLINEで送ってもらう（P24）</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※明光義塾は、相性チェック（5問）のあと、LINEの中で体験予約まで受け付けている（P15）。競合の診断（トライの性格別学習法診断など）はP13を参照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※体験予約済みの方には、タブ②（体験当日の流れ・アクセス・日程変更など）を出し分ける。明光義塾は、一番大きい枠に「授業料シミュレーション」を置いている（P15）</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※明光義塾は、アンケートの回答をもとに「まだ塾に通っていない」お子さま・保護者に絞って配信している（P14）</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前日リマインドへ（P31）</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※事例の数字は貴社の実績に差し替え、学年・期間・通った回数を書く。体験予約の前日のメッセージはP31</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「テスト後、9割の家庭がしない事」（P30）</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2人まとめてLINEで予約（P24）</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P8〜P10・P12・P29</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P11・P33</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P13</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P24・P34</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P52</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P14・P15・P19</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・競合の実名掲載（P13・P14・P15・P19）と、民間調査の引用可否は上司に確認する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前後検索｜中学受験・中高一貫の保護者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塾の名前を調べる前に、志望校・偏差値（青）を調べている。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塾の名前（緑）は当日に集中し、そのあとは入室テスト・料金を調べている。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起点：中学受験 塾</a:t>
            </a:r>
            <a:endParaRPr lang="ja-JP" altLang="en-US" sz="1100" dirty="0"/>
          </a:p>
        </p:txBody>
      </p:sp>
      <p:pic>
        <p:nvPicPr>
          <p:cNvPr id="19" name="前後検索_中学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・15〜3日前：私立中学の偏差値・学校名・算数検定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・当日〜：日能研・サピックスなど → 入室テスト・料金</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起点：中高一貫 塾</a:t>
            </a:r>
            <a:endParaRPr lang="ja-JP" altLang="en-US" sz="1100" dirty="0"/>
          </a:p>
        </p:txBody>
      </p:sp>
      <p:pic>
        <p:nvPicPr>
          <p:cNvPr id="22" name="前後検索_中高一貫"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・前後とも：都立中高一貫校・中等教育学校の名前</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・当日：ena・栄光ゼミナールなど都立一貫に強い塾</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塾の名前を調べる前の、志望校・偏差値を調べている時期に、LINEでつながっておく。</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795176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前後検索｜高校受験・英語の保護者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高校受験は、当日に「塾 いつから・費用・ランキング」（ローズ）を調べている。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英語は、先に英検（紫）を調べ、そのあと塾の名前（緑）にたどり着く。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起点：高校受験 塾</a:t>
            </a:r>
            <a:endParaRPr lang="ja-JP" altLang="en-US" sz="1100" dirty="0"/>
          </a:p>
        </p:txBody>
      </p:sp>
      <p:pic>
        <p:nvPicPr>
          <p:cNvPr id="19" name="前後検索_高校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・15〜3日前：高校名・偏差値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・当日：塾 いつから・費用・ランキング → 塾の名前</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起点：英語 塾</a:t>
            </a:r>
            <a:endParaRPr lang="ja-JP" altLang="en-US" sz="1100" dirty="0"/>
          </a:p>
        </p:txBody>
      </p:sp>
      <p:pic>
        <p:nvPicPr>
          <p:cNvPr id="22" name="前後検索_英語"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・15〜3日前：英検 日程・英検3級／2級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・当日：英語塾・個別指導塾 → そのあと英検 合格発表</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「いつから・費用」や英検を調べている時期に、役に立つ情報をLINEで届ける。</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2844573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施策を行った時期</a:t>
            </a:r>
            <a:endParaRPr lang="ja-JP" altLang="en-US" sz="1200" dirty="0"/>
          </a:p>
        </p:txBody>
      </p:sp>
      <p:sp>
        <p:nvSpPr>
          <p:cNvPr id="108" name="Rectangle 107"/>
          <p:cNvSpPr/>
          <p:nvPr/>
        </p:nvSpPr>
        <p:spPr>
          <a:xfrm>
            <a:off x="429768" y="2834640"/>
            <a:ext cx="9043416" cy="713232"/>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「学習塾は他塾と念入りに比較検討されるお客さまが多く、Webサイトを訪れてすぐに資料請求や体験授業の申し込みなどにつながるケースはそこまで多くありません」</a:t>
            </a:r>
            <a:endParaRPr lang="ja-JP" altLang="en-US" sz="105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50" dirty="0"/>
          </a:p>
        </p:txBody>
      </p:sp>
      <p:sp>
        <p:nvSpPr>
          <p:cNvPr id="109" name="Rectangle 108"/>
          <p:cNvSpPr/>
          <p:nvPr/>
        </p:nvSpPr>
        <p:spPr>
          <a:xfrm>
            <a:off x="429768" y="3639312"/>
            <a:ext cx="904341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公式事例の施策の流れ</a:t>
            </a:r>
            <a:endParaRPr lang="ja-JP" altLang="en-US" sz="1200" dirty="0"/>
          </a:p>
        </p:txBody>
      </p:sp>
      <p:sp>
        <p:nvSpPr>
          <p:cNvPr id="110" name="Rectangle 109"/>
          <p:cNvSpPr/>
          <p:nvPr/>
        </p:nvSpPr>
        <p:spPr>
          <a:xfrm>
            <a:off x="429768"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a:t>
            </a:r>
            <a:endParaRPr lang="ja-JP" altLang="en-US" sz="1050" dirty="0"/>
          </a:p>
        </p:txBody>
      </p:sp>
      <p:sp>
        <p:nvSpPr>
          <p:cNvPr id="111" name="Rounded Rectangle 110"/>
          <p:cNvSpPr/>
          <p:nvPr/>
        </p:nvSpPr>
        <p:spPr>
          <a:xfrm>
            <a:off x="429768"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サイトで</a:t>
            </a:r>
            <a:endParaRPr lang="ja-JP" altLang="en-US" sz="1050" dirty="0"/>
          </a:p>
        </p:txBody>
      </p:sp>
      <p:sp>
        <p:nvSpPr>
          <p:cNvPr id="112" name="Rectangle 111"/>
          <p:cNvSpPr/>
          <p:nvPr/>
        </p:nvSpPr>
        <p:spPr>
          <a:xfrm>
            <a:off x="2718054"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050" dirty="0"/>
          </a:p>
        </p:txBody>
      </p:sp>
      <p:sp>
        <p:nvSpPr>
          <p:cNvPr id="113" name="Rounded Rectangle 112"/>
          <p:cNvSpPr/>
          <p:nvPr/>
        </p:nvSpPr>
        <p:spPr>
          <a:xfrm>
            <a:off x="2718054"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追加のあと</a:t>
            </a:r>
            <a:endParaRPr lang="ja-JP" altLang="en-US" sz="1050" dirty="0"/>
          </a:p>
        </p:txBody>
      </p:sp>
      <p:sp>
        <p:nvSpPr>
          <p:cNvPr id="114" name="Rectangle 113"/>
          <p:cNvSpPr/>
          <p:nvPr/>
        </p:nvSpPr>
        <p:spPr>
          <a:xfrm>
            <a:off x="5006340"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050" dirty="0"/>
          </a:p>
        </p:txBody>
      </p:sp>
      <p:sp>
        <p:nvSpPr>
          <p:cNvPr id="115" name="Rounded Rectangle 114"/>
          <p:cNvSpPr/>
          <p:nvPr/>
        </p:nvSpPr>
        <p:spPr>
          <a:xfrm>
            <a:off x="5006340"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3　スタンプで</a:t>
            </a:r>
            <a:endParaRPr lang="ja-JP" altLang="en-US" sz="1050" dirty="0"/>
          </a:p>
        </p:txBody>
      </p:sp>
      <p:sp>
        <p:nvSpPr>
          <p:cNvPr id="116" name="Rectangle 115"/>
          <p:cNvSpPr/>
          <p:nvPr/>
        </p:nvSpPr>
        <p:spPr>
          <a:xfrm>
            <a:off x="7294626"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回答をもとに、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050" dirty="0"/>
          </a:p>
        </p:txBody>
      </p:sp>
      <p:sp>
        <p:nvSpPr>
          <p:cNvPr id="117" name="Rounded Rectangle 116"/>
          <p:cNvSpPr/>
          <p:nvPr/>
        </p:nvSpPr>
        <p:spPr>
          <a:xfrm>
            <a:off x="7294626"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4　配信で</a:t>
            </a:r>
            <a:endParaRPr lang="ja-JP" altLang="en-US" sz="1050" dirty="0"/>
          </a:p>
        </p:txBody>
      </p:sp>
      <p:sp>
        <p:nvSpPr>
          <p:cNvPr id="118" name="Rectangle 117"/>
          <p:cNvSpPr/>
          <p:nvPr/>
        </p:nvSpPr>
        <p:spPr>
          <a:xfrm>
            <a:off x="429768" y="530352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スタンプで来た方には、後日クイズ形式の配信で回答を促し、配信した方の55%が反応。友だちが増えても、ブロック率は施策前とほぼ変わらず。</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明光義塾は、チャットの接客にチャットコマース「ジールス」（株式会社Zeals）を使用。</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00" dirty="0" err="1">
                <a:solidFill>
                  <a:srgbClr val="333333"/>
                </a:solidFill>
                <a:latin typeface="メイリオ"/>
                <a:ea typeface="メイリオ"/>
                <a:cs typeface="メイリオ"/>
              </a:rPr>
              <a:t>リッチメニューの一番大きい枠は「授業料シミュレーション」。費用の不安に先回りしています。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150" dirty="0"/>
          </a:p>
        </p:txBody>
      </p:sp>
      <p:pic>
        <p:nvPicPr>
          <p:cNvPr id="69" name="明光義塾_あいさつ＋相性チェック" descr=""/>
          <p:cNvPicPr>
            <a:picLocks noChangeAspect="1"/>
          </p:cNvPicPr>
          <p:nvPr/>
        </p:nvPicPr>
        <p:blipFill>
          <a:blip r:embed="rId101"/>
          <a:stretch>
            <a:fillRect/>
          </a:stretch>
        </p:blipFill>
        <p:spPr>
          <a:xfrm>
            <a:off x="935964" y="1883664"/>
            <a:ext cx="1730806" cy="3749039"/>
          </a:xfrm>
          <a:prstGeom prst="rect">
            <a:avLst/>
          </a:prstGeom>
          <a:ln w="9525">
            <a:solidFill>
              <a:srgbClr val="C6CADD"/>
            </a:solidFill>
          </a:ln>
        </p:spPr>
      </p:pic>
      <p:sp>
        <p:nvSpPr>
          <p:cNvPr id="70" name="Rectangle 69"/>
          <p:cNvSpPr/>
          <p:nvPr/>
        </p:nvSpPr>
        <p:spPr>
          <a:xfrm>
            <a:off x="429768"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150" dirty="0"/>
          </a:p>
        </p:txBody>
      </p:sp>
      <p:pic>
        <p:nvPicPr>
          <p:cNvPr id="72" name="明光義塾_LINEの中で体験予約" descr=""/>
          <p:cNvPicPr>
            <a:picLocks noChangeAspect="1"/>
          </p:cNvPicPr>
          <p:nvPr/>
        </p:nvPicPr>
        <p:blipFill>
          <a:blip r:embed="rId102"/>
          <a:stretch>
            <a:fillRect/>
          </a:stretch>
        </p:blipFill>
        <p:spPr>
          <a:xfrm>
            <a:off x="4086072" y="1883664"/>
            <a:ext cx="1730806" cy="3749039"/>
          </a:xfrm>
          <a:prstGeom prst="rect">
            <a:avLst/>
          </a:prstGeom>
          <a:ln w="9525">
            <a:solidFill>
              <a:srgbClr val="C6CADD"/>
            </a:solidFill>
          </a:ln>
        </p:spPr>
      </p:pic>
      <p:sp>
        <p:nvSpPr>
          <p:cNvPr id="73" name="Rectangle 72"/>
          <p:cNvSpPr/>
          <p:nvPr/>
        </p:nvSpPr>
        <p:spPr>
          <a:xfrm>
            <a:off x="3579876"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「このままLINEで予約」（60秒）</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トークの中で入力（全7問）</a:t>
            </a:r>
            <a:endParaRPr lang="ja-JP" altLang="en-US" sz="1050" dirty="0"/>
          </a:p>
        </p:txBody>
      </p:sp>
      <p:sp>
        <p:nvSpPr>
          <p:cNvPr id="74" name="Rounded Rectangle 73"/>
          <p:cNvSpPr/>
          <p:nvPr/>
        </p:nvSpPr>
        <p:spPr>
          <a:xfrm>
            <a:off x="6729984"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150" dirty="0"/>
          </a:p>
        </p:txBody>
      </p:sp>
      <p:pic>
        <p:nvPicPr>
          <p:cNvPr id="75" name="明光義塾_リッチメニュー" descr=""/>
          <p:cNvPicPr>
            <a:picLocks noChangeAspect="1"/>
          </p:cNvPicPr>
          <p:nvPr/>
        </p:nvPicPr>
        <p:blipFill>
          <a:blip r:embed="rId103"/>
          <a:stretch>
            <a:fillRect/>
          </a:stretch>
        </p:blipFill>
        <p:spPr>
          <a:xfrm>
            <a:off x="7236180" y="1883664"/>
            <a:ext cx="1730806" cy="3749039"/>
          </a:xfrm>
          <a:prstGeom prst="rect">
            <a:avLst/>
          </a:prstGeom>
          <a:ln w="9525">
            <a:solidFill>
              <a:srgbClr val="C6CADD"/>
            </a:solidFill>
          </a:ln>
        </p:spPr>
      </p:pic>
      <p:sp>
        <p:nvSpPr>
          <p:cNvPr id="76" name="Rectangle 75"/>
          <p:cNvSpPr/>
          <p:nvPr/>
        </p:nvSpPr>
        <p:spPr>
          <a:xfrm>
            <a:off x="6729984"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やっていることは3つ。どれも「すぐには申し込まれない」前提でつくられています。</a:t>
            </a:r>
          </a:p>
          <a:p>
            <a:pPr algn="l">
              <a:lnSpc>
                <a:spcPct val="128000"/>
              </a:lnSpc>
            </a:pPr>
            <a:r>
              <a:rPr sz="1200" dirty="0" err="1">
                <a:solidFill>
                  <a:srgbClr val="333333"/>
                </a:solidFill>
                <a:latin typeface="メイリオ"/>
                <a:ea typeface="メイリオ"/>
                <a:cs typeface="メイリオ"/>
              </a:rPr>
              <a:t>この型を、このあとの入口（P23）・診断（P26）・配信の出し分け（P28）に取り入れます。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 出典：LINEヤフー for Business 導入事例（2024年4月5日）・明光義塾 LINE公式アカウント（2026-10-19 弊社確認）。実際の画面はP15。</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友だちになってもらい、答えてもらい、合う方に届ける。この順番が成果につながっている。</a:t>
            </a:r>
          </a:p>
        </p:txBody>
      </p:sp>
      <p:sp>
        <p:nvSpPr>
          <p:cNvPr id="105" name="Rounded Rectangle 104"/>
          <p:cNvSpPr/>
          <p:nvPr/>
        </p:nvSpPr>
        <p:spPr>
          <a:xfrm>
            <a:off x="429768"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00" dirty="0"/>
          </a:p>
        </p:txBody>
      </p:sp>
      <p:sp>
        <p:nvSpPr>
          <p:cNvPr id="106" name="Rounded Rectangle 105"/>
          <p:cNvSpPr/>
          <p:nvPr/>
        </p:nvSpPr>
        <p:spPr>
          <a:xfrm>
            <a:off x="429768"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サイトの初回訪問時・離脱時に、ポップアップで友だち追加を案内する。</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スタンプの無料配布で、友だちから友だちへ広げる。</a:t>
            </a:r>
            <a:endParaRPr lang="ja-JP" altLang="en-US" sz="1250" dirty="0"/>
          </a:p>
        </p:txBody>
      </p:sp>
      <p:sp>
        <p:nvSpPr>
          <p:cNvPr id="107" name="Rounded Rectangle 106"/>
          <p:cNvSpPr/>
          <p:nvPr/>
        </p:nvSpPr>
        <p:spPr>
          <a:xfrm>
            <a:off x="429768"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50" dirty="0"/>
          </a:p>
        </p:txBody>
      </p:sp>
      <p:sp>
        <p:nvSpPr>
          <p:cNvPr id="108" name="Rounded Rectangle 107"/>
          <p:cNvSpPr/>
          <p:nvPr/>
        </p:nvSpPr>
        <p:spPr>
          <a:xfrm>
            <a:off x="3511296"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追加の直後に、診断から予約まで</a:t>
            </a:r>
            <a:endParaRPr lang="ja-JP" altLang="en-US" sz="1200" dirty="0"/>
          </a:p>
        </p:txBody>
      </p:sp>
      <p:sp>
        <p:nvSpPr>
          <p:cNvPr id="109" name="Rounded Rectangle 108"/>
          <p:cNvSpPr/>
          <p:nvPr/>
        </p:nvSpPr>
        <p:spPr>
          <a:xfrm>
            <a:off x="3511296"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そのまま「LINEで無料体験の予約」へ。予約はトークの中で入力できる。</a:t>
            </a:r>
            <a:endParaRPr lang="ja-JP" altLang="en-US" sz="1250" dirty="0"/>
          </a:p>
        </p:txBody>
      </p:sp>
      <p:sp>
        <p:nvSpPr>
          <p:cNvPr id="110" name="Rounded Rectangle 109"/>
          <p:cNvSpPr/>
          <p:nvPr/>
        </p:nvSpPr>
        <p:spPr>
          <a:xfrm>
            <a:off x="3511296"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50" dirty="0"/>
          </a:p>
        </p:txBody>
      </p:sp>
      <p:sp>
        <p:nvSpPr>
          <p:cNvPr id="111" name="Rounded Rectangle 110"/>
          <p:cNvSpPr/>
          <p:nvPr/>
        </p:nvSpPr>
        <p:spPr>
          <a:xfrm>
            <a:off x="6592824"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00" dirty="0"/>
          </a:p>
        </p:txBody>
      </p:sp>
      <p:sp>
        <p:nvSpPr>
          <p:cNvPr id="112" name="Rounded Rectangle 111"/>
          <p:cNvSpPr/>
          <p:nvPr/>
        </p:nvSpPr>
        <p:spPr>
          <a:xfrm>
            <a:off x="6592824"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アンケートで、保護者か生徒か、塾に通っているかを聞く。</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「まだ塾に通っていない」お子さま・保護者に絞って配信する。</a:t>
            </a:r>
            <a:endParaRPr lang="ja-JP" altLang="en-US" sz="1250" dirty="0"/>
          </a:p>
        </p:txBody>
      </p:sp>
      <p:sp>
        <p:nvSpPr>
          <p:cNvPr id="113" name="Rounded Rectangle 112"/>
          <p:cNvSpPr/>
          <p:nvPr/>
        </p:nvSpPr>
        <p:spPr>
          <a:xfrm>
            <a:off x="6592824"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資料請求 前年比 約120%</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（2023年6〜7月）</a:t>
            </a:r>
            <a:endParaRPr lang="ja-JP" altLang="en-US" sz="1150" dirty="0"/>
          </a:p>
        </p:txBody>
      </p:sp>
    </p:spTree>
    <p:extLst>
      <p:ext uri="{BB962C8B-B14F-4D97-AF65-F5344CB8AC3E}">
        <p14:creationId xmlns:p14="http://schemas.microsoft.com/office/powerpoint/2010/main" val="153752349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54</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