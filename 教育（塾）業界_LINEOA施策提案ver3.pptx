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8"/>
  </p:notesMasterIdLst>
  <p:handoutMasterIdLst>
    <p:handoutMasterId r:id="rId39"/>
  </p:handoutMasterIdLst>
  <p:sldIdLst>
    <p:sldId id="2363" r:id="rId3"/>
    <p:sldId id="2992" r:id="rId45"/>
    <p:sldId id="2993" r:id="rId46"/>
    <p:sldId id="2994" r:id="rId47"/>
    <p:sldId id="2956" r:id="rId4"/>
    <p:sldId id="2995" r:id="rId48"/>
    <p:sldId id="2972" r:id="rId6"/>
    <p:sldId id="3015" r:id="rId68"/>
    <p:sldId id="3016" r:id="rId69"/>
    <p:sldId id="3017" r:id="rId70"/>
    <p:sldId id="3018" r:id="rId71"/>
    <p:sldId id="2982" r:id="rId11"/>
    <p:sldId id="2986" r:id="rId16"/>
    <p:sldId id="2983" r:id="rId13"/>
    <p:sldId id="3011" r:id="rId64"/>
    <p:sldId id="3012" r:id="rId65"/>
    <p:sldId id="3014" r:id="rId67"/>
    <p:sldId id="2977" r:id="rId7"/>
    <p:sldId id="2984" r:id="rId14"/>
    <p:sldId id="2996" r:id="rId49"/>
    <p:sldId id="3013" r:id="rId66"/>
    <p:sldId id="2997" r:id="rId50"/>
    <p:sldId id="2944" r:id="rId28"/>
    <p:sldId id="2985" r:id="rId15"/>
    <p:sldId id="2987" r:id="rId17"/>
    <p:sldId id="2962" r:id="rId24"/>
    <p:sldId id="2908" r:id="rId18"/>
    <p:sldId id="2950" r:id="rId19"/>
    <p:sldId id="2762" r:id="rId20"/>
    <p:sldId id="2937" r:id="rId21"/>
    <p:sldId id="2939" r:id="rId22"/>
    <p:sldId id="2966" r:id="rId23"/>
    <p:sldId id="2942" r:id="rId25"/>
    <p:sldId id="2943" r:id="rId27"/>
    <p:sldId id="2941" r:id="rId26"/>
    <p:sldId id="2953" r:id="rId35"/>
    <p:sldId id="2979" r:id="rId10"/>
    <p:sldId id="2990" r:id="rId9"/>
    <p:sldId id="2989" r:id="rId8"/>
    <p:sldId id="2991" r:id="rId44"/>
    <p:sldId id="2946" r:id="rId30"/>
    <p:sldId id="2998" r:id="rId51"/>
    <p:sldId id="3005" r:id="rId58"/>
    <p:sldId id="3007" r:id="rId60"/>
    <p:sldId id="3008" r:id="rId61"/>
    <p:sldId id="2948" r:id="rId32"/>
    <p:sldId id="2958" r:id="rId33"/>
    <p:sldId id="2999" r:id="rId52"/>
    <p:sldId id="3000" r:id="rId53"/>
    <p:sldId id="3001" r:id="rId54"/>
    <p:sldId id="3002" r:id="rId55"/>
    <p:sldId id="3003" r:id="rId56"/>
    <p:sldId id="3004" r:id="rId57"/>
    <p:sldId id="2954" r:id="rId34"/>
    <p:sldId id="2955" r:id="rId36"/>
    <p:sldId id="1169" r:id="rId3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0" d="100"/>
          <a:sy n="10" d="100"/>
        </p:scale>
        <p:origin x="6" y="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30" Type="http://schemas.openxmlformats.org/officeDocument/2006/relationships/slide" Target="slides/slide28.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notesMaster" Target="notesMasters/notesMaster1.xml"/><Relationship Id="rId39" Type="http://schemas.openxmlformats.org/officeDocument/2006/relationships/handoutMaster" Target="handoutMasters/handout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60" Type="http://schemas.openxmlformats.org/officeDocument/2006/relationships/slide" Target="slides/slide52.xml"/><Relationship Id="rId61" Type="http://schemas.openxmlformats.org/officeDocument/2006/relationships/slide" Target="slides/slide53.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2026/9/17</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CC596-88E7-2BC9-7631-7B2FF864C8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EA305-DD4B-4755-1A79-3ECAA1BFAE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530CFC-96E0-CB7F-D9F4-B974123A5B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657086-8B2C-117D-A7A7-81B2D30759FF}"/>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244022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585148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F8CEE-BA77-7F59-159F-47D256C6C9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20AAE9-56BE-66E5-82F7-A32C5F5E37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3263BB-84E3-A23F-F50A-22409A9D03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E676F0-0850-6080-8D54-24CC34C00E1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21814560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9A811-371F-8FB3-F066-52767F4E9A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11C9D-FDA9-6C17-2E4B-B8729DB02D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22E24C-8C3E-B253-1458-19B063283ED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5308508-22B0-7807-8EBD-1B4BC57F8A84}"/>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2217835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2497A-27D1-3FCF-1F91-9D3EAE5F5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107B2A-3CC9-CDDB-0154-3C6FEEEB7F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9E55FE-2D43-AAFB-1E0D-9FE86011A40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505F46C-9309-B38B-AEB2-32E50CF0E84A}"/>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46070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14.jpeg"/><Relationship Id="rId5" Type="http://schemas.openxmlformats.org/officeDocument/2006/relationships/image" Target="../media/image15.jpe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101" Type="http://schemas.openxmlformats.org/officeDocument/2006/relationships/image" Target="../media/meiko_1.jpeg"/><Relationship Id="rId102" Type="http://schemas.openxmlformats.org/officeDocument/2006/relationships/image" Target="../media/meiko_2.jpeg"/><Relationship Id="rId103" Type="http://schemas.openxmlformats.org/officeDocument/2006/relationships/image" Target="../media/meiko_3.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101" Type="http://schemas.openxmlformats.org/officeDocument/2006/relationships/image" Target="../media/meiko_step_1.png"/><Relationship Id="rId102" Type="http://schemas.openxmlformats.org/officeDocument/2006/relationships/image" Target="../media/meiko_step_2.png"/></Relationships>
</file>

<file path=ppt/slides/_rels/slide60.xml.rels><?xml version='1.0' encoding='UTF-8' standalone='yes'?>
<ns0:Relationships xmlns:ns0="http://schemas.openxmlformats.org/package/2006/relationships"><ns0:Relationship Id="rId1" Type="http://schemas.openxmlformats.org/officeDocument/2006/relationships/slideLayout" Target="../slideLayouts/slideLayout2.xml"/><ns0:Relationship Id="rId101" Type="http://schemas.openxmlformats.org/officeDocument/2006/relationships/image" Target="../media/juku_zengo_11.png"/></ns0:Relationships>
</file>

<file path=ppt/slides/_rels/slide61.xml.rels><?xml version='1.0' encoding='UTF-8' standalone='yes'?>
<ns0:Relationships xmlns:ns0="http://schemas.openxmlformats.org/package/2006/relationships"><ns0:Relationship Id="rId1" Type="http://schemas.openxmlformats.org/officeDocument/2006/relationships/slideLayout" Target="../slideLayouts/slideLayout2.xml"/><ns0:Relationship Id="rId101" Type="http://schemas.openxmlformats.org/officeDocument/2006/relationships/image" Target="../media/juku_zengo_12.png"/></ns0:Relationships>
</file>

<file path=ppt/slides/_rels/slide62.xml.rels><?xml version='1.0' encoding='UTF-8' standalone='yes'?>
<ns0:Relationships xmlns:ns0="http://schemas.openxmlformats.org/package/2006/relationships"><ns0:Relationship Id="rId1" Type="http://schemas.openxmlformats.org/officeDocument/2006/relationships/slideLayout" Target="../slideLayouts/slideLayout2.xml"/><ns0:Relationship Id="rId101" Type="http://schemas.openxmlformats.org/officeDocument/2006/relationships/image" Target="../media/juku_zengo_21.png"/></ns0:Relationships>
</file>

<file path=ppt/slides/_rels/slide63.xml.rels><?xml version='1.0' encoding='UTF-8' standalone='yes'?>
<ns0:Relationships xmlns:ns0="http://schemas.openxmlformats.org/package/2006/relationships"><ns0:Relationship Id="rId1" Type="http://schemas.openxmlformats.org/officeDocument/2006/relationships/slideLayout" Target="../slideLayouts/slideLayout2.xml"/><ns0:Relationship Id="rId101" Type="http://schemas.openxmlformats.org/officeDocument/2006/relationships/image" Target="../media/juku_zengo_22.png"/></ns0: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39684" y="2460753"/>
            <a:ext cx="6626632" cy="474509"/>
          </a:xfrm>
          <a:prstGeom prst="rect">
            <a:avLst/>
          </a:prstGeom>
        </p:spPr>
        <p:txBody>
          <a:bodyPr wrap="square" lIns="50400" tIns="21600" rIns="50400" bIns="21600" anchor="ctr">
            <a:spAutoFit/>
          </a:bodyPr>
          <a:lstStyle/>
          <a:p>
            <a:pPr algn="ctr"/>
            <a:r>
              <a:rPr lang="ja-JP" altLang="en-US" sz="1400" b="1" dirty="0">
                <a:solidFill>
                  <a:srgbClr val="333333"/>
                </a:solidFill>
                <a:latin typeface="メイリオ"/>
                <a:ea typeface="メイリオ"/>
                <a:cs typeface="メイリオ"/>
              </a:rPr>
              <a:t>保護者の「迷っている期間」に寄り添い、</a:t>
            </a:r>
            <a:endParaRPr lang="en-US" sz="1400" b="1" dirty="0">
              <a:solidFill>
                <a:srgbClr val="333333"/>
              </a:solidFill>
              <a:latin typeface="メイリオ"/>
              <a:ea typeface="メイリオ"/>
              <a:cs typeface="メイリオ"/>
            </a:endParaRPr>
          </a:p>
          <a:p>
            <a:pPr algn="ctr"/>
            <a:r>
              <a:rPr lang="ja-JP" altLang="en-US" sz="1400" b="1" dirty="0">
                <a:solidFill>
                  <a:srgbClr val="333333"/>
                </a:solidFill>
                <a:latin typeface="メイリオ"/>
                <a:ea typeface="メイリオ"/>
                <a:cs typeface="メイリオ"/>
              </a:rPr>
              <a:t>資料請求から体験予約・入会までをつなぐ</a:t>
            </a:r>
            <a:endParaRPr lang="en-US" sz="1400" b="1" dirty="0">
              <a:solidFill>
                <a:srgbClr val="333333"/>
              </a:solidFill>
              <a:latin typeface="メイリオ"/>
              <a:ea typeface="メイリオ"/>
              <a:cs typeface="メイリオ"/>
            </a:endParaRP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50400" tIns="21600" rIns="50400" bIns="21600" rtlCol="0" anchor="ctr"/>
          <a:lstStyle/>
          <a:p>
            <a:pPr algn="ctr"/>
            <a:r>
              <a:rPr sz="1200" b="1" dirty="0" err="1">
                <a:solidFill>
                  <a:srgbClr val="002060"/>
                </a:solidFill>
                <a:latin typeface="メイリオ"/>
                <a:ea typeface="メイリオ"/>
                <a:cs typeface="メイリオ"/>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ニーズ全体図。出生数は8年で27.7%減った。それなのに学習塾市場は伸びている。</a:t>
            </a:r>
          </a:p>
          <a:p>
            <a:pPr algn="l">
              <a:lnSpc>
                <a:spcPct val="128000"/>
              </a:lnSpc>
            </a:pPr>
            <a:r>
              <a:rPr sz="1200" dirty="0" err="1">
                <a:solidFill>
                  <a:srgbClr val="333333"/>
                </a:solidFill>
                <a:latin typeface="メイリオ"/>
                <a:ea typeface="メイリオ"/>
                <a:cs typeface="メイリオ"/>
              </a:rPr>
              <a:t>より少ない子どもから、より多くの売上を取る競争になっている</a:t>
            </a:r>
            <a:r>
              <a:rPr sz="1200" dirty="0">
                <a:solidFill>
                  <a:srgbClr val="333333"/>
                </a:solidFill>
                <a:latin typeface="メイリオ"/>
                <a:ea typeface="メイリオ"/>
                <a:cs typeface="メイリオ"/>
              </a:rPr>
              <a:t>。</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母数は減り続ける。競争密度が上がるのはこれから。いま必要なのは、取りこぼしを拾う設計。</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市場規模は「定義」で約2倍変わる</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矢野経済研究所の全体推計＝9,870億円（2023年度）。個人経営の補習塾・中小予備校まで含むため約2倍。どちらも正しく、定義が違うだけ。</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a:t>
            </a:r>
          </a:p>
        </p:txBody>
      </p:sp>
    </p:spTree>
    <p:extLst>
      <p:ext uri="{BB962C8B-B14F-4D97-AF65-F5344CB8AC3E}">
        <p14:creationId xmlns:p14="http://schemas.microsoft.com/office/powerpoint/2010/main" val="676230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塾を調べているのは40代の母親。選ぶときに一番困っているのは、料金ではなく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「うちの子に合う塾が分からない」（63.5%）。払う気はある。合うか分からないから決められない。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2789117"/>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999" y="2051999"/>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性別</a:t>
            </a:r>
          </a:p>
        </p:txBody>
      </p:sp>
      <p:sp>
        <p:nvSpPr>
          <p:cNvPr id="9" name="TextBox 8"/>
          <p:cNvSpPr txBox="1"/>
          <p:nvPr/>
        </p:nvSpPr>
        <p:spPr>
          <a:xfrm>
            <a:off x="1530000" y="2113199"/>
            <a:ext cx="1080000" cy="378000"/>
          </a:xfrm>
          <a:prstGeom prst="rect">
            <a:avLst/>
          </a:prstGeom>
          <a:noFill/>
        </p:spPr>
        <p:txBody>
          <a:bodyPr wrap="square" lIns="50400" tIns="21600" rIns="50400" bIns="21600" anchor="ctr">
            <a:spAutoFit/>
          </a:bodyPr>
          <a:lstStyle/>
          <a:p>
            <a:pPr algn="ctr"/>
            <a:r>
              <a:rPr sz="1400" b="1" dirty="0" err="1">
                <a:solidFill>
                  <a:srgbClr val="1F285A"/>
                </a:solidFill>
                <a:latin typeface="メイリオ"/>
                <a:ea typeface="メイリオ"/>
                <a:cs typeface="メイリオ"/>
              </a:rPr>
              <a:t>女性</a:t>
            </a:r>
            <a:r>
              <a:rPr sz="1400" b="1" dirty="0">
                <a:solidFill>
                  <a:srgbClr val="1F285A"/>
                </a:solidFill>
                <a:latin typeface="メイリオ"/>
                <a:ea typeface="メイリオ"/>
                <a:cs typeface="メイリオ"/>
              </a:rPr>
              <a:t> 67.4%</a:t>
            </a:r>
          </a:p>
        </p:txBody>
      </p:sp>
      <p:sp>
        <p:nvSpPr>
          <p:cNvPr id="10" name="TextBox 9"/>
          <p:cNvSpPr txBox="1"/>
          <p:nvPr/>
        </p:nvSpPr>
        <p:spPr>
          <a:xfrm>
            <a:off x="2637000" y="2177706"/>
            <a:ext cx="1835999" cy="351014"/>
          </a:xfrm>
          <a:prstGeom prst="rect">
            <a:avLst/>
          </a:prstGeom>
          <a:noFill/>
        </p:spPr>
        <p:txBody>
          <a:bodyPr wrap="square" lIns="50400" tIns="21600" rIns="50400" bIns="21600" anchor="ctr">
            <a:spAutoFit/>
          </a:bodyPr>
          <a:lstStyle/>
          <a:p>
            <a:pPr algn="l">
              <a:lnSpc>
                <a:spcPct val="120000"/>
              </a:lnSpc>
            </a:pPr>
            <a:r>
              <a:rPr sz="850" dirty="0" err="1">
                <a:solidFill>
                  <a:srgbClr val="333333"/>
                </a:solidFill>
                <a:latin typeface="メイリオ"/>
                <a:ea typeface="メイリオ"/>
                <a:cs typeface="メイリオ"/>
              </a:rPr>
              <a:t>起点KW「塾</a:t>
            </a:r>
            <a:r>
              <a:rPr sz="850" dirty="0">
                <a:solidFill>
                  <a:srgbClr val="333333"/>
                </a:solidFill>
                <a:latin typeface="メイリオ"/>
                <a:ea typeface="メイリオ"/>
                <a:cs typeface="メイリオ"/>
              </a:rPr>
              <a:t>」</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「塾 費用」も65.5%</a:t>
            </a:r>
          </a:p>
        </p:txBody>
      </p:sp>
      <p:sp>
        <p:nvSpPr>
          <p:cNvPr id="11" name="Rounded Rectangle 10"/>
          <p:cNvSpPr/>
          <p:nvPr/>
        </p:nvSpPr>
        <p:spPr>
          <a:xfrm>
            <a:off x="557999" y="2623657"/>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57999" y="2623657"/>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個別クエリ</a:t>
            </a:r>
          </a:p>
        </p:txBody>
      </p:sp>
      <p:sp>
        <p:nvSpPr>
          <p:cNvPr id="13" name="TextBox 12"/>
          <p:cNvSpPr txBox="1"/>
          <p:nvPr/>
        </p:nvSpPr>
        <p:spPr>
          <a:xfrm>
            <a:off x="1557000" y="2698858"/>
            <a:ext cx="1080000" cy="378000"/>
          </a:xfrm>
          <a:prstGeom prst="rect">
            <a:avLst/>
          </a:prstGeom>
          <a:noFill/>
        </p:spPr>
        <p:txBody>
          <a:bodyPr wrap="square" lIns="50400" tIns="21600" rIns="50400" bIns="21600" anchor="ctr">
            <a:spAutoFit/>
          </a:bodyPr>
          <a:lstStyle/>
          <a:p>
            <a:pPr algn="ctr"/>
            <a:r>
              <a:rPr sz="1400" b="1" dirty="0" err="1">
                <a:solidFill>
                  <a:srgbClr val="1F285A"/>
                </a:solidFill>
                <a:latin typeface="メイリオ"/>
                <a:ea typeface="メイリオ"/>
                <a:cs typeface="メイリオ"/>
              </a:rPr>
              <a:t>女性</a:t>
            </a:r>
            <a:r>
              <a:rPr sz="1400" b="1" dirty="0">
                <a:solidFill>
                  <a:srgbClr val="1F285A"/>
                </a:solidFill>
                <a:latin typeface="メイリオ"/>
                <a:ea typeface="メイリオ"/>
                <a:cs typeface="メイリオ"/>
              </a:rPr>
              <a:t> 86〜88%</a:t>
            </a:r>
          </a:p>
        </p:txBody>
      </p:sp>
      <p:sp>
        <p:nvSpPr>
          <p:cNvPr id="14" name="TextBox 13"/>
          <p:cNvSpPr txBox="1"/>
          <p:nvPr/>
        </p:nvSpPr>
        <p:spPr>
          <a:xfrm>
            <a:off x="2610000" y="2693691"/>
            <a:ext cx="1835999" cy="378000"/>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いつから通わせる」86.5%／「</a:t>
            </a:r>
            <a:r>
              <a:rPr sz="850" dirty="0" err="1">
                <a:solidFill>
                  <a:srgbClr val="333333"/>
                </a:solidFill>
                <a:latin typeface="メイリオ"/>
                <a:ea typeface="メイリオ"/>
                <a:cs typeface="メイリオ"/>
              </a:rPr>
              <a:t>高校受験</a:t>
            </a:r>
            <a:r>
              <a:rPr sz="850" dirty="0">
                <a:solidFill>
                  <a:srgbClr val="333333"/>
                </a:solidFill>
                <a:latin typeface="メイリオ"/>
                <a:ea typeface="メイリオ"/>
                <a:cs typeface="メイリオ"/>
              </a:rPr>
              <a:t> 塾 いつから」87.9%</a:t>
            </a:r>
          </a:p>
        </p:txBody>
      </p:sp>
      <p:sp>
        <p:nvSpPr>
          <p:cNvPr id="15" name="Rounded Rectangle 14"/>
          <p:cNvSpPr/>
          <p:nvPr/>
        </p:nvSpPr>
        <p:spPr>
          <a:xfrm>
            <a:off x="557999" y="3210892"/>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7999" y="3210892"/>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年代</a:t>
            </a:r>
          </a:p>
        </p:txBody>
      </p:sp>
      <p:sp>
        <p:nvSpPr>
          <p:cNvPr id="17" name="TextBox 16"/>
          <p:cNvSpPr txBox="1"/>
          <p:nvPr/>
        </p:nvSpPr>
        <p:spPr>
          <a:xfrm>
            <a:off x="1530000" y="3288600"/>
            <a:ext cx="1080000" cy="378000"/>
          </a:xfrm>
          <a:prstGeom prst="rect">
            <a:avLst/>
          </a:prstGeom>
          <a:noFill/>
        </p:spPr>
        <p:txBody>
          <a:bodyPr wrap="square" lIns="50400" tIns="21600" rIns="50400" bIns="21600" anchor="ctr">
            <a:spAutoFit/>
          </a:bodyPr>
          <a:lstStyle/>
          <a:p>
            <a:pPr algn="ctr"/>
            <a:r>
              <a:rPr sz="1400" b="1" dirty="0">
                <a:solidFill>
                  <a:srgbClr val="1F285A"/>
                </a:solidFill>
                <a:latin typeface="メイリオ"/>
                <a:ea typeface="メイリオ"/>
                <a:cs typeface="メイリオ"/>
              </a:rPr>
              <a:t>40代 52.8%</a:t>
            </a:r>
          </a:p>
        </p:txBody>
      </p:sp>
      <p:sp>
        <p:nvSpPr>
          <p:cNvPr id="18" name="TextBox 17"/>
          <p:cNvSpPr txBox="1"/>
          <p:nvPr/>
        </p:nvSpPr>
        <p:spPr>
          <a:xfrm>
            <a:off x="2610000" y="3315586"/>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50代23.5%／30代11.1%</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a:t>
            </a:r>
            <a:r>
              <a:rPr sz="850" dirty="0" err="1">
                <a:solidFill>
                  <a:srgbClr val="333333"/>
                </a:solidFill>
                <a:latin typeface="メイリオ"/>
                <a:ea typeface="メイリオ"/>
                <a:cs typeface="メイリオ"/>
              </a:rPr>
              <a:t>同音異義語ノイズ除外後</a:t>
            </a:r>
            <a:r>
              <a:rPr sz="850" dirty="0">
                <a:solidFill>
                  <a:srgbClr val="333333"/>
                </a:solidFill>
                <a:latin typeface="メイリオ"/>
                <a:ea typeface="メイリオ"/>
                <a:cs typeface="メイリオ"/>
              </a:rPr>
              <a:t>）</a:t>
            </a:r>
          </a:p>
        </p:txBody>
      </p:sp>
      <p:sp>
        <p:nvSpPr>
          <p:cNvPr id="19" name="Rounded Rectangle 18"/>
          <p:cNvSpPr/>
          <p:nvPr/>
        </p:nvSpPr>
        <p:spPr>
          <a:xfrm>
            <a:off x="557999" y="3811766"/>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7999" y="3811766"/>
            <a:ext cx="900000" cy="378000"/>
          </a:xfrm>
          <a:prstGeom prst="rect">
            <a:avLst/>
          </a:prstGeom>
          <a:noFill/>
        </p:spPr>
        <p:txBody>
          <a:bodyPr wrap="square" lIns="50400" tIns="21600" rIns="50400" bIns="21600" anchor="ctr">
            <a:spAutoFit/>
          </a:bodyPr>
          <a:lstStyle/>
          <a:p>
            <a:pPr algn="ctr"/>
            <a:r>
              <a:rPr sz="950" b="1" dirty="0" err="1">
                <a:solidFill>
                  <a:srgbClr val="FFFFFF"/>
                </a:solidFill>
                <a:latin typeface="メイリオ"/>
                <a:ea typeface="メイリオ"/>
                <a:cs typeface="メイリオ"/>
              </a:rPr>
              <a:t>学年別の違い</a:t>
            </a:r>
            <a:endParaRPr sz="950" b="1" dirty="0">
              <a:solidFill>
                <a:srgbClr val="FFFFFF"/>
              </a:solidFill>
              <a:latin typeface="メイリオ"/>
              <a:ea typeface="メイリオ"/>
              <a:cs typeface="メイリオ"/>
            </a:endParaRPr>
          </a:p>
        </p:txBody>
      </p:sp>
      <p:sp>
        <p:nvSpPr>
          <p:cNvPr id="21" name="TextBox 20"/>
          <p:cNvSpPr txBox="1"/>
          <p:nvPr/>
        </p:nvSpPr>
        <p:spPr>
          <a:xfrm>
            <a:off x="1530000" y="3909238"/>
            <a:ext cx="1080000" cy="378000"/>
          </a:xfrm>
          <a:prstGeom prst="rect">
            <a:avLst/>
          </a:prstGeom>
          <a:noFill/>
        </p:spPr>
        <p:txBody>
          <a:bodyPr wrap="square" lIns="50400" tIns="21600" rIns="50400" bIns="21600" anchor="ctr">
            <a:spAutoFit/>
          </a:bodyPr>
          <a:lstStyle/>
          <a:p>
            <a:pPr algn="ctr"/>
            <a:r>
              <a:rPr sz="1400" b="1" dirty="0">
                <a:solidFill>
                  <a:srgbClr val="1F285A"/>
                </a:solidFill>
                <a:latin typeface="メイリオ"/>
                <a:ea typeface="メイリオ"/>
                <a:cs typeface="メイリオ"/>
              </a:rPr>
              <a:t>30代 22.1%</a:t>
            </a:r>
          </a:p>
        </p:txBody>
      </p:sp>
      <p:sp>
        <p:nvSpPr>
          <p:cNvPr id="22" name="TextBox 21"/>
          <p:cNvSpPr txBox="1"/>
          <p:nvPr/>
        </p:nvSpPr>
        <p:spPr>
          <a:xfrm>
            <a:off x="2636999" y="3912799"/>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費用」では30代が上昇</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＝小学生の保護者は30代</a:t>
            </a:r>
          </a:p>
        </p:txBody>
      </p:sp>
      <p:sp>
        <p:nvSpPr>
          <p:cNvPr id="24" name="Rounded Rectangle 23"/>
          <p:cNvSpPr/>
          <p:nvPr/>
        </p:nvSpPr>
        <p:spPr>
          <a:xfrm>
            <a:off x="4823999" y="1619999"/>
            <a:ext cx="4651200" cy="2789115"/>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保護者の心の声（データの翻訳）</a:t>
            </a:r>
          </a:p>
        </p:txBody>
      </p:sp>
      <p:sp>
        <p:nvSpPr>
          <p:cNvPr id="26" name="Rounded Rectangle 25"/>
          <p:cNvSpPr/>
          <p:nvPr/>
        </p:nvSpPr>
        <p:spPr>
          <a:xfrm>
            <a:off x="4949999" y="2051999"/>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うちの子に合うのか、通ってみるまで分からない</a:t>
            </a:r>
            <a:r>
              <a:rPr sz="1050" b="1" dirty="0">
                <a:solidFill>
                  <a:srgbClr val="333333"/>
                </a:solidFill>
                <a:latin typeface="メイリオ"/>
                <a:ea typeface="メイリオ"/>
                <a:cs typeface="メイリオ"/>
              </a:rPr>
              <a:t>」</a:t>
            </a:r>
          </a:p>
          <a:p>
            <a:pPr algn="l">
              <a:lnSpc>
                <a:spcPct val="115000"/>
              </a:lnSpc>
            </a:pPr>
            <a:r>
              <a:rPr sz="800" dirty="0" err="1">
                <a:solidFill>
                  <a:srgbClr val="7F7F7F"/>
                </a:solidFill>
                <a:latin typeface="メイリオ"/>
                <a:ea typeface="メイリオ"/>
                <a:cs typeface="メイリオ"/>
              </a:rPr>
              <a:t>塾選び最大の苦労</a:t>
            </a:r>
            <a:r>
              <a:rPr sz="800" dirty="0">
                <a:solidFill>
                  <a:srgbClr val="7F7F7F"/>
                </a:solidFill>
                <a:latin typeface="メイリオ"/>
                <a:ea typeface="メイリオ"/>
                <a:cs typeface="メイリオ"/>
              </a:rPr>
              <a:t> 63.5%（塾ナラ2025・n=200）</a:t>
            </a:r>
          </a:p>
        </p:txBody>
      </p:sp>
      <p:sp>
        <p:nvSpPr>
          <p:cNvPr id="27" name="Rounded Rectangle 26"/>
          <p:cNvSpPr/>
          <p:nvPr/>
        </p:nvSpPr>
        <p:spPr>
          <a:xfrm>
            <a:off x="4949999" y="2623657"/>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集団と個別、どっちが向いてるのか判断できない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「情報が多すぎる」17.0%</a:t>
            </a:r>
          </a:p>
        </p:txBody>
      </p:sp>
      <p:sp>
        <p:nvSpPr>
          <p:cNvPr id="28" name="Rounded Rectangle 27"/>
          <p:cNvSpPr/>
          <p:nvPr/>
        </p:nvSpPr>
        <p:spPr>
          <a:xfrm>
            <a:off x="4949999" y="320498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月謝の他に講習費がいくら乗るのか読めない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9999" y="380791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「集団と個別、どちらに入れたらいいのか」</a:t>
            </a:r>
            <a:r>
              <a:rPr sz="1050" b="1" dirty="0" err="1">
                <a:solidFill>
                  <a:srgbClr val="333333"/>
                </a:solidFill>
                <a:latin typeface="メイリオ"/>
                <a:ea typeface="メイリオ"/>
                <a:cs typeface="メイリオ"/>
              </a:rPr>
              <a:t/>
            </a:r>
            <a:r>
              <a:rPr sz="1050" b="1" dirty="0">
                <a:solidFill>
                  <a:srgbClr val="333333"/>
                </a:solidFill>
                <a:latin typeface="メイリオ"/>
                <a:ea typeface="メイリオ"/>
                <a:cs typeface="メイリオ"/>
              </a:rPr>
              <a:t/>
            </a:r>
          </a:p>
          <a:p>
            <a:pPr algn="l">
              <a:lnSpc>
                <a:spcPct val="115000"/>
              </a:lnSpc>
            </a:pPr>
            <a:r>
              <a:rPr sz="8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32000" y="4896907"/>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払う気はある。合うかどうかが分からないから決められない</a:t>
            </a:r>
            <a:r>
              <a:rPr sz="1400" b="1" dirty="0">
                <a:solidFill>
                  <a:srgbClr val="FFFFFF"/>
                </a:solidFill>
                <a:latin typeface="メイリオ"/>
                <a:ea typeface="メイリオ"/>
                <a:cs typeface="メイリオ"/>
              </a:rPr>
              <a:t>。</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a:t>
            </a: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合わないを見せてしまう</a:t>
            </a:r>
            <a:r>
              <a:rPr sz="1400" b="1" dirty="0">
                <a:solidFill>
                  <a:srgbClr val="FFFFFF"/>
                </a:solidFill>
                <a:latin typeface="メイリオ"/>
                <a:ea typeface="メイリオ"/>
                <a:cs typeface="メイリオ"/>
              </a:rPr>
              <a:t>」。</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出典｜LINEヤフー前後検索（2022-05〜2023-05・実測）／塾ナラ2025（n=200）／塾シル・ユナイトプロジェクト2026（n=249）／明光ネットワークジャパン2020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1187594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587B-DB18-248C-DB39-A170420D434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授業の質や合格実績はLINEではつくれない。つくれるのは、接点と、体験・入会までの流れ。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0">
                <a:solidFill>
                  <a:srgbClr val="333333"/>
                </a:solidFill>
                <a:latin typeface="メイリオ"/>
                <a:ea typeface="メイリオ"/>
                <a:cs typeface="メイリオ"/>
              </a:rPr>
              <a:t>電話も来店もなしで、コースと料金の資料が届く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0">
                <a:solidFill>
                  <a:srgbClr val="333333"/>
                </a:solidFill>
                <a:latin typeface="メイリオ"/>
                <a:ea typeface="メイリオ"/>
                <a:cs typeface="メイリオ"/>
              </a:rPr>
              <a:t>日時・持ち物・変更方法を前日に届けて、来てもらう</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0">
                <a:solidFill>
                  <a:srgbClr val="7F7F7F"/>
                </a:solidFill>
                <a:latin typeface="メイリオ"/>
                <a:ea typeface="メイリオ"/>
                <a:cs typeface="メイリオ"/>
              </a:rPr>
              <a:t>LINEではできないこと：授業の質を上げる／合格実績をつくる／講師を採用・育成する</a:t>
            </a:r>
          </a:p>
        </p:txBody>
      </p:sp>
    </p:spTree>
    <p:extLst>
      <p:ext uri="{BB962C8B-B14F-4D97-AF65-F5344CB8AC3E}">
        <p14:creationId xmlns:p14="http://schemas.microsoft.com/office/powerpoint/2010/main" val="466478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すぐ答えられることは自動で、相談ごとは人が答える。押してほしいボタンは右下に置く。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5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40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5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40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5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40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すぐ答える仕組みが、</a:t>
            </a:r>
          </a:p>
          <a:p>
            <a:pPr algn="ctr"/>
            <a:r>
              <a:rPr sz="15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fld id="{8C1D2E3F-4A5B-4C6D-9E7F-000000000002}" type="slidenum">
              <a:rPr sz="1200" b="1">
                <a:solidFill>
                  <a:srgbClr val="FFFFFF"/>
                </a:solidFill>
                <a:latin typeface="メイリオ"/>
                <a:ea typeface="メイリオ"/>
                <a:cs typeface="メイリオ"/>
              </a:rPr>
              <a:t>37</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資料請求（CV①）と体験予約（CV②）を取る。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※10教室のモデル値（例）。新しい友だちは1教室あたり月250人（P37）×10教室。開封率・クリック率＝DYM SIMの係数（ステップ配信 72.5%×12%／企画配信 78%×10%）。CVR＝0.3〜1.0%。件数は整数（端数は四捨五入）</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[ステップ配信]　友だち追加から14日間・自動（新しい友だち 月2,500人＝10教室）</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30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20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40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30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20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CVは狙わない</a:t>
            </a:r>
          </a:p>
          <a:p>
            <a:pPr algn="ctr"/>
            <a:r>
              <a:rPr sz="950" b="0">
                <a:solidFill>
                  <a:srgbClr val="7F7F7F"/>
                </a:solidFill>
                <a:latin typeface="メイリオ"/>
                <a:ea typeface="メイリオ"/>
                <a:cs typeface="メイリオ"/>
              </a:rPr>
              <a:t>信頼づくり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40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30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資料未請求の人</a:t>
            </a:r>
          </a:p>
          <a:p>
            <a:pPr algn="l"/>
            <a:r>
              <a:rPr sz="950" b="0">
                <a:solidFill>
                  <a:srgbClr val="7F7F7F"/>
                </a:solidFill>
                <a:latin typeface="メイリオ"/>
                <a:ea typeface="メイリオ"/>
                <a:cs typeface="メイリオ"/>
              </a:rPr>
              <a:t>約2,500人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20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40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30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20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40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30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体験未予約の人</a:t>
            </a:r>
          </a:p>
          <a:p>
            <a:pPr algn="l"/>
            <a:r>
              <a:rPr sz="950" b="0">
                <a:solidFill>
                  <a:srgbClr val="7F7F7F"/>
                </a:solidFill>
                <a:latin typeface="メイリオ"/>
                <a:ea typeface="メイリオ"/>
                <a:cs typeface="メイリオ"/>
              </a:rPr>
              <a:t>約2,500人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20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40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[企画配信]　月1〜2本（友だち 累計約10,000人・ブロックを除いて約6,800人）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30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20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40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30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20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40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30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資料を請求した人</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20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40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30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至らなかった人</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20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40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10教室で月に 資料請求 約5件・体験予約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fld id="{8C1D2E3F-4A5B-4C6D-9E7F-000000000001}" type="slidenum">
              <a:rPr sz="1200" b="1">
                <a:solidFill>
                  <a:srgbClr val="FFFFFF"/>
                </a:solidFill>
                <a:latin typeface="メイリオ"/>
                <a:ea typeface="メイリオ"/>
                <a:cs typeface="メイリオ"/>
              </a:rPr>
              <a:t>36</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どこで、何を訴求して、LINEの友だちになってもらうか。1教室あたり月250人を置いた。</a:t>
            </a:r>
          </a:p>
          <a:p>
            <a:pPr algn="l">
              <a:lnSpc>
                <a:spcPct val="128000"/>
              </a:lnSpc>
            </a:pPr>
            <a:r>
              <a:rPr sz="1200">
                <a:solidFill>
                  <a:srgbClr val="333333"/>
                </a:solidFill>
                <a:latin typeface="メイリオ"/>
                <a:ea typeface="メイリオ"/>
                <a:cs typeface="メイリオ"/>
              </a:rPr>
              <a:t>一番大きいのは、サイトから帰ろうとする保護者を拾う離脱防止ポップアップ。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350" b="1">
                <a:solidFill>
                  <a:srgbClr val="333333"/>
                </a:solidFill>
                <a:latin typeface="メイリオ"/>
                <a:ea typeface="メイリオ"/>
                <a:cs typeface="メイリオ"/>
              </a:rPr>
              <a:t>00 離脱防止</a:t>
            </a:r>
          </a:p>
          <a:p>
            <a:pPr algn="l"/>
            <a:r>
              <a:rPr sz="115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350" b="0">
                <a:solidFill>
                  <a:srgbClr val="333333"/>
                </a:solidFill>
                <a:latin typeface="メイリオ"/>
                <a:ea typeface="メイリオ"/>
                <a:cs typeface="メイリオ"/>
              </a:rPr>
              <a:t>「まだ決めなくて大丈夫です」</a:t>
            </a:r>
          </a:p>
          <a:p>
            <a:pPr algn="l"/>
            <a:r>
              <a:rPr sz="115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7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50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50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350" b="1">
                <a:solidFill>
                  <a:srgbClr val="333333"/>
                </a:solidFill>
                <a:latin typeface="メイリオ"/>
                <a:ea typeface="メイリオ"/>
                <a:cs typeface="メイリオ"/>
              </a:rPr>
              <a:t>01 完了画面</a:t>
            </a:r>
          </a:p>
          <a:p>
            <a:pPr algn="l"/>
            <a:r>
              <a:rPr sz="115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350" b="0">
                <a:solidFill>
                  <a:srgbClr val="333333"/>
                </a:solidFill>
                <a:latin typeface="メイリオ"/>
                <a:ea typeface="メイリオ"/>
                <a:cs typeface="メイリオ"/>
              </a:rPr>
              <a:t>資料請求・体験予約の完了画面で</a:t>
            </a:r>
          </a:p>
          <a:p>
            <a:pPr algn="l"/>
            <a:r>
              <a:rPr sz="115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7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500" b="0">
                <a:solidFill>
                  <a:srgbClr val="333333"/>
                </a:solidFill>
                <a:latin typeface="メイリオ"/>
                <a:ea typeface="メイリオ"/>
                <a:cs typeface="メイリオ"/>
              </a:rPr>
              <a:t>5万円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500" b="0">
                <a:solidFill>
                  <a:srgbClr val="333333"/>
                </a:solidFill>
                <a:latin typeface="メイリオ"/>
                <a:ea typeface="メイリオ"/>
                <a:cs typeface="メイリオ"/>
              </a:rPr>
              <a:t>10万円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350" b="1">
                <a:solidFill>
                  <a:srgbClr val="333333"/>
                </a:solidFill>
                <a:latin typeface="メイリオ"/>
                <a:ea typeface="メイリオ"/>
                <a:cs typeface="メイリオ"/>
              </a:rPr>
              <a:t>02 チラシ・</a:t>
            </a:r>
          </a:p>
          <a:p>
            <a:pPr algn="l"/>
            <a:r>
              <a:rPr sz="115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350" b="0">
                <a:solidFill>
                  <a:srgbClr val="333333"/>
                </a:solidFill>
                <a:latin typeface="メイリオ"/>
                <a:ea typeface="メイリオ"/>
                <a:cs typeface="メイリオ"/>
              </a:rPr>
              <a:t>LINE限定</a:t>
            </a:r>
          </a:p>
          <a:p>
            <a:pPr algn="l"/>
            <a:r>
              <a:rPr sz="115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7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50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50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QRから受け取る</a:t>
            </a:r>
          </a:p>
        </p:txBody>
      </p:sp>
    </p:spTree>
    <p:extLst>
      <p:ext uri="{BB962C8B-B14F-4D97-AF65-F5344CB8AC3E}">
        <p14:creationId xmlns:p14="http://schemas.microsoft.com/office/powerpoint/2010/main" val="2687779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7598A-7489-8F6D-91D8-19CE7F507B2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検索の山の前から、LINEでつながっておく。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出典｜Googleトレンド（日本・2026年年初来・週次）※相対値。スケールの違うKWは別のグラフにしている</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5"/>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6"/>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7"/>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読み取れること</a:t>
            </a:r>
          </a:p>
          <a:p>
            <a:pPr algn="l"/>
            <a:r>
              <a:rPr sz="1050" b="0">
                <a:solidFill>
                  <a:srgbClr val="333333"/>
                </a:solidFill>
                <a:latin typeface="メイリオ"/>
                <a:ea typeface="メイリオ"/>
                <a:cs typeface="メイリオ"/>
              </a:rPr>
              <a:t>・「塾」は2月上旬が山。ただし年間を通して大きくは落ちない</a:t>
            </a:r>
          </a:p>
          <a:p>
            <a:pPr algn="l"/>
            <a:r>
              <a:rPr sz="1050" b="0">
                <a:solidFill>
                  <a:srgbClr val="333333"/>
                </a:solidFill>
                <a:latin typeface="メイリオ"/>
                <a:ea typeface="メイリオ"/>
                <a:cs typeface="メイリオ"/>
              </a:rPr>
              <a:t>・講習は夏が圧倒的。冬期・春期の3〜5倍</a:t>
            </a:r>
          </a:p>
          <a:p>
            <a:pPr algn="l"/>
            <a:r>
              <a:rPr sz="1050" b="0">
                <a:solidFill>
                  <a:srgbClr val="333333"/>
                </a:solidFill>
                <a:latin typeface="メイリオ"/>
                <a:ea typeface="メイリオ"/>
                <a:cs typeface="メイリオ"/>
              </a:rPr>
              <a:t>・受験の検索は1月中旬〜2月上旬に集中</a:t>
            </a:r>
          </a:p>
          <a:p>
            <a:pPr algn="l"/>
            <a:r>
              <a:rPr sz="1050" b="1">
                <a:solidFill>
                  <a:srgbClr val="1F285A"/>
                </a:solidFill>
                <a:latin typeface="メイリオ"/>
                <a:ea typeface="メイリオ"/>
                <a:cs typeface="メイリオ"/>
              </a:rPr>
              <a:t>→ 山の時期だけ広告を増やすより、</a:t>
            </a:r>
          </a:p>
          <a:p>
            <a:pPr algn="l"/>
            <a:r>
              <a:rPr sz="1050" b="1">
                <a:solidFill>
                  <a:srgbClr val="1F285A"/>
                </a:solidFill>
                <a:latin typeface="メイリオ"/>
                <a:ea typeface="メイリオ"/>
                <a:cs typeface="メイリオ"/>
              </a:rPr>
              <a:t>　 山の前からLINEで接点を持っておく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50" b="1">
                <a:solidFill>
                  <a:srgbClr val="FFFFFF"/>
                </a:solidFill>
                <a:latin typeface="メイリオ"/>
                <a:ea typeface="メイリオ"/>
                <a:cs typeface="メイリオ"/>
              </a:rPr>
              <a:t>検索の山の前から、LINEでつながっておく。</a:t>
            </a:r>
          </a:p>
        </p:txBody>
      </p:sp>
    </p:spTree>
    <p:extLst>
      <p:ext uri="{BB962C8B-B14F-4D97-AF65-F5344CB8AC3E}">
        <p14:creationId xmlns:p14="http://schemas.microsoft.com/office/powerpoint/2010/main" val="6538660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5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50" b="1">
                <a:solidFill>
                  <a:srgbClr val="333333"/>
                </a:solidFill>
                <a:latin typeface="メイリオ"/>
                <a:ea typeface="メイリオ"/>
                <a:cs typeface="メイリオ"/>
              </a:rPr>
              <a:t>明光義塾</a:t>
            </a:r>
          </a:p>
          <a:p>
            <a:pPr algn="ctr"/>
            <a:r>
              <a:rPr sz="9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00897B"/>
                </a:solidFill>
                <a:latin typeface="メイリオ"/>
                <a:ea typeface="メイリオ"/>
                <a:cs typeface="メイリオ"/>
              </a:rPr>
              <a:t>あり（多数）</a:t>
            </a:r>
          </a:p>
          <a:p>
            <a:pPr algn="ctr"/>
            <a:r>
              <a:rPr sz="100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00897B"/>
                </a:solidFill>
                <a:latin typeface="メイリオ"/>
                <a:ea typeface="メイリオ"/>
                <a:cs typeface="メイリオ"/>
              </a:rPr>
              <a:t>あり</a:t>
            </a:r>
          </a:p>
          <a:p>
            <a:pPr algn="ctr"/>
            <a:r>
              <a:rPr sz="90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7F7F7F"/>
                </a:solidFill>
                <a:latin typeface="メイリオ"/>
                <a:ea typeface="メイリオ"/>
                <a:cs typeface="メイリオ"/>
              </a:rPr>
              <a:t>（体験予約はLINEの中で）</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50" b="1">
                <a:solidFill>
                  <a:srgbClr val="333333"/>
                </a:solidFill>
                <a:latin typeface="メイリオ"/>
                <a:ea typeface="メイリオ"/>
                <a:cs typeface="メイリオ"/>
              </a:rPr>
              <a:t>トライさん</a:t>
            </a:r>
          </a:p>
          <a:p>
            <a:pPr algn="ctr"/>
            <a:r>
              <a:rPr sz="9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333333"/>
                </a:solidFill>
                <a:latin typeface="メイリオ"/>
                <a:ea typeface="メイリオ"/>
                <a:cs typeface="メイリオ"/>
              </a:rPr>
              <a:t>生徒</a:t>
            </a:r>
          </a:p>
          <a:p>
            <a:pPr algn="ctr"/>
            <a:r>
              <a:rPr sz="100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333333"/>
                </a:solidFill>
                <a:latin typeface="メイリオ"/>
                <a:ea typeface="メイリオ"/>
                <a:cs typeface="メイリオ"/>
              </a:rPr>
              <a:t>Webの性格診断あり</a:t>
            </a:r>
          </a:p>
          <a:p>
            <a:pPr algn="ctr"/>
            <a:r>
              <a:rPr sz="90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50" b="1">
                <a:solidFill>
                  <a:srgbClr val="333333"/>
                </a:solidFill>
                <a:latin typeface="メイリオ"/>
                <a:ea typeface="メイリオ"/>
                <a:cs typeface="メイリオ"/>
              </a:rPr>
              <a:t>運営会社名義</a:t>
            </a:r>
          </a:p>
          <a:p>
            <a:pPr algn="ctr"/>
            <a:r>
              <a:rPr sz="950" b="0">
                <a:solidFill>
                  <a:srgbClr val="333333"/>
                </a:solidFill>
                <a:latin typeface="メイリオ"/>
                <a:ea typeface="メイリオ"/>
                <a:cs typeface="メイリオ"/>
              </a:rPr>
              <a:t>（スプリックス）</a:t>
            </a:r>
          </a:p>
          <a:p>
            <a:pPr algn="ctr"/>
            <a:r>
              <a:rPr sz="9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1F285A"/>
                </a:solidFill>
                <a:latin typeface="メイリオ"/>
                <a:ea typeface="メイリオ"/>
                <a:cs typeface="メイリオ"/>
              </a:rPr>
              <a:t>明光義塾はLINEで成果を出している（公式事例・P15）</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・資料請求が前年比120％ほど（2023年6〜7月）</a:t>
            </a:r>
          </a:p>
        </p:txBody>
      </p:sp>
      <p:sp>
        <p:nvSpPr>
          <p:cNvPr id="103" name="Rounded Rectangle 102"/>
          <p:cNvSpPr/>
          <p:nvPr/>
        </p:nvSpPr>
        <p:spPr>
          <a:xfrm>
            <a:off x="5047200" y="4788000"/>
            <a:ext cx="4428000" cy="990000"/>
          </a:xfrm>
          <a:prstGeom prst="roundRect">
            <a:avLst>
              <a:gd name="adj" fmla="val 8000"/>
            </a:avLst>
          </a:prstGeom>
          <a:solidFill>
            <a:srgbClr val="E4E9F2"/>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333333"/>
                </a:solidFill>
                <a:latin typeface="メイリオ"/>
                <a:ea typeface="メイリオ"/>
                <a:cs typeface="メイリオ"/>
              </a:rPr>
              <a:t>差がつくところ</a:t>
            </a:r>
          </a:p>
          <a:p>
            <a:pPr algn="l"/>
            <a:r>
              <a:rPr sz="950" b="0">
                <a:solidFill>
                  <a:srgbClr val="333333"/>
                </a:solidFill>
                <a:latin typeface="メイリオ"/>
                <a:ea typeface="メイリオ"/>
                <a:cs typeface="メイリオ"/>
              </a:rPr>
              <a:t>・保護者向けに「診断 → 体験予約」をLINEの中で</a:t>
            </a:r>
          </a:p>
          <a:p>
            <a:pPr algn="l"/>
            <a:r>
              <a:rPr sz="950" b="0">
                <a:solidFill>
                  <a:srgbClr val="333333"/>
                </a:solidFill>
                <a:latin typeface="メイリオ"/>
                <a:ea typeface="メイリオ"/>
                <a:cs typeface="メイリオ"/>
              </a:rPr>
              <a:t>　つないでいるのは、確認した4社では明光義塾だけ</a:t>
            </a:r>
          </a:p>
          <a:p>
            <a:pPr algn="l"/>
            <a:r>
              <a:rPr sz="950" b="0">
                <a:solidFill>
                  <a:srgbClr val="333333"/>
                </a:solidFill>
                <a:latin typeface="メイリオ"/>
                <a:ea typeface="メイリオ"/>
                <a:cs typeface="メイリオ"/>
              </a:rPr>
              <a:t>・トライは生徒向け。森塾・ナビは公式サイトにLINEの導線がない</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保護者向けに、診断から体験予約までをLINEでつないでいる塾は、まだ少ない。</a:t>
            </a:r>
          </a:p>
        </p:txBody>
      </p:sp>
    </p:spTree>
    <p:extLst>
      <p:ext uri="{BB962C8B-B14F-4D97-AF65-F5344CB8AC3E}">
        <p14:creationId xmlns:p14="http://schemas.microsoft.com/office/powerpoint/2010/main" val="40693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軽い申し込み（資料請求）で先につながり、体験予約、入会へ進んでもらう。</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資料を読む人へ</a:t>
            </a:r>
          </a:p>
          <a:p>
            <a:pPr algn="ctr"/>
            <a:r>
              <a:rPr sz="1100" b="0">
                <a:solidFill>
                  <a:srgbClr val="333333"/>
                </a:solidFill>
                <a:latin typeface="メイリオ"/>
                <a:ea typeface="メイリオ"/>
                <a:cs typeface="メイリオ"/>
              </a:rPr>
              <a:t>追いの配信→体験予約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入会しなかった人へ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850" b="1">
                <a:solidFill>
                  <a:srgbClr val="1F285A"/>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897B"/>
                </a:solidFill>
                <a:latin typeface="メイリオ"/>
                <a:ea typeface="メイリオ"/>
                <a:cs typeface="メイリオ"/>
              </a:rPr>
              <a:t>CV① 資料請求（軽い）</a:t>
            </a:r>
          </a:p>
          <a:p>
            <a:pPr algn="l"/>
            <a:r>
              <a:rPr sz="1250" b="0">
                <a:solidFill>
                  <a:srgbClr val="333333"/>
                </a:solidFill>
                <a:latin typeface="メイリオ"/>
                <a:ea typeface="メイリオ"/>
                <a:cs typeface="メイリオ"/>
              </a:rPr>
              <a:t>・まだ決めていない保護者でも、気軽に申し込める</a:t>
            </a:r>
          </a:p>
          <a:p>
            <a:pPr algn="l"/>
            <a:r>
              <a:rPr sz="125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00897B"/>
                </a:solidFill>
                <a:latin typeface="メイリオ"/>
                <a:ea typeface="メイリオ"/>
                <a:cs typeface="メイリオ"/>
              </a:rPr>
              <a:t>CV② 体験予約（重い）</a:t>
            </a:r>
          </a:p>
          <a:p>
            <a:pPr algn="l"/>
            <a:r>
              <a:rPr sz="1350" b="0">
                <a:solidFill>
                  <a:srgbClr val="333333"/>
                </a:solidFill>
                <a:latin typeface="メイリオ"/>
                <a:ea typeface="メイリオ"/>
                <a:cs typeface="メイリオ"/>
              </a:rPr>
              <a:t>・資料を読んで「合いそう」と思った保護者が進む</a:t>
            </a:r>
          </a:p>
          <a:p>
            <a:pPr algn="l"/>
            <a:r>
              <a:rPr sz="1350" b="0">
                <a:solidFill>
                  <a:srgbClr val="333333"/>
                </a:solidFill>
                <a:latin typeface="メイリオ"/>
                <a:ea typeface="メイリオ"/>
                <a:cs typeface="メイリオ"/>
              </a:rPr>
              <a:t>・体験に来てもらえれば、入会は教室で決まる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700" b="1">
                <a:solidFill>
                  <a:srgbClr val="FFFFFF"/>
                </a:solidFill>
                <a:latin typeface="メイリオ"/>
                <a:ea typeface="メイリオ"/>
                <a:cs typeface="メイリオ"/>
              </a:rPr>
              <a:t>いきなり体験を迫らず、資料請求 → 体験予約 → 入会の順に進んでもらう。</a:t>
            </a:r>
          </a:p>
        </p:txBody>
      </p:sp>
    </p:spTree>
    <p:extLst>
      <p:ext uri="{BB962C8B-B14F-4D97-AF65-F5344CB8AC3E}">
        <p14:creationId xmlns:p14="http://schemas.microsoft.com/office/powerpoint/2010/main" val="3225074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初めの1〜2ヶ月でつくるのは、診断・リッチメニュー・14日間の配信。</a:t>
            </a:r>
          </a:p>
          <a:p>
            <a:pPr algn="l">
              <a:lnSpc>
                <a:spcPct val="128000"/>
              </a:lnSpc>
            </a:pPr>
            <a:r>
              <a:rPr sz="1200">
                <a:solidFill>
                  <a:srgbClr val="333333"/>
                </a:solidFill>
                <a:latin typeface="メイリオ"/>
                <a:ea typeface="メイリオ"/>
                <a:cs typeface="メイリオ"/>
              </a:rPr>
              <a:t>あとは毎月、企画配信と出し分け配信を回す。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初めにつくるもの（1〜2ヶ月）</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毎月まわすもの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作り込むのは、診断・リッチメニュー・14日間の配信の3つ。</a:t>
            </a:r>
          </a:p>
          <a:p>
            <a:pPr algn="ctr"/>
            <a:r>
              <a:rPr sz="1100" b="0">
                <a:solidFill>
                  <a:srgbClr val="333333"/>
                </a:solidFill>
                <a:latin typeface="メイリオ"/>
                <a:ea typeface="メイリオ"/>
                <a:cs typeface="メイリオ"/>
              </a:rPr>
              <a:t>ここが弱いと、あとの配信が全部弱くなる。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右の丸は、8フェーズのどこに効くか（番号）</a:t>
            </a:r>
          </a:p>
        </p:txBody>
      </p:sp>
    </p:spTree>
    <p:extLst>
      <p:ext uri="{BB962C8B-B14F-4D97-AF65-F5344CB8AC3E}">
        <p14:creationId xmlns:p14="http://schemas.microsoft.com/office/powerpoint/2010/main" val="4224870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F09D0-C3F8-FF51-9B68-5792A11B67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P7〜P12のデータを、すべきことに置き換える。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塾名を調べる前の保護者と先につながり、申し込む前に「合う・合わない」を見せる。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サイトに来た保護者の多くは、名前を残さず帰っている</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塾名を調べる前から、保護者は調べ始めている（P8〜P11）</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申し込む前に「合う・合わない」を見せる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検索の山は2月と7月（P12）</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山の前から接点を持っておく</a:t>
            </a: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診断と資料をきっかけにLINEの友だちになってもらい、比べている間ずっと情報を届ける。</a:t>
            </a:r>
          </a:p>
        </p:txBody>
      </p:sp>
    </p:spTree>
    <p:extLst>
      <p:ext uri="{BB962C8B-B14F-4D97-AF65-F5344CB8AC3E}">
        <p14:creationId xmlns:p14="http://schemas.microsoft.com/office/powerpoint/2010/main" val="177280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1590B-7660-E16F-AF1F-C1B09199CC7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決断を迫らず、「資料と診断を受け取るだけ」でつながる入口をつくる。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※ボタン文言の言い換えはDYM見解。離脱防止ポップアップはSitelead等（別途費用）。明光義塾も、サイトの初回訪問時・離脱時のポップアップで友だちを集めていた（公式事例・P15）</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サイトに来た保護者の多くは、名前を残さず帰る</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1">
                <a:solidFill>
                  <a:srgbClr val="1F285A"/>
                </a:solidFill>
                <a:latin typeface="メイリオ"/>
                <a:ea typeface="メイリオ"/>
                <a:cs typeface="メイリオ"/>
              </a:rPr>
              <a:t>サイトの離脱防止ポップアップ</a:t>
            </a:r>
          </a:p>
          <a:p>
            <a:pPr algn="l"/>
            <a:r>
              <a:rPr sz="1200" b="0">
                <a:solidFill>
                  <a:srgbClr val="333333"/>
                </a:solidFill>
                <a:latin typeface="メイリオ"/>
                <a:ea typeface="メイリオ"/>
                <a:cs typeface="メイリオ"/>
              </a:rPr>
              <a:t>帰ろうとした瞬間に表示。広告費を足さずにつながれる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1">
                <a:solidFill>
                  <a:srgbClr val="1F285A"/>
                </a:solidFill>
                <a:latin typeface="メイリオ"/>
                <a:ea typeface="メイリオ"/>
                <a:cs typeface="メイリオ"/>
              </a:rPr>
              <a:t>チラシ・教室掲示のQR</a:t>
            </a:r>
          </a:p>
          <a:p>
            <a:pPr algn="l"/>
            <a:r>
              <a:rPr sz="1200" b="0">
                <a:solidFill>
                  <a:srgbClr val="333333"/>
                </a:solidFill>
                <a:latin typeface="メイリオ"/>
                <a:ea typeface="メイリオ"/>
                <a:cs typeface="メイリオ"/>
              </a:rPr>
              <a:t>今あるチラシにQRを1つ足すだけ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1">
                <a:solidFill>
                  <a:srgbClr val="1F285A"/>
                </a:solidFill>
                <a:latin typeface="メイリオ"/>
                <a:ea typeface="メイリオ"/>
                <a:cs typeface="メイリオ"/>
              </a:rPr>
              <a:t>友だちからの紹介（入会前）</a:t>
            </a:r>
          </a:p>
          <a:p>
            <a:pPr algn="l"/>
            <a:r>
              <a:rPr sz="1200" b="0">
                <a:solidFill>
                  <a:srgbClr val="333333"/>
                </a:solidFill>
                <a:latin typeface="メイリオ"/>
                <a:ea typeface="メイリオ"/>
                <a:cs typeface="メイリオ"/>
              </a:rPr>
              <a:t>「一緒に体験しよう」をLINEで送ってもらう（P26）</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※お名前・お電話番号は不要です</a:t>
            </a:r>
          </a:p>
        </p:txBody>
      </p:sp>
    </p:spTree>
    <p:extLst>
      <p:ext uri="{BB962C8B-B14F-4D97-AF65-F5344CB8AC3E}">
        <p14:creationId xmlns:p14="http://schemas.microsoft.com/office/powerpoint/2010/main" val="4260980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最初の1通で安心できることを先に伝え、診断へ進んでもらう。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※文面の教室長名・対応時間・配信頻度は、貴社の運用に合わせて調整します</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0">
                <a:solidFill>
                  <a:srgbClr val="333333"/>
                </a:solidFill>
                <a:latin typeface="メイリオ"/>
                <a:ea typeface="メイリオ"/>
                <a:cs typeface="メイリオ"/>
              </a:rPr>
              <a:t>友だち追加の直後は、</a:t>
            </a:r>
          </a:p>
          <a:p>
            <a:pPr algn="l"/>
            <a:r>
              <a:rPr sz="12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0">
                <a:solidFill>
                  <a:srgbClr val="333333"/>
                </a:solidFill>
                <a:latin typeface="メイリオ"/>
                <a:ea typeface="メイリオ"/>
                <a:cs typeface="メイリオ"/>
              </a:rPr>
              <a:t>安心できることを先に伝えて、</a:t>
            </a:r>
          </a:p>
          <a:p>
            <a:pPr algn="l"/>
            <a:r>
              <a:rPr sz="1200" b="0">
                <a:solidFill>
                  <a:srgbClr val="333333"/>
                </a:solidFill>
                <a:latin typeface="メイリオ"/>
                <a:ea typeface="メイリオ"/>
                <a:cs typeface="メイリオ"/>
              </a:rPr>
              <a:t>診断へ進んでもらう</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0">
                <a:solidFill>
                  <a:srgbClr val="FFFFFF"/>
                </a:solidFill>
                <a:latin typeface="メイリオ"/>
                <a:ea typeface="メイリオ"/>
                <a:cs typeface="メイリオ"/>
              </a:rPr>
              <a:t>あいさつメッセージの</a:t>
            </a:r>
          </a:p>
          <a:p>
            <a:pPr algn="l"/>
            <a:r>
              <a:rPr sz="12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30秒診断をはじめる</a:t>
            </a:r>
          </a:p>
        </p:txBody>
      </p:sp>
    </p:spTree>
    <p:extLst>
      <p:ext uri="{BB962C8B-B14F-4D97-AF65-F5344CB8AC3E}">
        <p14:creationId xmlns:p14="http://schemas.microsoft.com/office/powerpoint/2010/main" val="970958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申し込む前に「集団・個別・映像のどれが合うか」を見せて、納得してから体験へ。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※明光義塾は、相性チェック（5問）と合わせて、LINEの中での体験予約も案内している（P16）。競合の診断（トライの性格別学習法診断など）はP14を参照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「合う・合わない」を見せる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同じ悩みだった子の変化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体験予約（LINEの中で受付）</a:t>
            </a:r>
          </a:p>
        </p:txBody>
      </p:sp>
    </p:spTree>
    <p:extLst>
      <p:ext uri="{BB962C8B-B14F-4D97-AF65-F5344CB8AC3E}">
        <p14:creationId xmlns:p14="http://schemas.microsoft.com/office/powerpoint/2010/main" val="12511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一番押してほしい行動（無料体験・教室見学の予約）を右下に置く。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※体験予約済みの方には、タブ②（体験当日の流れ・アクセス・日程変更など）を出し分ける。明光義塾は、一番大きい枠に「授業料シミュレーション」を置いている（P16）</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ounded Rectangle 58"/>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一番押してほしい行動を、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30秒</a:t>
            </a:r>
          </a:p>
          <a:p>
            <a:pPr algn="ctr"/>
            <a:r>
              <a:rPr sz="9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教室・講師</a:t>
            </a:r>
          </a:p>
          <a:p>
            <a:pPr algn="ctr"/>
            <a:r>
              <a:rPr sz="9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資料を</a:t>
            </a:r>
          </a:p>
          <a:p>
            <a:pPr algn="ctr"/>
            <a:r>
              <a:rPr sz="9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友だちと</a:t>
            </a:r>
          </a:p>
          <a:p>
            <a:pPr algn="ctr"/>
            <a:r>
              <a:rPr sz="9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450" b="0">
                <a:solidFill>
                  <a:srgbClr val="333333"/>
                </a:solidFill>
                <a:latin typeface="メイリオ"/>
                <a:ea typeface="メイリオ"/>
                <a:cs typeface="メイリオ"/>
              </a:rPr>
              <a:t>📅</a:t>
            </a:r>
          </a:p>
          <a:p>
            <a:pPr algn="ctr"/>
            <a:r>
              <a:rPr sz="900" b="1">
                <a:solidFill>
                  <a:srgbClr val="FFFFFF"/>
                </a:solidFill>
                <a:latin typeface="メイリオ"/>
                <a:ea typeface="メイリオ"/>
                <a:cs typeface="メイリオ"/>
              </a:rPr>
              <a:t>無料体験・</a:t>
            </a:r>
          </a:p>
          <a:p>
            <a:pPr algn="ctr"/>
            <a:r>
              <a:rPr sz="9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0">
                <a:solidFill>
                  <a:srgbClr val="333333"/>
                </a:solidFill>
                <a:latin typeface="メイリオ"/>
                <a:ea typeface="メイリオ"/>
                <a:cs typeface="メイリオ"/>
              </a:rPr>
              <a:t>・右下：一番押してほしい行動。体験・見学の予約（CV②）</a:t>
            </a:r>
          </a:p>
          <a:p>
            <a:pPr algn="l"/>
            <a:r>
              <a:rPr sz="1100" b="0">
                <a:solidFill>
                  <a:srgbClr val="333333"/>
                </a:solidFill>
                <a:latin typeface="メイリオ"/>
                <a:ea typeface="メイリオ"/>
                <a:cs typeface="メイリオ"/>
              </a:rPr>
              <a:t>・左下：資料を受け取る（CV①）。体験はまだ早い保護者の受け皿</a:t>
            </a:r>
          </a:p>
          <a:p>
            <a:pPr algn="l"/>
            <a:r>
              <a:rPr sz="1100" b="0">
                <a:solidFill>
                  <a:srgbClr val="333333"/>
                </a:solidFill>
                <a:latin typeface="メイリオ"/>
                <a:ea typeface="メイリオ"/>
                <a:cs typeface="メイリオ"/>
              </a:rPr>
              <a:t>・上段：比べるときに見たい情報（診断・料金・教室）</a:t>
            </a:r>
          </a:p>
          <a:p>
            <a:pPr algn="l"/>
            <a:r>
              <a:rPr sz="110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Tree>
    <p:extLst>
      <p:ext uri="{BB962C8B-B14F-4D97-AF65-F5344CB8AC3E}">
        <p14:creationId xmlns:p14="http://schemas.microsoft.com/office/powerpoint/2010/main" val="203427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同じ内容を全員に送ると、合わない人にはブロックされる。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0">
                <a:solidFill>
                  <a:srgbClr val="333333"/>
                </a:solidFill>
                <a:latin typeface="メイリオ"/>
                <a:ea typeface="メイリオ"/>
                <a:cs typeface="メイリオ"/>
              </a:rPr>
              <a:t>同じ内容を全員に送ると、</a:t>
            </a:r>
          </a:p>
          <a:p>
            <a:pPr algn="l"/>
            <a:r>
              <a:rPr sz="1200" b="0">
                <a:solidFill>
                  <a:srgbClr val="333333"/>
                </a:solidFill>
                <a:latin typeface="メイリオ"/>
                <a:ea typeface="メイリオ"/>
                <a:cs typeface="メイリオ"/>
              </a:rPr>
              <a:t>合わない人にはブロックされる</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8" name="Rounded Rectangle 17"/>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0">
                <a:solidFill>
                  <a:srgbClr val="333333"/>
                </a:solidFill>
                <a:latin typeface="メイリオ"/>
                <a:ea typeface="メイリオ"/>
                <a:cs typeface="メイリオ"/>
              </a:rPr>
              <a:t>保護者ごとに、</a:t>
            </a:r>
          </a:p>
          <a:p>
            <a:pPr algn="l"/>
            <a:r>
              <a:rPr sz="12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0">
                <a:solidFill>
                  <a:srgbClr val="FFFFFF"/>
                </a:solidFill>
                <a:latin typeface="メイリオ"/>
                <a:ea typeface="メイリオ"/>
                <a:cs typeface="メイリオ"/>
              </a:rPr>
              <a:t>診断タグ＋行動タグで</a:t>
            </a:r>
          </a:p>
          <a:p>
            <a:pPr algn="l"/>
            <a:r>
              <a:rPr sz="12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「情報収集だけ」→ 売り込みは控えて週1の情報だけ</a:t>
            </a:r>
          </a:p>
        </p:txBody>
      </p:sp>
      <p:sp>
        <p:nvSpPr>
          <p:cNvPr id="39"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※明光義塾は、アンケートの回答をもとに「まだ塾に通っていない」お子さま・保護者に絞って配信していた（公式事例・P15）</a:t>
            </a:r>
          </a:p>
        </p:txBody>
      </p:sp>
    </p:spTree>
    <p:extLst>
      <p:ext uri="{BB962C8B-B14F-4D97-AF65-F5344CB8AC3E}">
        <p14:creationId xmlns:p14="http://schemas.microsoft.com/office/powerpoint/2010/main" val="133544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比べている間は、売り込みではなく役に立つ情報を届け、体験予約に進んでもらう。</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※前後検索（P8〜P11）：比べている間は、塾の費用・いつから・口コミを調べている。配信の中身をこれに合わせる。明光義塾のステップ配信の例はP17</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（前後検索・P8〜P11）</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4" name="Rounded Rectangle 23"/>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売り込みより先に、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まだ予約していない人</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00897B"/>
                </a:solidFill>
                <a:latin typeface="メイリオ"/>
                <a:ea typeface="メイリオ"/>
                <a:cs typeface="メイリオ"/>
              </a:rPr>
              <a:t>体験予約した人</a:t>
            </a:r>
          </a:p>
          <a:p>
            <a:pPr algn="ctr"/>
            <a:r>
              <a:rPr sz="1100" b="0">
                <a:solidFill>
                  <a:srgbClr val="333333"/>
                </a:solidFill>
                <a:latin typeface="メイリオ"/>
                <a:ea typeface="メイリオ"/>
                <a:cs typeface="メイリオ"/>
              </a:rPr>
              <a:t>→ 前日リマインドへ（P33）</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予約しなかった人</a:t>
            </a:r>
          </a:p>
          <a:p>
            <a:pPr algn="ctr"/>
            <a:r>
              <a:rPr sz="1100" b="0">
                <a:solidFill>
                  <a:srgbClr val="333333"/>
                </a:solidFill>
                <a:latin typeface="メイリオ"/>
                <a:ea typeface="メイリオ"/>
                <a:cs typeface="メイリオ"/>
              </a:rPr>
              <a:t>→ 週1回の配信へ合流し、講習の時期に再案内（⑥再育成）</a:t>
            </a:r>
          </a:p>
        </p:txBody>
      </p:sp>
    </p:spTree>
    <p:extLst>
      <p:ext uri="{BB962C8B-B14F-4D97-AF65-F5344CB8AC3E}">
        <p14:creationId xmlns:p14="http://schemas.microsoft.com/office/powerpoint/2010/main" val="173865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通知の冒頭（最初の15文字ほど）で開かれるかが決まるので、冒頭も1通ずつ決める。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※事例の数字は、貴社の実績（学年・期間・通った回数）に合わせて作成します。体験予約の前日のメッセージはP33</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ことで、3ヶ月後の定期テストで</a:t>
            </a:r>
          </a:p>
          <a:p>
            <a:pPr algn="l"/>
            <a:r>
              <a:rPr sz="850" b="0">
                <a:solidFill>
                  <a:srgbClr val="333333"/>
                </a:solidFill>
                <a:latin typeface="メイリオ"/>
                <a:ea typeface="メイリオ"/>
                <a:cs typeface="メイリオ"/>
              </a:rPr>
              <a:t>数学が◯点→◯点に。</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今週の体験枠を見る</a:t>
            </a:r>
          </a:p>
        </p:txBody>
      </p:sp>
    </p:spTree>
    <p:extLst>
      <p:ext uri="{BB962C8B-B14F-4D97-AF65-F5344CB8AC3E}">
        <p14:creationId xmlns:p14="http://schemas.microsoft.com/office/powerpoint/2010/main" val="106556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塾を知ったきっかけの1位は</a:t>
            </a:r>
          </a:p>
          <a:p>
            <a:pPr algn="l"/>
            <a:r>
              <a:rPr sz="115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友だちとの会話を、</a:t>
            </a:r>
          </a:p>
          <a:p>
            <a:pPr algn="l"/>
            <a:r>
              <a:rPr sz="115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FFFFFF"/>
                </a:solidFill>
                <a:latin typeface="メイリオ"/>
                <a:ea typeface="メイリオ"/>
                <a:cs typeface="メイリオ"/>
              </a:rPr>
              <a:t>友だちと一緒の体験枠をLINEで予約</a:t>
            </a:r>
          </a:p>
          <a:p>
            <a:pPr algn="l"/>
            <a:r>
              <a:rPr sz="115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400" b="1">
                <a:solidFill>
                  <a:srgbClr val="1F285A"/>
                </a:solidFill>
                <a:latin typeface="メイリオ"/>
                <a:ea typeface="メイリオ"/>
                <a:cs typeface="メイリオ"/>
              </a:rPr>
              <a:t>通う習慣がつきやすい</a:t>
            </a:r>
          </a:p>
          <a:p>
            <a:pPr algn="l"/>
            <a:r>
              <a:rPr sz="12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400" b="1">
                <a:solidFill>
                  <a:srgbClr val="1F285A"/>
                </a:solidFill>
                <a:latin typeface="メイリオ"/>
                <a:ea typeface="メイリオ"/>
                <a:cs typeface="メイリオ"/>
              </a:rPr>
              <a:t>励まし合える</a:t>
            </a:r>
          </a:p>
          <a:p>
            <a:pPr algn="l"/>
            <a:r>
              <a:rPr sz="12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400" b="1">
                <a:solidFill>
                  <a:srgbClr val="1F285A"/>
                </a:solidFill>
                <a:latin typeface="メイリオ"/>
                <a:ea typeface="メイリオ"/>
                <a:cs typeface="メイリオ"/>
              </a:rPr>
              <a:t>送り迎えを分担できる</a:t>
            </a:r>
          </a:p>
          <a:p>
            <a:pPr algn="l"/>
            <a:r>
              <a:rPr sz="12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Tree>
    <p:extLst>
      <p:ext uri="{BB962C8B-B14F-4D97-AF65-F5344CB8AC3E}">
        <p14:creationId xmlns:p14="http://schemas.microsoft.com/office/powerpoint/2010/main" val="22993589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体験を予約しても、当日来ない人がいる。理由の多くは「忘れた」「持ち物が不安」「変更の仕方が分からない」。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前日までに先回りして、体験に来てもらい、入会につなげる。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※体験に来ない割合・改善の幅は、貴社の実績をもとに確認します</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当日来ない人がいる</a:t>
            </a:r>
          </a:p>
          <a:p>
            <a:pPr algn="l"/>
            <a:r>
              <a:rPr sz="1000" b="0">
                <a:solidFill>
                  <a:srgbClr val="333333"/>
                </a:solidFill>
                <a:latin typeface="メイリオ"/>
                <a:ea typeface="メイリオ"/>
                <a:cs typeface="メイリオ"/>
              </a:rPr>
              <a:t>（割合は貴社の実績で確定）</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来ない理由を、</a:t>
            </a:r>
          </a:p>
          <a:p>
            <a:pPr algn="l"/>
            <a:r>
              <a:rPr sz="1000" b="0">
                <a:solidFill>
                  <a:srgbClr val="333333"/>
                </a:solidFill>
                <a:latin typeface="メイリオ"/>
                <a:ea typeface="メイリオ"/>
                <a:cs typeface="メイリオ"/>
              </a:rPr>
              <a:t>前日までに先回りしてなくす</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予約内容の確認</a:t>
            </a:r>
          </a:p>
          <a:p>
            <a:pPr algn="ctr"/>
            <a:r>
              <a:rPr sz="100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担当講師の紹介</a:t>
            </a:r>
          </a:p>
          <a:p>
            <a:pPr algn="ctr"/>
            <a:r>
              <a:rPr sz="100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持ち物・アクセス</a:t>
            </a:r>
          </a:p>
          <a:p>
            <a:pPr algn="ctr"/>
            <a:r>
              <a:rPr sz="100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「お待ちしています」</a:t>
            </a:r>
          </a:p>
          <a:p>
            <a:pPr algn="ctr"/>
            <a:r>
              <a:rPr sz="100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お礼＋診断結果</a:t>
            </a:r>
          </a:p>
          <a:p>
            <a:pPr algn="ctr"/>
            <a:r>
              <a:rPr sz="100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【明日◯時〜】体験授業のご確認です😊</a:t>
            </a:r>
          </a:p>
          <a:p>
            <a:pPr algn="l"/>
            <a:r>
              <a:rPr sz="950" b="0">
                <a:solidFill>
                  <a:srgbClr val="333333"/>
                </a:solidFill>
                <a:latin typeface="メイリオ"/>
                <a:ea typeface="メイリオ"/>
                <a:cs typeface="メイリオ"/>
              </a:rPr>
              <a:t>◯◯塾 △△教室（地図はこちら▼）</a:t>
            </a:r>
          </a:p>
          <a:p>
            <a:pPr algn="l"/>
            <a:r>
              <a:rPr sz="950" b="0">
                <a:solidFill>
                  <a:srgbClr val="333333"/>
                </a:solidFill>
                <a:latin typeface="メイリオ"/>
                <a:ea typeface="メイリオ"/>
                <a:cs typeface="メイリオ"/>
              </a:rPr>
              <a:t>✏️ 持ち物：筆記用具だけでOK（教材はご用意します）</a:t>
            </a:r>
          </a:p>
          <a:p>
            <a:pPr algn="l"/>
            <a:r>
              <a:rPr sz="950" b="0">
                <a:solidFill>
                  <a:srgbClr val="333333"/>
                </a:solidFill>
                <a:latin typeface="メイリオ"/>
                <a:ea typeface="メイリオ"/>
                <a:cs typeface="メイリオ"/>
              </a:rPr>
              <a:t>🚲 駐輪場：教室裏にあります</a:t>
            </a:r>
          </a:p>
          <a:p>
            <a:pPr algn="l"/>
            <a:r>
              <a:rPr sz="950" b="0">
                <a:solidFill>
                  <a:srgbClr val="333333"/>
                </a:solidFill>
                <a:latin typeface="メイリオ"/>
                <a:ea typeface="メイリオ"/>
                <a:cs typeface="メイリオ"/>
              </a:rPr>
              <a:t>👪 保護者さまは「見学」でも「面談だけ」でも大丈夫です</a:t>
            </a:r>
          </a:p>
          <a:p>
            <a:pPr algn="l"/>
            <a:r>
              <a:rPr sz="950" b="0">
                <a:solidFill>
                  <a:srgbClr val="333333"/>
                </a:solidFill>
                <a:latin typeface="メイリオ"/>
                <a:ea typeface="メイリオ"/>
                <a:cs typeface="メイリオ"/>
              </a:rPr>
              <a:t/>
            </a:r>
          </a:p>
          <a:p>
            <a:pPr algn="l"/>
            <a:r>
              <a:rPr sz="950" b="0">
                <a:solidFill>
                  <a:srgbClr val="333333"/>
                </a:solidFill>
                <a:latin typeface="メイリオ"/>
                <a:ea typeface="メイリオ"/>
                <a:cs typeface="メイリオ"/>
              </a:rPr>
              <a:t>ご都合が変わったら、このトークに「変更」と送って</a:t>
            </a:r>
          </a:p>
          <a:p>
            <a:pPr algn="l"/>
            <a:r>
              <a:rPr sz="950" b="0">
                <a:solidFill>
                  <a:srgbClr val="333333"/>
                </a:solidFill>
                <a:latin typeface="メイリオ"/>
                <a:ea typeface="メイリオ"/>
                <a:cs typeface="メイリオ"/>
              </a:rPr>
              <a:t>ください。別の日程をご案内します。</a:t>
            </a:r>
          </a:p>
          <a:p>
            <a:pPr algn="l"/>
            <a:r>
              <a:rPr sz="95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1">
                <a:solidFill>
                  <a:srgbClr val="333333"/>
                </a:solidFill>
                <a:latin typeface="メイリオ"/>
                <a:ea typeface="メイリオ"/>
                <a:cs typeface="メイリオ"/>
              </a:rPr>
              <a:t>「キャンセル料はありません」を必ず書く</a:t>
            </a:r>
          </a:p>
          <a:p>
            <a:pPr algn="l"/>
            <a:r>
              <a:rPr sz="1200" b="0">
                <a:solidFill>
                  <a:srgbClr val="333333"/>
                </a:solidFill>
                <a:latin typeface="メイリオ"/>
                <a:ea typeface="メイリオ"/>
                <a:cs typeface="メイリオ"/>
              </a:rPr>
              <a:t>変更・キャンセルの自由を先に伝えたほうが、</a:t>
            </a:r>
          </a:p>
          <a:p>
            <a:pPr algn="l"/>
            <a:r>
              <a:rPr sz="1200" b="0">
                <a:solidFill>
                  <a:srgbClr val="333333"/>
                </a:solidFill>
                <a:latin typeface="メイリオ"/>
                <a:ea typeface="メイリオ"/>
                <a:cs typeface="メイリオ"/>
              </a:rPr>
              <a:t>体験に来てもらいやすい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1">
                <a:solidFill>
                  <a:srgbClr val="1F285A"/>
                </a:solidFill>
                <a:latin typeface="メイリオ"/>
                <a:ea typeface="メイリオ"/>
                <a:cs typeface="メイリオ"/>
              </a:rPr>
              <a:t>翌日のメッセージで入会へ</a:t>
            </a:r>
          </a:p>
          <a:p>
            <a:pPr algn="l"/>
            <a:r>
              <a:rPr sz="1200" b="0">
                <a:solidFill>
                  <a:srgbClr val="333333"/>
                </a:solidFill>
                <a:latin typeface="メイリオ"/>
                <a:ea typeface="メイリオ"/>
                <a:cs typeface="メイリオ"/>
              </a:rPr>
              <a:t>お礼と診断結果を送り、入会の相談は</a:t>
            </a:r>
          </a:p>
          <a:p>
            <a:pPr algn="l"/>
            <a:r>
              <a:rPr sz="1200" b="0">
                <a:solidFill>
                  <a:srgbClr val="333333"/>
                </a:solidFill>
                <a:latin typeface="メイリオ"/>
                <a:ea typeface="メイリオ"/>
                <a:cs typeface="メイリオ"/>
              </a:rPr>
              <a:t>LINEで受け付けて教室へつなぐ</a:t>
            </a:r>
          </a:p>
        </p:txBody>
      </p:sp>
    </p:spTree>
    <p:extLst>
      <p:ext uri="{BB962C8B-B14F-4D97-AF65-F5344CB8AC3E}">
        <p14:creationId xmlns:p14="http://schemas.microsoft.com/office/powerpoint/2010/main" val="29571587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検索の山（2月・7月）の前から、その時期に保護者が考えていることを届ける。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「塾」の検索は2月上旬が山</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「テスト後、9割の家庭がしない事」（P32）</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年間最大の商戦。ここを外すと1年が変わる</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出典｜Googleトレンド（日本・2026年年初来・週次）。各月の内容はDYM見解</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27568268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講習の時期に合わせて、もう一度声をかける。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通知メッセージは別途費用。利用条件・単価はLINEヤフーの規定で変わるため、要件定義の際に最新の条件を確認します</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0">
                <a:solidFill>
                  <a:srgbClr val="333333"/>
                </a:solidFill>
                <a:latin typeface="メイリオ"/>
                <a:ea typeface="メイリオ"/>
                <a:cs typeface="メイリオ"/>
              </a:rPr>
              <a:t>資料請求や体験だけで止まった</a:t>
            </a:r>
          </a:p>
          <a:p>
            <a:pPr algn="l"/>
            <a:r>
              <a:rPr sz="12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0">
                <a:solidFill>
                  <a:srgbClr val="333333"/>
                </a:solidFill>
                <a:latin typeface="メイリオ"/>
                <a:ea typeface="メイリオ"/>
                <a:cs typeface="メイリオ"/>
              </a:rPr>
              <a:t>講習の時期に合わせて、</a:t>
            </a:r>
          </a:p>
          <a:p>
            <a:pPr algn="l"/>
            <a:r>
              <a:rPr sz="1200" b="0">
                <a:solidFill>
                  <a:srgbClr val="333333"/>
                </a:solidFill>
                <a:latin typeface="メイリオ"/>
                <a:ea typeface="メイリオ"/>
                <a:cs typeface="メイリオ"/>
              </a:rPr>
              <a:t>もう一度声をかける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0">
                <a:solidFill>
                  <a:srgbClr val="FFFFFF"/>
                </a:solidFill>
                <a:latin typeface="メイリオ"/>
                <a:ea typeface="メイリオ"/>
                <a:cs typeface="メイリオ"/>
              </a:rPr>
              <a:t>通知メッセージ（電話番号で</a:t>
            </a:r>
          </a:p>
          <a:p>
            <a:pPr algn="l"/>
            <a:r>
              <a:rPr sz="12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1">
                <a:solidFill>
                  <a:srgbClr val="1F285A"/>
                </a:solidFill>
                <a:latin typeface="メイリオ"/>
                <a:ea typeface="メイリオ"/>
                <a:cs typeface="メイリオ"/>
              </a:rPr>
              <a:t>資料請求だけで止まっている保護者</a:t>
            </a:r>
          </a:p>
          <a:p>
            <a:pPr algn="l"/>
            <a:r>
              <a:rPr sz="12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1">
                <a:solidFill>
                  <a:srgbClr val="1F285A"/>
                </a:solidFill>
                <a:latin typeface="メイリオ"/>
                <a:ea typeface="メイリオ"/>
                <a:cs typeface="メイリオ"/>
              </a:rPr>
              <a:t>体験に来たが、入会しなかった保護者</a:t>
            </a:r>
          </a:p>
          <a:p>
            <a:pPr algn="l"/>
            <a:r>
              <a:rPr sz="12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例：「夏期講習のご案内です。以前いただいた資料請求の</a:t>
            </a:r>
          </a:p>
          <a:p>
            <a:pPr algn="l"/>
            <a:r>
              <a:rPr sz="110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1">
                <a:solidFill>
                  <a:srgbClr val="1F285A"/>
                </a:solidFill>
                <a:latin typeface="メイリオ"/>
                <a:ea typeface="メイリオ"/>
                <a:cs typeface="メイリオ"/>
              </a:rPr>
              <a:t>注意すること</a:t>
            </a:r>
          </a:p>
          <a:p>
            <a:pPr algn="l"/>
            <a:r>
              <a:rPr sz="1200" b="0">
                <a:solidFill>
                  <a:srgbClr val="333333"/>
                </a:solidFill>
                <a:latin typeface="メイリオ"/>
                <a:ea typeface="メイリオ"/>
                <a:cs typeface="メイリオ"/>
              </a:rPr>
              <a:t>・関係がはっきりしている相手だけに送る（資料請求・体験をした保護者）</a:t>
            </a:r>
          </a:p>
          <a:p>
            <a:pPr algn="l"/>
            <a:r>
              <a:rPr sz="1200" b="0">
                <a:solidFill>
                  <a:srgbClr val="333333"/>
                </a:solidFill>
                <a:latin typeface="メイリオ"/>
                <a:ea typeface="メイリオ"/>
                <a:cs typeface="メイリオ"/>
              </a:rPr>
              <a:t>・「知らないのに届いた」と思われない文面にする（いつ・何で接点があったかを書く）</a:t>
            </a:r>
          </a:p>
        </p:txBody>
      </p:sp>
    </p:spTree>
    <p:extLst>
      <p:ext uri="{BB962C8B-B14F-4D97-AF65-F5344CB8AC3E}">
        <p14:creationId xmlns:p14="http://schemas.microsoft.com/office/powerpoint/2010/main" val="774396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00" b="0">
                <a:solidFill>
                  <a:srgbClr val="7F7F7F"/>
                </a:solidFill>
                <a:latin typeface="メイリオ"/>
                <a:ea typeface="メイリオ"/>
                <a:cs typeface="メイリオ"/>
              </a:rPr>
              <a:t>「まだ決めなくて</a:t>
            </a:r>
          </a:p>
          <a:p>
            <a:pPr algn="ctr"/>
            <a:r>
              <a:rPr sz="100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00" b="0">
                <a:solidFill>
                  <a:srgbClr val="7F7F7F"/>
                </a:solidFill>
                <a:latin typeface="メイリオ"/>
                <a:ea typeface="メイリオ"/>
                <a:cs typeface="メイリオ"/>
              </a:rPr>
              <a:t>名前・電話番号</a:t>
            </a:r>
          </a:p>
          <a:p>
            <a:pPr algn="ctr"/>
            <a:r>
              <a:rPr sz="100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00" b="0">
                <a:solidFill>
                  <a:srgbClr val="7F7F7F"/>
                </a:solidFill>
                <a:latin typeface="メイリオ"/>
                <a:ea typeface="メイリオ"/>
                <a:cs typeface="メイリオ"/>
              </a:rPr>
              <a:t>学年・悩み・性格</a:t>
            </a:r>
          </a:p>
          <a:p>
            <a:pPr algn="ctr"/>
            <a:r>
              <a:rPr sz="100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00" b="0">
                <a:solidFill>
                  <a:srgbClr val="7F7F7F"/>
                </a:solidFill>
                <a:latin typeface="メイリオ"/>
                <a:ea typeface="メイリオ"/>
                <a:cs typeface="メイリオ"/>
              </a:rPr>
              <a:t>コース・料金の</a:t>
            </a:r>
          </a:p>
          <a:p>
            <a:pPr algn="ctr"/>
            <a:r>
              <a:rPr sz="100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00" b="0">
                <a:solidFill>
                  <a:srgbClr val="7F7F7F"/>
                </a:solidFill>
                <a:latin typeface="メイリオ"/>
                <a:ea typeface="メイリオ"/>
                <a:cs typeface="メイリオ"/>
              </a:rPr>
              <a:t>LINEで日時を</a:t>
            </a:r>
          </a:p>
          <a:p>
            <a:pPr algn="ctr"/>
            <a:r>
              <a:rPr sz="100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00" b="0">
                <a:solidFill>
                  <a:srgbClr val="7F7F7F"/>
                </a:solidFill>
                <a:latin typeface="メイリオ"/>
                <a:ea typeface="メイリオ"/>
                <a:cs typeface="メイリオ"/>
              </a:rPr>
              <a:t>教室で</a:t>
            </a:r>
          </a:p>
          <a:p>
            <a:pPr algn="ctr"/>
            <a:r>
              <a:rPr sz="100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7F7F7F"/>
                </a:solidFill>
                <a:latin typeface="メイリオ"/>
                <a:ea typeface="メイリオ"/>
                <a:cs typeface="メイリオ"/>
              </a:rPr>
              <a:t>いま</a:t>
            </a:r>
          </a:p>
          <a:p>
            <a:pPr algn="l"/>
            <a:r>
              <a:rPr sz="1250" b="0">
                <a:solidFill>
                  <a:srgbClr val="333333"/>
                </a:solidFill>
                <a:latin typeface="メイリオ"/>
                <a:ea typeface="メイリオ"/>
                <a:cs typeface="メイリオ"/>
              </a:rPr>
              <a:t>サイト → 資料請求フォーム／電話 → 体験</a:t>
            </a:r>
          </a:p>
          <a:p>
            <a:pPr algn="l"/>
            <a:r>
              <a:rPr sz="1250" b="0">
                <a:solidFill>
                  <a:srgbClr val="333333"/>
                </a:solidFill>
                <a:latin typeface="メイリオ"/>
                <a:ea typeface="メイリオ"/>
                <a:cs typeface="メイリオ"/>
              </a:rPr>
              <a:t>・フォームに名前・住所・電話番号を入れる</a:t>
            </a:r>
          </a:p>
          <a:p>
            <a:pPr algn="l"/>
            <a:r>
              <a:rPr sz="1250" b="0">
                <a:solidFill>
                  <a:srgbClr val="333333"/>
                </a:solidFill>
                <a:latin typeface="メイリオ"/>
                <a:ea typeface="メイリオ"/>
                <a:cs typeface="メイリオ"/>
              </a:rPr>
              <a:t>・電話がかかってくるかもしれない</a:t>
            </a:r>
          </a:p>
          <a:p>
            <a:pPr algn="l"/>
            <a:r>
              <a:rPr sz="1250" b="1">
                <a:solidFill>
                  <a:srgbClr val="C00000"/>
                </a:solidFill>
                <a:latin typeface="メイリオ"/>
                <a:ea typeface="メイリオ"/>
                <a:cs typeface="メイリオ"/>
              </a:rPr>
              <a:t>→ 決めていない保護者は、ここで帰る</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1F285A"/>
                </a:solidFill>
                <a:latin typeface="メイリオ"/>
                <a:ea typeface="メイリオ"/>
                <a:cs typeface="メイリオ"/>
              </a:rPr>
              <a:t>LINEを入れると</a:t>
            </a:r>
          </a:p>
          <a:p>
            <a:pPr algn="l"/>
            <a:r>
              <a:rPr sz="1250" b="0">
                <a:solidFill>
                  <a:srgbClr val="333333"/>
                </a:solidFill>
                <a:latin typeface="メイリオ"/>
                <a:ea typeface="メイリオ"/>
                <a:cs typeface="メイリオ"/>
              </a:rPr>
              <a:t>サイト → LINE → 診断 → 資料 → 体験</a:t>
            </a:r>
          </a:p>
          <a:p>
            <a:pPr algn="l"/>
            <a:r>
              <a:rPr sz="1250" b="0">
                <a:solidFill>
                  <a:srgbClr val="333333"/>
                </a:solidFill>
                <a:latin typeface="メイリオ"/>
                <a:ea typeface="メイリオ"/>
                <a:cs typeface="メイリオ"/>
              </a:rPr>
              <a:t>・タップ1回で友だち追加。入力はいらない</a:t>
            </a:r>
          </a:p>
          <a:p>
            <a:pPr algn="l"/>
            <a:r>
              <a:rPr sz="1250" b="0">
                <a:solidFill>
                  <a:srgbClr val="333333"/>
                </a:solidFill>
                <a:latin typeface="メイリオ"/>
                <a:ea typeface="メイリオ"/>
                <a:cs typeface="メイリオ"/>
              </a:rPr>
              <a:t>・資料を読んでから、体験を決められる</a:t>
            </a:r>
          </a:p>
          <a:p>
            <a:pPr algn="l"/>
            <a:r>
              <a:rPr sz="1250" b="1">
                <a:solidFill>
                  <a:srgbClr val="1F285A"/>
                </a:solidFill>
                <a:latin typeface="メイリオ"/>
                <a:ea typeface="メイリオ"/>
                <a:cs typeface="メイリオ"/>
              </a:rPr>
              <a:t>→ 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入口の敷居を下げて、決めていない保護者ともつながる。</a:t>
            </a:r>
          </a:p>
        </p:txBody>
      </p:sp>
    </p:spTree>
    <p:extLst>
      <p:ext uri="{BB962C8B-B14F-4D97-AF65-F5344CB8AC3E}">
        <p14:creationId xmlns:p14="http://schemas.microsoft.com/office/powerpoint/2010/main" val="2299725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入会は教室で決まるので、3ヶ月ごとに教室から報告をもらって確認する。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3ヶ月ごとに見る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0">
                <a:solidFill>
                  <a:srgbClr val="333333"/>
                </a:solidFill>
                <a:latin typeface="メイリオ"/>
                <a:ea typeface="メイリオ"/>
                <a:cs typeface="メイリオ"/>
              </a:rPr>
              <a:t>入会数（教室から報告をもらう）</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友だちの数ではなく、資料請求・体験予約・入会で見る。</a:t>
            </a:r>
          </a:p>
        </p:txBody>
      </p:sp>
    </p:spTree>
    <p:extLst>
      <p:ext uri="{BB962C8B-B14F-4D97-AF65-F5344CB8AC3E}">
        <p14:creationId xmlns:p14="http://schemas.microsoft.com/office/powerpoint/2010/main" val="35561967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次の商戦から逆算して着手する。構築に約1.5ヶ月。そこから14日ステップが一周して、ようやく数字が動き出す。</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6" name="TextBox 5"/>
          <p:cNvSpPr txBox="1"/>
          <p:nvPr/>
        </p:nvSpPr>
        <p:spPr>
          <a:xfrm>
            <a:off x="4320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2週間</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0" name="TextBox 9"/>
          <p:cNvSpPr txBox="1"/>
          <p:nvPr/>
        </p:nvSpPr>
        <p:spPr>
          <a:xfrm>
            <a:off x="27198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3〜4週間</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4" name="TextBox 13"/>
          <p:cNvSpPr txBox="1"/>
          <p:nvPr/>
        </p:nvSpPr>
        <p:spPr>
          <a:xfrm>
            <a:off x="50076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1〜2週間</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8" name="TextBox 17"/>
          <p:cNvSpPr txBox="1"/>
          <p:nvPr/>
        </p:nvSpPr>
        <p:spPr>
          <a:xfrm>
            <a:off x="72954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継続</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・3ヶ月ごとに体験→入会の割合を確認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逆算のしかた（検索の山から）</a:t>
            </a:r>
          </a:p>
        </p:txBody>
      </p:sp>
      <p:sp>
        <p:nvSpPr>
          <p:cNvPr id="22" name="Rounded Rectangle 21"/>
          <p:cNvSpPr/>
          <p:nvPr/>
        </p:nvSpPr>
        <p:spPr>
          <a:xfrm>
            <a:off x="432000" y="4823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2〜3月の入会期を取りにいく　→　</a:t>
            </a:r>
            <a:r>
              <a:rPr sz="1200">
                <a:solidFill>
                  <a:srgbClr val="333333"/>
                </a:solidFill>
                <a:latin typeface="メイリオ"/>
                <a:ea typeface="メイリオ"/>
                <a:cs typeface="メイリオ"/>
              </a:rPr>
              <a:t>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7〜8月の夏期講習を取りにいく　→　</a:t>
            </a:r>
            <a:r>
              <a:rPr sz="1200">
                <a:solidFill>
                  <a:srgbClr val="333333"/>
                </a:solidFill>
                <a:latin typeface="メイリオ"/>
                <a:ea typeface="メイリオ"/>
                <a:cs typeface="メイリオ"/>
              </a:rPr>
              <a:t>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構築に約1.5ヶ月。14日間の配信が一周してから数字が動き出す</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38455432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誰が何をやるか。配信の実務（原稿・制作・設定・分析）は弊社が持ちます。</a:t>
            </a:r>
          </a:p>
          <a:p>
            <a:pPr algn="l">
              <a:lnSpc>
                <a:spcPct val="128000"/>
              </a:lnSpc>
            </a:pPr>
            <a:r>
              <a:rPr sz="1200">
                <a:solidFill>
                  <a:srgbClr val="333333"/>
                </a:solidFill>
                <a:latin typeface="メイリオ"/>
                <a:ea typeface="メイリオ"/>
                <a:cs typeface="メイリオ"/>
              </a:rPr>
              <a:t>貴社にお願いするのは、教室の情報と、月1回の定例会だけです。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貴社｜教室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配信企画の提案（弊社）→ 貴社confirm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a:solidFill>
                  <a:srgbClr val="FFFFFF"/>
                </a:solidFill>
                <a:latin typeface="メイリオ"/>
                <a:ea typeface="メイリオ"/>
                <a:cs typeface="メイリオ"/>
              </a:rPr>
              <a:t>貴社の負担は「教室の情報」と「月1回の定例会」だけ。配信の実務は弊社が持ちます。</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体制の人数・担当者名は契約時に確定します。定例会はオンライン可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1482779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他塾がやっていない企画（ご参考）。他塾がまだやっていない企画の例。</a:t>
            </a:r>
          </a:p>
          <a:p>
            <a:pPr algn="l">
              <a:lnSpc>
                <a:spcPct val="128000"/>
              </a:lnSpc>
            </a:pPr>
            <a:r>
              <a:rPr sz="1200">
                <a:solidFill>
                  <a:srgbClr val="333333"/>
                </a:solidFill>
                <a:latin typeface="メイリオ"/>
                <a:ea typeface="メイリオ"/>
                <a:cs typeface="メイリオ"/>
              </a:rPr>
              <a:t>以下は地域で最初の1社になれる企画案です。優先度はDYM見解。</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小3〜中2の保護者へ、学年ごとに「この時期にやるべきこと」を毎月配信。入塾学年の山（中受小4／他小5-6）の1学年前から接点を持つ</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24時間の質問対応。ただし塾は「先生」で選ばれる業界なので、有人対応の価値を下げないよう設計が要る</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1150">
                <a:solidFill>
                  <a:srgbClr val="333333"/>
                </a:solidFill>
                <a:latin typeface="メイリオ"/>
                <a:ea typeface="メイリオ"/>
                <a:cs typeface="メイリオ"/>
              </a:rPr>
              <a:t>◎＝根拠データあり・すぐ実行できる　／　○＝条件付きで有効　／　△＝この業界では優先度低（DYM見解）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優先度の判定はDYM見解。根拠は巻末の出典一覧を参照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9010635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1">
                <a:solidFill>
                  <a:srgbClr val="1F285A"/>
                </a:solidFill>
                <a:latin typeface="メイリオ"/>
                <a:ea typeface="メイリオ"/>
                <a:cs typeface="メイリオ"/>
              </a:rPr>
              <a:t>友だちと一緒の体験枠</a:t>
            </a:r>
          </a:p>
          <a:p>
            <a:pPr algn="l"/>
            <a:r>
              <a:rPr sz="1100" b="0">
                <a:solidFill>
                  <a:srgbClr val="333333"/>
                </a:solidFill>
                <a:latin typeface="メイリオ"/>
                <a:ea typeface="メイリオ"/>
                <a:cs typeface="メイリオ"/>
              </a:rPr>
              <a:t>2人まとめてLINEで予約（P26）</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1">
                <a:solidFill>
                  <a:srgbClr val="1F285A"/>
                </a:solidFill>
                <a:latin typeface="メイリオ"/>
                <a:ea typeface="メイリオ"/>
                <a:cs typeface="メイリオ"/>
              </a:rPr>
              <a:t>診断結果を友だちに送れる</a:t>
            </a:r>
          </a:p>
          <a:p>
            <a:pPr algn="l"/>
            <a:r>
              <a:rPr sz="110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300" b="1">
                <a:solidFill>
                  <a:srgbClr val="1F285A"/>
                </a:solidFill>
                <a:latin typeface="メイリオ"/>
                <a:ea typeface="メイリオ"/>
                <a:cs typeface="メイリオ"/>
              </a:rPr>
              <a:t>体験に来た保護者へ案内</a:t>
            </a:r>
          </a:p>
          <a:p>
            <a:pPr algn="l"/>
            <a:r>
              <a:rPr sz="110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口コミで選ばれる業界だから、口コミが生まれる場所にLINEの入口を置く。</a:t>
            </a:r>
          </a:p>
        </p:txBody>
      </p:sp>
    </p:spTree>
    <p:extLst>
      <p:ext uri="{BB962C8B-B14F-4D97-AF65-F5344CB8AC3E}">
        <p14:creationId xmlns:p14="http://schemas.microsoft.com/office/powerpoint/2010/main" val="21853059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a:solidFill>
                  <a:srgbClr val="333333"/>
                </a:solidFill>
                <a:latin typeface="メイリオ"/>
                <a:ea typeface="メイリオ"/>
                <a:cs typeface="メイリオ"/>
              </a:rPr>
              <a:t>この資料で使った数値の出所を、すべて並べます。</a:t>
            </a:r>
          </a:p>
          <a:p>
            <a:pPr algn="l">
              <a:lnSpc>
                <a:spcPct val="128000"/>
              </a:lnSpc>
            </a:pPr>
            <a:r>
              <a:rPr sz="1250">
                <a:solidFill>
                  <a:srgbClr val="333333"/>
                </a:solidFill>
                <a:latin typeface="メイリオ"/>
                <a:ea typeface="メイリオ"/>
                <a:cs typeface="メイリオ"/>
              </a:rPr>
              <a:t>出典のない数値は書いていません。</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P8〜P11・P13・P31</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LINEヤフー前後検索（2026年10月取得）起点KW：中学受験 塾／中高一貫 塾／高校受験 塾／英語 塾</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P12・P35</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P14</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851998"/>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P26・P36</a:t>
            </a:r>
          </a:p>
        </p:txBody>
      </p:sp>
      <p:sp>
        <p:nvSpPr>
          <p:cNvPr id="28" name="Rectangle 27"/>
          <p:cNvSpPr/>
          <p:nvPr/>
        </p:nvSpPr>
        <p:spPr>
          <a:xfrm>
            <a:off x="1764000" y="3851998"/>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4193998"/>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P54</a:t>
            </a:r>
          </a:p>
        </p:txBody>
      </p:sp>
      <p:sp>
        <p:nvSpPr>
          <p:cNvPr id="30" name="Rectangle 29"/>
          <p:cNvSpPr/>
          <p:nvPr/>
        </p:nvSpPr>
        <p:spPr>
          <a:xfrm>
            <a:off x="1764000" y="4193998"/>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4"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 for Business 導入事例 明光義塾（2024年4月5日・掲載の図版を含む）／明光義塾 LINE公式アカウント（2026-10-19 弊社確認）</a:t>
            </a:r>
          </a:p>
        </p:txBody>
      </p:sp>
      <p:sp>
        <p:nvSpPr>
          <p:cNvPr id="33"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P15〜P17・P21</a:t>
            </a:r>
          </a:p>
        </p:txBody>
      </p:sp>
      <p:sp>
        <p:nvSpPr>
          <p:cNvPr id="31" name="Rounded Rectangle 30"/>
          <p:cNvSpPr/>
          <p:nvPr/>
        </p:nvSpPr>
        <p:spPr>
          <a:xfrm>
            <a:off x="432000" y="4644000"/>
            <a:ext cx="90432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300" b="1">
                <a:solidFill>
                  <a:srgbClr val="1F285A"/>
                </a:solidFill>
                <a:latin typeface="メイリオ"/>
                <a:ea typeface="メイリオ"/>
                <a:cs typeface="メイリオ"/>
              </a:rPr>
              <a:t>LINEヤフー公式データ</a:t>
            </a:r>
          </a:p>
          <a:p>
            <a:pPr algn="l"/>
            <a:r>
              <a:rPr sz="1150" b="0">
                <a:solidFill>
                  <a:srgbClr val="333333"/>
                </a:solidFill>
                <a:latin typeface="メイリオ"/>
                <a:ea typeface="メイリオ"/>
                <a:cs typeface="メイリオ"/>
              </a:rPr>
              <a:t>・LINE 国内月間利用者数：1億人突破（2025年12月末時点）</a:t>
            </a:r>
          </a:p>
          <a:p>
            <a:pPr algn="l"/>
            <a:r>
              <a:rPr sz="1150" b="0">
                <a:solidFill>
                  <a:srgbClr val="333333"/>
                </a:solidFill>
                <a:latin typeface="メイリオ"/>
                <a:ea typeface="メイリオ"/>
                <a:cs typeface="メイリオ"/>
              </a:rPr>
              <a:t>・メッセージの開封：受信直後 約2割／3〜6時間で約5割／当日中に約8割</a:t>
            </a:r>
          </a:p>
        </p:txBody>
      </p:sp>
    </p:spTree>
    <p:extLst>
      <p:ext uri="{BB962C8B-B14F-4D97-AF65-F5344CB8AC3E}">
        <p14:creationId xmlns:p14="http://schemas.microsoft.com/office/powerpoint/2010/main" val="1932664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教室の手間を増やさずに回す。予約の受付・日程変更・持ち物の案内は、LINEで自動にする。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55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4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55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4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Tree>
    <p:extLst>
      <p:ext uri="{BB962C8B-B14F-4D97-AF65-F5344CB8AC3E}">
        <p14:creationId xmlns:p14="http://schemas.microsoft.com/office/powerpoint/2010/main" val="993846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2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2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1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1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1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1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1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1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2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2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2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2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11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85A"/>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85A"/>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85A"/>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700" dirty="0">
                <a:latin typeface="メイリオ" panose="020B0604030504040204" pitchFamily="50" charset="-128"/>
                <a:ea typeface="メイリオ" panose="020B0604030504040204" pitchFamily="50" charset="-128"/>
              </a:rPr>
              <a:t>LINEOA</a:t>
            </a:r>
            <a:r>
              <a:rPr kumimoji="1" lang="ja-JP" altLang="en-US" sz="17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700">
                <a:latin typeface="メイリオ" panose="020B0604030504040204" pitchFamily="50" charset="-128"/>
                <a:ea typeface="メイリオ" panose="020B0604030504040204" pitchFamily="50" charset="-128"/>
              </a:rPr>
              <a:t>集客動線</a:t>
            </a:r>
            <a:endParaRPr kumimoji="1" lang="ja-JP" altLang="en-US" sz="17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300" b="1" dirty="0">
                <a:latin typeface="メイリオ" panose="020B0604030504040204" pitchFamily="50" charset="-128"/>
                <a:ea typeface="メイリオ" panose="020B0604030504040204" pitchFamily="50" charset="-128"/>
              </a:rPr>
              <a:t>⑥ 有効リードの再育成</a:t>
            </a:r>
            <a:endParaRPr lang="ja-JP" altLang="ja-JP" sz="13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塾では、資料請求から体験予約までの間（⑤リード有効化）が最大の課題になりやすいと考えています（仮説）。</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最大の課題（仮説）</a:t>
            </a:r>
            <a:endParaRPr lang="ja-JP" altLang="en-US" sz="11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② 離脱</a:t>
            </a:r>
            <a:endParaRPr lang="ja-JP" altLang="en-US" sz="155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サイトに来た保護者の多くが、名前を残さずに帰っている。</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離脱防止ポップアップで、帰る前にLINEの友だちになってもらう。</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55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資料請求のあと、体験予約までの間に「読んで・比べて・迷う」期間があり、ここで他の塾に流れる。</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⑥ 再育成</a:t>
            </a:r>
            <a:endParaRPr lang="ja-JP" altLang="en-US" sz="155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体験に来なかった・入会しなかった保護者との接点が、そこで切れる。</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本日、貴塾で一番改善したいフェーズを確認し、そこに合わせてプランをご提案します。</a:t>
            </a:r>
            <a:endParaRPr lang="ja-JP" altLang="en-US" sz="1550" dirty="0"/>
          </a:p>
        </p:txBody>
      </p:sp>
    </p:spTree>
    <p:extLst>
      <p:ext uri="{BB962C8B-B14F-4D97-AF65-F5344CB8AC3E}">
        <p14:creationId xmlns:p14="http://schemas.microsoft.com/office/powerpoint/2010/main" val="15729428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・API連携なども含めて、ここまで対応できます</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・初期構築</a:t>
            </a:r>
            <a:endParaRPr lang="ja-JP" altLang="en-US" sz="1400" dirty="0"/>
          </a:p>
          <a:p>
            <a:pPr algn="l" marL="146304" indent="-146304">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・企画投稿 月1〜2本</a:t>
            </a:r>
            <a:endParaRPr lang="ja-JP" altLang="en-US" sz="1400" dirty="0"/>
          </a:p>
          <a:p>
            <a:pPr algn="l" marL="146304" indent="-146304">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400" dirty="0"/>
          </a:p>
          <a:p>
            <a:pPr algn="l" marL="146304" indent="-146304">
              <a:lnSpc>
                <a:spcPct val="115000"/>
              </a:lnSpc>
              <a:spcAft>
                <a:spcPts val="600"/>
              </a:spcAft>
              <a:buNone/>
            </a:pPr>
            <a:r>
              <a:rPr lang="ja-JP" altLang="en-US" sz="12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4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400" dirty="0"/>
          </a:p>
          <a:p>
            <a:pPr algn="l" marL="146304" indent="-146304">
              <a:lnSpc>
                <a:spcPct val="115000"/>
              </a:lnSpc>
              <a:spcAft>
                <a:spcPts val="600"/>
              </a:spcAft>
              <a:buNone/>
            </a:pPr>
            <a:r>
              <a:rPr lang="ja-JP" altLang="en-US" sz="12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400" dirty="0"/>
          </a:p>
          <a:p>
            <a:pPr algn="l" marL="146304" indent="-146304">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・初期構築</a:t>
            </a:r>
            <a:endParaRPr lang="ja-JP" altLang="en-US" sz="14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2110468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最適運用プラン（開発を含む）</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・開発を含むプラン</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・Hachidoriなどのツールと連携</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・貴塾に合わせた最適な運用</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30万円〜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サンクスLINE誘導のみ</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・サンクスLINE誘導のみ</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8515943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運用の参考事例｜明光義塾</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LINEで資料請求を伸ばした塾の事例です（LINEヤフー公式の導入事例）。</a:t>
            </a:r>
          </a:p>
          <a:p>
            <a:pPr algn="l">
              <a:lnSpc>
                <a:spcPct val="128000"/>
              </a:lnSpc>
            </a:pPr>
            <a:r>
              <a:rPr sz="1200" dirty="0" err="1">
                <a:solidFill>
                  <a:srgbClr val="333333"/>
                </a:solidFill>
                <a:latin typeface="メイリオ"/>
                <a:ea typeface="メイリオ"/>
                <a:cs typeface="メイリオ"/>
              </a:rPr>
              <a:t>「塾はすぐには申し込まれない」前提で、サイトから友だちになってもらい、比べている間をLINEで支えています。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出典｜LINEヤフー for Business 導入事例 明光義塾（2024年4月5日）。友だち数：page.line.me（2026-09-25実測）</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大手でも、やっていることは「友だちになってもらい、比べている間をLINEで支える」こと。</a:t>
            </a:r>
          </a:p>
        </p:txBody>
      </p:sp>
      <p:sp>
        <p:nvSpPr>
          <p:cNvPr id="105" name="Rounded Rectangle 104"/>
          <p:cNvSpPr/>
          <p:nvPr/>
        </p:nvSpPr>
        <p:spPr>
          <a:xfrm>
            <a:off x="429768"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30.8万人</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2026年9月の実測</a:t>
            </a:r>
            <a:endParaRPr lang="ja-JP" altLang="en-US" sz="1200" dirty="0"/>
          </a:p>
        </p:txBody>
      </p:sp>
      <p:sp>
        <p:nvSpPr>
          <p:cNvPr id="106" name="Rounded Rectangle 105"/>
          <p:cNvSpPr/>
          <p:nvPr/>
        </p:nvSpPr>
        <p:spPr>
          <a:xfrm>
            <a:off x="3511296"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スタンプ施策の約5か月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約20万人増</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うち約15万人は友だちからの広がり</a:t>
            </a:r>
            <a:endParaRPr lang="ja-JP" altLang="en-US" sz="1200" dirty="0"/>
          </a:p>
        </p:txBody>
      </p:sp>
      <p:sp>
        <p:nvSpPr>
          <p:cNvPr id="107" name="Rounded Rectangle 106"/>
          <p:cNvSpPr/>
          <p:nvPr/>
        </p:nvSpPr>
        <p:spPr>
          <a:xfrm>
            <a:off x="6592824"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資料請求（2023年6〜7月）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前年比 約120%</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スタンプ施策の後半2か月</a:t>
            </a:r>
            <a:endParaRPr lang="ja-JP" altLang="en-US" sz="1200" dirty="0"/>
          </a:p>
        </p:txBody>
      </p:sp>
      <p:sp>
        <p:nvSpPr>
          <p:cNvPr id="108" name="Rectangle 107"/>
          <p:cNvSpPr/>
          <p:nvPr/>
        </p:nvSpPr>
        <p:spPr>
          <a:xfrm>
            <a:off x="429768" y="2606040"/>
            <a:ext cx="9043416" cy="640080"/>
          </a:xfrm>
          <a:prstGeom prst="rect">
            <a:avLst/>
          </a:prstGeom>
          <a:solidFill>
            <a:srgbClr val="FFFFFF"/>
          </a:solidFill>
          <a:ln w="9525">
            <a:solidFill>
              <a:srgbClr val="D9D9D9"/>
            </a:solidFill>
          </a:ln>
        </p:spPr>
        <p:txBody>
          <a:bodyPr wrap="square" lIns="128016" tIns="45720" rIns="128016" bIns="45720" rtlCol="0" anchor="ctr">
            <a:noAutofit/>
          </a:bodyPr>
          <a:lstStyle/>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「学習塾は他塾と念入りに比較検討されるお客さまが多く、</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Webサイトを訪れてすぐに資料請求や体験授業の申し込みなどのCV（コンバージョン）につながるケースはそこまで多くありません」</a:t>
            </a:r>
            <a:endParaRPr lang="ja-JP" altLang="en-US" sz="1000" dirty="0"/>
          </a:p>
          <a:p>
            <a:pPr algn="l">
              <a:lnSpc>
                <a:spcPct val="105000"/>
              </a:lnSpc>
              <a:buNone/>
            </a:pPr>
            <a:r>
              <a:rPr lang="ja-JP" altLang="en-US" sz="900" b="0" dirty="0">
                <a:solidFill>
                  <a:srgbClr val="595959"/>
                </a:solidFill>
                <a:latin typeface="メイリオ" panose="020B0604030504040204" pitchFamily="50" charset="-128"/>
                <a:ea typeface="メイリオ" panose="020B0604030504040204" pitchFamily="50" charset="-128"/>
              </a:rPr>
              <a:t>― 明光ネットワークジャパン ご担当者（公式事例より）</a:t>
            </a:r>
            <a:endParaRPr lang="ja-JP" altLang="en-US" sz="1000" dirty="0"/>
          </a:p>
        </p:txBody>
      </p:sp>
      <p:sp>
        <p:nvSpPr>
          <p:cNvPr id="109" name="Rectangle 108"/>
          <p:cNvSpPr/>
          <p:nvPr/>
        </p:nvSpPr>
        <p:spPr>
          <a:xfrm>
            <a:off x="429768" y="3383280"/>
            <a:ext cx="9043416" cy="274320"/>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公式事例（2023年）の施策の流れ</a:t>
            </a:r>
            <a:endParaRPr lang="ja-JP" altLang="en-US" sz="1300" dirty="0"/>
          </a:p>
        </p:txBody>
      </p:sp>
      <p:sp>
        <p:nvSpPr>
          <p:cNvPr id="110" name="Rectangle 109"/>
          <p:cNvSpPr/>
          <p:nvPr/>
        </p:nvSpPr>
        <p:spPr>
          <a:xfrm>
            <a:off x="429768"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初回訪問時・離脱時の</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ポップアップから</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友だち追加</a:t>
            </a:r>
            <a:endParaRPr lang="ja-JP" altLang="en-US" sz="1150" dirty="0"/>
          </a:p>
        </p:txBody>
      </p:sp>
      <p:sp>
        <p:nvSpPr>
          <p:cNvPr id="111" name="Rounded Rectangle 110"/>
          <p:cNvSpPr/>
          <p:nvPr/>
        </p:nvSpPr>
        <p:spPr>
          <a:xfrm>
            <a:off x="429768"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　サイトで</a:t>
            </a:r>
            <a:endParaRPr lang="ja-JP" altLang="en-US" sz="1100" dirty="0"/>
          </a:p>
        </p:txBody>
      </p:sp>
      <p:sp>
        <p:nvSpPr>
          <p:cNvPr id="112" name="Rectangle 111"/>
          <p:cNvSpPr/>
          <p:nvPr/>
        </p:nvSpPr>
        <p:spPr>
          <a:xfrm>
            <a:off x="2718054"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チャットと配信で</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良さ・他塾との違いを</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じっくり伝える</a:t>
            </a:r>
            <a:endParaRPr lang="ja-JP" altLang="en-US" sz="1150" dirty="0"/>
          </a:p>
        </p:txBody>
      </p:sp>
      <p:sp>
        <p:nvSpPr>
          <p:cNvPr id="113" name="Rounded Rectangle 112"/>
          <p:cNvSpPr/>
          <p:nvPr/>
        </p:nvSpPr>
        <p:spPr>
          <a:xfrm>
            <a:off x="2718054"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　追加のあと</a:t>
            </a:r>
            <a:endParaRPr lang="ja-JP" altLang="en-US" sz="1100" dirty="0"/>
          </a:p>
        </p:txBody>
      </p:sp>
      <p:sp>
        <p:nvSpPr>
          <p:cNvPr id="114" name="Rectangle 113"/>
          <p:cNvSpPr/>
          <p:nvPr/>
        </p:nvSpPr>
        <p:spPr>
          <a:xfrm>
            <a:off x="5006340"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タップで答えるアンケートに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答えるとスタンプを配布</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 友だちから広がる</a:t>
            </a:r>
            <a:endParaRPr lang="ja-JP" altLang="en-US" sz="1150" dirty="0"/>
          </a:p>
        </p:txBody>
      </p:sp>
      <p:sp>
        <p:nvSpPr>
          <p:cNvPr id="115" name="Rounded Rectangle 114"/>
          <p:cNvSpPr/>
          <p:nvPr/>
        </p:nvSpPr>
        <p:spPr>
          <a:xfrm>
            <a:off x="5006340"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　スタンプで</a:t>
            </a:r>
            <a:endParaRPr lang="ja-JP" altLang="en-US" sz="1100" dirty="0"/>
          </a:p>
        </p:txBody>
      </p:sp>
      <p:sp>
        <p:nvSpPr>
          <p:cNvPr id="116" name="Rectangle 115"/>
          <p:cNvSpPr/>
          <p:nvPr/>
        </p:nvSpPr>
        <p:spPr>
          <a:xfrm>
            <a:off x="7294626"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回答をもとに、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まだ塾に通っていない</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お子さま・保護者に絞る</a:t>
            </a:r>
            <a:endParaRPr lang="ja-JP" altLang="en-US" sz="1150" dirty="0"/>
          </a:p>
        </p:txBody>
      </p:sp>
      <p:sp>
        <p:nvSpPr>
          <p:cNvPr id="117" name="Rounded Rectangle 116"/>
          <p:cNvSpPr/>
          <p:nvPr/>
        </p:nvSpPr>
        <p:spPr>
          <a:xfrm>
            <a:off x="7294626"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　配信で</a:t>
            </a:r>
            <a:endParaRPr lang="ja-JP" altLang="en-US" sz="1100" dirty="0"/>
          </a:p>
        </p:txBody>
      </p:sp>
      <p:sp>
        <p:nvSpPr>
          <p:cNvPr id="118" name="Rectangle 117"/>
          <p:cNvSpPr/>
          <p:nvPr/>
        </p:nvSpPr>
        <p:spPr>
          <a:xfrm>
            <a:off x="429768" y="4892040"/>
            <a:ext cx="9043416" cy="457200"/>
          </a:xfrm>
          <a:prstGeom prst="rect">
            <a:avLst/>
          </a:prstGeom>
          <a:noFill/>
          <a:ln>
            <a:noFill/>
          </a:ln>
        </p:spPr>
        <p:txBody>
          <a:bodyPr wrap="square" lIns="0" tIns="0" rIns="0" bIns="0" rtlCol="0" anchor="ctr">
            <a:noAutofit/>
          </a:bodyPr>
          <a:lstStyle/>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スタンプの広がりで友だちになり、アンケートに答えていない方には、後日クイズ形式の配信で回答を促し、55%が反応。</a:t>
            </a:r>
            <a:endParaRPr lang="ja-JP" altLang="en-US" sz="900" dirty="0"/>
          </a:p>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友だちが増えても、ブロック率は施策前とほぼ同じ。友だち集めにはLINE広告（友だち追加）も使用。チャットの接客は「ジールス」（株式会社Zeals）。</a:t>
            </a:r>
            <a:endParaRPr lang="ja-JP" altLang="en-US" sz="900" dirty="0"/>
          </a:p>
        </p:txBody>
      </p:sp>
    </p:spTree>
    <p:extLst>
      <p:ext uri="{BB962C8B-B14F-4D97-AF65-F5344CB8AC3E}">
        <p14:creationId xmlns:p14="http://schemas.microsoft.com/office/powerpoint/2010/main" val="18647475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明光義塾の実際の画面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友だち追加の直後に、30秒の相性チェックと「このままLINEで無料体験の予約」を案内しています。</a:t>
            </a:r>
          </a:p>
          <a:p>
            <a:pPr algn="l">
              <a:lnSpc>
                <a:spcPct val="128000"/>
              </a:lnSpc>
            </a:pPr>
            <a:r>
              <a:rPr sz="1250" dirty="0" err="1">
                <a:solidFill>
                  <a:srgbClr val="333333"/>
                </a:solidFill>
                <a:latin typeface="メイリオ"/>
                <a:ea typeface="メイリオ"/>
                <a:cs typeface="メイリオ"/>
              </a:rPr>
              <a:t>リッチメニューの一番大きい枠は「授業料シミュレーション」です。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画面：明光義塾 LINE公式アカウント（2026-10-19 弊社で友だち追加して確認）</a:t>
            </a:r>
          </a:p>
        </p:txBody>
      </p:sp>
      <p:sp>
        <p:nvSpPr>
          <p:cNvPr id="68" name="Rounded Rectangle 67"/>
          <p:cNvSpPr/>
          <p:nvPr/>
        </p:nvSpPr>
        <p:spPr>
          <a:xfrm>
            <a:off x="429768"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あいさつ＋相性チェック</a:t>
            </a:r>
            <a:endParaRPr lang="ja-JP" altLang="en-US" sz="1200" dirty="0"/>
          </a:p>
        </p:txBody>
      </p:sp>
      <p:pic>
        <p:nvPicPr>
          <p:cNvPr id="69" name="明光義塾_あいさつ＋相性チェック" descr=""/>
          <p:cNvPicPr>
            <a:picLocks noChangeAspect="1"/>
          </p:cNvPicPr>
          <p:nvPr/>
        </p:nvPicPr>
        <p:blipFill>
          <a:blip r:embed="rId101"/>
          <a:stretch>
            <a:fillRect/>
          </a:stretch>
        </p:blipFill>
        <p:spPr>
          <a:xfrm>
            <a:off x="935964" y="1847088"/>
            <a:ext cx="1730806" cy="3749039"/>
          </a:xfrm>
          <a:prstGeom prst="rect">
            <a:avLst/>
          </a:prstGeom>
          <a:ln w="9525">
            <a:solidFill>
              <a:srgbClr val="C6CADD"/>
            </a:solidFill>
          </a:ln>
        </p:spPr>
      </p:pic>
      <p:sp>
        <p:nvSpPr>
          <p:cNvPr id="70" name="Rectangle 69"/>
          <p:cNvSpPr/>
          <p:nvPr/>
        </p:nvSpPr>
        <p:spPr>
          <a:xfrm>
            <a:off x="429768"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友だち追加の直後に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30秒の相性チェック（全5問）</a:t>
            </a:r>
            <a:endParaRPr lang="ja-JP" altLang="en-US" sz="1050" dirty="0"/>
          </a:p>
        </p:txBody>
      </p:sp>
      <p:sp>
        <p:nvSpPr>
          <p:cNvPr id="71" name="Rounded Rectangle 70"/>
          <p:cNvSpPr/>
          <p:nvPr/>
        </p:nvSpPr>
        <p:spPr>
          <a:xfrm>
            <a:off x="3579876"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LINEの中で体験予約</a:t>
            </a:r>
            <a:endParaRPr lang="ja-JP" altLang="en-US" sz="1200" dirty="0"/>
          </a:p>
        </p:txBody>
      </p:sp>
      <p:pic>
        <p:nvPicPr>
          <p:cNvPr id="72" name="明光義塾_LINEの中で体験予約" descr=""/>
          <p:cNvPicPr>
            <a:picLocks noChangeAspect="1"/>
          </p:cNvPicPr>
          <p:nvPr/>
        </p:nvPicPr>
        <p:blipFill>
          <a:blip r:embed="rId102"/>
          <a:stretch>
            <a:fillRect/>
          </a:stretch>
        </p:blipFill>
        <p:spPr>
          <a:xfrm>
            <a:off x="4086072" y="1847088"/>
            <a:ext cx="1730806" cy="3749039"/>
          </a:xfrm>
          <a:prstGeom prst="rect">
            <a:avLst/>
          </a:prstGeom>
          <a:ln w="9525">
            <a:solidFill>
              <a:srgbClr val="C6CADD"/>
            </a:solidFill>
          </a:ln>
        </p:spPr>
      </p:pic>
      <p:sp>
        <p:nvSpPr>
          <p:cNvPr id="73" name="Rectangle 72"/>
          <p:cNvSpPr/>
          <p:nvPr/>
        </p:nvSpPr>
        <p:spPr>
          <a:xfrm>
            <a:off x="3579876"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「このままLINEで無料体験の予約」</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60秒・トークの中で入力（全7問）</a:t>
            </a:r>
            <a:endParaRPr lang="ja-JP" altLang="en-US" sz="1050" dirty="0"/>
          </a:p>
        </p:txBody>
      </p:sp>
      <p:sp>
        <p:nvSpPr>
          <p:cNvPr id="74" name="Rounded Rectangle 73"/>
          <p:cNvSpPr/>
          <p:nvPr/>
        </p:nvSpPr>
        <p:spPr>
          <a:xfrm>
            <a:off x="6729984"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3　リッチメニュー</a:t>
            </a:r>
            <a:endParaRPr lang="ja-JP" altLang="en-US" sz="1200" dirty="0"/>
          </a:p>
        </p:txBody>
      </p:sp>
      <p:pic>
        <p:nvPicPr>
          <p:cNvPr id="75" name="明光義塾_リッチメニュー" descr=""/>
          <p:cNvPicPr>
            <a:picLocks noChangeAspect="1"/>
          </p:cNvPicPr>
          <p:nvPr/>
        </p:nvPicPr>
        <p:blipFill>
          <a:blip r:embed="rId103"/>
          <a:stretch>
            <a:fillRect/>
          </a:stretch>
        </p:blipFill>
        <p:spPr>
          <a:xfrm>
            <a:off x="7236180" y="1847088"/>
            <a:ext cx="1730806" cy="3749039"/>
          </a:xfrm>
          <a:prstGeom prst="rect">
            <a:avLst/>
          </a:prstGeom>
          <a:ln w="9525">
            <a:solidFill>
              <a:srgbClr val="C6CADD"/>
            </a:solidFill>
          </a:ln>
        </p:spPr>
      </p:pic>
      <p:sp>
        <p:nvSpPr>
          <p:cNvPr id="76" name="Rectangle 75"/>
          <p:cNvSpPr/>
          <p:nvPr/>
        </p:nvSpPr>
        <p:spPr>
          <a:xfrm>
            <a:off x="6729984"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一番大きい枠に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授業料シミュレーション</a:t>
            </a:r>
            <a:endParaRPr lang="ja-JP" altLang="en-US" sz="1050" dirty="0"/>
          </a:p>
        </p:txBody>
      </p:sp>
    </p:spTree>
    <p:extLst>
      <p:ext uri="{BB962C8B-B14F-4D97-AF65-F5344CB8AC3E}">
        <p14:creationId xmlns:p14="http://schemas.microsoft.com/office/powerpoint/2010/main" val="22780903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明光義塾の型を分解すると、3つの仕組み</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公式事例（2023年）と実際の画面（2026年10月）から読み取れる仕組みは3つです。</a:t>
            </a:r>
          </a:p>
          <a:p>
            <a:pPr algn="l">
              <a:lnSpc>
                <a:spcPct val="128000"/>
              </a:lnSpc>
            </a:pPr>
            <a:r>
              <a:rPr sz="1200" dirty="0" err="1">
                <a:solidFill>
                  <a:srgbClr val="333333"/>
                </a:solidFill>
                <a:latin typeface="メイリオ"/>
                <a:ea typeface="メイリオ"/>
                <a:cs typeface="メイリオ"/>
              </a:rPr>
              <a:t>この型を、このあとの入口（P25）・診断（P28）・配信の出し分け（P30）・ステップ配信（P31）に取り入れます。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 出典：LINEヤフー for Business 導入事例（2024年4月5日）・明光義塾 LINE公式アカウント（2026-10-19 弊社確認）。実際の画面はP16。</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友だちになってもらい、答えてもらい、合う方に届ける。この時期に資料請求は前年比 約120%（公式事例）。</a:t>
            </a:r>
          </a:p>
        </p:txBody>
      </p:sp>
      <p:sp>
        <p:nvSpPr>
          <p:cNvPr id="105" name="Rounded Rectangle 104"/>
          <p:cNvSpPr/>
          <p:nvPr/>
        </p:nvSpPr>
        <p:spPr>
          <a:xfrm>
            <a:off x="429768"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① サイトから、LINEの友だちに</a:t>
            </a:r>
            <a:endParaRPr lang="ja-JP" altLang="en-US" sz="1250" dirty="0"/>
          </a:p>
        </p:txBody>
      </p:sp>
      <p:sp>
        <p:nvSpPr>
          <p:cNvPr id="106" name="Rounded Rectangle 105"/>
          <p:cNvSpPr/>
          <p:nvPr/>
        </p:nvSpPr>
        <p:spPr>
          <a:xfrm>
            <a:off x="429768"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サイトの初回訪問時・離脱時に、ポップアップで友だち追加を案内。</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2023年は、スタンプの無料配布で、友だちから友だちへ広げた。</a:t>
            </a:r>
            <a:endParaRPr lang="ja-JP" altLang="en-US" sz="1100" dirty="0"/>
          </a:p>
        </p:txBody>
      </p:sp>
      <p:sp>
        <p:nvSpPr>
          <p:cNvPr id="107" name="Rounded Rectangle 106"/>
          <p:cNvSpPr/>
          <p:nvPr/>
        </p:nvSpPr>
        <p:spPr>
          <a:xfrm>
            <a:off x="429768"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約5か月で友だち約20万人増</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うち約15万人は友だちからの広がり</a:t>
            </a:r>
            <a:endParaRPr lang="ja-JP" altLang="en-US" sz="1100" dirty="0"/>
          </a:p>
        </p:txBody>
      </p:sp>
      <p:sp>
        <p:nvSpPr>
          <p:cNvPr id="108" name="Rounded Rectangle 107"/>
          <p:cNvSpPr/>
          <p:nvPr/>
        </p:nvSpPr>
        <p:spPr>
          <a:xfrm>
            <a:off x="3511296"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② 追加の直後に、診断と予約の案内</a:t>
            </a:r>
            <a:endParaRPr lang="ja-JP" altLang="en-US" sz="1250" dirty="0"/>
          </a:p>
        </p:txBody>
      </p:sp>
      <p:sp>
        <p:nvSpPr>
          <p:cNvPr id="109" name="Rounded Rectangle 108"/>
          <p:cNvSpPr/>
          <p:nvPr/>
        </p:nvSpPr>
        <p:spPr>
          <a:xfrm>
            <a:off x="3511296"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友だち追加の直後に、30秒の相性チェック（ボタンで答える5問）。</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あわせて「このままLINEで無料体験の予約」も案内。予約はトークの中で入力できる。</a:t>
            </a:r>
            <a:endParaRPr lang="ja-JP" altLang="en-US" sz="1100" dirty="0"/>
          </a:p>
        </p:txBody>
      </p:sp>
      <p:sp>
        <p:nvSpPr>
          <p:cNvPr id="110" name="Rounded Rectangle 109"/>
          <p:cNvSpPr/>
          <p:nvPr/>
        </p:nvSpPr>
        <p:spPr>
          <a:xfrm>
            <a:off x="3511296"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相性チェック 全5問</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体験予約 60秒・全7問</a:t>
            </a:r>
            <a:endParaRPr lang="ja-JP" altLang="en-US" sz="1100" dirty="0"/>
          </a:p>
        </p:txBody>
      </p:sp>
      <p:sp>
        <p:nvSpPr>
          <p:cNvPr id="111" name="Rounded Rectangle 110"/>
          <p:cNvSpPr/>
          <p:nvPr/>
        </p:nvSpPr>
        <p:spPr>
          <a:xfrm>
            <a:off x="6592824"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③ 答えをもとに、配信の相手を絞る</a:t>
            </a:r>
            <a:endParaRPr lang="ja-JP" altLang="en-US" sz="1250" dirty="0"/>
          </a:p>
        </p:txBody>
      </p:sp>
      <p:sp>
        <p:nvSpPr>
          <p:cNvPr id="112" name="Rounded Rectangle 111"/>
          <p:cNvSpPr/>
          <p:nvPr/>
        </p:nvSpPr>
        <p:spPr>
          <a:xfrm>
            <a:off x="6592824"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2023年は、アンケートで保護者か生徒か、塾に通っているかを聞いた。</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「まだ塾に通っていない」お子さま・保護者に絞って配信した。</a:t>
            </a:r>
            <a:endParaRPr lang="ja-JP" altLang="en-US" sz="1100" dirty="0"/>
          </a:p>
        </p:txBody>
      </p:sp>
      <p:sp>
        <p:nvSpPr>
          <p:cNvPr id="113" name="Rounded Rectangle 112"/>
          <p:cNvSpPr/>
          <p:nvPr/>
        </p:nvSpPr>
        <p:spPr>
          <a:xfrm>
            <a:off x="6592824"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答えていない方にクイズ形式の配信</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 配信した方の55%が反応（P17）</a:t>
            </a:r>
            <a:endParaRPr lang="ja-JP" altLang="en-US" sz="1100" dirty="0"/>
          </a:p>
        </p:txBody>
      </p:sp>
    </p:spTree>
    <p:extLst>
      <p:ext uri="{BB962C8B-B14F-4D97-AF65-F5344CB8AC3E}">
        <p14:creationId xmlns:p14="http://schemas.microsoft.com/office/powerpoint/2010/main" val="15375234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明光義塾のステップ配信（公式事例の画面）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友だち追加のあと、相手に合わせた配信が自動で届きます（2023年の公式事例の画面）。</a:t>
            </a:r>
          </a:p>
          <a:p>
            <a:pPr algn="l">
              <a:lnSpc>
                <a:spcPct val="128000"/>
              </a:lnSpc>
            </a:pPr>
            <a:r>
              <a:rPr sz="1200" dirty="0" err="1">
                <a:solidFill>
                  <a:srgbClr val="333333"/>
                </a:solidFill>
                <a:latin typeface="メイリオ"/>
                <a:ea typeface="メイリオ"/>
                <a:cs typeface="メイリオ"/>
              </a:rPr>
              <a:t>答えていない方にはクイズで回答を促し、塾に通っていない方には迷い具合に合わせて3つの行動を案内しています。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画面：LINEヤフー for Business 導入事例 明光義塾（2024年4月5日）掲載の図版（2023年の施策時のもの）。55%は同事例の記載。画面の中のボタンの色は明光義塾のもの</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答えやすい形で聞き、迷い具合に合わせて次の一歩を選べるようにしている。</a:t>
            </a:r>
          </a:p>
        </p:txBody>
      </p:sp>
      <p:sp>
        <p:nvSpPr>
          <p:cNvPr id="105" name="Rounded Rectangle 104"/>
          <p:cNvSpPr/>
          <p:nvPr/>
        </p:nvSpPr>
        <p:spPr>
          <a:xfrm>
            <a:off x="42976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アンケートに答えていない方へ</a:t>
            </a:r>
            <a:endParaRPr lang="ja-JP" altLang="en-US" sz="1200" dirty="0"/>
          </a:p>
        </p:txBody>
      </p:sp>
      <p:pic>
        <p:nvPicPr>
          <p:cNvPr id="106" name="明光義塾_ステップ配信_1" descr=""/>
          <p:cNvPicPr>
            <a:picLocks noChangeAspect="1"/>
          </p:cNvPicPr>
          <p:nvPr/>
        </p:nvPicPr>
        <p:blipFill>
          <a:blip r:embed="rId101"/>
          <a:stretch>
            <a:fillRect/>
          </a:stretch>
        </p:blipFill>
        <p:spPr>
          <a:xfrm>
            <a:off x="465459" y="1865376"/>
            <a:ext cx="4354313" cy="2606040"/>
          </a:xfrm>
          <a:prstGeom prst="rect">
            <a:avLst/>
          </a:prstGeom>
          <a:ln w="9525">
            <a:solidFill>
              <a:srgbClr val="C6CADD"/>
            </a:solidFill>
          </a:ln>
        </p:spPr>
      </p:pic>
      <p:sp>
        <p:nvSpPr>
          <p:cNvPr id="107" name="Rectangle 106"/>
          <p:cNvSpPr/>
          <p:nvPr/>
        </p:nvSpPr>
        <p:spPr>
          <a:xfrm>
            <a:off x="42976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クイズ「サボローを探せ！」の答えを見るボタンが</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「保護者の方／生徒の方／その他の方」。</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楽しみながら答えてもらい、誰なのかが分かる。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配信した方の55%が反応。</a:t>
            </a:r>
            <a:endParaRPr lang="ja-JP" altLang="en-US" sz="1000" dirty="0"/>
          </a:p>
        </p:txBody>
      </p:sp>
      <p:sp>
        <p:nvSpPr>
          <p:cNvPr id="108" name="Rounded Rectangle 107"/>
          <p:cNvSpPr/>
          <p:nvPr/>
        </p:nvSpPr>
        <p:spPr>
          <a:xfrm>
            <a:off x="504748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塾に通っていない方へ</a:t>
            </a:r>
            <a:endParaRPr lang="ja-JP" altLang="en-US" sz="1200" dirty="0"/>
          </a:p>
        </p:txBody>
      </p:sp>
      <p:pic>
        <p:nvPicPr>
          <p:cNvPr id="109" name="明光義塾_ステップ配信_2" descr=""/>
          <p:cNvPicPr>
            <a:picLocks noChangeAspect="1"/>
          </p:cNvPicPr>
          <p:nvPr/>
        </p:nvPicPr>
        <p:blipFill>
          <a:blip r:embed="rId102"/>
          <a:stretch>
            <a:fillRect/>
          </a:stretch>
        </p:blipFill>
        <p:spPr>
          <a:xfrm>
            <a:off x="5445183" y="1865376"/>
            <a:ext cx="3630304" cy="2606040"/>
          </a:xfrm>
          <a:prstGeom prst="rect">
            <a:avLst/>
          </a:prstGeom>
          <a:ln w="9525">
            <a:solidFill>
              <a:srgbClr val="C6CADD"/>
            </a:solidFill>
          </a:ln>
        </p:spPr>
      </p:pic>
      <p:sp>
        <p:nvSpPr>
          <p:cNvPr id="110" name="Rectangle 109"/>
          <p:cNvSpPr/>
          <p:nvPr/>
        </p:nvSpPr>
        <p:spPr>
          <a:xfrm>
            <a:off x="504748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「先ほどは友だち登録していただき…」から始まる。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ボタンは迷い具合で3つ：</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授業を受けてみたい→無料体験／雰囲気を知りたい→</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教室見学／一度検討したい→資料請求。</a:t>
            </a:r>
            <a:endParaRPr lang="ja-JP" altLang="en-US" sz="1000" dirty="0"/>
          </a:p>
        </p:txBody>
      </p:sp>
    </p:spTree>
    <p:extLst>
      <p:ext uri="{BB962C8B-B14F-4D97-AF65-F5344CB8AC3E}">
        <p14:creationId xmlns:p14="http://schemas.microsoft.com/office/powerpoint/2010/main" val="32047602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前後検索｜中学受験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中学受験の保護者は、検索の前に志望校・偏差値・算数検定を調べ、当日は塾の名前に集中する。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そのあとは、入室テスト・料金・口コミで比べている。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塾の名前を調べる前（志望校・偏差値を調べる時期）に、LINEでつながっておく。</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出典｜LINEヤフー前後検索（2026年10月取得）。横軸＝起点の検索の前後15日、縦軸＝検索した人数（UU）。色はDYMの分類（薄い文字は分類の対象外）。配信の中身はP31・P38</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「中学受験 塾」の検索前後（LINEヤフー前後検索・実データ）</a:t>
            </a:r>
            <a:endParaRPr lang="ja-JP" altLang="en-US" sz="1250" dirty="0"/>
          </a:p>
        </p:txBody>
      </p:sp>
      <p:pic>
        <p:nvPicPr>
          <p:cNvPr id="27" name="前後検索_中学受験 塾" descr=""/>
          <p:cNvPicPr>
            <a:picLocks noChangeAspect="1"/>
          </p:cNvPicPr>
          <p:nvPr/>
        </p:nvPicPr>
        <p:blipFill>
          <a:blip r:embed="rId101"/>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私立中学 偏差値ランキング／海城中学・女子学院／栄東中学校 入試／中学受験 偏差値40</a:t>
            </a:r>
            <a:endParaRPr lang="ja-JP" altLang="en-US" sz="135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算数検定／予習シリーズ／中学受験 社会 勉強方法／中学受験 親の関わり方</a:t>
            </a:r>
            <a:endParaRPr lang="ja-JP" altLang="en-US" sz="135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塾選び／塾 ランキング／個別指導のみ／塾 費用／4年生から始める</a:t>
            </a:r>
            <a:endParaRPr lang="ja-JP" altLang="en-US" sz="135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日能研・早稲田アカデミー・サピックス／サピックス 入室テスト／日能研 費用／明光義塾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志望校・偏差値を調べている → 学年と志望を聞き、入試までの逆算を届ける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塾選び・費用・いつからを比べている → 費用の目安と始める時期を先に出す</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入室テスト・口コミで比べている → 同じタイプの子の事例と、体験授業の案内</a:t>
            </a:r>
            <a:endParaRPr lang="ja-JP" altLang="en-US" sz="1200" dirty="0"/>
          </a:p>
        </p:txBody>
      </p:sp>
    </p:spTree>
    <p:extLst>
      <p:ext uri="{BB962C8B-B14F-4D97-AF65-F5344CB8AC3E}">
        <p14:creationId xmlns:p14="http://schemas.microsoft.com/office/powerpoint/2010/main" val="257308005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前後検索｜中高一貫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中高一貫の保護者は、都立中高一貫校・中等教育学校の名前と入試日程を、15日前から調べている。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塾の名前（ena・栄光ゼミナール・日能研）は当日に集中し、そのあとは料金・合格実績で比べている。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学校名と日程を調べ始める15日前から、志望校の情報でつながる。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出典｜LINEヤフー前後検索（2026年10月取得）。横軸＝起点の検索の前後15日、縦軸＝検索した人数（UU）。色はDYMの分類（薄い文字は分類の対象外）。配信の中身はP31・P38</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「中高一貫 塾」の検索前後（LINEヤフー前後検索・実データ）</a:t>
            </a:r>
            <a:endParaRPr lang="ja-JP" altLang="en-US" sz="1250" dirty="0"/>
          </a:p>
        </p:txBody>
      </p:sp>
      <p:pic>
        <p:nvPicPr>
          <p:cNvPr id="27" name="前後検索_中高一貫 塾" descr=""/>
          <p:cNvPicPr>
            <a:picLocks noChangeAspect="1"/>
          </p:cNvPicPr>
          <p:nvPr/>
        </p:nvPicPr>
        <p:blipFill>
          <a:blip r:embed="rId101"/>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都立中高一貫校／立川国際・三鷹・九段中等教育学校／都立高校 入試日程／都立推薦 日程</a:t>
            </a:r>
            <a:endParaRPr lang="ja-JP" altLang="en-US" sz="135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声の教育社（過去問）／四谷大塚 予習シリーズ</a:t>
            </a:r>
            <a:endParaRPr lang="ja-JP" altLang="en-US" sz="135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塾選び／中学受験 塾 費用／中学受験 全落ち／中高一貫 塾</a:t>
            </a:r>
            <a:endParaRPr lang="ja-JP" altLang="en-US" sz="135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ena・栄光ゼミナール・日能研／栄光ゼミナール 料金／早稲田アカデミー 合格実績／森塾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学校名・入試日程を調べている → 志望校を聞き、入試までの逆算を届ける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塾の費用・全落ちを心配している → 年間の費用の目安と、準備の進め方</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料金・合格実績で比べている → 同じ志望の子の事例と、体験授業の案内</a:t>
            </a:r>
            <a:endParaRPr lang="ja-JP" altLang="en-US" sz="1200" dirty="0"/>
          </a:p>
        </p:txBody>
      </p:sp>
    </p:spTree>
    <p:extLst>
      <p:ext uri="{BB962C8B-B14F-4D97-AF65-F5344CB8AC3E}">
        <p14:creationId xmlns:p14="http://schemas.microsoft.com/office/powerpoint/2010/main" val="341520534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前後検索｜高校受験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高校受験の保護者は、当日に「塾 いつから・費用・ランキング・勉強方法」をまとめて調べている。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その前は志望校の偏差値、そのあとは塾の名前と料金で比べている。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「いつから・費用」を調べる当日に、その答えをLINEで先に届ける。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出典｜LINEヤフー前後検索（2026年10月取得）。横軸＝起点の検索の前後15日、縦軸＝検索した人数（UU）。色はDYMの分類（薄い文字は分類の対象外）。配信の中身はP31・P38</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「高校受験 塾」の検索前後（LINEヤフー前後検索・実データ）</a:t>
            </a:r>
            <a:endParaRPr lang="ja-JP" altLang="en-US" sz="1250" dirty="0"/>
          </a:p>
        </p:txBody>
      </p:sp>
      <p:pic>
        <p:nvPicPr>
          <p:cNvPr id="27" name="前後検索_高校受験 塾" descr=""/>
          <p:cNvPicPr>
            <a:picLocks noChangeAspect="1"/>
          </p:cNvPicPr>
          <p:nvPr/>
        </p:nvPicPr>
        <p:blipFill>
          <a:blip r:embed="rId101"/>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0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都立高校／高校受験 偏差値／東京都 高校 偏差値／都立高校 入試</a:t>
            </a:r>
            <a:endParaRPr lang="ja-JP" altLang="en-US" sz="1200" dirty="0"/>
          </a:p>
          <a:p>
            <a:pPr algn="l">
              <a:lnSpc>
                <a:spcPct val="105000"/>
              </a:lnSpc>
              <a:buNone/>
            </a:pPr>
            <a:r>
              <a:rPr lang="ja-JP" altLang="en-US" sz="1050" b="1" dirty="0">
                <a:solidFill>
                  <a:srgbClr val="8E4EC6"/>
                </a:solidFill>
                <a:latin typeface="メイリオ" panose="020B0604030504040204" pitchFamily="50" charset="-128"/>
                <a:ea typeface="メイリオ" panose="020B0604030504040204" pitchFamily="50" charset="-128"/>
              </a:rPr>
              <a:t>② 検定・勉強法</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勉強方法／数検3級／高校受験 塾なし／中学 英語</a:t>
            </a:r>
            <a:endParaRPr lang="ja-JP" altLang="en-US" sz="1200" dirty="0"/>
          </a:p>
          <a:p>
            <a:pPr algn="l">
              <a:lnSpc>
                <a:spcPct val="105000"/>
              </a:lnSpc>
              <a:buNone/>
            </a:pPr>
            <a:r>
              <a:rPr lang="ja-JP" altLang="en-US" sz="10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塾 いつから／塾 費用／塾 ランキング／中学受験 高校受験 どっち／オンライン 塾</a:t>
            </a:r>
            <a:endParaRPr lang="ja-JP" altLang="en-US" sz="1200" dirty="0"/>
          </a:p>
          <a:p>
            <a:pPr algn="l">
              <a:lnSpc>
                <a:spcPct val="105000"/>
              </a:lnSpc>
              <a:buNone/>
            </a:pPr>
            <a:r>
              <a:rPr lang="ja-JP" altLang="en-US" sz="10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早稲田アカデミー・栄光ゼミナール・臨海セミナー／早稲アカ 個別 料金／臨海セミナー 口コミ</a:t>
            </a:r>
            <a:endParaRPr lang="ja-JP" altLang="en-US" sz="120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勉強方法・塾なしで迷っている → 売り込まずに、家でできる勉強のコツ</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いつから・費用を調べている → 年間の費用の目安と、始める時期</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14日後｜テストから逆算＋体験のご案内②</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塾の名前・料金で比べている → 次の定期テストから逆算した体験授業の案内</a:t>
            </a:r>
            <a:endParaRPr lang="ja-JP" altLang="en-US" sz="1200" dirty="0"/>
          </a:p>
        </p:txBody>
      </p:sp>
    </p:spTree>
    <p:extLst>
      <p:ext uri="{BB962C8B-B14F-4D97-AF65-F5344CB8AC3E}">
        <p14:creationId xmlns:p14="http://schemas.microsoft.com/office/powerpoint/2010/main" val="12053643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前後検索｜英語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英語の保護者は、塾より先に英検（日程・級・合格発表）を調べている。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当日は英語塾・個別指導塾の名前、そのあとは料金・口コミで比べている。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英検の日程を調べるタイミングで、英検の情報からつながる。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出典｜LINEヤフー前後検索（2026年10月取得）。横軸＝起点の検索の前後15日、縦軸＝検索した人数（UU）。色はDYMの分類（薄い文字は分類の対象外）。配信の中身はP31・P38</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「英語 塾」の検索前後（LINEヤフー前後検索・実データ）</a:t>
            </a:r>
            <a:endParaRPr lang="ja-JP" altLang="en-US" sz="1250" dirty="0"/>
          </a:p>
        </p:txBody>
      </p:sp>
      <p:pic>
        <p:nvPicPr>
          <p:cNvPr id="27" name="前後検索_英語 塾" descr=""/>
          <p:cNvPicPr>
            <a:picLocks noChangeAspect="1"/>
          </p:cNvPicPr>
          <p:nvPr/>
        </p:nvPicPr>
        <p:blipFill>
          <a:blip r:embed="rId101"/>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中高一貫校／大学受験／開成高校／高校受験</a:t>
            </a:r>
            <a:endParaRPr lang="ja-JP" altLang="en-US" sz="1450" dirty="0"/>
          </a:p>
          <a:p>
            <a:pPr algn="l">
              <a:lnSpc>
                <a:spcPct val="105000"/>
              </a:lnSpc>
              <a:buNone/>
            </a:pPr>
            <a:r>
              <a:rPr lang="ja-JP" altLang="en-US" sz="1250" b="1" dirty="0">
                <a:solidFill>
                  <a:srgbClr val="8E4EC6"/>
                </a:solidFill>
                <a:latin typeface="メイリオ" panose="020B0604030504040204" pitchFamily="50" charset="-128"/>
                <a:ea typeface="メイリオ" panose="020B0604030504040204" pitchFamily="50" charset="-128"/>
              </a:rPr>
              <a:t>② 検定・勉強法</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英検 日程／英検3級・2級・準1級／英検 合格発表／漢検／スタディサプリ／英単語</a:t>
            </a:r>
            <a:endParaRPr lang="ja-JP" altLang="en-US" sz="1450" dirty="0"/>
          </a:p>
          <a:p>
            <a:pPr algn="l">
              <a:lnSpc>
                <a:spcPct val="105000"/>
              </a:lnSpc>
              <a:buNone/>
            </a:pPr>
            <a:r>
              <a:rPr lang="ja-JP" altLang="en-US" sz="12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個別指導塾／英語塾 中高一貫校／高校受験 塾／小学生 英語 塾</a:t>
            </a:r>
            <a:endParaRPr lang="ja-JP" altLang="en-US" sz="1450" dirty="0"/>
          </a:p>
          <a:p>
            <a:pPr algn="l">
              <a:lnSpc>
                <a:spcPct val="105000"/>
              </a:lnSpc>
              <a:buNone/>
            </a:pPr>
            <a:r>
              <a:rPr lang="ja-JP" altLang="en-US" sz="12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武田塾・明光義塾・森塾／英検アカデミー 料金・口コミ／武田塾 料金</a:t>
            </a:r>
            <a:endParaRPr lang="ja-JP" altLang="en-US" sz="14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英検の日程・級を調べている → 学年と目指す級を聞き、次の英検までの逆算を届ける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英単語・勉強法を調べている → 家でできる英語の勉強のコツ</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料金・口コミで比べている → 同じ級を目指した子の事例と、体験授業の案内</a:t>
            </a:r>
            <a:endParaRPr lang="ja-JP" altLang="en-US" sz="1200" dirty="0"/>
          </a:p>
        </p:txBody>
      </p:sp>
    </p:spTree>
    <p:extLst>
      <p:ext uri="{BB962C8B-B14F-4D97-AF65-F5344CB8AC3E}">
        <p14:creationId xmlns:p14="http://schemas.microsoft.com/office/powerpoint/2010/main" val="3055697520"/>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141724</TotalTime>
  <Words>5627</Words>
  <Application>Microsoft Office PowerPoint</Application>
  <PresentationFormat>A4 210 x 297 mm</PresentationFormat>
  <Paragraphs>1064</Paragraphs>
  <Slides>56</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56</vt:i4>
      </vt:variant>
    </vt:vector>
  </HeadingPairs>
  <TitlesOfParts>
    <vt:vector size="63"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1923</cp:revision>
  <cp:lastPrinted>2022-11-01T11:38:14Z</cp:lastPrinted>
  <dcterms:created xsi:type="dcterms:W3CDTF">2015-09-04T09:21:15Z</dcterms:created>
  <dcterms:modified xsi:type="dcterms:W3CDTF">2026-09-17T01:02:07Z</dcterms:modified>
</cp:coreProperties>
</file>