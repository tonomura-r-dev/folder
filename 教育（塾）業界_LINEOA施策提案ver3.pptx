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56" r:id="rId4"/>
    <p:sldId id="2995" r:id="rId48"/>
    <p:sldId id="2972" r:id="rId6"/>
    <p:sldId id="2736" r:id="rId12"/>
    <p:sldId id="2982" r:id="rId11"/>
    <p:sldId id="2986" r:id="rId16"/>
    <p:sldId id="2983" r:id="rId13"/>
    <p:sldId id="2977" r:id="rId7"/>
    <p:sldId id="2984" r:id="rId14"/>
    <p:sldId id="2996" r:id="rId49"/>
    <p:sldId id="2997" r:id="rId50"/>
    <p:sldId id="2944" r:id="rId28"/>
    <p:sldId id="2985" r:id="rId15"/>
    <p:sldId id="2987" r:id="rId17"/>
    <p:sldId id="2962" r:id="rId24"/>
    <p:sldId id="2908" r:id="rId18"/>
    <p:sldId id="2950" r:id="rId19"/>
    <p:sldId id="2762" r:id="rId20"/>
    <p:sldId id="2937" r:id="rId21"/>
    <p:sldId id="2939" r:id="rId22"/>
    <p:sldId id="2966" r:id="rId23"/>
    <p:sldId id="2942" r:id="rId25"/>
    <p:sldId id="2943" r:id="rId27"/>
    <p:sldId id="2941" r:id="rId26"/>
    <p:sldId id="2953" r:id="rId35"/>
    <p:sldId id="2979" r:id="rId10"/>
    <p:sldId id="2990" r:id="rId9"/>
    <p:sldId id="2989" r:id="rId8"/>
    <p:sldId id="2991" r:id="rId44"/>
    <p:sldId id="2946" r:id="rId30"/>
    <p:sldId id="2998" r:id="rId51"/>
    <p:sldId id="3005" r:id="rId58"/>
    <p:sldId id="3006" r:id="rId59"/>
    <p:sldId id="3007" r:id="rId60"/>
    <p:sldId id="3008" r:id="rId61"/>
    <p:sldId id="2948" r:id="rId32"/>
    <p:sldId id="2958" r:id="rId33"/>
    <p:sldId id="2999" r:id="rId52"/>
    <p:sldId id="3000" r:id="rId53"/>
    <p:sldId id="3001" r:id="rId54"/>
    <p:sldId id="3002" r:id="rId55"/>
    <p:sldId id="3003" r:id="rId56"/>
    <p:sldId id="3004" r:id="rId57"/>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 市場規模は「定義」で2倍変わる。必ず併記すること</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学校基本調査（令和6年度確報）／矢野経済研究所「教育産業市場に関する調査」2024年。※提案前にe-Statで統計表を開いて数値照合すること</a:t>
            </a:r>
          </a:p>
        </p:txBody>
      </p:sp>
    </p:spTree>
    <p:extLst>
      <p:ext uri="{BB962C8B-B14F-4D97-AF65-F5344CB8AC3E}">
        <p14:creationId xmlns:p14="http://schemas.microsoft.com/office/powerpoint/2010/main" val="676230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出典｜LINEヤフー前後検索（2022-05〜2023-05・実測）※最新の前後検索で更新予定／塾ナラ2025（n=200）／塾シル・ユナイトプロジェクト2026（n=249）／明光ネットワークジャパン2020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333333"/>
                </a:solidFill>
                <a:latin typeface="メイリオ"/>
                <a:ea typeface="メイリオ"/>
                <a:cs typeface="メイリオ"/>
              </a:rPr>
              <a:t>すぐ答える仕組みが、</a:t>
            </a:r>
          </a:p>
          <a:p>
            <a:pPr algn="ctr"/>
            <a:r>
              <a:rPr sz="13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※1教室あたりのモデル値（例）。開封率・クリック率＝DYM SIMの係数（ステップ配信 72.5%×12%／企画配信 78%×10%）。CVR＝0.3〜1.0%。件数は小数点第1位まで</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月250人）</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累計約1,000人・ブロックを除いて約680人）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1教室あたり月に 資料請求 約0.5件・体験予約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00 離脱防止</a:t>
            </a:r>
          </a:p>
          <a:p>
            <a:pPr algn="l"/>
            <a:r>
              <a:rPr sz="110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「まだ決めなくて大丈夫です」</a:t>
            </a:r>
          </a:p>
          <a:p>
            <a:pPr algn="l"/>
            <a:r>
              <a:rPr sz="110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01 完了画面</a:t>
            </a:r>
          </a:p>
          <a:p>
            <a:pPr algn="l"/>
            <a:r>
              <a:rPr sz="110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資料請求・体験予約の完了画面で</a:t>
            </a:r>
          </a:p>
          <a:p>
            <a:pPr algn="l"/>
            <a:r>
              <a:rPr sz="110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02 チラシ・</a:t>
            </a:r>
          </a:p>
          <a:p>
            <a:pPr algn="l"/>
            <a:r>
              <a:rPr sz="110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LINE限定</a:t>
            </a:r>
          </a:p>
          <a:p>
            <a:pPr algn="l"/>
            <a:r>
              <a:rPr sz="110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 ※相対値。スケールの違うKWは別のグラフにしている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前後検索｜検索の流れ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保護者は、塾の名前を調べる前に何を調べているか。</a:t>
            </a:r>
          </a:p>
          <a:p>
            <a:pPr algn="l">
              <a:lnSpc>
                <a:spcPct val="128000"/>
              </a:lnSpc>
            </a:pPr>
            <a:r>
              <a:rPr sz="1200">
                <a:solidFill>
                  <a:srgbClr val="333333"/>
                </a:solidFill>
                <a:latin typeface="メイリオ"/>
                <a:ea typeface="メイリオ"/>
                <a:cs typeface="メイリオ"/>
              </a:rPr>
              <a:t>最初に調べること → 迷っているときに調べること → 塾の名前、の順に並べる。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 前後検索（直近1年）起点KW：塾／個別指導／体験授業／高校受験 ※「塾」の結果から「熟」の語（熟年・熟語など）は除外</a:t>
            </a:r>
          </a:p>
        </p:txBody>
      </p:sp>
      <p:sp>
        <p:nvSpPr>
          <p:cNvPr id="29" name="Pentagon 28"/>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0" name="Chevron 29"/>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1" name="Chevron 30"/>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2" name="Chevron 31"/>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3" name="Chevron 32"/>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4" name="Chevron 33"/>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5" name="Chevron 34"/>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6" name="Chevron 35"/>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7" name="Rounded Rectangle 36"/>
          <p:cNvSpPr/>
          <p:nvPr/>
        </p:nvSpPr>
        <p:spPr>
          <a:xfrm>
            <a:off x="432000" y="1494000"/>
            <a:ext cx="29088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最初に調べること</a:t>
            </a:r>
          </a:p>
        </p:txBody>
      </p:sp>
      <p:sp>
        <p:nvSpPr>
          <p:cNvPr id="38" name="Rounded Rectangle 37"/>
          <p:cNvSpPr/>
          <p:nvPr/>
        </p:nvSpPr>
        <p:spPr>
          <a:xfrm>
            <a:off x="432000"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cxnSp>
        <p:nvCxnSpPr>
          <p:cNvPr id="39" name="Connector 38"/>
          <p:cNvCxnSpPr/>
          <p:nvPr/>
        </p:nvCxnSpPr>
        <p:spPr>
          <a:xfrm>
            <a:off x="33551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499199" y="1494000"/>
            <a:ext cx="2908800" cy="251999"/>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迷っているときに調べること</a:t>
            </a:r>
          </a:p>
        </p:txBody>
      </p:sp>
      <p:sp>
        <p:nvSpPr>
          <p:cNvPr id="41" name="Rounded Rectangle 40"/>
          <p:cNvSpPr/>
          <p:nvPr/>
        </p:nvSpPr>
        <p:spPr>
          <a:xfrm>
            <a:off x="3499199"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cxnSp>
        <p:nvCxnSpPr>
          <p:cNvPr id="42" name="Connector 41"/>
          <p:cNvCxnSpPr/>
          <p:nvPr/>
        </p:nvCxnSpPr>
        <p:spPr>
          <a:xfrm>
            <a:off x="64223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66399" y="1494000"/>
            <a:ext cx="2908800" cy="251999"/>
          </a:xfrm>
          <a:prstGeom prst="roundRect">
            <a:avLst>
              <a:gd name="adj" fmla="val 20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塾の名前を調べる</a:t>
            </a:r>
          </a:p>
        </p:txBody>
      </p:sp>
      <p:sp>
        <p:nvSpPr>
          <p:cNvPr id="44" name="Rounded Rectangle 43"/>
          <p:cNvSpPr/>
          <p:nvPr/>
        </p:nvSpPr>
        <p:spPr>
          <a:xfrm>
            <a:off x="6566399"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sp>
        <p:nvSpPr>
          <p:cNvPr id="45" name="Rounded Rectangle 44"/>
          <p:cNvSpPr/>
          <p:nvPr/>
        </p:nvSpPr>
        <p:spPr>
          <a:xfrm>
            <a:off x="432000" y="4518000"/>
            <a:ext cx="1080000" cy="198000"/>
          </a:xfrm>
          <a:prstGeom prst="roundRect">
            <a:avLst>
              <a:gd name="adj" fmla="val 20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2B5797"/>
                </a:solidFill>
                <a:latin typeface="メイリオ"/>
                <a:ea typeface="メイリオ"/>
                <a:cs typeface="メイリオ"/>
              </a:rPr>
              <a:t>塾選び・形態</a:t>
            </a:r>
          </a:p>
        </p:txBody>
      </p:sp>
      <p:sp>
        <p:nvSpPr>
          <p:cNvPr id="46" name="Rounded Rectangle 45"/>
          <p:cNvSpPr/>
          <p:nvPr/>
        </p:nvSpPr>
        <p:spPr>
          <a:xfrm>
            <a:off x="1584000" y="4518000"/>
            <a:ext cx="1080000" cy="198000"/>
          </a:xfrm>
          <a:prstGeom prst="roundRect">
            <a:avLst>
              <a:gd name="adj" fmla="val 20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7440A8"/>
                </a:solidFill>
                <a:latin typeface="メイリオ"/>
                <a:ea typeface="メイリオ"/>
                <a:cs typeface="メイリオ"/>
              </a:rPr>
              <a:t>費用</a:t>
            </a:r>
          </a:p>
        </p:txBody>
      </p:sp>
      <p:sp>
        <p:nvSpPr>
          <p:cNvPr id="47" name="Rounded Rectangle 46"/>
          <p:cNvSpPr/>
          <p:nvPr/>
        </p:nvSpPr>
        <p:spPr>
          <a:xfrm>
            <a:off x="2736000" y="4518000"/>
            <a:ext cx="1080000" cy="198000"/>
          </a:xfrm>
          <a:prstGeom prst="roundRect">
            <a:avLst>
              <a:gd name="adj" fmla="val 20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C0561A"/>
                </a:solidFill>
                <a:latin typeface="メイリオ"/>
                <a:ea typeface="メイリオ"/>
                <a:cs typeface="メイリオ"/>
              </a:rPr>
              <a:t>悩み・時期</a:t>
            </a:r>
          </a:p>
        </p:txBody>
      </p:sp>
      <p:sp>
        <p:nvSpPr>
          <p:cNvPr id="48" name="Rounded Rectangle 47"/>
          <p:cNvSpPr/>
          <p:nvPr/>
        </p:nvSpPr>
        <p:spPr>
          <a:xfrm>
            <a:off x="3888000" y="4518000"/>
            <a:ext cx="1080000" cy="198000"/>
          </a:xfrm>
          <a:prstGeom prst="roundRect">
            <a:avLst>
              <a:gd name="adj" fmla="val 20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00796B"/>
                </a:solidFill>
                <a:latin typeface="メイリオ"/>
                <a:ea typeface="メイリオ"/>
                <a:cs typeface="メイリオ"/>
              </a:rPr>
              <a:t>塾名・口コミ</a:t>
            </a:r>
          </a:p>
        </p:txBody>
      </p:sp>
      <p:sp>
        <p:nvSpPr>
          <p:cNvPr id="49" name="Rectangle 48"/>
          <p:cNvSpPr/>
          <p:nvPr/>
        </p:nvSpPr>
        <p:spPr>
          <a:xfrm>
            <a:off x="5112000" y="4518000"/>
            <a:ext cx="4356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色分けは仮。データが届いたらクエリに合わせて決める</a:t>
            </a:r>
          </a:p>
        </p:txBody>
      </p:sp>
      <p:sp>
        <p:nvSpPr>
          <p:cNvPr id="50" name="Rounded Rectangle 49"/>
          <p:cNvSpPr/>
          <p:nvPr/>
        </p:nvSpPr>
        <p:spPr>
          <a:xfrm>
            <a:off x="432000" y="4860000"/>
            <a:ext cx="9043200" cy="57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塾の名前が出てくる前に、保護者はもう調べ始めている。</a:t>
            </a:r>
          </a:p>
          <a:p>
            <a:pPr algn="ctr"/>
            <a:r>
              <a:rPr sz="1100" b="0">
                <a:solidFill>
                  <a:srgbClr val="FFFFFF"/>
                </a:solidFill>
                <a:latin typeface="メイリオ"/>
                <a:ea typeface="メイリオ"/>
                <a:cs typeface="メイリオ"/>
              </a:rPr>
              <a:t>その間、塾と保護者の接点はない。（データが届いたら確定）</a:t>
            </a:r>
          </a:p>
        </p:txBody>
      </p:sp>
    </p:spTree>
    <p:extLst>
      <p:ext uri="{BB962C8B-B14F-4D97-AF65-F5344CB8AC3E}">
        <p14:creationId xmlns:p14="http://schemas.microsoft.com/office/powerpoint/2010/main" val="3112803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0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2024）2026-09-25取得。「確認できず」＝公開情報で確認できなかったもの。★競合の実名掲載は上司確認</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明光義塾</a:t>
            </a:r>
          </a:p>
          <a:p>
            <a:pPr algn="ctr"/>
            <a:r>
              <a:rPr sz="8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あり（多数）</a:t>
            </a:r>
          </a:p>
          <a:p>
            <a:pPr algn="ctr"/>
            <a:r>
              <a:rPr sz="85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（教室は電話・Web・LINEで予約）</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トライさん</a:t>
            </a:r>
          </a:p>
          <a:p>
            <a:pPr algn="ctr"/>
            <a:r>
              <a:rPr sz="8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生徒</a:t>
            </a:r>
          </a:p>
          <a:p>
            <a:pPr algn="ctr"/>
            <a:r>
              <a:rPr sz="85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Webの性格診断あり</a:t>
            </a:r>
          </a:p>
          <a:p>
            <a:pPr algn="ctr"/>
            <a:r>
              <a:rPr sz="85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運営会社名義</a:t>
            </a:r>
          </a:p>
          <a:p>
            <a:pPr algn="ctr"/>
            <a:r>
              <a:rPr sz="850" b="0">
                <a:solidFill>
                  <a:srgbClr val="333333"/>
                </a:solidFill>
                <a:latin typeface="メイリオ"/>
                <a:ea typeface="メイリオ"/>
                <a:cs typeface="メイリオ"/>
              </a:rPr>
              <a:t>（スプリックス）</a:t>
            </a:r>
          </a:p>
          <a:p>
            <a:pPr algn="ctr"/>
            <a:r>
              <a:rPr sz="8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明光義塾はLINEで成果を出している（LINEヤフー公式事例）</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a:t>
            </a:r>
          </a:p>
        </p:txBody>
      </p:sp>
      <p:sp>
        <p:nvSpPr>
          <p:cNvPr id="103" name="Rounded Rectangle 102"/>
          <p:cNvSpPr/>
          <p:nvPr/>
        </p:nvSpPr>
        <p:spPr>
          <a:xfrm>
            <a:off x="5047200" y="4788000"/>
            <a:ext cx="4428000" cy="990000"/>
          </a:xfrm>
          <a:prstGeom prst="roundRect">
            <a:avLst>
              <a:gd name="adj" fmla="val 8000"/>
            </a:avLst>
          </a:prstGeom>
          <a:solidFill>
            <a:srgbClr val="FFF2CC"/>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空いているところ</a:t>
            </a:r>
          </a:p>
          <a:p>
            <a:pPr algn="l"/>
            <a:r>
              <a:rPr sz="950" b="0">
                <a:solidFill>
                  <a:srgbClr val="333333"/>
                </a:solidFill>
                <a:latin typeface="メイリオ"/>
                <a:ea typeface="メイリオ"/>
                <a:cs typeface="メイリオ"/>
              </a:rPr>
              <a:t>・保護者向けに「診断 → 資料請求 → 体験予約」を</a:t>
            </a:r>
          </a:p>
          <a:p>
            <a:pPr algn="l"/>
            <a:r>
              <a:rPr sz="950" b="0">
                <a:solidFill>
                  <a:srgbClr val="333333"/>
                </a:solidFill>
                <a:latin typeface="メイリオ"/>
                <a:ea typeface="メイリオ"/>
                <a:cs typeface="メイリオ"/>
              </a:rPr>
              <a:t>　LINEの中でつないでいる塾は、確認できなかった</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保護者向けに、診断から資料請求・体験予約までをLINEでつなぐ。ここはまだ空いている。</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ED7D31"/>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CV① 資料請求（軽い）</a:t>
            </a:r>
          </a:p>
          <a:p>
            <a:pPr algn="l"/>
            <a:r>
              <a:rPr sz="1200" b="0">
                <a:solidFill>
                  <a:srgbClr val="333333"/>
                </a:solidFill>
                <a:latin typeface="メイリオ"/>
                <a:ea typeface="メイリオ"/>
                <a:cs typeface="メイリオ"/>
              </a:rPr>
              <a:t>・まだ決めていない保護者でも、気軽に申し込める</a:t>
            </a:r>
          </a:p>
          <a:p>
            <a:pPr algn="l"/>
            <a:r>
              <a:rPr sz="120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CV② 体験予約（重い）</a:t>
            </a:r>
          </a:p>
          <a:p>
            <a:pPr algn="l"/>
            <a:r>
              <a:rPr sz="1200" b="0">
                <a:solidFill>
                  <a:srgbClr val="333333"/>
                </a:solidFill>
                <a:latin typeface="メイリオ"/>
                <a:ea typeface="メイリオ"/>
                <a:cs typeface="メイリオ"/>
              </a:rPr>
              <a:t>・資料を読んで「合いそう」と思った保護者が進む</a:t>
            </a:r>
          </a:p>
          <a:p>
            <a:pPr algn="l"/>
            <a:r>
              <a:rPr sz="120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4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P7〜P9のデータを、すべきことに置き換える。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サイトに来た保護者の多くは、名前を残さず帰っている</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塾名を調べる前から、保護者は調べ始めている（P8）</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検索の山は2月と7月（P9）</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サイトの離脱防止ポップアップ</a:t>
            </a:r>
          </a:p>
          <a:p>
            <a:pPr algn="l"/>
            <a:r>
              <a:rPr sz="10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チラシ・教室掲示のQR</a:t>
            </a:r>
          </a:p>
          <a:p>
            <a:pPr algn="l"/>
            <a:r>
              <a:rPr sz="10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友だちからの紹介（入会前）</a:t>
            </a:r>
          </a:p>
          <a:p>
            <a:pPr algn="l"/>
            <a:r>
              <a:rPr sz="1000" b="0">
                <a:solidFill>
                  <a:srgbClr val="333333"/>
                </a:solidFill>
                <a:latin typeface="メイリオ"/>
                <a:ea typeface="メイリオ"/>
                <a:cs typeface="メイリオ"/>
              </a:rPr>
              <a:t>「一緒に体験しよう」をLINEで送ってもらう（P19）</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文面の教室長名・対応時間・配信頻度は貴社の運用に合わせて差し替える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友だち追加の直後は、</a:t>
            </a:r>
          </a:p>
          <a:p>
            <a:pPr algn="l"/>
            <a:r>
              <a:rPr sz="10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安心できることを先に伝えて、</a:t>
            </a:r>
          </a:p>
          <a:p>
            <a:pPr algn="l"/>
            <a:r>
              <a:rPr sz="10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あいさつメッセージの</a:t>
            </a:r>
          </a:p>
          <a:p>
            <a:pPr algn="l"/>
            <a:r>
              <a:rPr sz="10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※競合の診断（トライの性格別学習法診断など）はP11の調査結果を参照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※体験予約済みの方には、タブ②（体験当日の流れ・アクセス・日程変更など）を出し分ける</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30秒</a:t>
            </a:r>
          </a:p>
          <a:p>
            <a:pPr algn="ctr"/>
            <a:r>
              <a:rPr sz="8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教室・講師</a:t>
            </a:r>
          </a:p>
          <a:p>
            <a:pPr algn="ctr"/>
            <a:r>
              <a:rPr sz="8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資料を</a:t>
            </a:r>
          </a:p>
          <a:p>
            <a:pPr algn="ctr"/>
            <a:r>
              <a:rPr sz="8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友だちと</a:t>
            </a:r>
          </a:p>
          <a:p>
            <a:pPr algn="ctr"/>
            <a:r>
              <a:rPr sz="8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・右下：一番押してほしい行動。体験・見学の予約（CV②）</a:t>
            </a:r>
          </a:p>
          <a:p>
            <a:pPr algn="l"/>
            <a:r>
              <a:rPr sz="1050" b="0">
                <a:solidFill>
                  <a:srgbClr val="333333"/>
                </a:solidFill>
                <a:latin typeface="メイリオ"/>
                <a:ea typeface="メイリオ"/>
                <a:cs typeface="メイリオ"/>
              </a:rPr>
              <a:t>・左下：資料を受け取る（CV①）。体験はまだ早い保護者の受け皿</a:t>
            </a:r>
          </a:p>
          <a:p>
            <a:pPr algn="l"/>
            <a:r>
              <a:rPr sz="1050" b="0">
                <a:solidFill>
                  <a:srgbClr val="333333"/>
                </a:solidFill>
                <a:latin typeface="メイリオ"/>
                <a:ea typeface="メイリオ"/>
                <a:cs typeface="メイリオ"/>
              </a:rPr>
              <a:t>・上段：比べるときに見たい情報（診断・料金・教室）</a:t>
            </a:r>
          </a:p>
          <a:p>
            <a:pPr algn="l"/>
            <a:r>
              <a:rPr sz="105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同じ内容を全員に送ると、</a:t>
            </a:r>
          </a:p>
          <a:p>
            <a:pPr algn="l"/>
            <a:r>
              <a:rPr sz="10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保護者ごとに、</a:t>
            </a:r>
          </a:p>
          <a:p>
            <a:pPr algn="l"/>
            <a:r>
              <a:rPr sz="10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診断タグ＋行動タグで</a:t>
            </a:r>
          </a:p>
          <a:p>
            <a:pPr algn="l"/>
            <a:r>
              <a:rPr sz="10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※保護者が比べている間に何を調べているかは、前後検索（取得中）で確定させ、配信の中身を合わせる</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（前後検索で確定させる）</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00897B"/>
                </a:solidFill>
                <a:latin typeface="メイリオ"/>
                <a:ea typeface="メイリオ"/>
                <a:cs typeface="メイリオ"/>
              </a:rPr>
              <a:t>体験予約した人</a:t>
            </a:r>
          </a:p>
          <a:p>
            <a:pPr algn="ctr"/>
            <a:r>
              <a:rPr sz="1050" b="0">
                <a:solidFill>
                  <a:srgbClr val="333333"/>
                </a:solidFill>
                <a:latin typeface="メイリオ"/>
                <a:ea typeface="メイリオ"/>
                <a:cs typeface="メイリオ"/>
              </a:rPr>
              <a:t>→ 前日リマインドへ（P26）</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予約しなかった人</a:t>
            </a:r>
          </a:p>
          <a:p>
            <a:pPr algn="ctr"/>
            <a:r>
              <a:rPr sz="105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※事例の数字は貴社の実績に差し替え、学年・期間・通った回数を書く。体験予約の前日のメッセージはP26</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塾を知ったきっかけの1位は</a:t>
            </a:r>
          </a:p>
          <a:p>
            <a:pPr algn="l"/>
            <a:r>
              <a:rPr sz="100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友だちとの会話を、</a:t>
            </a:r>
          </a:p>
          <a:p>
            <a:pPr algn="l"/>
            <a:r>
              <a:rPr sz="100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友だちと一緒の体験枠をLINEで予約</a:t>
            </a:r>
          </a:p>
          <a:p>
            <a:pPr algn="l"/>
            <a:r>
              <a:rPr sz="100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通う習慣がつきやすい</a:t>
            </a:r>
          </a:p>
          <a:p>
            <a:pPr algn="l"/>
            <a:r>
              <a:rPr sz="10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励まし合える</a:t>
            </a:r>
          </a:p>
          <a:p>
            <a:pPr algn="l"/>
            <a:r>
              <a:rPr sz="10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送り迎えを分担できる</a:t>
            </a:r>
          </a:p>
          <a:p>
            <a:pPr algn="l"/>
            <a:r>
              <a:rPr sz="10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※体験に来ない割合・実施率の改善幅は、貴社の実績で確定させる（旧版の「約20%」「80%→92%」は出典未確認のため載せていない）</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予約内容の確認</a:t>
            </a:r>
          </a:p>
          <a:p>
            <a:pPr algn="ctr"/>
            <a:r>
              <a:rPr sz="95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担当講師の紹介</a:t>
            </a:r>
          </a:p>
          <a:p>
            <a:pPr algn="ctr"/>
            <a:r>
              <a:rPr sz="95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持ち物・アクセス</a:t>
            </a:r>
          </a:p>
          <a:p>
            <a:pPr algn="ctr"/>
            <a:r>
              <a:rPr sz="95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「お待ちしています」</a:t>
            </a:r>
          </a:p>
          <a:p>
            <a:pPr algn="ctr"/>
            <a:r>
              <a:rPr sz="95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お礼＋診断結果</a:t>
            </a:r>
          </a:p>
          <a:p>
            <a:pPr algn="ctr"/>
            <a:r>
              <a:rPr sz="95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00" b="0">
                <a:solidFill>
                  <a:srgbClr val="333333"/>
                </a:solidFill>
                <a:latin typeface="メイリオ"/>
                <a:ea typeface="メイリオ"/>
                <a:cs typeface="メイリオ"/>
              </a:rPr>
              <a:t>【明日◯時〜】体験授業のご確認です😊</a:t>
            </a:r>
          </a:p>
          <a:p>
            <a:pPr algn="l"/>
            <a:r>
              <a:rPr sz="900" b="0">
                <a:solidFill>
                  <a:srgbClr val="333333"/>
                </a:solidFill>
                <a:latin typeface="メイリオ"/>
                <a:ea typeface="メイリオ"/>
                <a:cs typeface="メイリオ"/>
              </a:rPr>
              <a:t>◯◯塾 △△教室（地図はこちら▼）</a:t>
            </a:r>
          </a:p>
          <a:p>
            <a:pPr algn="l"/>
            <a:r>
              <a:rPr sz="900" b="0">
                <a:solidFill>
                  <a:srgbClr val="333333"/>
                </a:solidFill>
                <a:latin typeface="メイリオ"/>
                <a:ea typeface="メイリオ"/>
                <a:cs typeface="メイリオ"/>
              </a:rPr>
              <a:t>✏️ 持ち物：筆記用具だけでOK（教材はご用意します）</a:t>
            </a:r>
          </a:p>
          <a:p>
            <a:pPr algn="l"/>
            <a:r>
              <a:rPr sz="900" b="0">
                <a:solidFill>
                  <a:srgbClr val="333333"/>
                </a:solidFill>
                <a:latin typeface="メイリオ"/>
                <a:ea typeface="メイリオ"/>
                <a:cs typeface="メイリオ"/>
              </a:rPr>
              <a:t>🚲 駐輪場：教室裏にあります</a:t>
            </a:r>
          </a:p>
          <a:p>
            <a:pPr algn="l"/>
            <a:r>
              <a:rPr sz="900" b="0">
                <a:solidFill>
                  <a:srgbClr val="333333"/>
                </a:solidFill>
                <a:latin typeface="メイリオ"/>
                <a:ea typeface="メイリオ"/>
                <a:cs typeface="メイリオ"/>
              </a:rPr>
              <a:t>👪 保護者さまは「見学」でも「面談だけ」でも大丈夫です</a:t>
            </a:r>
          </a:p>
          <a:p>
            <a:pPr algn="l"/>
            <a:r>
              <a:rPr sz="900" b="0">
                <a:solidFill>
                  <a:srgbClr val="333333"/>
                </a:solidFill>
                <a:latin typeface="メイリオ"/>
                <a:ea typeface="メイリオ"/>
                <a:cs typeface="メイリオ"/>
              </a:rPr>
              <a:t/>
            </a:r>
          </a:p>
          <a:p>
            <a:pPr algn="l"/>
            <a:r>
              <a:rPr sz="900" b="0">
                <a:solidFill>
                  <a:srgbClr val="333333"/>
                </a:solidFill>
                <a:latin typeface="メイリオ"/>
                <a:ea typeface="メイリオ"/>
                <a:cs typeface="メイリオ"/>
              </a:rPr>
              <a:t>ご都合が変わったら、このトークに「変更」と送って</a:t>
            </a:r>
          </a:p>
          <a:p>
            <a:pPr algn="l"/>
            <a:r>
              <a:rPr sz="900" b="0">
                <a:solidFill>
                  <a:srgbClr val="333333"/>
                </a:solidFill>
                <a:latin typeface="メイリオ"/>
                <a:ea typeface="メイリオ"/>
                <a:cs typeface="メイリオ"/>
              </a:rPr>
              <a:t>ください。別の日程をご案内します。</a:t>
            </a:r>
          </a:p>
          <a:p>
            <a:pPr algn="l"/>
            <a:r>
              <a:rPr sz="90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333333"/>
                </a:solidFill>
                <a:latin typeface="メイリオ"/>
                <a:ea typeface="メイリオ"/>
                <a:cs typeface="メイリオ"/>
              </a:rPr>
              <a:t>「キャンセル料はありません」を必ず書く</a:t>
            </a:r>
          </a:p>
          <a:p>
            <a:pPr algn="l"/>
            <a:r>
              <a:rPr sz="1000" b="0">
                <a:solidFill>
                  <a:srgbClr val="333333"/>
                </a:solidFill>
                <a:latin typeface="メイリオ"/>
                <a:ea typeface="メイリオ"/>
                <a:cs typeface="メイリオ"/>
              </a:rPr>
              <a:t>変更・キャンセルの自由を先に伝えたほうが、</a:t>
            </a:r>
          </a:p>
          <a:p>
            <a:pPr algn="l"/>
            <a:r>
              <a:rPr sz="10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翌日のメッセージで入会へ</a:t>
            </a:r>
          </a:p>
          <a:p>
            <a:pPr algn="l"/>
            <a:r>
              <a:rPr sz="1000" b="0">
                <a:solidFill>
                  <a:srgbClr val="333333"/>
                </a:solidFill>
                <a:latin typeface="メイリオ"/>
                <a:ea typeface="メイリオ"/>
                <a:cs typeface="メイリオ"/>
              </a:rPr>
              <a:t>お礼と診断結果を送り、入会の相談は</a:t>
            </a:r>
          </a:p>
          <a:p>
            <a:pPr algn="l"/>
            <a:r>
              <a:rPr sz="10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「テスト後、9割の家庭がしない事」（P25）</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出典｜Googleトレンド（日本・2026年年初来・週次／_data/trends/教育塾/）。各月の内容はDYM見解。★貴社の月別の入会実績があれば、この表を合わせる</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通知メッセージは別途費用。利用条件・単価はLINEヤフーの規定で変わるため、要件定義で最新の条件を確認する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資料請求や体験だけで止まった</a:t>
            </a:r>
          </a:p>
          <a:p>
            <a:pPr algn="l"/>
            <a:r>
              <a:rPr sz="10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講習の時期に合わせて、</a:t>
            </a:r>
          </a:p>
          <a:p>
            <a:pPr algn="l"/>
            <a:r>
              <a:rPr sz="10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通知メッセージ（電話番号で</a:t>
            </a:r>
          </a:p>
          <a:p>
            <a:pPr algn="l"/>
            <a:r>
              <a:rPr sz="10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資料請求だけで止まっている保護者</a:t>
            </a:r>
          </a:p>
          <a:p>
            <a:pPr algn="l"/>
            <a:r>
              <a:rPr sz="10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体験に来たが、入会しなかった保護者</a:t>
            </a:r>
          </a:p>
          <a:p>
            <a:pPr algn="l"/>
            <a:r>
              <a:rPr sz="10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例：「夏期講習のご案内です。以前いただいた資料請求の</a:t>
            </a:r>
          </a:p>
          <a:p>
            <a:pPr algn="l"/>
            <a:r>
              <a:rPr sz="95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FF7F0"/>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C55A11"/>
                </a:solidFill>
                <a:latin typeface="メイリオ"/>
                <a:ea typeface="メイリオ"/>
                <a:cs typeface="メイリオ"/>
              </a:rPr>
              <a:t>注意すること</a:t>
            </a:r>
          </a:p>
          <a:p>
            <a:pPr algn="l"/>
            <a:r>
              <a:rPr sz="1000" b="0">
                <a:solidFill>
                  <a:srgbClr val="333333"/>
                </a:solidFill>
                <a:latin typeface="メイリオ"/>
                <a:ea typeface="メイリオ"/>
                <a:cs typeface="メイリオ"/>
              </a:rPr>
              <a:t>・関係がはっきりしている相手だけに送る（資料請求・体験をした保護者）</a:t>
            </a:r>
          </a:p>
          <a:p>
            <a:pPr algn="l"/>
            <a:r>
              <a:rPr sz="10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「まだ決めなくて</a:t>
            </a:r>
          </a:p>
          <a:p>
            <a:pPr algn="ctr"/>
            <a:r>
              <a:rPr sz="95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名前・電話番号</a:t>
            </a:r>
          </a:p>
          <a:p>
            <a:pPr algn="ctr"/>
            <a:r>
              <a:rPr sz="95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学年・悩み・性格</a:t>
            </a:r>
          </a:p>
          <a:p>
            <a:pPr algn="ctr"/>
            <a:r>
              <a:rPr sz="95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コース・料金の</a:t>
            </a:r>
          </a:p>
          <a:p>
            <a:pPr algn="ctr"/>
            <a:r>
              <a:rPr sz="95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LINEで日時を</a:t>
            </a:r>
          </a:p>
          <a:p>
            <a:pPr algn="ctr"/>
            <a:r>
              <a:rPr sz="95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教室で</a:t>
            </a:r>
          </a:p>
          <a:p>
            <a:pPr algn="ctr"/>
            <a:r>
              <a:rPr sz="95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7F7F7F"/>
                </a:solidFill>
                <a:latin typeface="メイリオ"/>
                <a:ea typeface="メイリオ"/>
                <a:cs typeface="メイリオ"/>
              </a:rPr>
              <a:t>いま</a:t>
            </a:r>
          </a:p>
          <a:p>
            <a:pPr algn="l"/>
            <a:r>
              <a:rPr sz="1050" b="0">
                <a:solidFill>
                  <a:srgbClr val="333333"/>
                </a:solidFill>
                <a:latin typeface="メイリオ"/>
                <a:ea typeface="メイリオ"/>
                <a:cs typeface="メイリオ"/>
              </a:rPr>
              <a:t>サイト → 資料請求フォーム／電話 → 体験</a:t>
            </a:r>
          </a:p>
          <a:p>
            <a:pPr algn="l"/>
            <a:r>
              <a:rPr sz="1050" b="0">
                <a:solidFill>
                  <a:srgbClr val="333333"/>
                </a:solidFill>
                <a:latin typeface="メイリオ"/>
                <a:ea typeface="メイリオ"/>
                <a:cs typeface="メイリオ"/>
              </a:rPr>
              <a:t>・フォームに名前・住所・電話番号を入れる</a:t>
            </a:r>
          </a:p>
          <a:p>
            <a:pPr algn="l"/>
            <a:r>
              <a:rPr sz="1050" b="0">
                <a:solidFill>
                  <a:srgbClr val="333333"/>
                </a:solidFill>
                <a:latin typeface="メイリオ"/>
                <a:ea typeface="メイリオ"/>
                <a:cs typeface="メイリオ"/>
              </a:rPr>
              <a:t>・電話がかかってくるかもしれない</a:t>
            </a:r>
          </a:p>
          <a:p>
            <a:pPr algn="l"/>
            <a:r>
              <a:rPr sz="10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1F285A"/>
                </a:solidFill>
                <a:latin typeface="メイリオ"/>
                <a:ea typeface="メイリオ"/>
                <a:cs typeface="メイリオ"/>
              </a:rPr>
              <a:t>LINEを入れると</a:t>
            </a:r>
          </a:p>
          <a:p>
            <a:pPr algn="l"/>
            <a:r>
              <a:rPr sz="1050" b="0">
                <a:solidFill>
                  <a:srgbClr val="333333"/>
                </a:solidFill>
                <a:latin typeface="メイリオ"/>
                <a:ea typeface="メイリオ"/>
                <a:cs typeface="メイリオ"/>
              </a:rPr>
              <a:t>サイト → LINE → 診断 → 資料 → 体験</a:t>
            </a:r>
          </a:p>
          <a:p>
            <a:pPr algn="l"/>
            <a:r>
              <a:rPr sz="1050" b="0">
                <a:solidFill>
                  <a:srgbClr val="333333"/>
                </a:solidFill>
                <a:latin typeface="メイリオ"/>
                <a:ea typeface="メイリオ"/>
                <a:cs typeface="メイリオ"/>
              </a:rPr>
              <a:t>・タップ1回で友だち追加。入力はいらない</a:t>
            </a:r>
          </a:p>
          <a:p>
            <a:pPr algn="l"/>
            <a:r>
              <a:rPr sz="1050" b="0">
                <a:solidFill>
                  <a:srgbClr val="333333"/>
                </a:solidFill>
                <a:latin typeface="メイリオ"/>
                <a:ea typeface="メイリオ"/>
                <a:cs typeface="メイリオ"/>
              </a:rPr>
              <a:t>・資料を読んでから、体験を決められる</a:t>
            </a:r>
          </a:p>
          <a:p>
            <a:pPr algn="l"/>
            <a:r>
              <a:rPr sz="10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2〜3月の入会期を取りにいく　→　</a:t>
            </a:r>
            <a:r>
              <a:rPr sz="10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7〜8月の夏期講習を取りにいく　→　</a:t>
            </a:r>
            <a:r>
              <a:rPr sz="10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25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9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友だちと一緒の体験枠</a:t>
            </a:r>
          </a:p>
          <a:p>
            <a:pPr algn="l"/>
            <a:r>
              <a:rPr sz="950" b="0">
                <a:solidFill>
                  <a:srgbClr val="333333"/>
                </a:solidFill>
                <a:latin typeface="メイリオ"/>
                <a:ea typeface="メイリオ"/>
                <a:cs typeface="メイリオ"/>
              </a:rPr>
              <a:t>2人まとめてLINEで予約（P19）</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診断結果を友だちに送れる</a:t>
            </a:r>
          </a:p>
          <a:p>
            <a:pPr algn="l"/>
            <a:r>
              <a:rPr sz="95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体験に来た保護者へ案内</a:t>
            </a:r>
          </a:p>
          <a:p>
            <a:pPr algn="l"/>
            <a:r>
              <a:rPr sz="95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この資料で使った数値の出所を、すべて並べます。</a:t>
            </a:r>
          </a:p>
          <a:p>
            <a:pPr algn="l">
              <a:lnSpc>
                <a:spcPct val="128000"/>
              </a:lnSpc>
            </a:pPr>
            <a:r>
              <a:rPr sz="1200">
                <a:solidFill>
                  <a:srgbClr val="333333"/>
                </a:solidFill>
                <a:latin typeface="メイリオ"/>
                <a:ea typeface="メイリオ"/>
                <a:cs typeface="メイリオ"/>
              </a:rPr>
              <a:t>出典のない数値は書きません。取得中のデータは、届き次第差し替えます。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P8・P10・P24</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 直近1年（取得中）KW：塾／個別指導／体験授業／高校受験</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P9・P28</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P11</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P19・P29</a:t>
            </a:r>
          </a:p>
        </p:txBody>
      </p:sp>
      <p:sp>
        <p:nvSpPr>
          <p:cNvPr id="28"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3851999"/>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P48</a:t>
            </a:r>
          </a:p>
        </p:txBody>
      </p:sp>
      <p:sp>
        <p:nvSpPr>
          <p:cNvPr id="30" name="Rectangle 29"/>
          <p:cNvSpPr/>
          <p:nvPr/>
        </p:nvSpPr>
        <p:spPr>
          <a:xfrm>
            <a:off x="1764000" y="3851999"/>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1" name="Rounded Rectangle 30"/>
          <p:cNvSpPr/>
          <p:nvPr/>
        </p:nvSpPr>
        <p:spPr>
          <a:xfrm>
            <a:off x="432000" y="4644000"/>
            <a:ext cx="44280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1F285A"/>
                </a:solidFill>
                <a:latin typeface="メイリオ"/>
                <a:ea typeface="メイリオ"/>
                <a:cs typeface="メイリオ"/>
              </a:rPr>
              <a:t>LINEヤフー公式データ</a:t>
            </a:r>
          </a:p>
          <a:p>
            <a:pPr algn="l"/>
            <a:r>
              <a:rPr sz="950" b="0">
                <a:solidFill>
                  <a:srgbClr val="333333"/>
                </a:solidFill>
                <a:latin typeface="メイリオ"/>
                <a:ea typeface="メイリオ"/>
                <a:cs typeface="メイリオ"/>
              </a:rPr>
              <a:t>・LINE 国内月間利用者数：1億人突破（2025年12月末時点）</a:t>
            </a:r>
          </a:p>
          <a:p>
            <a:pPr algn="l"/>
            <a:r>
              <a:rPr sz="950" b="0">
                <a:solidFill>
                  <a:srgbClr val="333333"/>
                </a:solidFill>
                <a:latin typeface="メイリオ"/>
                <a:ea typeface="メイリオ"/>
                <a:cs typeface="メイリオ"/>
              </a:rPr>
              <a:t>・メッセージの開封：受信直後 約2割／3〜6時間で約5割／当日中に約8割</a:t>
            </a:r>
          </a:p>
        </p:txBody>
      </p:sp>
      <p:sp>
        <p:nvSpPr>
          <p:cNvPr id="32" name="Rounded Rectangle 31"/>
          <p:cNvSpPr/>
          <p:nvPr/>
        </p:nvSpPr>
        <p:spPr>
          <a:xfrm>
            <a:off x="5047200" y="4644000"/>
            <a:ext cx="4428000" cy="1080000"/>
          </a:xfrm>
          <a:prstGeom prst="roundRect">
            <a:avLst>
              <a:gd name="adj" fmla="val 8000"/>
            </a:avLst>
          </a:prstGeom>
          <a:solidFill>
            <a:srgbClr val="FFF7F7"/>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C00000"/>
                </a:solidFill>
                <a:latin typeface="メイリオ"/>
                <a:ea typeface="メイリオ"/>
                <a:cs typeface="メイリオ"/>
              </a:rPr>
              <a:t>提出前に確認すること</a:t>
            </a:r>
          </a:p>
          <a:p>
            <a:pPr algn="l"/>
            <a:r>
              <a:rPr sz="950" b="0">
                <a:solidFill>
                  <a:srgbClr val="333333"/>
                </a:solidFill>
                <a:latin typeface="メイリオ"/>
                <a:ea typeface="メイリオ"/>
                <a:cs typeface="メイリオ"/>
              </a:rPr>
              <a:t>・公表統計（P5）はe-Statで統計表を開いて数値を照合する</a:t>
            </a:r>
          </a:p>
          <a:p>
            <a:pPr algn="l"/>
            <a:r>
              <a:rPr sz="950" b="0">
                <a:solidFill>
                  <a:srgbClr val="333333"/>
                </a:solidFill>
                <a:latin typeface="メイリオ"/>
                <a:ea typeface="メイリオ"/>
                <a:cs typeface="メイリオ"/>
              </a:rPr>
              <a:t>・競合の実名掲載（P11）と、民間調査の引用可否は上司に確認する</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塾では、資料請求から体験予約までの間（⑤リード有効化）が最大の課題になりやすいと考えています（仮説）。</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最大の課題（仮説）</a:t>
            </a:r>
            <a:endParaRPr lang="ja-JP" altLang="en-US" sz="10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② 離脱</a:t>
            </a:r>
            <a:endParaRPr lang="ja-JP" altLang="en-US" sz="140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サイトに来た保護者の多くが、名前を残さずに帰っている。</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離脱防止ポップアップで、帰る前にLINEの友だちになってもらう。</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40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資料請求のあと、体験予約までの間に「読んで・比べて・迷う」期間があり、ここで他の塾に流れる。</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⑥ 再育成</a:t>
            </a:r>
            <a:endParaRPr lang="ja-JP" altLang="en-US" sz="140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体験に来なかった・入会しなかった保護者との接点が、そこで切れる。</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本日、貴塾で一番改善したいフェーズを確認し、そこに合わせてプランをご提案します。</a:t>
            </a:r>
            <a:endParaRPr lang="ja-JP" altLang="en-US" sz="1400" dirty="0"/>
          </a:p>
        </p:txBody>
      </p:sp>
    </p:spTree>
    <p:extLst>
      <p:ext uri="{BB962C8B-B14F-4D97-AF65-F5344CB8AC3E}">
        <p14:creationId xmlns:p14="http://schemas.microsoft.com/office/powerpoint/2010/main" val="15729428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ご予算の確認</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プランをお選びいただく前に、2つ確認させてください。</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91640"/>
            <a:ext cx="4416552" cy="3200400"/>
          </a:xfrm>
          <a:prstGeom prst="roundRect">
            <a:avLst>
              <a:gd name="adj" fmla="val 5000"/>
            </a:avLst>
          </a:prstGeom>
          <a:solidFill>
            <a:srgbClr val="F4F7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4" name="Rounded Rectangle 13"/>
          <p:cNvSpPr/>
          <p:nvPr/>
        </p:nvSpPr>
        <p:spPr>
          <a:xfrm>
            <a:off x="658368" y="1965960"/>
            <a:ext cx="457200" cy="457200"/>
          </a:xfrm>
          <a:prstGeom prst="roundRect">
            <a:avLst/>
          </a:prstGeom>
          <a:solidFill>
            <a:srgbClr val="1F285A"/>
          </a:solidFill>
          <a:ln>
            <a:noFill/>
          </a:ln>
        </p:spPr>
        <p:txBody>
          <a:bodyPr wrap="square" lIns="0" tIns="0" rIns="0" bIns="0" rtlCol="0" anchor="ctr">
            <a:noAutofit/>
          </a:bodyPr>
          <a:lstStyle/>
          <a:p>
            <a:pPr algn="ctr">
              <a:buNone/>
            </a:pPr>
            <a:r>
              <a:rPr lang="ja-JP" altLang="en-US" sz="1800" b="1" dirty="0">
                <a:solidFill>
                  <a:srgbClr val="FFFFFF"/>
                </a:solidFill>
                <a:latin typeface="メイリオ" panose="020B0604030504040204" pitchFamily="50" charset="-128"/>
                <a:ea typeface="メイリオ" panose="020B0604030504040204" pitchFamily="50" charset="-128"/>
              </a:rPr>
              <a:t>1</a:t>
            </a:r>
            <a:endParaRPr lang="ja-JP" altLang="en-US" sz="1800" dirty="0"/>
          </a:p>
        </p:txBody>
      </p:sp>
      <p:sp>
        <p:nvSpPr>
          <p:cNvPr id="15" name="Rectangle 14"/>
          <p:cNvSpPr/>
          <p:nvPr/>
        </p:nvSpPr>
        <p:spPr>
          <a:xfrm>
            <a:off x="1252728" y="1965960"/>
            <a:ext cx="3410712" cy="457200"/>
          </a:xfrm>
          <a:prstGeom prst="rect">
            <a:avLst/>
          </a:prstGeom>
          <a:noFill/>
          <a:ln>
            <a:noFill/>
          </a:ln>
        </p:spPr>
        <p:txBody>
          <a:bodyPr wrap="square" lIns="0" tIns="0" rIns="0" bIns="0" rtlCol="0" anchor="ctr">
            <a:noAutofit/>
          </a:bodyPr>
          <a:lstStyle/>
          <a:p>
            <a:pPr algn="l">
              <a:buNone/>
            </a:pPr>
            <a:r>
              <a:rPr lang="ja-JP" altLang="en-US" sz="1800" b="1" dirty="0">
                <a:solidFill>
                  <a:srgbClr val="1F285A"/>
                </a:solidFill>
                <a:latin typeface="メイリオ" panose="020B0604030504040204" pitchFamily="50" charset="-128"/>
                <a:ea typeface="メイリオ" panose="020B0604030504040204" pitchFamily="50" charset="-128"/>
              </a:rPr>
              <a:t>月々のご予算</a:t>
            </a:r>
            <a:endParaRPr lang="ja-JP" altLang="en-US" sz="1800" dirty="0"/>
          </a:p>
        </p:txBody>
      </p:sp>
      <p:sp>
        <p:nvSpPr>
          <p:cNvPr id="16" name="Rectangle 15"/>
          <p:cNvSpPr/>
          <p:nvPr/>
        </p:nvSpPr>
        <p:spPr>
          <a:xfrm>
            <a:off x="658368" y="2606040"/>
            <a:ext cx="3959352" cy="914400"/>
          </a:xfrm>
          <a:prstGeom prst="rect">
            <a:avLst/>
          </a:prstGeom>
          <a:noFill/>
          <a:ln>
            <a:noFill/>
          </a:ln>
        </p:spPr>
        <p:txBody>
          <a:bodyPr wrap="square" lIns="0" tIns="0" rIns="0" bIns="0" rtlCol="0" anchor="t">
            <a:noAutofit/>
          </a:bodyPr>
          <a:lstStyle/>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LINEの運用に、月々いくらまで</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かけられますか。</a:t>
            </a:r>
            <a:endParaRPr lang="ja-JP" altLang="en-US" sz="1300" dirty="0"/>
          </a:p>
        </p:txBody>
      </p:sp>
      <p:sp>
        <p:nvSpPr>
          <p:cNvPr id="17" name="Rounded Rectangle 16"/>
          <p:cNvSpPr/>
          <p:nvPr/>
        </p:nvSpPr>
        <p:spPr>
          <a:xfrm>
            <a:off x="658368" y="3840480"/>
            <a:ext cx="3959352" cy="731520"/>
          </a:xfrm>
          <a:prstGeom prst="roundRect">
            <a:avLst>
              <a:gd name="adj" fmla="val 10000"/>
            </a:avLst>
          </a:prstGeom>
          <a:solidFill>
            <a:srgbClr val="FFFFFF"/>
          </a:solidFill>
          <a:ln w="9525">
            <a:solidFill>
              <a:srgbClr val="1F285A"/>
            </a:solidFill>
            <a:prstDash val="dash"/>
          </a:ln>
        </p:spPr>
        <p:txBody>
          <a:bodyPr wrap="square" lIns="73152" tIns="36576" rIns="73152" bIns="36576" rtlCol="0" anchor="ctr">
            <a:noAutofit/>
          </a:bodyPr>
          <a:lstStyle/>
          <a:p>
            <a:pPr algn="ctr">
              <a:buNone/>
            </a:pPr>
            <a:r>
              <a:rPr lang="ja-JP" altLang="en-US" sz="1800" b="1" dirty="0">
                <a:solidFill>
                  <a:srgbClr val="1F285A"/>
                </a:solidFill>
                <a:latin typeface="メイリオ" panose="020B0604030504040204" pitchFamily="50" charset="-128"/>
                <a:ea typeface="メイリオ" panose="020B0604030504040204" pitchFamily="50" charset="-128"/>
              </a:rPr>
              <a:t>月額　＿＿＿＿　万円まで</a:t>
            </a:r>
            <a:endParaRPr lang="ja-JP" altLang="en-US" sz="1800" dirty="0"/>
          </a:p>
        </p:txBody>
      </p:sp>
      <p:sp>
        <p:nvSpPr>
          <p:cNvPr id="18" name="Rounded Rectangle 17"/>
          <p:cNvSpPr/>
          <p:nvPr/>
        </p:nvSpPr>
        <p:spPr>
          <a:xfrm>
            <a:off x="5056632" y="1691640"/>
            <a:ext cx="4416552" cy="3200400"/>
          </a:xfrm>
          <a:prstGeom prst="roundRect">
            <a:avLst>
              <a:gd name="adj" fmla="val 5000"/>
            </a:avLst>
          </a:prstGeom>
          <a:solidFill>
            <a:srgbClr val="F4F7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ounded Rectangle 18"/>
          <p:cNvSpPr/>
          <p:nvPr/>
        </p:nvSpPr>
        <p:spPr>
          <a:xfrm>
            <a:off x="5285232" y="1965960"/>
            <a:ext cx="457200" cy="457200"/>
          </a:xfrm>
          <a:prstGeom prst="roundRect">
            <a:avLst/>
          </a:prstGeom>
          <a:solidFill>
            <a:srgbClr val="1F285A"/>
          </a:solidFill>
          <a:ln>
            <a:noFill/>
          </a:ln>
        </p:spPr>
        <p:txBody>
          <a:bodyPr wrap="square" lIns="0" tIns="0" rIns="0" bIns="0" rtlCol="0" anchor="ctr">
            <a:noAutofit/>
          </a:bodyPr>
          <a:lstStyle/>
          <a:p>
            <a:pPr algn="ctr">
              <a:buNone/>
            </a:pPr>
            <a:r>
              <a:rPr lang="ja-JP" altLang="en-US" sz="1800" b="1" dirty="0">
                <a:solidFill>
                  <a:srgbClr val="FFFFFF"/>
                </a:solidFill>
                <a:latin typeface="メイリオ" panose="020B0604030504040204" pitchFamily="50" charset="-128"/>
                <a:ea typeface="メイリオ" panose="020B0604030504040204" pitchFamily="50" charset="-128"/>
              </a:rPr>
              <a:t>2</a:t>
            </a:r>
            <a:endParaRPr lang="ja-JP" altLang="en-US" sz="1800" dirty="0"/>
          </a:p>
        </p:txBody>
      </p:sp>
      <p:sp>
        <p:nvSpPr>
          <p:cNvPr id="20" name="Rectangle 19"/>
          <p:cNvSpPr/>
          <p:nvPr/>
        </p:nvSpPr>
        <p:spPr>
          <a:xfrm>
            <a:off x="5879592" y="1965960"/>
            <a:ext cx="3410712" cy="457200"/>
          </a:xfrm>
          <a:prstGeom prst="rect">
            <a:avLst/>
          </a:prstGeom>
          <a:noFill/>
          <a:ln>
            <a:noFill/>
          </a:ln>
        </p:spPr>
        <p:txBody>
          <a:bodyPr wrap="square" lIns="0" tIns="0" rIns="0" bIns="0" rtlCol="0" anchor="ctr">
            <a:noAutofit/>
          </a:bodyPr>
          <a:lstStyle/>
          <a:p>
            <a:pPr algn="l">
              <a:buNone/>
            </a:pPr>
            <a:r>
              <a:rPr lang="ja-JP" altLang="en-US" sz="1800" b="1" dirty="0">
                <a:solidFill>
                  <a:srgbClr val="1F285A"/>
                </a:solidFill>
                <a:latin typeface="メイリオ" panose="020B0604030504040204" pitchFamily="50" charset="-128"/>
                <a:ea typeface="メイリオ" panose="020B0604030504040204" pitchFamily="50" charset="-128"/>
              </a:rPr>
              <a:t>獲得単価（CPA）の目安</a:t>
            </a:r>
            <a:endParaRPr lang="ja-JP" altLang="en-US" sz="1800" dirty="0"/>
          </a:p>
        </p:txBody>
      </p:sp>
      <p:sp>
        <p:nvSpPr>
          <p:cNvPr id="21" name="Rectangle 20"/>
          <p:cNvSpPr/>
          <p:nvPr/>
        </p:nvSpPr>
        <p:spPr>
          <a:xfrm>
            <a:off x="5285232" y="2606040"/>
            <a:ext cx="3959352" cy="914400"/>
          </a:xfrm>
          <a:prstGeom prst="rect">
            <a:avLst/>
          </a:prstGeom>
          <a:noFill/>
          <a:ln>
            <a:noFill/>
          </a:ln>
        </p:spPr>
        <p:txBody>
          <a:bodyPr wrap="square" lIns="0" tIns="0" rIns="0" bIns="0" rtlCol="0" anchor="t">
            <a:noAutofit/>
          </a:bodyPr>
          <a:lstStyle/>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資料請求・体験予約の1件あたり、</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いくらまでなら導入をご判断いただけますか。</a:t>
            </a:r>
            <a:endParaRPr lang="ja-JP" altLang="en-US" sz="1300" dirty="0"/>
          </a:p>
        </p:txBody>
      </p:sp>
      <p:sp>
        <p:nvSpPr>
          <p:cNvPr id="22" name="Rounded Rectangle 21"/>
          <p:cNvSpPr/>
          <p:nvPr/>
        </p:nvSpPr>
        <p:spPr>
          <a:xfrm>
            <a:off x="5285232" y="3840480"/>
            <a:ext cx="3959352" cy="731520"/>
          </a:xfrm>
          <a:prstGeom prst="roundRect">
            <a:avLst>
              <a:gd name="adj" fmla="val 10000"/>
            </a:avLst>
          </a:prstGeom>
          <a:solidFill>
            <a:srgbClr val="FFFFFF"/>
          </a:solidFill>
          <a:ln w="9525">
            <a:solidFill>
              <a:srgbClr val="1F285A"/>
            </a:solidFill>
            <a:prstDash val="dash"/>
          </a:ln>
        </p:spPr>
        <p:txBody>
          <a:bodyPr wrap="square" lIns="73152" tIns="36576" rIns="73152" bIns="36576" rtlCol="0" anchor="ctr">
            <a:noAutofit/>
          </a:bodyPr>
          <a:lstStyle/>
          <a:p>
            <a:pPr algn="ctr">
              <a:buNone/>
            </a:pPr>
            <a:r>
              <a:rPr lang="ja-JP" altLang="en-US" sz="1800" b="1" dirty="0">
                <a:solidFill>
                  <a:srgbClr val="1F285A"/>
                </a:solidFill>
                <a:latin typeface="メイリオ" panose="020B0604030504040204" pitchFamily="50" charset="-128"/>
                <a:ea typeface="メイリオ" panose="020B0604030504040204" pitchFamily="50" charset="-128"/>
              </a:rPr>
              <a:t>1件あたり　＿＿＿＿　円まで</a:t>
            </a:r>
            <a:endParaRPr lang="ja-JP" altLang="en-US" sz="1800" dirty="0"/>
          </a:p>
        </p:txBody>
      </p:sp>
      <p:sp>
        <p:nvSpPr>
          <p:cNvPr id="23" name="Rounded Rectangle 22"/>
          <p:cNvSpPr/>
          <p:nvPr/>
        </p:nvSpPr>
        <p:spPr>
          <a:xfrm>
            <a:off x="429768" y="51663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この2つをもとに、次のページの3つのプランから、貴塾に合う形をご提案します。</a:t>
            </a:r>
            <a:endParaRPr lang="ja-JP" altLang="en-US" sz="1400" dirty="0"/>
          </a:p>
        </p:txBody>
      </p:sp>
    </p:spTree>
    <p:extLst>
      <p:ext uri="{BB962C8B-B14F-4D97-AF65-F5344CB8AC3E}">
        <p14:creationId xmlns:p14="http://schemas.microsoft.com/office/powerpoint/2010/main" val="34081473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6か月〜・税抜。金額は貴塾の教室数・配信の規模に合わせて確定します。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・API連携なども含めて、ここまで対応できます</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月1〜2本</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20万円〜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211046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6か月〜・税抜。金額は貴塾の教室数・配信の規模に合わせて確定します。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最適運用プラン（開発を含む）</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・開発を含むプラン</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・Hachidoriなどのツールと連携</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・貴塾に合わせた最適な運用</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30万円〜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サンクスLINE誘導のみ</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・サンクスLINE誘導のみ</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851594300"/>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50</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50</vt:i4>
      </vt:variant>
    </vt:vector>
  </HeadingPairs>
  <TitlesOfParts>
    <vt:vector size="57"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