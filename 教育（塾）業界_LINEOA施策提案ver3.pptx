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3009" r:id="rId62"/>
    <p:sldId id="3010" r:id="rId63"/>
    <p:sldId id="2982" r:id="rId11"/>
    <p:sldId id="2986" r:id="rId16"/>
    <p:sldId id="2983" r:id="rId13"/>
    <p:sldId id="3011" r:id="rId64"/>
    <p:sldId id="3012" r:id="rId65"/>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11.png"/><Relationship Id="rId3" Type="http://schemas.openxmlformats.org/officeDocument/2006/relationships/image" Target="../media/juku_zengo_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21.png"/><Relationship Id="rId3" Type="http://schemas.openxmlformats.org/officeDocument/2006/relationships/image" Target="../media/juku_zengo_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2}" type="slidenum">
              <a:rPr sz="1200" b="1">
                <a:solidFill>
                  <a:srgbClr val="FFFFFF"/>
                </a:solidFill>
                <a:latin typeface="メイリオ"/>
                <a:ea typeface="メイリオ"/>
                <a:cs typeface="メイリオ"/>
              </a:rPr>
              <a:t>37</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1}" type="slidenum">
              <a:rPr sz="1200" b="1">
                <a:solidFill>
                  <a:srgbClr val="FFFFFF"/>
                </a:solidFill>
                <a:latin typeface="メイリオ"/>
                <a:ea typeface="メイリオ"/>
                <a:cs typeface="メイリオ"/>
              </a:rPr>
              <a:t>36</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3467B2"/>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8E4EC6"/>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8D7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2185B"/>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897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明光義塾はLINEで成果を出している（公式事例・P14）</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P7〜P11のデータを、すべきことに置き換える。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検索の山は2月と7月（P11）</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※ボタン文言の言い換えはDYM見解。離脱防止ポップアップはSitelead等（別途費用）。明光義塾も、サイトの初回訪問時・離脱時のポップアップで友だちを集めていた（公式事例・P14）</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「一緒に体験しよう」をLINEで送ってもらう（P24）</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※明光義塾は、相性チェック（5問）と合わせて、LINEの中での体験予約も案内している（P15）。競合の診断（トライの性格別学習法診断など）はP13を参照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※体験予約済みの方には、タブ②（体験当日の流れ・アクセス・日程変更など）を出し分ける。明光義塾は、一番大きい枠に「授業料シミュレーション」を置いている（P15）</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※明光義塾は、アンケートの回答をもとに「まだ塾に通っていない」お子さま・保護者に絞って配信していた（公式事例・P14）</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前日リマインドへ（P31）</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※事例の数字は貴社の実績に差し替え、学年・期間・通った回数を書く。体験予約の前日のメッセージはP31</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「テスト後、9割の家庭がしない事」（P30）</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2人まとめてLINEで予約（P24）</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P8〜P10・P12・P29</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P11・P33</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P13</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P24・P34</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P52</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P14〜P15・P19</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・競合の実名掲載（P13〜P15・P19・P23・P26〜P28）と、民間調査の引用可否は上司に確認する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前後検索｜中学受験・中高一貫の保護者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塾の名前を調べる前に、志望校・偏差値（青）を調べている。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塾の名前（緑）は当日に集中し、そのあとは入室テスト・料金を調べている。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起点：中学受験 塾</a:t>
            </a:r>
            <a:endParaRPr lang="ja-JP" altLang="en-US" sz="1100" dirty="0"/>
          </a:p>
        </p:txBody>
      </p:sp>
      <p:pic>
        <p:nvPicPr>
          <p:cNvPr id="19" name="前後検索_中学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・15〜3日前：私立中学の偏差値・学校名・算数検定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・当日〜：日能研・サピックスなど → 入室テスト・料金</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起点：中高一貫 塾</a:t>
            </a:r>
            <a:endParaRPr lang="ja-JP" altLang="en-US" sz="1100" dirty="0"/>
          </a:p>
        </p:txBody>
      </p:sp>
      <p:pic>
        <p:nvPicPr>
          <p:cNvPr id="22" name="前後検索_中高一貫"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・前後とも：都立中高一貫校・中等教育学校の名前</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・当日：ena・栄光ゼミナールなど都立一貫に強い塾</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塾の名前を調べる前の、志望校・偏差値を調べている時期に、LINEでつながっておく。</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795176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前後検索｜高校受験・英語の保護者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高校受験は、当日に「塾 いつから・費用・ランキング」（ローズ）を調べている。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英語は、先に英検（紫）を調べ、そのあと塾の名前（緑）にたどり着く。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起点：高校受験 塾</a:t>
            </a:r>
            <a:endParaRPr lang="ja-JP" altLang="en-US" sz="1100" dirty="0"/>
          </a:p>
        </p:txBody>
      </p:sp>
      <p:pic>
        <p:nvPicPr>
          <p:cNvPr id="19" name="前後検索_高校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・15〜3日前：高校名・偏差値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・当日：塾 いつから・費用・ランキング → 塾の名前</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起点：英語 塾</a:t>
            </a:r>
            <a:endParaRPr lang="ja-JP" altLang="en-US" sz="1100" dirty="0"/>
          </a:p>
        </p:txBody>
      </p:sp>
      <p:pic>
        <p:nvPicPr>
          <p:cNvPr id="22" name="前後検索_英語"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・15〜3日前：英検 日程・英検3級／2級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・当日：英語塾・個別指導塾 → そのあと英検 合格発表</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「いつから・費用」や英検を調べている時期に、役に立つ情報をLINEで届ける。</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2844573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834640"/>
            <a:ext cx="9043416" cy="713232"/>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5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50" dirty="0"/>
          </a:p>
        </p:txBody>
      </p:sp>
      <p:sp>
        <p:nvSpPr>
          <p:cNvPr id="109" name="Rectangle 108"/>
          <p:cNvSpPr/>
          <p:nvPr/>
        </p:nvSpPr>
        <p:spPr>
          <a:xfrm>
            <a:off x="429768" y="3639312"/>
            <a:ext cx="904341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200" dirty="0"/>
          </a:p>
        </p:txBody>
      </p:sp>
      <p:sp>
        <p:nvSpPr>
          <p:cNvPr id="110" name="Rectangle 109"/>
          <p:cNvSpPr/>
          <p:nvPr/>
        </p:nvSpPr>
        <p:spPr>
          <a:xfrm>
            <a:off x="429768"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a:t>
            </a:r>
            <a:endParaRPr lang="ja-JP" altLang="en-US" sz="1050" dirty="0"/>
          </a:p>
        </p:txBody>
      </p:sp>
      <p:sp>
        <p:nvSpPr>
          <p:cNvPr id="111" name="Rounded Rectangle 110"/>
          <p:cNvSpPr/>
          <p:nvPr/>
        </p:nvSpPr>
        <p:spPr>
          <a:xfrm>
            <a:off x="429768"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サイトで</a:t>
            </a:r>
            <a:endParaRPr lang="ja-JP" altLang="en-US" sz="1050" dirty="0"/>
          </a:p>
        </p:txBody>
      </p:sp>
      <p:sp>
        <p:nvSpPr>
          <p:cNvPr id="112" name="Rectangle 111"/>
          <p:cNvSpPr/>
          <p:nvPr/>
        </p:nvSpPr>
        <p:spPr>
          <a:xfrm>
            <a:off x="2718054"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050" dirty="0"/>
          </a:p>
        </p:txBody>
      </p:sp>
      <p:sp>
        <p:nvSpPr>
          <p:cNvPr id="113" name="Rounded Rectangle 112"/>
          <p:cNvSpPr/>
          <p:nvPr/>
        </p:nvSpPr>
        <p:spPr>
          <a:xfrm>
            <a:off x="2718054"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追加のあと</a:t>
            </a:r>
            <a:endParaRPr lang="ja-JP" altLang="en-US" sz="1050" dirty="0"/>
          </a:p>
        </p:txBody>
      </p:sp>
      <p:sp>
        <p:nvSpPr>
          <p:cNvPr id="114" name="Rectangle 113"/>
          <p:cNvSpPr/>
          <p:nvPr/>
        </p:nvSpPr>
        <p:spPr>
          <a:xfrm>
            <a:off x="5006340"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050" dirty="0"/>
          </a:p>
        </p:txBody>
      </p:sp>
      <p:sp>
        <p:nvSpPr>
          <p:cNvPr id="115" name="Rounded Rectangle 114"/>
          <p:cNvSpPr/>
          <p:nvPr/>
        </p:nvSpPr>
        <p:spPr>
          <a:xfrm>
            <a:off x="5006340"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3　スタンプで</a:t>
            </a:r>
            <a:endParaRPr lang="ja-JP" altLang="en-US" sz="1050" dirty="0"/>
          </a:p>
        </p:txBody>
      </p:sp>
      <p:sp>
        <p:nvSpPr>
          <p:cNvPr id="116" name="Rectangle 115"/>
          <p:cNvSpPr/>
          <p:nvPr/>
        </p:nvSpPr>
        <p:spPr>
          <a:xfrm>
            <a:off x="7294626"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回答をもとに、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050" dirty="0"/>
          </a:p>
        </p:txBody>
      </p:sp>
      <p:sp>
        <p:nvSpPr>
          <p:cNvPr id="117" name="Rounded Rectangle 116"/>
          <p:cNvSpPr/>
          <p:nvPr/>
        </p:nvSpPr>
        <p:spPr>
          <a:xfrm>
            <a:off x="7294626"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4　配信で</a:t>
            </a:r>
            <a:endParaRPr lang="ja-JP" altLang="en-US" sz="1050" dirty="0"/>
          </a:p>
        </p:txBody>
      </p:sp>
      <p:sp>
        <p:nvSpPr>
          <p:cNvPr id="118" name="Rectangle 117"/>
          <p:cNvSpPr/>
          <p:nvPr/>
        </p:nvSpPr>
        <p:spPr>
          <a:xfrm>
            <a:off x="429768" y="530352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00" dirty="0" err="1">
                <a:solidFill>
                  <a:srgbClr val="333333"/>
                </a:solidFill>
                <a:latin typeface="メイリオ"/>
                <a:ea typeface="メイリオ"/>
                <a:cs typeface="メイリオ"/>
              </a:rPr>
              <a:t>リッチメニューの一番大きい枠は「授業料シミュレーション」です。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150" dirty="0"/>
          </a:p>
        </p:txBody>
      </p:sp>
      <p:pic>
        <p:nvPicPr>
          <p:cNvPr id="69" name="明光義塾_あいさつ＋相性チェック" descr=""/>
          <p:cNvPicPr>
            <a:picLocks noChangeAspect="1"/>
          </p:cNvPicPr>
          <p:nvPr/>
        </p:nvPicPr>
        <p:blipFill>
          <a:blip r:embed="rId101"/>
          <a:stretch>
            <a:fillRect/>
          </a:stretch>
        </p:blipFill>
        <p:spPr>
          <a:xfrm>
            <a:off x="935964" y="1883664"/>
            <a:ext cx="1730806" cy="3749039"/>
          </a:xfrm>
          <a:prstGeom prst="rect">
            <a:avLst/>
          </a:prstGeom>
          <a:ln w="9525">
            <a:solidFill>
              <a:srgbClr val="C6CADD"/>
            </a:solidFill>
          </a:ln>
        </p:spPr>
      </p:pic>
      <p:sp>
        <p:nvSpPr>
          <p:cNvPr id="70" name="Rectangle 69"/>
          <p:cNvSpPr/>
          <p:nvPr/>
        </p:nvSpPr>
        <p:spPr>
          <a:xfrm>
            <a:off x="429768"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150" dirty="0"/>
          </a:p>
        </p:txBody>
      </p:sp>
      <p:pic>
        <p:nvPicPr>
          <p:cNvPr id="72" name="明光義塾_LINEの中で体験予約" descr=""/>
          <p:cNvPicPr>
            <a:picLocks noChangeAspect="1"/>
          </p:cNvPicPr>
          <p:nvPr/>
        </p:nvPicPr>
        <p:blipFill>
          <a:blip r:embed="rId102"/>
          <a:stretch>
            <a:fillRect/>
          </a:stretch>
        </p:blipFill>
        <p:spPr>
          <a:xfrm>
            <a:off x="4086072" y="1883664"/>
            <a:ext cx="1730806" cy="3749039"/>
          </a:xfrm>
          <a:prstGeom prst="rect">
            <a:avLst/>
          </a:prstGeom>
          <a:ln w="9525">
            <a:solidFill>
              <a:srgbClr val="C6CADD"/>
            </a:solidFill>
          </a:ln>
        </p:spPr>
      </p:pic>
      <p:sp>
        <p:nvSpPr>
          <p:cNvPr id="73" name="Rectangle 72"/>
          <p:cNvSpPr/>
          <p:nvPr/>
        </p:nvSpPr>
        <p:spPr>
          <a:xfrm>
            <a:off x="3579876"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150" dirty="0"/>
          </a:p>
        </p:txBody>
      </p:sp>
      <p:pic>
        <p:nvPicPr>
          <p:cNvPr id="75" name="明光義塾_リッチメニュー" descr=""/>
          <p:cNvPicPr>
            <a:picLocks noChangeAspect="1"/>
          </p:cNvPicPr>
          <p:nvPr/>
        </p:nvPicPr>
        <p:blipFill>
          <a:blip r:embed="rId103"/>
          <a:stretch>
            <a:fillRect/>
          </a:stretch>
        </p:blipFill>
        <p:spPr>
          <a:xfrm>
            <a:off x="7236180" y="1883664"/>
            <a:ext cx="1730806" cy="3749039"/>
          </a:xfrm>
          <a:prstGeom prst="rect">
            <a:avLst/>
          </a:prstGeom>
          <a:ln w="9525">
            <a:solidFill>
              <a:srgbClr val="C6CADD"/>
            </a:solidFill>
          </a:ln>
        </p:spPr>
      </p:pic>
      <p:sp>
        <p:nvSpPr>
          <p:cNvPr id="76" name="Rectangle 75"/>
          <p:cNvSpPr/>
          <p:nvPr/>
        </p:nvSpPr>
        <p:spPr>
          <a:xfrm>
            <a:off x="6729984"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公式事例（2023年）と実際の画面（2026年10月）から読み取れる仕組みは3つです。</a:t>
            </a:r>
          </a:p>
          <a:p>
            <a:pPr algn="l">
              <a:lnSpc>
                <a:spcPct val="128000"/>
              </a:lnSpc>
            </a:pPr>
            <a:r>
              <a:rPr sz="1200" dirty="0" err="1">
                <a:solidFill>
                  <a:srgbClr val="333333"/>
                </a:solidFill>
                <a:latin typeface="メイリオ"/>
                <a:ea typeface="メイリオ"/>
                <a:cs typeface="メイリオ"/>
              </a:rPr>
              <a:t>この型を、このあとの入口（P23）・診断（P26）・配信の出し分け（P28）に取り入れます。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 出典：LINEヤフー for Business 導入事例（2024年4月5日）・明光義塾 LINE公式アカウント（2026-10-19 弊社確認）。実際の画面はP15。</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友だちになってもらい、答えてもらい、合う方に届ける。この時期に資料請求は前年比 約120%（公式事例）。</a:t>
            </a:r>
          </a:p>
        </p:txBody>
      </p:sp>
      <p:sp>
        <p:nvSpPr>
          <p:cNvPr id="105" name="Rounded Rectangle 104"/>
          <p:cNvSpPr/>
          <p:nvPr/>
        </p:nvSpPr>
        <p:spPr>
          <a:xfrm>
            <a:off x="429768"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00" dirty="0"/>
          </a:p>
        </p:txBody>
      </p:sp>
      <p:sp>
        <p:nvSpPr>
          <p:cNvPr id="106" name="Rounded Rectangle 105"/>
          <p:cNvSpPr/>
          <p:nvPr/>
        </p:nvSpPr>
        <p:spPr>
          <a:xfrm>
            <a:off x="429768"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250" dirty="0"/>
          </a:p>
        </p:txBody>
      </p:sp>
      <p:sp>
        <p:nvSpPr>
          <p:cNvPr id="107" name="Rounded Rectangle 106"/>
          <p:cNvSpPr/>
          <p:nvPr/>
        </p:nvSpPr>
        <p:spPr>
          <a:xfrm>
            <a:off x="429768"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50" dirty="0"/>
          </a:p>
        </p:txBody>
      </p:sp>
      <p:sp>
        <p:nvSpPr>
          <p:cNvPr id="108" name="Rounded Rectangle 107"/>
          <p:cNvSpPr/>
          <p:nvPr/>
        </p:nvSpPr>
        <p:spPr>
          <a:xfrm>
            <a:off x="3511296"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00" dirty="0"/>
          </a:p>
        </p:txBody>
      </p:sp>
      <p:sp>
        <p:nvSpPr>
          <p:cNvPr id="109" name="Rounded Rectangle 108"/>
          <p:cNvSpPr/>
          <p:nvPr/>
        </p:nvSpPr>
        <p:spPr>
          <a:xfrm>
            <a:off x="3511296"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250" dirty="0"/>
          </a:p>
        </p:txBody>
      </p:sp>
      <p:sp>
        <p:nvSpPr>
          <p:cNvPr id="110" name="Rounded Rectangle 109"/>
          <p:cNvSpPr/>
          <p:nvPr/>
        </p:nvSpPr>
        <p:spPr>
          <a:xfrm>
            <a:off x="3511296"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50" dirty="0"/>
          </a:p>
        </p:txBody>
      </p:sp>
      <p:sp>
        <p:nvSpPr>
          <p:cNvPr id="111" name="Rounded Rectangle 110"/>
          <p:cNvSpPr/>
          <p:nvPr/>
        </p:nvSpPr>
        <p:spPr>
          <a:xfrm>
            <a:off x="6592824"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00" dirty="0"/>
          </a:p>
        </p:txBody>
      </p:sp>
      <p:sp>
        <p:nvSpPr>
          <p:cNvPr id="112" name="Rounded Rectangle 111"/>
          <p:cNvSpPr/>
          <p:nvPr/>
        </p:nvSpPr>
        <p:spPr>
          <a:xfrm>
            <a:off x="6592824"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2023年は、アンケートで保護者か生徒か、塾に通っているかを聞いた。</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250" dirty="0"/>
          </a:p>
        </p:txBody>
      </p:sp>
      <p:sp>
        <p:nvSpPr>
          <p:cNvPr id="113" name="Rounded Rectangle 112"/>
          <p:cNvSpPr/>
          <p:nvPr/>
        </p:nvSpPr>
        <p:spPr>
          <a:xfrm>
            <a:off x="6592824"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配信した方の55%が反応</a:t>
            </a:r>
            <a:endParaRPr lang="ja-JP" altLang="en-US" sz="1150" dirty="0"/>
          </a:p>
        </p:txBody>
      </p:sp>
    </p:spTree>
    <p:extLst>
      <p:ext uri="{BB962C8B-B14F-4D97-AF65-F5344CB8AC3E}">
        <p14:creationId xmlns:p14="http://schemas.microsoft.com/office/powerpoint/2010/main" val="153752349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54</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