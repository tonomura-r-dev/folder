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2982" r:id="rId11"/>
    <p:sldId id="2986" r:id="rId16"/>
    <p:sldId id="2983" r:id="rId13"/>
    <p:sldId id="2977" r:id="rId7"/>
    <p:sldId id="2984" r:id="rId14"/>
    <p:sldId id="2996" r:id="rId49"/>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6" r:id="rId59"/>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ED7D31"/>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 市場規模は「定義」で2倍変わる。必ず併記すること</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学校基本調査（令和6年度確報）／矢野経済研究所「教育産業市場に関する調査」2024年。※提案前にe-Statで統計表を開いて数値照合すること</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ED7D31"/>
                </a:solidFill>
                <a:latin typeface="メイリオ"/>
                <a:ea typeface="メイリオ"/>
                <a:cs typeface="メイリオ"/>
              </a:rPr>
              <a:t>女性</a:t>
            </a:r>
            <a:r>
              <a:rPr sz="1400" b="1" dirty="0">
                <a:solidFill>
                  <a:srgbClr val="ED7D31"/>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ED7D31"/>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出典｜LINEヤフー前後検索（2022-05〜2023-05・実測）※最新の前後検索で更新予定／塾ナラ2025（n=200）／塾シル・ユナイトプロジェクト2026（n=249）／明光ネットワークジャパン2020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r>
              <a:rPr sz="1200" b="1">
                <a:solidFill>
                  <a:srgbClr val="FFFFFF"/>
                </a:solidFill>
                <a:latin typeface="メイリオ"/>
                <a:ea typeface="メイリオ"/>
                <a:cs typeface="メイリオ"/>
              </a:rPr>
              <a:t>27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 ※相対値。スケールの違うKWは別のグラフにしている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最初に調べること → 迷っているときに調べること → 塾の名前、の順に並べる。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前後検索（直近1年）起点KW：塾／個別指導／体験授業／高校受験 ※「塾」の結果から「熟」の語（熟年・熟語など）は除外</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sp>
        <p:nvSpPr>
          <p:cNvPr id="38" name="Rounded Rectangle 37"/>
          <p:cNvSpPr/>
          <p:nvPr/>
        </p:nvSpPr>
        <p:spPr>
          <a:xfrm>
            <a:off x="432000"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sp>
        <p:nvSpPr>
          <p:cNvPr id="41" name="Rounded Rectangle 40"/>
          <p:cNvSpPr/>
          <p:nvPr/>
        </p:nvSpPr>
        <p:spPr>
          <a:xfrm>
            <a:off x="34991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4" name="Rounded Rectangle 43"/>
          <p:cNvSpPr/>
          <p:nvPr/>
        </p:nvSpPr>
        <p:spPr>
          <a:xfrm>
            <a:off x="6566399" y="1800000"/>
            <a:ext cx="2908800" cy="2628000"/>
          </a:xfrm>
          <a:prstGeom prst="roundRect">
            <a:avLst>
              <a:gd name="adj" fmla="val 8000"/>
            </a:avLst>
          </a:prstGeom>
          <a:solidFill>
            <a:srgbClr val="FFFBF5"/>
          </a:solidFill>
          <a:ln w="15875">
            <a:solidFill>
              <a:srgbClr val="ED7D3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C55A11"/>
                </a:solidFill>
                <a:latin typeface="メイリオ"/>
                <a:ea typeface="メイリオ"/>
                <a:cs typeface="メイリオ"/>
              </a:rPr>
              <a:t>【データ待ち】前後検索</a:t>
            </a:r>
          </a:p>
          <a:p>
            <a:pPr algn="ctr"/>
            <a:r>
              <a:rPr sz="900" b="0">
                <a:solidFill>
                  <a:srgbClr val="7F7F7F"/>
                </a:solidFill>
                <a:latin typeface="メイリオ"/>
                <a:ea typeface="メイリオ"/>
                <a:cs typeface="メイリオ"/>
              </a:rPr>
              <a:t>クエリを時系列で並べ、4色で色分けする</a:t>
            </a:r>
          </a:p>
        </p:txBody>
      </p:sp>
      <p:sp>
        <p:nvSpPr>
          <p:cNvPr id="45" name="Rounded Rectangle 44"/>
          <p:cNvSpPr/>
          <p:nvPr/>
        </p:nvSpPr>
        <p:spPr>
          <a:xfrm>
            <a:off x="432000" y="4518000"/>
            <a:ext cx="108000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2B5797"/>
                </a:solidFill>
                <a:latin typeface="メイリオ"/>
                <a:ea typeface="メイリオ"/>
                <a:cs typeface="メイリオ"/>
              </a:rPr>
              <a:t>塾選び・形態</a:t>
            </a:r>
          </a:p>
        </p:txBody>
      </p:sp>
      <p:sp>
        <p:nvSpPr>
          <p:cNvPr id="46" name="Rounded Rectangle 45"/>
          <p:cNvSpPr/>
          <p:nvPr/>
        </p:nvSpPr>
        <p:spPr>
          <a:xfrm>
            <a:off x="1584000" y="4518000"/>
            <a:ext cx="108000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7440A8"/>
                </a:solidFill>
                <a:latin typeface="メイリオ"/>
                <a:ea typeface="メイリオ"/>
                <a:cs typeface="メイリオ"/>
              </a:rPr>
              <a:t>費用</a:t>
            </a:r>
          </a:p>
        </p:txBody>
      </p:sp>
      <p:sp>
        <p:nvSpPr>
          <p:cNvPr id="47" name="Rounded Rectangle 46"/>
          <p:cNvSpPr/>
          <p:nvPr/>
        </p:nvSpPr>
        <p:spPr>
          <a:xfrm>
            <a:off x="2736000" y="4518000"/>
            <a:ext cx="1080000" cy="198000"/>
          </a:xfrm>
          <a:prstGeom prst="roundRect">
            <a:avLst>
              <a:gd name="adj" fmla="val 20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C0561A"/>
                </a:solidFill>
                <a:latin typeface="メイリオ"/>
                <a:ea typeface="メイリオ"/>
                <a:cs typeface="メイリオ"/>
              </a:rPr>
              <a:t>悩み・時期</a:t>
            </a:r>
          </a:p>
        </p:txBody>
      </p:sp>
      <p:sp>
        <p:nvSpPr>
          <p:cNvPr id="48" name="Rounded Rectangle 47"/>
          <p:cNvSpPr/>
          <p:nvPr/>
        </p:nvSpPr>
        <p:spPr>
          <a:xfrm>
            <a:off x="3888000" y="4518000"/>
            <a:ext cx="108000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00796B"/>
                </a:solidFill>
                <a:latin typeface="メイリオ"/>
                <a:ea typeface="メイリオ"/>
                <a:cs typeface="メイリオ"/>
              </a:rPr>
              <a:t>塾名・口コミ</a:t>
            </a:r>
          </a:p>
        </p:txBody>
      </p:sp>
      <p:sp>
        <p:nvSpPr>
          <p:cNvPr id="49" name="Rectangle 48"/>
          <p:cNvSpPr/>
          <p:nvPr/>
        </p:nvSpPr>
        <p:spPr>
          <a:xfrm>
            <a:off x="5112000" y="4518000"/>
            <a:ext cx="4356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色分けは仮。データが届いたらクエリに合わせて決める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塾の名前が出てくる前に、保護者はもう調べ始めている。</a:t>
            </a:r>
          </a:p>
          <a:p>
            <a:pPr algn="ctr"/>
            <a:r>
              <a:rPr sz="1100" b="0">
                <a:solidFill>
                  <a:srgbClr val="FFFFFF"/>
                </a:solidFill>
                <a:latin typeface="メイリオ"/>
                <a:ea typeface="メイリオ"/>
                <a:cs typeface="メイリオ"/>
              </a:rPr>
              <a:t>その間、塾と保護者の接点はない。（データが届いたら確定）</a:t>
            </a:r>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2024）2026-09-25取得。「確認できず」＝公開情報で確認できなかったもの。★競合の実名掲載は上司確認</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（教室は電話・Web・LINEで予約）</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明光義塾はLINEで成果を出している（LINEヤフー公式事例）</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a:t>
            </a:r>
          </a:p>
        </p:txBody>
      </p:sp>
      <p:sp>
        <p:nvSpPr>
          <p:cNvPr id="103" name="Rounded Rectangle 102"/>
          <p:cNvSpPr/>
          <p:nvPr/>
        </p:nvSpPr>
        <p:spPr>
          <a:xfrm>
            <a:off x="5047200" y="4788000"/>
            <a:ext cx="4428000" cy="990000"/>
          </a:xfrm>
          <a:prstGeom prst="roundRect">
            <a:avLst>
              <a:gd name="adj" fmla="val 8000"/>
            </a:avLst>
          </a:prstGeom>
          <a:solidFill>
            <a:srgbClr val="FFF2CC"/>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空いているところ</a:t>
            </a:r>
          </a:p>
          <a:p>
            <a:pPr algn="l"/>
            <a:r>
              <a:rPr sz="950" b="0">
                <a:solidFill>
                  <a:srgbClr val="333333"/>
                </a:solidFill>
                <a:latin typeface="メイリオ"/>
                <a:ea typeface="メイリオ"/>
                <a:cs typeface="メイリオ"/>
              </a:rPr>
              <a:t>・保護者向けに「診断 → 資料請求 → 体験予約」を</a:t>
            </a:r>
          </a:p>
          <a:p>
            <a:pPr algn="l"/>
            <a:r>
              <a:rPr sz="950" b="0">
                <a:solidFill>
                  <a:srgbClr val="333333"/>
                </a:solidFill>
                <a:latin typeface="メイリオ"/>
                <a:ea typeface="メイリオ"/>
                <a:cs typeface="メイリオ"/>
              </a:rPr>
              <a:t>　LINEの中でつないでいる塾は、確認できなかった</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保護者向けに、診断から資料請求・体験予約までをLINEでつなぐ。ここはまだ空いている。</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ED7D31"/>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P7〜P9のデータを、すべきことに置き換える。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検索の山は2月と7月（P9）</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E0C36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「一緒に体験しよう」をLINEで送ってもらう（P19）</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文面の教室長名・対応時間・配信頻度は貴社の運用に合わせて差し替える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※競合の診断（トライの性格別学習法診断など）はP11の調査結果を参照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※保護者が比べている間に何を調べているかは、前後検索（取得中）で確定させ、配信の中身を合わせる</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（前後検索で確定させる）</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前日リマインドへ（P26）</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※事例の数字は貴社の実績に差し替え、学年・期間・通った回数を書く。体験予約の前日のメッセージはP26</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※体験に来ない割合・実施率の改善幅は、貴社の実績で確定させる（旧版の「約20%」「80%→92%」は出典未確認のため載せていない）</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「テスト後、9割の家庭がしない事」（P25）</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出典｜Googleトレンド（日本・2026年年初来・週次／_data/trends/教育塾/）。各月の内容はDYM見解。★貴社の月別の入会実績があれば、この表を合わせる</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通知メッセージは別途費用。利用条件・単価はLINEヤフーの規定で変わるため、要件定義で最新の条件を確認する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FF7F0"/>
          </a:solidFill>
          <a:ln w="12700">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C55A11"/>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ED7D31"/>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ED7D31"/>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ED7D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2人まとめてLINEで予約（P19）</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出典のない数値は書きません。取得中のデータは、届き次第差し替えます。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P8・P10・P24</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 直近1年（取得中）KW：塾／個別指導／体験授業／高校受験</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P9・P28</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P19・P29</a:t>
            </a:r>
          </a:p>
        </p:txBody>
      </p:sp>
      <p:sp>
        <p:nvSpPr>
          <p:cNvPr id="28"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3851999"/>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P48</a:t>
            </a:r>
          </a:p>
        </p:txBody>
      </p:sp>
      <p:sp>
        <p:nvSpPr>
          <p:cNvPr id="30" name="Rectangle 29"/>
          <p:cNvSpPr/>
          <p:nvPr/>
        </p:nvSpPr>
        <p:spPr>
          <a:xfrm>
            <a:off x="1764000" y="3851999"/>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1" name="Rounded Rectangle 30"/>
          <p:cNvSpPr/>
          <p:nvPr/>
        </p:nvSpPr>
        <p:spPr>
          <a:xfrm>
            <a:off x="432000" y="4644000"/>
            <a:ext cx="44280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
        <p:nvSpPr>
          <p:cNvPr id="32" name="Rounded Rectangle 31"/>
          <p:cNvSpPr/>
          <p:nvPr/>
        </p:nvSpPr>
        <p:spPr>
          <a:xfrm>
            <a:off x="5047200" y="4644000"/>
            <a:ext cx="4428000" cy="1080000"/>
          </a:xfrm>
          <a:prstGeom prst="roundRect">
            <a:avLst>
              <a:gd name="adj" fmla="val 8000"/>
            </a:avLst>
          </a:prstGeom>
          <a:solidFill>
            <a:srgbClr val="FFF7F7"/>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C00000"/>
                </a:solidFill>
                <a:latin typeface="メイリオ"/>
                <a:ea typeface="メイリオ"/>
                <a:cs typeface="メイリオ"/>
              </a:rPr>
              <a:t>提出前に確認すること</a:t>
            </a:r>
          </a:p>
          <a:p>
            <a:pPr algn="l"/>
            <a:r>
              <a:rPr sz="950" b="0">
                <a:solidFill>
                  <a:srgbClr val="333333"/>
                </a:solidFill>
                <a:latin typeface="メイリオ"/>
                <a:ea typeface="メイリオ"/>
                <a:cs typeface="メイリオ"/>
              </a:rPr>
              <a:t>・公表統計（P5）はe-Statで統計表を開いて数値を照合する</a:t>
            </a:r>
          </a:p>
          <a:p>
            <a:pPr algn="l"/>
            <a:r>
              <a:rPr sz="950" b="0">
                <a:solidFill>
                  <a:srgbClr val="333333"/>
                </a:solidFill>
                <a:latin typeface="メイリオ"/>
                <a:ea typeface="メイリオ"/>
                <a:cs typeface="メイリオ"/>
              </a:rPr>
              <a:t>・競合の実名掲載（P11）と、民間調査の引用可否は上司に確認する</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BF4E0E"/>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BF4E0E"/>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BF4E0E"/>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BF4E0E"/>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a:t>
            </a:r>
            <a:r>
              <a:rPr lang="ja-JP" altLang="en-US" sz="1100" b="1" dirty="0">
                <a:latin typeface="メイリオ" panose="020B0604030504040204" pitchFamily="50" charset="-128"/>
                <a:ea typeface="メイリオ" panose="020B0604030504040204" pitchFamily="50" charset="-128"/>
              </a:rPr>
              <a:t>広告</a:t>
            </a:r>
            <a:r>
              <a:rPr lang="ja-JP" altLang="ja-JP" sz="1100" b="1" dirty="0">
                <a:latin typeface="メイリオ" panose="020B0604030504040204" pitchFamily="50" charset="-128"/>
                <a:ea typeface="メイリオ" panose="020B0604030504040204" pitchFamily="50" charset="-128"/>
              </a:rPr>
              <a:t>接触</a:t>
            </a:r>
            <a:r>
              <a:rPr lang="ja-JP" altLang="ja-JP" sz="1050" b="1" dirty="0">
                <a:latin typeface="メイリオ" panose="020B0604030504040204" pitchFamily="50" charset="-128"/>
                <a:ea typeface="メイリオ" panose="020B0604030504040204" pitchFamily="50" charset="-128"/>
              </a:rPr>
              <a:t>（認知・流入）</a:t>
            </a:r>
            <a:endParaRPr lang="en-US" altLang="ja-JP" sz="1100" b="1" dirty="0">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050" b="1" dirty="0">
                <a:latin typeface="メイリオ" panose="020B0604030504040204" pitchFamily="50" charset="-128"/>
                <a:ea typeface="メイリオ" panose="020B0604030504040204" pitchFamily="50" charset="-128"/>
              </a:rPr>
              <a:t>（対策）</a:t>
            </a:r>
            <a:endParaRPr lang="en-US" altLang="ja-JP" sz="1100" b="1" dirty="0">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FFC000"/>
          </a:solidFill>
          <a:ln>
            <a:noFill/>
          </a:ln>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a:t>
            </a:r>
            <a:r>
              <a:rPr lang="ja-JP" altLang="ja-JP" sz="1050" b="1" dirty="0">
                <a:latin typeface="メイリオ" panose="020B0604030504040204" pitchFamily="50" charset="-128"/>
                <a:ea typeface="メイリオ" panose="020B0604030504040204" pitchFamily="50" charset="-128"/>
              </a:rPr>
              <a:t>（興味</a:t>
            </a:r>
            <a:r>
              <a:rPr lang="ja-JP" altLang="en-US" sz="1050" b="1" dirty="0">
                <a:latin typeface="メイリオ" panose="020B0604030504040204" pitchFamily="50" charset="-128"/>
                <a:ea typeface="メイリオ" panose="020B0604030504040204" pitchFamily="50" charset="-128"/>
              </a:rPr>
              <a:t>喚起</a:t>
            </a:r>
            <a:r>
              <a:rPr lang="ja-JP" altLang="ja-JP" sz="105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FFC000"/>
          </a:solidFill>
          <a:ln>
            <a:noFill/>
          </a:ln>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ご予算の確認</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プランをお選びいただく前に、2つ確認させてください。</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91640"/>
            <a:ext cx="4416552" cy="3200400"/>
          </a:xfrm>
          <a:prstGeom prst="roundRect">
            <a:avLst>
              <a:gd name="adj" fmla="val 5000"/>
            </a:avLst>
          </a:prstGeom>
          <a:solidFill>
            <a:srgbClr val="F4F7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4" name="Rounded Rectangle 13"/>
          <p:cNvSpPr/>
          <p:nvPr/>
        </p:nvSpPr>
        <p:spPr>
          <a:xfrm>
            <a:off x="658368" y="1965960"/>
            <a:ext cx="457200" cy="457200"/>
          </a:xfrm>
          <a:prstGeom prst="roundRect">
            <a:avLst/>
          </a:prstGeom>
          <a:solidFill>
            <a:srgbClr val="1F285A"/>
          </a:solidFill>
          <a:ln>
            <a:noFill/>
          </a:ln>
        </p:spPr>
        <p:txBody>
          <a:bodyPr wrap="square" lIns="0" tIns="0" rIns="0" bIns="0" rtlCol="0" anchor="ctr">
            <a:noAutofit/>
          </a:bodyPr>
          <a:lstStyle/>
          <a:p>
            <a:pPr algn="ctr">
              <a:buNone/>
            </a:pPr>
            <a:r>
              <a:rPr lang="ja-JP" altLang="en-US" sz="1800" b="1" dirty="0">
                <a:solidFill>
                  <a:srgbClr val="FFFFFF"/>
                </a:solidFill>
                <a:latin typeface="メイリオ" panose="020B0604030504040204" pitchFamily="50" charset="-128"/>
                <a:ea typeface="メイリオ" panose="020B0604030504040204" pitchFamily="50" charset="-128"/>
              </a:rPr>
              <a:t>1</a:t>
            </a:r>
            <a:endParaRPr lang="ja-JP" altLang="en-US" sz="1800" dirty="0"/>
          </a:p>
        </p:txBody>
      </p:sp>
      <p:sp>
        <p:nvSpPr>
          <p:cNvPr id="15" name="Rectangle 14"/>
          <p:cNvSpPr/>
          <p:nvPr/>
        </p:nvSpPr>
        <p:spPr>
          <a:xfrm>
            <a:off x="1252728" y="1965960"/>
            <a:ext cx="3410712" cy="457200"/>
          </a:xfrm>
          <a:prstGeom prst="rect">
            <a:avLst/>
          </a:prstGeom>
          <a:noFill/>
          <a:ln>
            <a:noFill/>
          </a:ln>
        </p:spPr>
        <p:txBody>
          <a:bodyPr wrap="square" lIns="0" tIns="0" rIns="0" bIns="0" rtlCol="0" anchor="ctr">
            <a:noAutofit/>
          </a:bodyPr>
          <a:lstStyle/>
          <a:p>
            <a:pPr algn="l">
              <a:buNone/>
            </a:pPr>
            <a:r>
              <a:rPr lang="ja-JP" altLang="en-US" sz="1800" b="1" dirty="0">
                <a:solidFill>
                  <a:srgbClr val="1F285A"/>
                </a:solidFill>
                <a:latin typeface="メイリオ" panose="020B0604030504040204" pitchFamily="50" charset="-128"/>
                <a:ea typeface="メイリオ" panose="020B0604030504040204" pitchFamily="50" charset="-128"/>
              </a:rPr>
              <a:t>月々のご予算</a:t>
            </a:r>
            <a:endParaRPr lang="ja-JP" altLang="en-US" sz="1800" dirty="0"/>
          </a:p>
        </p:txBody>
      </p:sp>
      <p:sp>
        <p:nvSpPr>
          <p:cNvPr id="16" name="Rectangle 15"/>
          <p:cNvSpPr/>
          <p:nvPr/>
        </p:nvSpPr>
        <p:spPr>
          <a:xfrm>
            <a:off x="658368" y="2606040"/>
            <a:ext cx="3959352" cy="914400"/>
          </a:xfrm>
          <a:prstGeom prst="rect">
            <a:avLst/>
          </a:prstGeom>
          <a:noFill/>
          <a:ln>
            <a:noFill/>
          </a:ln>
        </p:spPr>
        <p:txBody>
          <a:bodyPr wrap="square" lIns="0" tIns="0" rIns="0" bIns="0" rtlCol="0" anchor="t">
            <a:noAutofit/>
          </a:bodyPr>
          <a:lstStyle/>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LINEの運用に、月々いくらまで</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かけられますか。</a:t>
            </a:r>
            <a:endParaRPr lang="ja-JP" altLang="en-US" sz="1300" dirty="0"/>
          </a:p>
        </p:txBody>
      </p:sp>
      <p:sp>
        <p:nvSpPr>
          <p:cNvPr id="17" name="Rounded Rectangle 16"/>
          <p:cNvSpPr/>
          <p:nvPr/>
        </p:nvSpPr>
        <p:spPr>
          <a:xfrm>
            <a:off x="658368" y="3840480"/>
            <a:ext cx="3959352" cy="731520"/>
          </a:xfrm>
          <a:prstGeom prst="roundRect">
            <a:avLst>
              <a:gd name="adj" fmla="val 10000"/>
            </a:avLst>
          </a:prstGeom>
          <a:solidFill>
            <a:srgbClr val="FFFFFF"/>
          </a:solidFill>
          <a:ln w="9525">
            <a:solidFill>
              <a:srgbClr val="1F285A"/>
            </a:solidFill>
            <a:prstDash val="dash"/>
          </a:ln>
        </p:spPr>
        <p:txBody>
          <a:bodyPr wrap="square" lIns="73152" tIns="36576" rIns="73152" bIns="36576" rtlCol="0" anchor="ctr">
            <a:noAutofit/>
          </a:bodyPr>
          <a:lstStyle/>
          <a:p>
            <a:pPr algn="ctr">
              <a:buNone/>
            </a:pPr>
            <a:r>
              <a:rPr lang="ja-JP" altLang="en-US" sz="1800" b="1" dirty="0">
                <a:solidFill>
                  <a:srgbClr val="1F285A"/>
                </a:solidFill>
                <a:latin typeface="メイリオ" panose="020B0604030504040204" pitchFamily="50" charset="-128"/>
                <a:ea typeface="メイリオ" panose="020B0604030504040204" pitchFamily="50" charset="-128"/>
              </a:rPr>
              <a:t>月額　＿＿＿＿　万円まで</a:t>
            </a:r>
            <a:endParaRPr lang="ja-JP" altLang="en-US" sz="1800" dirty="0"/>
          </a:p>
        </p:txBody>
      </p:sp>
      <p:sp>
        <p:nvSpPr>
          <p:cNvPr id="18" name="Rounded Rectangle 17"/>
          <p:cNvSpPr/>
          <p:nvPr/>
        </p:nvSpPr>
        <p:spPr>
          <a:xfrm>
            <a:off x="5056632" y="1691640"/>
            <a:ext cx="4416552" cy="3200400"/>
          </a:xfrm>
          <a:prstGeom prst="roundRect">
            <a:avLst>
              <a:gd name="adj" fmla="val 5000"/>
            </a:avLst>
          </a:prstGeom>
          <a:solidFill>
            <a:srgbClr val="F4F7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ounded Rectangle 18"/>
          <p:cNvSpPr/>
          <p:nvPr/>
        </p:nvSpPr>
        <p:spPr>
          <a:xfrm>
            <a:off x="5285232" y="1965960"/>
            <a:ext cx="457200" cy="457200"/>
          </a:xfrm>
          <a:prstGeom prst="roundRect">
            <a:avLst/>
          </a:prstGeom>
          <a:solidFill>
            <a:srgbClr val="1F285A"/>
          </a:solidFill>
          <a:ln>
            <a:noFill/>
          </a:ln>
        </p:spPr>
        <p:txBody>
          <a:bodyPr wrap="square" lIns="0" tIns="0" rIns="0" bIns="0" rtlCol="0" anchor="ctr">
            <a:noAutofit/>
          </a:bodyPr>
          <a:lstStyle/>
          <a:p>
            <a:pPr algn="ctr">
              <a:buNone/>
            </a:pPr>
            <a:r>
              <a:rPr lang="ja-JP" altLang="en-US" sz="1800" b="1" dirty="0">
                <a:solidFill>
                  <a:srgbClr val="FFFFFF"/>
                </a:solidFill>
                <a:latin typeface="メイリオ" panose="020B0604030504040204" pitchFamily="50" charset="-128"/>
                <a:ea typeface="メイリオ" panose="020B0604030504040204" pitchFamily="50" charset="-128"/>
              </a:rPr>
              <a:t>2</a:t>
            </a:r>
            <a:endParaRPr lang="ja-JP" altLang="en-US" sz="1800" dirty="0"/>
          </a:p>
        </p:txBody>
      </p:sp>
      <p:sp>
        <p:nvSpPr>
          <p:cNvPr id="20" name="Rectangle 19"/>
          <p:cNvSpPr/>
          <p:nvPr/>
        </p:nvSpPr>
        <p:spPr>
          <a:xfrm>
            <a:off x="5879592" y="1965960"/>
            <a:ext cx="3410712" cy="457200"/>
          </a:xfrm>
          <a:prstGeom prst="rect">
            <a:avLst/>
          </a:prstGeom>
          <a:noFill/>
          <a:ln>
            <a:noFill/>
          </a:ln>
        </p:spPr>
        <p:txBody>
          <a:bodyPr wrap="square" lIns="0" tIns="0" rIns="0" bIns="0" rtlCol="0" anchor="ctr">
            <a:noAutofit/>
          </a:bodyPr>
          <a:lstStyle/>
          <a:p>
            <a:pPr algn="l">
              <a:buNone/>
            </a:pPr>
            <a:r>
              <a:rPr lang="ja-JP" altLang="en-US" sz="1800" b="1" dirty="0">
                <a:solidFill>
                  <a:srgbClr val="1F285A"/>
                </a:solidFill>
                <a:latin typeface="メイリオ" panose="020B0604030504040204" pitchFamily="50" charset="-128"/>
                <a:ea typeface="メイリオ" panose="020B0604030504040204" pitchFamily="50" charset="-128"/>
              </a:rPr>
              <a:t>獲得単価（CPA）の目安</a:t>
            </a:r>
            <a:endParaRPr lang="ja-JP" altLang="en-US" sz="1800" dirty="0"/>
          </a:p>
        </p:txBody>
      </p:sp>
      <p:sp>
        <p:nvSpPr>
          <p:cNvPr id="21" name="Rectangle 20"/>
          <p:cNvSpPr/>
          <p:nvPr/>
        </p:nvSpPr>
        <p:spPr>
          <a:xfrm>
            <a:off x="5285232" y="2606040"/>
            <a:ext cx="3959352" cy="914400"/>
          </a:xfrm>
          <a:prstGeom prst="rect">
            <a:avLst/>
          </a:prstGeom>
          <a:noFill/>
          <a:ln>
            <a:noFill/>
          </a:ln>
        </p:spPr>
        <p:txBody>
          <a:bodyPr wrap="square" lIns="0" tIns="0" rIns="0" bIns="0" rtlCol="0" anchor="t">
            <a:noAutofit/>
          </a:bodyPr>
          <a:lstStyle/>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資料請求・体験予約の1件あたり、</a:t>
            </a:r>
            <a:br>
              <a:rPr lang="ja-JP" altLang="en-US" sz="1300" b="0" dirty="0">
                <a:solidFill>
                  <a:srgbClr val="333333"/>
                </a:solidFill>
                <a:latin typeface="メイリオ" panose="020B0604030504040204" pitchFamily="50" charset="-128"/>
                <a:ea typeface="メイリオ" panose="020B0604030504040204" pitchFamily="50" charset="-128"/>
              </a:rPr>
            </a:br>
            <a:r>
              <a:rPr lang="ja-JP" altLang="en-US" sz="1300" b="0" dirty="0">
                <a:solidFill>
                  <a:srgbClr val="333333"/>
                </a:solidFill>
                <a:latin typeface="メイリオ" panose="020B0604030504040204" pitchFamily="50" charset="-128"/>
                <a:ea typeface="メイリオ" panose="020B0604030504040204" pitchFamily="50" charset="-128"/>
              </a:rPr>
              <a:t>いくらまでなら導入をご判断いただけますか。</a:t>
            </a:r>
            <a:endParaRPr lang="ja-JP" altLang="en-US" sz="1300" dirty="0"/>
          </a:p>
        </p:txBody>
      </p:sp>
      <p:sp>
        <p:nvSpPr>
          <p:cNvPr id="22" name="Rounded Rectangle 21"/>
          <p:cNvSpPr/>
          <p:nvPr/>
        </p:nvSpPr>
        <p:spPr>
          <a:xfrm>
            <a:off x="5285232" y="3840480"/>
            <a:ext cx="3959352" cy="731520"/>
          </a:xfrm>
          <a:prstGeom prst="roundRect">
            <a:avLst>
              <a:gd name="adj" fmla="val 10000"/>
            </a:avLst>
          </a:prstGeom>
          <a:solidFill>
            <a:srgbClr val="FFFFFF"/>
          </a:solidFill>
          <a:ln w="9525">
            <a:solidFill>
              <a:srgbClr val="1F285A"/>
            </a:solidFill>
            <a:prstDash val="dash"/>
          </a:ln>
        </p:spPr>
        <p:txBody>
          <a:bodyPr wrap="square" lIns="73152" tIns="36576" rIns="73152" bIns="36576" rtlCol="0" anchor="ctr">
            <a:noAutofit/>
          </a:bodyPr>
          <a:lstStyle/>
          <a:p>
            <a:pPr algn="ctr">
              <a:buNone/>
            </a:pPr>
            <a:r>
              <a:rPr lang="ja-JP" altLang="en-US" sz="1800" b="1" dirty="0">
                <a:solidFill>
                  <a:srgbClr val="1F285A"/>
                </a:solidFill>
                <a:latin typeface="メイリオ" panose="020B0604030504040204" pitchFamily="50" charset="-128"/>
                <a:ea typeface="メイリオ" panose="020B0604030504040204" pitchFamily="50" charset="-128"/>
              </a:rPr>
              <a:t>1件あたり　＿＿＿＿　円まで</a:t>
            </a:r>
            <a:endParaRPr lang="ja-JP" altLang="en-US" sz="1800" dirty="0"/>
          </a:p>
        </p:txBody>
      </p:sp>
      <p:sp>
        <p:nvSpPr>
          <p:cNvPr id="23" name="Rounded Rectangle 22"/>
          <p:cNvSpPr/>
          <p:nvPr/>
        </p:nvSpPr>
        <p:spPr>
          <a:xfrm>
            <a:off x="429768" y="51663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この2つをもとに、次のページの3つのプランから、貴塾に合う形をご提案します。</a:t>
            </a:r>
            <a:endParaRPr lang="ja-JP" altLang="en-US" sz="1400" dirty="0"/>
          </a:p>
        </p:txBody>
      </p:sp>
    </p:spTree>
    <p:extLst>
      <p:ext uri="{BB962C8B-B14F-4D97-AF65-F5344CB8AC3E}">
        <p14:creationId xmlns:p14="http://schemas.microsoft.com/office/powerpoint/2010/main" val="34081473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50</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50</vt:i4>
      </vt:variant>
    </vt:vector>
  </HeadingPairs>
  <TitlesOfParts>
    <vt:vector size="57"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