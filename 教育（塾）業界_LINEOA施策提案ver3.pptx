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2736" r:id="rId12"/>
    <p:sldId id="3009" r:id="rId62"/>
    <p:sldId id="3010" r:id="rId63"/>
    <p:sldId id="2982" r:id="rId11"/>
    <p:sldId id="2986" r:id="rId16"/>
    <p:sldId id="2983" r:id="rId13"/>
    <p:sldId id="3011" r:id="rId64"/>
    <p:sldId id="3012" r:id="rId65"/>
    <p:sldId id="2977" r:id="rId7"/>
    <p:sldId id="2984" r:id="rId14"/>
    <p:sldId id="2996" r:id="rId49"/>
    <p:sldId id="3013" r:id="rId66"/>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11.png"/><Relationship Id="rId3" Type="http://schemas.openxmlformats.org/officeDocument/2006/relationships/image" Target="../media/juku_zengo_1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21.png"/><Relationship Id="rId3" Type="http://schemas.openxmlformats.org/officeDocument/2006/relationships/image" Target="../media/juku_zengo_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meiko_1.jpeg"/><Relationship Id="rId102" Type="http://schemas.openxmlformats.org/officeDocument/2006/relationships/image" Target="../media/meiko_2.jpeg"/><Relationship Id="rId103" Type="http://schemas.openxmlformats.org/officeDocument/2006/relationships/image" Target="../media/meiko_3.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市場規模は「定義」で約2倍変わる</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2}" type="slidenum">
              <a:rPr sz="1200" b="1">
                <a:solidFill>
                  <a:srgbClr val="FFFFFF"/>
                </a:solidFill>
                <a:latin typeface="メイリオ"/>
                <a:ea typeface="メイリオ"/>
                <a:cs typeface="メイリオ"/>
              </a:rPr>
              <a:t>37</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1}" type="slidenum">
              <a:rPr sz="1200" b="1">
                <a:solidFill>
                  <a:srgbClr val="FFFFFF"/>
                </a:solidFill>
                <a:latin typeface="メイリオ"/>
                <a:ea typeface="メイリオ"/>
                <a:cs typeface="メイリオ"/>
              </a:rPr>
              <a:t>36</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最初は志望校・偏差値・検定、迷うと塾選び・費用・いつから。塾の名前はそのあと。</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出典｜LINEヤフー前後検索（2026年10月取得）起点KW：中学受験 塾／中高一貫 塾／高校受験 塾／英語 塾</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5" name="Rounded Rectangle 44"/>
          <p:cNvSpPr/>
          <p:nvPr/>
        </p:nvSpPr>
        <p:spPr>
          <a:xfrm>
            <a:off x="429768" y="4518000"/>
            <a:ext cx="132588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3467B2"/>
                </a:solidFill>
                <a:latin typeface="メイリオ"/>
                <a:ea typeface="メイリオ"/>
                <a:cs typeface="メイリオ"/>
              </a:rPr>
              <a:t>志望校・偏差値</a:t>
            </a:r>
          </a:p>
        </p:txBody>
      </p:sp>
      <p:sp>
        <p:nvSpPr>
          <p:cNvPr id="46" name="Rounded Rectangle 45"/>
          <p:cNvSpPr/>
          <p:nvPr/>
        </p:nvSpPr>
        <p:spPr>
          <a:xfrm>
            <a:off x="1810512" y="4518000"/>
            <a:ext cx="132588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8E4EC6"/>
                </a:solidFill>
                <a:latin typeface="メイリオ"/>
                <a:ea typeface="メイリオ"/>
                <a:cs typeface="メイリオ"/>
              </a:rPr>
              <a:t>検定・勉強法</a:t>
            </a:r>
          </a:p>
        </p:txBody>
      </p:sp>
      <p:sp>
        <p:nvSpPr>
          <p:cNvPr id="47" name="Rounded Rectangle 46"/>
          <p:cNvSpPr/>
          <p:nvPr/>
        </p:nvSpPr>
        <p:spPr>
          <a:xfrm>
            <a:off x="3191256" y="4518000"/>
            <a:ext cx="1325880" cy="198000"/>
          </a:xfrm>
          <a:prstGeom prst="roundRect">
            <a:avLst>
              <a:gd name="adj" fmla="val 20000"/>
            </a:avLst>
          </a:prstGeom>
          <a:solidFill>
            <a:srgbClr val="F8D7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C2185B"/>
                </a:solidFill>
                <a:latin typeface="メイリオ"/>
                <a:ea typeface="メイリオ"/>
                <a:cs typeface="メイリオ"/>
              </a:rPr>
              <a:t>塾選び・費用・時期</a:t>
            </a:r>
          </a:p>
        </p:txBody>
      </p:sp>
      <p:sp>
        <p:nvSpPr>
          <p:cNvPr id="48" name="Rounded Rectangle 47"/>
          <p:cNvSpPr/>
          <p:nvPr/>
        </p:nvSpPr>
        <p:spPr>
          <a:xfrm>
            <a:off x="4572000" y="4518000"/>
            <a:ext cx="132588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00897B"/>
                </a:solidFill>
                <a:latin typeface="メイリオ"/>
                <a:ea typeface="メイリオ"/>
                <a:cs typeface="メイリオ"/>
              </a:rPr>
              <a:t>塾名・料金・口コミ</a:t>
            </a:r>
          </a:p>
        </p:txBody>
      </p:sp>
      <p:sp>
        <p:nvSpPr>
          <p:cNvPr id="49" name="Rectangle 48"/>
          <p:cNvSpPr/>
          <p:nvPr/>
        </p:nvSpPr>
        <p:spPr>
          <a:xfrm>
            <a:off x="5971032" y="4518000"/>
            <a:ext cx="3502152"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※検索は首都圏が中心（塾の名前は首都圏の大手）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塾の名前を調べる前に、保護者はもう志望校・偏差値・検定を調べている。</a:t>
            </a:r>
          </a:p>
          <a:p>
            <a:pPr algn="ctr"/>
            <a:r>
              <a:rPr sz="1100" b="0">
                <a:solidFill>
                  <a:srgbClr val="FFFFFF"/>
                </a:solidFill>
                <a:latin typeface="メイリオ"/>
                <a:ea typeface="メイリオ"/>
                <a:cs typeface="メイリオ"/>
              </a:rPr>
              <a:t>塾の名前を調べた後も、料金・入室テスト・口コミで比べている。その間、塾と保護者の接点はない。</a:t>
            </a:r>
          </a:p>
        </p:txBody>
      </p:sp>
      <p:sp>
        <p:nvSpPr>
          <p:cNvPr id="51" name="Rounded Rectangle 50"/>
          <p:cNvSpPr/>
          <p:nvPr/>
        </p:nvSpPr>
        <p:spPr>
          <a:xfrm>
            <a:off x="432000"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15〜3日前</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偏差値 2025</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私立中学 偏差値ランキング</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入試日程</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 偏差値 東京</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英検 日程</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漢検／算数検定</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社会 勉強方法</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高校受験 どっち</a:t>
            </a:r>
            <a:endParaRPr lang="ja-JP" altLang="en-US" sz="1050" dirty="0"/>
          </a:p>
        </p:txBody>
      </p:sp>
      <p:sp>
        <p:nvSpPr>
          <p:cNvPr id="52" name="Rounded Rectangle 51"/>
          <p:cNvSpPr/>
          <p:nvPr/>
        </p:nvSpPr>
        <p:spPr>
          <a:xfrm>
            <a:off x="34991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3日前〜当日</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塾選び</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いつから</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費用</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 ランキング</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個別指導のみ</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塾なし 高校受験</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勉強方法</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森塾 口コミ</a:t>
            </a:r>
            <a:endParaRPr lang="ja-JP" altLang="en-US" sz="1050" dirty="0"/>
          </a:p>
        </p:txBody>
      </p:sp>
      <p:sp>
        <p:nvSpPr>
          <p:cNvPr id="53" name="Rounded Rectangle 52"/>
          <p:cNvSpPr/>
          <p:nvPr/>
        </p:nvSpPr>
        <p:spPr>
          <a:xfrm>
            <a:off x="65663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当日</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日能研／サピックス</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早稲田アカデミー／ena</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栄光ゼミナール／臨海セミナー</a:t>
            </a:r>
            <a:endParaRPr lang="ja-JP" altLang="en-US" sz="1050" dirty="0"/>
          </a:p>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その後（1〜15日後）</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 料金</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サピックス 入室テスト</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臨海セミナー 評判</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偏差値 2024</a:t>
            </a:r>
            <a:endParaRPr lang="ja-JP" altLang="en-US" sz="1050" dirty="0"/>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明光義塾はLINEで成果を出している（公式事例・P14）</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保護者向けに、診断から体験予約までをLINEでつないでいる塾は、まだ少ない。</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P7〜P11のデータを、すべきことに置き換える。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塾名を調べる前から、保護者は調べ始めている（P8）</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検索の山は2月と7月（P11）</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※ボタン文言の言い換えはDYM見解。離脱防止ポップアップはSitelead等（別途費用）。明光義塾も、サイトの初回訪問時・離脱時のポップアップで友だちを集めていた（公式事例・P14）</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「一緒に体験しよう」をLINEで送ってもらう（P24）</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※文面の教室長名・対応時間・配信頻度は、貴社の運用に合わせて調整します</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※明光義塾は、相性チェック（5問）と合わせて、LINEの中での体験予約も案内している（P15）。競合の診断（トライの性格別学習法診断など）はP13を参照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※体験予約済みの方には、タブ②（体験当日の流れ・アクセス・日程変更など）を出し分ける。明光義塾は、一番大きい枠に「授業料シミュレーション」を置いている（P15）</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※明光義塾は、アンケートの回答をもとに「まだ塾に通っていない」お子さま・保護者に絞って配信していた（公式事例・P14）</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※前後検索（P8）：比べている間は、塾の費用・いつから・口コミを調べている。配信の中身をこれに合わせる</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（前後検索・P8）</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前日リマインドへ（P31）</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※事例の数字は、貴社の実績（学年・期間・通った回数）に合わせて作成します。体験予約の前日のメッセージはP31</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※体験に来ない割合・改善の幅は、貴社の実績をもとに確認します</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「テスト後、9割の家庭がしない事」（P30）</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出典｜Googleトレンド（日本・2026年年初来・週次）。各月の内容はDYM見解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通知メッセージは別途費用。利用条件・単価はLINEヤフーの規定で変わるため、要件定義の際に最新の条件を確認します</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2人まとめてLINEで予約（P24）</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出典のない数値は書いていません。</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P8〜P10・P12・P29</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P11・P33</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P13</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P24・P34</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P52</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 for Business 導入事例 明光義塾（2024年4月5日）／明光義塾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P14〜P15・P19</a:t>
            </a:r>
          </a:p>
        </p:txBody>
      </p:sp>
      <p:sp>
        <p:nvSpPr>
          <p:cNvPr id="31" name="Rounded Rectangle 30"/>
          <p:cNvSpPr/>
          <p:nvPr/>
        </p:nvSpPr>
        <p:spPr>
          <a:xfrm>
            <a:off x="432000" y="4644000"/>
            <a:ext cx="90432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0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② 離脱</a:t>
            </a:r>
            <a:endParaRPr lang="ja-JP" altLang="en-US" sz="140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40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⑥ 再育成</a:t>
            </a:r>
            <a:endParaRPr lang="ja-JP" altLang="en-US" sz="140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400" dirty="0"/>
          </a:p>
        </p:txBody>
      </p:sp>
    </p:spTree>
    <p:extLst>
      <p:ext uri="{BB962C8B-B14F-4D97-AF65-F5344CB8AC3E}">
        <p14:creationId xmlns:p14="http://schemas.microsoft.com/office/powerpoint/2010/main" val="15729428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前後検索｜中学受験・中高一貫の保護者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塾の名前を調べる前に、志望校・偏差値（青）を調べている。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塾の名前（緑）は当日に集中し、そのあとは入室テスト・料金を調べている。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起点：中学受験 塾</a:t>
            </a:r>
            <a:endParaRPr lang="ja-JP" altLang="en-US" sz="1100" dirty="0"/>
          </a:p>
        </p:txBody>
      </p:sp>
      <p:pic>
        <p:nvPicPr>
          <p:cNvPr id="19" name="前後検索_中学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・15〜3日前：私立中学の偏差値・学校名・算数検定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・当日〜：日能研・サピックスなど → 入室テスト・料金</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起点：中高一貫 塾</a:t>
            </a:r>
            <a:endParaRPr lang="ja-JP" altLang="en-US" sz="1100" dirty="0"/>
          </a:p>
        </p:txBody>
      </p:sp>
      <p:pic>
        <p:nvPicPr>
          <p:cNvPr id="22" name="前後検索_中高一貫"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・前後とも：都立中高一貫校・中等教育学校の名前</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・当日：ena・栄光ゼミナールなど都立一貫に強い塾</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塾の名前を調べる前の、志望校・偏差値を調べている時期に、LINEでつながっておく。</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7951760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前後検索｜高校受験・英語の保護者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高校受験は、当日に「塾 いつから・費用・ランキング」（ローズ）を調べている。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英語は、先に英検（紫）を調べ、そのあと塾の名前（緑）にたどり着く。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起点：高校受験 塾</a:t>
            </a:r>
            <a:endParaRPr lang="ja-JP" altLang="en-US" sz="1100" dirty="0"/>
          </a:p>
        </p:txBody>
      </p:sp>
      <p:pic>
        <p:nvPicPr>
          <p:cNvPr id="19" name="前後検索_高校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・15〜3日前：高校名・偏差値</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・当日：塾 いつから・費用・ランキング → 塾の名前</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起点：英語 塾</a:t>
            </a:r>
            <a:endParaRPr lang="ja-JP" altLang="en-US" sz="1100" dirty="0"/>
          </a:p>
        </p:txBody>
      </p:sp>
      <p:pic>
        <p:nvPicPr>
          <p:cNvPr id="22" name="前後検索_英語"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・15〜3日前：英検 日程・英検3級／2級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・当日：英語塾・個別指導塾 → そのあと英検 合格発表</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「いつから・費用」や英検を調べている時期に、役に立つ情報をLINEで届ける。</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28445734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LINEで資料請求を伸ばした塾の事例です（LINEヤフー公式の導入事例）。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「塾はすぐには申し込まれない」前提で、サイトから友だちになってもらい、比べている間をLINEで支えています。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大手でも、やっていることは「友だちになってもらい、比べている間をLINEで支える」こと。</a:t>
            </a:r>
          </a:p>
        </p:txBody>
      </p:sp>
      <p:sp>
        <p:nvSpPr>
          <p:cNvPr id="105" name="Rounded Rectangle 104"/>
          <p:cNvSpPr/>
          <p:nvPr/>
        </p:nvSpPr>
        <p:spPr>
          <a:xfrm>
            <a:off x="429768"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834640"/>
            <a:ext cx="9043416" cy="713232"/>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5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50" dirty="0"/>
          </a:p>
        </p:txBody>
      </p:sp>
      <p:sp>
        <p:nvSpPr>
          <p:cNvPr id="109" name="Rectangle 108"/>
          <p:cNvSpPr/>
          <p:nvPr/>
        </p:nvSpPr>
        <p:spPr>
          <a:xfrm>
            <a:off x="429768" y="3639312"/>
            <a:ext cx="9043416" cy="274320"/>
          </a:xfrm>
          <a:prstGeom prst="rect">
            <a:avLst/>
          </a:prstGeom>
          <a:noFill/>
          <a:ln>
            <a:noFill/>
          </a:ln>
        </p:spPr>
        <p:txBody>
          <a:bodyPr wrap="square" lIns="0" tIns="0" rIns="0" bIns="0" rtlCol="0" anchor="ctr">
            <a:noAutofit/>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200" dirty="0"/>
          </a:p>
        </p:txBody>
      </p:sp>
      <p:sp>
        <p:nvSpPr>
          <p:cNvPr id="110" name="Rectangle 109"/>
          <p:cNvSpPr/>
          <p:nvPr/>
        </p:nvSpPr>
        <p:spPr>
          <a:xfrm>
            <a:off x="429768"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a:t>
            </a:r>
            <a:endParaRPr lang="ja-JP" altLang="en-US" sz="1050" dirty="0"/>
          </a:p>
        </p:txBody>
      </p:sp>
      <p:sp>
        <p:nvSpPr>
          <p:cNvPr id="111" name="Rounded Rectangle 110"/>
          <p:cNvSpPr/>
          <p:nvPr/>
        </p:nvSpPr>
        <p:spPr>
          <a:xfrm>
            <a:off x="429768"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　サイトで</a:t>
            </a:r>
            <a:endParaRPr lang="ja-JP" altLang="en-US" sz="1050" dirty="0"/>
          </a:p>
        </p:txBody>
      </p:sp>
      <p:sp>
        <p:nvSpPr>
          <p:cNvPr id="112" name="Rectangle 111"/>
          <p:cNvSpPr/>
          <p:nvPr/>
        </p:nvSpPr>
        <p:spPr>
          <a:xfrm>
            <a:off x="2718054"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050" dirty="0"/>
          </a:p>
        </p:txBody>
      </p:sp>
      <p:sp>
        <p:nvSpPr>
          <p:cNvPr id="113" name="Rounded Rectangle 112"/>
          <p:cNvSpPr/>
          <p:nvPr/>
        </p:nvSpPr>
        <p:spPr>
          <a:xfrm>
            <a:off x="2718054"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2　追加のあと</a:t>
            </a:r>
            <a:endParaRPr lang="ja-JP" altLang="en-US" sz="1050" dirty="0"/>
          </a:p>
        </p:txBody>
      </p:sp>
      <p:sp>
        <p:nvSpPr>
          <p:cNvPr id="114" name="Rectangle 113"/>
          <p:cNvSpPr/>
          <p:nvPr/>
        </p:nvSpPr>
        <p:spPr>
          <a:xfrm>
            <a:off x="5006340"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050" dirty="0"/>
          </a:p>
        </p:txBody>
      </p:sp>
      <p:sp>
        <p:nvSpPr>
          <p:cNvPr id="115" name="Rounded Rectangle 114"/>
          <p:cNvSpPr/>
          <p:nvPr/>
        </p:nvSpPr>
        <p:spPr>
          <a:xfrm>
            <a:off x="5006340"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3　スタンプで</a:t>
            </a:r>
            <a:endParaRPr lang="ja-JP" altLang="en-US" sz="1050" dirty="0"/>
          </a:p>
        </p:txBody>
      </p:sp>
      <p:sp>
        <p:nvSpPr>
          <p:cNvPr id="116" name="Rectangle 115"/>
          <p:cNvSpPr/>
          <p:nvPr/>
        </p:nvSpPr>
        <p:spPr>
          <a:xfrm>
            <a:off x="7294626"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回答をもとに、</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050" dirty="0"/>
          </a:p>
        </p:txBody>
      </p:sp>
      <p:sp>
        <p:nvSpPr>
          <p:cNvPr id="117" name="Rounded Rectangle 116"/>
          <p:cNvSpPr/>
          <p:nvPr/>
        </p:nvSpPr>
        <p:spPr>
          <a:xfrm>
            <a:off x="7294626"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4　配信で</a:t>
            </a:r>
            <a:endParaRPr lang="ja-JP" altLang="en-US" sz="1050" dirty="0"/>
          </a:p>
        </p:txBody>
      </p:sp>
      <p:sp>
        <p:nvSpPr>
          <p:cNvPr id="118" name="Rectangle 117"/>
          <p:cNvSpPr/>
          <p:nvPr/>
        </p:nvSpPr>
        <p:spPr>
          <a:xfrm>
            <a:off x="429768" y="530352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extLst>
      <p:ext uri="{BB962C8B-B14F-4D97-AF65-F5344CB8AC3E}">
        <p14:creationId xmlns:p14="http://schemas.microsoft.com/office/powerpoint/2010/main" val="18647475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友だち追加の直後に、30秒の相性チェックと「このままLINEで無料体験の予約」を案内しています。</a:t>
            </a:r>
          </a:p>
          <a:p>
            <a:pPr algn="l">
              <a:lnSpc>
                <a:spcPct val="128000"/>
              </a:lnSpc>
            </a:pPr>
            <a:r>
              <a:rPr sz="1200" dirty="0" err="1">
                <a:solidFill>
                  <a:srgbClr val="333333"/>
                </a:solidFill>
                <a:latin typeface="メイリオ"/>
                <a:ea typeface="メイリオ"/>
                <a:cs typeface="メイリオ"/>
              </a:rPr>
              <a:t>リッチメニューの一番大きい枠は「授業料シミュレーション」です。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150" dirty="0"/>
          </a:p>
        </p:txBody>
      </p:sp>
      <p:pic>
        <p:nvPicPr>
          <p:cNvPr id="69" name="明光義塾_あいさつ＋相性チェック" descr=""/>
          <p:cNvPicPr>
            <a:picLocks noChangeAspect="1"/>
          </p:cNvPicPr>
          <p:nvPr/>
        </p:nvPicPr>
        <p:blipFill>
          <a:blip r:embed="rId101"/>
          <a:stretch>
            <a:fillRect/>
          </a:stretch>
        </p:blipFill>
        <p:spPr>
          <a:xfrm>
            <a:off x="935964" y="1883664"/>
            <a:ext cx="1730806" cy="3749039"/>
          </a:xfrm>
          <a:prstGeom prst="rect">
            <a:avLst/>
          </a:prstGeom>
          <a:ln w="9525">
            <a:solidFill>
              <a:srgbClr val="C6CADD"/>
            </a:solidFill>
          </a:ln>
        </p:spPr>
      </p:pic>
      <p:sp>
        <p:nvSpPr>
          <p:cNvPr id="70" name="Rectangle 69"/>
          <p:cNvSpPr/>
          <p:nvPr/>
        </p:nvSpPr>
        <p:spPr>
          <a:xfrm>
            <a:off x="429768"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150" dirty="0"/>
          </a:p>
        </p:txBody>
      </p:sp>
      <p:pic>
        <p:nvPicPr>
          <p:cNvPr id="72" name="明光義塾_LINEの中で体験予約" descr=""/>
          <p:cNvPicPr>
            <a:picLocks noChangeAspect="1"/>
          </p:cNvPicPr>
          <p:nvPr/>
        </p:nvPicPr>
        <p:blipFill>
          <a:blip r:embed="rId102"/>
          <a:stretch>
            <a:fillRect/>
          </a:stretch>
        </p:blipFill>
        <p:spPr>
          <a:xfrm>
            <a:off x="4086072" y="1883664"/>
            <a:ext cx="1730806" cy="3749039"/>
          </a:xfrm>
          <a:prstGeom prst="rect">
            <a:avLst/>
          </a:prstGeom>
          <a:ln w="9525">
            <a:solidFill>
              <a:srgbClr val="C6CADD"/>
            </a:solidFill>
          </a:ln>
        </p:spPr>
      </p:pic>
      <p:sp>
        <p:nvSpPr>
          <p:cNvPr id="73" name="Rectangle 72"/>
          <p:cNvSpPr/>
          <p:nvPr/>
        </p:nvSpPr>
        <p:spPr>
          <a:xfrm>
            <a:off x="3579876"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150" dirty="0"/>
          </a:p>
        </p:txBody>
      </p:sp>
      <p:pic>
        <p:nvPicPr>
          <p:cNvPr id="75" name="明光義塾_リッチメニュー" descr=""/>
          <p:cNvPicPr>
            <a:picLocks noChangeAspect="1"/>
          </p:cNvPicPr>
          <p:nvPr/>
        </p:nvPicPr>
        <p:blipFill>
          <a:blip r:embed="rId103"/>
          <a:stretch>
            <a:fillRect/>
          </a:stretch>
        </p:blipFill>
        <p:spPr>
          <a:xfrm>
            <a:off x="7236180" y="1883664"/>
            <a:ext cx="1730806" cy="3749039"/>
          </a:xfrm>
          <a:prstGeom prst="rect">
            <a:avLst/>
          </a:prstGeom>
          <a:ln w="9525">
            <a:solidFill>
              <a:srgbClr val="C6CADD"/>
            </a:solidFill>
          </a:ln>
        </p:spPr>
      </p:pic>
      <p:sp>
        <p:nvSpPr>
          <p:cNvPr id="76" name="Rectangle 75"/>
          <p:cNvSpPr/>
          <p:nvPr/>
        </p:nvSpPr>
        <p:spPr>
          <a:xfrm>
            <a:off x="6729984"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extLst>
      <p:ext uri="{BB962C8B-B14F-4D97-AF65-F5344CB8AC3E}">
        <p14:creationId xmlns:p14="http://schemas.microsoft.com/office/powerpoint/2010/main" val="22780903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明光義塾の型を分解すると、3つの仕組み</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公式事例（2023年）と実際の画面（2026年10月）から読み取れる仕組みは3つです。</a:t>
            </a:r>
          </a:p>
          <a:p>
            <a:pPr algn="l">
              <a:lnSpc>
                <a:spcPct val="128000"/>
              </a:lnSpc>
            </a:pPr>
            <a:r>
              <a:rPr sz="1200" dirty="0" err="1">
                <a:solidFill>
                  <a:srgbClr val="333333"/>
                </a:solidFill>
                <a:latin typeface="メイリオ"/>
                <a:ea typeface="メイリオ"/>
                <a:cs typeface="メイリオ"/>
              </a:rPr>
              <a:t>この型を、このあとの入口（P23）・診断（P26）・配信の出し分け（P28）に取り入れます。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 出典：LINEヤフー for Business 導入事例（2024年4月5日）・明光義塾 LINE公式アカウント（2026-10-19 弊社確認）。実際の画面はP15。</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友だちになってもらい、答えてもらい、合う方に届ける。この時期に資料請求は前年比 約120%（公式事例）。</a:t>
            </a:r>
          </a:p>
        </p:txBody>
      </p:sp>
      <p:sp>
        <p:nvSpPr>
          <p:cNvPr id="105" name="Rounded Rectangle 104"/>
          <p:cNvSpPr/>
          <p:nvPr/>
        </p:nvSpPr>
        <p:spPr>
          <a:xfrm>
            <a:off x="429768"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00" dirty="0"/>
          </a:p>
        </p:txBody>
      </p:sp>
      <p:sp>
        <p:nvSpPr>
          <p:cNvPr id="106" name="Rounded Rectangle 105"/>
          <p:cNvSpPr/>
          <p:nvPr/>
        </p:nvSpPr>
        <p:spPr>
          <a:xfrm>
            <a:off x="429768"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250" dirty="0"/>
          </a:p>
        </p:txBody>
      </p:sp>
      <p:sp>
        <p:nvSpPr>
          <p:cNvPr id="107" name="Rounded Rectangle 106"/>
          <p:cNvSpPr/>
          <p:nvPr/>
        </p:nvSpPr>
        <p:spPr>
          <a:xfrm>
            <a:off x="429768"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50" dirty="0"/>
          </a:p>
        </p:txBody>
      </p:sp>
      <p:sp>
        <p:nvSpPr>
          <p:cNvPr id="108" name="Rounded Rectangle 107"/>
          <p:cNvSpPr/>
          <p:nvPr/>
        </p:nvSpPr>
        <p:spPr>
          <a:xfrm>
            <a:off x="3511296"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00" dirty="0"/>
          </a:p>
        </p:txBody>
      </p:sp>
      <p:sp>
        <p:nvSpPr>
          <p:cNvPr id="109" name="Rounded Rectangle 108"/>
          <p:cNvSpPr/>
          <p:nvPr/>
        </p:nvSpPr>
        <p:spPr>
          <a:xfrm>
            <a:off x="3511296"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250" dirty="0"/>
          </a:p>
        </p:txBody>
      </p:sp>
      <p:sp>
        <p:nvSpPr>
          <p:cNvPr id="110" name="Rounded Rectangle 109"/>
          <p:cNvSpPr/>
          <p:nvPr/>
        </p:nvSpPr>
        <p:spPr>
          <a:xfrm>
            <a:off x="3511296"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50" dirty="0"/>
          </a:p>
        </p:txBody>
      </p:sp>
      <p:sp>
        <p:nvSpPr>
          <p:cNvPr id="111" name="Rounded Rectangle 110"/>
          <p:cNvSpPr/>
          <p:nvPr/>
        </p:nvSpPr>
        <p:spPr>
          <a:xfrm>
            <a:off x="6592824"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00" dirty="0"/>
          </a:p>
        </p:txBody>
      </p:sp>
      <p:sp>
        <p:nvSpPr>
          <p:cNvPr id="112" name="Rounded Rectangle 111"/>
          <p:cNvSpPr/>
          <p:nvPr/>
        </p:nvSpPr>
        <p:spPr>
          <a:xfrm>
            <a:off x="6592824"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2023年は、アンケートで保護者か生徒か、塾に通っているかを聞いた。</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250" dirty="0"/>
          </a:p>
        </p:txBody>
      </p:sp>
      <p:sp>
        <p:nvSpPr>
          <p:cNvPr id="113" name="Rounded Rectangle 112"/>
          <p:cNvSpPr/>
          <p:nvPr/>
        </p:nvSpPr>
        <p:spPr>
          <a:xfrm>
            <a:off x="6592824"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配信した方の55%が反応</a:t>
            </a:r>
            <a:endParaRPr lang="ja-JP" altLang="en-US" sz="1150" dirty="0"/>
          </a:p>
        </p:txBody>
      </p:sp>
    </p:spTree>
    <p:extLst>
      <p:ext uri="{BB962C8B-B14F-4D97-AF65-F5344CB8AC3E}">
        <p14:creationId xmlns:p14="http://schemas.microsoft.com/office/powerpoint/2010/main" val="1537523497"/>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54</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54</vt:i4>
      </vt:variant>
    </vt:vector>
  </HeadingPairs>
  <TitlesOfParts>
    <vt:vector size="61"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