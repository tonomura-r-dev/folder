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8"/>
  </p:notesMasterIdLst>
  <p:handoutMasterIdLst>
    <p:handoutMasterId r:id="rId39"/>
  </p:handoutMasterIdLst>
  <p:sldIdLst>
    <p:sldId id="2363" r:id="rId3"/>
    <p:sldId id="2992" r:id="rId45"/>
    <p:sldId id="2993" r:id="rId46"/>
    <p:sldId id="2994" r:id="rId47"/>
    <p:sldId id="2956" r:id="rId4"/>
    <p:sldId id="2988" r:id="rId5"/>
    <p:sldId id="2995" r:id="rId48"/>
    <p:sldId id="2972" r:id="rId6"/>
    <p:sldId id="2736" r:id="rId12"/>
    <p:sldId id="2982" r:id="rId11"/>
    <p:sldId id="2986" r:id="rId16"/>
    <p:sldId id="2983" r:id="rId13"/>
    <p:sldId id="2977" r:id="rId7"/>
    <p:sldId id="2984" r:id="rId14"/>
    <p:sldId id="2996" r:id="rId49"/>
    <p:sldId id="2997" r:id="rId50"/>
    <p:sldId id="2944" r:id="rId28"/>
    <p:sldId id="2985" r:id="rId15"/>
    <p:sldId id="2987" r:id="rId17"/>
    <p:sldId id="2962" r:id="rId24"/>
    <p:sldId id="2908" r:id="rId18"/>
    <p:sldId id="2950" r:id="rId19"/>
    <p:sldId id="2762" r:id="rId20"/>
    <p:sldId id="2937" r:id="rId21"/>
    <p:sldId id="2939" r:id="rId22"/>
    <p:sldId id="2966" r:id="rId23"/>
    <p:sldId id="2942" r:id="rId25"/>
    <p:sldId id="2943" r:id="rId27"/>
    <p:sldId id="2941" r:id="rId26"/>
    <p:sldId id="2953" r:id="rId35"/>
    <p:sldId id="2979" r:id="rId10"/>
    <p:sldId id="2990" r:id="rId9"/>
    <p:sldId id="2989" r:id="rId8"/>
    <p:sldId id="2991" r:id="rId44"/>
    <p:sldId id="2946" r:id="rId30"/>
    <p:sldId id="2998" r:id="rId51"/>
    <p:sldId id="3005" r:id="rId58"/>
    <p:sldId id="3006" r:id="rId59"/>
    <p:sldId id="3007" r:id="rId60"/>
    <p:sldId id="3008" r:id="rId61"/>
    <p:sldId id="2948" r:id="rId32"/>
    <p:sldId id="2958" r:id="rId33"/>
    <p:sldId id="2999" r:id="rId52"/>
    <p:sldId id="3000" r:id="rId53"/>
    <p:sldId id="3001" r:id="rId54"/>
    <p:sldId id="3002" r:id="rId55"/>
    <p:sldId id="3003" r:id="rId56"/>
    <p:sldId id="3004" r:id="rId57"/>
    <p:sldId id="2954" r:id="rId34"/>
    <p:sldId id="2955" r:id="rId36"/>
    <p:sldId id="1169" r:id="rId3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0" d="100"/>
          <a:sy n="10" d="100"/>
        </p:scale>
        <p:origin x="6" y="6"/>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30" Type="http://schemas.openxmlformats.org/officeDocument/2006/relationships/slide" Target="slides/slide28.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notesMaster" Target="notesMasters/notesMaster1.xml"/><Relationship Id="rId39" Type="http://schemas.openxmlformats.org/officeDocument/2006/relationships/handoutMaster" Target="handoutMasters/handout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2026/9/17</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emf"/><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gym_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39684" y="2460753"/>
            <a:ext cx="6626632" cy="474509"/>
          </a:xfrm>
          <a:prstGeom prst="rect">
            <a:avLst/>
          </a:prstGeom>
        </p:spPr>
        <p:txBody>
          <a:bodyPr wrap="square" lIns="50400" tIns="21600" rIns="50400" bIns="21600" anchor="ctr">
            <a:spAutoFit/>
          </a:bodyPr>
          <a:lstStyle/>
          <a:p>
            <a:pPr algn="ctr"/>
            <a:r>
              <a:rPr lang="ja-JP" altLang="en-US" sz="1400" b="1" dirty="0">
                <a:solidFill>
                  <a:srgbClr val="333333"/>
                </a:solidFill>
                <a:latin typeface="メイリオ"/>
                <a:ea typeface="メイリオ"/>
                <a:cs typeface="メイリオ"/>
              </a:rPr>
              <a:t>保護者の「迷っている期間」に寄り添い、</a:t>
            </a:r>
            <a:endParaRPr lang="en-US" sz="1400" b="1" dirty="0">
              <a:solidFill>
                <a:srgbClr val="333333"/>
              </a:solidFill>
              <a:latin typeface="メイリオ"/>
              <a:ea typeface="メイリオ"/>
              <a:cs typeface="メイリオ"/>
            </a:endParaRPr>
          </a:p>
          <a:p>
            <a:pPr algn="ctr"/>
            <a:r>
              <a:rPr lang="ja-JP" altLang="en-US" sz="1400" b="1" dirty="0">
                <a:solidFill>
                  <a:srgbClr val="333333"/>
                </a:solidFill>
                <a:latin typeface="メイリオ"/>
                <a:ea typeface="メイリオ"/>
                <a:cs typeface="メイリオ"/>
              </a:rPr>
              <a:t>資料請求から体験予約・入会までをつなぐ</a:t>
            </a:r>
            <a:endParaRPr lang="en-US" sz="1400" b="1" dirty="0">
              <a:solidFill>
                <a:srgbClr val="333333"/>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0400" tIns="21600" rIns="50400" bIns="21600" rtlCol="0" anchor="ctr"/>
          <a:lstStyle/>
          <a:p>
            <a:pPr algn="ctr"/>
            <a:r>
              <a:rPr sz="1200" b="1" dirty="0" err="1">
                <a:solidFill>
                  <a:srgbClr val="002060"/>
                </a:solidFill>
                <a:latin typeface="メイリオ"/>
                <a:ea typeface="メイリオ"/>
                <a:cs typeface="メイリオ"/>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ニーズ全体図。出生数は8年で27.7%減った。それなのに学習塾市場は伸びている。</a:t>
            </a:r>
          </a:p>
          <a:p>
            <a:pPr algn="l">
              <a:lnSpc>
                <a:spcPct val="128000"/>
              </a:lnSpc>
            </a:pPr>
            <a:r>
              <a:rPr sz="1200" dirty="0" err="1">
                <a:solidFill>
                  <a:srgbClr val="333333"/>
                </a:solidFill>
                <a:latin typeface="メイリオ"/>
                <a:ea typeface="メイリオ"/>
                <a:cs typeface="メイリオ"/>
              </a:rPr>
              <a:t>より少ない子どもから、より多くの売上を取る競争になっている</a:t>
            </a:r>
            <a:r>
              <a:rPr sz="1200" dirty="0">
                <a:solidFill>
                  <a:srgbClr val="333333"/>
                </a:solidFill>
                <a:latin typeface="メイリオ"/>
                <a:ea typeface="メイリオ"/>
                <a:cs typeface="メイリオ"/>
              </a:rPr>
              <a:t>。</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088000"/>
            <a:ext cx="2942400" cy="576000"/>
          </a:xfrm>
          <a:prstGeom prst="rect">
            <a:avLst/>
          </a:prstGeom>
          <a:noFill/>
        </p:spPr>
        <p:txBody>
          <a:bodyPr wrap="square" lIns="50400" tIns="21600" rIns="50400" bIns="21600" anchor="ctr">
            <a:spAutoFit/>
          </a:bodyPr>
          <a:lstStyle/>
          <a:p>
            <a:pPr algn="ctr"/>
            <a:r>
              <a:rPr sz="3000" b="1">
                <a:solidFill>
                  <a:srgbClr val="ED7D31"/>
                </a:solidFill>
                <a:latin typeface="メイリオ"/>
                <a:ea typeface="メイリオ"/>
                <a:cs typeface="メイリオ"/>
              </a:rPr>
              <a:t>▲27.7%</a:t>
            </a:r>
          </a:p>
        </p:txBody>
      </p:sp>
      <p:sp>
        <p:nvSpPr>
          <p:cNvPr id="8" name="TextBox 7"/>
          <p:cNvSpPr txBox="1"/>
          <p:nvPr/>
        </p:nvSpPr>
        <p:spPr>
          <a:xfrm>
            <a:off x="432000" y="2700000"/>
            <a:ext cx="2942400" cy="468000"/>
          </a:xfrm>
          <a:prstGeom prst="rect">
            <a:avLst/>
          </a:prstGeom>
          <a:noFill/>
        </p:spPr>
        <p:txBody>
          <a:bodyPr wrap="square" lIns="50400" tIns="21600" rIns="50400" bIns="21600" anchor="ctr">
            <a:spAutoFit/>
          </a:bodyPr>
          <a:lstStyle/>
          <a:p>
            <a:pPr algn="ctr">
              <a:lnSpc>
                <a:spcPct val="120000"/>
              </a:lnSpc>
            </a:pPr>
            <a:r>
              <a:rPr sz="950">
                <a:solidFill>
                  <a:srgbClr val="333333"/>
                </a:solidFill>
                <a:latin typeface="メイリオ"/>
                <a:ea typeface="メイリオ"/>
                <a:cs typeface="メイリオ"/>
              </a:rPr>
              <a:t>1,005,677人 → 727,277人</a:t>
            </a:r>
          </a:p>
        </p:txBody>
      </p:sp>
      <p:sp>
        <p:nvSpPr>
          <p:cNvPr id="9" name="Rounded Rectangle 8"/>
          <p:cNvSpPr/>
          <p:nvPr/>
        </p:nvSpPr>
        <p:spPr>
          <a:xfrm>
            <a:off x="34824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088000"/>
            <a:ext cx="2942400" cy="576000"/>
          </a:xfrm>
          <a:prstGeom prst="rect">
            <a:avLst/>
          </a:prstGeom>
          <a:noFill/>
        </p:spPr>
        <p:txBody>
          <a:bodyPr wrap="square" lIns="50400" tIns="21600" rIns="50400" bIns="21600" anchor="ctr">
            <a:spAutoFit/>
          </a:bodyPr>
          <a:lstStyle/>
          <a:p>
            <a:pPr algn="ctr"/>
            <a:r>
              <a:rPr sz="3000" b="1">
                <a:solidFill>
                  <a:srgbClr val="ED7D31"/>
                </a:solidFill>
                <a:latin typeface="メイリオ"/>
                <a:ea typeface="メイリオ"/>
                <a:cs typeface="メイリオ"/>
              </a:rPr>
              <a:t>+13.5%</a:t>
            </a:r>
          </a:p>
        </p:txBody>
      </p:sp>
      <p:sp>
        <p:nvSpPr>
          <p:cNvPr id="12" name="TextBox 11"/>
          <p:cNvSpPr txBox="1"/>
          <p:nvPr/>
        </p:nvSpPr>
        <p:spPr>
          <a:xfrm>
            <a:off x="3482400" y="2700000"/>
            <a:ext cx="2942400" cy="468000"/>
          </a:xfrm>
          <a:prstGeom prst="rect">
            <a:avLst/>
          </a:prstGeom>
          <a:noFill/>
        </p:spPr>
        <p:txBody>
          <a:bodyPr wrap="square" lIns="50400" tIns="21600" rIns="50400" bIns="21600" anchor="ctr">
            <a:spAutoFit/>
          </a:bodyPr>
          <a:lstStyle/>
          <a:p>
            <a:pPr algn="ctr">
              <a:lnSpc>
                <a:spcPct val="120000"/>
              </a:lnSpc>
            </a:pPr>
            <a:r>
              <a:rPr sz="950">
                <a:solidFill>
                  <a:srgbClr val="333333"/>
                </a:solidFill>
                <a:latin typeface="メイリオ"/>
                <a:ea typeface="メイリオ"/>
                <a:cs typeface="メイリオ"/>
              </a:rPr>
              <a:t>4,374億円 → 4,965億円</a:t>
            </a:r>
          </a:p>
        </p:txBody>
      </p:sp>
      <p:sp>
        <p:nvSpPr>
          <p:cNvPr id="13" name="Rounded Rectangle 12"/>
          <p:cNvSpPr/>
          <p:nvPr/>
        </p:nvSpPr>
        <p:spPr>
          <a:xfrm>
            <a:off x="65328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088000"/>
            <a:ext cx="2942400" cy="576000"/>
          </a:xfrm>
          <a:prstGeom prst="rect">
            <a:avLst/>
          </a:prstGeom>
          <a:noFill/>
        </p:spPr>
        <p:txBody>
          <a:bodyPr wrap="square" lIns="50400" tIns="21600" rIns="50400" bIns="21600" anchor="ctr">
            <a:spAutoFit/>
          </a:bodyPr>
          <a:lstStyle/>
          <a:p>
            <a:pPr algn="ctr"/>
            <a:r>
              <a:rPr sz="3000" b="1">
                <a:solidFill>
                  <a:srgbClr val="ED7D31"/>
                </a:solidFill>
                <a:latin typeface="メイリオ"/>
                <a:ea typeface="メイリオ"/>
                <a:cs typeface="メイリオ"/>
              </a:rPr>
              <a:t>▲9.7%</a:t>
            </a:r>
          </a:p>
        </p:txBody>
      </p:sp>
      <p:sp>
        <p:nvSpPr>
          <p:cNvPr id="16" name="TextBox 15"/>
          <p:cNvSpPr txBox="1"/>
          <p:nvPr/>
        </p:nvSpPr>
        <p:spPr>
          <a:xfrm>
            <a:off x="6532800" y="2700000"/>
            <a:ext cx="2942400" cy="468000"/>
          </a:xfrm>
          <a:prstGeom prst="rect">
            <a:avLst/>
          </a:prstGeom>
          <a:noFill/>
        </p:spPr>
        <p:txBody>
          <a:bodyPr wrap="square" lIns="50400" tIns="21600" rIns="50400" bIns="21600" anchor="ctr">
            <a:spAutoFit/>
          </a:bodyPr>
          <a:lstStyle/>
          <a:p>
            <a:pPr algn="ctr">
              <a:lnSpc>
                <a:spcPct val="120000"/>
              </a:lnSpc>
            </a:pPr>
            <a:r>
              <a:rPr sz="950">
                <a:solidFill>
                  <a:srgbClr val="333333"/>
                </a:solidFill>
                <a:latin typeface="メイリオ"/>
                <a:ea typeface="メイリオ"/>
                <a:cs typeface="メイリオ"/>
              </a:rPr>
              <a:t>654.3万人 → 591.0万人</a:t>
            </a:r>
          </a:p>
        </p:txBody>
      </p:sp>
      <p:sp>
        <p:nvSpPr>
          <p:cNvPr id="17" name="Rounded Rectangle 16"/>
          <p:cNvSpPr/>
          <p:nvPr/>
        </p:nvSpPr>
        <p:spPr>
          <a:xfrm>
            <a:off x="432000" y="3420000"/>
            <a:ext cx="9043200" cy="612000"/>
          </a:xfrm>
          <a:prstGeom prst="roundRect">
            <a:avLst>
              <a:gd name="adj" fmla="val 6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420000"/>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母数は減り続ける。競争密度が上がるのはこれから。いま必要なのは、取りこぼしを拾う設計。</a:t>
            </a:r>
          </a:p>
        </p:txBody>
      </p:sp>
      <p:sp>
        <p:nvSpPr>
          <p:cNvPr id="19" name="Rounded Rectangle 18"/>
          <p:cNvSpPr/>
          <p:nvPr/>
        </p:nvSpPr>
        <p:spPr>
          <a:xfrm>
            <a:off x="432000" y="4176000"/>
            <a:ext cx="9043200" cy="900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230000"/>
            <a:ext cx="8827200" cy="792000"/>
          </a:xfrm>
          <a:prstGeom prst="rect">
            <a:avLst/>
          </a:prstGeom>
          <a:noFill/>
        </p:spPr>
        <p:txBody>
          <a:bodyPr wrap="square" lIns="50400" tIns="21600" rIns="50400" bIns="21600" anchor="t">
            <a:spAutoFit/>
          </a:bodyPr>
          <a:lstStyle/>
          <a:p>
            <a:pPr algn="l">
              <a:spcAft>
                <a:spcPts val="400"/>
              </a:spcAft>
            </a:pPr>
            <a:r>
              <a:rPr sz="1050" b="1">
                <a:solidFill>
                  <a:srgbClr val="C00000"/>
                </a:solidFill>
                <a:latin typeface="メイリオ"/>
                <a:ea typeface="メイリオ"/>
                <a:cs typeface="メイリオ"/>
              </a:rPr>
              <a:t>⚠ 市場規模は「定義」で2倍変わる。必ず併記すること</a:t>
            </a:r>
          </a:p>
          <a:p>
            <a:pPr algn="l">
              <a:lnSpc>
                <a:spcPct val="125000"/>
              </a:lnSpc>
              <a:spcAft>
                <a:spcPts val="200"/>
              </a:spcAft>
            </a:pPr>
            <a:r>
              <a:rPr sz="900">
                <a:solidFill>
                  <a:srgbClr val="333333"/>
                </a:solidFill>
                <a:latin typeface="メイリオ"/>
                <a:ea typeface="メイリオ"/>
                <a:cs typeface="メイリオ"/>
              </a:rPr>
              <a:t>経産省「特定サービス産業動態統計」4,965億円＝受講生500人以上の主要事業者のみ（市場の約4〜5割）。個人塾・中小は含まない。</a:t>
            </a:r>
          </a:p>
          <a:p>
            <a:pPr algn="l">
              <a:lnSpc>
                <a:spcPct val="125000"/>
              </a:lnSpc>
            </a:pPr>
            <a:r>
              <a:rPr sz="900">
                <a:solidFill>
                  <a:srgbClr val="333333"/>
                </a:solidFill>
                <a:latin typeface="メイリオ"/>
                <a:ea typeface="メイリオ"/>
                <a:cs typeface="メイリオ"/>
              </a:rPr>
              <a:t>矢野経済研究所の全体推計＝9,870億円（2023年度）。個人経営の補習塾・中小予備校まで含むため約2倍。どちらも正しく、定義が違うだけ。</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学校基本調査（令和6年度確報）／矢野経済研究所「教育産業市場に関する調査」2024年。※提案前にe-Statで統計表を開いて数値照合すること</a:t>
            </a:r>
          </a:p>
        </p:txBody>
      </p:sp>
    </p:spTree>
    <p:extLst>
      <p:ext uri="{BB962C8B-B14F-4D97-AF65-F5344CB8AC3E}">
        <p14:creationId xmlns:p14="http://schemas.microsoft.com/office/powerpoint/2010/main" val="676230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LINE公式アカウントを検討する背景｜広告の実態</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塾の広告で取れているのは、ほとんどが塾名での検索（指名）。「個別指導 ◯◯駅」のような</a:t>
            </a:r>
          </a:p>
          <a:p>
            <a:pPr algn="l">
              <a:lnSpc>
                <a:spcPct val="128000"/>
              </a:lnSpc>
            </a:pPr>
            <a:r>
              <a:rPr sz="1200">
                <a:solidFill>
                  <a:srgbClr val="333333"/>
                </a:solidFill>
                <a:latin typeface="メイリオ"/>
                <a:ea typeface="メイリオ"/>
                <a:cs typeface="メイリオ"/>
              </a:rPr>
              <a:t>一般のキーワードは、1件あたりの広告費が高い。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※広告の実績は取得中（差し替え予定）。LPの離脱率は旧版のモデル値（LP CVR 2.0%）のため、実績に差し替えるか「モデル値」と明記する</a:t>
            </a:r>
          </a:p>
        </p:txBody>
      </p:sp>
      <p:sp>
        <p:nvSpPr>
          <p:cNvPr id="19" name="Rounded Rectangle 18"/>
          <p:cNvSpPr/>
          <p:nvPr/>
        </p:nvSpPr>
        <p:spPr>
          <a:xfrm>
            <a:off x="432000" y="1512000"/>
            <a:ext cx="4428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獲得件数の割合</a:t>
            </a:r>
          </a:p>
        </p:txBody>
      </p:sp>
      <p:sp>
        <p:nvSpPr>
          <p:cNvPr id="20" name="Rounded Rectangle 19"/>
          <p:cNvSpPr/>
          <p:nvPr/>
        </p:nvSpPr>
        <p:spPr>
          <a:xfrm>
            <a:off x="5047200" y="1512000"/>
            <a:ext cx="4428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1件あたりの広告費（CPA）</a:t>
            </a:r>
          </a:p>
        </p:txBody>
      </p:sp>
      <p:sp>
        <p:nvSpPr>
          <p:cNvPr id="21" name="Rectangle 20"/>
          <p:cNvSpPr/>
          <p:nvPr/>
        </p:nvSpPr>
        <p:spPr>
          <a:xfrm>
            <a:off x="432000" y="190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1">
                <a:solidFill>
                  <a:srgbClr val="1F285A"/>
                </a:solidFill>
                <a:latin typeface="メイリオ"/>
                <a:ea typeface="メイリオ"/>
                <a:cs typeface="メイリオ"/>
              </a:rPr>
              <a:t>指名キーワード（塾名）</a:t>
            </a:r>
          </a:p>
        </p:txBody>
      </p:sp>
      <p:sp>
        <p:nvSpPr>
          <p:cNvPr id="22" name="Rounded Rectangle 21"/>
          <p:cNvSpPr/>
          <p:nvPr/>
        </p:nvSpPr>
        <p:spPr>
          <a:xfrm>
            <a:off x="432000" y="2142000"/>
            <a:ext cx="4428000" cy="55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【データ待ち】広告の実績</a:t>
            </a:r>
          </a:p>
          <a:p>
            <a:pPr algn="ctr"/>
            <a:r>
              <a:rPr sz="900" b="0">
                <a:solidFill>
                  <a:srgbClr val="7F7F7F"/>
                </a:solidFill>
                <a:latin typeface="メイリオ"/>
                <a:ea typeface="メイリオ"/>
                <a:cs typeface="メイリオ"/>
              </a:rPr>
              <a:t>棒グラフで入れる（殿村さん取得中）</a:t>
            </a:r>
          </a:p>
        </p:txBody>
      </p:sp>
      <p:sp>
        <p:nvSpPr>
          <p:cNvPr id="23" name="Rectangle 22"/>
          <p:cNvSpPr/>
          <p:nvPr/>
        </p:nvSpPr>
        <p:spPr>
          <a:xfrm>
            <a:off x="5047200" y="190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1">
                <a:solidFill>
                  <a:srgbClr val="1F285A"/>
                </a:solidFill>
                <a:latin typeface="メイリオ"/>
                <a:ea typeface="メイリオ"/>
                <a:cs typeface="メイリオ"/>
              </a:rPr>
              <a:t>指名キーワード（塾名）</a:t>
            </a:r>
          </a:p>
        </p:txBody>
      </p:sp>
      <p:sp>
        <p:nvSpPr>
          <p:cNvPr id="24" name="Rounded Rectangle 23"/>
          <p:cNvSpPr/>
          <p:nvPr/>
        </p:nvSpPr>
        <p:spPr>
          <a:xfrm>
            <a:off x="5047200" y="2142000"/>
            <a:ext cx="4428000" cy="55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【データ待ち】広告の実績</a:t>
            </a:r>
          </a:p>
          <a:p>
            <a:pPr algn="ctr"/>
            <a:r>
              <a:rPr sz="900" b="0">
                <a:solidFill>
                  <a:srgbClr val="7F7F7F"/>
                </a:solidFill>
                <a:latin typeface="メイリオ"/>
                <a:ea typeface="メイリオ"/>
                <a:cs typeface="メイリオ"/>
              </a:rPr>
              <a:t>棒グラフで入れる（殿村さん取得中）</a:t>
            </a:r>
          </a:p>
        </p:txBody>
      </p:sp>
      <p:sp>
        <p:nvSpPr>
          <p:cNvPr id="25" name="Rectangle 24"/>
          <p:cNvSpPr/>
          <p:nvPr/>
        </p:nvSpPr>
        <p:spPr>
          <a:xfrm>
            <a:off x="432000" y="2844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1">
                <a:solidFill>
                  <a:srgbClr val="C00000"/>
                </a:solidFill>
                <a:latin typeface="メイリオ"/>
                <a:ea typeface="メイリオ"/>
                <a:cs typeface="メイリオ"/>
              </a:rPr>
              <a:t>一般キーワード（個別指導 ◯◯駅 など）</a:t>
            </a:r>
          </a:p>
        </p:txBody>
      </p:sp>
      <p:sp>
        <p:nvSpPr>
          <p:cNvPr id="26" name="Rounded Rectangle 25"/>
          <p:cNvSpPr/>
          <p:nvPr/>
        </p:nvSpPr>
        <p:spPr>
          <a:xfrm>
            <a:off x="432000" y="3078000"/>
            <a:ext cx="4428000" cy="55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【データ待ち】広告の実績</a:t>
            </a:r>
          </a:p>
          <a:p>
            <a:pPr algn="ctr"/>
            <a:r>
              <a:rPr sz="900" b="0">
                <a:solidFill>
                  <a:srgbClr val="7F7F7F"/>
                </a:solidFill>
                <a:latin typeface="メイリオ"/>
                <a:ea typeface="メイリオ"/>
                <a:cs typeface="メイリオ"/>
              </a:rPr>
              <a:t>棒グラフで入れる（殿村さん取得中）</a:t>
            </a:r>
          </a:p>
        </p:txBody>
      </p:sp>
      <p:sp>
        <p:nvSpPr>
          <p:cNvPr id="27" name="Rectangle 26"/>
          <p:cNvSpPr/>
          <p:nvPr/>
        </p:nvSpPr>
        <p:spPr>
          <a:xfrm>
            <a:off x="5047200" y="2844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1">
                <a:solidFill>
                  <a:srgbClr val="C00000"/>
                </a:solidFill>
                <a:latin typeface="メイリオ"/>
                <a:ea typeface="メイリオ"/>
                <a:cs typeface="メイリオ"/>
              </a:rPr>
              <a:t>一般キーワード（個別指導 ◯◯駅 など）</a:t>
            </a:r>
          </a:p>
        </p:txBody>
      </p:sp>
      <p:sp>
        <p:nvSpPr>
          <p:cNvPr id="28" name="Rounded Rectangle 27"/>
          <p:cNvSpPr/>
          <p:nvPr/>
        </p:nvSpPr>
        <p:spPr>
          <a:xfrm>
            <a:off x="5047200" y="3078000"/>
            <a:ext cx="4428000" cy="55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【データ待ち】広告の実績</a:t>
            </a:r>
          </a:p>
          <a:p>
            <a:pPr algn="ctr"/>
            <a:r>
              <a:rPr sz="900" b="0">
                <a:solidFill>
                  <a:srgbClr val="7F7F7F"/>
                </a:solidFill>
                <a:latin typeface="メイリオ"/>
                <a:ea typeface="メイリオ"/>
                <a:cs typeface="メイリオ"/>
              </a:rPr>
              <a:t>棒グラフで入れる（殿村さん取得中）</a:t>
            </a:r>
          </a:p>
        </p:txBody>
      </p:sp>
      <p:sp>
        <p:nvSpPr>
          <p:cNvPr id="29" name="Rounded Rectangle 28"/>
          <p:cNvSpPr/>
          <p:nvPr/>
        </p:nvSpPr>
        <p:spPr>
          <a:xfrm>
            <a:off x="432000" y="3870000"/>
            <a:ext cx="9043200" cy="93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0" name="Rectangle 29"/>
          <p:cNvSpPr/>
          <p:nvPr/>
        </p:nvSpPr>
        <p:spPr>
          <a:xfrm>
            <a:off x="576000" y="3924000"/>
            <a:ext cx="8748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002060"/>
                </a:solidFill>
                <a:latin typeface="メイリオ"/>
                <a:ea typeface="メイリオ"/>
                <a:cs typeface="メイリオ"/>
              </a:rPr>
              <a:t>LPに来た保護者の多くは、名前を残さず帰っている</a:t>
            </a:r>
          </a:p>
        </p:txBody>
      </p:sp>
      <p:sp>
        <p:nvSpPr>
          <p:cNvPr id="31" name="Rectangle 30"/>
          <p:cNvSpPr/>
          <p:nvPr/>
        </p:nvSpPr>
        <p:spPr>
          <a:xfrm>
            <a:off x="576000" y="4194000"/>
            <a:ext cx="8748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0">
                <a:solidFill>
                  <a:srgbClr val="333333"/>
                </a:solidFill>
                <a:latin typeface="メイリオ"/>
                <a:ea typeface="メイリオ"/>
                <a:cs typeface="メイリオ"/>
              </a:rPr>
              <a:t>広告で連れてきた保護者も、その場で申し込まなければ接点は切れる。</a:t>
            </a:r>
          </a:p>
          <a:p>
            <a:pPr algn="l"/>
            <a:r>
              <a:rPr sz="1050" b="0">
                <a:solidFill>
                  <a:srgbClr val="7F7F7F"/>
                </a:solidFill>
                <a:latin typeface="メイリオ"/>
                <a:ea typeface="メイリオ"/>
                <a:cs typeface="メイリオ"/>
              </a:rPr>
              <a:t>LPの離脱率：【データ待ち】（実績があれば差し替え。旧版の「100人中98人」はモデル値）</a:t>
            </a:r>
          </a:p>
        </p:txBody>
      </p:sp>
      <p:sp>
        <p:nvSpPr>
          <p:cNvPr id="32" name="Rounded Rectangle 31"/>
          <p:cNvSpPr/>
          <p:nvPr/>
        </p:nvSpPr>
        <p:spPr>
          <a:xfrm>
            <a:off x="432000" y="4968000"/>
            <a:ext cx="9043200" cy="54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300" b="1">
                <a:solidFill>
                  <a:srgbClr val="FFFFFF"/>
                </a:solidFill>
                <a:latin typeface="メイリオ"/>
                <a:ea typeface="メイリオ"/>
                <a:cs typeface="メイリオ"/>
              </a:rPr>
              <a:t>広告費を増やして一般キーワードを取りにいくのは高くつく。</a:t>
            </a:r>
          </a:p>
          <a:p>
            <a:pPr algn="ctr"/>
            <a:r>
              <a:rPr sz="1300" b="1">
                <a:solidFill>
                  <a:srgbClr val="FFFFFF"/>
                </a:solidFill>
                <a:latin typeface="メイリオ"/>
                <a:ea typeface="メイリオ"/>
                <a:cs typeface="メイリオ"/>
              </a:rPr>
              <a:t>サイトに来て、まだ決めかねている保護者を、LINEで逃がさない仕組みが要る。</a:t>
            </a:r>
          </a:p>
        </p:txBody>
      </p:sp>
    </p:spTree>
    <p:extLst>
      <p:ext uri="{BB962C8B-B14F-4D97-AF65-F5344CB8AC3E}">
        <p14:creationId xmlns:p14="http://schemas.microsoft.com/office/powerpoint/2010/main" val="350948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塾を調べているのは40代の母親。選ぶときに一番困っているのは、料金ではなく</a:t>
            </a:r>
          </a:p>
          <a:p>
            <a:pPr algn="l">
              <a:lnSpc>
                <a:spcPct val="128000"/>
              </a:lnSpc>
            </a:pPr>
            <a:r>
              <a:rPr sz="1200">
                <a:solidFill>
                  <a:srgbClr val="333333"/>
                </a:solidFill>
                <a:latin typeface="メイリオ"/>
                <a:ea typeface="メイリオ"/>
                <a:cs typeface="メイリオ"/>
              </a:rPr>
              <a:t>「うちの子に合う塾が分からない」（63.5%）。払う気はある。合うか分からないから決められない。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2789117"/>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45759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999" y="2051999"/>
            <a:ext cx="900000" cy="378000"/>
          </a:xfrm>
          <a:prstGeom prst="rect">
            <a:avLst/>
          </a:prstGeom>
          <a:noFill/>
        </p:spPr>
        <p:txBody>
          <a:bodyPr wrap="square" lIns="50400" tIns="21600" rIns="50400" bIns="21600" anchor="ctr">
            <a:spAutoFit/>
          </a:bodyPr>
          <a:lstStyle/>
          <a:p>
            <a:pPr algn="ctr"/>
            <a:r>
              <a:rPr sz="950" b="1">
                <a:solidFill>
                  <a:srgbClr val="FFFFFF"/>
                </a:solidFill>
                <a:latin typeface="メイリオ"/>
                <a:ea typeface="メイリオ"/>
                <a:cs typeface="メイリオ"/>
              </a:rPr>
              <a:t>性別</a:t>
            </a:r>
          </a:p>
        </p:txBody>
      </p:sp>
      <p:sp>
        <p:nvSpPr>
          <p:cNvPr id="9" name="TextBox 8"/>
          <p:cNvSpPr txBox="1"/>
          <p:nvPr/>
        </p:nvSpPr>
        <p:spPr>
          <a:xfrm>
            <a:off x="1530000" y="2113199"/>
            <a:ext cx="1080000" cy="378000"/>
          </a:xfrm>
          <a:prstGeom prst="rect">
            <a:avLst/>
          </a:prstGeom>
          <a:noFill/>
        </p:spPr>
        <p:txBody>
          <a:bodyPr wrap="square" lIns="50400" tIns="21600" rIns="50400" bIns="21600" anchor="ctr">
            <a:spAutoFit/>
          </a:bodyPr>
          <a:lstStyle/>
          <a:p>
            <a:pPr algn="ctr"/>
            <a:r>
              <a:rPr sz="1400" b="1" dirty="0" err="1">
                <a:solidFill>
                  <a:srgbClr val="ED7D31"/>
                </a:solidFill>
                <a:latin typeface="メイリオ"/>
                <a:ea typeface="メイリオ"/>
                <a:cs typeface="メイリオ"/>
              </a:rPr>
              <a:t>女性</a:t>
            </a:r>
            <a:r>
              <a:rPr sz="1400" b="1" dirty="0">
                <a:solidFill>
                  <a:srgbClr val="ED7D31"/>
                </a:solidFill>
                <a:latin typeface="メイリオ"/>
                <a:ea typeface="メイリオ"/>
                <a:cs typeface="メイリオ"/>
              </a:rPr>
              <a:t> 67.4%</a:t>
            </a:r>
          </a:p>
        </p:txBody>
      </p:sp>
      <p:sp>
        <p:nvSpPr>
          <p:cNvPr id="10" name="TextBox 9"/>
          <p:cNvSpPr txBox="1"/>
          <p:nvPr/>
        </p:nvSpPr>
        <p:spPr>
          <a:xfrm>
            <a:off x="2637000" y="2177706"/>
            <a:ext cx="1835999" cy="351014"/>
          </a:xfrm>
          <a:prstGeom prst="rect">
            <a:avLst/>
          </a:prstGeom>
          <a:noFill/>
        </p:spPr>
        <p:txBody>
          <a:bodyPr wrap="square" lIns="50400" tIns="21600" rIns="50400" bIns="21600" anchor="ctr">
            <a:spAutoFit/>
          </a:bodyPr>
          <a:lstStyle/>
          <a:p>
            <a:pPr algn="l">
              <a:lnSpc>
                <a:spcPct val="120000"/>
              </a:lnSpc>
            </a:pPr>
            <a:r>
              <a:rPr sz="850" dirty="0" err="1">
                <a:solidFill>
                  <a:srgbClr val="333333"/>
                </a:solidFill>
                <a:latin typeface="メイリオ"/>
                <a:ea typeface="メイリオ"/>
                <a:cs typeface="メイリオ"/>
              </a:rPr>
              <a:t>起点KW「塾</a:t>
            </a:r>
            <a:r>
              <a:rPr sz="850" dirty="0">
                <a:solidFill>
                  <a:srgbClr val="333333"/>
                </a:solidFill>
                <a:latin typeface="メイリオ"/>
                <a:ea typeface="メイリオ"/>
                <a:cs typeface="メイリオ"/>
              </a:rPr>
              <a:t>」</a:t>
            </a:r>
            <a:endParaRPr lang="en-US" sz="850" dirty="0">
              <a:solidFill>
                <a:srgbClr val="333333"/>
              </a:solidFill>
              <a:latin typeface="メイリオ"/>
              <a:ea typeface="メイリオ"/>
              <a:cs typeface="メイリオ"/>
            </a:endParaRPr>
          </a:p>
          <a:p>
            <a:pPr algn="l">
              <a:lnSpc>
                <a:spcPct val="120000"/>
              </a:lnSpc>
            </a:pPr>
            <a:r>
              <a:rPr sz="850" dirty="0">
                <a:solidFill>
                  <a:srgbClr val="333333"/>
                </a:solidFill>
                <a:latin typeface="メイリオ"/>
                <a:ea typeface="メイリオ"/>
                <a:cs typeface="メイリオ"/>
              </a:rPr>
              <a:t>「塾 費用」も65.5%</a:t>
            </a:r>
          </a:p>
        </p:txBody>
      </p:sp>
      <p:sp>
        <p:nvSpPr>
          <p:cNvPr id="11" name="Rounded Rectangle 10"/>
          <p:cNvSpPr/>
          <p:nvPr/>
        </p:nvSpPr>
        <p:spPr>
          <a:xfrm>
            <a:off x="557999" y="2623657"/>
            <a:ext cx="900000" cy="45759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7999" y="2623657"/>
            <a:ext cx="900000" cy="378000"/>
          </a:xfrm>
          <a:prstGeom prst="rect">
            <a:avLst/>
          </a:prstGeom>
          <a:noFill/>
        </p:spPr>
        <p:txBody>
          <a:bodyPr wrap="square" lIns="50400" tIns="21600" rIns="50400" bIns="21600" anchor="ctr">
            <a:spAutoFit/>
          </a:bodyPr>
          <a:lstStyle/>
          <a:p>
            <a:pPr algn="ctr"/>
            <a:r>
              <a:rPr sz="950" b="1">
                <a:solidFill>
                  <a:srgbClr val="FFFFFF"/>
                </a:solidFill>
                <a:latin typeface="メイリオ"/>
                <a:ea typeface="メイリオ"/>
                <a:cs typeface="メイリオ"/>
              </a:rPr>
              <a:t>個別クエリ</a:t>
            </a:r>
          </a:p>
        </p:txBody>
      </p:sp>
      <p:sp>
        <p:nvSpPr>
          <p:cNvPr id="13" name="TextBox 12"/>
          <p:cNvSpPr txBox="1"/>
          <p:nvPr/>
        </p:nvSpPr>
        <p:spPr>
          <a:xfrm>
            <a:off x="1557000" y="2698858"/>
            <a:ext cx="1080000" cy="378000"/>
          </a:xfrm>
          <a:prstGeom prst="rect">
            <a:avLst/>
          </a:prstGeom>
          <a:noFill/>
        </p:spPr>
        <p:txBody>
          <a:bodyPr wrap="square" lIns="50400" tIns="21600" rIns="50400" bIns="21600" anchor="ctr">
            <a:spAutoFit/>
          </a:bodyPr>
          <a:lstStyle/>
          <a:p>
            <a:pPr algn="ctr"/>
            <a:r>
              <a:rPr sz="1400" b="1" dirty="0" err="1">
                <a:solidFill>
                  <a:srgbClr val="ED7D31"/>
                </a:solidFill>
                <a:latin typeface="メイリオ"/>
                <a:ea typeface="メイリオ"/>
                <a:cs typeface="メイリオ"/>
              </a:rPr>
              <a:t>女性</a:t>
            </a:r>
            <a:r>
              <a:rPr sz="1400" b="1" dirty="0">
                <a:solidFill>
                  <a:srgbClr val="ED7D31"/>
                </a:solidFill>
                <a:latin typeface="メイリオ"/>
                <a:ea typeface="メイリオ"/>
                <a:cs typeface="メイリオ"/>
              </a:rPr>
              <a:t> 86〜88%</a:t>
            </a:r>
          </a:p>
        </p:txBody>
      </p:sp>
      <p:sp>
        <p:nvSpPr>
          <p:cNvPr id="14" name="TextBox 13"/>
          <p:cNvSpPr txBox="1"/>
          <p:nvPr/>
        </p:nvSpPr>
        <p:spPr>
          <a:xfrm>
            <a:off x="2610000" y="2693691"/>
            <a:ext cx="1835999" cy="378000"/>
          </a:xfrm>
          <a:prstGeom prst="rect">
            <a:avLst/>
          </a:prstGeom>
          <a:noFill/>
        </p:spPr>
        <p:txBody>
          <a:bodyPr wrap="square" lIns="50400" tIns="21600" rIns="50400" bIns="21600" anchor="ctr">
            <a:spAutoFit/>
          </a:bodyPr>
          <a:lstStyle/>
          <a:p>
            <a:pPr algn="l">
              <a:lnSpc>
                <a:spcPct val="120000"/>
              </a:lnSpc>
            </a:pPr>
            <a:r>
              <a:rPr sz="850" dirty="0">
                <a:solidFill>
                  <a:srgbClr val="333333"/>
                </a:solidFill>
                <a:latin typeface="メイリオ"/>
                <a:ea typeface="メイリオ"/>
                <a:cs typeface="メイリオ"/>
              </a:rPr>
              <a:t>「塾 いつから通わせる」86.5%／「</a:t>
            </a:r>
            <a:r>
              <a:rPr sz="850" dirty="0" err="1">
                <a:solidFill>
                  <a:srgbClr val="333333"/>
                </a:solidFill>
                <a:latin typeface="メイリオ"/>
                <a:ea typeface="メイリオ"/>
                <a:cs typeface="メイリオ"/>
              </a:rPr>
              <a:t>高校受験</a:t>
            </a:r>
            <a:r>
              <a:rPr sz="850" dirty="0">
                <a:solidFill>
                  <a:srgbClr val="333333"/>
                </a:solidFill>
                <a:latin typeface="メイリオ"/>
                <a:ea typeface="メイリオ"/>
                <a:cs typeface="メイリオ"/>
              </a:rPr>
              <a:t> 塾 いつから」87.9%</a:t>
            </a:r>
          </a:p>
        </p:txBody>
      </p:sp>
      <p:sp>
        <p:nvSpPr>
          <p:cNvPr id="15" name="Rounded Rectangle 14"/>
          <p:cNvSpPr/>
          <p:nvPr/>
        </p:nvSpPr>
        <p:spPr>
          <a:xfrm>
            <a:off x="557999" y="3210892"/>
            <a:ext cx="900000" cy="45759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7999" y="3210892"/>
            <a:ext cx="900000" cy="378000"/>
          </a:xfrm>
          <a:prstGeom prst="rect">
            <a:avLst/>
          </a:prstGeom>
          <a:noFill/>
        </p:spPr>
        <p:txBody>
          <a:bodyPr wrap="square" lIns="50400" tIns="21600" rIns="50400" bIns="21600" anchor="ctr">
            <a:spAutoFit/>
          </a:bodyPr>
          <a:lstStyle/>
          <a:p>
            <a:pPr algn="ctr"/>
            <a:r>
              <a:rPr sz="950" b="1">
                <a:solidFill>
                  <a:srgbClr val="FFFFFF"/>
                </a:solidFill>
                <a:latin typeface="メイリオ"/>
                <a:ea typeface="メイリオ"/>
                <a:cs typeface="メイリオ"/>
              </a:rPr>
              <a:t>年代</a:t>
            </a:r>
          </a:p>
        </p:txBody>
      </p:sp>
      <p:sp>
        <p:nvSpPr>
          <p:cNvPr id="17" name="TextBox 16"/>
          <p:cNvSpPr txBox="1"/>
          <p:nvPr/>
        </p:nvSpPr>
        <p:spPr>
          <a:xfrm>
            <a:off x="1530000" y="3288600"/>
            <a:ext cx="1080000" cy="378000"/>
          </a:xfrm>
          <a:prstGeom prst="rect">
            <a:avLst/>
          </a:prstGeom>
          <a:noFill/>
        </p:spPr>
        <p:txBody>
          <a:bodyPr wrap="square" lIns="50400" tIns="21600" rIns="50400" bIns="21600" anchor="ctr">
            <a:spAutoFit/>
          </a:bodyPr>
          <a:lstStyle/>
          <a:p>
            <a:pPr algn="ctr"/>
            <a:r>
              <a:rPr sz="1400" b="1" dirty="0">
                <a:solidFill>
                  <a:srgbClr val="ED7D31"/>
                </a:solidFill>
                <a:latin typeface="メイリオ"/>
                <a:ea typeface="メイリオ"/>
                <a:cs typeface="メイリオ"/>
              </a:rPr>
              <a:t>40代 52.8%</a:t>
            </a:r>
          </a:p>
        </p:txBody>
      </p:sp>
      <p:sp>
        <p:nvSpPr>
          <p:cNvPr id="18" name="TextBox 17"/>
          <p:cNvSpPr txBox="1"/>
          <p:nvPr/>
        </p:nvSpPr>
        <p:spPr>
          <a:xfrm>
            <a:off x="2610000" y="3315586"/>
            <a:ext cx="1835999" cy="351014"/>
          </a:xfrm>
          <a:prstGeom prst="rect">
            <a:avLst/>
          </a:prstGeom>
          <a:noFill/>
        </p:spPr>
        <p:txBody>
          <a:bodyPr wrap="square" lIns="50400" tIns="21600" rIns="50400" bIns="21600" anchor="ctr">
            <a:spAutoFit/>
          </a:bodyPr>
          <a:lstStyle/>
          <a:p>
            <a:pPr algn="l">
              <a:lnSpc>
                <a:spcPct val="120000"/>
              </a:lnSpc>
            </a:pPr>
            <a:r>
              <a:rPr sz="850" dirty="0">
                <a:solidFill>
                  <a:srgbClr val="333333"/>
                </a:solidFill>
                <a:latin typeface="メイリオ"/>
                <a:ea typeface="メイリオ"/>
                <a:cs typeface="メイリオ"/>
              </a:rPr>
              <a:t>50代23.5%／30代11.1%</a:t>
            </a:r>
            <a:endParaRPr lang="en-US" sz="850" dirty="0">
              <a:solidFill>
                <a:srgbClr val="333333"/>
              </a:solidFill>
              <a:latin typeface="メイリオ"/>
              <a:ea typeface="メイリオ"/>
              <a:cs typeface="メイリオ"/>
            </a:endParaRPr>
          </a:p>
          <a:p>
            <a:pPr algn="l">
              <a:lnSpc>
                <a:spcPct val="120000"/>
              </a:lnSpc>
            </a:pPr>
            <a:r>
              <a:rPr sz="850" dirty="0">
                <a:solidFill>
                  <a:srgbClr val="333333"/>
                </a:solidFill>
                <a:latin typeface="メイリオ"/>
                <a:ea typeface="メイリオ"/>
                <a:cs typeface="メイリオ"/>
              </a:rPr>
              <a:t>（</a:t>
            </a:r>
            <a:r>
              <a:rPr sz="850" dirty="0" err="1">
                <a:solidFill>
                  <a:srgbClr val="333333"/>
                </a:solidFill>
                <a:latin typeface="メイリオ"/>
                <a:ea typeface="メイリオ"/>
                <a:cs typeface="メイリオ"/>
              </a:rPr>
              <a:t>同音異義語ノイズ除外後</a:t>
            </a:r>
            <a:r>
              <a:rPr sz="850" dirty="0">
                <a:solidFill>
                  <a:srgbClr val="333333"/>
                </a:solidFill>
                <a:latin typeface="メイリオ"/>
                <a:ea typeface="メイリオ"/>
                <a:cs typeface="メイリオ"/>
              </a:rPr>
              <a:t>）</a:t>
            </a:r>
          </a:p>
        </p:txBody>
      </p:sp>
      <p:sp>
        <p:nvSpPr>
          <p:cNvPr id="19" name="Rounded Rectangle 18"/>
          <p:cNvSpPr/>
          <p:nvPr/>
        </p:nvSpPr>
        <p:spPr>
          <a:xfrm>
            <a:off x="557999" y="3811766"/>
            <a:ext cx="900000" cy="45759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999" y="3811766"/>
            <a:ext cx="900000" cy="378000"/>
          </a:xfrm>
          <a:prstGeom prst="rect">
            <a:avLst/>
          </a:prstGeom>
          <a:noFill/>
        </p:spPr>
        <p:txBody>
          <a:bodyPr wrap="square" lIns="50400" tIns="21600" rIns="50400" bIns="21600" anchor="ctr">
            <a:spAutoFit/>
          </a:bodyPr>
          <a:lstStyle/>
          <a:p>
            <a:pPr algn="ctr"/>
            <a:r>
              <a:rPr sz="950" b="1" dirty="0" err="1">
                <a:solidFill>
                  <a:srgbClr val="FFFFFF"/>
                </a:solidFill>
                <a:latin typeface="メイリオ"/>
                <a:ea typeface="メイリオ"/>
                <a:cs typeface="メイリオ"/>
              </a:rPr>
              <a:t>学年別の違い</a:t>
            </a:r>
            <a:endParaRPr sz="950" b="1" dirty="0">
              <a:solidFill>
                <a:srgbClr val="FFFFFF"/>
              </a:solidFill>
              <a:latin typeface="メイリオ"/>
              <a:ea typeface="メイリオ"/>
              <a:cs typeface="メイリオ"/>
            </a:endParaRPr>
          </a:p>
        </p:txBody>
      </p:sp>
      <p:sp>
        <p:nvSpPr>
          <p:cNvPr id="21" name="TextBox 20"/>
          <p:cNvSpPr txBox="1"/>
          <p:nvPr/>
        </p:nvSpPr>
        <p:spPr>
          <a:xfrm>
            <a:off x="1530000" y="3909238"/>
            <a:ext cx="1080000" cy="378000"/>
          </a:xfrm>
          <a:prstGeom prst="rect">
            <a:avLst/>
          </a:prstGeom>
          <a:noFill/>
        </p:spPr>
        <p:txBody>
          <a:bodyPr wrap="square" lIns="50400" tIns="21600" rIns="50400" bIns="21600" anchor="ctr">
            <a:spAutoFit/>
          </a:bodyPr>
          <a:lstStyle/>
          <a:p>
            <a:pPr algn="ctr"/>
            <a:r>
              <a:rPr sz="1400" b="1" dirty="0">
                <a:solidFill>
                  <a:srgbClr val="ED7D31"/>
                </a:solidFill>
                <a:latin typeface="メイリオ"/>
                <a:ea typeface="メイリオ"/>
                <a:cs typeface="メイリオ"/>
              </a:rPr>
              <a:t>30代 22.1%</a:t>
            </a:r>
          </a:p>
        </p:txBody>
      </p:sp>
      <p:sp>
        <p:nvSpPr>
          <p:cNvPr id="22" name="TextBox 21"/>
          <p:cNvSpPr txBox="1"/>
          <p:nvPr/>
        </p:nvSpPr>
        <p:spPr>
          <a:xfrm>
            <a:off x="2636999" y="3912799"/>
            <a:ext cx="1835999" cy="351014"/>
          </a:xfrm>
          <a:prstGeom prst="rect">
            <a:avLst/>
          </a:prstGeom>
          <a:noFill/>
        </p:spPr>
        <p:txBody>
          <a:bodyPr wrap="square" lIns="50400" tIns="21600" rIns="50400" bIns="21600" anchor="ctr">
            <a:spAutoFit/>
          </a:bodyPr>
          <a:lstStyle/>
          <a:p>
            <a:pPr algn="l">
              <a:lnSpc>
                <a:spcPct val="120000"/>
              </a:lnSpc>
            </a:pPr>
            <a:r>
              <a:rPr sz="850" dirty="0">
                <a:solidFill>
                  <a:srgbClr val="333333"/>
                </a:solidFill>
                <a:latin typeface="メイリオ"/>
                <a:ea typeface="メイリオ"/>
                <a:cs typeface="メイリオ"/>
              </a:rPr>
              <a:t>「塾 費用」では30代が上昇</a:t>
            </a:r>
            <a:endParaRPr lang="en-US" sz="850" dirty="0">
              <a:solidFill>
                <a:srgbClr val="333333"/>
              </a:solidFill>
              <a:latin typeface="メイリオ"/>
              <a:ea typeface="メイリオ"/>
              <a:cs typeface="メイリオ"/>
            </a:endParaRPr>
          </a:p>
          <a:p>
            <a:pPr algn="l">
              <a:lnSpc>
                <a:spcPct val="120000"/>
              </a:lnSpc>
            </a:pPr>
            <a:r>
              <a:rPr sz="850" dirty="0">
                <a:solidFill>
                  <a:srgbClr val="333333"/>
                </a:solidFill>
                <a:latin typeface="メイリオ"/>
                <a:ea typeface="メイリオ"/>
                <a:cs typeface="メイリオ"/>
              </a:rPr>
              <a:t>＝小学生の保護者は30代</a:t>
            </a:r>
          </a:p>
        </p:txBody>
      </p:sp>
      <p:sp>
        <p:nvSpPr>
          <p:cNvPr id="24" name="Rounded Rectangle 23"/>
          <p:cNvSpPr/>
          <p:nvPr/>
        </p:nvSpPr>
        <p:spPr>
          <a:xfrm>
            <a:off x="4823999" y="1619999"/>
            <a:ext cx="4651200" cy="2789115"/>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保護者の心の声（データの翻訳）</a:t>
            </a:r>
          </a:p>
        </p:txBody>
      </p:sp>
      <p:sp>
        <p:nvSpPr>
          <p:cNvPr id="26" name="Rounded Rectangle 25"/>
          <p:cNvSpPr/>
          <p:nvPr/>
        </p:nvSpPr>
        <p:spPr>
          <a:xfrm>
            <a:off x="4949999" y="2051999"/>
            <a:ext cx="4392000" cy="4248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050" b="1" dirty="0">
                <a:solidFill>
                  <a:srgbClr val="333333"/>
                </a:solidFill>
                <a:latin typeface="メイリオ"/>
                <a:ea typeface="メイリオ"/>
                <a:cs typeface="メイリオ"/>
              </a:rPr>
              <a:t>「</a:t>
            </a:r>
            <a:r>
              <a:rPr sz="1050" b="1" dirty="0" err="1">
                <a:solidFill>
                  <a:srgbClr val="333333"/>
                </a:solidFill>
                <a:latin typeface="メイリオ"/>
                <a:ea typeface="メイリオ"/>
                <a:cs typeface="メイリオ"/>
              </a:rPr>
              <a:t>うちの子に合うのか、通ってみるまで分からない</a:t>
            </a:r>
            <a:r>
              <a:rPr sz="1050" b="1" dirty="0">
                <a:solidFill>
                  <a:srgbClr val="333333"/>
                </a:solidFill>
                <a:latin typeface="メイリオ"/>
                <a:ea typeface="メイリオ"/>
                <a:cs typeface="メイリオ"/>
              </a:rPr>
              <a:t>」</a:t>
            </a:r>
          </a:p>
          <a:p>
            <a:pPr algn="l">
              <a:lnSpc>
                <a:spcPct val="115000"/>
              </a:lnSpc>
            </a:pPr>
            <a:r>
              <a:rPr sz="800" dirty="0" err="1">
                <a:solidFill>
                  <a:srgbClr val="7F7F7F"/>
                </a:solidFill>
                <a:latin typeface="メイリオ"/>
                <a:ea typeface="メイリオ"/>
                <a:cs typeface="メイリオ"/>
              </a:rPr>
              <a:t>塾選び最大の苦労</a:t>
            </a:r>
            <a:r>
              <a:rPr sz="800" dirty="0">
                <a:solidFill>
                  <a:srgbClr val="7F7F7F"/>
                </a:solidFill>
                <a:latin typeface="メイリオ"/>
                <a:ea typeface="メイリオ"/>
                <a:cs typeface="メイリオ"/>
              </a:rPr>
              <a:t> 63.5%（塾ナラ2025・n=200）</a:t>
            </a:r>
          </a:p>
        </p:txBody>
      </p:sp>
      <p:sp>
        <p:nvSpPr>
          <p:cNvPr id="27" name="Rounded Rectangle 26"/>
          <p:cNvSpPr/>
          <p:nvPr/>
        </p:nvSpPr>
        <p:spPr>
          <a:xfrm>
            <a:off x="4949999" y="2623657"/>
            <a:ext cx="4392000" cy="4248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050" b="1" dirty="0">
                <a:solidFill>
                  <a:srgbClr val="333333"/>
                </a:solidFill>
                <a:latin typeface="メイリオ"/>
                <a:ea typeface="メイリオ"/>
                <a:cs typeface="メイリオ"/>
              </a:rPr>
              <a:t>「</a:t>
            </a:r>
            <a:r>
              <a:rPr sz="1050" b="1" dirty="0" err="1">
                <a:solidFill>
                  <a:srgbClr val="333333"/>
                </a:solidFill>
                <a:latin typeface="メイリオ"/>
                <a:ea typeface="メイリオ"/>
                <a:cs typeface="メイリオ"/>
              </a:rPr>
              <a:t>集団と個別、どっちが向いてるのか判断できない</a:t>
            </a:r>
            <a:r>
              <a:rPr sz="1050" b="1" dirty="0">
                <a:solidFill>
                  <a:srgbClr val="333333"/>
                </a:solidFill>
                <a:latin typeface="メイリオ"/>
                <a:ea typeface="メイリオ"/>
                <a:cs typeface="メイリオ"/>
              </a:rPr>
              <a:t>」</a:t>
            </a:r>
          </a:p>
          <a:p>
            <a:pPr algn="l">
              <a:lnSpc>
                <a:spcPct val="115000"/>
              </a:lnSpc>
            </a:pPr>
            <a:r>
              <a:rPr sz="800" dirty="0">
                <a:solidFill>
                  <a:srgbClr val="7F7F7F"/>
                </a:solidFill>
                <a:latin typeface="メイリオ"/>
                <a:ea typeface="メイリオ"/>
                <a:cs typeface="メイリオ"/>
              </a:rPr>
              <a:t>「情報が多すぎる」17.0%</a:t>
            </a:r>
          </a:p>
        </p:txBody>
      </p:sp>
      <p:sp>
        <p:nvSpPr>
          <p:cNvPr id="28" name="Rounded Rectangle 27"/>
          <p:cNvSpPr/>
          <p:nvPr/>
        </p:nvSpPr>
        <p:spPr>
          <a:xfrm>
            <a:off x="4949999" y="3204984"/>
            <a:ext cx="4392000" cy="4248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050" b="1" dirty="0">
                <a:solidFill>
                  <a:srgbClr val="333333"/>
                </a:solidFill>
                <a:latin typeface="メイリオ"/>
                <a:ea typeface="メイリオ"/>
                <a:cs typeface="メイリオ"/>
              </a:rPr>
              <a:t>「</a:t>
            </a:r>
            <a:r>
              <a:rPr sz="1050" b="1" dirty="0" err="1">
                <a:solidFill>
                  <a:srgbClr val="333333"/>
                </a:solidFill>
                <a:latin typeface="メイリオ"/>
                <a:ea typeface="メイリオ"/>
                <a:cs typeface="メイリオ"/>
              </a:rPr>
              <a:t>月謝の他に講習費がいくら乗るのか読めない</a:t>
            </a:r>
            <a:r>
              <a:rPr sz="1050" b="1" dirty="0">
                <a:solidFill>
                  <a:srgbClr val="333333"/>
                </a:solidFill>
                <a:latin typeface="メイリオ"/>
                <a:ea typeface="メイリオ"/>
                <a:cs typeface="メイリオ"/>
              </a:rPr>
              <a:t>」</a:t>
            </a:r>
          </a:p>
          <a:p>
            <a:pPr algn="l">
              <a:lnSpc>
                <a:spcPct val="115000"/>
              </a:lnSpc>
            </a:pPr>
            <a:r>
              <a:rPr sz="8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9999" y="3807914"/>
            <a:ext cx="4392000" cy="4248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050" b="1" dirty="0">
                <a:solidFill>
                  <a:srgbClr val="333333"/>
                </a:solidFill>
                <a:latin typeface="メイリオ"/>
                <a:ea typeface="メイリオ"/>
                <a:cs typeface="メイリオ"/>
              </a:rPr>
              <a:t>「集団と個別、どちらに入れたらいいのか」</a:t>
            </a:r>
            <a:r>
              <a:rPr sz="1050" b="1" dirty="0" err="1">
                <a:solidFill>
                  <a:srgbClr val="333333"/>
                </a:solidFill>
                <a:latin typeface="メイリオ"/>
                <a:ea typeface="メイリオ"/>
                <a:cs typeface="メイリオ"/>
              </a:rPr>
              <a:t/>
            </a:r>
            <a:r>
              <a:rPr sz="1050" b="1" dirty="0">
                <a:solidFill>
                  <a:srgbClr val="333333"/>
                </a:solidFill>
                <a:latin typeface="メイリオ"/>
                <a:ea typeface="メイリオ"/>
                <a:cs typeface="メイリオ"/>
              </a:rPr>
              <a:t/>
            </a:r>
          </a:p>
          <a:p>
            <a:pPr algn="l">
              <a:lnSpc>
                <a:spcPct val="115000"/>
              </a:lnSpc>
            </a:pPr>
            <a:r>
              <a:rPr sz="8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32000" y="4896907"/>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払う気はある。合うかどうかが分からないから決められない</a:t>
            </a:r>
            <a:r>
              <a:rPr sz="1400" b="1" dirty="0">
                <a:solidFill>
                  <a:srgbClr val="FFFFFF"/>
                </a:solidFill>
                <a:latin typeface="メイリオ"/>
                <a:ea typeface="メイリオ"/>
                <a:cs typeface="メイリオ"/>
              </a:rPr>
              <a:t>。</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a:t>
            </a: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合わないを見せてしまう</a:t>
            </a:r>
            <a:r>
              <a:rPr sz="1400" b="1" dirty="0">
                <a:solidFill>
                  <a:srgbClr val="FFFFFF"/>
                </a:solidFill>
                <a:latin typeface="メイリオ"/>
                <a:ea typeface="メイリオ"/>
                <a:cs typeface="メイリオ"/>
              </a:rPr>
              <a:t>」。</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出典｜LINEヤフー前後検索（2022-05〜2023-05・実測）※最新の前後検索で更新予定／塾ナラ2025（n=200）／塾シル・ユナイトプロジェクト2026（n=249）／明光ネットワークジャパン2020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1187594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授業の質や合格実績はLINEではつくれない。つくれるのは、接点と、体験・入会までの流れ。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0">
                <a:solidFill>
                  <a:srgbClr val="333333"/>
                </a:solidFill>
                <a:latin typeface="メイリオ"/>
                <a:ea typeface="メイリオ"/>
                <a:cs typeface="メイリオ"/>
              </a:rPr>
              <a:t>電話も来店もなしで、コースと料金の資料が届く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0">
                <a:solidFill>
                  <a:srgbClr val="333333"/>
                </a:solidFill>
                <a:latin typeface="メイリオ"/>
                <a:ea typeface="メイリオ"/>
                <a:cs typeface="メイリオ"/>
              </a:rPr>
              <a:t>日時・持ち物・変更方法を前日に届けて、来てもらう</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0">
                <a:solidFill>
                  <a:srgbClr val="7F7F7F"/>
                </a:solidFill>
                <a:latin typeface="メイリオ"/>
                <a:ea typeface="メイリオ"/>
                <a:cs typeface="メイリオ"/>
              </a:rPr>
              <a:t>LINEではできないこと：授業の質を上げる／合格実績をつくる／講師を採用・育成する</a:t>
            </a:r>
          </a:p>
        </p:txBody>
      </p:sp>
    </p:spTree>
    <p:extLst>
      <p:ext uri="{BB962C8B-B14F-4D97-AF65-F5344CB8AC3E}">
        <p14:creationId xmlns:p14="http://schemas.microsoft.com/office/powerpoint/2010/main" val="466478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すぐ答えられることは自動で、相談ごとは人が答える。押してほしいボタンは右下に置く。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75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20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25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1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20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25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1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20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25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1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300" b="1">
                <a:solidFill>
                  <a:srgbClr val="333333"/>
                </a:solidFill>
                <a:latin typeface="メイリオ"/>
                <a:ea typeface="メイリオ"/>
                <a:cs typeface="メイリオ"/>
              </a:rPr>
              <a:t>すぐ答える仕組みが、</a:t>
            </a:r>
          </a:p>
          <a:p>
            <a:pPr algn="ctr"/>
            <a:r>
              <a:rPr sz="13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r"/>
            <a:r>
              <a:rPr sz="1200" b="1">
                <a:solidFill>
                  <a:srgbClr val="FFFFFF"/>
                </a:solidFill>
                <a:latin typeface="メイリオ"/>
                <a:ea typeface="メイリオ"/>
                <a:cs typeface="メイリオ"/>
              </a:rPr>
              <a:t>28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資料請求（CV①）と体験予約（CV②）を取る。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750" b="0">
                <a:solidFill>
                  <a:srgbClr val="7F7F7F"/>
                </a:solidFill>
                <a:latin typeface="メイリオ"/>
                <a:ea typeface="メイリオ"/>
                <a:cs typeface="メイリオ"/>
              </a:rPr>
              <a:t>※1教室あたりのモデル値（例）。開封率・クリック率＝DYM SIMの係数（ステップ配信 72.5%×12%／企画配信 78%×10%）。CVR＝0.3〜1.0%。件数は小数点第1位まで</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l"/>
            <a:r>
              <a:rPr sz="1200" b="1">
                <a:solidFill>
                  <a:srgbClr val="FFFFFF"/>
                </a:solidFill>
                <a:latin typeface="メイリオ"/>
                <a:ea typeface="メイリオ"/>
                <a:cs typeface="メイリオ"/>
              </a:rPr>
              <a:t>[ステップ配信]　友だち追加から14日間・自動（新しい友だち 月250人）</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7F7F7F"/>
                </a:solidFill>
                <a:latin typeface="メイリオ"/>
                <a:ea typeface="メイリオ"/>
                <a:cs typeface="メイリオ"/>
              </a:rPr>
              <a:t>CVは狙わない</a:t>
            </a:r>
          </a:p>
          <a:p>
            <a:pPr algn="ctr"/>
            <a:r>
              <a:rPr sz="950" b="0">
                <a:solidFill>
                  <a:srgbClr val="7F7F7F"/>
                </a:solidFill>
                <a:latin typeface="メイリオ"/>
                <a:ea typeface="メイリオ"/>
                <a:cs typeface="メイリオ"/>
              </a:rPr>
              <a:t>信頼づくり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資料未請求の人</a:t>
            </a:r>
          </a:p>
          <a:p>
            <a:pPr algn="l"/>
            <a:r>
              <a:rPr sz="950" b="0">
                <a:solidFill>
                  <a:srgbClr val="7F7F7F"/>
                </a:solidFill>
                <a:latin typeface="メイリオ"/>
                <a:ea typeface="メイリオ"/>
                <a:cs typeface="メイリオ"/>
              </a:rPr>
              <a:t>約250人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体験未予約の人</a:t>
            </a:r>
          </a:p>
          <a:p>
            <a:pPr algn="l"/>
            <a:r>
              <a:rPr sz="950" b="0">
                <a:solidFill>
                  <a:srgbClr val="7F7F7F"/>
                </a:solidFill>
                <a:latin typeface="メイリオ"/>
                <a:ea typeface="メイリオ"/>
                <a:cs typeface="メイリオ"/>
              </a:rPr>
              <a:t>約250人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l"/>
            <a:r>
              <a:rPr sz="1200" b="1">
                <a:solidFill>
                  <a:srgbClr val="FFFFFF"/>
                </a:solidFill>
                <a:latin typeface="メイリオ"/>
                <a:ea typeface="メイリオ"/>
                <a:cs typeface="メイリオ"/>
              </a:rPr>
              <a:t>[企画配信]　月1〜2本（友だち 累計約1,000人・ブロックを除いて約680人）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FFFFFF"/>
                </a:solidFill>
                <a:latin typeface="メイリオ"/>
                <a:ea typeface="メイリオ"/>
                <a:cs typeface="メイリオ"/>
              </a:rPr>
              <a:t>0.1件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資料を請求した人</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至らなかった人</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5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333333"/>
                </a:solidFill>
                <a:latin typeface="メイリオ"/>
                <a:ea typeface="メイリオ"/>
                <a:cs typeface="メイリオ"/>
              </a:rPr>
              <a:t>1教室あたり月に 資料請求 約0.5件・体験予約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r"/>
            <a:r>
              <a:rPr sz="1200" b="1">
                <a:solidFill>
                  <a:srgbClr val="FFFFFF"/>
                </a:solidFill>
                <a:latin typeface="メイリオ"/>
                <a:ea typeface="メイリオ"/>
                <a:cs typeface="メイリオ"/>
              </a:rPr>
              <a:t>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どこで、何を訴求して、LINEの友だちになってもらうか。1教室あたり月250人を置いた。</a:t>
            </a:r>
          </a:p>
          <a:p>
            <a:pPr algn="l">
              <a:lnSpc>
                <a:spcPct val="128000"/>
              </a:lnSpc>
            </a:pPr>
            <a:r>
              <a:rPr sz="1200">
                <a:solidFill>
                  <a:srgbClr val="333333"/>
                </a:solidFill>
                <a:latin typeface="メイリオ"/>
                <a:ea typeface="メイリオ"/>
                <a:cs typeface="メイリオ"/>
              </a:rPr>
              <a:t>一番大きいのは、サイトから帰ろうとする保護者を拾う離脱防止ポップアップ。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 rIns="10800" tIns="28800" bIns="28800"/>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1">
                <a:solidFill>
                  <a:srgbClr val="333333"/>
                </a:solidFill>
                <a:latin typeface="メイリオ"/>
                <a:ea typeface="メイリオ"/>
                <a:cs typeface="メイリオ"/>
              </a:rPr>
              <a:t>00 離脱防止</a:t>
            </a:r>
          </a:p>
          <a:p>
            <a:pPr algn="l"/>
            <a:r>
              <a:rPr sz="110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0">
                <a:solidFill>
                  <a:srgbClr val="333333"/>
                </a:solidFill>
                <a:latin typeface="メイリオ"/>
                <a:ea typeface="メイリオ"/>
                <a:cs typeface="メイリオ"/>
              </a:rPr>
              <a:t>「まだ決めなくて大丈夫です」</a:t>
            </a:r>
          </a:p>
          <a:p>
            <a:pPr algn="l"/>
            <a:r>
              <a:rPr sz="110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4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1">
                <a:solidFill>
                  <a:srgbClr val="333333"/>
                </a:solidFill>
                <a:latin typeface="メイリオ"/>
                <a:ea typeface="メイリオ"/>
                <a:cs typeface="メイリオ"/>
              </a:rPr>
              <a:t>01 完了画面</a:t>
            </a:r>
          </a:p>
          <a:p>
            <a:pPr algn="l"/>
            <a:r>
              <a:rPr sz="110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0">
                <a:solidFill>
                  <a:srgbClr val="333333"/>
                </a:solidFill>
                <a:latin typeface="メイリオ"/>
                <a:ea typeface="メイリオ"/>
                <a:cs typeface="メイリオ"/>
              </a:rPr>
              <a:t>資料請求・体験予約の完了画面で</a:t>
            </a:r>
          </a:p>
          <a:p>
            <a:pPr algn="l"/>
            <a:r>
              <a:rPr sz="110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4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5万円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10万円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1">
                <a:solidFill>
                  <a:srgbClr val="333333"/>
                </a:solidFill>
                <a:latin typeface="メイリオ"/>
                <a:ea typeface="メイリオ"/>
                <a:cs typeface="メイリオ"/>
              </a:rPr>
              <a:t>02 チラシ・</a:t>
            </a:r>
          </a:p>
          <a:p>
            <a:pPr algn="l"/>
            <a:r>
              <a:rPr sz="110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l"/>
            <a:r>
              <a:rPr sz="1250" b="0">
                <a:solidFill>
                  <a:srgbClr val="333333"/>
                </a:solidFill>
                <a:latin typeface="メイリオ"/>
                <a:ea typeface="メイリオ"/>
                <a:cs typeface="メイリオ"/>
              </a:rPr>
              <a:t>LINE限定</a:t>
            </a:r>
          </a:p>
          <a:p>
            <a:pPr algn="l"/>
            <a:r>
              <a:rPr sz="110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4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28800" bIns="28800"/>
          <a:lstStyle/>
          <a:p>
            <a:pPr algn="ctr"/>
            <a:r>
              <a:rPr sz="125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QRから受け取る</a:t>
            </a:r>
          </a:p>
        </p:txBody>
      </p:sp>
    </p:spTree>
    <p:extLst>
      <p:ext uri="{BB962C8B-B14F-4D97-AF65-F5344CB8AC3E}">
        <p14:creationId xmlns:p14="http://schemas.microsoft.com/office/powerpoint/2010/main" val="268777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検索の山の前から、LINEでつながっておく。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出典｜Googleトレンド（日本・2026年年初来・週次）_data/trends/教育塾/ ※相対値。スケールの違うKWは別のグラフにしている</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5"/>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6"/>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7"/>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7" name="Rectangle 36"/>
          <p:cNvSpPr/>
          <p:nvPr/>
        </p:nvSpPr>
        <p:spPr>
          <a:xfrm>
            <a:off x="5148000" y="3420000"/>
            <a:ext cx="4212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読み取れること</a:t>
            </a:r>
          </a:p>
          <a:p>
            <a:pPr algn="l"/>
            <a:r>
              <a:rPr sz="1050" b="0">
                <a:solidFill>
                  <a:srgbClr val="333333"/>
                </a:solidFill>
                <a:latin typeface="メイリオ"/>
                <a:ea typeface="メイリオ"/>
                <a:cs typeface="メイリオ"/>
              </a:rPr>
              <a:t>・「塾」は2月上旬が山。ただし年間を通して大きくは落ちない</a:t>
            </a:r>
          </a:p>
          <a:p>
            <a:pPr algn="l"/>
            <a:r>
              <a:rPr sz="1050" b="0">
                <a:solidFill>
                  <a:srgbClr val="333333"/>
                </a:solidFill>
                <a:latin typeface="メイリオ"/>
                <a:ea typeface="メイリオ"/>
                <a:cs typeface="メイリオ"/>
              </a:rPr>
              <a:t>・講習は夏が圧倒的。冬期・春期の3〜5倍</a:t>
            </a:r>
          </a:p>
          <a:p>
            <a:pPr algn="l"/>
            <a:r>
              <a:rPr sz="1050" b="0">
                <a:solidFill>
                  <a:srgbClr val="333333"/>
                </a:solidFill>
                <a:latin typeface="メイリオ"/>
                <a:ea typeface="メイリオ"/>
                <a:cs typeface="メイリオ"/>
              </a:rPr>
              <a:t>・受験の検索は1月中旬〜2月上旬に集中</a:t>
            </a:r>
          </a:p>
          <a:p>
            <a:pPr algn="l"/>
            <a:r>
              <a:rPr sz="1050" b="1">
                <a:solidFill>
                  <a:srgbClr val="1F285A"/>
                </a:solidFill>
                <a:latin typeface="メイリオ"/>
                <a:ea typeface="メイリオ"/>
                <a:cs typeface="メイリオ"/>
              </a:rPr>
              <a:t>→ 山の時期だけ広告を増やすより、</a:t>
            </a:r>
          </a:p>
          <a:p>
            <a:pPr algn="l"/>
            <a:r>
              <a:rPr sz="1050" b="1">
                <a:solidFill>
                  <a:srgbClr val="1F285A"/>
                </a:solidFill>
                <a:latin typeface="メイリオ"/>
                <a:ea typeface="メイリオ"/>
                <a:cs typeface="メイリオ"/>
              </a:rPr>
              <a:t>　 山の前からLINEで接点を持っておく</a:t>
            </a: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300" b="1">
                <a:solidFill>
                  <a:srgbClr val="FFFFFF"/>
                </a:solidFill>
                <a:latin typeface="メイリオ"/>
                <a:ea typeface="メイリオ"/>
                <a:cs typeface="メイリオ"/>
              </a:rPr>
              <a:t>検索の山の前から、LINEでつながっておく。</a:t>
            </a:r>
          </a:p>
        </p:txBody>
      </p:sp>
    </p:spTree>
    <p:extLst>
      <p:ext uri="{BB962C8B-B14F-4D97-AF65-F5344CB8AC3E}">
        <p14:creationId xmlns:p14="http://schemas.microsoft.com/office/powerpoint/2010/main" val="65386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前後検索｜検索の流れ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保護者は、塾の名前を調べる前に何を調べているか。</a:t>
            </a:r>
          </a:p>
          <a:p>
            <a:pPr algn="l">
              <a:lnSpc>
                <a:spcPct val="128000"/>
              </a:lnSpc>
            </a:pPr>
            <a:r>
              <a:rPr sz="1200">
                <a:solidFill>
                  <a:srgbClr val="333333"/>
                </a:solidFill>
                <a:latin typeface="メイリオ"/>
                <a:ea typeface="メイリオ"/>
                <a:cs typeface="メイリオ"/>
              </a:rPr>
              <a:t>最初に調べること → 迷っているときに調べること → 塾の名前、の順に並べる。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出典｜LINEヤフー 前後検索（直近1年）起点KW：塾／個別指導／体験授業／高校受験 ※「塾」の結果から「熟」の語（熟年・熟語など）は除外</a:t>
            </a:r>
          </a:p>
        </p:txBody>
      </p:sp>
      <p:sp>
        <p:nvSpPr>
          <p:cNvPr id="29" name="Pentagon 28"/>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0" name="Chevron 29"/>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1" name="Chevron 30"/>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32" name="Chevron 31"/>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33" name="Chevron 32"/>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34" name="Chevron 33"/>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5" name="Chevron 34"/>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6" name="Chevron 35"/>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7" name="Rounded Rectangle 36"/>
          <p:cNvSpPr/>
          <p:nvPr/>
        </p:nvSpPr>
        <p:spPr>
          <a:xfrm>
            <a:off x="432000" y="1494000"/>
            <a:ext cx="29088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最初に調べること</a:t>
            </a:r>
          </a:p>
        </p:txBody>
      </p:sp>
      <p:sp>
        <p:nvSpPr>
          <p:cNvPr id="38" name="Rounded Rectangle 37"/>
          <p:cNvSpPr/>
          <p:nvPr/>
        </p:nvSpPr>
        <p:spPr>
          <a:xfrm>
            <a:off x="432000" y="1800000"/>
            <a:ext cx="2908800" cy="262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【データ待ち】前後検索</a:t>
            </a:r>
          </a:p>
          <a:p>
            <a:pPr algn="ctr"/>
            <a:r>
              <a:rPr sz="900" b="0">
                <a:solidFill>
                  <a:srgbClr val="7F7F7F"/>
                </a:solidFill>
                <a:latin typeface="メイリオ"/>
                <a:ea typeface="メイリオ"/>
                <a:cs typeface="メイリオ"/>
              </a:rPr>
              <a:t>クエリを時系列で並べ、4色で色分けする</a:t>
            </a:r>
          </a:p>
        </p:txBody>
      </p:sp>
      <p:cxnSp>
        <p:nvCxnSpPr>
          <p:cNvPr id="39" name="Connector 38"/>
          <p:cNvCxnSpPr/>
          <p:nvPr/>
        </p:nvCxnSpPr>
        <p:spPr>
          <a:xfrm>
            <a:off x="3355199" y="3096000"/>
            <a:ext cx="1296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499199" y="1494000"/>
            <a:ext cx="2908800" cy="251999"/>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迷っているときに調べること</a:t>
            </a:r>
          </a:p>
        </p:txBody>
      </p:sp>
      <p:sp>
        <p:nvSpPr>
          <p:cNvPr id="41" name="Rounded Rectangle 40"/>
          <p:cNvSpPr/>
          <p:nvPr/>
        </p:nvSpPr>
        <p:spPr>
          <a:xfrm>
            <a:off x="3499199" y="1800000"/>
            <a:ext cx="2908800" cy="262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【データ待ち】前後検索</a:t>
            </a:r>
          </a:p>
          <a:p>
            <a:pPr algn="ctr"/>
            <a:r>
              <a:rPr sz="900" b="0">
                <a:solidFill>
                  <a:srgbClr val="7F7F7F"/>
                </a:solidFill>
                <a:latin typeface="メイリオ"/>
                <a:ea typeface="メイリオ"/>
                <a:cs typeface="メイリオ"/>
              </a:rPr>
              <a:t>クエリを時系列で並べ、4色で色分けする</a:t>
            </a:r>
          </a:p>
        </p:txBody>
      </p:sp>
      <p:cxnSp>
        <p:nvCxnSpPr>
          <p:cNvPr id="42" name="Connector 41"/>
          <p:cNvCxnSpPr/>
          <p:nvPr/>
        </p:nvCxnSpPr>
        <p:spPr>
          <a:xfrm>
            <a:off x="6422399" y="3096000"/>
            <a:ext cx="1296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566399" y="1494000"/>
            <a:ext cx="2908800" cy="251999"/>
          </a:xfrm>
          <a:prstGeom prst="roundRect">
            <a:avLst>
              <a:gd name="adj" fmla="val 20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塾の名前を調べる</a:t>
            </a:r>
          </a:p>
        </p:txBody>
      </p:sp>
      <p:sp>
        <p:nvSpPr>
          <p:cNvPr id="44" name="Rounded Rectangle 43"/>
          <p:cNvSpPr/>
          <p:nvPr/>
        </p:nvSpPr>
        <p:spPr>
          <a:xfrm>
            <a:off x="6566399" y="1800000"/>
            <a:ext cx="2908800" cy="2628000"/>
          </a:xfrm>
          <a:prstGeom prst="roundRect">
            <a:avLst>
              <a:gd name="adj" fmla="val 8000"/>
            </a:avLst>
          </a:prstGeom>
          <a:solidFill>
            <a:srgbClr val="FFFBF5"/>
          </a:solidFill>
          <a:ln w="15875">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C55A11"/>
                </a:solidFill>
                <a:latin typeface="メイリオ"/>
                <a:ea typeface="メイリオ"/>
                <a:cs typeface="メイリオ"/>
              </a:rPr>
              <a:t>【データ待ち】前後検索</a:t>
            </a:r>
          </a:p>
          <a:p>
            <a:pPr algn="ctr"/>
            <a:r>
              <a:rPr sz="900" b="0">
                <a:solidFill>
                  <a:srgbClr val="7F7F7F"/>
                </a:solidFill>
                <a:latin typeface="メイリオ"/>
                <a:ea typeface="メイリオ"/>
                <a:cs typeface="メイリオ"/>
              </a:rPr>
              <a:t>クエリを時系列で並べ、4色で色分けする</a:t>
            </a:r>
          </a:p>
        </p:txBody>
      </p:sp>
      <p:sp>
        <p:nvSpPr>
          <p:cNvPr id="45" name="Rounded Rectangle 44"/>
          <p:cNvSpPr/>
          <p:nvPr/>
        </p:nvSpPr>
        <p:spPr>
          <a:xfrm>
            <a:off x="432000" y="4518000"/>
            <a:ext cx="1080000" cy="198000"/>
          </a:xfrm>
          <a:prstGeom prst="roundRect">
            <a:avLst>
              <a:gd name="adj" fmla="val 20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2B5797"/>
                </a:solidFill>
                <a:latin typeface="メイリオ"/>
                <a:ea typeface="メイリオ"/>
                <a:cs typeface="メイリオ"/>
              </a:rPr>
              <a:t>塾選び・形態</a:t>
            </a:r>
          </a:p>
        </p:txBody>
      </p:sp>
      <p:sp>
        <p:nvSpPr>
          <p:cNvPr id="46" name="Rounded Rectangle 45"/>
          <p:cNvSpPr/>
          <p:nvPr/>
        </p:nvSpPr>
        <p:spPr>
          <a:xfrm>
            <a:off x="1584000" y="4518000"/>
            <a:ext cx="1080000" cy="198000"/>
          </a:xfrm>
          <a:prstGeom prst="roundRect">
            <a:avLst>
              <a:gd name="adj" fmla="val 20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7440A8"/>
                </a:solidFill>
                <a:latin typeface="メイリオ"/>
                <a:ea typeface="メイリオ"/>
                <a:cs typeface="メイリオ"/>
              </a:rPr>
              <a:t>費用</a:t>
            </a:r>
          </a:p>
        </p:txBody>
      </p:sp>
      <p:sp>
        <p:nvSpPr>
          <p:cNvPr id="47" name="Rounded Rectangle 46"/>
          <p:cNvSpPr/>
          <p:nvPr/>
        </p:nvSpPr>
        <p:spPr>
          <a:xfrm>
            <a:off x="2736000" y="4518000"/>
            <a:ext cx="1080000" cy="198000"/>
          </a:xfrm>
          <a:prstGeom prst="roundRect">
            <a:avLst>
              <a:gd name="adj" fmla="val 20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C0561A"/>
                </a:solidFill>
                <a:latin typeface="メイリオ"/>
                <a:ea typeface="メイリオ"/>
                <a:cs typeface="メイリオ"/>
              </a:rPr>
              <a:t>悩み・時期</a:t>
            </a:r>
          </a:p>
        </p:txBody>
      </p:sp>
      <p:sp>
        <p:nvSpPr>
          <p:cNvPr id="48" name="Rounded Rectangle 47"/>
          <p:cNvSpPr/>
          <p:nvPr/>
        </p:nvSpPr>
        <p:spPr>
          <a:xfrm>
            <a:off x="3888000" y="4518000"/>
            <a:ext cx="1080000" cy="198000"/>
          </a:xfrm>
          <a:prstGeom prst="roundRect">
            <a:avLst>
              <a:gd name="adj" fmla="val 20000"/>
            </a:avLst>
          </a:prstGeom>
          <a:solidFill>
            <a:srgbClr val="CC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00796B"/>
                </a:solidFill>
                <a:latin typeface="メイリオ"/>
                <a:ea typeface="メイリオ"/>
                <a:cs typeface="メイリオ"/>
              </a:rPr>
              <a:t>塾名・口コミ</a:t>
            </a:r>
          </a:p>
        </p:txBody>
      </p:sp>
      <p:sp>
        <p:nvSpPr>
          <p:cNvPr id="49" name="Rectangle 48"/>
          <p:cNvSpPr/>
          <p:nvPr/>
        </p:nvSpPr>
        <p:spPr>
          <a:xfrm>
            <a:off x="5112000" y="4518000"/>
            <a:ext cx="4356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900" b="0">
                <a:solidFill>
                  <a:srgbClr val="7F7F7F"/>
                </a:solidFill>
                <a:latin typeface="メイリオ"/>
                <a:ea typeface="メイリオ"/>
                <a:cs typeface="メイリオ"/>
              </a:rPr>
              <a:t>色分けは仮。データが届いたらクエリに合わせて決める</a:t>
            </a:r>
          </a:p>
        </p:txBody>
      </p:sp>
      <p:sp>
        <p:nvSpPr>
          <p:cNvPr id="50" name="Rounded Rectangle 49"/>
          <p:cNvSpPr/>
          <p:nvPr/>
        </p:nvSpPr>
        <p:spPr>
          <a:xfrm>
            <a:off x="432000" y="4860000"/>
            <a:ext cx="9043200" cy="57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300" b="1">
                <a:solidFill>
                  <a:srgbClr val="FFFFFF"/>
                </a:solidFill>
                <a:latin typeface="メイリオ"/>
                <a:ea typeface="メイリオ"/>
                <a:cs typeface="メイリオ"/>
              </a:rPr>
              <a:t>塾の名前が出てくる前に、保護者はもう調べ始めている。</a:t>
            </a:r>
          </a:p>
          <a:p>
            <a:pPr algn="ctr"/>
            <a:r>
              <a:rPr sz="1100" b="0">
                <a:solidFill>
                  <a:srgbClr val="FFFFFF"/>
                </a:solidFill>
                <a:latin typeface="メイリオ"/>
                <a:ea typeface="メイリオ"/>
                <a:cs typeface="メイリオ"/>
              </a:rPr>
              <a:t>その間、塾と保護者の接点はない。（データが届いたら確定）</a:t>
            </a:r>
          </a:p>
        </p:txBody>
      </p:sp>
    </p:spTree>
    <p:extLst>
      <p:ext uri="{BB962C8B-B14F-4D97-AF65-F5344CB8AC3E}">
        <p14:creationId xmlns:p14="http://schemas.microsoft.com/office/powerpoint/2010/main" val="3112803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0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2024）2026-09-25取得。「確認できず」＝公開情報で確認できなかったもの。★競合の実名掲載は上司確認</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850" b="1">
                <a:solidFill>
                  <a:srgbClr val="7F7F7F"/>
                </a:solidFill>
                <a:latin typeface="メイリオ"/>
                <a:ea typeface="メイリオ"/>
                <a:cs typeface="メイリオ"/>
              </a:rPr>
              <a:t>大手</a:t>
            </a:r>
          </a:p>
          <a:p>
            <a:pPr algn="ctr"/>
            <a:r>
              <a:rPr sz="105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333333"/>
                </a:solidFill>
                <a:latin typeface="メイリオ"/>
                <a:ea typeface="メイリオ"/>
                <a:cs typeface="メイリオ"/>
              </a:rPr>
              <a:t>明光義塾</a:t>
            </a:r>
          </a:p>
          <a:p>
            <a:pPr algn="ctr"/>
            <a:r>
              <a:rPr sz="8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00897B"/>
                </a:solidFill>
                <a:latin typeface="メイリオ"/>
                <a:ea typeface="メイリオ"/>
                <a:cs typeface="メイリオ"/>
              </a:rPr>
              <a:t>あり（多数）</a:t>
            </a:r>
          </a:p>
          <a:p>
            <a:pPr algn="ctr"/>
            <a:r>
              <a:rPr sz="85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00897B"/>
                </a:solidFill>
                <a:latin typeface="メイリオ"/>
                <a:ea typeface="メイリオ"/>
                <a:cs typeface="メイリオ"/>
              </a:rPr>
              <a:t>あり</a:t>
            </a:r>
          </a:p>
          <a:p>
            <a:pPr algn="ctr"/>
            <a:r>
              <a:rPr sz="85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（教室は電話・Web・LINEで予約）</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00897B"/>
                </a:solidFill>
                <a:latin typeface="メイリオ"/>
                <a:ea typeface="メイリオ"/>
                <a:cs typeface="メイリオ"/>
              </a:rPr>
              <a:t>あり</a:t>
            </a:r>
          </a:p>
          <a:p>
            <a:pPr algn="ctr"/>
            <a:r>
              <a:rPr sz="85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850" b="1">
                <a:solidFill>
                  <a:srgbClr val="7F7F7F"/>
                </a:solidFill>
                <a:latin typeface="メイリオ"/>
                <a:ea typeface="メイリオ"/>
                <a:cs typeface="メイリオ"/>
              </a:rPr>
              <a:t>大手</a:t>
            </a:r>
          </a:p>
          <a:p>
            <a:pPr algn="ctr"/>
            <a:r>
              <a:rPr sz="105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333333"/>
                </a:solidFill>
                <a:latin typeface="メイリオ"/>
                <a:ea typeface="メイリオ"/>
                <a:cs typeface="メイリオ"/>
              </a:rPr>
              <a:t>トライさん</a:t>
            </a:r>
          </a:p>
          <a:p>
            <a:pPr algn="ctr"/>
            <a:r>
              <a:rPr sz="8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333333"/>
                </a:solidFill>
                <a:latin typeface="メイリオ"/>
                <a:ea typeface="メイリオ"/>
                <a:cs typeface="メイリオ"/>
              </a:rPr>
              <a:t>生徒</a:t>
            </a:r>
          </a:p>
          <a:p>
            <a:pPr algn="ctr"/>
            <a:r>
              <a:rPr sz="85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333333"/>
                </a:solidFill>
                <a:latin typeface="メイリオ"/>
                <a:ea typeface="メイリオ"/>
                <a:cs typeface="メイリオ"/>
              </a:rPr>
              <a:t>Webの性格診断あり</a:t>
            </a:r>
          </a:p>
          <a:p>
            <a:pPr algn="ctr"/>
            <a:r>
              <a:rPr sz="85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00897B"/>
                </a:solidFill>
                <a:latin typeface="メイリオ"/>
                <a:ea typeface="メイリオ"/>
                <a:cs typeface="メイリオ"/>
              </a:rPr>
              <a:t>あり</a:t>
            </a:r>
          </a:p>
          <a:p>
            <a:pPr algn="ctr"/>
            <a:r>
              <a:rPr sz="85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850" b="1">
                <a:solidFill>
                  <a:srgbClr val="7F7F7F"/>
                </a:solidFill>
                <a:latin typeface="メイリオ"/>
                <a:ea typeface="メイリオ"/>
                <a:cs typeface="メイリオ"/>
              </a:rPr>
              <a:t>中堅</a:t>
            </a:r>
          </a:p>
          <a:p>
            <a:pPr algn="ctr"/>
            <a:r>
              <a:rPr sz="105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333333"/>
                </a:solidFill>
                <a:latin typeface="メイリオ"/>
                <a:ea typeface="メイリオ"/>
                <a:cs typeface="メイリオ"/>
              </a:rPr>
              <a:t>運営会社名義</a:t>
            </a:r>
          </a:p>
          <a:p>
            <a:pPr algn="ctr"/>
            <a:r>
              <a:rPr sz="850" b="0">
                <a:solidFill>
                  <a:srgbClr val="333333"/>
                </a:solidFill>
                <a:latin typeface="メイリオ"/>
                <a:ea typeface="メイリオ"/>
                <a:cs typeface="メイリオ"/>
              </a:rPr>
              <a:t>（スプリックス）</a:t>
            </a:r>
          </a:p>
          <a:p>
            <a:pPr algn="ctr"/>
            <a:r>
              <a:rPr sz="8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850" b="1">
                <a:solidFill>
                  <a:srgbClr val="7F7F7F"/>
                </a:solidFill>
                <a:latin typeface="メイリオ"/>
                <a:ea typeface="メイリオ"/>
                <a:cs typeface="メイリオ"/>
              </a:rPr>
              <a:t>中堅</a:t>
            </a:r>
          </a:p>
          <a:p>
            <a:pPr algn="ctr"/>
            <a:r>
              <a:rPr sz="105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9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1050" b="1">
                <a:solidFill>
                  <a:srgbClr val="1F285A"/>
                </a:solidFill>
                <a:latin typeface="メイリオ"/>
                <a:ea typeface="メイリオ"/>
                <a:cs typeface="メイリオ"/>
              </a:rPr>
              <a:t>明光義塾はLINEで成果を出している（LINEヤフー公式事例）</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a:t>
            </a:r>
          </a:p>
        </p:txBody>
      </p:sp>
      <p:sp>
        <p:nvSpPr>
          <p:cNvPr id="103" name="Rounded Rectangle 102"/>
          <p:cNvSpPr/>
          <p:nvPr/>
        </p:nvSpPr>
        <p:spPr>
          <a:xfrm>
            <a:off x="5047200" y="4788000"/>
            <a:ext cx="4428000" cy="990000"/>
          </a:xfrm>
          <a:prstGeom prst="roundRect">
            <a:avLst>
              <a:gd name="adj" fmla="val 8000"/>
            </a:avLst>
          </a:prstGeom>
          <a:solidFill>
            <a:srgbClr val="FFF2CC"/>
          </a:solidFill>
          <a:ln w="12700">
            <a:solidFill>
              <a:srgbClr val="E0C36A"/>
            </a:solid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1050" b="1">
                <a:solidFill>
                  <a:srgbClr val="333333"/>
                </a:solidFill>
                <a:latin typeface="メイリオ"/>
                <a:ea typeface="メイリオ"/>
                <a:cs typeface="メイリオ"/>
              </a:rPr>
              <a:t>空いているところ</a:t>
            </a:r>
          </a:p>
          <a:p>
            <a:pPr algn="l"/>
            <a:r>
              <a:rPr sz="950" b="0">
                <a:solidFill>
                  <a:srgbClr val="333333"/>
                </a:solidFill>
                <a:latin typeface="メイリオ"/>
                <a:ea typeface="メイリオ"/>
                <a:cs typeface="メイリオ"/>
              </a:rPr>
              <a:t>・保護者向けに「診断 → 資料請求 → 体験予約」を</a:t>
            </a:r>
          </a:p>
          <a:p>
            <a:pPr algn="l"/>
            <a:r>
              <a:rPr sz="950" b="0">
                <a:solidFill>
                  <a:srgbClr val="333333"/>
                </a:solidFill>
                <a:latin typeface="メイリオ"/>
                <a:ea typeface="メイリオ"/>
                <a:cs typeface="メイリオ"/>
              </a:rPr>
              <a:t>　LINEの中でつないでいる塾は、確認できなかった</a:t>
            </a:r>
          </a:p>
          <a:p>
            <a:pPr algn="l"/>
            <a:r>
              <a:rPr sz="950" b="0">
                <a:solidFill>
                  <a:srgbClr val="333333"/>
                </a:solidFill>
                <a:latin typeface="メイリオ"/>
                <a:ea typeface="メイリオ"/>
                <a:cs typeface="メイリオ"/>
              </a:rPr>
              <a:t>・トライは生徒向け。森塾・ナビは公式サイトにLINEの導線がない</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FFFFFF"/>
                </a:solidFill>
                <a:latin typeface="メイリオ"/>
                <a:ea typeface="メイリオ"/>
                <a:cs typeface="メイリオ"/>
              </a:rPr>
              <a:t>保護者向けに、診断から資料請求・体験予約までをLINEでつなぐ。ここはまだ空いている。</a:t>
            </a:r>
          </a:p>
        </p:txBody>
      </p:sp>
    </p:spTree>
    <p:extLst>
      <p:ext uri="{BB962C8B-B14F-4D97-AF65-F5344CB8AC3E}">
        <p14:creationId xmlns:p14="http://schemas.microsoft.com/office/powerpoint/2010/main" val="406932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軽い申し込み（資料請求）で先につながり、体験予約、入会へ進んでもらう。</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入会は教室で行うため、LINEで計測するのは資料請求（CV①）と体験予約（CV②）の2つ。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広告・チラシ</a:t>
            </a:r>
          </a:p>
          <a:p>
            <a:pPr algn="ctr"/>
            <a:r>
              <a:rPr sz="1100" b="0">
                <a:solidFill>
                  <a:srgbClr val="333333"/>
                </a:solidFill>
                <a:latin typeface="メイリオ"/>
                <a:ea typeface="メイリオ"/>
                <a:cs typeface="メイリオ"/>
              </a:rPr>
              <a:t>・口コミ</a:t>
            </a: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帰る保護者を</a:t>
            </a:r>
          </a:p>
          <a:p>
            <a:pPr algn="ctr"/>
            <a:r>
              <a:rPr sz="11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比べている間</a:t>
            </a:r>
          </a:p>
          <a:p>
            <a:pPr algn="ctr"/>
            <a:r>
              <a:rPr sz="11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④リード獲得</a:t>
            </a: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30秒診断 →</a:t>
            </a:r>
          </a:p>
          <a:p>
            <a:pPr algn="ctr"/>
            <a:r>
              <a:rPr sz="11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⑤リード有効化</a:t>
            </a: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資料を読む人へ</a:t>
            </a:r>
          </a:p>
          <a:p>
            <a:pPr algn="ctr"/>
            <a:r>
              <a:rPr sz="1100" b="0">
                <a:solidFill>
                  <a:srgbClr val="333333"/>
                </a:solidFill>
                <a:latin typeface="メイリオ"/>
                <a:ea typeface="メイリオ"/>
                <a:cs typeface="メイリオ"/>
              </a:rPr>
              <a:t>追いの配信→体験予約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体験に来なかった・</a:t>
            </a:r>
          </a:p>
          <a:p>
            <a:pPr algn="ctr"/>
            <a:r>
              <a:rPr sz="1100" b="0">
                <a:solidFill>
                  <a:srgbClr val="333333"/>
                </a:solidFill>
                <a:latin typeface="メイリオ"/>
                <a:ea typeface="メイリオ"/>
                <a:cs typeface="メイリオ"/>
              </a:rPr>
              <a:t>入会しなかった人へ</a:t>
            </a: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28800" bIns="28800"/>
          <a:lstStyle/>
          <a:p>
            <a:pPr algn="ctr"/>
            <a:r>
              <a:rPr sz="950" b="1">
                <a:solidFill>
                  <a:srgbClr val="FFFFFF"/>
                </a:solidFill>
                <a:latin typeface="メイリオ"/>
                <a:ea typeface="メイリオ"/>
                <a:cs typeface="メイリオ"/>
              </a:rPr>
              <a:t>⑦入会（契約）</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1100" b="0">
                <a:solidFill>
                  <a:srgbClr val="333333"/>
                </a:solidFill>
                <a:latin typeface="メイリオ"/>
                <a:ea typeface="メイリオ"/>
                <a:cs typeface="メイリオ"/>
              </a:rPr>
              <a:t>教室で入会</a:t>
            </a:r>
          </a:p>
          <a:p>
            <a:pPr algn="ctr"/>
            <a:r>
              <a:rPr sz="11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000" b="1">
                <a:solidFill>
                  <a:srgbClr val="FFFFFF"/>
                </a:solidFill>
                <a:latin typeface="メイリオ"/>
                <a:ea typeface="メイリオ"/>
                <a:cs typeface="メイリオ"/>
              </a:rPr>
              <a:t>CV①</a:t>
            </a:r>
          </a:p>
          <a:p>
            <a:pPr algn="ctr"/>
            <a:r>
              <a:rPr sz="100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000" b="1">
                <a:solidFill>
                  <a:srgbClr val="FFFFFF"/>
                </a:solidFill>
                <a:latin typeface="メイリオ"/>
                <a:ea typeface="メイリオ"/>
                <a:cs typeface="メイリオ"/>
              </a:rPr>
              <a:t>CV②</a:t>
            </a:r>
          </a:p>
          <a:p>
            <a:pPr algn="ctr"/>
            <a:r>
              <a:rPr sz="100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2040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000" b="1">
                <a:solidFill>
                  <a:srgbClr val="FFFFFF"/>
                </a:solidFill>
                <a:latin typeface="メイリオ"/>
                <a:ea typeface="メイリオ"/>
                <a:cs typeface="メイリオ"/>
              </a:rPr>
              <a:t>入会</a:t>
            </a:r>
          </a:p>
          <a:p>
            <a:pPr algn="ctr"/>
            <a:r>
              <a:rPr sz="1000" b="1">
                <a:solidFill>
                  <a:srgbClr val="FFFFFF"/>
                </a:solidFill>
                <a:latin typeface="メイリオ"/>
                <a:ea typeface="メイリオ"/>
                <a:cs typeface="メイリオ"/>
              </a:rPr>
              <a:t>（契約）</a:t>
            </a:r>
          </a:p>
        </p:txBody>
      </p:sp>
      <p:sp>
        <p:nvSpPr>
          <p:cNvPr id="33" name="Rectangle 32"/>
          <p:cNvSpPr/>
          <p:nvPr/>
        </p:nvSpPr>
        <p:spPr>
          <a:xfrm>
            <a:off x="4218171" y="3643199"/>
            <a:ext cx="2768914"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850" b="1">
                <a:solidFill>
                  <a:srgbClr val="ED7D31"/>
                </a:solidFill>
                <a:latin typeface="メイリオ"/>
                <a:ea typeface="メイリオ"/>
                <a:cs typeface="メイリオ"/>
              </a:rPr>
              <a:t>↑ この間に「読んで・比べて・迷う」期間がある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300" b="1">
                <a:solidFill>
                  <a:srgbClr val="00897B"/>
                </a:solidFill>
                <a:latin typeface="メイリオ"/>
                <a:ea typeface="メイリオ"/>
                <a:cs typeface="メイリオ"/>
              </a:rPr>
              <a:t>CV① 資料請求（軽い）</a:t>
            </a:r>
          </a:p>
          <a:p>
            <a:pPr algn="l"/>
            <a:r>
              <a:rPr sz="1200" b="0">
                <a:solidFill>
                  <a:srgbClr val="333333"/>
                </a:solidFill>
                <a:latin typeface="メイリオ"/>
                <a:ea typeface="メイリオ"/>
                <a:cs typeface="メイリオ"/>
              </a:rPr>
              <a:t>・まだ決めていない保護者でも、気軽に申し込める</a:t>
            </a:r>
          </a:p>
          <a:p>
            <a:pPr algn="l"/>
            <a:r>
              <a:rPr sz="120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20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300" b="1">
                <a:solidFill>
                  <a:srgbClr val="00897B"/>
                </a:solidFill>
                <a:latin typeface="メイリオ"/>
                <a:ea typeface="メイリオ"/>
                <a:cs typeface="メイリオ"/>
              </a:rPr>
              <a:t>CV② 体験予約（重い）</a:t>
            </a:r>
          </a:p>
          <a:p>
            <a:pPr algn="l"/>
            <a:r>
              <a:rPr sz="1200" b="0">
                <a:solidFill>
                  <a:srgbClr val="333333"/>
                </a:solidFill>
                <a:latin typeface="メイリオ"/>
                <a:ea typeface="メイリオ"/>
                <a:cs typeface="メイリオ"/>
              </a:rPr>
              <a:t>・資料を読んで「合いそう」と思った保護者が進む</a:t>
            </a:r>
          </a:p>
          <a:p>
            <a:pPr algn="l"/>
            <a:r>
              <a:rPr sz="1200" b="0">
                <a:solidFill>
                  <a:srgbClr val="333333"/>
                </a:solidFill>
                <a:latin typeface="メイリオ"/>
                <a:ea typeface="メイリオ"/>
                <a:cs typeface="メイリオ"/>
              </a:rPr>
              <a:t>・体験に来てもらえれば、入会は教室で決まる</a:t>
            </a: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400" b="1">
                <a:solidFill>
                  <a:srgbClr val="FFFFFF"/>
                </a:solidFill>
                <a:latin typeface="メイリオ"/>
                <a:ea typeface="メイリオ"/>
                <a:cs typeface="メイリオ"/>
              </a:rPr>
              <a:t>いきなり体験を迫らず、資料請求 → 体験予約 → 入会の順に進んでもらう。</a:t>
            </a:r>
          </a:p>
        </p:txBody>
      </p:sp>
    </p:spTree>
    <p:extLst>
      <p:ext uri="{BB962C8B-B14F-4D97-AF65-F5344CB8AC3E}">
        <p14:creationId xmlns:p14="http://schemas.microsoft.com/office/powerpoint/2010/main" val="322507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初めの1〜2ヶ月でつくるのは、診断・リッチメニュー・14日間の配信。</a:t>
            </a:r>
          </a:p>
          <a:p>
            <a:pPr algn="l">
              <a:lnSpc>
                <a:spcPct val="128000"/>
              </a:lnSpc>
            </a:pPr>
            <a:r>
              <a:rPr sz="1200">
                <a:solidFill>
                  <a:srgbClr val="333333"/>
                </a:solidFill>
                <a:latin typeface="メイリオ"/>
                <a:ea typeface="メイリオ"/>
                <a:cs typeface="メイリオ"/>
              </a:rPr>
              <a:t>あとは毎月、企画配信と出し分け配信を回す。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初めにつくるもの（1〜2ヶ月）</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毎月まわすもの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作り込むのは、診断・リッチメニュー・14日間の配信の3つ。</a:t>
            </a:r>
          </a:p>
          <a:p>
            <a:pPr algn="ctr"/>
            <a:r>
              <a:rPr sz="1100" b="0">
                <a:solidFill>
                  <a:srgbClr val="333333"/>
                </a:solidFill>
                <a:latin typeface="メイリオ"/>
                <a:ea typeface="メイリオ"/>
                <a:cs typeface="メイリオ"/>
              </a:rPr>
              <a:t>ここが弱いと、あとの配信が全部弱くなる。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900" b="0">
                <a:solidFill>
                  <a:srgbClr val="7F7F7F"/>
                </a:solidFill>
                <a:latin typeface="メイリオ"/>
                <a:ea typeface="メイリオ"/>
                <a:cs typeface="メイリオ"/>
              </a:rPr>
              <a:t>右の丸は、8フェーズのどこに効くか（番号）</a:t>
            </a:r>
          </a:p>
        </p:txBody>
      </p:sp>
    </p:spTree>
    <p:extLst>
      <p:ext uri="{BB962C8B-B14F-4D97-AF65-F5344CB8AC3E}">
        <p14:creationId xmlns:p14="http://schemas.microsoft.com/office/powerpoint/2010/main" val="4224870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P6〜P10のデータを、すべきことに置き換える。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塾名を調べる前の保護者と先につながり、申し込む前に「合う・合わない」を見せる。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広告で取れているのは指名検索だけ（P6）</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E0C36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塾名を調べる前から、保護者は調べ始めている（P9）</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E0C36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一番の悩みは「うちの子に合うか分からない」63.5%（P8）</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E0C36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333333"/>
                </a:solidFill>
                <a:latin typeface="メイリオ"/>
                <a:ea typeface="メイリオ"/>
                <a:cs typeface="メイリオ"/>
              </a:rPr>
              <a:t>申し込む前に「合う・合わない」を見せる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検索の山は2月と7月（P10）</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E0C36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333333"/>
                </a:solidFill>
                <a:latin typeface="メイリオ"/>
                <a:ea typeface="メイリオ"/>
                <a:cs typeface="メイリオ"/>
              </a:rPr>
              <a:t>山の前から接点を持っておく</a:t>
            </a: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333333"/>
                </a:solidFill>
                <a:latin typeface="メイリオ"/>
                <a:ea typeface="メイリオ"/>
                <a:cs typeface="メイリオ"/>
              </a:rPr>
              <a:t>診断と資料をきっかけにLINEの友だちになってもらい、比べている間ずっと情報を届ける。</a:t>
            </a:r>
          </a:p>
        </p:txBody>
      </p:sp>
    </p:spTree>
    <p:extLst>
      <p:ext uri="{BB962C8B-B14F-4D97-AF65-F5344CB8AC3E}">
        <p14:creationId xmlns:p14="http://schemas.microsoft.com/office/powerpoint/2010/main" val="1772806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決断を迫らず、「資料と診断を受け取るだけ」でつながる入口をつくる。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※ボタン文言の言い換えはDYM見解。離脱防止ポップアップはSitelead等（別途費用）</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サイトに来た保護者の多くは、名前を残さず帰る（P6）</a:t>
            </a:r>
          </a:p>
          <a:p>
            <a:pPr algn="l"/>
            <a:r>
              <a:rPr sz="1000" b="0">
                <a:solidFill>
                  <a:srgbClr val="333333"/>
                </a:solidFill>
                <a:latin typeface="メイリオ"/>
                <a:ea typeface="メイリオ"/>
                <a:cs typeface="メイリオ"/>
              </a:rPr>
              <a:t>一番の悩みは「合うか分からない」63.5%（P8）</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1" name="Rounded Rectangle 30"/>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サイトの離脱防止ポップアップ</a:t>
            </a:r>
          </a:p>
          <a:p>
            <a:pPr algn="l"/>
            <a:r>
              <a:rPr sz="1000" b="0">
                <a:solidFill>
                  <a:srgbClr val="333333"/>
                </a:solidFill>
                <a:latin typeface="メイリオ"/>
                <a:ea typeface="メイリオ"/>
                <a:cs typeface="メイリオ"/>
              </a:rPr>
              <a:t>帰ろうとした瞬間に表示。広告費を足さずにつながれる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チラシ・教室掲示のQR</a:t>
            </a:r>
          </a:p>
          <a:p>
            <a:pPr algn="l"/>
            <a:r>
              <a:rPr sz="1000" b="0">
                <a:solidFill>
                  <a:srgbClr val="333333"/>
                </a:solidFill>
                <a:latin typeface="メイリオ"/>
                <a:ea typeface="メイリオ"/>
                <a:cs typeface="メイリオ"/>
              </a:rPr>
              <a:t>今あるチラシにQRを1つ足すだけ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友だちからの紹介（入会前）</a:t>
            </a:r>
          </a:p>
          <a:p>
            <a:pPr algn="l"/>
            <a:r>
              <a:rPr sz="1000" b="0">
                <a:solidFill>
                  <a:srgbClr val="333333"/>
                </a:solidFill>
                <a:latin typeface="メイリオ"/>
                <a:ea typeface="メイリオ"/>
                <a:cs typeface="メイリオ"/>
              </a:rPr>
              <a:t>「一緒に体験しよう」をLINEで送ってもらう（P20）</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※お名前・お電話番号は不要です</a:t>
            </a:r>
          </a:p>
        </p:txBody>
      </p:sp>
    </p:spTree>
    <p:extLst>
      <p:ext uri="{BB962C8B-B14F-4D97-AF65-F5344CB8AC3E}">
        <p14:creationId xmlns:p14="http://schemas.microsoft.com/office/powerpoint/2010/main" val="4260980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最初の1通で安心できることを先に伝え、診断へ進んでもらう。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文面の教室長名・対応時間・配信頻度は貴社の運用に合わせて差し替える</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友だち追加の直後は、</a:t>
            </a:r>
          </a:p>
          <a:p>
            <a:pPr algn="l"/>
            <a:r>
              <a:rPr sz="10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5" name="Rounded Rectangle 34"/>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安心できることを先に伝えて、</a:t>
            </a:r>
          </a:p>
          <a:p>
            <a:pPr algn="l"/>
            <a:r>
              <a:rPr sz="1000" b="0">
                <a:solidFill>
                  <a:srgbClr val="333333"/>
                </a:solidFill>
                <a:latin typeface="メイリオ"/>
                <a:ea typeface="メイリオ"/>
                <a:cs typeface="メイリオ"/>
              </a:rPr>
              <a:t>診断へ進んでもらう</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あいさつメッセージの</a:t>
            </a:r>
          </a:p>
          <a:p>
            <a:pPr algn="l"/>
            <a:r>
              <a:rPr sz="10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r>
              <a:rPr sz="800" b="0">
                <a:solidFill>
                  <a:srgbClr val="333333"/>
                </a:solidFill>
                <a:latin typeface="メイリオ"/>
                <a:ea typeface="メイリオ"/>
                <a:cs typeface="メイリオ"/>
              </a:rPr>
              <a:t/>
            </a: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r>
              <a:rPr sz="800" b="0">
                <a:solidFill>
                  <a:srgbClr val="333333"/>
                </a:solidFill>
                <a:latin typeface="メイリオ"/>
                <a:ea typeface="メイリオ"/>
                <a:cs typeface="メイリオ"/>
              </a:rPr>
              <a:t/>
            </a: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FFFFFF"/>
                </a:solidFill>
                <a:latin typeface="メイリオ"/>
                <a:ea typeface="メイリオ"/>
                <a:cs typeface="メイリオ"/>
              </a:rPr>
              <a:t>30秒診断をはじめる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申し込む前に「集団・個別・映像のどれが合うか」を見せて、納得してから体験へ。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※競合の診断（トライの性格別学習法診断など）はP12の調査結果を参照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5" name="Rounded Rectangle 44"/>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「合う・合わない」を見せる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同じ悩みだった子の変化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a:t>
            </a:r>
          </a:p>
        </p:txBody>
      </p:sp>
    </p:spTree>
    <p:extLst>
      <p:ext uri="{BB962C8B-B14F-4D97-AF65-F5344CB8AC3E}">
        <p14:creationId xmlns:p14="http://schemas.microsoft.com/office/powerpoint/2010/main" val="12511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一番押してほしい行動（無料体験・教室見学の予約）を右下に置く。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※体験予約済みの方には、タブ②（体験当日の流れ・アクセス・日程変更など）を出し分ける</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9" name="Rounded Rectangle 58"/>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一番押してほしい行動を、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1F285A"/>
                </a:solidFill>
                <a:latin typeface="メイリオ"/>
                <a:ea typeface="メイリオ"/>
                <a:cs typeface="メイリオ"/>
              </a:rPr>
              <a:t>30秒</a:t>
            </a:r>
          </a:p>
          <a:p>
            <a:pPr algn="ctr"/>
            <a:r>
              <a:rPr sz="8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1F285A"/>
                </a:solidFill>
                <a:latin typeface="メイリオ"/>
                <a:ea typeface="メイリオ"/>
                <a:cs typeface="メイリオ"/>
              </a:rPr>
              <a:t>教室・講師</a:t>
            </a:r>
          </a:p>
          <a:p>
            <a:pPr algn="ctr"/>
            <a:r>
              <a:rPr sz="8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1F285A"/>
                </a:solidFill>
                <a:latin typeface="メイリオ"/>
                <a:ea typeface="メイリオ"/>
                <a:cs typeface="メイリオ"/>
              </a:rPr>
              <a:t>資料を</a:t>
            </a:r>
          </a:p>
          <a:p>
            <a:pPr algn="ctr"/>
            <a:r>
              <a:rPr sz="8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1F285A"/>
                </a:solidFill>
                <a:latin typeface="メイリオ"/>
                <a:ea typeface="メイリオ"/>
                <a:cs typeface="メイリオ"/>
              </a:rPr>
              <a:t>友だちと</a:t>
            </a:r>
          </a:p>
          <a:p>
            <a:pPr algn="ctr"/>
            <a:r>
              <a:rPr sz="8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0">
                <a:solidFill>
                  <a:srgbClr val="333333"/>
                </a:solidFill>
                <a:latin typeface="メイリオ"/>
                <a:ea typeface="メイリオ"/>
                <a:cs typeface="メイリオ"/>
              </a:rPr>
              <a:t>📅</a:t>
            </a:r>
          </a:p>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50" b="0">
                <a:solidFill>
                  <a:srgbClr val="333333"/>
                </a:solidFill>
                <a:latin typeface="メイリオ"/>
                <a:ea typeface="メイリオ"/>
                <a:cs typeface="メイリオ"/>
              </a:rPr>
              <a:t>・右下：一番押してほしい行動。体験・見学の予約（CV②）</a:t>
            </a:r>
          </a:p>
          <a:p>
            <a:pPr algn="l"/>
            <a:r>
              <a:rPr sz="1050" b="0">
                <a:solidFill>
                  <a:srgbClr val="333333"/>
                </a:solidFill>
                <a:latin typeface="メイリオ"/>
                <a:ea typeface="メイリオ"/>
                <a:cs typeface="メイリオ"/>
              </a:rPr>
              <a:t>・左下：資料を受け取る（CV①）。体験はまだ早い保護者の受け皿</a:t>
            </a:r>
          </a:p>
          <a:p>
            <a:pPr algn="l"/>
            <a:r>
              <a:rPr sz="1050" b="0">
                <a:solidFill>
                  <a:srgbClr val="333333"/>
                </a:solidFill>
                <a:latin typeface="メイリオ"/>
                <a:ea typeface="メイリオ"/>
                <a:cs typeface="メイリオ"/>
              </a:rPr>
              <a:t>・上段：比べるときに見たい情報（診断・料金・教室）</a:t>
            </a:r>
          </a:p>
          <a:p>
            <a:pPr algn="l"/>
            <a:r>
              <a:rPr sz="105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Tree>
    <p:extLst>
      <p:ext uri="{BB962C8B-B14F-4D97-AF65-F5344CB8AC3E}">
        <p14:creationId xmlns:p14="http://schemas.microsoft.com/office/powerpoint/2010/main" val="2034270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同じ内容を全員に送ると、合わない人にはブロックされる。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同じ内容を全員に送ると、</a:t>
            </a:r>
          </a:p>
          <a:p>
            <a:pPr algn="l"/>
            <a:r>
              <a:rPr sz="1000" b="0">
                <a:solidFill>
                  <a:srgbClr val="333333"/>
                </a:solidFill>
                <a:latin typeface="メイリオ"/>
                <a:ea typeface="メイリオ"/>
                <a:cs typeface="メイリオ"/>
              </a:rPr>
              <a:t>合わない人にはブロックされる</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18" name="Rounded Rectangle 17"/>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保護者ごとに、</a:t>
            </a:r>
          </a:p>
          <a:p>
            <a:pPr algn="l"/>
            <a:r>
              <a:rPr sz="10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診断タグ＋行動タグで</a:t>
            </a:r>
          </a:p>
          <a:p>
            <a:pPr algn="l"/>
            <a:r>
              <a:rPr sz="10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0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「情報収集だけ」→ 売り込みは控えて週1の情報だけ</a:t>
            </a:r>
          </a:p>
        </p:txBody>
      </p:sp>
    </p:spTree>
    <p:extLst>
      <p:ext uri="{BB962C8B-B14F-4D97-AF65-F5344CB8AC3E}">
        <p14:creationId xmlns:p14="http://schemas.microsoft.com/office/powerpoint/2010/main" val="1335448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比べている間は、売り込みではなく役に立つ情報を届け、体験予約に進んでもらう。</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※保護者が比べている間に何を調べているかは、前後検索（取得中）で確定させ、配信の中身を合わせる</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（前後検索で確定させる）</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4" name="Rounded Rectangle 23"/>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売り込みより先に、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まだ予約していない人</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00897B"/>
                </a:solidFill>
                <a:latin typeface="メイリオ"/>
                <a:ea typeface="メイリオ"/>
                <a:cs typeface="メイリオ"/>
              </a:rPr>
              <a:t>体験予約した人</a:t>
            </a:r>
          </a:p>
          <a:p>
            <a:pPr algn="ctr"/>
            <a:r>
              <a:rPr sz="1050" b="0">
                <a:solidFill>
                  <a:srgbClr val="333333"/>
                </a:solidFill>
                <a:latin typeface="メイリオ"/>
                <a:ea typeface="メイリオ"/>
                <a:cs typeface="メイリオ"/>
              </a:rPr>
              <a:t>→ 前日リマインドへ（P27）</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1F285A"/>
                </a:solidFill>
                <a:latin typeface="メイリオ"/>
                <a:ea typeface="メイリオ"/>
                <a:cs typeface="メイリオ"/>
              </a:rPr>
              <a:t>予約しなかった人</a:t>
            </a:r>
          </a:p>
          <a:p>
            <a:pPr algn="ctr"/>
            <a:r>
              <a:rPr sz="1050" b="0">
                <a:solidFill>
                  <a:srgbClr val="333333"/>
                </a:solidFill>
                <a:latin typeface="メイリオ"/>
                <a:ea typeface="メイリオ"/>
                <a:cs typeface="メイリオ"/>
              </a:rPr>
              <a:t>→ 週1回の配信へ合流し、講習の時期に再案内（⑥再育成）</a:t>
            </a:r>
          </a:p>
        </p:txBody>
      </p:sp>
    </p:spTree>
    <p:extLst>
      <p:ext uri="{BB962C8B-B14F-4D97-AF65-F5344CB8AC3E}">
        <p14:creationId xmlns:p14="http://schemas.microsoft.com/office/powerpoint/2010/main" val="173865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通知の冒頭（最初の15文字ほど）で開かれるかが決まるので、冒頭も1通ずつ決める。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※事例の数字は貴社の実績に差し替え、学年・期間・通った回数を書く。体験予約の前日のメッセージはP27</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6" name="Rounded Rectangle 25"/>
          <p:cNvSpPr/>
          <p:nvPr/>
        </p:nvSpPr>
        <p:spPr>
          <a:xfrm>
            <a:off x="540000" y="2394000"/>
            <a:ext cx="266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塾を探す前に、今日からできることを1つ</a:t>
            </a:r>
          </a:p>
          <a:p>
            <a:pPr algn="l"/>
            <a:r>
              <a:rPr sz="850" b="0">
                <a:solidFill>
                  <a:srgbClr val="333333"/>
                </a:solidFill>
                <a:latin typeface="メイリオ"/>
                <a:ea typeface="メイリオ"/>
                <a:cs typeface="メイリオ"/>
              </a:rPr>
              <a:t>だけ。</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伸びる子の家庭は、テスト返却の日に</a:t>
            </a:r>
          </a:p>
          <a:p>
            <a:pPr algn="l"/>
            <a:r>
              <a:rPr sz="850" b="0">
                <a:solidFill>
                  <a:srgbClr val="333333"/>
                </a:solidFill>
                <a:latin typeface="メイリオ"/>
                <a:ea typeface="メイリオ"/>
                <a:cs typeface="メイリオ"/>
              </a:rPr>
              <a:t>これをやっています👇</a:t>
            </a:r>
          </a:p>
          <a:p>
            <a:pPr algn="l"/>
            <a:r>
              <a:rPr sz="850" b="0">
                <a:solidFill>
                  <a:srgbClr val="333333"/>
                </a:solidFill>
                <a:latin typeface="メイリオ"/>
                <a:ea typeface="メイリオ"/>
                <a:cs typeface="メイリオ"/>
              </a:rPr>
              <a:t>✅ 間違いを「ケアレスミス」と</a:t>
            </a:r>
          </a:p>
          <a:p>
            <a:pPr algn="l"/>
            <a:r>
              <a:rPr sz="850" b="0">
                <a:solidFill>
                  <a:srgbClr val="333333"/>
                </a:solidFill>
                <a:latin typeface="メイリオ"/>
                <a:ea typeface="メイリオ"/>
                <a:cs typeface="メイリオ"/>
              </a:rPr>
              <a:t>　「わからなかった」に仕分け</a:t>
            </a:r>
          </a:p>
          <a:p>
            <a:pPr algn="l"/>
            <a:r>
              <a:rPr sz="850" b="0">
                <a:solidFill>
                  <a:srgbClr val="333333"/>
                </a:solidFill>
                <a:latin typeface="メイリオ"/>
                <a:ea typeface="メイリオ"/>
                <a:cs typeface="メイリオ"/>
              </a:rPr>
              <a:t>✅ 「わからなかった」だけ付箋</a:t>
            </a:r>
          </a:p>
          <a:p>
            <a:pPr algn="l"/>
            <a:r>
              <a:rPr sz="850" b="0">
                <a:solidFill>
                  <a:srgbClr val="333333"/>
                </a:solidFill>
                <a:latin typeface="メイリオ"/>
                <a:ea typeface="メイリオ"/>
                <a:cs typeface="メイリオ"/>
              </a:rPr>
              <a:t>✅ 週末に付箋の問題だけ解き直す</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塾はその先、「付箋が多すぎて手に負えな</a:t>
            </a:r>
          </a:p>
          <a:p>
            <a:pPr algn="l"/>
            <a:r>
              <a:rPr sz="850" b="0">
                <a:solidFill>
                  <a:srgbClr val="333333"/>
                </a:solidFill>
                <a:latin typeface="メイリオ"/>
                <a:ea typeface="メイリオ"/>
                <a:cs typeface="メイリオ"/>
              </a:rPr>
              <a:t>い」ときの選択肢で大丈夫です😊</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0" name="Rounded Rectangle 29"/>
          <p:cNvSpPr/>
          <p:nvPr/>
        </p:nvSpPr>
        <p:spPr>
          <a:xfrm>
            <a:off x="36072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診断で「◯◯タイプ」だったお子さまと</a:t>
            </a:r>
          </a:p>
          <a:p>
            <a:pPr algn="l"/>
            <a:r>
              <a:rPr sz="850" b="0">
                <a:solidFill>
                  <a:srgbClr val="333333"/>
                </a:solidFill>
                <a:latin typeface="メイリオ"/>
                <a:ea typeface="メイリオ"/>
                <a:cs typeface="メイリオ"/>
              </a:rPr>
              <a:t>同じタイプの、中2のAさんのお話です。</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入塾前は「授業についていけない」が</a:t>
            </a:r>
          </a:p>
          <a:p>
            <a:pPr algn="l"/>
            <a:r>
              <a:rPr sz="850" b="0">
                <a:solidFill>
                  <a:srgbClr val="333333"/>
                </a:solidFill>
                <a:latin typeface="メイリオ"/>
                <a:ea typeface="メイリオ"/>
                <a:cs typeface="メイリオ"/>
              </a:rPr>
              <a:t>悩みでしたが、分からない所まで戻った</a:t>
            </a:r>
          </a:p>
          <a:p>
            <a:pPr algn="l"/>
            <a:r>
              <a:rPr sz="850" b="0">
                <a:solidFill>
                  <a:srgbClr val="333333"/>
                </a:solidFill>
                <a:latin typeface="メイリオ"/>
                <a:ea typeface="メイリオ"/>
                <a:cs typeface="メイリオ"/>
              </a:rPr>
              <a:t>ことで、3ヶ月後の定期テストで</a:t>
            </a:r>
          </a:p>
          <a:p>
            <a:pPr algn="l"/>
            <a:r>
              <a:rPr sz="850" b="0">
                <a:solidFill>
                  <a:srgbClr val="333333"/>
                </a:solidFill>
                <a:latin typeface="メイリオ"/>
                <a:ea typeface="メイリオ"/>
                <a:cs typeface="メイリオ"/>
              </a:rPr>
              <a:t>数学が◯点→◯点に。</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お子さまに合うかどうかは、</a:t>
            </a:r>
          </a:p>
          <a:p>
            <a:pPr algn="l"/>
            <a:r>
              <a:rPr sz="850" b="0">
                <a:solidFill>
                  <a:srgbClr val="333333"/>
                </a:solidFill>
                <a:latin typeface="メイリオ"/>
                <a:ea typeface="メイリオ"/>
                <a:cs typeface="メイリオ"/>
              </a:rPr>
              <a:t>体験で確かめられます。</a:t>
            </a:r>
          </a:p>
        </p:txBody>
      </p:sp>
      <p:sp>
        <p:nvSpPr>
          <p:cNvPr id="31" name="Rounded Rectangle 30"/>
          <p:cNvSpPr/>
          <p:nvPr/>
        </p:nvSpPr>
        <p:spPr>
          <a:xfrm>
            <a:off x="36072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5" name="Rounded Rectangle 34"/>
          <p:cNvSpPr/>
          <p:nvPr/>
        </p:nvSpPr>
        <p:spPr>
          <a:xfrm>
            <a:off x="66744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次の定期テストまで、あと約◯日。</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入塾手続きから授業開始まで約1週間、</a:t>
            </a:r>
          </a:p>
          <a:p>
            <a:pPr algn="l"/>
            <a:r>
              <a:rPr sz="850" b="0">
                <a:solidFill>
                  <a:srgbClr val="333333"/>
                </a:solidFill>
                <a:latin typeface="メイリオ"/>
                <a:ea typeface="メイリオ"/>
                <a:cs typeface="メイリオ"/>
              </a:rPr>
              <a:t>テスト対策には3週間ほどかかるため、</a:t>
            </a:r>
          </a:p>
          <a:p>
            <a:pPr algn="l"/>
            <a:r>
              <a:rPr sz="850" b="0">
                <a:solidFill>
                  <a:srgbClr val="333333"/>
                </a:solidFill>
                <a:latin typeface="メイリオ"/>
                <a:ea typeface="メイリオ"/>
                <a:cs typeface="メイリオ"/>
              </a:rPr>
              <a:t>ご検討中なら今週がひとつの分かれ目</a:t>
            </a:r>
          </a:p>
          <a:p>
            <a:pPr algn="l"/>
            <a:r>
              <a:rPr sz="850" b="0">
                <a:solidFill>
                  <a:srgbClr val="333333"/>
                </a:solidFill>
                <a:latin typeface="メイリオ"/>
                <a:ea typeface="メイリオ"/>
                <a:cs typeface="メイリオ"/>
              </a:rPr>
              <a:t>です。</a:t>
            </a:r>
          </a:p>
          <a:p>
            <a:pPr algn="l"/>
            <a:r>
              <a:rPr sz="850" b="0">
                <a:solidFill>
                  <a:srgbClr val="333333"/>
                </a:solidFill>
                <a:latin typeface="メイリオ"/>
                <a:ea typeface="メイリオ"/>
                <a:cs typeface="メイリオ"/>
              </a:rPr>
              <a:t/>
            </a:r>
          </a:p>
          <a:p>
            <a:pPr algn="l"/>
            <a:r>
              <a:rPr sz="850" b="0">
                <a:solidFill>
                  <a:srgbClr val="333333"/>
                </a:solidFill>
                <a:latin typeface="メイリオ"/>
                <a:ea typeface="メイリオ"/>
                <a:cs typeface="メイリオ"/>
              </a:rPr>
              <a:t>「まだ迷っている」段階でも大丈夫。</a:t>
            </a:r>
          </a:p>
          <a:p>
            <a:pPr algn="l"/>
            <a:r>
              <a:rPr sz="850" b="0">
                <a:solidFill>
                  <a:srgbClr val="333333"/>
                </a:solidFill>
                <a:latin typeface="メイリオ"/>
                <a:ea typeface="メイリオ"/>
                <a:cs typeface="メイリオ"/>
              </a:rPr>
              <a:t>体験だけ受けて、テスト後にゆっくり</a:t>
            </a:r>
          </a:p>
          <a:p>
            <a:pPr algn="l"/>
            <a:r>
              <a:rPr sz="850" b="0">
                <a:solidFill>
                  <a:srgbClr val="333333"/>
                </a:solidFill>
                <a:latin typeface="メイリオ"/>
                <a:ea typeface="メイリオ"/>
                <a:cs typeface="メイリオ"/>
              </a:rPr>
              <a:t>決めたご家庭も多いです😊</a:t>
            </a:r>
          </a:p>
        </p:txBody>
      </p:sp>
      <p:sp>
        <p:nvSpPr>
          <p:cNvPr id="36" name="Rounded Rectangle 35"/>
          <p:cNvSpPr/>
          <p:nvPr/>
        </p:nvSpPr>
        <p:spPr>
          <a:xfrm>
            <a:off x="66744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900" b="1">
                <a:solidFill>
                  <a:srgbClr val="FFFFFF"/>
                </a:solidFill>
                <a:latin typeface="メイリオ"/>
                <a:ea typeface="メイリオ"/>
                <a:cs typeface="メイリオ"/>
              </a:rPr>
              <a:t>▶ 今週の体験枠を見る</a:t>
            </a:r>
          </a:p>
        </p:txBody>
      </p:sp>
    </p:spTree>
    <p:extLst>
      <p:ext uri="{BB962C8B-B14F-4D97-AF65-F5344CB8AC3E}">
        <p14:creationId xmlns:p14="http://schemas.microsoft.com/office/powerpoint/2010/main" val="106556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塾を知ったきっかけの1位は</a:t>
            </a:r>
          </a:p>
          <a:p>
            <a:pPr algn="l"/>
            <a:r>
              <a:rPr sz="100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0" name="Rounded Rectangle 29"/>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友だちとの会話を、</a:t>
            </a:r>
          </a:p>
          <a:p>
            <a:pPr algn="l"/>
            <a:r>
              <a:rPr sz="100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友だちと一緒の体験枠をLINEで予約</a:t>
            </a:r>
          </a:p>
          <a:p>
            <a:pPr algn="l"/>
            <a:r>
              <a:rPr sz="100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50" b="1">
                <a:solidFill>
                  <a:srgbClr val="1F285A"/>
                </a:solidFill>
                <a:latin typeface="メイリオ"/>
                <a:ea typeface="メイリオ"/>
                <a:cs typeface="メイリオ"/>
              </a:rPr>
              <a:t>通う習慣がつきやすい</a:t>
            </a:r>
          </a:p>
          <a:p>
            <a:pPr algn="l"/>
            <a:r>
              <a:rPr sz="10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50" b="1">
                <a:solidFill>
                  <a:srgbClr val="1F285A"/>
                </a:solidFill>
                <a:latin typeface="メイリオ"/>
                <a:ea typeface="メイリオ"/>
                <a:cs typeface="メイリオ"/>
              </a:rPr>
              <a:t>励まし合える</a:t>
            </a:r>
          </a:p>
          <a:p>
            <a:pPr algn="l"/>
            <a:r>
              <a:rPr sz="10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50" b="1">
                <a:solidFill>
                  <a:srgbClr val="1F285A"/>
                </a:solidFill>
                <a:latin typeface="メイリオ"/>
                <a:ea typeface="メイリオ"/>
                <a:cs typeface="メイリオ"/>
              </a:rPr>
              <a:t>送り迎えを分担できる</a:t>
            </a:r>
          </a:p>
          <a:p>
            <a:pPr algn="l"/>
            <a:r>
              <a:rPr sz="10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Tree>
    <p:extLst>
      <p:ext uri="{BB962C8B-B14F-4D97-AF65-F5344CB8AC3E}">
        <p14:creationId xmlns:p14="http://schemas.microsoft.com/office/powerpoint/2010/main" val="2299358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体験を予約しても、当日来ない人がいる。理由の多くは「忘れた」「持ち物が不安」「変更の仕方が分からない」。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前日までに先回りして、体験に来てもらい、入会につなげる。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※体験に来ない割合・実施率の改善幅は、貴社の実績で確定させる（旧版の「約20%」「80%→92%」は出典未確認のため載せていない）</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当日来ない人がいる</a:t>
            </a:r>
          </a:p>
          <a:p>
            <a:pPr algn="l"/>
            <a:r>
              <a:rPr sz="1000" b="0">
                <a:solidFill>
                  <a:srgbClr val="333333"/>
                </a:solidFill>
                <a:latin typeface="メイリオ"/>
                <a:ea typeface="メイリオ"/>
                <a:cs typeface="メイリオ"/>
              </a:rPr>
              <a:t>（割合は貴社の実績で確定）</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5" name="Rounded Rectangle 44"/>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来ない理由を、</a:t>
            </a:r>
          </a:p>
          <a:p>
            <a:pPr algn="l"/>
            <a:r>
              <a:rPr sz="1000" b="0">
                <a:solidFill>
                  <a:srgbClr val="333333"/>
                </a:solidFill>
                <a:latin typeface="メイリオ"/>
                <a:ea typeface="メイリオ"/>
                <a:cs typeface="メイリオ"/>
              </a:rPr>
              <a:t>前日までに先回りしてなくす</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1F285A"/>
                </a:solidFill>
                <a:latin typeface="メイリオ"/>
                <a:ea typeface="メイリオ"/>
                <a:cs typeface="メイリオ"/>
              </a:rPr>
              <a:t>予約内容の確認</a:t>
            </a:r>
          </a:p>
          <a:p>
            <a:pPr algn="ctr"/>
            <a:r>
              <a:rPr sz="95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1F285A"/>
                </a:solidFill>
                <a:latin typeface="メイリオ"/>
                <a:ea typeface="メイリオ"/>
                <a:cs typeface="メイリオ"/>
              </a:rPr>
              <a:t>担当講師の紹介</a:t>
            </a:r>
          </a:p>
          <a:p>
            <a:pPr algn="ctr"/>
            <a:r>
              <a:rPr sz="95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1F285A"/>
                </a:solidFill>
                <a:latin typeface="メイリオ"/>
                <a:ea typeface="メイリオ"/>
                <a:cs typeface="メイリオ"/>
              </a:rPr>
              <a:t>持ち物・アクセス</a:t>
            </a:r>
          </a:p>
          <a:p>
            <a:pPr algn="ctr"/>
            <a:r>
              <a:rPr sz="95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1F285A"/>
                </a:solidFill>
                <a:latin typeface="メイリオ"/>
                <a:ea typeface="メイリオ"/>
                <a:cs typeface="メイリオ"/>
              </a:rPr>
              <a:t>「お待ちしています」</a:t>
            </a:r>
          </a:p>
          <a:p>
            <a:pPr algn="ctr"/>
            <a:r>
              <a:rPr sz="95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1F285A"/>
                </a:solidFill>
                <a:latin typeface="メイリオ"/>
                <a:ea typeface="メイリオ"/>
                <a:cs typeface="メイリオ"/>
              </a:rPr>
              <a:t>お礼＋診断結果</a:t>
            </a:r>
          </a:p>
          <a:p>
            <a:pPr algn="ctr"/>
            <a:r>
              <a:rPr sz="95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900" b="0">
                <a:solidFill>
                  <a:srgbClr val="333333"/>
                </a:solidFill>
                <a:latin typeface="メイリオ"/>
                <a:ea typeface="メイリオ"/>
                <a:cs typeface="メイリオ"/>
              </a:rPr>
              <a:t>【明日◯時〜】体験授業のご確認です😊</a:t>
            </a:r>
          </a:p>
          <a:p>
            <a:pPr algn="l"/>
            <a:r>
              <a:rPr sz="900" b="0">
                <a:solidFill>
                  <a:srgbClr val="333333"/>
                </a:solidFill>
                <a:latin typeface="メイリオ"/>
                <a:ea typeface="メイリオ"/>
                <a:cs typeface="メイリオ"/>
              </a:rPr>
              <a:t>◯◯塾 △△教室（地図はこちら▼）</a:t>
            </a:r>
          </a:p>
          <a:p>
            <a:pPr algn="l"/>
            <a:r>
              <a:rPr sz="900" b="0">
                <a:solidFill>
                  <a:srgbClr val="333333"/>
                </a:solidFill>
                <a:latin typeface="メイリオ"/>
                <a:ea typeface="メイリオ"/>
                <a:cs typeface="メイリオ"/>
              </a:rPr>
              <a:t>✏️ 持ち物：筆記用具だけでOK（教材はご用意します）</a:t>
            </a:r>
          </a:p>
          <a:p>
            <a:pPr algn="l"/>
            <a:r>
              <a:rPr sz="900" b="0">
                <a:solidFill>
                  <a:srgbClr val="333333"/>
                </a:solidFill>
                <a:latin typeface="メイリオ"/>
                <a:ea typeface="メイリオ"/>
                <a:cs typeface="メイリオ"/>
              </a:rPr>
              <a:t>🚲 駐輪場：教室裏にあります</a:t>
            </a:r>
          </a:p>
          <a:p>
            <a:pPr algn="l"/>
            <a:r>
              <a:rPr sz="900" b="0">
                <a:solidFill>
                  <a:srgbClr val="333333"/>
                </a:solidFill>
                <a:latin typeface="メイリオ"/>
                <a:ea typeface="メイリオ"/>
                <a:cs typeface="メイリオ"/>
              </a:rPr>
              <a:t>👪 保護者さまは「見学」でも「面談だけ」でも大丈夫です</a:t>
            </a:r>
          </a:p>
          <a:p>
            <a:pPr algn="l"/>
            <a:r>
              <a:rPr sz="900" b="0">
                <a:solidFill>
                  <a:srgbClr val="333333"/>
                </a:solidFill>
                <a:latin typeface="メイリオ"/>
                <a:ea typeface="メイリオ"/>
                <a:cs typeface="メイリオ"/>
              </a:rPr>
              <a:t/>
            </a:r>
          </a:p>
          <a:p>
            <a:pPr algn="l"/>
            <a:r>
              <a:rPr sz="900" b="0">
                <a:solidFill>
                  <a:srgbClr val="333333"/>
                </a:solidFill>
                <a:latin typeface="メイリオ"/>
                <a:ea typeface="メイリオ"/>
                <a:cs typeface="メイリオ"/>
              </a:rPr>
              <a:t>ご都合が変わったら、このトークに「変更」と送って</a:t>
            </a:r>
          </a:p>
          <a:p>
            <a:pPr algn="l"/>
            <a:r>
              <a:rPr sz="900" b="0">
                <a:solidFill>
                  <a:srgbClr val="333333"/>
                </a:solidFill>
                <a:latin typeface="メイリオ"/>
                <a:ea typeface="メイリオ"/>
                <a:cs typeface="メイリオ"/>
              </a:rPr>
              <a:t>ください。別の日程をご案内します。</a:t>
            </a:r>
          </a:p>
          <a:p>
            <a:pPr algn="l"/>
            <a:r>
              <a:rPr sz="90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333333"/>
                </a:solidFill>
                <a:latin typeface="メイリオ"/>
                <a:ea typeface="メイリオ"/>
                <a:cs typeface="メイリオ"/>
              </a:rPr>
              <a:t>「キャンセル料はありません」を必ず書く</a:t>
            </a:r>
          </a:p>
          <a:p>
            <a:pPr algn="l"/>
            <a:r>
              <a:rPr sz="1000" b="0">
                <a:solidFill>
                  <a:srgbClr val="333333"/>
                </a:solidFill>
                <a:latin typeface="メイリオ"/>
                <a:ea typeface="メイリオ"/>
                <a:cs typeface="メイリオ"/>
              </a:rPr>
              <a:t>変更・キャンセルの自由を先に伝えたほうが、</a:t>
            </a:r>
          </a:p>
          <a:p>
            <a:pPr algn="l"/>
            <a:r>
              <a:rPr sz="1000" b="0">
                <a:solidFill>
                  <a:srgbClr val="333333"/>
                </a:solidFill>
                <a:latin typeface="メイリオ"/>
                <a:ea typeface="メイリオ"/>
                <a:cs typeface="メイリオ"/>
              </a:rPr>
              <a:t>体験に来てもらいやすい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翌日のメッセージで入会へ</a:t>
            </a:r>
          </a:p>
          <a:p>
            <a:pPr algn="l"/>
            <a:r>
              <a:rPr sz="1000" b="0">
                <a:solidFill>
                  <a:srgbClr val="333333"/>
                </a:solidFill>
                <a:latin typeface="メイリオ"/>
                <a:ea typeface="メイリオ"/>
                <a:cs typeface="メイリオ"/>
              </a:rPr>
              <a:t>お礼と診断結果を送り、入会の相談は</a:t>
            </a:r>
          </a:p>
          <a:p>
            <a:pPr algn="l"/>
            <a:r>
              <a:rPr sz="1000" b="0">
                <a:solidFill>
                  <a:srgbClr val="333333"/>
                </a:solidFill>
                <a:latin typeface="メイリオ"/>
                <a:ea typeface="メイリオ"/>
                <a:cs typeface="メイリオ"/>
              </a:rPr>
              <a:t>LINEで受け付けて教室へつなぐ</a:t>
            </a:r>
          </a:p>
        </p:txBody>
      </p:sp>
    </p:spTree>
    <p:extLst>
      <p:ext uri="{BB962C8B-B14F-4D97-AF65-F5344CB8AC3E}">
        <p14:creationId xmlns:p14="http://schemas.microsoft.com/office/powerpoint/2010/main" val="2957158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検索の山（2月・7月）の前から、その時期に保護者が考えていることを届ける。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「塾」の検索は2月上旬が山</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「テスト後、9割の家庭がしない事」（P26）</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年間最大の商戦。ここを外すと1年が変わる</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出典｜Googleトレンド（日本・2026年年初来・週次／_data/trends/教育塾/）。各月の内容はDYM見解。★貴社の月別の入会実績があれば、この表を合わせる</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2756826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講習の時期に合わせて、もう一度声をかける。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通知メッセージは別途費用。利用条件・単価はLINEヤフーの規定で変わるため、要件定義で最新の条件を確認する</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資料請求や体験だけで止まった</a:t>
            </a:r>
          </a:p>
          <a:p>
            <a:pPr algn="l"/>
            <a:r>
              <a:rPr sz="10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1" name="Rounded Rectangle 40"/>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講習の時期に合わせて、</a:t>
            </a:r>
          </a:p>
          <a:p>
            <a:pPr algn="l"/>
            <a:r>
              <a:rPr sz="1000" b="0">
                <a:solidFill>
                  <a:srgbClr val="333333"/>
                </a:solidFill>
                <a:latin typeface="メイリオ"/>
                <a:ea typeface="メイリオ"/>
                <a:cs typeface="メイリオ"/>
              </a:rPr>
              <a:t>もう一度声をかける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通知メッセージ（電話番号で</a:t>
            </a:r>
          </a:p>
          <a:p>
            <a:pPr algn="l"/>
            <a:r>
              <a:rPr sz="10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資料請求だけで止まっている保護者</a:t>
            </a:r>
          </a:p>
          <a:p>
            <a:pPr algn="l"/>
            <a:r>
              <a:rPr sz="10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体験に来たが、入会しなかった保護者</a:t>
            </a:r>
          </a:p>
          <a:p>
            <a:pPr algn="l"/>
            <a:r>
              <a:rPr sz="10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例：「夏期講習のご案内です。以前いただいた資料請求の</a:t>
            </a:r>
          </a:p>
          <a:p>
            <a:pPr algn="l"/>
            <a:r>
              <a:rPr sz="95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FF7F0"/>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C55A11"/>
                </a:solidFill>
                <a:latin typeface="メイリオ"/>
                <a:ea typeface="メイリオ"/>
                <a:cs typeface="メイリオ"/>
              </a:rPr>
              <a:t>注意すること</a:t>
            </a:r>
          </a:p>
          <a:p>
            <a:pPr algn="l"/>
            <a:r>
              <a:rPr sz="1000" b="0">
                <a:solidFill>
                  <a:srgbClr val="333333"/>
                </a:solidFill>
                <a:latin typeface="メイリオ"/>
                <a:ea typeface="メイリオ"/>
                <a:cs typeface="メイリオ"/>
              </a:rPr>
              <a:t>・関係がはっきりしている相手だけに送る（資料請求・体験をした保護者）</a:t>
            </a:r>
          </a:p>
          <a:p>
            <a:pPr algn="l"/>
            <a:r>
              <a:rPr sz="1000" b="0">
                <a:solidFill>
                  <a:srgbClr val="333333"/>
                </a:solidFill>
                <a:latin typeface="メイリオ"/>
                <a:ea typeface="メイリオ"/>
                <a:cs typeface="メイリオ"/>
              </a:rPr>
              <a:t>・「知らないのに届いた」と思われない文面にする（いつ・何で接点があったかを書く）</a:t>
            </a:r>
          </a:p>
        </p:txBody>
      </p:sp>
    </p:spTree>
    <p:extLst>
      <p:ext uri="{BB962C8B-B14F-4D97-AF65-F5344CB8AC3E}">
        <p14:creationId xmlns:p14="http://schemas.microsoft.com/office/powerpoint/2010/main" val="774396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「まだ決めなくて</a:t>
            </a:r>
          </a:p>
          <a:p>
            <a:pPr algn="ctr"/>
            <a:r>
              <a:rPr sz="95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名前・電話番号</a:t>
            </a:r>
          </a:p>
          <a:p>
            <a:pPr algn="ctr"/>
            <a:r>
              <a:rPr sz="95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学年・悩み・性格</a:t>
            </a:r>
          </a:p>
          <a:p>
            <a:pPr algn="ctr"/>
            <a:r>
              <a:rPr sz="95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コース・料金の</a:t>
            </a:r>
          </a:p>
          <a:p>
            <a:pPr algn="ctr"/>
            <a:r>
              <a:rPr sz="95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LINEで日時を</a:t>
            </a:r>
          </a:p>
          <a:p>
            <a:pPr algn="ctr"/>
            <a:r>
              <a:rPr sz="95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ctr"/>
            <a:r>
              <a:rPr sz="950" b="0">
                <a:solidFill>
                  <a:srgbClr val="7F7F7F"/>
                </a:solidFill>
                <a:latin typeface="メイリオ"/>
                <a:ea typeface="メイリオ"/>
                <a:cs typeface="メイリオ"/>
              </a:rPr>
              <a:t>教室で</a:t>
            </a:r>
          </a:p>
          <a:p>
            <a:pPr algn="ctr"/>
            <a:r>
              <a:rPr sz="95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7F7F7F"/>
                </a:solidFill>
                <a:latin typeface="メイリオ"/>
                <a:ea typeface="メイリオ"/>
                <a:cs typeface="メイリオ"/>
              </a:rPr>
              <a:t>いま</a:t>
            </a:r>
          </a:p>
          <a:p>
            <a:pPr algn="l"/>
            <a:r>
              <a:rPr sz="1050" b="0">
                <a:solidFill>
                  <a:srgbClr val="333333"/>
                </a:solidFill>
                <a:latin typeface="メイリオ"/>
                <a:ea typeface="メイリオ"/>
                <a:cs typeface="メイリオ"/>
              </a:rPr>
              <a:t>サイト → 資料請求フォーム／電話 → 体験</a:t>
            </a:r>
          </a:p>
          <a:p>
            <a:pPr algn="l"/>
            <a:r>
              <a:rPr sz="1050" b="0">
                <a:solidFill>
                  <a:srgbClr val="333333"/>
                </a:solidFill>
                <a:latin typeface="メイリオ"/>
                <a:ea typeface="メイリオ"/>
                <a:cs typeface="メイリオ"/>
              </a:rPr>
              <a:t>・フォームに名前・住所・電話番号を入れる</a:t>
            </a:r>
          </a:p>
          <a:p>
            <a:pPr algn="l"/>
            <a:r>
              <a:rPr sz="1050" b="0">
                <a:solidFill>
                  <a:srgbClr val="333333"/>
                </a:solidFill>
                <a:latin typeface="メイリオ"/>
                <a:ea typeface="メイリオ"/>
                <a:cs typeface="メイリオ"/>
              </a:rPr>
              <a:t>・電話がかかってくるかもしれない</a:t>
            </a:r>
          </a:p>
          <a:p>
            <a:pPr algn="l"/>
            <a:r>
              <a:rPr sz="1050" b="1">
                <a:solidFill>
                  <a:srgbClr val="C00000"/>
                </a:solidFill>
                <a:latin typeface="メイリオ"/>
                <a:ea typeface="メイリオ"/>
                <a:cs typeface="メイリオ"/>
              </a:rPr>
              <a:t>→ 決めていない保護者は、ここで帰る</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200" b="1">
                <a:solidFill>
                  <a:srgbClr val="1F285A"/>
                </a:solidFill>
                <a:latin typeface="メイリオ"/>
                <a:ea typeface="メイリオ"/>
                <a:cs typeface="メイリオ"/>
              </a:rPr>
              <a:t>LINEを入れると</a:t>
            </a:r>
          </a:p>
          <a:p>
            <a:pPr algn="l"/>
            <a:r>
              <a:rPr sz="1050" b="0">
                <a:solidFill>
                  <a:srgbClr val="333333"/>
                </a:solidFill>
                <a:latin typeface="メイリオ"/>
                <a:ea typeface="メイリオ"/>
                <a:cs typeface="メイリオ"/>
              </a:rPr>
              <a:t>サイト → LINE → 診断 → 資料 → 体験</a:t>
            </a:r>
          </a:p>
          <a:p>
            <a:pPr algn="l"/>
            <a:r>
              <a:rPr sz="1050" b="0">
                <a:solidFill>
                  <a:srgbClr val="333333"/>
                </a:solidFill>
                <a:latin typeface="メイリオ"/>
                <a:ea typeface="メイリオ"/>
                <a:cs typeface="メイリオ"/>
              </a:rPr>
              <a:t>・タップ1回で友だち追加。入力はいらない</a:t>
            </a:r>
          </a:p>
          <a:p>
            <a:pPr algn="l"/>
            <a:r>
              <a:rPr sz="1050" b="0">
                <a:solidFill>
                  <a:srgbClr val="333333"/>
                </a:solidFill>
                <a:latin typeface="メイリオ"/>
                <a:ea typeface="メイリオ"/>
                <a:cs typeface="メイリオ"/>
              </a:rPr>
              <a:t>・資料を読んでから、体験を決められる</a:t>
            </a:r>
          </a:p>
          <a:p>
            <a:pPr algn="l"/>
            <a:r>
              <a:rPr sz="1050" b="1">
                <a:solidFill>
                  <a:srgbClr val="1F285A"/>
                </a:solidFill>
                <a:latin typeface="メイリオ"/>
                <a:ea typeface="メイリオ"/>
                <a:cs typeface="メイリオ"/>
              </a:rPr>
              <a:t>→ 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入口の敷居を下げて、決めていない保護者ともつながる。</a:t>
            </a: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入会は教室で決まるので、3ヶ月ごとに教室から報告をもらって確認する。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3ヶ月ごとに見る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入会数（教室から報告をもらう）</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333333"/>
                </a:solidFill>
                <a:latin typeface="メイリオ"/>
                <a:ea typeface="メイリオ"/>
                <a:cs typeface="メイリオ"/>
              </a:rPr>
              <a:t>友だちの数ではなく、資料請求・体験予約・入会で見る。</a:t>
            </a: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次の商戦から逆算して着手する。構築に約1.5ヶ月。そこから14日ステップが一周して、ようやく数字が動き出す。</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6" name="TextBox 5"/>
          <p:cNvSpPr txBox="1"/>
          <p:nvPr/>
        </p:nvSpPr>
        <p:spPr>
          <a:xfrm>
            <a:off x="432000" y="2250000"/>
            <a:ext cx="2179800" cy="216000"/>
          </a:xfrm>
          <a:prstGeom prst="rect">
            <a:avLst/>
          </a:prstGeom>
          <a:noFill/>
        </p:spPr>
        <p:txBody>
          <a:bodyPr wrap="square" lIns="50400" tIns="21600" rIns="50400" bIns="21600" anchor="ctr">
            <a:spAutoFit/>
          </a:bodyPr>
          <a:lstStyle/>
          <a:p>
            <a:pPr algn="ctr"/>
            <a:r>
              <a:rPr sz="1000" b="1">
                <a:solidFill>
                  <a:srgbClr val="ED7D31"/>
                </a:solidFill>
                <a:latin typeface="メイリオ"/>
                <a:ea typeface="メイリオ"/>
                <a:cs typeface="メイリオ"/>
              </a:rPr>
              <a:t>2週間</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0" name="TextBox 9"/>
          <p:cNvSpPr txBox="1"/>
          <p:nvPr/>
        </p:nvSpPr>
        <p:spPr>
          <a:xfrm>
            <a:off x="2719800" y="2250000"/>
            <a:ext cx="2179800" cy="216000"/>
          </a:xfrm>
          <a:prstGeom prst="rect">
            <a:avLst/>
          </a:prstGeom>
          <a:noFill/>
        </p:spPr>
        <p:txBody>
          <a:bodyPr wrap="square" lIns="50400" tIns="21600" rIns="50400" bIns="21600" anchor="ctr">
            <a:spAutoFit/>
          </a:bodyPr>
          <a:lstStyle/>
          <a:p>
            <a:pPr algn="ctr"/>
            <a:r>
              <a:rPr sz="1000" b="1">
                <a:solidFill>
                  <a:srgbClr val="ED7D31"/>
                </a:solidFill>
                <a:latin typeface="メイリオ"/>
                <a:ea typeface="メイリオ"/>
                <a:cs typeface="メイリオ"/>
              </a:rPr>
              <a:t>3〜4週間</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4" name="TextBox 13"/>
          <p:cNvSpPr txBox="1"/>
          <p:nvPr/>
        </p:nvSpPr>
        <p:spPr>
          <a:xfrm>
            <a:off x="5007600" y="2250000"/>
            <a:ext cx="2179800" cy="216000"/>
          </a:xfrm>
          <a:prstGeom prst="rect">
            <a:avLst/>
          </a:prstGeom>
          <a:noFill/>
        </p:spPr>
        <p:txBody>
          <a:bodyPr wrap="square" lIns="50400" tIns="21600" rIns="50400" bIns="21600" anchor="ctr">
            <a:spAutoFit/>
          </a:bodyPr>
          <a:lstStyle/>
          <a:p>
            <a:pPr algn="ctr"/>
            <a:r>
              <a:rPr sz="1000" b="1">
                <a:solidFill>
                  <a:srgbClr val="ED7D31"/>
                </a:solidFill>
                <a:latin typeface="メイリオ"/>
                <a:ea typeface="メイリオ"/>
                <a:cs typeface="メイリオ"/>
              </a:rPr>
              <a:t>1〜2週間</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8" name="TextBox 17"/>
          <p:cNvSpPr txBox="1"/>
          <p:nvPr/>
        </p:nvSpPr>
        <p:spPr>
          <a:xfrm>
            <a:off x="7295400" y="2250000"/>
            <a:ext cx="2179800" cy="216000"/>
          </a:xfrm>
          <a:prstGeom prst="rect">
            <a:avLst/>
          </a:prstGeom>
          <a:noFill/>
        </p:spPr>
        <p:txBody>
          <a:bodyPr wrap="square" lIns="50400" tIns="21600" rIns="50400" bIns="21600" anchor="ctr">
            <a:spAutoFit/>
          </a:bodyPr>
          <a:lstStyle/>
          <a:p>
            <a:pPr algn="ctr"/>
            <a:r>
              <a:rPr sz="1000" b="1">
                <a:solidFill>
                  <a:srgbClr val="ED7D31"/>
                </a:solidFill>
                <a:latin typeface="メイリオ"/>
                <a:ea typeface="メイリオ"/>
                <a:cs typeface="メイリオ"/>
              </a:rPr>
              <a:t>継続</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・3ヶ月ごとに体験→入会の割合を確認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逆算のしかた（検索の山から）</a:t>
            </a:r>
          </a:p>
        </p:txBody>
      </p:sp>
      <p:sp>
        <p:nvSpPr>
          <p:cNvPr id="22" name="Rounded Rectangle 21"/>
          <p:cNvSpPr/>
          <p:nvPr/>
        </p:nvSpPr>
        <p:spPr>
          <a:xfrm>
            <a:off x="432000" y="4823999"/>
            <a:ext cx="9043200" cy="4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100" b="1">
                <a:solidFill>
                  <a:srgbClr val="ED7D31"/>
                </a:solidFill>
                <a:latin typeface="メイリオ"/>
                <a:ea typeface="メイリオ"/>
                <a:cs typeface="メイリオ"/>
              </a:rPr>
              <a:t>2〜3月の入会期を取りにいく　→　</a:t>
            </a:r>
            <a:r>
              <a:rPr sz="1000">
                <a:solidFill>
                  <a:srgbClr val="333333"/>
                </a:solidFill>
                <a:latin typeface="メイリオ"/>
                <a:ea typeface="メイリオ"/>
                <a:cs typeface="メイリオ"/>
              </a:rPr>
              <a:t>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100" b="1">
                <a:solidFill>
                  <a:srgbClr val="ED7D31"/>
                </a:solidFill>
                <a:latin typeface="メイリオ"/>
                <a:ea typeface="メイリオ"/>
                <a:cs typeface="メイリオ"/>
              </a:rPr>
              <a:t>7〜8月の夏期講習を取りにいく　→　</a:t>
            </a:r>
            <a:r>
              <a:rPr sz="1000">
                <a:solidFill>
                  <a:srgbClr val="333333"/>
                </a:solidFill>
                <a:latin typeface="メイリオ"/>
                <a:ea typeface="メイリオ"/>
                <a:cs typeface="メイリオ"/>
              </a:rPr>
              <a:t>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構築に約1.5ヶ月。14日間の配信が一周してから数字が動き出す</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3845543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体制</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誰が何をやるか。配信の実務（原稿・制作・設定・分析）は弊社が持ちます。</a:t>
            </a:r>
          </a:p>
          <a:p>
            <a:pPr algn="l">
              <a:lnSpc>
                <a:spcPct val="128000"/>
              </a:lnSpc>
            </a:pPr>
            <a:r>
              <a:rPr sz="1200">
                <a:solidFill>
                  <a:srgbClr val="333333"/>
                </a:solidFill>
                <a:latin typeface="メイリオ"/>
                <a:ea typeface="メイリオ"/>
                <a:cs typeface="メイリオ"/>
              </a:rPr>
              <a:t>貴社にお願いするのは、教室の情報と、月1回の定例会だけです。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20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100" b="1">
                <a:solidFill>
                  <a:srgbClr val="FFFFFF"/>
                </a:solidFill>
                <a:latin typeface="メイリオ"/>
                <a:ea typeface="メイリオ"/>
                <a:cs typeface="メイリオ"/>
              </a:rPr>
              <a:t>DYM｜運用統括</a:t>
            </a:r>
          </a:p>
        </p:txBody>
      </p:sp>
      <p:sp>
        <p:nvSpPr>
          <p:cNvPr id="7" name="TextBox 6"/>
          <p:cNvSpPr txBox="1"/>
          <p:nvPr/>
        </p:nvSpPr>
        <p:spPr>
          <a:xfrm>
            <a:off x="5400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・全体設計・KPI管理</a:t>
            </a:r>
          </a:p>
          <a:p>
            <a:pPr algn="l">
              <a:lnSpc>
                <a:spcPct val="130000"/>
              </a:lnSpc>
              <a:spcAft>
                <a:spcPts val="600"/>
              </a:spcAft>
            </a:pPr>
            <a:r>
              <a:rPr sz="1000">
                <a:solidFill>
                  <a:srgbClr val="333333"/>
                </a:solidFill>
                <a:latin typeface="メイリオ"/>
                <a:ea typeface="メイリオ"/>
                <a:cs typeface="メイリオ"/>
              </a:rPr>
              <a:t>・月次レポートと改善提案</a:t>
            </a:r>
          </a:p>
          <a:p>
            <a:pPr algn="l">
              <a:lnSpc>
                <a:spcPct val="130000"/>
              </a:lnSpc>
              <a:spcAft>
                <a:spcPts val="600"/>
              </a:spcAft>
            </a:pPr>
            <a:r>
              <a:rPr sz="1000">
                <a:solidFill>
                  <a:srgbClr val="333333"/>
                </a:solidFill>
                <a:latin typeface="メイリオ"/>
                <a:ea typeface="メイリオ"/>
                <a:cs typeface="メイリオ"/>
              </a:rPr>
              <a:t>・定例会の進行</a:t>
            </a:r>
          </a:p>
        </p:txBody>
      </p:sp>
      <p:sp>
        <p:nvSpPr>
          <p:cNvPr id="8" name="Rounded Rectangle 7"/>
          <p:cNvSpPr/>
          <p:nvPr/>
        </p:nvSpPr>
        <p:spPr>
          <a:xfrm>
            <a:off x="27198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100" b="1">
                <a:solidFill>
                  <a:srgbClr val="FFFFFF"/>
                </a:solidFill>
                <a:latin typeface="メイリオ"/>
                <a:ea typeface="メイリオ"/>
                <a:cs typeface="メイリオ"/>
              </a:rPr>
              <a:t>DYM｜配信担当</a:t>
            </a:r>
          </a:p>
        </p:txBody>
      </p:sp>
      <p:sp>
        <p:nvSpPr>
          <p:cNvPr id="10" name="TextBox 9"/>
          <p:cNvSpPr txBox="1"/>
          <p:nvPr/>
        </p:nvSpPr>
        <p:spPr>
          <a:xfrm>
            <a:off x="28278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・配信原稿の作成</a:t>
            </a:r>
          </a:p>
          <a:p>
            <a:pPr algn="l">
              <a:lnSpc>
                <a:spcPct val="130000"/>
              </a:lnSpc>
              <a:spcAft>
                <a:spcPts val="600"/>
              </a:spcAft>
            </a:pPr>
            <a:r>
              <a:rPr sz="1000">
                <a:solidFill>
                  <a:srgbClr val="333333"/>
                </a:solidFill>
                <a:latin typeface="メイリオ"/>
                <a:ea typeface="メイリオ"/>
                <a:cs typeface="メイリオ"/>
              </a:rPr>
              <a:t>・セグメント・ステップの設定</a:t>
            </a:r>
          </a:p>
          <a:p>
            <a:pPr algn="l">
              <a:lnSpc>
                <a:spcPct val="130000"/>
              </a:lnSpc>
              <a:spcAft>
                <a:spcPts val="600"/>
              </a:spcAft>
            </a:pPr>
            <a:r>
              <a:rPr sz="1000">
                <a:solidFill>
                  <a:srgbClr val="333333"/>
                </a:solidFill>
                <a:latin typeface="メイリオ"/>
                <a:ea typeface="メイリオ"/>
                <a:cs typeface="メイリオ"/>
              </a:rPr>
              <a:t>・前日リマインドの管理</a:t>
            </a:r>
          </a:p>
        </p:txBody>
      </p:sp>
      <p:sp>
        <p:nvSpPr>
          <p:cNvPr id="11" name="Rounded Rectangle 10"/>
          <p:cNvSpPr/>
          <p:nvPr/>
        </p:nvSpPr>
        <p:spPr>
          <a:xfrm>
            <a:off x="50076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100" b="1">
                <a:solidFill>
                  <a:srgbClr val="FFFFFF"/>
                </a:solidFill>
                <a:latin typeface="メイリオ"/>
                <a:ea typeface="メイリオ"/>
                <a:cs typeface="メイリオ"/>
              </a:rPr>
              <a:t>DYM｜クリエイティブ</a:t>
            </a:r>
          </a:p>
        </p:txBody>
      </p:sp>
      <p:sp>
        <p:nvSpPr>
          <p:cNvPr id="13" name="TextBox 12"/>
          <p:cNvSpPr txBox="1"/>
          <p:nvPr/>
        </p:nvSpPr>
        <p:spPr>
          <a:xfrm>
            <a:off x="51156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・リッチメニュー制作</a:t>
            </a:r>
          </a:p>
          <a:p>
            <a:pPr algn="l">
              <a:lnSpc>
                <a:spcPct val="130000"/>
              </a:lnSpc>
              <a:spcAft>
                <a:spcPts val="600"/>
              </a:spcAft>
            </a:pPr>
            <a:r>
              <a:rPr sz="1000">
                <a:solidFill>
                  <a:srgbClr val="333333"/>
                </a:solidFill>
                <a:latin typeface="メイリオ"/>
                <a:ea typeface="メイリオ"/>
                <a:cs typeface="メイリオ"/>
              </a:rPr>
              <a:t>・配信画像・バナー</a:t>
            </a:r>
          </a:p>
          <a:p>
            <a:pPr algn="l">
              <a:lnSpc>
                <a:spcPct val="130000"/>
              </a:lnSpc>
              <a:spcAft>
                <a:spcPts val="600"/>
              </a:spcAft>
            </a:pPr>
            <a:r>
              <a:rPr sz="1000">
                <a:solidFill>
                  <a:srgbClr val="333333"/>
                </a:solidFill>
                <a:latin typeface="メイリオ"/>
                <a:ea typeface="メイリオ"/>
                <a:cs typeface="メイリオ"/>
              </a:rPr>
              <a:t>・LP離脱防止の設置</a:t>
            </a:r>
          </a:p>
        </p:txBody>
      </p:sp>
      <p:sp>
        <p:nvSpPr>
          <p:cNvPr id="14" name="Rounded Rectangle 13"/>
          <p:cNvSpPr/>
          <p:nvPr/>
        </p:nvSpPr>
        <p:spPr>
          <a:xfrm>
            <a:off x="7295400" y="1655999"/>
            <a:ext cx="2179800" cy="1655999"/>
          </a:xfrm>
          <a:prstGeom prst="roundRect">
            <a:avLst>
              <a:gd name="adj" fmla="val 6000"/>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1655999"/>
            <a:ext cx="2179800" cy="360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100" b="1">
                <a:solidFill>
                  <a:srgbClr val="FFFFFF"/>
                </a:solidFill>
                <a:latin typeface="メイリオ"/>
                <a:ea typeface="メイリオ"/>
                <a:cs typeface="メイリオ"/>
              </a:rPr>
              <a:t>貴社｜教室</a:t>
            </a:r>
          </a:p>
        </p:txBody>
      </p:sp>
      <p:sp>
        <p:nvSpPr>
          <p:cNvPr id="16" name="TextBox 15"/>
          <p:cNvSpPr txBox="1"/>
          <p:nvPr/>
        </p:nvSpPr>
        <p:spPr>
          <a:xfrm>
            <a:off x="7403400" y="2106000"/>
            <a:ext cx="2064600" cy="786133"/>
          </a:xfrm>
          <a:prstGeom prst="rect">
            <a:avLst/>
          </a:prstGeom>
          <a:noFill/>
        </p:spPr>
        <p:txBody>
          <a:bodyPr wrap="square" lIns="50400" tIns="21600" rIns="50400" bIns="21600" anchor="t">
            <a:spAutoFit/>
          </a:bodyPr>
          <a:lstStyle/>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教室の情報提供（実績・講師</a:t>
            </a:r>
            <a:r>
              <a:rPr sz="1000" dirty="0">
                <a:solidFill>
                  <a:srgbClr val="333333"/>
                </a:solidFill>
                <a:latin typeface="メイリオ"/>
                <a:ea typeface="メイリオ"/>
                <a:cs typeface="メイリオ"/>
              </a:rPr>
              <a:t>）</a:t>
            </a:r>
          </a:p>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体験・面談の実施</a:t>
            </a:r>
            <a:endParaRPr sz="1000" dirty="0">
              <a:solidFill>
                <a:srgbClr val="333333"/>
              </a:solidFill>
              <a:latin typeface="メイリオ"/>
              <a:ea typeface="メイリオ"/>
              <a:cs typeface="メイリオ"/>
            </a:endParaRPr>
          </a:p>
          <a:p>
            <a:pPr algn="l">
              <a:lnSpc>
                <a:spcPct val="130000"/>
              </a:lnSpc>
              <a:spcAft>
                <a:spcPts val="600"/>
              </a:spcAft>
            </a:pPr>
            <a:r>
              <a:rPr sz="1000" dirty="0">
                <a:solidFill>
                  <a:srgbClr val="333333"/>
                </a:solidFill>
                <a:latin typeface="メイリオ"/>
                <a:ea typeface="メイリオ"/>
                <a:cs typeface="メイリオ"/>
              </a:rPr>
              <a:t>・月1回の定例会にご参加</a:t>
            </a:r>
          </a:p>
        </p:txBody>
      </p:sp>
      <p:sp>
        <p:nvSpPr>
          <p:cNvPr id="17" name="TextBox 16"/>
          <p:cNvSpPr txBox="1"/>
          <p:nvPr/>
        </p:nvSpPr>
        <p:spPr>
          <a:xfrm>
            <a:off x="432000" y="345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進め方のリズム</a:t>
            </a:r>
          </a:p>
        </p:txBody>
      </p:sp>
      <p:sp>
        <p:nvSpPr>
          <p:cNvPr id="18" name="Rounded Rectangle 17"/>
          <p:cNvSpPr/>
          <p:nvPr/>
        </p:nvSpPr>
        <p:spPr>
          <a:xfrm>
            <a:off x="432000" y="3743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3999" y="3815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000" b="1">
                <a:solidFill>
                  <a:srgbClr val="FFFFFF"/>
                </a:solidFill>
                <a:latin typeface="メイリオ"/>
                <a:ea typeface="メイリオ"/>
                <a:cs typeface="メイリオ"/>
              </a:rPr>
              <a:t>毎月</a:t>
            </a:r>
          </a:p>
        </p:txBody>
      </p:sp>
      <p:sp>
        <p:nvSpPr>
          <p:cNvPr id="20" name="TextBox 19"/>
          <p:cNvSpPr txBox="1"/>
          <p:nvPr/>
        </p:nvSpPr>
        <p:spPr>
          <a:xfrm>
            <a:off x="1584000" y="3743999"/>
            <a:ext cx="7776000" cy="432000"/>
          </a:xfrm>
          <a:prstGeom prst="rect">
            <a:avLst/>
          </a:prstGeom>
          <a:noFill/>
        </p:spPr>
        <p:txBody>
          <a:bodyPr wrap="square" lIns="50400" tIns="21600" rIns="50400" bIns="21600" anchor="ctr">
            <a:spAutoFit/>
          </a:bodyPr>
          <a:lstStyle/>
          <a:p>
            <a:pPr algn="l">
              <a:lnSpc>
                <a:spcPct val="120000"/>
              </a:lnSpc>
            </a:pPr>
            <a:r>
              <a:rPr sz="1000">
                <a:solidFill>
                  <a:srgbClr val="333333"/>
                </a:solidFill>
                <a:latin typeface="メイリオ"/>
                <a:ea typeface="メイリオ"/>
                <a:cs typeface="メイリオ"/>
              </a:rPr>
              <a:t>配信企画の提案（弊社）→ 貴社confirm → 配信 → レポート</a:t>
            </a:r>
          </a:p>
        </p:txBody>
      </p:sp>
      <p:sp>
        <p:nvSpPr>
          <p:cNvPr id="21" name="Rounded Rectangle 20"/>
          <p:cNvSpPr/>
          <p:nvPr/>
        </p:nvSpPr>
        <p:spPr>
          <a:xfrm>
            <a:off x="432000" y="4229999"/>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301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000" b="1">
                <a:solidFill>
                  <a:srgbClr val="FFFFFF"/>
                </a:solidFill>
                <a:latin typeface="メイリオ"/>
                <a:ea typeface="メイリオ"/>
                <a:cs typeface="メイリオ"/>
              </a:rPr>
              <a:t>毎月</a:t>
            </a:r>
          </a:p>
        </p:txBody>
      </p:sp>
      <p:sp>
        <p:nvSpPr>
          <p:cNvPr id="23" name="TextBox 22"/>
          <p:cNvSpPr txBox="1"/>
          <p:nvPr/>
        </p:nvSpPr>
        <p:spPr>
          <a:xfrm>
            <a:off x="1584000" y="4229999"/>
            <a:ext cx="7776000" cy="432000"/>
          </a:xfrm>
          <a:prstGeom prst="rect">
            <a:avLst/>
          </a:prstGeom>
          <a:noFill/>
        </p:spPr>
        <p:txBody>
          <a:bodyPr wrap="square" lIns="50400" tIns="21600" rIns="50400" bIns="21600" anchor="ctr">
            <a:spAutoFit/>
          </a:bodyPr>
          <a:lstStyle/>
          <a:p>
            <a:pPr algn="l">
              <a:lnSpc>
                <a:spcPct val="120000"/>
              </a:lnSpc>
            </a:pPr>
            <a:r>
              <a:rPr sz="1000">
                <a:solidFill>
                  <a:srgbClr val="333333"/>
                </a:solidFill>
                <a:latin typeface="メイリオ"/>
                <a:ea typeface="メイリオ"/>
                <a:cs typeface="メイリオ"/>
              </a:rPr>
              <a:t>定例会（30〜60分）：先月の数字の振り返りと翌月の企画</a:t>
            </a:r>
          </a:p>
        </p:txBody>
      </p:sp>
      <p:sp>
        <p:nvSpPr>
          <p:cNvPr id="24" name="Rounded Rectangle 23"/>
          <p:cNvSpPr/>
          <p:nvPr/>
        </p:nvSpPr>
        <p:spPr>
          <a:xfrm>
            <a:off x="432000" y="4715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3999" y="4787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000" b="1">
                <a:solidFill>
                  <a:srgbClr val="FFFFFF"/>
                </a:solidFill>
                <a:latin typeface="メイリオ"/>
                <a:ea typeface="メイリオ"/>
                <a:cs typeface="メイリオ"/>
              </a:rPr>
              <a:t>四半期</a:t>
            </a:r>
          </a:p>
        </p:txBody>
      </p:sp>
      <p:sp>
        <p:nvSpPr>
          <p:cNvPr id="26" name="TextBox 25"/>
          <p:cNvSpPr txBox="1"/>
          <p:nvPr/>
        </p:nvSpPr>
        <p:spPr>
          <a:xfrm>
            <a:off x="1584000" y="4715999"/>
            <a:ext cx="7776000" cy="432000"/>
          </a:xfrm>
          <a:prstGeom prst="rect">
            <a:avLst/>
          </a:prstGeom>
          <a:noFill/>
        </p:spPr>
        <p:txBody>
          <a:bodyPr wrap="square" lIns="50400" tIns="21600" rIns="50400" bIns="21600" anchor="ctr">
            <a:spAutoFit/>
          </a:bodyPr>
          <a:lstStyle/>
          <a:p>
            <a:pPr algn="l">
              <a:lnSpc>
                <a:spcPct val="120000"/>
              </a:lnSpc>
            </a:pPr>
            <a:r>
              <a:rPr sz="1000">
                <a:solidFill>
                  <a:srgbClr val="333333"/>
                </a:solidFill>
                <a:latin typeface="メイリオ"/>
                <a:ea typeface="メイリオ"/>
                <a:cs typeface="メイリオ"/>
              </a:rPr>
              <a:t>体験→入会の割合の確認と、施策の組み替え</a:t>
            </a:r>
          </a:p>
        </p:txBody>
      </p:sp>
      <p:sp>
        <p:nvSpPr>
          <p:cNvPr id="27" name="Rounded Rectangle 26"/>
          <p:cNvSpPr/>
          <p:nvPr/>
        </p:nvSpPr>
        <p:spPr>
          <a:xfrm>
            <a:off x="432000" y="5202000"/>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3999" y="5273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000" b="1">
                <a:solidFill>
                  <a:srgbClr val="FFFFFF"/>
                </a:solidFill>
                <a:latin typeface="メイリオ"/>
                <a:ea typeface="メイリオ"/>
                <a:cs typeface="メイリオ"/>
              </a:rPr>
              <a:t>随時</a:t>
            </a:r>
          </a:p>
        </p:txBody>
      </p:sp>
      <p:sp>
        <p:nvSpPr>
          <p:cNvPr id="29" name="TextBox 28"/>
          <p:cNvSpPr txBox="1"/>
          <p:nvPr/>
        </p:nvSpPr>
        <p:spPr>
          <a:xfrm>
            <a:off x="1584000" y="5202000"/>
            <a:ext cx="7776000" cy="432000"/>
          </a:xfrm>
          <a:prstGeom prst="rect">
            <a:avLst/>
          </a:prstGeom>
          <a:noFill/>
        </p:spPr>
        <p:txBody>
          <a:bodyPr wrap="square" lIns="50400" tIns="21600" rIns="50400" bIns="21600" anchor="ctr">
            <a:spAutoFit/>
          </a:bodyPr>
          <a:lstStyle/>
          <a:p>
            <a:pPr algn="l">
              <a:lnSpc>
                <a:spcPct val="120000"/>
              </a:lnSpc>
            </a:pPr>
            <a:r>
              <a:rPr sz="1000">
                <a:solidFill>
                  <a:srgbClr val="333333"/>
                </a:solidFill>
                <a:latin typeface="メイリオ"/>
                <a:ea typeface="メイリオ"/>
                <a:cs typeface="メイリオ"/>
              </a:rPr>
              <a:t>LINEトークで質問・相談（専用グループ）</a:t>
            </a:r>
          </a:p>
        </p:txBody>
      </p:sp>
      <p:sp>
        <p:nvSpPr>
          <p:cNvPr id="30" name="Rounded Rectangle 29"/>
          <p:cNvSpPr/>
          <p:nvPr/>
        </p:nvSpPr>
        <p:spPr>
          <a:xfrm>
            <a:off x="432000" y="572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250" b="1">
                <a:solidFill>
                  <a:srgbClr val="FFFFFF"/>
                </a:solidFill>
                <a:latin typeface="メイリオ"/>
                <a:ea typeface="メイリオ"/>
                <a:cs typeface="メイリオ"/>
              </a:rPr>
              <a:t>貴社の負担は「教室の情報」と「月1回の定例会」だけ。配信の実務は弊社が持ちます。</a:t>
            </a:r>
          </a:p>
        </p:txBody>
      </p: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体制の人数・担当者名は契約時に確定します。定例会はオンライン可</a:t>
            </a:r>
          </a:p>
        </p:txBody>
      </p:sp>
      <p:sp>
        <p:nvSpPr>
          <p:cNvPr id="32" name="Pentagon 31"/>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1482779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他塾がやっていない企画（ご参考）。他塾がまだやっていない企画の例。</a:t>
            </a:r>
          </a:p>
          <a:p>
            <a:pPr algn="l">
              <a:lnSpc>
                <a:spcPct val="128000"/>
              </a:lnSpc>
            </a:pPr>
            <a:r>
              <a:rPr sz="1200">
                <a:solidFill>
                  <a:srgbClr val="333333"/>
                </a:solidFill>
                <a:latin typeface="メイリオ"/>
                <a:ea typeface="メイリオ"/>
                <a:cs typeface="メイリオ"/>
              </a:rPr>
              <a:t>以下は地域で最初の1社になれる企画案です。優先度はDYM見解。</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小3〜中2の保護者へ、学年ごとに「この時期にやるべきこと」を毎月配信。入塾学年の山（中受小4／他小5-6）の1学年前から接点を持つ</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24時間の質問対応。ただし塾は「先生」で選ばれる業界なので、有人対応の価値を下げないよう設計が要る</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950">
                <a:solidFill>
                  <a:srgbClr val="333333"/>
                </a:solidFill>
                <a:latin typeface="メイリオ"/>
                <a:ea typeface="メイリオ"/>
                <a:cs typeface="メイリオ"/>
              </a:rPr>
              <a:t>◎＝根拠データあり・すぐ実行できる　／　○＝条件付きで有効　／　△＝この業界では優先度低（DYM見解）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優先度の判定はDYM見解。根拠は巻末の出典一覧を参照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901063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37" name="Rounded Rectangle 36"/>
          <p:cNvSpPr/>
          <p:nvPr/>
        </p:nvSpPr>
        <p:spPr>
          <a:xfrm>
            <a:off x="3512399" y="1494000"/>
            <a:ext cx="2882399" cy="223200"/>
          </a:xfrm>
          <a:prstGeom prst="roundRect">
            <a:avLst>
              <a:gd name="adj" fmla="val 20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友だちと一緒の体験枠</a:t>
            </a:r>
          </a:p>
          <a:p>
            <a:pPr algn="l"/>
            <a:r>
              <a:rPr sz="950" b="0">
                <a:solidFill>
                  <a:srgbClr val="333333"/>
                </a:solidFill>
                <a:latin typeface="メイリオ"/>
                <a:ea typeface="メイリオ"/>
                <a:cs typeface="メイリオ"/>
              </a:rPr>
              <a:t>2人まとめてLINEで予約（P20）</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診断結果を友だちに送れる</a:t>
            </a:r>
          </a:p>
          <a:p>
            <a:pPr algn="l"/>
            <a:r>
              <a:rPr sz="95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100" b="1">
                <a:solidFill>
                  <a:srgbClr val="1F285A"/>
                </a:solidFill>
                <a:latin typeface="メイリオ"/>
                <a:ea typeface="メイリオ"/>
                <a:cs typeface="メイリオ"/>
              </a:rPr>
              <a:t>体験に来た保護者へ案内</a:t>
            </a:r>
          </a:p>
          <a:p>
            <a:pPr algn="l"/>
            <a:r>
              <a:rPr sz="95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FFFFFF"/>
                </a:solidFill>
                <a:latin typeface="メイリオ"/>
                <a:ea typeface="メイリオ"/>
                <a:cs typeface="メイリオ"/>
              </a:rPr>
              <a:t>口コミで選ばれる業界だから、口コミが生まれる場所にLINEの入口を置く。</a:t>
            </a:r>
          </a:p>
        </p:txBody>
      </p:sp>
    </p:spTree>
    <p:extLst>
      <p:ext uri="{BB962C8B-B14F-4D97-AF65-F5344CB8AC3E}">
        <p14:creationId xmlns:p14="http://schemas.microsoft.com/office/powerpoint/2010/main" val="2185305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この資料の出典</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この資料で使った数値の出所を、すべて並べます。</a:t>
            </a:r>
          </a:p>
          <a:p>
            <a:pPr algn="l">
              <a:lnSpc>
                <a:spcPct val="128000"/>
              </a:lnSpc>
            </a:pPr>
            <a:r>
              <a:rPr sz="1200">
                <a:solidFill>
                  <a:srgbClr val="333333"/>
                </a:solidFill>
                <a:latin typeface="メイリオ"/>
                <a:ea typeface="メイリオ"/>
                <a:cs typeface="メイリオ"/>
              </a:rPr>
              <a:t>出典のない数値は書きません。取得中のデータは、届き次第差し替えます。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業界指標／自社実績／業界推計値／モデル値は、ラベルを分けて表記している</a:t>
            </a:r>
          </a:p>
        </p:txBody>
      </p:sp>
      <p:sp>
        <p:nvSpPr>
          <p:cNvPr id="13" name="Rectangle 12"/>
          <p:cNvSpPr/>
          <p:nvPr/>
        </p:nvSpPr>
        <p:spPr>
          <a:xfrm>
            <a:off x="432000" y="1512000"/>
            <a:ext cx="12960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FFFFFF"/>
                </a:solidFill>
                <a:latin typeface="メイリオ"/>
                <a:ea typeface="メイリオ"/>
                <a:cs typeface="メイリオ"/>
              </a:rPr>
              <a:t>ページ</a:t>
            </a:r>
          </a:p>
        </p:txBody>
      </p:sp>
      <p:sp>
        <p:nvSpPr>
          <p:cNvPr id="14" name="Rectangle 13"/>
          <p:cNvSpPr/>
          <p:nvPr/>
        </p:nvSpPr>
        <p:spPr>
          <a:xfrm>
            <a:off x="1764000" y="1512000"/>
            <a:ext cx="77112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50" b="1">
                <a:solidFill>
                  <a:srgbClr val="FFFFFF"/>
                </a:solidFill>
                <a:latin typeface="メイリオ"/>
                <a:ea typeface="メイリオ"/>
                <a:cs typeface="メイリオ"/>
              </a:rPr>
              <a:t>出典</a:t>
            </a:r>
          </a:p>
        </p:txBody>
      </p:sp>
      <p:sp>
        <p:nvSpPr>
          <p:cNvPr id="15" name="Rectangle 14"/>
          <p:cNvSpPr/>
          <p:nvPr/>
        </p:nvSpPr>
        <p:spPr>
          <a:xfrm>
            <a:off x="432000" y="1800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P5</a:t>
            </a:r>
          </a:p>
        </p:txBody>
      </p:sp>
      <p:sp>
        <p:nvSpPr>
          <p:cNvPr id="16" name="Rectangle 15"/>
          <p:cNvSpPr/>
          <p:nvPr/>
        </p:nvSpPr>
        <p:spPr>
          <a:xfrm>
            <a:off x="1764000" y="1800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厚労省 人口動態統計／経産省 特定サービス産業動態統計／文科省 学校基本調査／矢野経済研究所 2024</a:t>
            </a:r>
          </a:p>
        </p:txBody>
      </p:sp>
      <p:sp>
        <p:nvSpPr>
          <p:cNvPr id="17" name="Rectangle 16"/>
          <p:cNvSpPr/>
          <p:nvPr/>
        </p:nvSpPr>
        <p:spPr>
          <a:xfrm>
            <a:off x="432000" y="2142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P6</a:t>
            </a:r>
          </a:p>
        </p:txBody>
      </p:sp>
      <p:sp>
        <p:nvSpPr>
          <p:cNvPr id="18" name="Rectangle 17"/>
          <p:cNvSpPr/>
          <p:nvPr/>
        </p:nvSpPr>
        <p:spPr>
          <a:xfrm>
            <a:off x="1764000" y="2142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広告の実績（取得中）</a:t>
            </a:r>
          </a:p>
        </p:txBody>
      </p:sp>
      <p:sp>
        <p:nvSpPr>
          <p:cNvPr id="19" name="Rectangle 18"/>
          <p:cNvSpPr/>
          <p:nvPr/>
        </p:nvSpPr>
        <p:spPr>
          <a:xfrm>
            <a:off x="432000" y="2484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P8</a:t>
            </a:r>
          </a:p>
        </p:txBody>
      </p:sp>
      <p:sp>
        <p:nvSpPr>
          <p:cNvPr id="20" name="Rectangle 19"/>
          <p:cNvSpPr/>
          <p:nvPr/>
        </p:nvSpPr>
        <p:spPr>
          <a:xfrm>
            <a:off x="1764000" y="2484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LINEヤフー前後検索（実測）／塾ナラ 2025 n=200／塾シル・ユナイトプロジェクト 2026 n=249／明光ネットワークジャパン 2020</a:t>
            </a:r>
          </a:p>
        </p:txBody>
      </p:sp>
      <p:sp>
        <p:nvSpPr>
          <p:cNvPr id="21" name="Rectangle 20"/>
          <p:cNvSpPr/>
          <p:nvPr/>
        </p:nvSpPr>
        <p:spPr>
          <a:xfrm>
            <a:off x="432000" y="2826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P9・P11・P25</a:t>
            </a:r>
          </a:p>
        </p:txBody>
      </p:sp>
      <p:sp>
        <p:nvSpPr>
          <p:cNvPr id="22" name="Rectangle 21"/>
          <p:cNvSpPr/>
          <p:nvPr/>
        </p:nvSpPr>
        <p:spPr>
          <a:xfrm>
            <a:off x="1764000" y="2826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LINEヤフー前後検索 直近1年（取得中）KW：塾／個別指導／体験授業／高校受験</a:t>
            </a:r>
          </a:p>
        </p:txBody>
      </p:sp>
      <p:sp>
        <p:nvSpPr>
          <p:cNvPr id="23" name="Rectangle 22"/>
          <p:cNvSpPr/>
          <p:nvPr/>
        </p:nvSpPr>
        <p:spPr>
          <a:xfrm>
            <a:off x="432000" y="3168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P10・P29</a:t>
            </a:r>
          </a:p>
        </p:txBody>
      </p:sp>
      <p:sp>
        <p:nvSpPr>
          <p:cNvPr id="24" name="Rectangle 23"/>
          <p:cNvSpPr/>
          <p:nvPr/>
        </p:nvSpPr>
        <p:spPr>
          <a:xfrm>
            <a:off x="1764000" y="3168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Googleトレンド 日本 2026年年初来（実測）</a:t>
            </a:r>
          </a:p>
        </p:txBody>
      </p:sp>
      <p:sp>
        <p:nvSpPr>
          <p:cNvPr id="25" name="Rectangle 24"/>
          <p:cNvSpPr/>
          <p:nvPr/>
        </p:nvSpPr>
        <p:spPr>
          <a:xfrm>
            <a:off x="432000" y="3510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P12</a:t>
            </a:r>
          </a:p>
        </p:txBody>
      </p:sp>
      <p:sp>
        <p:nvSpPr>
          <p:cNvPr id="26" name="Rectangle 25"/>
          <p:cNvSpPr/>
          <p:nvPr/>
        </p:nvSpPr>
        <p:spPr>
          <a:xfrm>
            <a:off x="1764000" y="3510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各社LINE公式アカウント（page.line.me）・公式サイト 2026-09-25取得</a:t>
            </a:r>
          </a:p>
        </p:txBody>
      </p:sp>
      <p:sp>
        <p:nvSpPr>
          <p:cNvPr id="27" name="Rectangle 26"/>
          <p:cNvSpPr/>
          <p:nvPr/>
        </p:nvSpPr>
        <p:spPr>
          <a:xfrm>
            <a:off x="432000" y="3851999"/>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P20・P30</a:t>
            </a:r>
          </a:p>
        </p:txBody>
      </p:sp>
      <p:sp>
        <p:nvSpPr>
          <p:cNvPr id="28" name="Rectangle 27"/>
          <p:cNvSpPr/>
          <p:nvPr/>
        </p:nvSpPr>
        <p:spPr>
          <a:xfrm>
            <a:off x="1764000" y="3851999"/>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POPER「Comiru」保護者と学習塾の意識調査 2022年 n=300</a:t>
            </a:r>
          </a:p>
        </p:txBody>
      </p:sp>
      <p:sp>
        <p:nvSpPr>
          <p:cNvPr id="29" name="Rectangle 28"/>
          <p:cNvSpPr/>
          <p:nvPr/>
        </p:nvSpPr>
        <p:spPr>
          <a:xfrm>
            <a:off x="432000" y="4193999"/>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000" b="1">
                <a:solidFill>
                  <a:srgbClr val="1F285A"/>
                </a:solidFill>
                <a:latin typeface="メイリオ"/>
                <a:ea typeface="メイリオ"/>
                <a:cs typeface="メイリオ"/>
              </a:rPr>
              <a:t>P49</a:t>
            </a:r>
          </a:p>
        </p:txBody>
      </p:sp>
      <p:sp>
        <p:nvSpPr>
          <p:cNvPr id="30" name="Rectangle 29"/>
          <p:cNvSpPr/>
          <p:nvPr/>
        </p:nvSpPr>
        <p:spPr>
          <a:xfrm>
            <a:off x="1764000" y="4193999"/>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950" b="0">
                <a:solidFill>
                  <a:srgbClr val="333333"/>
                </a:solidFill>
                <a:latin typeface="メイリオ"/>
                <a:ea typeface="メイリオ"/>
                <a:cs typeface="メイリオ"/>
              </a:rPr>
              <a:t>オリコンME 2025 学習塾 利用実態データ／インタースペース「ママスタ」2021年 n=1,037</a:t>
            </a:r>
          </a:p>
        </p:txBody>
      </p:sp>
      <p:sp>
        <p:nvSpPr>
          <p:cNvPr id="31" name="Rounded Rectangle 30"/>
          <p:cNvSpPr/>
          <p:nvPr/>
        </p:nvSpPr>
        <p:spPr>
          <a:xfrm>
            <a:off x="432000" y="4644000"/>
            <a:ext cx="4428000" cy="108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1100" b="1">
                <a:solidFill>
                  <a:srgbClr val="1F285A"/>
                </a:solidFill>
                <a:latin typeface="メイリオ"/>
                <a:ea typeface="メイリオ"/>
                <a:cs typeface="メイリオ"/>
              </a:rPr>
              <a:t>LINEヤフー公式データ</a:t>
            </a:r>
          </a:p>
          <a:p>
            <a:pPr algn="l"/>
            <a:r>
              <a:rPr sz="950" b="0">
                <a:solidFill>
                  <a:srgbClr val="333333"/>
                </a:solidFill>
                <a:latin typeface="メイリオ"/>
                <a:ea typeface="メイリオ"/>
                <a:cs typeface="メイリオ"/>
              </a:rPr>
              <a:t>・LINE 国内月間利用者数：1億人突破（2025年12月末時点）</a:t>
            </a:r>
          </a:p>
          <a:p>
            <a:pPr algn="l"/>
            <a:r>
              <a:rPr sz="950" b="0">
                <a:solidFill>
                  <a:srgbClr val="333333"/>
                </a:solidFill>
                <a:latin typeface="メイリオ"/>
                <a:ea typeface="メイリオ"/>
                <a:cs typeface="メイリオ"/>
              </a:rPr>
              <a:t>・メッセージの開封：受信直後 約2割／3〜6時間で約5割／当日中に約8割</a:t>
            </a:r>
          </a:p>
        </p:txBody>
      </p:sp>
      <p:sp>
        <p:nvSpPr>
          <p:cNvPr id="32" name="Rounded Rectangle 31"/>
          <p:cNvSpPr/>
          <p:nvPr/>
        </p:nvSpPr>
        <p:spPr>
          <a:xfrm>
            <a:off x="5047200" y="4644000"/>
            <a:ext cx="4428000" cy="1080000"/>
          </a:xfrm>
          <a:prstGeom prst="roundRect">
            <a:avLst>
              <a:gd name="adj" fmla="val 8000"/>
            </a:avLst>
          </a:prstGeom>
          <a:solidFill>
            <a:srgbClr val="FFF7F7"/>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72000" rIns="72000" tIns="28800" bIns="28800"/>
          <a:lstStyle/>
          <a:p>
            <a:pPr algn="l"/>
            <a:r>
              <a:rPr sz="1100" b="1">
                <a:solidFill>
                  <a:srgbClr val="C00000"/>
                </a:solidFill>
                <a:latin typeface="メイリオ"/>
                <a:ea typeface="メイリオ"/>
                <a:cs typeface="メイリオ"/>
              </a:rPr>
              <a:t>提出前に確認すること</a:t>
            </a:r>
          </a:p>
          <a:p>
            <a:pPr algn="l"/>
            <a:r>
              <a:rPr sz="950" b="0">
                <a:solidFill>
                  <a:srgbClr val="333333"/>
                </a:solidFill>
                <a:latin typeface="メイリオ"/>
                <a:ea typeface="メイリオ"/>
                <a:cs typeface="メイリオ"/>
              </a:rPr>
              <a:t>・公表統計（P5）はe-Statで統計表を開いて数値を照合する</a:t>
            </a:r>
          </a:p>
          <a:p>
            <a:pPr algn="l"/>
            <a:r>
              <a:rPr sz="950" b="0">
                <a:solidFill>
                  <a:srgbClr val="333333"/>
                </a:solidFill>
                <a:latin typeface="メイリオ"/>
                <a:ea typeface="メイリオ"/>
                <a:cs typeface="メイリオ"/>
              </a:rPr>
              <a:t>・競合の実名掲載（P12）と、民間調査の引用可否は上司に確認する</a:t>
            </a:r>
          </a:p>
        </p:txBody>
      </p:sp>
    </p:spTree>
    <p:extLst>
      <p:ext uri="{BB962C8B-B14F-4D97-AF65-F5344CB8AC3E}">
        <p14:creationId xmlns:p14="http://schemas.microsoft.com/office/powerpoint/2010/main" val="1932664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教室の手間を増やさずに回す。予約の受付・日程変更・持ち物の案内は、LINEで自動にする。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2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1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30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l"/>
            <a:r>
              <a:rPr sz="12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28800" bIns="28800"/>
          <a:lstStyle/>
          <a:p>
            <a:pPr algn="ctr"/>
            <a:r>
              <a:rPr sz="11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000" rIns="18000" tIns="28800" bIns="28800"/>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28800" bIns="28800"/>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塾では、資料請求から体験予約までの間（⑤リード有効化）が最大の課題になりやすいと考えています（仮説）。</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最大の課題（仮説）</a:t>
            </a:r>
            <a:endParaRPr lang="ja-JP" altLang="en-US" sz="10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② 離脱</a:t>
            </a:r>
            <a:endParaRPr lang="ja-JP" altLang="en-US" sz="140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サイトに来た保護者の多くが、名前を残さずに帰っている。</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離脱防止ポップアップで、帰る前にLINEの友だちになってもらう。</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40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資料請求のあと、体験予約までの間に「読んで・比べて・迷う」期間があり、ここで他の塾に流れる。</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⑥ 再育成</a:t>
            </a:r>
            <a:endParaRPr lang="ja-JP" altLang="en-US" sz="140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体験に来なかった・入会しなかった保護者との接点が、そこで切れる。</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本日、貴塾で一番改善したいフェーズを確認し、そこに合わせてプランをご提案します。</a:t>
            </a:r>
            <a:endParaRPr lang="ja-JP" altLang="en-US" sz="1400" dirty="0"/>
          </a:p>
        </p:txBody>
      </p:sp>
    </p:spTree>
    <p:extLst>
      <p:ext uri="{BB962C8B-B14F-4D97-AF65-F5344CB8AC3E}">
        <p14:creationId xmlns:p14="http://schemas.microsoft.com/office/powerpoint/2010/main" val="1572942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ご予算の確認</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プランをお選びいただく前に、2つ確認させてください。</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91640"/>
            <a:ext cx="4416552" cy="3200400"/>
          </a:xfrm>
          <a:prstGeom prst="roundRect">
            <a:avLst>
              <a:gd name="adj" fmla="val 5000"/>
            </a:avLst>
          </a:prstGeom>
          <a:solidFill>
            <a:srgbClr val="F4F7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4" name="Rounded Rectangle 13"/>
          <p:cNvSpPr/>
          <p:nvPr/>
        </p:nvSpPr>
        <p:spPr>
          <a:xfrm>
            <a:off x="658368" y="1965960"/>
            <a:ext cx="457200" cy="457200"/>
          </a:xfrm>
          <a:prstGeom prst="roundRect">
            <a:avLst/>
          </a:prstGeom>
          <a:solidFill>
            <a:srgbClr val="1F285A"/>
          </a:solidFill>
          <a:ln>
            <a:noFill/>
          </a:ln>
        </p:spPr>
        <p:txBody>
          <a:bodyPr wrap="square" lIns="0" tIns="0" rIns="0" bIns="0" rtlCol="0" anchor="ctr">
            <a:noAutofit/>
          </a:bodyPr>
          <a:lstStyle/>
          <a:p>
            <a:pPr algn="ctr">
              <a:buNone/>
            </a:pPr>
            <a:r>
              <a:rPr lang="ja-JP" altLang="en-US" sz="1800" b="1" dirty="0">
                <a:solidFill>
                  <a:srgbClr val="FFFFFF"/>
                </a:solidFill>
                <a:latin typeface="メイリオ" panose="020B0604030504040204" pitchFamily="50" charset="-128"/>
                <a:ea typeface="メイリオ" panose="020B0604030504040204" pitchFamily="50" charset="-128"/>
              </a:rPr>
              <a:t>1</a:t>
            </a:r>
            <a:endParaRPr lang="ja-JP" altLang="en-US" sz="1800" dirty="0"/>
          </a:p>
        </p:txBody>
      </p:sp>
      <p:sp>
        <p:nvSpPr>
          <p:cNvPr id="15" name="Rectangle 14"/>
          <p:cNvSpPr/>
          <p:nvPr/>
        </p:nvSpPr>
        <p:spPr>
          <a:xfrm>
            <a:off x="1252728" y="1965960"/>
            <a:ext cx="3410712" cy="457200"/>
          </a:xfrm>
          <a:prstGeom prst="rect">
            <a:avLst/>
          </a:prstGeom>
          <a:noFill/>
          <a:ln>
            <a:noFill/>
          </a:ln>
        </p:spPr>
        <p:txBody>
          <a:bodyPr wrap="square" lIns="0" tIns="0" rIns="0" bIns="0" rtlCol="0" anchor="ctr">
            <a:noAutofit/>
          </a:bodyPr>
          <a:lstStyle/>
          <a:p>
            <a:pPr algn="l">
              <a:buNone/>
            </a:pPr>
            <a:r>
              <a:rPr lang="ja-JP" altLang="en-US" sz="1800" b="1" dirty="0">
                <a:solidFill>
                  <a:srgbClr val="1F285A"/>
                </a:solidFill>
                <a:latin typeface="メイリオ" panose="020B0604030504040204" pitchFamily="50" charset="-128"/>
                <a:ea typeface="メイリオ" panose="020B0604030504040204" pitchFamily="50" charset="-128"/>
              </a:rPr>
              <a:t>月々のご予算</a:t>
            </a:r>
            <a:endParaRPr lang="ja-JP" altLang="en-US" sz="1800" dirty="0"/>
          </a:p>
        </p:txBody>
      </p:sp>
      <p:sp>
        <p:nvSpPr>
          <p:cNvPr id="16" name="Rectangle 15"/>
          <p:cNvSpPr/>
          <p:nvPr/>
        </p:nvSpPr>
        <p:spPr>
          <a:xfrm>
            <a:off x="658368" y="2606040"/>
            <a:ext cx="3959352" cy="914400"/>
          </a:xfrm>
          <a:prstGeom prst="rect">
            <a:avLst/>
          </a:prstGeom>
          <a:noFill/>
          <a:ln>
            <a:noFill/>
          </a:ln>
        </p:spPr>
        <p:txBody>
          <a:bodyPr wrap="square" lIns="0" tIns="0" rIns="0" bIns="0" rtlCol="0" anchor="t">
            <a:noAutofit/>
          </a:bodyPr>
          <a:lstStyle/>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LINEの運用に、月々いくらまで</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かけられますか。</a:t>
            </a:r>
            <a:endParaRPr lang="ja-JP" altLang="en-US" sz="1300" dirty="0"/>
          </a:p>
        </p:txBody>
      </p:sp>
      <p:sp>
        <p:nvSpPr>
          <p:cNvPr id="17" name="Rounded Rectangle 16"/>
          <p:cNvSpPr/>
          <p:nvPr/>
        </p:nvSpPr>
        <p:spPr>
          <a:xfrm>
            <a:off x="658368" y="3840480"/>
            <a:ext cx="3959352" cy="731520"/>
          </a:xfrm>
          <a:prstGeom prst="roundRect">
            <a:avLst>
              <a:gd name="adj" fmla="val 10000"/>
            </a:avLst>
          </a:prstGeom>
          <a:solidFill>
            <a:srgbClr val="FFFFFF"/>
          </a:solidFill>
          <a:ln w="9525">
            <a:solidFill>
              <a:srgbClr val="1F285A"/>
            </a:solidFill>
            <a:prstDash val="dash"/>
          </a:ln>
        </p:spPr>
        <p:txBody>
          <a:bodyPr wrap="square" lIns="73152" tIns="36576" rIns="73152" bIns="36576" rtlCol="0" anchor="ctr">
            <a:noAutofit/>
          </a:bodyPr>
          <a:lstStyle/>
          <a:p>
            <a:pPr algn="ctr">
              <a:buNone/>
            </a:pPr>
            <a:r>
              <a:rPr lang="ja-JP" altLang="en-US" sz="1800" b="1" dirty="0">
                <a:solidFill>
                  <a:srgbClr val="1F285A"/>
                </a:solidFill>
                <a:latin typeface="メイリオ" panose="020B0604030504040204" pitchFamily="50" charset="-128"/>
                <a:ea typeface="メイリオ" panose="020B0604030504040204" pitchFamily="50" charset="-128"/>
              </a:rPr>
              <a:t>月額　＿＿＿＿　万円まで</a:t>
            </a:r>
            <a:endParaRPr lang="ja-JP" altLang="en-US" sz="1800" dirty="0"/>
          </a:p>
        </p:txBody>
      </p:sp>
      <p:sp>
        <p:nvSpPr>
          <p:cNvPr id="18" name="Rounded Rectangle 17"/>
          <p:cNvSpPr/>
          <p:nvPr/>
        </p:nvSpPr>
        <p:spPr>
          <a:xfrm>
            <a:off x="5056632" y="1691640"/>
            <a:ext cx="4416552" cy="3200400"/>
          </a:xfrm>
          <a:prstGeom prst="roundRect">
            <a:avLst>
              <a:gd name="adj" fmla="val 5000"/>
            </a:avLst>
          </a:prstGeom>
          <a:solidFill>
            <a:srgbClr val="F4F7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ounded Rectangle 18"/>
          <p:cNvSpPr/>
          <p:nvPr/>
        </p:nvSpPr>
        <p:spPr>
          <a:xfrm>
            <a:off x="5285232" y="1965960"/>
            <a:ext cx="457200" cy="457200"/>
          </a:xfrm>
          <a:prstGeom prst="roundRect">
            <a:avLst/>
          </a:prstGeom>
          <a:solidFill>
            <a:srgbClr val="1F285A"/>
          </a:solidFill>
          <a:ln>
            <a:noFill/>
          </a:ln>
        </p:spPr>
        <p:txBody>
          <a:bodyPr wrap="square" lIns="0" tIns="0" rIns="0" bIns="0" rtlCol="0" anchor="ctr">
            <a:noAutofit/>
          </a:bodyPr>
          <a:lstStyle/>
          <a:p>
            <a:pPr algn="ctr">
              <a:buNone/>
            </a:pPr>
            <a:r>
              <a:rPr lang="ja-JP" altLang="en-US" sz="1800" b="1" dirty="0">
                <a:solidFill>
                  <a:srgbClr val="FFFFFF"/>
                </a:solidFill>
                <a:latin typeface="メイリオ" panose="020B0604030504040204" pitchFamily="50" charset="-128"/>
                <a:ea typeface="メイリオ" panose="020B0604030504040204" pitchFamily="50" charset="-128"/>
              </a:rPr>
              <a:t>2</a:t>
            </a:r>
            <a:endParaRPr lang="ja-JP" altLang="en-US" sz="1800" dirty="0"/>
          </a:p>
        </p:txBody>
      </p:sp>
      <p:sp>
        <p:nvSpPr>
          <p:cNvPr id="20" name="Rectangle 19"/>
          <p:cNvSpPr/>
          <p:nvPr/>
        </p:nvSpPr>
        <p:spPr>
          <a:xfrm>
            <a:off x="5879592" y="1965960"/>
            <a:ext cx="3410712" cy="457200"/>
          </a:xfrm>
          <a:prstGeom prst="rect">
            <a:avLst/>
          </a:prstGeom>
          <a:noFill/>
          <a:ln>
            <a:noFill/>
          </a:ln>
        </p:spPr>
        <p:txBody>
          <a:bodyPr wrap="square" lIns="0" tIns="0" rIns="0" bIns="0" rtlCol="0" anchor="ctr">
            <a:noAutofit/>
          </a:bodyPr>
          <a:lstStyle/>
          <a:p>
            <a:pPr algn="l">
              <a:buNone/>
            </a:pPr>
            <a:r>
              <a:rPr lang="ja-JP" altLang="en-US" sz="1800" b="1" dirty="0">
                <a:solidFill>
                  <a:srgbClr val="1F285A"/>
                </a:solidFill>
                <a:latin typeface="メイリオ" panose="020B0604030504040204" pitchFamily="50" charset="-128"/>
                <a:ea typeface="メイリオ" panose="020B0604030504040204" pitchFamily="50" charset="-128"/>
              </a:rPr>
              <a:t>獲得単価（CPA）の目安</a:t>
            </a:r>
            <a:endParaRPr lang="ja-JP" altLang="en-US" sz="1800" dirty="0"/>
          </a:p>
        </p:txBody>
      </p:sp>
      <p:sp>
        <p:nvSpPr>
          <p:cNvPr id="21" name="Rectangle 20"/>
          <p:cNvSpPr/>
          <p:nvPr/>
        </p:nvSpPr>
        <p:spPr>
          <a:xfrm>
            <a:off x="5285232" y="2606040"/>
            <a:ext cx="3959352" cy="914400"/>
          </a:xfrm>
          <a:prstGeom prst="rect">
            <a:avLst/>
          </a:prstGeom>
          <a:noFill/>
          <a:ln>
            <a:noFill/>
          </a:ln>
        </p:spPr>
        <p:txBody>
          <a:bodyPr wrap="square" lIns="0" tIns="0" rIns="0" bIns="0" rtlCol="0" anchor="t">
            <a:noAutofit/>
          </a:bodyPr>
          <a:lstStyle/>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資料請求・体験予約の1件あたり、</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いくらまでなら導入をご判断いただけますか。</a:t>
            </a:r>
            <a:endParaRPr lang="ja-JP" altLang="en-US" sz="1300" dirty="0"/>
          </a:p>
        </p:txBody>
      </p:sp>
      <p:sp>
        <p:nvSpPr>
          <p:cNvPr id="22" name="Rounded Rectangle 21"/>
          <p:cNvSpPr/>
          <p:nvPr/>
        </p:nvSpPr>
        <p:spPr>
          <a:xfrm>
            <a:off x="5285232" y="3840480"/>
            <a:ext cx="3959352" cy="731520"/>
          </a:xfrm>
          <a:prstGeom prst="roundRect">
            <a:avLst>
              <a:gd name="adj" fmla="val 10000"/>
            </a:avLst>
          </a:prstGeom>
          <a:solidFill>
            <a:srgbClr val="FFFFFF"/>
          </a:solidFill>
          <a:ln w="9525">
            <a:solidFill>
              <a:srgbClr val="1F285A"/>
            </a:solidFill>
            <a:prstDash val="dash"/>
          </a:ln>
        </p:spPr>
        <p:txBody>
          <a:bodyPr wrap="square" lIns="73152" tIns="36576" rIns="73152" bIns="36576" rtlCol="0" anchor="ctr">
            <a:noAutofit/>
          </a:bodyPr>
          <a:lstStyle/>
          <a:p>
            <a:pPr algn="ctr">
              <a:buNone/>
            </a:pPr>
            <a:r>
              <a:rPr lang="ja-JP" altLang="en-US" sz="1800" b="1" dirty="0">
                <a:solidFill>
                  <a:srgbClr val="1F285A"/>
                </a:solidFill>
                <a:latin typeface="メイリオ" panose="020B0604030504040204" pitchFamily="50" charset="-128"/>
                <a:ea typeface="メイリオ" panose="020B0604030504040204" pitchFamily="50" charset="-128"/>
              </a:rPr>
              <a:t>1件あたり　＿＿＿＿　円まで</a:t>
            </a:r>
            <a:endParaRPr lang="ja-JP" altLang="en-US" sz="1800" dirty="0"/>
          </a:p>
        </p:txBody>
      </p:sp>
      <p:sp>
        <p:nvSpPr>
          <p:cNvPr id="23" name="Rounded Rectangle 22"/>
          <p:cNvSpPr/>
          <p:nvPr/>
        </p:nvSpPr>
        <p:spPr>
          <a:xfrm>
            <a:off x="429768" y="51663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この2つをもとに、次のページの松・竹・梅から、貴塾に合うプランをご提案します。</a:t>
            </a:r>
            <a:endParaRPr lang="ja-JP" altLang="en-US" sz="1400" dirty="0"/>
          </a:p>
        </p:txBody>
      </p:sp>
    </p:spTree>
    <p:extLst>
      <p:ext uri="{BB962C8B-B14F-4D97-AF65-F5344CB8AC3E}">
        <p14:creationId xmlns:p14="http://schemas.microsoft.com/office/powerpoint/2010/main" val="3408147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ご提供プラン｜松・竹・梅</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ご予算と最大の課題に合わせて、3つのプランからお選びいただけます。</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6か月〜・税抜。金額は貴塾の教室数・配信の規模に合わせて確定します。</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600" b="1" dirty="0">
                <a:solidFill>
                  <a:srgbClr val="FFFFFF"/>
                </a:solidFill>
                <a:latin typeface="メイリオ" panose="020B0604030504040204" pitchFamily="50" charset="-128"/>
                <a:ea typeface="メイリオ" panose="020B0604030504040204" pitchFamily="50" charset="-128"/>
              </a:rPr>
              <a:t>松</a:t>
            </a:r>
            <a:endParaRPr lang="ja-JP" altLang="en-US" sz="26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600" dirty="0"/>
          </a:p>
        </p:txBody>
      </p:sp>
      <p:sp>
        <p:nvSpPr>
          <p:cNvPr id="14" name="Rounded Rectangle 13"/>
          <p:cNvSpPr/>
          <p:nvPr/>
        </p:nvSpPr>
        <p:spPr>
          <a:xfrm>
            <a:off x="429768"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月4〜5本（週1回）</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・API連携なども含めて、ここまで対応できます</a:t>
            </a:r>
            <a:endParaRPr lang="ja-JP" altLang="en-US" sz="1300" dirty="0"/>
          </a:p>
        </p:txBody>
      </p:sp>
      <p:sp>
        <p:nvSpPr>
          <p:cNvPr id="16" name="Rounded Rectangle 15"/>
          <p:cNvSpPr/>
          <p:nvPr/>
        </p:nvSpPr>
        <p:spPr>
          <a:xfrm>
            <a:off x="429768"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◯万円</a:t>
            </a:r>
            <a:endParaRPr lang="ja-JP" altLang="en-US" sz="125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600" b="1" dirty="0">
                <a:solidFill>
                  <a:srgbClr val="FFFFFF"/>
                </a:solidFill>
                <a:latin typeface="メイリオ" panose="020B0604030504040204" pitchFamily="50" charset="-128"/>
                <a:ea typeface="メイリオ" panose="020B0604030504040204" pitchFamily="50" charset="-128"/>
              </a:rPr>
              <a:t>竹</a:t>
            </a:r>
            <a:endParaRPr lang="ja-JP" altLang="en-US" sz="26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構築＋新しい友だちを増やす</a:t>
            </a:r>
            <a:endParaRPr lang="ja-JP" altLang="en-US" sz="2600" dirty="0"/>
          </a:p>
        </p:txBody>
      </p:sp>
      <p:sp>
        <p:nvSpPr>
          <p:cNvPr id="18" name="Rounded Rectangle 17"/>
          <p:cNvSpPr/>
          <p:nvPr/>
        </p:nvSpPr>
        <p:spPr>
          <a:xfrm>
            <a:off x="3511296"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月1〜2本</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・新しい友だちを増やすツール・機能の導入</a:t>
            </a:r>
            <a:endParaRPr lang="ja-JP" altLang="en-US" sz="1300" dirty="0"/>
          </a:p>
          <a:p>
            <a:pPr algn="l" marL="146304" indent="-146304">
              <a:lnSpc>
                <a:spcPct val="115000"/>
              </a:lnSpc>
              <a:spcAft>
                <a:spcPts val="600"/>
              </a:spcAft>
              <a:buNone/>
            </a:pPr>
            <a:r>
              <a:rPr lang="ja-JP" altLang="en-US" sz="1100" b="0" dirty="0">
                <a:solidFill>
                  <a:srgbClr val="7F7F7F"/>
                </a:solidFill>
                <a:latin typeface="メイリオ" panose="020B0604030504040204" pitchFamily="50" charset="-128"/>
                <a:ea typeface="メイリオ" panose="020B0604030504040204" pitchFamily="50" charset="-128"/>
              </a:rPr>
              <a:t>・例：離脱防止ポップアップ</a:t>
            </a:r>
            <a:endParaRPr lang="ja-JP" altLang="en-US" sz="1300" dirty="0"/>
          </a:p>
        </p:txBody>
      </p:sp>
      <p:sp>
        <p:nvSpPr>
          <p:cNvPr id="20" name="Rounded Rectangle 19"/>
          <p:cNvSpPr/>
          <p:nvPr/>
        </p:nvSpPr>
        <p:spPr>
          <a:xfrm>
            <a:off x="3511296"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◯万円</a:t>
            </a:r>
            <a:endParaRPr lang="ja-JP" altLang="en-US" sz="125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600" b="1" dirty="0">
                <a:solidFill>
                  <a:srgbClr val="1F285A"/>
                </a:solidFill>
                <a:latin typeface="メイリオ" panose="020B0604030504040204" pitchFamily="50" charset="-128"/>
                <a:ea typeface="メイリオ" panose="020B0604030504040204" pitchFamily="50" charset="-128"/>
              </a:rPr>
              <a:t>梅</a:t>
            </a:r>
            <a:endParaRPr lang="ja-JP" altLang="en-US" sz="26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ツールの導入を支援</a:t>
            </a:r>
            <a:endParaRPr lang="ja-JP" altLang="en-US" sz="2600" dirty="0"/>
          </a:p>
        </p:txBody>
      </p:sp>
      <p:sp>
        <p:nvSpPr>
          <p:cNvPr id="22" name="Rounded Rectangle 21"/>
          <p:cNvSpPr/>
          <p:nvPr/>
        </p:nvSpPr>
        <p:spPr>
          <a:xfrm>
            <a:off x="6592824"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・ツールの導入支援</a:t>
            </a:r>
            <a:endParaRPr lang="ja-JP" altLang="en-US" sz="1300" dirty="0"/>
          </a:p>
          <a:p>
            <a:pPr algn="l" marL="146304" indent="-146304">
              <a:lnSpc>
                <a:spcPct val="115000"/>
              </a:lnSpc>
              <a:spcAft>
                <a:spcPts val="600"/>
              </a:spcAft>
              <a:buNone/>
            </a:pPr>
            <a:r>
              <a:rPr lang="ja-JP" altLang="en-US" sz="1100" b="0" dirty="0">
                <a:solidFill>
                  <a:srgbClr val="7F7F7F"/>
                </a:solidFill>
                <a:latin typeface="メイリオ" panose="020B0604030504040204" pitchFamily="50" charset="-128"/>
                <a:ea typeface="メイリオ" panose="020B0604030504040204" pitchFamily="50" charset="-128"/>
              </a:rPr>
              <a:t>・例：サンクスLINE誘導のみ（申し込み完了画面からLINEへ）</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・月額は手数料のみ</a:t>
            </a:r>
            <a:endParaRPr lang="ja-JP" altLang="en-US" sz="1300" dirty="0"/>
          </a:p>
        </p:txBody>
      </p:sp>
      <p:sp>
        <p:nvSpPr>
          <p:cNvPr id="24" name="Rounded Rectangle 23"/>
          <p:cNvSpPr/>
          <p:nvPr/>
        </p:nvSpPr>
        <p:spPr>
          <a:xfrm>
            <a:off x="6592824"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手数料 ◯万円</a:t>
            </a:r>
            <a:endParaRPr lang="ja-JP" altLang="en-US" sz="1250" dirty="0"/>
          </a:p>
        </p:txBody>
      </p:sp>
    </p:spTree>
    <p:extLst>
      <p:ext uri="{BB962C8B-B14F-4D97-AF65-F5344CB8AC3E}">
        <p14:creationId xmlns:p14="http://schemas.microsoft.com/office/powerpoint/2010/main" val="3211046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ご提供プラン｜松・竹・梅</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ご予算と最大の課題に合わせて、3つのプランからお選びいただけます。</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6か月〜・税抜。金額は貴塾の教室数・配信の規模に合わせて確定します。</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28800" bIns="28800"/>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600" b="1" dirty="0">
                <a:solidFill>
                  <a:srgbClr val="FFFFFF"/>
                </a:solidFill>
                <a:latin typeface="メイリオ" panose="020B0604030504040204" pitchFamily="50" charset="-128"/>
                <a:ea typeface="メイリオ" panose="020B0604030504040204" pitchFamily="50" charset="-128"/>
              </a:rPr>
              <a:t>松</a:t>
            </a:r>
            <a:r>
              <a:rPr lang="ja-JP" altLang="en-US" sz="1200" b="1" dirty="0">
                <a:solidFill>
                  <a:srgbClr val="FFFFFF"/>
                </a:solidFill>
                <a:latin typeface="メイリオ" panose="020B0604030504040204" pitchFamily="50" charset="-128"/>
                <a:ea typeface="メイリオ" panose="020B0604030504040204" pitchFamily="50" charset="-128"/>
              </a:rPr>
              <a:t>　MAX</a:t>
            </a:r>
            <a:endParaRPr lang="ja-JP" altLang="en-US" sz="26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最適運用プラン（開発を含む）</a:t>
            </a:r>
            <a:endParaRPr lang="ja-JP" altLang="en-US" sz="2600" dirty="0"/>
          </a:p>
        </p:txBody>
      </p:sp>
      <p:sp>
        <p:nvSpPr>
          <p:cNvPr id="14" name="Rounded Rectangle 13"/>
          <p:cNvSpPr/>
          <p:nvPr/>
        </p:nvSpPr>
        <p:spPr>
          <a:xfrm>
            <a:off x="429768"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・開発を含むプラン</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・Hachidoriなどのツールと連携</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・貴塾に合わせた最適な運用</a:t>
            </a:r>
            <a:endParaRPr lang="ja-JP" altLang="en-US" sz="1300" dirty="0"/>
          </a:p>
        </p:txBody>
      </p:sp>
      <p:sp>
        <p:nvSpPr>
          <p:cNvPr id="16" name="Rounded Rectangle 15"/>
          <p:cNvSpPr/>
          <p:nvPr/>
        </p:nvSpPr>
        <p:spPr>
          <a:xfrm>
            <a:off x="429768"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◯万円</a:t>
            </a:r>
            <a:endParaRPr lang="ja-JP" altLang="en-US" sz="125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600" b="1" dirty="0">
                <a:solidFill>
                  <a:srgbClr val="FFFFFF"/>
                </a:solidFill>
                <a:latin typeface="メイリオ" panose="020B0604030504040204" pitchFamily="50" charset="-128"/>
                <a:ea typeface="メイリオ" panose="020B0604030504040204" pitchFamily="50" charset="-128"/>
              </a:rPr>
              <a:t>竹</a:t>
            </a:r>
            <a:r>
              <a:rPr lang="ja-JP" altLang="en-US" sz="1200" b="1" dirty="0">
                <a:solidFill>
                  <a:srgbClr val="FFFFFF"/>
                </a:solidFill>
                <a:latin typeface="メイリオ" panose="020B0604030504040204" pitchFamily="50" charset="-128"/>
                <a:ea typeface="メイリオ" panose="020B0604030504040204" pitchFamily="50" charset="-128"/>
              </a:rPr>
              <a:t>　MID</a:t>
            </a:r>
            <a:endParaRPr lang="ja-JP" altLang="en-US" sz="26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600" dirty="0"/>
          </a:p>
        </p:txBody>
      </p:sp>
      <p:sp>
        <p:nvSpPr>
          <p:cNvPr id="18" name="Rounded Rectangle 17"/>
          <p:cNvSpPr/>
          <p:nvPr/>
        </p:nvSpPr>
        <p:spPr>
          <a:xfrm>
            <a:off x="3511296"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月4〜5本（週1回）</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p:txBody>
      </p:sp>
      <p:sp>
        <p:nvSpPr>
          <p:cNvPr id="20" name="Rounded Rectangle 19"/>
          <p:cNvSpPr/>
          <p:nvPr/>
        </p:nvSpPr>
        <p:spPr>
          <a:xfrm>
            <a:off x="3511296"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◯万円</a:t>
            </a:r>
            <a:endParaRPr lang="ja-JP" altLang="en-US" sz="125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600" b="1" dirty="0">
                <a:solidFill>
                  <a:srgbClr val="1F285A"/>
                </a:solidFill>
                <a:latin typeface="メイリオ" panose="020B0604030504040204" pitchFamily="50" charset="-128"/>
                <a:ea typeface="メイリオ" panose="020B0604030504040204" pitchFamily="50" charset="-128"/>
              </a:rPr>
              <a:t>梅</a:t>
            </a:r>
            <a:r>
              <a:rPr lang="ja-JP" altLang="en-US" sz="1200" b="1" dirty="0">
                <a:solidFill>
                  <a:srgbClr val="1F285A"/>
                </a:solidFill>
                <a:latin typeface="メイリオ" panose="020B0604030504040204" pitchFamily="50" charset="-128"/>
                <a:ea typeface="メイリオ" panose="020B0604030504040204" pitchFamily="50" charset="-128"/>
              </a:rPr>
              <a:t>　MIN</a:t>
            </a:r>
            <a:endParaRPr lang="ja-JP" altLang="en-US" sz="26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サンクスLINE誘導のみ</a:t>
            </a:r>
            <a:endParaRPr lang="ja-JP" altLang="en-US" sz="2600" dirty="0"/>
          </a:p>
        </p:txBody>
      </p:sp>
      <p:sp>
        <p:nvSpPr>
          <p:cNvPr id="22" name="Rounded Rectangle 21"/>
          <p:cNvSpPr/>
          <p:nvPr/>
        </p:nvSpPr>
        <p:spPr>
          <a:xfrm>
            <a:off x="6592824" y="2560320"/>
            <a:ext cx="2880360" cy="251460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240280"/>
          </a:xfrm>
          <a:prstGeom prst="rect">
            <a:avLst/>
          </a:prstGeom>
          <a:noFill/>
          <a:ln>
            <a:noFill/>
          </a:ln>
        </p:spPr>
        <p:txBody>
          <a:bodyPr wrap="square" lIns="0" tIns="0" rIns="0" bIns="0" rtlCol="0" anchor="t">
            <a:noAutofit/>
          </a:bodyPr>
          <a:lstStyle/>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・サンクスLINE誘導のみ</a:t>
            </a:r>
            <a:endParaRPr lang="ja-JP" altLang="en-US" sz="1300" dirty="0"/>
          </a:p>
          <a:p>
            <a:pPr algn="l" marL="146304" indent="-146304">
              <a:lnSpc>
                <a:spcPct val="115000"/>
              </a:lnSpc>
              <a:spcAft>
                <a:spcPts val="600"/>
              </a:spcAft>
              <a:buNone/>
            </a:pPr>
            <a:r>
              <a:rPr lang="ja-JP" altLang="en-US" sz="1100" b="0" dirty="0">
                <a:solidFill>
                  <a:srgbClr val="7F7F7F"/>
                </a:solidFill>
                <a:latin typeface="メイリオ" panose="020B0604030504040204" pitchFamily="50" charset="-128"/>
                <a:ea typeface="メイリオ" panose="020B0604030504040204" pitchFamily="50" charset="-128"/>
              </a:rPr>
              <a:t>・例：申し込み完了画面からLINEへ</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algn="l" marL="146304" indent="-146304">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・月額は手数料のみ</a:t>
            </a:r>
            <a:endParaRPr lang="ja-JP" altLang="en-US" sz="1300" dirty="0"/>
          </a:p>
        </p:txBody>
      </p:sp>
      <p:sp>
        <p:nvSpPr>
          <p:cNvPr id="24" name="Rounded Rectangle 23"/>
          <p:cNvSpPr/>
          <p:nvPr/>
        </p:nvSpPr>
        <p:spPr>
          <a:xfrm>
            <a:off x="6592824" y="5166360"/>
            <a:ext cx="2880360" cy="5486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初期費用 ◯万円／月額 手数料 ◯万円</a:t>
            </a:r>
            <a:endParaRPr lang="ja-JP" altLang="en-US" sz="1250" dirty="0"/>
          </a:p>
        </p:txBody>
      </p:sp>
    </p:spTree>
    <p:extLst>
      <p:ext uri="{BB962C8B-B14F-4D97-AF65-F5344CB8AC3E}">
        <p14:creationId xmlns:p14="http://schemas.microsoft.com/office/powerpoint/2010/main" val="3851594300"/>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141724</TotalTime>
  <Words>5627</Words>
  <Application>Microsoft Office PowerPoint</Application>
  <PresentationFormat>A4 210 x 297 mm</PresentationFormat>
  <Paragraphs>1064</Paragraphs>
  <Slides>51</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51</vt:i4>
      </vt:variant>
    </vt:vector>
  </HeadingPairs>
  <TitlesOfParts>
    <vt:vector size="58"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1923</cp:revision>
  <cp:lastPrinted>2022-11-01T11:38:14Z</cp:lastPrinted>
  <dcterms:created xsi:type="dcterms:W3CDTF">2015-09-04T09:21:15Z</dcterms:created>
  <dcterms:modified xsi:type="dcterms:W3CDTF">2026-09-17T01:02:07Z</dcterms:modified>
</cp:coreProperties>
</file>