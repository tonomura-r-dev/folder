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2982" r:id="rId11"/>
    <p:sldId id="2986" r:id="rId16"/>
    <p:sldId id="2983" r:id="rId13"/>
    <p:sldId id="2977" r:id="rId7"/>
    <p:sldId id="2984" r:id="rId14"/>
    <p:sldId id="2996" r:id="rId49"/>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6" r:id="rId59"/>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最初は志望校・偏差値・検定、迷うと塾選び・費用・いつから。塾の名前はそのあと。</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出典｜LINEヤフー前後検索（2026年10月取得）起点KW：中学受験 塾／中高一貫 塾／高校受験 塾／英語 塾</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5" name="Rounded Rectangle 44"/>
          <p:cNvSpPr/>
          <p:nvPr/>
        </p:nvSpPr>
        <p:spPr>
          <a:xfrm>
            <a:off x="429768" y="4518000"/>
            <a:ext cx="132588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2B5797"/>
                </a:solidFill>
                <a:latin typeface="メイリオ"/>
                <a:ea typeface="メイリオ"/>
                <a:cs typeface="メイリオ"/>
              </a:rPr>
              <a:t>志望校・偏差値</a:t>
            </a:r>
          </a:p>
        </p:txBody>
      </p:sp>
      <p:sp>
        <p:nvSpPr>
          <p:cNvPr id="46" name="Rounded Rectangle 45"/>
          <p:cNvSpPr/>
          <p:nvPr/>
        </p:nvSpPr>
        <p:spPr>
          <a:xfrm>
            <a:off x="1810512" y="4518000"/>
            <a:ext cx="132588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7440A8"/>
                </a:solidFill>
                <a:latin typeface="メイリオ"/>
                <a:ea typeface="メイリオ"/>
                <a:cs typeface="メイリオ"/>
              </a:rPr>
              <a:t>検定・勉強法</a:t>
            </a:r>
          </a:p>
        </p:txBody>
      </p:sp>
      <p:sp>
        <p:nvSpPr>
          <p:cNvPr id="47" name="Rounded Rectangle 46"/>
          <p:cNvSpPr/>
          <p:nvPr/>
        </p:nvSpPr>
        <p:spPr>
          <a:xfrm>
            <a:off x="3191256" y="4518000"/>
            <a:ext cx="1325880" cy="198000"/>
          </a:xfrm>
          <a:prstGeom prst="roundRect">
            <a:avLst>
              <a:gd name="adj" fmla="val 20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C0561A"/>
                </a:solidFill>
                <a:latin typeface="メイリオ"/>
                <a:ea typeface="メイリオ"/>
                <a:cs typeface="メイリオ"/>
              </a:rPr>
              <a:t>塾選び・費用・時期</a:t>
            </a:r>
          </a:p>
        </p:txBody>
      </p:sp>
      <p:sp>
        <p:nvSpPr>
          <p:cNvPr id="48" name="Rounded Rectangle 47"/>
          <p:cNvSpPr/>
          <p:nvPr/>
        </p:nvSpPr>
        <p:spPr>
          <a:xfrm>
            <a:off x="4572000" y="4518000"/>
            <a:ext cx="132588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00796B"/>
                </a:solidFill>
                <a:latin typeface="メイリオ"/>
                <a:ea typeface="メイリオ"/>
                <a:cs typeface="メイリオ"/>
              </a:rPr>
              <a:t>塾名・料金・口コミ</a:t>
            </a:r>
          </a:p>
        </p:txBody>
      </p:sp>
      <p:sp>
        <p:nvSpPr>
          <p:cNvPr id="49" name="Rectangle 48"/>
          <p:cNvSpPr/>
          <p:nvPr/>
        </p:nvSpPr>
        <p:spPr>
          <a:xfrm>
            <a:off x="5971032" y="4518000"/>
            <a:ext cx="3502152"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※検索は首都圏が中心（塾の名前は首都圏の大手）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塾の名前を調べる前に、保護者はもう志望校・偏差値・検定を調べている。</a:t>
            </a:r>
          </a:p>
          <a:p>
            <a:pPr algn="ctr"/>
            <a:r>
              <a:rPr sz="1100" b="0">
                <a:solidFill>
                  <a:srgbClr val="FFFFFF"/>
                </a:solidFill>
                <a:latin typeface="メイリオ"/>
                <a:ea typeface="メイリオ"/>
                <a:cs typeface="メイリオ"/>
              </a:rPr>
              <a:t>塾の名前を調べた後も、料金・入室テスト・口コミで比べている。その間、塾と保護者の接点はない。</a:t>
            </a:r>
          </a:p>
        </p:txBody>
      </p:sp>
      <p:sp>
        <p:nvSpPr>
          <p:cNvPr id="51" name="Rounded Rectangle 50"/>
          <p:cNvSpPr/>
          <p:nvPr/>
        </p:nvSpPr>
        <p:spPr>
          <a:xfrm>
            <a:off x="432000"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15〜3日前</a:t>
            </a:r>
            <a:endParaRPr lang="ja-JP" altLang="en-US" sz="1050" dirty="0"/>
          </a:p>
          <a:p>
            <a:pPr algn="l">
              <a:lnSpc>
                <a:spcPct val="112000"/>
              </a:lnSpc>
              <a:spcAft>
                <a:spcPts val="100"/>
              </a:spcAft>
              <a:buNone/>
            </a:pPr>
            <a:r>
              <a:rPr lang="ja-JP" altLang="en-US" sz="1050" b="0" dirty="0">
                <a:solidFill>
                  <a:srgbClr val="2B5797"/>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偏差値 2025</a:t>
            </a:r>
            <a:endParaRPr lang="ja-JP" altLang="en-US" sz="1050" dirty="0"/>
          </a:p>
          <a:p>
            <a:pPr algn="l">
              <a:lnSpc>
                <a:spcPct val="112000"/>
              </a:lnSpc>
              <a:spcAft>
                <a:spcPts val="100"/>
              </a:spcAft>
              <a:buNone/>
            </a:pPr>
            <a:r>
              <a:rPr lang="ja-JP" altLang="en-US" sz="1050" b="0" dirty="0">
                <a:solidFill>
                  <a:srgbClr val="2B5797"/>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私立中学 偏差値ランキング</a:t>
            </a:r>
            <a:endParaRPr lang="ja-JP" altLang="en-US" sz="1050" dirty="0"/>
          </a:p>
          <a:p>
            <a:pPr algn="l">
              <a:lnSpc>
                <a:spcPct val="112000"/>
              </a:lnSpc>
              <a:spcAft>
                <a:spcPts val="100"/>
              </a:spcAft>
              <a:buNone/>
            </a:pPr>
            <a:r>
              <a:rPr lang="ja-JP" altLang="en-US" sz="1050" b="0" dirty="0">
                <a:solidFill>
                  <a:srgbClr val="2B5797"/>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入試日程</a:t>
            </a:r>
            <a:endParaRPr lang="ja-JP" altLang="en-US" sz="1050" dirty="0"/>
          </a:p>
          <a:p>
            <a:pPr algn="l">
              <a:lnSpc>
                <a:spcPct val="112000"/>
              </a:lnSpc>
              <a:spcAft>
                <a:spcPts val="100"/>
              </a:spcAft>
              <a:buNone/>
            </a:pPr>
            <a:r>
              <a:rPr lang="ja-JP" altLang="en-US" sz="1050" b="0" dirty="0">
                <a:solidFill>
                  <a:srgbClr val="2B5797"/>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 偏差値 東京</a:t>
            </a:r>
            <a:endParaRPr lang="ja-JP" altLang="en-US" sz="1050" dirty="0"/>
          </a:p>
          <a:p>
            <a:pPr algn="l">
              <a:lnSpc>
                <a:spcPct val="112000"/>
              </a:lnSpc>
              <a:spcAft>
                <a:spcPts val="100"/>
              </a:spcAft>
              <a:buNone/>
            </a:pPr>
            <a:r>
              <a:rPr lang="ja-JP" altLang="en-US" sz="1050" b="0" dirty="0">
                <a:solidFill>
                  <a:srgbClr val="7440A8"/>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英検 日程</a:t>
            </a:r>
            <a:endParaRPr lang="ja-JP" altLang="en-US" sz="1050" dirty="0"/>
          </a:p>
          <a:p>
            <a:pPr algn="l">
              <a:lnSpc>
                <a:spcPct val="112000"/>
              </a:lnSpc>
              <a:spcAft>
                <a:spcPts val="100"/>
              </a:spcAft>
              <a:buNone/>
            </a:pPr>
            <a:r>
              <a:rPr lang="ja-JP" altLang="en-US" sz="1050" b="0" dirty="0">
                <a:solidFill>
                  <a:srgbClr val="7440A8"/>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漢検／算数検定</a:t>
            </a:r>
            <a:endParaRPr lang="ja-JP" altLang="en-US" sz="1050" dirty="0"/>
          </a:p>
          <a:p>
            <a:pPr algn="l">
              <a:lnSpc>
                <a:spcPct val="112000"/>
              </a:lnSpc>
              <a:spcAft>
                <a:spcPts val="100"/>
              </a:spcAft>
              <a:buNone/>
            </a:pPr>
            <a:r>
              <a:rPr lang="ja-JP" altLang="en-US" sz="1050" b="0" dirty="0">
                <a:solidFill>
                  <a:srgbClr val="7440A8"/>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社会 勉強方法</a:t>
            </a:r>
            <a:endParaRPr lang="ja-JP" altLang="en-US" sz="1050" dirty="0"/>
          </a:p>
          <a:p>
            <a:pPr algn="l">
              <a:lnSpc>
                <a:spcPct val="112000"/>
              </a:lnSpc>
              <a:spcAft>
                <a:spcPts val="100"/>
              </a:spcAft>
              <a:buNone/>
            </a:pPr>
            <a:r>
              <a:rPr lang="ja-JP" altLang="en-US" sz="1050" b="0" dirty="0">
                <a:solidFill>
                  <a:srgbClr val="C0561A"/>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高校受験 どっち</a:t>
            </a:r>
            <a:endParaRPr lang="ja-JP" altLang="en-US" sz="1050" dirty="0"/>
          </a:p>
        </p:txBody>
      </p:sp>
      <p:sp>
        <p:nvSpPr>
          <p:cNvPr id="52" name="Rounded Rectangle 51"/>
          <p:cNvSpPr/>
          <p:nvPr/>
        </p:nvSpPr>
        <p:spPr>
          <a:xfrm>
            <a:off x="34991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3日前〜当日</a:t>
            </a:r>
            <a:endParaRPr lang="ja-JP" altLang="en-US" sz="1050" dirty="0"/>
          </a:p>
          <a:p>
            <a:pPr algn="l">
              <a:lnSpc>
                <a:spcPct val="112000"/>
              </a:lnSpc>
              <a:spcAft>
                <a:spcPts val="100"/>
              </a:spcAft>
              <a:buNone/>
            </a:pPr>
            <a:r>
              <a:rPr lang="ja-JP" altLang="en-US" sz="1050" b="0" dirty="0">
                <a:solidFill>
                  <a:srgbClr val="C0561A"/>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塾選び</a:t>
            </a:r>
            <a:endParaRPr lang="ja-JP" altLang="en-US" sz="1050" dirty="0"/>
          </a:p>
          <a:p>
            <a:pPr algn="l">
              <a:lnSpc>
                <a:spcPct val="112000"/>
              </a:lnSpc>
              <a:spcAft>
                <a:spcPts val="100"/>
              </a:spcAft>
              <a:buNone/>
            </a:pPr>
            <a:r>
              <a:rPr lang="ja-JP" altLang="en-US" sz="1050" b="0" dirty="0">
                <a:solidFill>
                  <a:srgbClr val="C0561A"/>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いつから</a:t>
            </a:r>
            <a:endParaRPr lang="ja-JP" altLang="en-US" sz="1050" dirty="0"/>
          </a:p>
          <a:p>
            <a:pPr algn="l">
              <a:lnSpc>
                <a:spcPct val="112000"/>
              </a:lnSpc>
              <a:spcAft>
                <a:spcPts val="100"/>
              </a:spcAft>
              <a:buNone/>
            </a:pPr>
            <a:r>
              <a:rPr lang="ja-JP" altLang="en-US" sz="1050" b="0" dirty="0">
                <a:solidFill>
                  <a:srgbClr val="C0561A"/>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費用</a:t>
            </a:r>
            <a:endParaRPr lang="ja-JP" altLang="en-US" sz="1050" dirty="0"/>
          </a:p>
          <a:p>
            <a:pPr algn="l">
              <a:lnSpc>
                <a:spcPct val="112000"/>
              </a:lnSpc>
              <a:spcAft>
                <a:spcPts val="100"/>
              </a:spcAft>
              <a:buNone/>
            </a:pPr>
            <a:r>
              <a:rPr lang="ja-JP" altLang="en-US" sz="1050" b="0" dirty="0">
                <a:solidFill>
                  <a:srgbClr val="C0561A"/>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 ランキング</a:t>
            </a:r>
            <a:endParaRPr lang="ja-JP" altLang="en-US" sz="1050" dirty="0"/>
          </a:p>
          <a:p>
            <a:pPr algn="l">
              <a:lnSpc>
                <a:spcPct val="112000"/>
              </a:lnSpc>
              <a:spcAft>
                <a:spcPts val="100"/>
              </a:spcAft>
              <a:buNone/>
            </a:pPr>
            <a:r>
              <a:rPr lang="ja-JP" altLang="en-US" sz="1050" b="0" dirty="0">
                <a:solidFill>
                  <a:srgbClr val="C0561A"/>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個別指導のみ</a:t>
            </a:r>
            <a:endParaRPr lang="ja-JP" altLang="en-US" sz="1050" dirty="0"/>
          </a:p>
          <a:p>
            <a:pPr algn="l">
              <a:lnSpc>
                <a:spcPct val="112000"/>
              </a:lnSpc>
              <a:spcAft>
                <a:spcPts val="100"/>
              </a:spcAft>
              <a:buNone/>
            </a:pPr>
            <a:r>
              <a:rPr lang="ja-JP" altLang="en-US" sz="1050" b="0" dirty="0">
                <a:solidFill>
                  <a:srgbClr val="7440A8"/>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塾なし 高校受験</a:t>
            </a:r>
            <a:endParaRPr lang="ja-JP" altLang="en-US" sz="1050" dirty="0"/>
          </a:p>
          <a:p>
            <a:pPr algn="l">
              <a:lnSpc>
                <a:spcPct val="112000"/>
              </a:lnSpc>
              <a:spcAft>
                <a:spcPts val="100"/>
              </a:spcAft>
              <a:buNone/>
            </a:pPr>
            <a:r>
              <a:rPr lang="ja-JP" altLang="en-US" sz="1050" b="0" dirty="0">
                <a:solidFill>
                  <a:srgbClr val="7440A8"/>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勉強方法</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森塾 口コミ</a:t>
            </a:r>
            <a:endParaRPr lang="ja-JP" altLang="en-US" sz="1050" dirty="0"/>
          </a:p>
        </p:txBody>
      </p:sp>
      <p:sp>
        <p:nvSpPr>
          <p:cNvPr id="53" name="Rounded Rectangle 52"/>
          <p:cNvSpPr/>
          <p:nvPr/>
        </p:nvSpPr>
        <p:spPr>
          <a:xfrm>
            <a:off x="65663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当日</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日能研／サピックス</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早稲田アカデミー／ena</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栄光ゼミナール／臨海セミナー</a:t>
            </a:r>
            <a:endParaRPr lang="ja-JP" altLang="en-US" sz="1050" dirty="0"/>
          </a:p>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その後（1〜15日後）</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 料金</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サピックス 入室テスト</a:t>
            </a:r>
            <a:endParaRPr lang="ja-JP" altLang="en-US" sz="1050" dirty="0"/>
          </a:p>
          <a:p>
            <a:pPr algn="l">
              <a:lnSpc>
                <a:spcPct val="112000"/>
              </a:lnSpc>
              <a:spcAft>
                <a:spcPts val="100"/>
              </a:spcAft>
              <a:buNone/>
            </a:pPr>
            <a:r>
              <a:rPr lang="ja-JP" altLang="en-US" sz="1050" b="0" dirty="0">
                <a:solidFill>
                  <a:srgbClr val="00796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臨海セミナー 評判</a:t>
            </a:r>
            <a:endParaRPr lang="ja-JP" altLang="en-US" sz="1050" dirty="0"/>
          </a:p>
          <a:p>
            <a:pPr algn="l">
              <a:lnSpc>
                <a:spcPct val="112000"/>
              </a:lnSpc>
              <a:spcAft>
                <a:spcPts val="100"/>
              </a:spcAft>
              <a:buNone/>
            </a:pPr>
            <a:r>
              <a:rPr lang="ja-JP" altLang="en-US" sz="1050" b="0" dirty="0">
                <a:solidFill>
                  <a:srgbClr val="2B5797"/>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偏差値 2024</a:t>
            </a:r>
            <a:endParaRPr lang="ja-JP" altLang="en-US" sz="1050" dirty="0"/>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（教室は電話・Web・LINEで予約）</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明光義塾はLINEで成果を出している（LINEヤフー公式事例）</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FFF2CC"/>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資料請求 → 体験予約」を</a:t>
            </a:r>
          </a:p>
          <a:p>
            <a:pPr algn="l"/>
            <a:r>
              <a:rPr sz="950" b="0">
                <a:solidFill>
                  <a:srgbClr val="333333"/>
                </a:solidFill>
                <a:latin typeface="メイリオ"/>
                <a:ea typeface="メイリオ"/>
                <a:cs typeface="メイリオ"/>
              </a:rPr>
              <a:t>　LINEの中でつないでいる塾は、確認できなかった</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保護者向けに、診断から資料請求・体験予約までをLINEでつなぐ。ここはまだ空いている。</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ED7D31"/>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P7〜P9のデータを、すべきことに置き換える。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検索の山は2月と7月（P9）</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「一緒に体験しよう」をLINEで送ってもらう（P19）</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※競合の診断（トライの性格別学習法診断など）はP11の調査結果を参照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※前後検索（P8）：比べている間は、塾の費用・いつから・口コミを調べている。配信の中身をこれに合わせる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前日リマインドへ（P26）</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※事例の数字は貴社の実績に差し替え、学年・期間・通った回数を書く。体験予約の前日のメッセージはP26</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「テスト後、9割の家庭がしない事」（P25）</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FF7F0"/>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C55A11"/>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2人まとめてLINEで予約（P19）</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P8・P10・P24</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P9・P28</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P19・P29</a:t>
            </a:r>
          </a:p>
        </p:txBody>
      </p:sp>
      <p:sp>
        <p:nvSpPr>
          <p:cNvPr id="28"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3851999"/>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P48</a:t>
            </a:r>
          </a:p>
        </p:txBody>
      </p:sp>
      <p:sp>
        <p:nvSpPr>
          <p:cNvPr id="30" name="Rectangle 29"/>
          <p:cNvSpPr/>
          <p:nvPr/>
        </p:nvSpPr>
        <p:spPr>
          <a:xfrm>
            <a:off x="1764000" y="3851999"/>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・競合の実名掲載（P11）と、民間調査の引用可否は上司に確認する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ご予算の確認</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プランをお選びいただく前に、2つ確認させてください。</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91640"/>
            <a:ext cx="4416552" cy="3200400"/>
          </a:xfrm>
          <a:prstGeom prst="roundRect">
            <a:avLst>
              <a:gd name="adj" fmla="val 5000"/>
            </a:avLst>
          </a:prstGeom>
          <a:solidFill>
            <a:srgbClr val="F4F7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4" name="Rounded Rectangle 13"/>
          <p:cNvSpPr/>
          <p:nvPr/>
        </p:nvSpPr>
        <p:spPr>
          <a:xfrm>
            <a:off x="658368" y="1965960"/>
            <a:ext cx="457200" cy="457200"/>
          </a:xfrm>
          <a:prstGeom prst="roundRect">
            <a:avLst/>
          </a:prstGeom>
          <a:solidFill>
            <a:srgbClr val="1F285A"/>
          </a:solidFill>
          <a:ln>
            <a:noFill/>
          </a:ln>
        </p:spPr>
        <p:txBody>
          <a:bodyPr wrap="square" lIns="0" tIns="0" rIns="0" bIns="0" rtlCol="0" anchor="ctr">
            <a:noAutofit/>
          </a:bodyPr>
          <a:lstStyle/>
          <a:p>
            <a:pPr algn="ctr">
              <a:buNone/>
            </a:pPr>
            <a:r>
              <a:rPr lang="ja-JP" altLang="en-US" sz="1800" b="1" dirty="0">
                <a:solidFill>
                  <a:srgbClr val="FFFFFF"/>
                </a:solidFill>
                <a:latin typeface="メイリオ" panose="020B0604030504040204" pitchFamily="50" charset="-128"/>
                <a:ea typeface="メイリオ" panose="020B0604030504040204" pitchFamily="50" charset="-128"/>
              </a:rPr>
              <a:t>1</a:t>
            </a:r>
            <a:endParaRPr lang="ja-JP" altLang="en-US" sz="1800" dirty="0"/>
          </a:p>
        </p:txBody>
      </p:sp>
      <p:sp>
        <p:nvSpPr>
          <p:cNvPr id="15" name="Rectangle 14"/>
          <p:cNvSpPr/>
          <p:nvPr/>
        </p:nvSpPr>
        <p:spPr>
          <a:xfrm>
            <a:off x="1252728" y="1965960"/>
            <a:ext cx="3410712" cy="457200"/>
          </a:xfrm>
          <a:prstGeom prst="rect">
            <a:avLst/>
          </a:prstGeom>
          <a:noFill/>
          <a:ln>
            <a:noFill/>
          </a:ln>
        </p:spPr>
        <p:txBody>
          <a:bodyPr wrap="square" lIns="0" tIns="0" rIns="0" bIns="0" rtlCol="0" anchor="ctr">
            <a:noAutofit/>
          </a:bodyPr>
          <a:lstStyle/>
          <a:p>
            <a:pPr algn="l">
              <a:buNone/>
            </a:pPr>
            <a:r>
              <a:rPr lang="ja-JP" altLang="en-US" sz="1800" b="1" dirty="0">
                <a:solidFill>
                  <a:srgbClr val="1F285A"/>
                </a:solidFill>
                <a:latin typeface="メイリオ" panose="020B0604030504040204" pitchFamily="50" charset="-128"/>
                <a:ea typeface="メイリオ" panose="020B0604030504040204" pitchFamily="50" charset="-128"/>
              </a:rPr>
              <a:t>月々のご予算</a:t>
            </a:r>
            <a:endParaRPr lang="ja-JP" altLang="en-US" sz="1800" dirty="0"/>
          </a:p>
        </p:txBody>
      </p:sp>
      <p:sp>
        <p:nvSpPr>
          <p:cNvPr id="16" name="Rectangle 15"/>
          <p:cNvSpPr/>
          <p:nvPr/>
        </p:nvSpPr>
        <p:spPr>
          <a:xfrm>
            <a:off x="658368" y="2606040"/>
            <a:ext cx="3959352" cy="914400"/>
          </a:xfrm>
          <a:prstGeom prst="rect">
            <a:avLst/>
          </a:prstGeom>
          <a:noFill/>
          <a:ln>
            <a:noFill/>
          </a:ln>
        </p:spPr>
        <p:txBody>
          <a:bodyPr wrap="square" lIns="0" tIns="0" rIns="0" bIns="0" rtlCol="0" anchor="t">
            <a:noAutofit/>
          </a:bodyPr>
          <a:lstStyle/>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LINEの運用に、月々いくらまで</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かけられますか。</a:t>
            </a:r>
            <a:endParaRPr lang="ja-JP" altLang="en-US" sz="1300" dirty="0"/>
          </a:p>
        </p:txBody>
      </p:sp>
      <p:sp>
        <p:nvSpPr>
          <p:cNvPr id="17" name="Rounded Rectangle 16"/>
          <p:cNvSpPr/>
          <p:nvPr/>
        </p:nvSpPr>
        <p:spPr>
          <a:xfrm>
            <a:off x="658368" y="3840480"/>
            <a:ext cx="3959352" cy="731520"/>
          </a:xfrm>
          <a:prstGeom prst="roundRect">
            <a:avLst>
              <a:gd name="adj" fmla="val 10000"/>
            </a:avLst>
          </a:prstGeom>
          <a:solidFill>
            <a:srgbClr val="FFFFFF"/>
          </a:solidFill>
          <a:ln w="9525">
            <a:solidFill>
              <a:srgbClr val="1F285A"/>
            </a:solidFill>
            <a:prstDash val="dash"/>
          </a:ln>
        </p:spPr>
        <p:txBody>
          <a:bodyPr wrap="square" lIns="73152" tIns="36576" rIns="73152" bIns="36576" rtlCol="0" anchor="ctr">
            <a:noAutofit/>
          </a:bodyPr>
          <a:lstStyle/>
          <a:p>
            <a:pPr algn="ctr">
              <a:buNone/>
            </a:pPr>
            <a:r>
              <a:rPr lang="ja-JP" altLang="en-US" sz="1800" b="1" dirty="0">
                <a:solidFill>
                  <a:srgbClr val="1F285A"/>
                </a:solidFill>
                <a:latin typeface="メイリオ" panose="020B0604030504040204" pitchFamily="50" charset="-128"/>
                <a:ea typeface="メイリオ" panose="020B0604030504040204" pitchFamily="50" charset="-128"/>
              </a:rPr>
              <a:t>月額　＿＿＿＿　万円まで</a:t>
            </a:r>
            <a:endParaRPr lang="ja-JP" altLang="en-US" sz="1800" dirty="0"/>
          </a:p>
        </p:txBody>
      </p:sp>
      <p:sp>
        <p:nvSpPr>
          <p:cNvPr id="18" name="Rounded Rectangle 17"/>
          <p:cNvSpPr/>
          <p:nvPr/>
        </p:nvSpPr>
        <p:spPr>
          <a:xfrm>
            <a:off x="5056632" y="1691640"/>
            <a:ext cx="4416552" cy="3200400"/>
          </a:xfrm>
          <a:prstGeom prst="roundRect">
            <a:avLst>
              <a:gd name="adj" fmla="val 5000"/>
            </a:avLst>
          </a:prstGeom>
          <a:solidFill>
            <a:srgbClr val="F4F7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ounded Rectangle 18"/>
          <p:cNvSpPr/>
          <p:nvPr/>
        </p:nvSpPr>
        <p:spPr>
          <a:xfrm>
            <a:off x="5285232" y="1965960"/>
            <a:ext cx="457200" cy="457200"/>
          </a:xfrm>
          <a:prstGeom prst="roundRect">
            <a:avLst/>
          </a:prstGeom>
          <a:solidFill>
            <a:srgbClr val="1F285A"/>
          </a:solidFill>
          <a:ln>
            <a:noFill/>
          </a:ln>
        </p:spPr>
        <p:txBody>
          <a:bodyPr wrap="square" lIns="0" tIns="0" rIns="0" bIns="0" rtlCol="0" anchor="ctr">
            <a:noAutofit/>
          </a:bodyPr>
          <a:lstStyle/>
          <a:p>
            <a:pPr algn="ctr">
              <a:buNone/>
            </a:pPr>
            <a:r>
              <a:rPr lang="ja-JP" altLang="en-US" sz="1800" b="1" dirty="0">
                <a:solidFill>
                  <a:srgbClr val="FFFFFF"/>
                </a:solidFill>
                <a:latin typeface="メイリオ" panose="020B0604030504040204" pitchFamily="50" charset="-128"/>
                <a:ea typeface="メイリオ" panose="020B0604030504040204" pitchFamily="50" charset="-128"/>
              </a:rPr>
              <a:t>2</a:t>
            </a:r>
            <a:endParaRPr lang="ja-JP" altLang="en-US" sz="1800" dirty="0"/>
          </a:p>
        </p:txBody>
      </p:sp>
      <p:sp>
        <p:nvSpPr>
          <p:cNvPr id="20" name="Rectangle 19"/>
          <p:cNvSpPr/>
          <p:nvPr/>
        </p:nvSpPr>
        <p:spPr>
          <a:xfrm>
            <a:off x="5879592" y="1965960"/>
            <a:ext cx="3410712" cy="457200"/>
          </a:xfrm>
          <a:prstGeom prst="rect">
            <a:avLst/>
          </a:prstGeom>
          <a:noFill/>
          <a:ln>
            <a:noFill/>
          </a:ln>
        </p:spPr>
        <p:txBody>
          <a:bodyPr wrap="square" lIns="0" tIns="0" rIns="0" bIns="0" rtlCol="0" anchor="ctr">
            <a:noAutofit/>
          </a:bodyPr>
          <a:lstStyle/>
          <a:p>
            <a:pPr algn="l">
              <a:buNone/>
            </a:pPr>
            <a:r>
              <a:rPr lang="ja-JP" altLang="en-US" sz="1800" b="1" dirty="0">
                <a:solidFill>
                  <a:srgbClr val="1F285A"/>
                </a:solidFill>
                <a:latin typeface="メイリオ" panose="020B0604030504040204" pitchFamily="50" charset="-128"/>
                <a:ea typeface="メイリオ" panose="020B0604030504040204" pitchFamily="50" charset="-128"/>
              </a:rPr>
              <a:t>獲得単価（CPA）の目安</a:t>
            </a:r>
            <a:endParaRPr lang="ja-JP" altLang="en-US" sz="1800" dirty="0"/>
          </a:p>
        </p:txBody>
      </p:sp>
      <p:sp>
        <p:nvSpPr>
          <p:cNvPr id="21" name="Rectangle 20"/>
          <p:cNvSpPr/>
          <p:nvPr/>
        </p:nvSpPr>
        <p:spPr>
          <a:xfrm>
            <a:off x="5285232" y="2606040"/>
            <a:ext cx="3959352" cy="914400"/>
          </a:xfrm>
          <a:prstGeom prst="rect">
            <a:avLst/>
          </a:prstGeom>
          <a:noFill/>
          <a:ln>
            <a:noFill/>
          </a:ln>
        </p:spPr>
        <p:txBody>
          <a:bodyPr wrap="square" lIns="0" tIns="0" rIns="0" bIns="0" rtlCol="0" anchor="t">
            <a:noAutofit/>
          </a:bodyPr>
          <a:lstStyle/>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資料請求・体験予約の1件あたり、</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いくらまでなら導入をご判断いただけますか。</a:t>
            </a:r>
            <a:endParaRPr lang="ja-JP" altLang="en-US" sz="1300" dirty="0"/>
          </a:p>
        </p:txBody>
      </p:sp>
      <p:sp>
        <p:nvSpPr>
          <p:cNvPr id="22" name="Rounded Rectangle 21"/>
          <p:cNvSpPr/>
          <p:nvPr/>
        </p:nvSpPr>
        <p:spPr>
          <a:xfrm>
            <a:off x="5285232" y="3840480"/>
            <a:ext cx="3959352" cy="731520"/>
          </a:xfrm>
          <a:prstGeom prst="roundRect">
            <a:avLst>
              <a:gd name="adj" fmla="val 10000"/>
            </a:avLst>
          </a:prstGeom>
          <a:solidFill>
            <a:srgbClr val="FFFFFF"/>
          </a:solidFill>
          <a:ln w="9525">
            <a:solidFill>
              <a:srgbClr val="1F285A"/>
            </a:solidFill>
            <a:prstDash val="dash"/>
          </a:ln>
        </p:spPr>
        <p:txBody>
          <a:bodyPr wrap="square" lIns="73152" tIns="36576" rIns="73152" bIns="36576" rtlCol="0" anchor="ctr">
            <a:noAutofit/>
          </a:bodyPr>
          <a:lstStyle/>
          <a:p>
            <a:pPr algn="ctr">
              <a:buNone/>
            </a:pPr>
            <a:r>
              <a:rPr lang="ja-JP" altLang="en-US" sz="1800" b="1" dirty="0">
                <a:solidFill>
                  <a:srgbClr val="1F285A"/>
                </a:solidFill>
                <a:latin typeface="メイリオ" panose="020B0604030504040204" pitchFamily="50" charset="-128"/>
                <a:ea typeface="メイリオ" panose="020B0604030504040204" pitchFamily="50" charset="-128"/>
              </a:rPr>
              <a:t>1件あたり　＿＿＿＿　円まで</a:t>
            </a:r>
            <a:endParaRPr lang="ja-JP" altLang="en-US" sz="1800" dirty="0"/>
          </a:p>
        </p:txBody>
      </p:sp>
      <p:sp>
        <p:nvSpPr>
          <p:cNvPr id="23" name="Rounded Rectangle 22"/>
          <p:cNvSpPr/>
          <p:nvPr/>
        </p:nvSpPr>
        <p:spPr>
          <a:xfrm>
            <a:off x="429768" y="51663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この2つをもとに、次のページの3つのプランから、貴塾に合う形をご提案します。</a:t>
            </a:r>
            <a:endParaRPr lang="ja-JP" altLang="en-US" sz="1400" dirty="0"/>
          </a:p>
        </p:txBody>
      </p:sp>
    </p:spTree>
    <p:extLst>
      <p:ext uri="{BB962C8B-B14F-4D97-AF65-F5344CB8AC3E}">
        <p14:creationId xmlns:p14="http://schemas.microsoft.com/office/powerpoint/2010/main" val="34081473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50</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50</vt:i4>
      </vt:variant>
    </vt:vector>
  </HeadingPairs>
  <TitlesOfParts>
    <vt:vector size="57"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