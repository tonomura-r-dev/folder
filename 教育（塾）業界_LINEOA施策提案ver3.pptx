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88" r:id="rId5"/>
    <p:sldId id="2995" r:id="rId48"/>
    <p:sldId id="2972" r:id="rId6"/>
    <p:sldId id="2736" r:id="rId12"/>
    <p:sldId id="2982" r:id="rId11"/>
    <p:sldId id="2986" r:id="rId16"/>
    <p:sldId id="2983" r:id="rId13"/>
    <p:sldId id="2977" r:id="rId7"/>
    <p:sldId id="2984" r:id="rId14"/>
    <p:sldId id="2996" r:id="rId49"/>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2947" r:id="rId3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 市場規模は「定義」で2倍変わる。必ず併記すること</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学校基本調査（令和6年度確報）／矢野経済研究所「教育産業市場に関する調査」2024年。※提案前にe-Statで統計表を開いて数値照合すること</a:t>
            </a:r>
          </a:p>
        </p:txBody>
      </p:sp>
    </p:spTree>
    <p:extLst>
      <p:ext uri="{BB962C8B-B14F-4D97-AF65-F5344CB8AC3E}">
        <p14:creationId xmlns:p14="http://schemas.microsoft.com/office/powerpoint/2010/main" val="676230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LINE公式アカウントを検討する背景｜広告の実態</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塾の広告で取れているのは、ほとんどが塾名での検索（指名）。「個別指導 ◯◯駅」のような</a:t>
            </a:r>
          </a:p>
          <a:p>
            <a:pPr algn="l">
              <a:lnSpc>
                <a:spcPct val="128000"/>
              </a:lnSpc>
            </a:pPr>
            <a:r>
              <a:rPr sz="1200">
                <a:solidFill>
                  <a:srgbClr val="333333"/>
                </a:solidFill>
                <a:latin typeface="メイリオ"/>
                <a:ea typeface="メイリオ"/>
                <a:cs typeface="メイリオ"/>
              </a:rPr>
              <a:t>一般のキーワードは、1件あたりの広告費が高い。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※広告の実績は取得中（差し替え予定）。LPの離脱率は旧版のモデル値（LP CVR 2.0%）のため、実績に差し替えるか「モデル値」と明記する</a:t>
            </a:r>
          </a:p>
        </p:txBody>
      </p:sp>
      <p:sp>
        <p:nvSpPr>
          <p:cNvPr id="19" name="Rounded Rectangle 18"/>
          <p:cNvSpPr/>
          <p:nvPr/>
        </p:nvSpPr>
        <p:spPr>
          <a:xfrm>
            <a:off x="432000" y="1512000"/>
            <a:ext cx="4428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獲得件数の割合</a:t>
            </a:r>
          </a:p>
        </p:txBody>
      </p:sp>
      <p:sp>
        <p:nvSpPr>
          <p:cNvPr id="20" name="Rounded Rectangle 19"/>
          <p:cNvSpPr/>
          <p:nvPr/>
        </p:nvSpPr>
        <p:spPr>
          <a:xfrm>
            <a:off x="5047200" y="1512000"/>
            <a:ext cx="4428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1件あたりの広告費（CPA）</a:t>
            </a:r>
          </a:p>
        </p:txBody>
      </p:sp>
      <p:sp>
        <p:nvSpPr>
          <p:cNvPr id="21" name="Rectangle 20"/>
          <p:cNvSpPr/>
          <p:nvPr/>
        </p:nvSpPr>
        <p:spPr>
          <a:xfrm>
            <a:off x="432000" y="190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1">
                <a:solidFill>
                  <a:srgbClr val="1F285A"/>
                </a:solidFill>
                <a:latin typeface="メイリオ"/>
                <a:ea typeface="メイリオ"/>
                <a:cs typeface="メイリオ"/>
              </a:rPr>
              <a:t>指名キーワード（塾名）</a:t>
            </a:r>
          </a:p>
        </p:txBody>
      </p:sp>
      <p:sp>
        <p:nvSpPr>
          <p:cNvPr id="22" name="Rounded Rectangle 21"/>
          <p:cNvSpPr/>
          <p:nvPr/>
        </p:nvSpPr>
        <p:spPr>
          <a:xfrm>
            <a:off x="432000" y="2142000"/>
            <a:ext cx="4428000" cy="55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【データ待ち】広告の実績</a:t>
            </a:r>
          </a:p>
          <a:p>
            <a:pPr algn="ctr"/>
            <a:r>
              <a:rPr sz="900" b="0">
                <a:solidFill>
                  <a:srgbClr val="7F7F7F"/>
                </a:solidFill>
                <a:latin typeface="メイリオ"/>
                <a:ea typeface="メイリオ"/>
                <a:cs typeface="メイリオ"/>
              </a:rPr>
              <a:t>棒グラフで入れる（殿村さん取得中）</a:t>
            </a:r>
          </a:p>
        </p:txBody>
      </p:sp>
      <p:sp>
        <p:nvSpPr>
          <p:cNvPr id="23" name="Rectangle 22"/>
          <p:cNvSpPr/>
          <p:nvPr/>
        </p:nvSpPr>
        <p:spPr>
          <a:xfrm>
            <a:off x="5047200" y="190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1">
                <a:solidFill>
                  <a:srgbClr val="1F285A"/>
                </a:solidFill>
                <a:latin typeface="メイリオ"/>
                <a:ea typeface="メイリオ"/>
                <a:cs typeface="メイリオ"/>
              </a:rPr>
              <a:t>指名キーワード（塾名）</a:t>
            </a:r>
          </a:p>
        </p:txBody>
      </p:sp>
      <p:sp>
        <p:nvSpPr>
          <p:cNvPr id="24" name="Rounded Rectangle 23"/>
          <p:cNvSpPr/>
          <p:nvPr/>
        </p:nvSpPr>
        <p:spPr>
          <a:xfrm>
            <a:off x="5047200" y="2142000"/>
            <a:ext cx="4428000" cy="55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【データ待ち】広告の実績</a:t>
            </a:r>
          </a:p>
          <a:p>
            <a:pPr algn="ctr"/>
            <a:r>
              <a:rPr sz="900" b="0">
                <a:solidFill>
                  <a:srgbClr val="7F7F7F"/>
                </a:solidFill>
                <a:latin typeface="メイリオ"/>
                <a:ea typeface="メイリオ"/>
                <a:cs typeface="メイリオ"/>
              </a:rPr>
              <a:t>棒グラフで入れる（殿村さん取得中）</a:t>
            </a:r>
          </a:p>
        </p:txBody>
      </p:sp>
      <p:sp>
        <p:nvSpPr>
          <p:cNvPr id="25" name="Rectangle 24"/>
          <p:cNvSpPr/>
          <p:nvPr/>
        </p:nvSpPr>
        <p:spPr>
          <a:xfrm>
            <a:off x="432000" y="2844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1">
                <a:solidFill>
                  <a:srgbClr val="C00000"/>
                </a:solidFill>
                <a:latin typeface="メイリオ"/>
                <a:ea typeface="メイリオ"/>
                <a:cs typeface="メイリオ"/>
              </a:rPr>
              <a:t>一般キーワード（個別指導 ◯◯駅 など）</a:t>
            </a:r>
          </a:p>
        </p:txBody>
      </p:sp>
      <p:sp>
        <p:nvSpPr>
          <p:cNvPr id="26" name="Rounded Rectangle 25"/>
          <p:cNvSpPr/>
          <p:nvPr/>
        </p:nvSpPr>
        <p:spPr>
          <a:xfrm>
            <a:off x="432000" y="3078000"/>
            <a:ext cx="4428000" cy="55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【データ待ち】広告の実績</a:t>
            </a:r>
          </a:p>
          <a:p>
            <a:pPr algn="ctr"/>
            <a:r>
              <a:rPr sz="900" b="0">
                <a:solidFill>
                  <a:srgbClr val="7F7F7F"/>
                </a:solidFill>
                <a:latin typeface="メイリオ"/>
                <a:ea typeface="メイリオ"/>
                <a:cs typeface="メイリオ"/>
              </a:rPr>
              <a:t>棒グラフで入れる（殿村さん取得中）</a:t>
            </a:r>
          </a:p>
        </p:txBody>
      </p:sp>
      <p:sp>
        <p:nvSpPr>
          <p:cNvPr id="27" name="Rectangle 26"/>
          <p:cNvSpPr/>
          <p:nvPr/>
        </p:nvSpPr>
        <p:spPr>
          <a:xfrm>
            <a:off x="5047200" y="2844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1">
                <a:solidFill>
                  <a:srgbClr val="C00000"/>
                </a:solidFill>
                <a:latin typeface="メイリオ"/>
                <a:ea typeface="メイリオ"/>
                <a:cs typeface="メイリオ"/>
              </a:rPr>
              <a:t>一般キーワード（個別指導 ◯◯駅 など）</a:t>
            </a:r>
          </a:p>
        </p:txBody>
      </p:sp>
      <p:sp>
        <p:nvSpPr>
          <p:cNvPr id="28" name="Rounded Rectangle 27"/>
          <p:cNvSpPr/>
          <p:nvPr/>
        </p:nvSpPr>
        <p:spPr>
          <a:xfrm>
            <a:off x="5047200" y="3078000"/>
            <a:ext cx="4428000" cy="55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【データ待ち】広告の実績</a:t>
            </a:r>
          </a:p>
          <a:p>
            <a:pPr algn="ctr"/>
            <a:r>
              <a:rPr sz="900" b="0">
                <a:solidFill>
                  <a:srgbClr val="7F7F7F"/>
                </a:solidFill>
                <a:latin typeface="メイリオ"/>
                <a:ea typeface="メイリオ"/>
                <a:cs typeface="メイリオ"/>
              </a:rPr>
              <a:t>棒グラフで入れる（殿村さん取得中）</a:t>
            </a:r>
          </a:p>
        </p:txBody>
      </p:sp>
      <p:sp>
        <p:nvSpPr>
          <p:cNvPr id="29" name="Rounded Rectangle 28"/>
          <p:cNvSpPr/>
          <p:nvPr/>
        </p:nvSpPr>
        <p:spPr>
          <a:xfrm>
            <a:off x="432000" y="3870000"/>
            <a:ext cx="9043200" cy="93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ectangle 29"/>
          <p:cNvSpPr/>
          <p:nvPr/>
        </p:nvSpPr>
        <p:spPr>
          <a:xfrm>
            <a:off x="576000" y="3924000"/>
            <a:ext cx="8748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LPに来た保護者の多くは、名前を残さず帰っている</a:t>
            </a:r>
          </a:p>
        </p:txBody>
      </p:sp>
      <p:sp>
        <p:nvSpPr>
          <p:cNvPr id="31" name="Rectangle 30"/>
          <p:cNvSpPr/>
          <p:nvPr/>
        </p:nvSpPr>
        <p:spPr>
          <a:xfrm>
            <a:off x="576000" y="4194000"/>
            <a:ext cx="8748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広告で連れてきた保護者も、その場で申し込まなければ接点は切れる。</a:t>
            </a:r>
          </a:p>
          <a:p>
            <a:pPr algn="l"/>
            <a:r>
              <a:rPr sz="1050" b="0">
                <a:solidFill>
                  <a:srgbClr val="7F7F7F"/>
                </a:solidFill>
                <a:latin typeface="メイリオ"/>
                <a:ea typeface="メイリオ"/>
                <a:cs typeface="メイリオ"/>
              </a:rPr>
              <a:t>LPの離脱率：【データ待ち】（実績があれば差し替え。旧版の「100人中98人」はモデル値）</a:t>
            </a:r>
          </a:p>
        </p:txBody>
      </p:sp>
      <p:sp>
        <p:nvSpPr>
          <p:cNvPr id="32" name="Rounded Rectangle 31"/>
          <p:cNvSpPr/>
          <p:nvPr/>
        </p:nvSpPr>
        <p:spPr>
          <a:xfrm>
            <a:off x="432000" y="4968000"/>
            <a:ext cx="9043200" cy="54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広告費を増やして一般キーワードを取りにいくのは高くつく。</a:t>
            </a:r>
          </a:p>
          <a:p>
            <a:pPr algn="ctr"/>
            <a:r>
              <a:rPr sz="1300" b="1">
                <a:solidFill>
                  <a:srgbClr val="FFFFFF"/>
                </a:solidFill>
                <a:latin typeface="メイリオ"/>
                <a:ea typeface="メイリオ"/>
                <a:cs typeface="メイリオ"/>
              </a:rPr>
              <a:t>サイトに来て、まだ決めかねている保護者を、LINEで逃がさない仕組みが要る。</a:t>
            </a:r>
          </a:p>
        </p:txBody>
      </p:sp>
    </p:spTree>
    <p:extLst>
      <p:ext uri="{BB962C8B-B14F-4D97-AF65-F5344CB8AC3E}">
        <p14:creationId xmlns:p14="http://schemas.microsoft.com/office/powerpoint/2010/main" val="35094802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出典｜LINEヤフー前後検索（2022-05〜2023-05・実測）※最新の前後検索で更新予定／塾ナラ2025（n=200）／塾シル・ユナイトプロジェクト2026（n=249）／明光ネットワークジャパン2020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 ※相対値。スケールの違うKWは別のグラフにしている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最初に調べること → 迷っているときに調べること → 塾の名前、の順に並べる。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 前後検索（直近1年）起点KW：塾／個別指導／体験授業／高校受験 ※「塾」の結果から「熟」の語（熟年・熟語など）は除外</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sp>
        <p:nvSpPr>
          <p:cNvPr id="38" name="Rounded Rectangle 37"/>
          <p:cNvSpPr/>
          <p:nvPr/>
        </p:nvSpPr>
        <p:spPr>
          <a:xfrm>
            <a:off x="432000"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sp>
        <p:nvSpPr>
          <p:cNvPr id="41" name="Rounded Rectangle 40"/>
          <p:cNvSpPr/>
          <p:nvPr/>
        </p:nvSpPr>
        <p:spPr>
          <a:xfrm>
            <a:off x="3499199"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4" name="Rounded Rectangle 43"/>
          <p:cNvSpPr/>
          <p:nvPr/>
        </p:nvSpPr>
        <p:spPr>
          <a:xfrm>
            <a:off x="6566399"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sp>
        <p:nvSpPr>
          <p:cNvPr id="45" name="Rounded Rectangle 44"/>
          <p:cNvSpPr/>
          <p:nvPr/>
        </p:nvSpPr>
        <p:spPr>
          <a:xfrm>
            <a:off x="432000" y="4518000"/>
            <a:ext cx="108000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2B5797"/>
                </a:solidFill>
                <a:latin typeface="メイリオ"/>
                <a:ea typeface="メイリオ"/>
                <a:cs typeface="メイリオ"/>
              </a:rPr>
              <a:t>塾選び・形態</a:t>
            </a:r>
          </a:p>
        </p:txBody>
      </p:sp>
      <p:sp>
        <p:nvSpPr>
          <p:cNvPr id="46" name="Rounded Rectangle 45"/>
          <p:cNvSpPr/>
          <p:nvPr/>
        </p:nvSpPr>
        <p:spPr>
          <a:xfrm>
            <a:off x="1584000" y="4518000"/>
            <a:ext cx="108000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7440A8"/>
                </a:solidFill>
                <a:latin typeface="メイリオ"/>
                <a:ea typeface="メイリオ"/>
                <a:cs typeface="メイリオ"/>
              </a:rPr>
              <a:t>費用</a:t>
            </a:r>
          </a:p>
        </p:txBody>
      </p:sp>
      <p:sp>
        <p:nvSpPr>
          <p:cNvPr id="47" name="Rounded Rectangle 46"/>
          <p:cNvSpPr/>
          <p:nvPr/>
        </p:nvSpPr>
        <p:spPr>
          <a:xfrm>
            <a:off x="2736000" y="4518000"/>
            <a:ext cx="1080000" cy="198000"/>
          </a:xfrm>
          <a:prstGeom prst="roundRect">
            <a:avLst>
              <a:gd name="adj" fmla="val 20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C0561A"/>
                </a:solidFill>
                <a:latin typeface="メイリオ"/>
                <a:ea typeface="メイリオ"/>
                <a:cs typeface="メイリオ"/>
              </a:rPr>
              <a:t>悩み・時期</a:t>
            </a:r>
          </a:p>
        </p:txBody>
      </p:sp>
      <p:sp>
        <p:nvSpPr>
          <p:cNvPr id="48" name="Rounded Rectangle 47"/>
          <p:cNvSpPr/>
          <p:nvPr/>
        </p:nvSpPr>
        <p:spPr>
          <a:xfrm>
            <a:off x="3888000" y="4518000"/>
            <a:ext cx="108000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00796B"/>
                </a:solidFill>
                <a:latin typeface="メイリオ"/>
                <a:ea typeface="メイリオ"/>
                <a:cs typeface="メイリオ"/>
              </a:rPr>
              <a:t>塾名・口コミ</a:t>
            </a:r>
          </a:p>
        </p:txBody>
      </p:sp>
      <p:sp>
        <p:nvSpPr>
          <p:cNvPr id="49" name="Rectangle 48"/>
          <p:cNvSpPr/>
          <p:nvPr/>
        </p:nvSpPr>
        <p:spPr>
          <a:xfrm>
            <a:off x="5112000" y="4518000"/>
            <a:ext cx="4356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色分けは仮。データが届いたらクエリに合わせて決める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塾の名前が出てくる前に、保護者はもう調べ始めている。</a:t>
            </a:r>
          </a:p>
          <a:p>
            <a:pPr algn="ctr"/>
            <a:r>
              <a:rPr sz="1100" b="0">
                <a:solidFill>
                  <a:srgbClr val="FFFFFF"/>
                </a:solidFill>
                <a:latin typeface="メイリオ"/>
                <a:ea typeface="メイリオ"/>
                <a:cs typeface="メイリオ"/>
              </a:rPr>
              <a:t>その間、塾と保護者の接点はない。（データが届いたら確定）</a:t>
            </a:r>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2024）2026-09-25取得。「確認できず」＝公開情報で確認できなかったもの。★競合の実名掲載は上司確認</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（教室は電話・Web・LINEで予約）</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明光義塾はLINEで成果を出している（LINEヤフー公式事例）</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a:t>
            </a:r>
          </a:p>
        </p:txBody>
      </p:sp>
      <p:sp>
        <p:nvSpPr>
          <p:cNvPr id="103" name="Rounded Rectangle 102"/>
          <p:cNvSpPr/>
          <p:nvPr/>
        </p:nvSpPr>
        <p:spPr>
          <a:xfrm>
            <a:off x="5047200" y="4788000"/>
            <a:ext cx="4428000" cy="990000"/>
          </a:xfrm>
          <a:prstGeom prst="roundRect">
            <a:avLst>
              <a:gd name="adj" fmla="val 8000"/>
            </a:avLst>
          </a:prstGeom>
          <a:solidFill>
            <a:srgbClr val="FFF2CC"/>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空いているところ</a:t>
            </a:r>
          </a:p>
          <a:p>
            <a:pPr algn="l"/>
            <a:r>
              <a:rPr sz="950" b="0">
                <a:solidFill>
                  <a:srgbClr val="333333"/>
                </a:solidFill>
                <a:latin typeface="メイリオ"/>
                <a:ea typeface="メイリオ"/>
                <a:cs typeface="メイリオ"/>
              </a:rPr>
              <a:t>・保護者向けに「診断 → 資料請求 → 体験予約」を</a:t>
            </a:r>
          </a:p>
          <a:p>
            <a:pPr algn="l"/>
            <a:r>
              <a:rPr sz="950" b="0">
                <a:solidFill>
                  <a:srgbClr val="333333"/>
                </a:solidFill>
                <a:latin typeface="メイリオ"/>
                <a:ea typeface="メイリオ"/>
                <a:cs typeface="メイリオ"/>
              </a:rPr>
              <a:t>　LINEの中でつないでいる塾は、確認できなかった</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保護者向けに、診断から資料請求・体験予約までをLINEでつなぐ。ここはまだ空いている。</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ED7D31"/>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P6〜P10のデータを、すべきことに置き換える。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広告で取れているのは指名検索だけ（P6）</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塾名を調べる前から、保護者は調べ始めている（P9）</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一番の悩みは「うちの子に合うか分からない」63.5%（P8）</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検索の山は2月と7月（P10）</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サイトに来た保護者の多くは、名前を残さず帰る（P6）</a:t>
            </a:r>
          </a:p>
          <a:p>
            <a:pPr algn="l"/>
            <a:r>
              <a:rPr sz="1000" b="0">
                <a:solidFill>
                  <a:srgbClr val="333333"/>
                </a:solidFill>
                <a:latin typeface="メイリオ"/>
                <a:ea typeface="メイリオ"/>
                <a:cs typeface="メイリオ"/>
              </a:rPr>
              <a:t>一番の悩みは「合うか分からない」63.5%（P8）</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「一緒に体験しよう」をLINEで送ってもらう（P20）</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文面の教室長名・対応時間・配信頻度は貴社の運用に合わせて差し替える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※競合の診断（トライの性格別学習法診断など）はP12の調査結果を参照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※保護者が比べている間に何を調べているかは、前後検索（取得中）で確定させ、配信の中身を合わせる</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（前後検索で確定させる）</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前日リマインドへ（P27）</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※事例の数字は貴社の実績に差し替え、学年・期間・通った回数を書く。体験予約の前日のメッセージはP27</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※体験に来ない割合・実施率の改善幅は、貴社の実績で確定させる（旧版の「約20%」「80%→92%」は出典未確認のため載せていない）</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「テスト後、9割の家庭がしない事」（P26）</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出典｜Googleトレンド（日本・2026年年初来・週次／_data/trends/教育塾/）。各月の内容はDYM見解。★貴社の月別の入会実績があれば、この表を合わせる</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通知メッセージは別途費用。利用条件・単価はLINEヤフーの規定で変わるため、要件定義で最新の条件を確認する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FF7F0"/>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C55A11"/>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ご提供プラン（運用構成）</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6ヶ月〜・税抜。ターゲット数・ステップ本数・企画投稿数は貴社の商材数とリスト規模に合わせて確定します。</a:t>
            </a:r>
          </a:p>
          <a:p>
            <a:pPr algn="l">
              <a:lnSpc>
                <a:spcPct val="128000"/>
              </a:lnSpc>
            </a:pPr>
            <a:r>
              <a:rPr sz="1200">
                <a:solidFill>
                  <a:srgbClr val="333333"/>
                </a:solidFill>
                <a:latin typeface="メイリオ"/>
                <a:ea typeface="メイリオ"/>
                <a:cs typeface="メイリオ"/>
              </a:rPr>
              <a:t>アカウント構築から配信の実務まで、費用内（無償付帯）で対応します。</a:t>
            </a: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二軸アンケート（入塾検討時期×学年）で分類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例：3個｜「今すぐ/今学期中に/次の学年から・情報収集だけ」</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 通 × ◯ 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例：6通×1セット（未入会の保護者向け）</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年間カレンダーに沿った定期投稿＋時期の特別配信</a:t>
            </a:r>
          </a:p>
          <a:p>
            <a:pPr algn="l"/>
            <a:r>
              <a:rPr sz="1200" b="0" dirty="0">
                <a:solidFill>
                  <a:srgbClr val="555555"/>
                </a:solidFill>
                <a:latin typeface="メイリオ"/>
                <a:ea typeface="メイリオ"/>
              </a:rPr>
              <a:t>例：月2本（月1〜2回のペース）</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よくある質問＝KW自動応答／平日14〜21時は有人対応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 → 教室スタッフへトスアップ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入口＝Sitelead（LP離脱防止ポップアップ）※別途費用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配信＝Lstepまたはhachidoriのどちらか一方を要件で選定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＝通知メッセージ・過去に問い合わせた保護者への再案内</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p>
        </p:txBody>
      </p:sp>
      <p:sp>
        <p:nvSpPr>
          <p:cNvPr id="55" name="Pentagon 5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56" name="Chevron 5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57" name="Chevron 5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58" name="Chevron 5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9" name="Chevron 5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60" name="Chevron 5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61" name="Chevron 6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62" name="Chevron 6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20125450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2人まとめてLINEで予約（P20）</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出典のない数値は書きません。取得中のデータは、届き次第差し替えます。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7" name="Rectangle 16"/>
          <p:cNvSpPr/>
          <p:nvPr/>
        </p:nvSpPr>
        <p:spPr>
          <a:xfrm>
            <a:off x="432000" y="2142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P6</a:t>
            </a:r>
          </a:p>
        </p:txBody>
      </p:sp>
      <p:sp>
        <p:nvSpPr>
          <p:cNvPr id="18" name="Rectangle 17"/>
          <p:cNvSpPr/>
          <p:nvPr/>
        </p:nvSpPr>
        <p:spPr>
          <a:xfrm>
            <a:off x="1764000" y="2142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広告の実績（取得中）</a:t>
            </a:r>
          </a:p>
        </p:txBody>
      </p:sp>
      <p:sp>
        <p:nvSpPr>
          <p:cNvPr id="19" name="Rectangle 18"/>
          <p:cNvSpPr/>
          <p:nvPr/>
        </p:nvSpPr>
        <p:spPr>
          <a:xfrm>
            <a:off x="432000" y="2484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a:t>
            </a:r>
          </a:p>
        </p:txBody>
      </p:sp>
      <p:sp>
        <p:nvSpPr>
          <p:cNvPr id="20" name="Rectangle 19"/>
          <p:cNvSpPr/>
          <p:nvPr/>
        </p:nvSpPr>
        <p:spPr>
          <a:xfrm>
            <a:off x="1764000" y="2484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826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P9・P11・P25</a:t>
            </a:r>
          </a:p>
        </p:txBody>
      </p:sp>
      <p:sp>
        <p:nvSpPr>
          <p:cNvPr id="22" name="Rectangle 21"/>
          <p:cNvSpPr/>
          <p:nvPr/>
        </p:nvSpPr>
        <p:spPr>
          <a:xfrm>
            <a:off x="1764000" y="2826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 直近1年（取得中）KW：塾／個別指導／体験授業／高校受験</a:t>
            </a:r>
          </a:p>
        </p:txBody>
      </p:sp>
      <p:sp>
        <p:nvSpPr>
          <p:cNvPr id="23" name="Rectangle 22"/>
          <p:cNvSpPr/>
          <p:nvPr/>
        </p:nvSpPr>
        <p:spPr>
          <a:xfrm>
            <a:off x="432000" y="3168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P10・P29</a:t>
            </a:r>
          </a:p>
        </p:txBody>
      </p:sp>
      <p:sp>
        <p:nvSpPr>
          <p:cNvPr id="24" name="Rectangle 23"/>
          <p:cNvSpPr/>
          <p:nvPr/>
        </p:nvSpPr>
        <p:spPr>
          <a:xfrm>
            <a:off x="1764000" y="3168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510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P12</a:t>
            </a:r>
          </a:p>
        </p:txBody>
      </p:sp>
      <p:sp>
        <p:nvSpPr>
          <p:cNvPr id="26" name="Rectangle 25"/>
          <p:cNvSpPr/>
          <p:nvPr/>
        </p:nvSpPr>
        <p:spPr>
          <a:xfrm>
            <a:off x="1764000" y="3510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P20・P30</a:t>
            </a:r>
          </a:p>
        </p:txBody>
      </p:sp>
      <p:sp>
        <p:nvSpPr>
          <p:cNvPr id="28" name="Rectangle 27"/>
          <p:cNvSpPr/>
          <p:nvPr/>
        </p:nvSpPr>
        <p:spPr>
          <a:xfrm>
            <a:off x="1764000" y="3851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9"/>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P46</a:t>
            </a:r>
          </a:p>
        </p:txBody>
      </p:sp>
      <p:sp>
        <p:nvSpPr>
          <p:cNvPr id="30" name="Rectangle 29"/>
          <p:cNvSpPr/>
          <p:nvPr/>
        </p:nvSpPr>
        <p:spPr>
          <a:xfrm>
            <a:off x="1764000" y="4193999"/>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1" name="Rounded Rectangle 30"/>
          <p:cNvSpPr/>
          <p:nvPr/>
        </p:nvSpPr>
        <p:spPr>
          <a:xfrm>
            <a:off x="432000" y="4644000"/>
            <a:ext cx="44280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
        <p:nvSpPr>
          <p:cNvPr id="32" name="Rounded Rectangle 31"/>
          <p:cNvSpPr/>
          <p:nvPr/>
        </p:nvSpPr>
        <p:spPr>
          <a:xfrm>
            <a:off x="5047200" y="4644000"/>
            <a:ext cx="4428000" cy="1080000"/>
          </a:xfrm>
          <a:prstGeom prst="roundRect">
            <a:avLst>
              <a:gd name="adj" fmla="val 8000"/>
            </a:avLst>
          </a:prstGeom>
          <a:solidFill>
            <a:srgbClr val="FFF7F7"/>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C00000"/>
                </a:solidFill>
                <a:latin typeface="メイリオ"/>
                <a:ea typeface="メイリオ"/>
                <a:cs typeface="メイリオ"/>
              </a:rPr>
              <a:t>提出前に確認すること</a:t>
            </a:r>
          </a:p>
          <a:p>
            <a:pPr algn="l"/>
            <a:r>
              <a:rPr sz="950" b="0">
                <a:solidFill>
                  <a:srgbClr val="333333"/>
                </a:solidFill>
                <a:latin typeface="メイリオ"/>
                <a:ea typeface="メイリオ"/>
                <a:cs typeface="メイリオ"/>
              </a:rPr>
              <a:t>・公表統計（P5）はe-Statで統計表を開いて数値を照合する</a:t>
            </a:r>
          </a:p>
          <a:p>
            <a:pPr algn="l"/>
            <a:r>
              <a:rPr sz="950" b="0">
                <a:solidFill>
                  <a:srgbClr val="333333"/>
                </a:solidFill>
                <a:latin typeface="メイリオ"/>
                <a:ea typeface="メイリオ"/>
                <a:cs typeface="メイリオ"/>
              </a:rPr>
              <a:t>・競合の実名掲載（P12）と、民間調査の引用可否は上司に確認する</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48</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48</vt:i4>
      </vt:variant>
    </vt:vector>
  </HeadingPairs>
  <TitlesOfParts>
    <vt:vector size="55"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