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3015" r:id="rId68"/>
    <p:sldId id="3016" r:id="rId69"/>
    <p:sldId id="3017" r:id="rId70"/>
    <p:sldId id="3018" r:id="rId71"/>
    <p:sldId id="2982" r:id="rId11"/>
    <p:sldId id="2986" r:id="rId16"/>
    <p:sldId id="2983" r:id="rId13"/>
    <p:sldId id="3011" r:id="rId64"/>
    <p:sldId id="3012" r:id="rId65"/>
    <p:sldId id="3014" r:id="rId67"/>
    <p:sldId id="2977" r:id="rId7"/>
    <p:sldId id="2984" r:id="rId14"/>
    <p:sldId id="2996" r:id="rId49"/>
    <p:sldId id="3013" r:id="rId66"/>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60" Type="http://schemas.openxmlformats.org/officeDocument/2006/relationships/slide" Target="slides/slide52.xml"/><Relationship Id="rId61" Type="http://schemas.openxmlformats.org/officeDocument/2006/relationships/slide" Target="slides/slide53.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meiko_1.jpeg"/><Relationship Id="rId102" Type="http://schemas.openxmlformats.org/officeDocument/2006/relationships/image" Target="../media/meiko_2.jpeg"/><Relationship Id="rId103" Type="http://schemas.openxmlformats.org/officeDocument/2006/relationships/image" Target="../media/meiko_3.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meiko_step_1.png"/><Relationship Id="rId102" Type="http://schemas.openxmlformats.org/officeDocument/2006/relationships/image" Target="../media/meiko_step_2.png"/></Relationships>
</file>

<file path=ppt/slides/_rels/slide60.xml.rels><?xml version='1.0' encoding='UTF-8' standalone='yes'?>
<ns0:Relationships xmlns:ns0="http://schemas.openxmlformats.org/package/2006/relationships"><ns0:Relationship Id="rId1" Type="http://schemas.openxmlformats.org/officeDocument/2006/relationships/slideLayout" Target="../slideLayouts/slideLayout2.xml"/><ns0:Relationship Id="rId101" Type="http://schemas.openxmlformats.org/officeDocument/2006/relationships/image" Target="../media/juku_zengo_11.png"/></ns0:Relationships>
</file>

<file path=ppt/slides/_rels/slide61.xml.rels><?xml version='1.0' encoding='UTF-8' standalone='yes'?>
<ns0:Relationships xmlns:ns0="http://schemas.openxmlformats.org/package/2006/relationships"><ns0:Relationship Id="rId1" Type="http://schemas.openxmlformats.org/officeDocument/2006/relationships/slideLayout" Target="../slideLayouts/slideLayout2.xml"/><ns0:Relationship Id="rId101" Type="http://schemas.openxmlformats.org/officeDocument/2006/relationships/image" Target="../media/juku_zengo_12.png"/></ns0:Relationships>
</file>

<file path=ppt/slides/_rels/slide62.xml.rels><?xml version='1.0' encoding='UTF-8' standalone='yes'?>
<ns0:Relationships xmlns:ns0="http://schemas.openxmlformats.org/package/2006/relationships"><ns0:Relationship Id="rId1" Type="http://schemas.openxmlformats.org/officeDocument/2006/relationships/slideLayout" Target="../slideLayouts/slideLayout2.xml"/><ns0:Relationship Id="rId101" Type="http://schemas.openxmlformats.org/officeDocument/2006/relationships/image" Target="../media/juku_zengo_21.png"/></ns0:Relationships>
</file>

<file path=ppt/slides/_rels/slide63.xml.rels><?xml version='1.0' encoding='UTF-8' standalone='yes'?>
<ns0:Relationships xmlns:ns0="http://schemas.openxmlformats.org/package/2006/relationships"><ns0:Relationship Id="rId1" Type="http://schemas.openxmlformats.org/officeDocument/2006/relationships/slideLayout" Target="../slideLayouts/slideLayout2.xml"/><ns0:Relationship Id="rId101" Type="http://schemas.openxmlformats.org/officeDocument/2006/relationships/image" Target="../media/juku_zengo_22.png"/></ns0: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市場規模は「定義」で約2倍変わる</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2}" type="slidenum">
              <a:rPr sz="1200" b="1">
                <a:solidFill>
                  <a:srgbClr val="FFFFFF"/>
                </a:solidFill>
                <a:latin typeface="メイリオ"/>
                <a:ea typeface="メイリオ"/>
                <a:cs typeface="メイリオ"/>
              </a:rPr>
              <a:t>37</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※10教室のモデル値（例）。新しい友だちは1教室あたり月250人（P37）×10教室。開封率・クリック率＝DYM SIMの係数（ステップ配信 72.5%×12%／企画配信 78%×10%）。CVR＝0.3〜1.0%。件数は整数（端数は四捨五入）</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月2,500人＝10教室）</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累計約10,000人・ブロックを除いて約6,800人）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10教室で月に 資料請求 約5件・体験予約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1}" type="slidenum">
              <a:rPr sz="1200" b="1">
                <a:solidFill>
                  <a:srgbClr val="FFFFFF"/>
                </a:solidFill>
                <a:latin typeface="メイリオ"/>
                <a:ea typeface="メイリオ"/>
                <a:cs typeface="メイリオ"/>
              </a:rPr>
              <a:t>36</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明光義塾はLINEで成果を出している（公式事例・P15）</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保護者向けに、診断から体験予約までをLINEでつないでいる塾は、まだ少ない。</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P7〜P12のデータを、すべきことに置き換える。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塾名を調べる前から、保護者は調べ始めている（P8〜P11）</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検索の山は2月と7月（P12）</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※ボタン文言の言い換えはDYM見解。離脱防止ポップアップはSitelead等（別途費用）。明光義塾も、サイトの初回訪問時・離脱時のポップアップで友だちを集めていた（公式事例・P15）</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「一緒に体験しよう」をLINEで送ってもらう（P26）</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※文面の教室長名・対応時間・配信頻度は、貴社の運用に合わせて調整します</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※明光義塾は、相性チェック（5問）と合わせて、LINEの中での体験予約も案内している（P16）。競合の診断（トライの性格別学習法診断など）はP14を参照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※体験予約済みの方には、タブ②（体験当日の流れ・アクセス・日程変更など）を出し分ける。明光義塾は、一番大きい枠に「授業料シミュレーション」を置いている（P16）</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※明光義塾は、アンケートの回答をもとに「まだ塾に通っていない」お子さま・保護者に絞って配信していた（公式事例・P15）</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※前後検索（P8〜P11）：比べている間は、塾の費用・いつから・口コミを調べている。配信の中身をこれに合わせる。明光義塾のステップ配信の例はP17</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（前後検索・P8〜P11）</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前日リマインドへ（P33）</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※事例の数字は、貴社の実績（学年・期間・通った回数）に合わせて作成します。体験予約の前日のメッセージはP33</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※体験に来ない割合・改善の幅は、貴社の実績をもとに確認します</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「テスト後、9割の家庭がしない事」（P32）</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出典｜Googleトレンド（日本・2026年年初来・週次）。各月の内容はDYM見解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通知メッセージは別途費用。利用条件・単価はLINEヤフーの規定で変わるため、要件定義の際に最新の条件を確認します</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2人まとめてLINEで予約（P26）</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出典のない数値は書いていません。</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P8〜P11・P13・P31</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P12・P35</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P14</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P26・P36</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P54</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 for Business 導入事例 明光義塾（2024年4月5日・掲載の図版を含む）／明光義塾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P15〜P17・P21</a:t>
            </a:r>
          </a:p>
        </p:txBody>
      </p:sp>
      <p:sp>
        <p:nvSpPr>
          <p:cNvPr id="31" name="Rounded Rectangle 30"/>
          <p:cNvSpPr/>
          <p:nvPr/>
        </p:nvSpPr>
        <p:spPr>
          <a:xfrm>
            <a:off x="432000" y="4644000"/>
            <a:ext cx="90432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0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② 離脱</a:t>
            </a:r>
            <a:endParaRPr lang="ja-JP" altLang="en-US" sz="140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40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⑥ 再育成</a:t>
            </a:r>
            <a:endParaRPr lang="ja-JP" altLang="en-US" sz="140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400" dirty="0"/>
          </a:p>
        </p:txBody>
      </p:sp>
    </p:spTree>
    <p:extLst>
      <p:ext uri="{BB962C8B-B14F-4D97-AF65-F5344CB8AC3E}">
        <p14:creationId xmlns:p14="http://schemas.microsoft.com/office/powerpoint/2010/main" val="15729428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LINEで資料請求を伸ばした塾の事例です（LINEヤフー公式の導入事例）。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「塾はすぐには申し込まれない」前提で、サイトから友だちになってもらい、比べている間をLINEで支えています。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大手でも、やっていることは「友だちになってもらい、比べている間をLINEで支える」こと。</a:t>
            </a:r>
          </a:p>
        </p:txBody>
      </p:sp>
      <p:sp>
        <p:nvSpPr>
          <p:cNvPr id="105" name="Rounded Rectangle 104"/>
          <p:cNvSpPr/>
          <p:nvPr/>
        </p:nvSpPr>
        <p:spPr>
          <a:xfrm>
            <a:off x="429768"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606040"/>
            <a:ext cx="9043416" cy="640080"/>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0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00" dirty="0"/>
          </a:p>
        </p:txBody>
      </p:sp>
      <p:sp>
        <p:nvSpPr>
          <p:cNvPr id="109" name="Rectangle 108"/>
          <p:cNvSpPr/>
          <p:nvPr/>
        </p:nvSpPr>
        <p:spPr>
          <a:xfrm>
            <a:off x="429768" y="3383280"/>
            <a:ext cx="9043416" cy="274320"/>
          </a:xfrm>
          <a:prstGeom prst="rect">
            <a:avLst/>
          </a:prstGeom>
          <a:noFill/>
          <a:ln>
            <a:noFill/>
          </a:ln>
        </p:spPr>
        <p:txBody>
          <a:bodyPr wrap="square" lIns="0" tIns="0" rIns="0" bIns="0"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100" dirty="0"/>
          </a:p>
        </p:txBody>
      </p:sp>
      <p:sp>
        <p:nvSpPr>
          <p:cNvPr id="110" name="Rectangle 109"/>
          <p:cNvSpPr/>
          <p:nvPr/>
        </p:nvSpPr>
        <p:spPr>
          <a:xfrm>
            <a:off x="429768"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友だち追加</a:t>
            </a:r>
            <a:endParaRPr lang="ja-JP" altLang="en-US" sz="1000" dirty="0"/>
          </a:p>
        </p:txBody>
      </p:sp>
      <p:sp>
        <p:nvSpPr>
          <p:cNvPr id="111" name="Rounded Rectangle 110"/>
          <p:cNvSpPr/>
          <p:nvPr/>
        </p:nvSpPr>
        <p:spPr>
          <a:xfrm>
            <a:off x="429768"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1　サイトで</a:t>
            </a:r>
            <a:endParaRPr lang="ja-JP" altLang="en-US" sz="1000" dirty="0"/>
          </a:p>
        </p:txBody>
      </p:sp>
      <p:sp>
        <p:nvSpPr>
          <p:cNvPr id="112" name="Rectangle 111"/>
          <p:cNvSpPr/>
          <p:nvPr/>
        </p:nvSpPr>
        <p:spPr>
          <a:xfrm>
            <a:off x="2718054"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000" dirty="0"/>
          </a:p>
        </p:txBody>
      </p:sp>
      <p:sp>
        <p:nvSpPr>
          <p:cNvPr id="113" name="Rounded Rectangle 112"/>
          <p:cNvSpPr/>
          <p:nvPr/>
        </p:nvSpPr>
        <p:spPr>
          <a:xfrm>
            <a:off x="2718054"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2　追加のあと</a:t>
            </a:r>
            <a:endParaRPr lang="ja-JP" altLang="en-US" sz="1000" dirty="0"/>
          </a:p>
        </p:txBody>
      </p:sp>
      <p:sp>
        <p:nvSpPr>
          <p:cNvPr id="114" name="Rectangle 113"/>
          <p:cNvSpPr/>
          <p:nvPr/>
        </p:nvSpPr>
        <p:spPr>
          <a:xfrm>
            <a:off x="5006340"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000" dirty="0"/>
          </a:p>
        </p:txBody>
      </p:sp>
      <p:sp>
        <p:nvSpPr>
          <p:cNvPr id="115" name="Rounded Rectangle 114"/>
          <p:cNvSpPr/>
          <p:nvPr/>
        </p:nvSpPr>
        <p:spPr>
          <a:xfrm>
            <a:off x="5006340"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3　スタンプで</a:t>
            </a:r>
            <a:endParaRPr lang="ja-JP" altLang="en-US" sz="1000" dirty="0"/>
          </a:p>
        </p:txBody>
      </p:sp>
      <p:sp>
        <p:nvSpPr>
          <p:cNvPr id="116" name="Rectangle 115"/>
          <p:cNvSpPr/>
          <p:nvPr/>
        </p:nvSpPr>
        <p:spPr>
          <a:xfrm>
            <a:off x="7294626"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回答をもとに、</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000" dirty="0"/>
          </a:p>
        </p:txBody>
      </p:sp>
      <p:sp>
        <p:nvSpPr>
          <p:cNvPr id="117" name="Rounded Rectangle 116"/>
          <p:cNvSpPr/>
          <p:nvPr/>
        </p:nvSpPr>
        <p:spPr>
          <a:xfrm>
            <a:off x="7294626"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4　配信で</a:t>
            </a:r>
            <a:endParaRPr lang="ja-JP" altLang="en-US" sz="1000" dirty="0"/>
          </a:p>
        </p:txBody>
      </p:sp>
      <p:sp>
        <p:nvSpPr>
          <p:cNvPr id="118" name="Rectangle 117"/>
          <p:cNvSpPr/>
          <p:nvPr/>
        </p:nvSpPr>
        <p:spPr>
          <a:xfrm>
            <a:off x="429768" y="489204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850" dirty="0"/>
          </a:p>
          <a:p>
            <a:pPr algn="l">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850" dirty="0"/>
          </a:p>
        </p:txBody>
      </p:sp>
    </p:spTree>
    <p:extLst>
      <p:ext uri="{BB962C8B-B14F-4D97-AF65-F5344CB8AC3E}">
        <p14:creationId xmlns:p14="http://schemas.microsoft.com/office/powerpoint/2010/main" val="18647475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友だち追加の直後に、30秒の相性チェックと「このままLINEで無料体験の予約」を案内しています。</a:t>
            </a:r>
          </a:p>
          <a:p>
            <a:pPr algn="l">
              <a:lnSpc>
                <a:spcPct val="128000"/>
              </a:lnSpc>
            </a:pPr>
            <a:r>
              <a:rPr sz="1200" dirty="0" err="1">
                <a:solidFill>
                  <a:srgbClr val="333333"/>
                </a:solidFill>
                <a:latin typeface="メイリオ"/>
                <a:ea typeface="メイリオ"/>
                <a:cs typeface="メイリオ"/>
              </a:rPr>
              <a:t>リッチメニューの一番大きい枠は「授業料シミュレーション」です。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050" dirty="0"/>
          </a:p>
        </p:txBody>
      </p:sp>
      <p:pic>
        <p:nvPicPr>
          <p:cNvPr id="69" name="明光義塾_あいさつ＋相性チェック" descr=""/>
          <p:cNvPicPr>
            <a:picLocks noChangeAspect="1"/>
          </p:cNvPicPr>
          <p:nvPr/>
        </p:nvPicPr>
        <p:blipFill>
          <a:blip r:embed="rId101"/>
          <a:stretch>
            <a:fillRect/>
          </a:stretch>
        </p:blipFill>
        <p:spPr>
          <a:xfrm>
            <a:off x="935964" y="1847088"/>
            <a:ext cx="1730806" cy="3749039"/>
          </a:xfrm>
          <a:prstGeom prst="rect">
            <a:avLst/>
          </a:prstGeom>
          <a:ln w="9525">
            <a:solidFill>
              <a:srgbClr val="C6CADD"/>
            </a:solidFill>
          </a:ln>
        </p:spPr>
      </p:pic>
      <p:sp>
        <p:nvSpPr>
          <p:cNvPr id="70" name="Rectangle 69"/>
          <p:cNvSpPr/>
          <p:nvPr/>
        </p:nvSpPr>
        <p:spPr>
          <a:xfrm>
            <a:off x="429768"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00" dirty="0"/>
          </a:p>
        </p:txBody>
      </p:sp>
      <p:sp>
        <p:nvSpPr>
          <p:cNvPr id="71" name="Rounded Rectangle 70"/>
          <p:cNvSpPr/>
          <p:nvPr/>
        </p:nvSpPr>
        <p:spPr>
          <a:xfrm>
            <a:off x="3579876"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050" dirty="0"/>
          </a:p>
        </p:txBody>
      </p:sp>
      <p:pic>
        <p:nvPicPr>
          <p:cNvPr id="72" name="明光義塾_LINEの中で体験予約" descr=""/>
          <p:cNvPicPr>
            <a:picLocks noChangeAspect="1"/>
          </p:cNvPicPr>
          <p:nvPr/>
        </p:nvPicPr>
        <p:blipFill>
          <a:blip r:embed="rId102"/>
          <a:stretch>
            <a:fillRect/>
          </a:stretch>
        </p:blipFill>
        <p:spPr>
          <a:xfrm>
            <a:off x="4086072" y="1847088"/>
            <a:ext cx="1730806" cy="3749039"/>
          </a:xfrm>
          <a:prstGeom prst="rect">
            <a:avLst/>
          </a:prstGeom>
          <a:ln w="9525">
            <a:solidFill>
              <a:srgbClr val="C6CADD"/>
            </a:solidFill>
          </a:ln>
        </p:spPr>
      </p:pic>
      <p:sp>
        <p:nvSpPr>
          <p:cNvPr id="73" name="Rectangle 72"/>
          <p:cNvSpPr/>
          <p:nvPr/>
        </p:nvSpPr>
        <p:spPr>
          <a:xfrm>
            <a:off x="3579876"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00" dirty="0"/>
          </a:p>
        </p:txBody>
      </p:sp>
      <p:sp>
        <p:nvSpPr>
          <p:cNvPr id="74" name="Rounded Rectangle 73"/>
          <p:cNvSpPr/>
          <p:nvPr/>
        </p:nvSpPr>
        <p:spPr>
          <a:xfrm>
            <a:off x="6729984"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050" dirty="0"/>
          </a:p>
        </p:txBody>
      </p:sp>
      <p:pic>
        <p:nvPicPr>
          <p:cNvPr id="75" name="明光義塾_リッチメニュー" descr=""/>
          <p:cNvPicPr>
            <a:picLocks noChangeAspect="1"/>
          </p:cNvPicPr>
          <p:nvPr/>
        </p:nvPicPr>
        <p:blipFill>
          <a:blip r:embed="rId103"/>
          <a:stretch>
            <a:fillRect/>
          </a:stretch>
        </p:blipFill>
        <p:spPr>
          <a:xfrm>
            <a:off x="7236180" y="1847088"/>
            <a:ext cx="1730806" cy="3749039"/>
          </a:xfrm>
          <a:prstGeom prst="rect">
            <a:avLst/>
          </a:prstGeom>
          <a:ln w="9525">
            <a:solidFill>
              <a:srgbClr val="C6CADD"/>
            </a:solidFill>
          </a:ln>
        </p:spPr>
      </p:pic>
      <p:sp>
        <p:nvSpPr>
          <p:cNvPr id="76" name="Rectangle 75"/>
          <p:cNvSpPr/>
          <p:nvPr/>
        </p:nvSpPr>
        <p:spPr>
          <a:xfrm>
            <a:off x="6729984"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00" dirty="0"/>
          </a:p>
          <a:p>
            <a:pPr algn="ctr">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00" dirty="0"/>
          </a:p>
        </p:txBody>
      </p:sp>
    </p:spTree>
    <p:extLst>
      <p:ext uri="{BB962C8B-B14F-4D97-AF65-F5344CB8AC3E}">
        <p14:creationId xmlns:p14="http://schemas.microsoft.com/office/powerpoint/2010/main" val="22780903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明光義塾の型を分解すると、3つの仕組み</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公式事例（2023年）と実際の画面（2026年10月）から読み取れる仕組みは3つです。</a:t>
            </a:r>
          </a:p>
          <a:p>
            <a:pPr algn="l">
              <a:lnSpc>
                <a:spcPct val="128000"/>
              </a:lnSpc>
            </a:pPr>
            <a:r>
              <a:rPr sz="1200" dirty="0" err="1">
                <a:solidFill>
                  <a:srgbClr val="333333"/>
                </a:solidFill>
                <a:latin typeface="メイリオ"/>
                <a:ea typeface="メイリオ"/>
                <a:cs typeface="メイリオ"/>
              </a:rPr>
              <a:t>この型を、このあとの入口（P25）・診断（P28）・配信の出し分け（P30）・ステップ配信（P31）に取り入れます。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 出典：LINEヤフー for Business 導入事例（2024年4月5日）・明光義塾 LINE公式アカウント（2026-10-19 弊社確認）。実際の画面はP16。</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友だちになってもらい、答えてもらい、合う方に届ける。この時期に資料請求は前年比 約120%（公式事例）。</a:t>
            </a:r>
          </a:p>
        </p:txBody>
      </p:sp>
      <p:sp>
        <p:nvSpPr>
          <p:cNvPr id="105" name="Rounded Rectangle 104"/>
          <p:cNvSpPr/>
          <p:nvPr/>
        </p:nvSpPr>
        <p:spPr>
          <a:xfrm>
            <a:off x="429768"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100" dirty="0"/>
          </a:p>
        </p:txBody>
      </p:sp>
      <p:sp>
        <p:nvSpPr>
          <p:cNvPr id="106" name="Rounded Rectangle 105"/>
          <p:cNvSpPr/>
          <p:nvPr/>
        </p:nvSpPr>
        <p:spPr>
          <a:xfrm>
            <a:off x="429768"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100" dirty="0"/>
          </a:p>
        </p:txBody>
      </p:sp>
      <p:sp>
        <p:nvSpPr>
          <p:cNvPr id="107" name="Rounded Rectangle 106"/>
          <p:cNvSpPr/>
          <p:nvPr/>
        </p:nvSpPr>
        <p:spPr>
          <a:xfrm>
            <a:off x="429768"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00" b="1" dirty="0">
                <a:solidFill>
                  <a:srgbClr val="1F285A"/>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050" dirty="0"/>
          </a:p>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050" dirty="0"/>
          </a:p>
        </p:txBody>
      </p:sp>
      <p:sp>
        <p:nvSpPr>
          <p:cNvPr id="108" name="Rounded Rectangle 107"/>
          <p:cNvSpPr/>
          <p:nvPr/>
        </p:nvSpPr>
        <p:spPr>
          <a:xfrm>
            <a:off x="3511296"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100" dirty="0"/>
          </a:p>
        </p:txBody>
      </p:sp>
      <p:sp>
        <p:nvSpPr>
          <p:cNvPr id="109" name="Rounded Rectangle 108"/>
          <p:cNvSpPr/>
          <p:nvPr/>
        </p:nvSpPr>
        <p:spPr>
          <a:xfrm>
            <a:off x="3511296"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100" dirty="0"/>
          </a:p>
        </p:txBody>
      </p:sp>
      <p:sp>
        <p:nvSpPr>
          <p:cNvPr id="110" name="Rounded Rectangle 109"/>
          <p:cNvSpPr/>
          <p:nvPr/>
        </p:nvSpPr>
        <p:spPr>
          <a:xfrm>
            <a:off x="3511296"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00" b="1" dirty="0">
                <a:solidFill>
                  <a:srgbClr val="1F285A"/>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050" dirty="0"/>
          </a:p>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050" dirty="0"/>
          </a:p>
        </p:txBody>
      </p:sp>
      <p:sp>
        <p:nvSpPr>
          <p:cNvPr id="111" name="Rounded Rectangle 110"/>
          <p:cNvSpPr/>
          <p:nvPr/>
        </p:nvSpPr>
        <p:spPr>
          <a:xfrm>
            <a:off x="6592824"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100" dirty="0"/>
          </a:p>
        </p:txBody>
      </p:sp>
      <p:sp>
        <p:nvSpPr>
          <p:cNvPr id="112" name="Rounded Rectangle 111"/>
          <p:cNvSpPr/>
          <p:nvPr/>
        </p:nvSpPr>
        <p:spPr>
          <a:xfrm>
            <a:off x="6592824"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2023年は、アンケートで保護者か生徒か、塾に通っているかを聞いた。</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100" dirty="0"/>
          </a:p>
        </p:txBody>
      </p:sp>
      <p:sp>
        <p:nvSpPr>
          <p:cNvPr id="113" name="Rounded Rectangle 112"/>
          <p:cNvSpPr/>
          <p:nvPr/>
        </p:nvSpPr>
        <p:spPr>
          <a:xfrm>
            <a:off x="6592824"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00" b="1" dirty="0">
                <a:solidFill>
                  <a:srgbClr val="1F285A"/>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050" dirty="0"/>
          </a:p>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 配信した方の55%が反応（P17）</a:t>
            </a:r>
            <a:endParaRPr lang="ja-JP" altLang="en-US" sz="1050" dirty="0"/>
          </a:p>
        </p:txBody>
      </p:sp>
    </p:spTree>
    <p:extLst>
      <p:ext uri="{BB962C8B-B14F-4D97-AF65-F5344CB8AC3E}">
        <p14:creationId xmlns:p14="http://schemas.microsoft.com/office/powerpoint/2010/main" val="15375234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明光義塾のステップ配信（公式事例の画面）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友だち追加のあと、相手に合わせた配信が自動で届きます（2023年の公式事例の画面）。</a:t>
            </a:r>
          </a:p>
          <a:p>
            <a:pPr algn="l">
              <a:lnSpc>
                <a:spcPct val="128000"/>
              </a:lnSpc>
            </a:pPr>
            <a:r>
              <a:rPr sz="1200" dirty="0" err="1">
                <a:solidFill>
                  <a:srgbClr val="333333"/>
                </a:solidFill>
                <a:latin typeface="メイリオ"/>
                <a:ea typeface="メイリオ"/>
                <a:cs typeface="メイリオ"/>
              </a:rPr>
              <a:t>答えていない方にはクイズで回答を促し、塾に通っていない方には迷い具合に合わせて3つの行動を案内しています。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画面：LINEヤフー for Business 導入事例 明光義塾（2024年4月5日）掲載の図版（2023年の施策時のもの）。55%は同事例の記載。画面の中のボタンの色は明光義塾のもの</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答えやすい形で聞き、迷い具合に合わせて次の一歩を選べるようにしている。</a:t>
            </a:r>
          </a:p>
        </p:txBody>
      </p:sp>
      <p:sp>
        <p:nvSpPr>
          <p:cNvPr id="105" name="Rounded Rectangle 104"/>
          <p:cNvSpPr/>
          <p:nvPr/>
        </p:nvSpPr>
        <p:spPr>
          <a:xfrm>
            <a:off x="42976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　アンケートに答えていない方へ</a:t>
            </a:r>
            <a:endParaRPr lang="ja-JP" altLang="en-US" sz="1050" dirty="0"/>
          </a:p>
        </p:txBody>
      </p:sp>
      <p:pic>
        <p:nvPicPr>
          <p:cNvPr id="106" name="明光義塾_ステップ配信_1" descr=""/>
          <p:cNvPicPr>
            <a:picLocks noChangeAspect="1"/>
          </p:cNvPicPr>
          <p:nvPr/>
        </p:nvPicPr>
        <p:blipFill>
          <a:blip r:embed="rId101"/>
          <a:stretch>
            <a:fillRect/>
          </a:stretch>
        </p:blipFill>
        <p:spPr>
          <a:xfrm>
            <a:off x="465459" y="1865376"/>
            <a:ext cx="4354313" cy="2606040"/>
          </a:xfrm>
          <a:prstGeom prst="rect">
            <a:avLst/>
          </a:prstGeom>
          <a:ln w="9525">
            <a:solidFill>
              <a:srgbClr val="C6CADD"/>
            </a:solidFill>
          </a:ln>
        </p:spPr>
      </p:pic>
      <p:sp>
        <p:nvSpPr>
          <p:cNvPr id="107" name="Rectangle 106"/>
          <p:cNvSpPr/>
          <p:nvPr/>
        </p:nvSpPr>
        <p:spPr>
          <a:xfrm>
            <a:off x="42976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クイズ「サボローを探せ！」の答えを見るボタンが</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「保護者の方／生徒の方／その他の方」。</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楽しみながら答えてもらい、誰なのかが分かる。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配信した方の55%が反応。</a:t>
            </a:r>
            <a:endParaRPr lang="ja-JP" altLang="en-US" sz="1000" dirty="0"/>
          </a:p>
        </p:txBody>
      </p:sp>
      <p:sp>
        <p:nvSpPr>
          <p:cNvPr id="108" name="Rounded Rectangle 107"/>
          <p:cNvSpPr/>
          <p:nvPr/>
        </p:nvSpPr>
        <p:spPr>
          <a:xfrm>
            <a:off x="504748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2　塾に通っていない方へ</a:t>
            </a:r>
            <a:endParaRPr lang="ja-JP" altLang="en-US" sz="1050" dirty="0"/>
          </a:p>
        </p:txBody>
      </p:sp>
      <p:pic>
        <p:nvPicPr>
          <p:cNvPr id="109" name="明光義塾_ステップ配信_2" descr=""/>
          <p:cNvPicPr>
            <a:picLocks noChangeAspect="1"/>
          </p:cNvPicPr>
          <p:nvPr/>
        </p:nvPicPr>
        <p:blipFill>
          <a:blip r:embed="rId102"/>
          <a:stretch>
            <a:fillRect/>
          </a:stretch>
        </p:blipFill>
        <p:spPr>
          <a:xfrm>
            <a:off x="5445183" y="1865376"/>
            <a:ext cx="3630304" cy="2606040"/>
          </a:xfrm>
          <a:prstGeom prst="rect">
            <a:avLst/>
          </a:prstGeom>
          <a:ln w="9525">
            <a:solidFill>
              <a:srgbClr val="C6CADD"/>
            </a:solidFill>
          </a:ln>
        </p:spPr>
      </p:pic>
      <p:sp>
        <p:nvSpPr>
          <p:cNvPr id="110" name="Rectangle 109"/>
          <p:cNvSpPr/>
          <p:nvPr/>
        </p:nvSpPr>
        <p:spPr>
          <a:xfrm>
            <a:off x="504748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「先ほどは友だち登録していただき…」から始まる。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ボタンは迷い具合で3つ：</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授業を受けてみたい→無料体験／雰囲気を知りたい→</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教室見学／一度検討したい→資料請求。</a:t>
            </a:r>
            <a:endParaRPr lang="ja-JP" altLang="en-US" sz="1000" dirty="0"/>
          </a:p>
        </p:txBody>
      </p:sp>
    </p:spTree>
    <p:extLst>
      <p:ext uri="{BB962C8B-B14F-4D97-AF65-F5344CB8AC3E}">
        <p14:creationId xmlns:p14="http://schemas.microsoft.com/office/powerpoint/2010/main" val="32047602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中学受験の保護者は、検索の前に志望校・偏差値・算数検定を調べ、当日は塾の名前に集中する。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そのあとは、入室テスト・料金・口コミで比べている。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塾の名前を調べる前（志望校・偏差値を調べる時期）に、LINEでつながっておく。</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出典｜LINEヤフー前後検索（2026年10月取得）。横軸＝起点の検索の前後15日、縦軸＝検索した人数（UU）。色はDYMの分類（薄い文字は分類の対象外）。配信の中身はP31・P38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「中学受験 塾」の検索前後（LINEヤフー前後検索・実データ）</a:t>
            </a:r>
            <a:endParaRPr lang="ja-JP" altLang="en-US" sz="1050" dirty="0"/>
          </a:p>
        </p:txBody>
      </p:sp>
      <p:pic>
        <p:nvPicPr>
          <p:cNvPr id="27" name="前後検索_中学受験 塾" descr=""/>
          <p:cNvPicPr>
            <a:picLocks noChangeAspect="1"/>
          </p:cNvPicPr>
          <p:nvPr/>
        </p:nvPicPr>
        <p:blipFill>
          <a:blip r:embed="rId101"/>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私立中学 偏差値ランキング／海城中学・女子学院／栄東中学校 入試／中学受験 偏差値40</a:t>
            </a:r>
            <a:endParaRPr lang="ja-JP" altLang="en-US" sz="12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算数検定／予習シリーズ／中学受験 社会 勉強方法／中学受験 親の関わり方</a:t>
            </a:r>
            <a:endParaRPr lang="ja-JP" altLang="en-US" sz="12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中学受験 塾選び／塾 ランキング／個別指導のみ／塾 費用／4年生から始める</a:t>
            </a:r>
            <a:endParaRPr lang="ja-JP" altLang="en-US" sz="12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日能研・早稲田アカデミー・サピックス／サピックス 入室テスト／日能研 費用／明光義塾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志望校・偏差値を調べている → 学年と志望を聞き、入試までの逆算を届ける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塾選び・費用・いつからを比べている → 費用の目安と始める時期を先に出す</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入室テスト・口コミで比べている → 同じタイプの子の事例と、体験授業の案内</a:t>
            </a:r>
            <a:endParaRPr lang="ja-JP" altLang="en-US" sz="1200" dirty="0"/>
          </a:p>
        </p:txBody>
      </p:sp>
    </p:spTree>
    <p:extLst>
      <p:ext uri="{BB962C8B-B14F-4D97-AF65-F5344CB8AC3E}">
        <p14:creationId xmlns:p14="http://schemas.microsoft.com/office/powerpoint/2010/main" val="25730800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前後検索｜中高一貫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中高一貫の保護者は、都立中高一貫校・中等教育学校の名前と入試日程を、15日前から調べている。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塾の名前（ena・栄光ゼミナール・日能研）は当日に集中し、そのあとは料金・合格実績で比べている。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学校名と日程を調べ始める15日前から、志望校の情報でつながる。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出典｜LINEヤフー前後検索（2026年10月取得）。横軸＝起点の検索の前後15日、縦軸＝検索した人数（UU）。色はDYMの分類（薄い文字は分類の対象外）。配信の中身はP31・P38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「中高一貫 塾」の検索前後（LINEヤフー前後検索・実データ）</a:t>
            </a:r>
            <a:endParaRPr lang="ja-JP" altLang="en-US" sz="1050" dirty="0"/>
          </a:p>
        </p:txBody>
      </p:sp>
      <p:pic>
        <p:nvPicPr>
          <p:cNvPr id="27" name="前後検索_中高一貫 塾" descr=""/>
          <p:cNvPicPr>
            <a:picLocks noChangeAspect="1"/>
          </p:cNvPicPr>
          <p:nvPr/>
        </p:nvPicPr>
        <p:blipFill>
          <a:blip r:embed="rId101"/>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都立中高一貫校／立川国際・三鷹・九段中等教育学校／都立高校 入試日程／都立推薦 日程</a:t>
            </a:r>
            <a:endParaRPr lang="ja-JP" altLang="en-US" sz="12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声の教育社（過去問）／四谷大塚 予習シリーズ</a:t>
            </a:r>
            <a:endParaRPr lang="ja-JP" altLang="en-US" sz="12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中学受験 塾選び／中学受験 塾 費用／中学受験 全落ち／中高一貫 塾</a:t>
            </a:r>
            <a:endParaRPr lang="ja-JP" altLang="en-US" sz="12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ena・栄光ゼミナール・日能研／栄光ゼミナール 料金／早稲田アカデミー 合格実績／森塾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学校名・入試日程を調べている → 志望校を聞き、入試までの逆算を届ける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塾の費用・全落ちを心配している → 年間の費用の目安と、準備の進め方</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料金・合格実績で比べている → 同じ志望の子の事例と、体験授業の案内</a:t>
            </a:r>
            <a:endParaRPr lang="ja-JP" altLang="en-US" sz="1200" dirty="0"/>
          </a:p>
        </p:txBody>
      </p:sp>
    </p:spTree>
    <p:extLst>
      <p:ext uri="{BB962C8B-B14F-4D97-AF65-F5344CB8AC3E}">
        <p14:creationId xmlns:p14="http://schemas.microsoft.com/office/powerpoint/2010/main" val="341520534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高校受験の保護者は、当日に「塾 いつから・費用・ランキング・勉強方法」をまとめて調べている。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その前は志望校の偏差値、そのあとは塾の名前と料金で比べている。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「いつから・費用」を調べる当日に、その答えをLINEで先に届ける。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出典｜LINEヤフー前後検索（2026年10月取得）。横軸＝起点の検索の前後15日、縦軸＝検索した人数（UU）。色はDYMの分類（薄い文字は分類の対象外）。配信の中身はP31・P38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「高校受験 塾」の検索前後（LINEヤフー前後検索・実データ）</a:t>
            </a:r>
            <a:endParaRPr lang="ja-JP" altLang="en-US" sz="1050" dirty="0"/>
          </a:p>
        </p:txBody>
      </p:sp>
      <p:pic>
        <p:nvPicPr>
          <p:cNvPr id="27" name="前後検索_高校受験 塾" descr=""/>
          <p:cNvPicPr>
            <a:picLocks noChangeAspect="1"/>
          </p:cNvPicPr>
          <p:nvPr/>
        </p:nvPicPr>
        <p:blipFill>
          <a:blip r:embed="rId101"/>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都立高校／高校受験 偏差値／東京都 高校 偏差値／都立高校 入試</a:t>
            </a:r>
            <a:endParaRPr lang="ja-JP" altLang="en-US" sz="12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勉強方法／数検3級／高校受験 塾なし／中学 英語</a:t>
            </a:r>
            <a:endParaRPr lang="ja-JP" altLang="en-US" sz="12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塾 いつから／塾 費用／塾 ランキング／中学受験 高校受験 どっち／オンライン 塾</a:t>
            </a:r>
            <a:endParaRPr lang="ja-JP" altLang="en-US" sz="12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早稲田アカデミー・栄光ゼミナール・臨海セミナー／早稲アカ 個別 料金／臨海セミナー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勉強方法・塾なしで迷っている → 売り込まずに、家でできる勉強のコツ</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いつから・費用を調べている → 年間の費用の目安と、始める時期</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14日後｜テストから逆算＋体験のご案内②</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塾の名前・料金で比べている → 次の定期テストから逆算した体験授業の案内</a:t>
            </a:r>
            <a:endParaRPr lang="ja-JP" altLang="en-US" sz="1200" dirty="0"/>
          </a:p>
        </p:txBody>
      </p:sp>
    </p:spTree>
    <p:extLst>
      <p:ext uri="{BB962C8B-B14F-4D97-AF65-F5344CB8AC3E}">
        <p14:creationId xmlns:p14="http://schemas.microsoft.com/office/powerpoint/2010/main" val="12053643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前後検索｜英語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英語の保護者は、塾より先に英検（日程・級・合格発表）を調べている。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当日は英語塾・個別指導塾の名前、そのあとは料金・口コミで比べている。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英検の日程を調べるタイミングで、英検の情報からつながる。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出典｜LINEヤフー前後検索（2026年10月取得）。横軸＝起点の検索の前後15日、縦軸＝検索した人数（UU）。色はDYMの分類（薄い文字は分類の対象外）。配信の中身はP31・P38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「英語 塾」の検索前後（LINEヤフー前後検索・実データ）</a:t>
            </a:r>
            <a:endParaRPr lang="ja-JP" altLang="en-US" sz="1050" dirty="0"/>
          </a:p>
        </p:txBody>
      </p:sp>
      <p:pic>
        <p:nvPicPr>
          <p:cNvPr id="27" name="前後検索_英語 塾" descr=""/>
          <p:cNvPicPr>
            <a:picLocks noChangeAspect="1"/>
          </p:cNvPicPr>
          <p:nvPr/>
        </p:nvPicPr>
        <p:blipFill>
          <a:blip r:embed="rId101"/>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中高一貫校／大学受験／開成高校／高校受験</a:t>
            </a:r>
            <a:endParaRPr lang="ja-JP" altLang="en-US" sz="12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英検 日程／英検3級・2級・準1級／英検 合格発表／漢検／スタディサプリ／英単語</a:t>
            </a:r>
            <a:endParaRPr lang="ja-JP" altLang="en-US" sz="12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個別指導塾／英語塾 中高一貫校／高校受験 塾／小学生 英語 塾</a:t>
            </a:r>
            <a:endParaRPr lang="ja-JP" altLang="en-US" sz="12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武田塾・明光義塾・森塾／英検アカデミー 料金・口コミ／武田塾 料金</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英検の日程・級を調べている → 学年と目指す級を聞き、次の英検までの逆算を届ける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英単語・勉強法を調べている → 家でできる英語の勉強のコツ</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料金・口コミで比べている → 同じ級を目指した子の事例と、体験授業の案内</a:t>
            </a:r>
            <a:endParaRPr lang="ja-JP" altLang="en-US" sz="1200" dirty="0"/>
          </a:p>
        </p:txBody>
      </p:sp>
    </p:spTree>
    <p:extLst>
      <p:ext uri="{BB962C8B-B14F-4D97-AF65-F5344CB8AC3E}">
        <p14:creationId xmlns:p14="http://schemas.microsoft.com/office/powerpoint/2010/main" val="3055697520"/>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56</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