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3021" r:id="rId4"/>
    <p:sldId id="3034" r:id="rId5"/>
    <p:sldId id="3022" r:id="rId6"/>
    <p:sldId id="3026" r:id="rId7"/>
    <p:sldId id="3023" r:id="rId8"/>
    <p:sldId id="3027" r:id="rId10"/>
    <p:sldId id="3035" r:id="rId11"/>
    <p:sldId id="2971" r:id="rId12"/>
    <p:sldId id="2972" r:id="rId13"/>
    <p:sldId id="3025" r:id="rId14"/>
    <p:sldId id="3036" r:id="rId15"/>
    <p:sldId id="3028" r:id="rId16"/>
    <p:sldId id="3029" r:id="rId17"/>
    <p:sldId id="3038" r:id="rId9"/>
    <p:sldId id="3030" r:id="rId18"/>
    <p:sldId id="3031" r:id="rId19"/>
    <p:sldId id="3037" r:id="rId20"/>
    <p:sldId id="3032" r:id="rId21"/>
    <p:sldId id="3033" r:id="rId22"/>
    <p:sldId id="2991" r:id="rId23"/>
    <p:sldId id="3024" r:id="rId24"/>
    <p:sldId id="2990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23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友だち（累計）</c:v>
                </c:pt>
              </c:strCache>
            </c:strRef>
          </c:tx>
          <c:spPr>
            <a:solidFill>
              <a:srgbClr val="06C755"/>
            </a:solidFill>
          </c:spPr>
          <c:invertIfNegative val="1"/>
          <c:dLbls>
            <c:numFmt formatCode="#,##0&quot;人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F285A"/>
                    </a:solidFill>
                    <a:latin typeface="メイリオ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143</c:v>
                </c:pt>
                <c:pt idx="2">
                  <c:v>235</c:v>
                </c:pt>
                <c:pt idx="3">
                  <c:v>335</c:v>
                </c:pt>
                <c:pt idx="4">
                  <c:v>436</c:v>
                </c:pt>
                <c:pt idx="5">
                  <c:v>542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761-4F61-AAD3-0ECD0D52B4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latin typeface="メイリオ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972000" y="2160000"/>
            <a:ext cx="7956000" cy="11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Webサイトリニューアルに伴う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「公式LINE活用・顧客ストック化」のご提案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972000" y="1800000"/>
            <a:ext cx="795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―サイトに来た求職者を、LINEでストックする「同時導入」プラン―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本日のアジェンダ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Webサイト改善の「先」にある、求職者を逃さないLINE連携の全体像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1764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0000" y="1872000"/>
            <a:ext cx="108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8000" y="1872000"/>
            <a:ext cx="655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その場の応募で終わらせず、LINEでストックする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80000" y="2790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000" y="2898000"/>
            <a:ext cx="108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8000" y="2898000"/>
            <a:ext cx="655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LINEが求人を探す入口・継続接点になる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0000" y="3816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0000" y="3924000"/>
            <a:ext cx="108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8000" y="3924000"/>
            <a:ext cx="655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離脱防止・サンクスLINEから応募・来店まで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0000" y="4842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0000" y="4950000"/>
            <a:ext cx="108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000" y="4950000"/>
            <a:ext cx="655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友だち獲得・費用・11月からの進め方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0000" y="5868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Webサイトリニューアルの「次の課題」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サイトを新しくしても、応募しない「検討層・離脱層」は残る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0" rIns="72000" bIns="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サイト改修で良くなること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144000" bIns="36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・見やすさ・求人の探しやすさ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・応募フォームの入力しやすさ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応募する方が増える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52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48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0" rIns="72000" bIns="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改修しても残ること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144000" bIns="36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・比較検討中で、まだ応募しない方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・フォームの途中で離れた方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その後の接点が残らない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671999"/>
            <a:ext cx="8316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整備士は、複数の経路を比べて仕事を探している（仕事を探した経路・複数回答）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現状のWebサイトにおけるボトルネック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現行サイトは「その場の応募」のみで、求職者データが残らない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20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80000" y="1655999"/>
            <a:ext cx="3096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入口は「応募」「転職支援の申込」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8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8000" y="1655999"/>
            <a:ext cx="2700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応募した方だけ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連絡先が残る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700000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000" y="295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80000" y="2700000"/>
            <a:ext cx="62280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接点が残らず、後から案内できない（再来訪を待つしかない）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検討層の受け皿がない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比較検討中の方と接点を持てない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登録が使われにくい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氏名・経歴・パスワードの入力が壁に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名簿が残らない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長期的に育てるリストがない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解決策｜LINEで「その後」まで追える状態をつくる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応募に至らない方をLINEの友だちとして残し、応募・面談・来店まで追う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512000" cy="23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新サイトに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8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2358000" y="345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64000" y="1655999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応募する方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00" y="3024000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（検討層・離脱層）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26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626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2000" y="1655999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サイトで応募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3024000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LINEで友だち追加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＝ストック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2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08000" y="3024000"/>
            <a:ext cx="1800000" cy="100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求人を配信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→ 応募・来店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後から案内できる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新着求人・条件に合う求人をいつでも届けられる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見込み求職者が貯まる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今すぐ応募しない方もリストに残る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興味が分かる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配信のクリックで、興味のある職種が分かる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獲得したストック顧客へのアプローチ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蓄積した友だちに、条件に合う求人をLINEで直接届ける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友だち（ストック）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応募前の方とも接点が残る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8000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71999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クリックで自動分類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整備士・営業・未経験OKなどに分かれる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27999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5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興味に合う求人を配信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新着求人・条件に合う求人を届ける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204000"/>
            <a:ext cx="8316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他業種・就職支援での、LINE配信の反応（LINEヤフー公式事例）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バス会社｜メッセージの開封率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LINE通知メッセージの配信後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バス会社｜クリック率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約5倍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メルマガのクリック率との比較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就職支援｜LINE問い合わせ後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の方が、面談を予約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60000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導入事例（琴平バス・UZUZ）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【事例】求人業界におけるLINE活用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タウンワークでは、LINEから求人を探せる導線を強化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2124000"/>
            <a:ext cx="3816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2448000"/>
            <a:ext cx="3816000" cy="115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36000" y="1944000"/>
            <a:ext cx="0" cy="252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6000" y="1800000"/>
            <a:ext cx="4212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応募増加につながったポイント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48000" y="2628000"/>
            <a:ext cx="0" cy="151200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932000" y="2412000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4000" y="2394000"/>
            <a:ext cx="3564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リッチメニューで条件を選ぶ</a:t>
            </a:r>
          </a:p>
        </p:txBody>
      </p:sp>
      <p:sp>
        <p:nvSpPr>
          <p:cNvPr id="24" name="Oval 23"/>
          <p:cNvSpPr/>
          <p:nvPr/>
        </p:nvSpPr>
        <p:spPr>
          <a:xfrm>
            <a:off x="4932000" y="3167999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4000" y="3150000"/>
            <a:ext cx="3564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条件に合う求人を表示</a:t>
            </a:r>
          </a:p>
        </p:txBody>
      </p:sp>
      <p:sp>
        <p:nvSpPr>
          <p:cNvPr id="26" name="Oval 25"/>
          <p:cNvSpPr/>
          <p:nvPr/>
        </p:nvSpPr>
        <p:spPr>
          <a:xfrm>
            <a:off x="4932000" y="3923999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4000" y="3906000"/>
            <a:ext cx="3564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そのまま求人ページへ移動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504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5094000"/>
            <a:ext cx="8316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LINEを「求人を探す入口」にしたことが、応募増加へ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タウンワークの勝因｜常設の入口（リッチメニュー）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勝因は、ワンタップで求人を探せる常設の入口（リッチメニュー）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求人を受け取るための会員連携を案内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時間帯などの条件がワンタップ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自動車求人サイトへの応用｜LINEのワンタップ検索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資格・職種・こだわり条件は、LINEのワンタップ検索と相性が良い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整備士1級・2級・3級・無資格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職種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整備士／営業／受付・事務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こだわり条件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未経験OK・資格取得支援あり・土日休みなど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204000"/>
            <a:ext cx="2376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ボタンをタップ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0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64000" y="3204000"/>
            <a:ext cx="2736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検索結果ページが開く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2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96000" y="3204000"/>
            <a:ext cx="2412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気になる求人で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サイトから応募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4320000"/>
            <a:ext cx="831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1999" tIns="36000" rIns="144000" bIns="36000" rtlCol="0" anchor="ctr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掲載中の求人は、全国2,134件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（うち正社員・整備士946件、正社員・営業180件）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40000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新サイトとLINEの連動導線（全体フロー）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LINEの友だちを増やし、その後の応募・面談・来店まで接点を持ち続ける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2015999"/>
            <a:ext cx="1278000" cy="936000"/>
          </a:xfrm>
          <a:prstGeom prst="homePlate">
            <a:avLst>
              <a:gd name="adj" fmla="val 2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000" y="2015999"/>
            <a:ext cx="971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求人媒体</a:t>
            </a:r>
          </a:p>
        </p:txBody>
      </p:sp>
      <p:sp>
        <p:nvSpPr>
          <p:cNvPr id="8" name="Chevron 7"/>
          <p:cNvSpPr/>
          <p:nvPr/>
        </p:nvSpPr>
        <p:spPr>
          <a:xfrm>
            <a:off x="1965600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1600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Web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</a:t>
            </a:r>
          </a:p>
        </p:txBody>
      </p:sp>
      <p:sp>
        <p:nvSpPr>
          <p:cNvPr id="10" name="Chevron 9"/>
          <p:cNvSpPr/>
          <p:nvPr/>
        </p:nvSpPr>
        <p:spPr>
          <a:xfrm>
            <a:off x="3139199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199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・サンクス</a:t>
            </a:r>
          </a:p>
        </p:txBody>
      </p:sp>
      <p:sp>
        <p:nvSpPr>
          <p:cNvPr id="12" name="Chevron 11"/>
          <p:cNvSpPr/>
          <p:nvPr/>
        </p:nvSpPr>
        <p:spPr>
          <a:xfrm>
            <a:off x="4312800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8800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</a:t>
            </a:r>
          </a:p>
        </p:txBody>
      </p:sp>
      <p:sp>
        <p:nvSpPr>
          <p:cNvPr id="14" name="Chevron 13"/>
          <p:cNvSpPr/>
          <p:nvPr/>
        </p:nvSpPr>
        <p:spPr>
          <a:xfrm>
            <a:off x="5486399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2399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ステップ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</p:txBody>
      </p:sp>
      <p:sp>
        <p:nvSpPr>
          <p:cNvPr id="16" name="Chevron 15"/>
          <p:cNvSpPr/>
          <p:nvPr/>
        </p:nvSpPr>
        <p:spPr>
          <a:xfrm>
            <a:off x="6659999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5999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18" name="Chevron 17"/>
          <p:cNvSpPr/>
          <p:nvPr/>
        </p:nvSpPr>
        <p:spPr>
          <a:xfrm>
            <a:off x="7833599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9600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078000"/>
            <a:ext cx="2361600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3186000"/>
            <a:ext cx="23616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広告・求人媒体から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93199" y="3078000"/>
            <a:ext cx="23076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93199" y="3186000"/>
            <a:ext cx="23076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友だちとしてストック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離脱防止・サンクスLINE誘導から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0400" y="3078000"/>
            <a:ext cx="3481200" cy="43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0400" y="3186000"/>
            <a:ext cx="34812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継続して接点を持つ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ステップ配信・求人案内から応募・面談・来店へ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000" y="4536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000" y="459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その場で応募しなかった方も、LINEでその後の応募・面談・来店まで追える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5903999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友だち獲得の2つの導線｜離脱防止・サンクスLINE誘導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サイトを離れる方・応募した方を、LINEの友だちとして残す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031999" cy="2521906"/>
          </a:xfrm>
          <a:prstGeom prst="rect">
            <a:avLst/>
          </a:prstGeom>
        </p:spPr>
      </p:pic>
      <p:pic>
        <p:nvPicPr>
          <p:cNvPr id="7" name="Picture 6" descr="chengrowth_v11_talk_than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000" y="1655999"/>
            <a:ext cx="1418254" cy="252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4284000"/>
            <a:ext cx="4031999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離脱防止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サイトを離れる方に「条件に合う新着求人をLINEで受け取る」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6000" y="4284000"/>
            <a:ext cx="4031999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サンクスLINE誘導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応募完了後に「今後の連絡・求人情報をLINEで受け取る」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976000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※画面はイメージです（右：応募完了後にLINEを追加した後のトーク画面）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ユーザー体験イメージ②｜LINEトーク画面・リッチメニュー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自動車求人に特化したリッチメニューを、トーク画面に常設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engrowth_v12_rich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104000" cy="27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4428000"/>
            <a:ext cx="4104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リッチメニュー（トーク画面の下に常設）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0" y="1584000"/>
            <a:ext cx="2107120" cy="374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000" y="1655999"/>
            <a:ext cx="1655999" cy="367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08000" bIns="36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LINE内で完結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職種をタップ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 条件に合う求人がカードで届く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求人ページからサイトで応募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72000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自動応答・アンケートシナリオの活用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友だち追加直後のアンケートで、資格・希望時期を把握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08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128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あいさつ（自動）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アンケートを案内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16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336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ボタンをタップするだけ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024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544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回答をタグで保存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資格・希望時期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3199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752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条件に合う求人を配信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保有資格：1級／2級／3級／無資格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希望時期：すぐ／3か月以内／情報収集中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希望の職種：整備士／営業／受付・事務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回答に合わせた配信の例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整備士2級・すぐ → 整備士の新着求人を優先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未経験・情報収集中 → 資格取得支援の求人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友だち追加から14日間、全10通のステップ配信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0" y="2700000"/>
            <a:ext cx="1458775" cy="259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※画面・選択肢はイメージです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友だち獲得シミュレーション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4月の公開から半年で、友だちは約542人まで積み上がる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888000" y="1548000"/>
          <a:ext cx="5220000" cy="201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0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313583"/>
              </p:ext>
            </p:extLst>
          </p:nvPr>
        </p:nvGraphicFramePr>
        <p:xfrm>
          <a:off x="793680" y="3671999"/>
          <a:ext cx="8319744" cy="82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1" name="TextBox 900"/>
          <p:cNvSpPr txBox="1"/>
          <p:nvPr/>
        </p:nvSpPr>
        <p:spPr>
          <a:xfrm>
            <a:off x="792000" y="5436000"/>
            <a:ext cx="8319600" cy="19562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792000" y="1655999"/>
            <a:ext cx="2951999" cy="36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半年後の友だち（累計）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792000" y="2015999"/>
            <a:ext cx="2951999" cy="115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</a:t>
            </a:r>
            <a:r>
              <a:rPr sz="6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542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cxnSp>
        <p:nvCxnSpPr>
          <p:cNvPr id="904" name="Connector 903"/>
          <p:cNvCxnSpPr/>
          <p:nvPr/>
        </p:nvCxnSpPr>
        <p:spPr>
          <a:xfrm>
            <a:off x="792000" y="468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5" name="TextBox 904"/>
          <p:cNvSpPr txBox="1"/>
          <p:nvPr/>
        </p:nvSpPr>
        <p:spPr>
          <a:xfrm>
            <a:off x="792000" y="4734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LINEで見込み求職者を蓄積し、応募・面談・来店につなげる資産をつくる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導入費用の考え方｜サイト制作費とは分けて明示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 → サイト → LINE → 応募の流れの中で、費用がかかる場所を分けて見る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728000"/>
            <a:ext cx="2160000" cy="827999"/>
          </a:xfrm>
          <a:prstGeom prst="homePlate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8000" rIns="216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広告・流入</a:t>
            </a:r>
          </a:p>
        </p:txBody>
      </p:sp>
      <p:sp>
        <p:nvSpPr>
          <p:cNvPr id="7" name="Chevron 6"/>
          <p:cNvSpPr/>
          <p:nvPr/>
        </p:nvSpPr>
        <p:spPr>
          <a:xfrm>
            <a:off x="2844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" rIns="216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Webサイト</a:t>
            </a:r>
          </a:p>
        </p:txBody>
      </p:sp>
      <p:sp>
        <p:nvSpPr>
          <p:cNvPr id="8" name="Chevron 7"/>
          <p:cNvSpPr/>
          <p:nvPr/>
        </p:nvSpPr>
        <p:spPr>
          <a:xfrm>
            <a:off x="4896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" rIns="216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LINEで接点を残す</a:t>
            </a:r>
          </a:p>
        </p:txBody>
      </p:sp>
      <p:sp>
        <p:nvSpPr>
          <p:cNvPr id="9" name="Chevron 8"/>
          <p:cNvSpPr/>
          <p:nvPr/>
        </p:nvSpPr>
        <p:spPr>
          <a:xfrm>
            <a:off x="6948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" rIns="216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応募・来店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44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96000" y="2700000"/>
            <a:ext cx="42120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000" y="2826000"/>
            <a:ext cx="2015999" cy="104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担い手：各広告媒体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サイトへの来訪を増やす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2826000"/>
            <a:ext cx="2015999" cy="104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担い手：サイト制作会社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見やすさ・検索性・応募フォームを改善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6000" y="2826000"/>
            <a:ext cx="4212000" cy="104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担い手：弊社（本提案）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来訪者を友だちとして蓄積し、応募・面談・来店までつなげる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140000"/>
            <a:ext cx="432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7999" y="4140000"/>
            <a:ext cx="3744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LINEの費用は、サイト制作費・広告費とは役割が異なる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4140000"/>
            <a:ext cx="4212000" cy="936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44000" bIns="72000" rtlCol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LINE独自構築費のかかり方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初期構築費：11月頃〜　｜　月額運用：4月〜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離脱防止・サンクスLINE誘導は月額に含む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LINE公式アカウント利用料：別途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40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490000"/>
            <a:ext cx="8316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LINEの費用を分けることで、友だちの増え方とその後の効果を単独で把握できる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概算お見積もり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11月頃からの初期構築費と、4月以降の月額運用パッケージ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20000"/>
            <a:ext cx="4104000" cy="36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初期構築費</a:t>
            </a: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（11月頃〜3月）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980000"/>
            <a:ext cx="4104000" cy="93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0000" y="1692000"/>
            <a:ext cx="0" cy="3132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04000" y="1620000"/>
            <a:ext cx="4104000" cy="36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月額運用パッケージ</a:t>
            </a:r>
            <a:r>
              <a:rPr sz="12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（4月以降）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4000" y="1980000"/>
            <a:ext cx="4104000" cy="93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</a:t>
            </a: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万円／月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3060000"/>
            <a:ext cx="3744000" cy="172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含むもの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・アカウント開設・設計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・リッチメニュー・あいさつ・ステップ配信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・セグメント・計測・友だち獲得導線の設計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・各種設定・動作確認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6000" y="3060000"/>
            <a:ext cx="3744000" cy="172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含むもの（主要施策込み）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・LINE公式アカウント運用・配信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・ステップ配信・リッチメニュー運用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・離脱防止・サンクスLINE誘導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・分析・改善・毎月のレポート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2000" y="5004000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2000" y="5076000"/>
            <a:ext cx="831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＋ LINE公式アカウント（開設3万円〜／利用料 月額0.5万円〜・配信通数で変動）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5903999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体制：弊社＝設計・運用・制作・毎月のレポート／貴社＝求人情報・面談体制の共有、サイト制作会社様との連携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なぜ4月を待たず、11月頃から初期構築を進めるのか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4月から成果を出すために、11月頃から準備を始める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3096000"/>
            <a:ext cx="7848000" cy="0"/>
          </a:xfrm>
          <a:prstGeom prst="line">
            <a:avLst/>
          </a:prstGeom>
          <a:ln w="317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000" y="2268000"/>
            <a:ext cx="244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</a:t>
            </a:r>
          </a:p>
        </p:txBody>
      </p:sp>
      <p:sp>
        <p:nvSpPr>
          <p:cNvPr id="8" name="Oval 7"/>
          <p:cNvSpPr/>
          <p:nvPr/>
        </p:nvSpPr>
        <p:spPr>
          <a:xfrm>
            <a:off x="2088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3564000"/>
            <a:ext cx="2448000" cy="6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サイト制作段階から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LINE連携を設計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999" y="4284000"/>
            <a:ext cx="252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公開後の大きな改修を避けられる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6000" y="2268000"/>
            <a:ext cx="244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2" name="Oval 11"/>
          <p:cNvSpPr/>
          <p:nvPr/>
        </p:nvSpPr>
        <p:spPr>
          <a:xfrm>
            <a:off x="4662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6000" y="3564000"/>
            <a:ext cx="2448000" cy="6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公開前に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構築・設定・検証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000" y="4284000"/>
            <a:ext cx="252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ステップ配信まで完成させておく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268000"/>
            <a:ext cx="244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6" name="Oval 15"/>
          <p:cNvSpPr/>
          <p:nvPr/>
        </p:nvSpPr>
        <p:spPr>
          <a:xfrm>
            <a:off x="7235999" y="2808000"/>
            <a:ext cx="576000" cy="576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3564000"/>
            <a:ext cx="2448000" cy="6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4月から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そのまま本格運用へ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999" y="4284000"/>
            <a:ext cx="252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運用設計をやり直す必要がない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148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202000"/>
            <a:ext cx="8316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初期構築から運用・改善まで一貫して支援することで、サイト公開後もスムーズに本格運用へ移行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スケジュール｜11月頃から初期構築、4月から本格運用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11月〜3月でステップ配信まで構築し、4月は構築済みのLINEで本格運用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584000"/>
            <a:ext cx="4608000" cy="306000"/>
          </a:xfrm>
          <a:prstGeom prst="homePlate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11月〜3月｜設計・構築</a:t>
            </a:r>
          </a:p>
        </p:txBody>
      </p:sp>
      <p:sp>
        <p:nvSpPr>
          <p:cNvPr id="7" name="Chevron 6"/>
          <p:cNvSpPr/>
          <p:nvPr/>
        </p:nvSpPr>
        <p:spPr>
          <a:xfrm>
            <a:off x="5256000" y="1584000"/>
            <a:ext cx="3852000" cy="306000"/>
          </a:xfrm>
          <a:prstGeom prst="chevron">
            <a:avLst>
              <a:gd name="adj" fmla="val 5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8000" rIns="108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4月〜｜運用・改善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99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2000" y="1925999"/>
            <a:ext cx="381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2000" y="1962000"/>
            <a:ext cx="0" cy="3326399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92000" y="1962000"/>
            <a:ext cx="0" cy="3326399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91999" y="1962000"/>
            <a:ext cx="0" cy="3326399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92000" y="1962000"/>
            <a:ext cx="0" cy="3326399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0000" y="2196000"/>
            <a:ext cx="4463999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2196000"/>
            <a:ext cx="4319999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　</a:t>
            </a:r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アカウント・リッチメニュー・あいさつ・セグメント・計測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000" y="2581200"/>
            <a:ext cx="4463999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581200"/>
            <a:ext cx="4319999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　</a:t>
            </a:r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ステップ配信の制作・配信条件・自動応答の設定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000" y="2966400"/>
            <a:ext cx="4463999" cy="342000"/>
          </a:xfrm>
          <a:prstGeom prst="rect">
            <a:avLst/>
          </a:prstGeom>
          <a:solidFill>
            <a:srgbClr val="E4E8F6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2966400"/>
            <a:ext cx="4319999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検証　</a:t>
            </a:r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動作テスト・公開前の確認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000" y="3351600"/>
            <a:ext cx="4463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3351600"/>
            <a:ext cx="4319999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先行稼働　</a:t>
            </a: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状況に応じて、友だち獲得施策の一部を先に稼働</a:t>
            </a:r>
          </a:p>
        </p:txBody>
      </p:sp>
      <p:sp>
        <p:nvSpPr>
          <p:cNvPr id="26" name="Diamond 25"/>
          <p:cNvSpPr/>
          <p:nvPr/>
        </p:nvSpPr>
        <p:spPr>
          <a:xfrm>
            <a:off x="5130000" y="3772800"/>
            <a:ext cx="324000" cy="324000"/>
          </a:xfrm>
          <a:prstGeom prst="diamond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36000" y="3934800"/>
            <a:ext cx="4140000" cy="0"/>
          </a:xfrm>
          <a:prstGeom prst="line">
            <a:avLst/>
          </a:prstGeom>
          <a:ln w="19050">
            <a:solidFill>
              <a:srgbClr val="1F28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08000" y="3736800"/>
            <a:ext cx="3600000" cy="39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サイト公開　／　構築済みのLINEで本格運用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10000" y="4132800"/>
            <a:ext cx="3780000" cy="342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0" y="4132800"/>
            <a:ext cx="3636000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獲得・配信　</a:t>
            </a:r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ステップ／企画配信・求人案内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0000" y="4518000"/>
            <a:ext cx="3780000" cy="342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0" y="4518000"/>
            <a:ext cx="3636000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追客　</a:t>
            </a:r>
            <a:r>
              <a:rPr sz="105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応募への追客・面談／来店のフォロー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0000" y="4903200"/>
            <a:ext cx="3780000" cy="342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0" y="4903200"/>
            <a:ext cx="3636000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分析・改善　</a:t>
            </a:r>
            <a:r>
              <a:rPr sz="105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KPI計測・月次分析・改善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92000" y="1925999"/>
            <a:ext cx="0" cy="3362400"/>
          </a:xfrm>
          <a:prstGeom prst="line">
            <a:avLst/>
          </a:prstGeom>
          <a:ln w="317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2000" y="5378399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2000" y="5432399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初期構築で設計した内容を、そのまま運用へ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000" y="5918399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※先行稼働はサイト状況・実装状況に応じて判断（先行稼働分はシミュレーションに含めない）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応募後もLINEでつながる｜サンクスLINE誘導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応募完了直後にLINEへ誘導し、面談・来店までの接点を残す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2015999"/>
            <a:ext cx="1764000" cy="1007999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015999"/>
            <a:ext cx="1404000" cy="100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応募完了</a:t>
            </a:r>
          </a:p>
        </p:txBody>
      </p:sp>
      <p:sp>
        <p:nvSpPr>
          <p:cNvPr id="8" name="Chevron 7"/>
          <p:cNvSpPr/>
          <p:nvPr/>
        </p:nvSpPr>
        <p:spPr>
          <a:xfrm>
            <a:off x="2430000" y="1853999"/>
            <a:ext cx="1764000" cy="1332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0000" y="1853999"/>
            <a:ext cx="1242000" cy="13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0" name="Chevron 9"/>
          <p:cNvSpPr/>
          <p:nvPr/>
        </p:nvSpPr>
        <p:spPr>
          <a:xfrm>
            <a:off x="4068000" y="2015999"/>
            <a:ext cx="1764000" cy="1007999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8000" y="2015999"/>
            <a:ext cx="1242000" cy="100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応募受付・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日程案内</a:t>
            </a:r>
          </a:p>
        </p:txBody>
      </p:sp>
      <p:sp>
        <p:nvSpPr>
          <p:cNvPr id="12" name="Chevron 11"/>
          <p:cNvSpPr/>
          <p:nvPr/>
        </p:nvSpPr>
        <p:spPr>
          <a:xfrm>
            <a:off x="5705999" y="2015999"/>
            <a:ext cx="1764000" cy="1007999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5999" y="2015999"/>
            <a:ext cx="1242000" cy="100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4" name="Chevron 13"/>
          <p:cNvSpPr/>
          <p:nvPr/>
        </p:nvSpPr>
        <p:spPr>
          <a:xfrm>
            <a:off x="7343999" y="2015999"/>
            <a:ext cx="1764000" cy="100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3999" y="2015999"/>
            <a:ext cx="1242000" cy="100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面談・来店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1565999"/>
            <a:ext cx="3384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サンクスページで「今後の連絡はLINEで」と案内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8000" y="3330000"/>
            <a:ext cx="15480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4000" y="3420000"/>
            <a:ext cx="1835999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6000" y="3330000"/>
            <a:ext cx="4932000" cy="43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6000" y="3420000"/>
            <a:ext cx="4932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LINEで応募後フォロー</a:t>
            </a:r>
          </a:p>
        </p:txBody>
      </p:sp>
      <p:sp>
        <p:nvSpPr>
          <p:cNvPr id="21" name="Oval 20"/>
          <p:cNvSpPr/>
          <p:nvPr/>
        </p:nvSpPr>
        <p:spPr>
          <a:xfrm>
            <a:off x="828000" y="3978000"/>
            <a:ext cx="360000" cy="36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8000" y="3924000"/>
            <a:ext cx="2160000" cy="9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友だちとして蓄積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応募で終わらせず、LINEに接点を残す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10000" y="3924000"/>
            <a:ext cx="0" cy="828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617999" y="3978000"/>
            <a:ext cx="360000" cy="360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999" y="3924000"/>
            <a:ext cx="2160000" cy="9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応募後の連絡をLINEで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受付・日時・場所・持ち物・日程変更を案内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00000" y="3924000"/>
            <a:ext cx="0" cy="828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8000" y="3978000"/>
            <a:ext cx="360000" cy="360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24000"/>
            <a:ext cx="2160000" cy="9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面談・来店までフォロー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前日リマインドで来店まで伴走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2000" y="504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2000" y="5094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応募で接点を終わらせず、LINEで面談・来店までつなげる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5976000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※求人ボックス・Indeed経由については、着地先・応募完了先を確認したうえで導入可否を設計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143252</TotalTime>
  <Words>1216</Words>
  <Application>Microsoft Office PowerPoint</Application>
  <PresentationFormat>A4 210 x 297 mm</PresentationFormat>
  <Paragraphs>341</Paragraphs>
  <Slides>23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29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1965</cp:revision>
  <cp:lastPrinted>2022-11-01T11:38:14Z</cp:lastPrinted>
  <dcterms:created xsi:type="dcterms:W3CDTF">2015-09-04T09:21:15Z</dcterms:created>
  <dcterms:modified xsi:type="dcterms:W3CDTF">2026-10-05T08:13:47Z</dcterms:modified>
</cp:coreProperties>
</file>