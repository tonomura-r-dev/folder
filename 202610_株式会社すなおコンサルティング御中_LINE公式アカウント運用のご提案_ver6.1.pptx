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50.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6"/>
  </p:notesMasterIdLst>
  <p:handoutMasterIdLst>
    <p:handoutMasterId r:id="rId67"/>
  </p:handoutMasterIdLst>
  <p:sldIdLst>
    <p:sldId id="2363" r:id="rId3"/>
    <p:sldId id="2988" r:id="rId4"/>
    <p:sldId id="2972" r:id="rId5"/>
    <p:sldId id="2971" r:id="rId7"/>
    <p:sldId id="2736" r:id="rId14"/>
    <p:sldId id="2976" r:id="rId12"/>
    <p:sldId id="3026" r:id="rId8"/>
    <p:sldId id="2986" r:id="rId13"/>
    <p:sldId id="2975" r:id="rId9"/>
    <p:sldId id="2985" r:id="rId10"/>
    <p:sldId id="3004" r:id="rId11"/>
    <p:sldId id="2761" r:id="rId47"/>
    <p:sldId id="3021" r:id="rId48"/>
    <p:sldId id="3008" r:id="rId64"/>
    <p:sldId id="2737" r:id="rId29"/>
    <p:sldId id="2979" r:id="rId15"/>
    <p:sldId id="3006" r:id="rId16"/>
    <p:sldId id="3027" r:id="rId72"/>
    <p:sldId id="2989" r:id="rId6"/>
    <p:sldId id="3015" r:id="rId20"/>
    <p:sldId id="3013" r:id="rId21"/>
    <p:sldId id="2957" r:id="rId36"/>
    <p:sldId id="3022" r:id="rId17"/>
    <p:sldId id="3031" r:id="rId76"/>
    <p:sldId id="3023" r:id="rId39"/>
    <p:sldId id="3024" r:id="rId40"/>
    <p:sldId id="3019" r:id="rId37"/>
    <p:sldId id="3032" r:id="rId77"/>
    <p:sldId id="3028" r:id="rId73"/>
    <p:sldId id="2970" r:id="rId31"/>
    <p:sldId id="2959" r:id="rId32"/>
    <p:sldId id="3025" r:id="rId33"/>
    <p:sldId id="2966" r:id="rId19"/>
    <p:sldId id="3029" r:id="rId74"/>
    <p:sldId id="3011" r:id="rId28"/>
    <p:sldId id="2734" r:id="rId42"/>
    <p:sldId id="2595" r:id="rId43"/>
    <p:sldId id="2566" r:id="rId44"/>
    <p:sldId id="2915" r:id="rId45"/>
    <p:sldId id="3030" r:id="rId75"/>
    <p:sldId id="2619" r:id="rId46"/>
    <p:sldId id="1169" r:id="rId65"/>
    <p:sldId id="2961" r:id="rId55"/>
    <p:sldId id="2908" r:id="rId18"/>
    <p:sldId id="2935" r:id="rId49"/>
    <p:sldId id="2919" r:id="rId50"/>
    <p:sldId id="2519" r:id="rId51"/>
    <p:sldId id="2931" r:id="rId52"/>
    <p:sldId id="2749" r:id="rId53"/>
    <p:sldId id="2950" r:id="rId54"/>
    <p:sldId id="2563" r:id="rId30"/>
    <p:sldId id="2968" r:id="rId34"/>
    <p:sldId id="2969" r:id="rId35"/>
    <p:sldId id="2951" r:id="rId38"/>
    <p:sldId id="2841" r:id="rId41"/>
    <p:sldId id="2849" r:id="rId56"/>
    <p:sldId id="2904" r:id="rId57"/>
    <p:sldId id="2905" r:id="rId58"/>
    <p:sldId id="2906" r:id="rId59"/>
    <p:sldId id="2907" r:id="rId60"/>
    <p:sldId id="2575" r:id="rId61"/>
    <p:sldId id="2910" r:id="rId6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19.xml"/><Relationship Id="rId7" Type="http://schemas.openxmlformats.org/officeDocument/2006/relationships/slide" Target="slides/slide4.xml"/><Relationship Id="rId8" Type="http://schemas.openxmlformats.org/officeDocument/2006/relationships/slide" Target="slides/slide7.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6.xml"/><Relationship Id="rId13" Type="http://schemas.openxmlformats.org/officeDocument/2006/relationships/slide" Target="slides/slide8.xml"/><Relationship Id="rId14" Type="http://schemas.openxmlformats.org/officeDocument/2006/relationships/slide" Target="slides/slide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23.xml"/><Relationship Id="rId18" Type="http://schemas.openxmlformats.org/officeDocument/2006/relationships/slide" Target="slides/slide44.xml"/><Relationship Id="rId19" Type="http://schemas.openxmlformats.org/officeDocument/2006/relationships/slide" Target="slides/slide33.xml"/><Relationship Id="rId20" Type="http://schemas.openxmlformats.org/officeDocument/2006/relationships/slide" Target="slides/slide20.xml"/><Relationship Id="rId21" Type="http://schemas.openxmlformats.org/officeDocument/2006/relationships/slide" Target="slides/slide21.xml"/><Relationship Id="rId28" Type="http://schemas.openxmlformats.org/officeDocument/2006/relationships/slide" Target="slides/slide35.xml"/><Relationship Id="rId29" Type="http://schemas.openxmlformats.org/officeDocument/2006/relationships/slide" Target="slides/slide15.xml"/><Relationship Id="rId30" Type="http://schemas.openxmlformats.org/officeDocument/2006/relationships/slide" Target="slides/slide51.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52.xml"/><Relationship Id="rId35" Type="http://schemas.openxmlformats.org/officeDocument/2006/relationships/slide" Target="slides/slide53.xml"/><Relationship Id="rId36" Type="http://schemas.openxmlformats.org/officeDocument/2006/relationships/slide" Target="slides/slide22.xml"/><Relationship Id="rId37" Type="http://schemas.openxmlformats.org/officeDocument/2006/relationships/slide" Target="slides/slide27.xml"/><Relationship Id="rId38" Type="http://schemas.openxmlformats.org/officeDocument/2006/relationships/slide" Target="slides/slide5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5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1.xml"/><Relationship Id="rId47" Type="http://schemas.openxmlformats.org/officeDocument/2006/relationships/slide" Target="slides/slide12.xml"/><Relationship Id="rId48" Type="http://schemas.openxmlformats.org/officeDocument/2006/relationships/slide" Target="slides/slide13.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43.xml"/><Relationship Id="rId56" Type="http://schemas.openxmlformats.org/officeDocument/2006/relationships/slide" Target="slides/slide56.xml"/><Relationship Id="rId57" Type="http://schemas.openxmlformats.org/officeDocument/2006/relationships/slide" Target="slides/slide57.xml"/><Relationship Id="rId58" Type="http://schemas.openxmlformats.org/officeDocument/2006/relationships/slide" Target="slides/slide58.xml"/><Relationship Id="rId59" Type="http://schemas.openxmlformats.org/officeDocument/2006/relationships/slide" Target="slides/slide59.xml"/><Relationship Id="rId60" Type="http://schemas.openxmlformats.org/officeDocument/2006/relationships/slide" Target="slides/slide60.xml"/><Relationship Id="rId61" Type="http://schemas.openxmlformats.org/officeDocument/2006/relationships/slide" Target="slides/slide61.xml"/><Relationship Id="rId62" Type="http://schemas.openxmlformats.org/officeDocument/2006/relationships/slide" Target="slides/slide62.xml"/><Relationship Id="rId64" Type="http://schemas.openxmlformats.org/officeDocument/2006/relationships/slide" Target="slides/slide14.xml"/><Relationship Id="rId65" Type="http://schemas.openxmlformats.org/officeDocument/2006/relationships/slide" Target="slides/slide42.xml"/><Relationship Id="rId66" Type="http://schemas.openxmlformats.org/officeDocument/2006/relationships/notesMaster" Target="notesMasters/notesMaster1.xml"/><Relationship Id="rId67" Type="http://schemas.openxmlformats.org/officeDocument/2006/relationships/handoutMaster" Target="handoutMasters/handout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 Id="rId72" Type="http://schemas.openxmlformats.org/officeDocument/2006/relationships/slide" Target="slides/slide18.xml"/><Relationship Id="rId73" Type="http://schemas.openxmlformats.org/officeDocument/2006/relationships/slide" Target="slides/slide29.xml"/><Relationship Id="rId74" Type="http://schemas.openxmlformats.org/officeDocument/2006/relationships/slide" Target="slides/slide34.xml"/><Relationship Id="rId75" Type="http://schemas.openxmlformats.org/officeDocument/2006/relationships/slide" Target="slides/slide40.xml"/><Relationship Id="rId76" Type="http://schemas.openxmlformats.org/officeDocument/2006/relationships/slide" Target="slides/slide24.xml"/><Relationship Id="rId77"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2026/10/20</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93DA-F068-C7F5-5FEB-7A94DD8867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B680EF-CF86-D787-518D-CA5960A564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DA54E59-6FD5-42C5-308A-B0701935BFB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4931D7D-5F42-F5B5-3683-5A2F0031C5B6}"/>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2180266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8966-D000-6EA3-BAC7-8246A8124F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3751AD-7833-5352-F3CD-93BF48718D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713479-1F1B-7F88-B85D-7A35CA42650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D17977F-8BEB-2B1C-1C7A-1D7AA1F0503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4278962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41</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49</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52</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63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jpeg"/><Relationship Id="rId8" Type="http://schemas.openxmlformats.org/officeDocument/2006/relationships/image" Target="../media/image27.jp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hyperlink" Target="https://youtube.com/shorts/0qI4QgrOppQ"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 Id="rId10"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4.png"/><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svg"/><Relationship Id="rId8" Type="http://schemas.openxmlformats.org/officeDocument/2006/relationships/image" Target="../media/image5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emf"/><Relationship Id="rId4" Type="http://schemas.openxmlformats.org/officeDocument/2006/relationships/image" Target="../media/image71.jpeg"/><Relationship Id="rId5" Type="http://schemas.openxmlformats.org/officeDocument/2006/relationships/image" Target="../media/image72.jpeg"/><Relationship Id="rId6" Type="http://schemas.openxmlformats.org/officeDocument/2006/relationships/image" Target="../media/image73.jpeg"/><Relationship Id="rId7" Type="http://schemas.openxmlformats.org/officeDocument/2006/relationships/image" Target="../media/image74.jpeg"/><Relationship Id="rId8" Type="http://schemas.openxmlformats.org/officeDocument/2006/relationships/image" Target="../media/image75.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2.svg"/><Relationship Id="rId4" Type="http://schemas.openxmlformats.org/officeDocument/2006/relationships/image" Target="../media/image53.svg"/><Relationship Id="rId5" Type="http://schemas.openxmlformats.org/officeDocument/2006/relationships/image" Target="../media/image54.svg"/><Relationship Id="rId6" Type="http://schemas.openxmlformats.org/officeDocument/2006/relationships/image" Target="../media/image55.sv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 Id="rId3" Type="http://schemas.openxmlformats.org/officeDocument/2006/relationships/image" Target="../media/image69.png"/><Relationship Id="rId4" Type="http://schemas.openxmlformats.org/officeDocument/2006/relationships/image" Target="../media/image7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広告で集めた見込み客をLINEで育成し、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次のセミナー参加・サロン入会へ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現状把握・課題</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5" y="2249778"/>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94157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97616"/>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7" y="2262194"/>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広告で新しい見込み客を集め、LINEで継続的に育成し、</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次回イベント・サロン入会へつなげる動線を、8フェーズで整理する。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94042"/>
            <a:ext cx="9425943" cy="154590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ターゲット</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：保険営業の方向けのセミナー・サロンが主軸（一般の方向けのマネーセミナーもあり）</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商材・サービス</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 </a:t>
            </a:r>
            <a:r>
              <a:rPr lang="ja-JP" altLang="en-US" sz="1200" dirty="0">
                <a:solidFill>
                  <a:schemeClr val="tx1"/>
                </a:solidFill>
                <a:latin typeface="メイリオ" panose="020B0604030504040204" pitchFamily="50" charset="-128"/>
                <a:ea typeface="メイリオ" panose="020B0604030504040204" pitchFamily="50" charset="-128"/>
                <a:cs typeface="メイリオ"/>
              </a:rPr>
              <a:t>：イベントの間の時期にも、継続して情報を届けることが重要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en-US" altLang="ja-JP" sz="1200" b="1" dirty="0" err="1">
                <a:solidFill>
                  <a:schemeClr val="tx1"/>
                </a:solidFill>
                <a:latin typeface="メイリオ" panose="020B0604030504040204" pitchFamily="50" charset="-128"/>
                <a:ea typeface="メイリオ" panose="020B0604030504040204" pitchFamily="50" charset="-128"/>
                <a:cs typeface="メイリオ"/>
              </a:rPr>
              <a:t>広告</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a:t>
            </a:r>
            <a:r>
              <a:rPr lang="en-US" altLang="ja-JP" sz="1200" dirty="0">
                <a:solidFill>
                  <a:schemeClr val="tx1"/>
                </a:solidFill>
                <a:latin typeface="メイリオ" panose="020B0604030504040204" pitchFamily="50" charset="-128"/>
                <a:ea typeface="メイリオ" panose="020B0604030504040204" pitchFamily="50" charset="-128"/>
                <a:cs typeface="メイリオ"/>
              </a:rPr>
              <a:t> </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セミナー予約</a:t>
            </a:r>
            <a:r>
              <a:rPr lang="ja-JP" altLang="en-US" sz="1200" dirty="0">
                <a:solidFill>
                  <a:schemeClr val="tx1"/>
                </a:solidFill>
                <a:latin typeface="メイリオ" panose="020B0604030504040204" pitchFamily="50" charset="-128"/>
                <a:ea typeface="メイリオ" panose="020B0604030504040204" pitchFamily="50" charset="-128"/>
                <a:cs typeface="メイリオ"/>
              </a:rPr>
              <a:t>者</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を集めている</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という特性から、</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集めた方と、次のイベント・入会まで接点を持ち続けること</a:t>
            </a:r>
            <a:r>
              <a:rPr lang="ja-JP" altLang="en-US" sz="1200" dirty="0">
                <a:solidFill>
                  <a:schemeClr val="tx1"/>
                </a:solidFill>
                <a:latin typeface="メイリオ" panose="020B0604030504040204" pitchFamily="50" charset="-128"/>
                <a:ea typeface="メイリオ" panose="020B0604030504040204" pitchFamily="50" charset="-128"/>
                <a:cs typeface="メイリオ"/>
              </a:rPr>
              <a:t>はメリットにつながる。</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4" y="2496774"/>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p:cNvCxnSpPr>
          <p:nvPr/>
        </p:nvCxnSpPr>
        <p:spPr>
          <a:xfrm rot="5400000" flipH="1" flipV="1">
            <a:off x="4264071" y="2454256"/>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4" y="2498472"/>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714703"/>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81件・CPA 26,043円）。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接点を次回イベントまで継続できる仕組みを強化する。</a:t>
            </a:r>
            <a:endParaRPr lang="en-US" altLang="ja-JP" sz="105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LINE公式アカウントを、</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見込み客との継続的な接点として活用できる。</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イベント開催</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約2,760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約211万円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Facebookグループ</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年4回</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81件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pic>
        <p:nvPicPr>
          <p:cNvPr id="192" name="Picture 191" descr="sunao_lp_firstview.png"/>
          <p:cNvPicPr>
            <a:picLocks noChangeAspect="1"/>
          </p:cNvPicPr>
          <p:nvPr/>
        </p:nvPicPr>
        <p:blipFill>
          <a:blip r:embed="rId4"/>
          <a:stretch>
            <a:fillRect/>
          </a:stretch>
        </p:blipFill>
        <p:spPr>
          <a:xfrm>
            <a:off x="507335" y="2271233"/>
            <a:ext cx="1557206" cy="2637933"/>
          </a:xfrm>
          <a:prstGeom prst="rect">
            <a:avLst/>
          </a:prstGeom>
        </p:spPr>
      </p:pic>
    </p:spTree>
    <p:extLst>
      <p:ext uri="{BB962C8B-B14F-4D97-AF65-F5344CB8AC3E}">
        <p14:creationId xmlns:p14="http://schemas.microsoft.com/office/powerpoint/2010/main" val="2378484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市場・ユーザー・競合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保険営業の方は毎年約24万人。会える回数が減るなか、成果を出すやり方へのニーズは続く</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nvGraphicFramePr>
        <p:xfrm>
          <a:off x="420624" y="1645920"/>
          <a:ext cx="9052560" cy="2697480"/>
        </p:xfrm>
        <a:graphic>
          <a:graphicData uri="http://schemas.openxmlformats.org/drawingml/2006/table">
            <a:tbl>
              <a:tblPr/>
              <a:tblGrid>
                <a:gridCol w="1920240"/>
                <a:gridCol w="3566160"/>
                <a:gridCol w="3566160"/>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77724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営業職員数</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約24万人で、5年間ほぼ横ばい（2020年度 248,601人 → 2024年度 241,507人）</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毎年ほぼ同じ規模の方が、営業を続けている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77724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保険の加入経路</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加入経路のうち「生命保険会社の営業職員」が56.7%（2024年調査）</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保険の加入は、今も営業職員が中心。営業力を上げたいニーズは続く</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77724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お客様との接触回数</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コロナ前と比べ、接触回数が「減少した」営業職員が55.5%（2023年調査）</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会える回数が減り、限られた面談で成果を出すやり方が求められている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51" name="示唆 線"/>
          <p:cNvSpPr/>
          <p:nvPr/>
        </p:nvSpPr>
        <p:spPr>
          <a:xfrm>
            <a:off x="420624" y="4434840"/>
            <a:ext cx="64008" cy="914400"/>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p>
        </p:txBody>
      </p:sp>
      <p:sp>
        <p:nvSpPr>
          <p:cNvPr id="52" name="示唆"/>
          <p:cNvSpPr/>
          <p:nvPr/>
        </p:nvSpPr>
        <p:spPr>
          <a:xfrm>
            <a:off x="484632" y="4434840"/>
            <a:ext cx="8988552" cy="91440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貴社の「週2日で成果を出す面談メソッド」は、このニーズに合う。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広告で集めた方と、LINEで次のイベントまでつながり続ける。</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※営業職員数：生命保険協会「2025年版 生命保険の動向」／加入経路：生命保険文化センター「2024（令和6）年度 生命保険に関する全国実態調査」</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※接触回数：矢野経済研究所「生命保険の営業職員アンケート調査」（2023年4〜6月、生命保険の営業職員400名）</a:t>
            </a:r>
            <a:endParaRPr lang="ja-JP" altLang="en-US" sz="1200" dirty="0"/>
          </a:p>
        </p:txBody>
      </p:sp>
    </p:spTree>
    <p:extLst>
      <p:ext uri="{BB962C8B-B14F-4D97-AF65-F5344CB8AC3E}">
        <p14:creationId xmlns:p14="http://schemas.microsoft.com/office/powerpoint/2010/main" val="2544728425"/>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ターゲット：保険営業の方が主軸。一般の方向けも考慮</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対象によって、関心のある内容と申込先が異なる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ターゲット 49"/>
          <p:cNvGraphicFramePr>
            <a:graphicFrameLocks noGrp="1"/>
          </p:cNvGraphicFramePr>
          <p:nvPr/>
        </p:nvGraphicFramePr>
        <p:xfrm>
          <a:off x="420624" y="1645920"/>
          <a:ext cx="9052559" cy="2633472"/>
        </p:xfrm>
        <a:graphic>
          <a:graphicData uri="http://schemas.openxmlformats.org/drawingml/2006/table">
            <a:tbl>
              <a:tblPr/>
              <a:tblGrid>
                <a:gridCol w="1920240"/>
                <a:gridCol w="3749039"/>
                <a:gridCol w="3383280"/>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保険営業の方（主軸）</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一般の方</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主な関心</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営業力の向上（面談・提案の進め方）</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資産形成・お金の知識</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主な申込先</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生産性4倍セミナー → オンラインサロン「ハッピーライフ」</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資産形成・マネーセミナー等</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LINEで届ける内容</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セミナーの見どころ・受講生の声・サロンのご案内</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マネーセミナー等のご案内</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出し分けの基本</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保険営業の方向けのLPから友だち追加</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一般の方向けの申込みページ等から友だち追加</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bl>
          </a:graphicData>
        </a:graphic>
      </p:graphicFrame>
      <p:sp>
        <p:nvSpPr>
          <p:cNvPr id="51" name="示唆 線"/>
          <p:cNvSpPr/>
          <p:nvPr/>
        </p:nvSpPr>
        <p:spPr>
          <a:xfrm>
            <a:off x="420624" y="4526280"/>
            <a:ext cx="64008" cy="1097280"/>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2" name="示唆"/>
          <p:cNvSpPr/>
          <p:nvPr/>
        </p:nvSpPr>
        <p:spPr>
          <a:xfrm>
            <a:off x="484632" y="4526280"/>
            <a:ext cx="8988552" cy="109728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示唆</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同じLINE公式アカウントで運用する場合は、友だち追加の流入経路（どのページから追加したか）で出し分ける。</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一般の方向けセミナーの参加者には、保険営業の方向けサロンへの入会を前提にした案内はしない。</a:t>
            </a:r>
            <a:endParaRPr lang="ja-JP" altLang="en-US" sz="1200" dirty="0">
              <a:latin typeface="メイリオ"/>
              <a:ea typeface="メイリオ"/>
              <a:cs typeface="メイリオ"/>
            </a:endParaRPr>
          </a:p>
        </p:txBody>
      </p:sp>
      <p:sp>
        <p:nvSpPr>
          <p:cNvPr id="53" name="注記"/>
          <p:cNvSpPr/>
          <p:nvPr/>
        </p:nvSpPr>
        <p:spPr>
          <a:xfrm>
            <a:off x="420624" y="589788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※流入経路で分けられない方には、どちらにも当てはまる内容（開催のお知らせなど）を基本に配信</a:t>
            </a:r>
            <a:endParaRPr lang="ja-JP" altLang="en-US" sz="1200" dirty="0">
              <a:latin typeface="メイリオ"/>
              <a:ea typeface="メイリオ"/>
              <a:cs typeface="メイリオ"/>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　＞　貴社施策内で検討の訴求軸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保険営業の方向けの他社も、LINEで特典や学びを届けている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他社のLINE 49"/>
          <p:cNvGraphicFramePr>
            <a:graphicFrameLocks noGrp="1"/>
          </p:cNvGraphicFramePr>
          <p:nvPr/>
        </p:nvGraphicFramePr>
        <p:xfrm>
          <a:off x="420624" y="1645920"/>
          <a:ext cx="6492240" cy="2194560"/>
        </p:xfrm>
        <a:graphic>
          <a:graphicData uri="http://schemas.openxmlformats.org/drawingml/2006/table">
            <a:tbl>
              <a:tblPr/>
              <a:tblGrid>
                <a:gridCol w="1600200"/>
                <a:gridCol w="2148840"/>
                <a:gridCol w="2743200"/>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他社</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サービス</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LINEでしていること</a:t>
                      </a:r>
                      <a:endParaRPr lang="ja-JP" altLang="en-US" sz="1300" dirty="0"/>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野沢塾</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保険営業の方向けの講座（月2回）</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サイトのボタンから友だち追加。あいさつで特典の動画を届ける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R&amp;C保険営業ラボ</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保険営業の方向けの無料の学習サービス（2026年9月開始）</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登録時の5問のアンケートに合わせて、資料・動画を段階的に配信</a:t>
                      </a:r>
                      <a:endParaRPr lang="ja-JP" altLang="en-US" sz="1300" dirty="0"/>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bl>
          </a:graphicData>
        </a:graphic>
      </p:graphicFrame>
      <p:sp>
        <p:nvSpPr>
          <p:cNvPr id="51" name="貴社の訴求軸 見出し"/>
          <p:cNvSpPr/>
          <p:nvPr/>
        </p:nvSpPr>
        <p:spPr>
          <a:xfrm>
            <a:off x="420624" y="4160520"/>
            <a:ext cx="182880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貴社の訴求軸</a:t>
            </a:r>
            <a:endParaRPr lang="ja-JP" altLang="en-US" sz="1200" dirty="0"/>
          </a:p>
        </p:txBody>
      </p:sp>
      <p:sp>
        <p:nvSpPr>
          <p:cNvPr id="52" name="貴社の訴求軸"/>
          <p:cNvSpPr/>
          <p:nvPr/>
        </p:nvSpPr>
        <p:spPr>
          <a:xfrm>
            <a:off x="420624" y="4471416"/>
            <a:ext cx="6492240" cy="822960"/>
          </a:xfrm>
          <a:prstGeom prst="rect">
            <a:avLst/>
          </a:prstGeom>
          <a:solidFill>
            <a:srgbClr val="EEF1F8"/>
          </a:solidFill>
          <a:ln w="9525">
            <a:solidFill>
              <a:srgbClr val="1F2A5C"/>
            </a:solidFill>
          </a:ln>
        </p:spPr>
        <p:txBody>
          <a:bodyPr wrap="square" lIns="73152" tIns="36576" rIns="73152" bIns="36576" rtlCol="0" anchor="ctr">
            <a:noAutofit/>
          </a:bodyPr>
          <a:lstStyle/>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イベントの予約・参加に合わせて、案内を変える</a:t>
            </a:r>
            <a:endParaRPr lang="ja-JP" altLang="en-US" sz="1200" dirty="0"/>
          </a:p>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参加後は、サロンの入会へつなげる</a:t>
            </a:r>
            <a:endParaRPr lang="ja-JP" altLang="en-US" sz="1200" dirty="0"/>
          </a:p>
        </p:txBody>
      </p:sp>
      <p:pic>
        <p:nvPicPr>
          <p:cNvPr id="53" name="Picture 52" descr="image.png"/>
          <p:cNvPicPr>
            <a:picLocks noChangeAspect="1"/>
          </p:cNvPicPr>
          <p:nvPr/>
        </p:nvPicPr>
        <p:blipFill>
          <a:blip r:embed="rId3"/>
          <a:stretch>
            <a:fillRect/>
          </a:stretch>
        </p:blipFill>
        <p:spPr>
          <a:xfrm>
            <a:off x="7492936" y="1645920"/>
            <a:ext cx="1583054" cy="3429000"/>
          </a:xfrm>
          <a:prstGeom prst="rect">
            <a:avLst/>
          </a:prstGeom>
        </p:spPr>
      </p:pic>
      <p:sp>
        <p:nvSpPr>
          <p:cNvPr id="54" name="画像の説明"/>
          <p:cNvSpPr/>
          <p:nvPr/>
        </p:nvSpPr>
        <p:spPr>
          <a:xfrm>
            <a:off x="6995160" y="5120640"/>
            <a:ext cx="2560320" cy="228600"/>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rPr>
              <a:t>野沢塾のあいさつ（LINE公式アカウント）</a:t>
            </a:r>
            <a:endParaRPr lang="ja-JP" altLang="en-US" sz="1200" dirty="0"/>
          </a:p>
        </p:txBody>
      </p:sp>
      <p:sp>
        <p:nvSpPr>
          <p:cNvPr id="55"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※野沢塾：LINE公式アカウント（2026年10月19日確認）・公式サイト（2026年10月18日確認）より。画面の名前とパスワードは伏せている</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※R&amp;C保険営業ラボ：R&amp;C株式会社のプレスリリースより。招待制のため、画面は未掲載</a:t>
            </a:r>
            <a:endParaRPr lang="ja-JP" altLang="en-US" sz="1200" dirty="0"/>
          </a:p>
        </p:txBody>
      </p:sp>
    </p:spTree>
    <p:extLst>
      <p:ext uri="{BB962C8B-B14F-4D97-AF65-F5344CB8AC3E}">
        <p14:creationId xmlns:p14="http://schemas.microsoft.com/office/powerpoint/2010/main" val="1861406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1" name="正方形/長方形 10">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3" name="正方形/長方形 12">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cxnSp>
        <p:nvCxnSpPr>
          <p:cNvPr id="15" name="直線矢印コネクタ 14">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4FE3AE9-35AF-85CD-C2CC-E0CD16851957}"/>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7F3169DD-B4D2-C3B3-E898-796DA8E0ABBE}"/>
              </a:ext>
            </a:extLst>
          </p:cNvPr>
          <p:cNvSpPr/>
          <p:nvPr/>
        </p:nvSpPr>
        <p:spPr>
          <a:xfrm>
            <a:off x="5182016"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9" name="図 8" descr="LINE公式アカウントのロゴを活用しよう！注意点やNG例も合わせて解説 - LINEマーケティングツールFANVO">
            <a:extLst>
              <a:ext uri="{FF2B5EF4-FFF2-40B4-BE49-F238E27FC236}">
                <a16:creationId xmlns:a16="http://schemas.microsoft.com/office/drawing/2014/main" id="{7499D9A1-145E-E266-83BC-3570D5C46C13}"/>
              </a:ext>
            </a:extLst>
          </p:cNvPr>
          <p:cNvPicPr>
            <a:picLocks noChangeAspect="1"/>
          </p:cNvPicPr>
          <p:nvPr/>
        </p:nvPicPr>
        <p:blipFill>
          <a:blip r:embed="rId3"/>
          <a:stretch>
            <a:fillRect/>
          </a:stretch>
        </p:blipFill>
        <p:spPr>
          <a:xfrm>
            <a:off x="4972346" y="1415224"/>
            <a:ext cx="419340" cy="418460"/>
          </a:xfrm>
          <a:prstGeom prst="rect">
            <a:avLst/>
          </a:prstGeom>
        </p:spPr>
      </p:pic>
      <p:sp>
        <p:nvSpPr>
          <p:cNvPr id="12" name="テキスト ボックス 11">
            <a:extLst>
              <a:ext uri="{FF2B5EF4-FFF2-40B4-BE49-F238E27FC236}">
                <a16:creationId xmlns:a16="http://schemas.microsoft.com/office/drawing/2014/main" id="{D510765C-D91E-3EF4-4A1A-9BF832DC8A4C}"/>
              </a:ext>
            </a:extLst>
          </p:cNvPr>
          <p:cNvSpPr txBox="1"/>
          <p:nvPr/>
        </p:nvSpPr>
        <p:spPr>
          <a:xfrm>
            <a:off x="5301604"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2D224931-6ECA-9763-63E9-7DD9B080E440}"/>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四角形: 角を丸くする 9">
            <a:extLst>
              <a:ext uri="{FF2B5EF4-FFF2-40B4-BE49-F238E27FC236}">
                <a16:creationId xmlns:a16="http://schemas.microsoft.com/office/drawing/2014/main" id="{F6D71787-DACF-D927-0AC0-7D5E99A64F29}"/>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9" name="四角形: 角を丸くする 18">
            <a:extLst>
              <a:ext uri="{FF2B5EF4-FFF2-40B4-BE49-F238E27FC236}">
                <a16:creationId xmlns:a16="http://schemas.microsoft.com/office/drawing/2014/main" id="{FCA279C4-C296-61EC-C9D3-DAE41B033D78}"/>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cs typeface="メイリオ"/>
              </a:rPr>
              <a:t>お金周り</a:t>
            </a:r>
          </a:p>
        </p:txBody>
      </p:sp>
      <p:sp>
        <p:nvSpPr>
          <p:cNvPr id="25" name="四角形: 角を丸くする 24">
            <a:extLst>
              <a:ext uri="{FF2B5EF4-FFF2-40B4-BE49-F238E27FC236}">
                <a16:creationId xmlns:a16="http://schemas.microsoft.com/office/drawing/2014/main" id="{F1163350-C485-703A-6504-08D7D75EE71A}"/>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7" name="四角形: 角を丸くする 26">
            <a:extLst>
              <a:ext uri="{FF2B5EF4-FFF2-40B4-BE49-F238E27FC236}">
                <a16:creationId xmlns:a16="http://schemas.microsoft.com/office/drawing/2014/main" id="{575B5195-33B9-6FF0-63AF-D3B0017CCCC2}"/>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6" name="差し込み 前後検索の画像"/>
          <p:cNvSpPr/>
          <p:nvPr/>
        </p:nvSpPr>
        <p:spPr>
          <a:xfrm>
            <a:off x="1312605" y="1893604"/>
            <a:ext cx="7223640" cy="4213792"/>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38123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6033BA2-CF45-0DF9-CBDD-A5830E2CF0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F42532B-D77B-6AC3-A328-689E2FC45F9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5D33EAB5-3104-05B5-E501-BBD7DE6AC9F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6F2AE0B-CB02-A8CD-4FB4-B3F45A0A747C}"/>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BA92233F-6BFD-0359-EEDA-BE51C1C483C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8F8E1B34-1AC7-E92D-4681-D5F6A71CFBF4}"/>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9E5C2B4-5B91-6669-DA9D-9C6100822D80}"/>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F784DCA2-0206-476A-CC2D-15EA1A5F9515}"/>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3" name="正方形/長方形 12">
            <a:extLst>
              <a:ext uri="{FF2B5EF4-FFF2-40B4-BE49-F238E27FC236}">
                <a16:creationId xmlns:a16="http://schemas.microsoft.com/office/drawing/2014/main" id="{61C146B2-09C1-EAF2-AA90-D6921017547B}"/>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6" name="正方形/長方形 15">
            <a:extLst>
              <a:ext uri="{FF2B5EF4-FFF2-40B4-BE49-F238E27FC236}">
                <a16:creationId xmlns:a16="http://schemas.microsoft.com/office/drawing/2014/main" id="{59D3B460-577D-4DA5-3627-A3FE3F8ED9DC}"/>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8" name="テキスト ボックス 17">
            <a:extLst>
              <a:ext uri="{FF2B5EF4-FFF2-40B4-BE49-F238E27FC236}">
                <a16:creationId xmlns:a16="http://schemas.microsoft.com/office/drawing/2014/main" id="{D8D61203-B4E8-EA26-11E7-042F4CC7854D}"/>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63FD9650-CF2E-C04B-71DA-C5C32192D256}"/>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1" name="四角形: 角を丸くする 10">
            <a:extLst>
              <a:ext uri="{FF2B5EF4-FFF2-40B4-BE49-F238E27FC236}">
                <a16:creationId xmlns:a16="http://schemas.microsoft.com/office/drawing/2014/main" id="{9698CAAA-C7D0-DE8C-1937-135259153DF5}"/>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5" name="四角形: 角を丸くする 14">
            <a:extLst>
              <a:ext uri="{FF2B5EF4-FFF2-40B4-BE49-F238E27FC236}">
                <a16:creationId xmlns:a16="http://schemas.microsoft.com/office/drawing/2014/main" id="{D484CC40-8F93-841D-9C65-D77C9FDB28E9}"/>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お金周り</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四角形: 角を丸くする 18">
            <a:extLst>
              <a:ext uri="{FF2B5EF4-FFF2-40B4-BE49-F238E27FC236}">
                <a16:creationId xmlns:a16="http://schemas.microsoft.com/office/drawing/2014/main" id="{14477AFE-E2AB-A03A-8102-B7565C7E8967}"/>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3" name="四角形: 角を丸くする 22">
            <a:extLst>
              <a:ext uri="{FF2B5EF4-FFF2-40B4-BE49-F238E27FC236}">
                <a16:creationId xmlns:a16="http://schemas.microsoft.com/office/drawing/2014/main" id="{9E775032-FD1B-EA57-EF1F-2E939977DBF0}"/>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34" name="正方形/長方形 133">
            <a:extLst>
              <a:ext uri="{FF2B5EF4-FFF2-40B4-BE49-F238E27FC236}">
                <a16:creationId xmlns:a16="http://schemas.microsoft.com/office/drawing/2014/main" id="{E1DBE2B9-1B8A-7D74-6827-B277538B2E74}"/>
              </a:ext>
            </a:extLst>
          </p:cNvPr>
          <p:cNvSpPr/>
          <p:nvPr/>
        </p:nvSpPr>
        <p:spPr>
          <a:xfrm>
            <a:off x="5173309"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36" name="図 135" descr="LINE公式アカウントのロゴを活用しよう！注意点やNG例も合わせて解説 - LINEマーケティングツールFANVO">
            <a:extLst>
              <a:ext uri="{FF2B5EF4-FFF2-40B4-BE49-F238E27FC236}">
                <a16:creationId xmlns:a16="http://schemas.microsoft.com/office/drawing/2014/main" id="{7292D2B2-006C-20F1-069A-EA07DB9040FF}"/>
              </a:ext>
            </a:extLst>
          </p:cNvPr>
          <p:cNvPicPr>
            <a:picLocks noChangeAspect="1"/>
          </p:cNvPicPr>
          <p:nvPr/>
        </p:nvPicPr>
        <p:blipFill>
          <a:blip r:embed="rId3"/>
          <a:stretch>
            <a:fillRect/>
          </a:stretch>
        </p:blipFill>
        <p:spPr>
          <a:xfrm>
            <a:off x="4963639" y="1415224"/>
            <a:ext cx="419340" cy="418460"/>
          </a:xfrm>
          <a:prstGeom prst="rect">
            <a:avLst/>
          </a:prstGeom>
        </p:spPr>
      </p:pic>
      <p:sp>
        <p:nvSpPr>
          <p:cNvPr id="138" name="テキスト ボックス 137">
            <a:extLst>
              <a:ext uri="{FF2B5EF4-FFF2-40B4-BE49-F238E27FC236}">
                <a16:creationId xmlns:a16="http://schemas.microsoft.com/office/drawing/2014/main" id="{3825EFF3-DD91-80CA-5C34-6956639E0AF6}"/>
              </a:ext>
            </a:extLst>
          </p:cNvPr>
          <p:cNvSpPr txBox="1"/>
          <p:nvPr/>
        </p:nvSpPr>
        <p:spPr>
          <a:xfrm>
            <a:off x="5319022"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9" name="差し込み 前後検索の画像"/>
          <p:cNvSpPr/>
          <p:nvPr/>
        </p:nvSpPr>
        <p:spPr>
          <a:xfrm>
            <a:off x="1386465" y="1895415"/>
            <a:ext cx="7152121" cy="417206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267346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6445661-D170-7F4D-B8A8-8C3B4D5EF47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F2A605-8BE9-543D-C379-8ADC172A2B5B}"/>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7FB6EC3-4D6F-6C45-86B8-DAD6CBB0E53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72B83C2C-8DD1-B131-625E-DC1B80BAE95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F9E4E4A3-0061-C7DF-4A07-669885EC904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 name="Card1_Title">
            <a:extLst>
              <a:ext uri="{FF2B5EF4-FFF2-40B4-BE49-F238E27FC236}">
                <a16:creationId xmlns:a16="http://schemas.microsoft.com/office/drawing/2014/main" id="{8E31DAD6-1621-DBDA-E670-9EC6437B61A2}"/>
              </a:ext>
            </a:extLst>
          </p:cNvPr>
          <p:cNvSpPr txBox="1"/>
          <p:nvPr/>
        </p:nvSpPr>
        <p:spPr>
          <a:xfrm>
            <a:off x="441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検索「前」クエリ（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7" name="Card1_Body">
            <a:extLst>
              <a:ext uri="{FF2B5EF4-FFF2-40B4-BE49-F238E27FC236}">
                <a16:creationId xmlns:a16="http://schemas.microsoft.com/office/drawing/2014/main" id="{D3A10FAB-A215-96CD-4586-4D95A31E157D}"/>
              </a:ext>
            </a:extLst>
          </p:cNvPr>
          <p:cNvSpPr txBox="1"/>
          <p:nvPr/>
        </p:nvSpPr>
        <p:spPr>
          <a:xfrm>
            <a:off x="441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Card2_Title">
            <a:extLst>
              <a:ext uri="{FF2B5EF4-FFF2-40B4-BE49-F238E27FC236}">
                <a16:creationId xmlns:a16="http://schemas.microsoft.com/office/drawing/2014/main" id="{AF3F627C-CA5A-EA6E-EB31-14D66576A08E}"/>
              </a:ext>
            </a:extLst>
          </p:cNvPr>
          <p:cNvSpPr txBox="1"/>
          <p:nvPr/>
        </p:nvSpPr>
        <p:spPr>
          <a:xfrm>
            <a:off x="3553460" y="1709511"/>
            <a:ext cx="2921000" cy="457200"/>
          </a:xfrm>
          <a:prstGeom prst="rect">
            <a:avLst/>
          </a:prstGeom>
          <a:solidFill>
            <a:srgbClr val="FFFFFF"/>
          </a:solidFill>
          <a:ln w="6350">
            <a:solidFill>
              <a:srgbClr val="4A6FA5"/>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検索「起点」（</a:t>
            </a:r>
            <a:r>
              <a:rPr kumimoji="0" lang="en-US" altLang="ja-JP"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0</a:t>
            </a: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11" name="Card2_Body">
            <a:extLst>
              <a:ext uri="{FF2B5EF4-FFF2-40B4-BE49-F238E27FC236}">
                <a16:creationId xmlns:a16="http://schemas.microsoft.com/office/drawing/2014/main" id="{071EA822-5DE7-F7FC-CE53-C2441B6BA07A}"/>
              </a:ext>
            </a:extLst>
          </p:cNvPr>
          <p:cNvSpPr txBox="1"/>
          <p:nvPr/>
        </p:nvSpPr>
        <p:spPr>
          <a:xfrm>
            <a:off x="35534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4A6FA5"/>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5" name="Card3_Title">
            <a:extLst>
              <a:ext uri="{FF2B5EF4-FFF2-40B4-BE49-F238E27FC236}">
                <a16:creationId xmlns:a16="http://schemas.microsoft.com/office/drawing/2014/main" id="{8D47B4FA-63E9-2461-A89D-BE48099D1CEF}"/>
              </a:ext>
            </a:extLst>
          </p:cNvPr>
          <p:cNvSpPr txBox="1"/>
          <p:nvPr/>
        </p:nvSpPr>
        <p:spPr>
          <a:xfrm>
            <a:off x="6664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検索「後」クエリ（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1〜15</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7" name="Card3_Body">
            <a:extLst>
              <a:ext uri="{FF2B5EF4-FFF2-40B4-BE49-F238E27FC236}">
                <a16:creationId xmlns:a16="http://schemas.microsoft.com/office/drawing/2014/main" id="{0F35057D-2CE3-9DDA-8E94-282A37275B5F}"/>
              </a:ext>
            </a:extLst>
          </p:cNvPr>
          <p:cNvSpPr txBox="1"/>
          <p:nvPr/>
        </p:nvSpPr>
        <p:spPr>
          <a:xfrm>
            <a:off x="6664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2" name="テキスト ボックス 11">
            <a:extLst>
              <a:ext uri="{FF2B5EF4-FFF2-40B4-BE49-F238E27FC236}">
                <a16:creationId xmlns:a16="http://schemas.microsoft.com/office/drawing/2014/main" id="{DCF84225-84DA-E8B0-FCCE-46A1376BC209}"/>
              </a:ext>
            </a:extLst>
          </p:cNvPr>
          <p:cNvSpPr txBox="1"/>
          <p:nvPr/>
        </p:nvSpPr>
        <p:spPr>
          <a:xfrm>
            <a:off x="5286079" y="4595204"/>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 name="矢印: 下 12">
            <a:extLst>
              <a:ext uri="{FF2B5EF4-FFF2-40B4-BE49-F238E27FC236}">
                <a16:creationId xmlns:a16="http://schemas.microsoft.com/office/drawing/2014/main" id="{D61D535A-38C6-7BB0-0D6E-34AB306808A8}"/>
              </a:ext>
            </a:extLst>
          </p:cNvPr>
          <p:cNvSpPr/>
          <p:nvPr/>
        </p:nvSpPr>
        <p:spPr>
          <a:xfrm>
            <a:off x="5036442" y="3737247"/>
            <a:ext cx="1097280" cy="2090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6" name="Card1_Title">
            <a:extLst>
              <a:ext uri="{FF2B5EF4-FFF2-40B4-BE49-F238E27FC236}">
                <a16:creationId xmlns:a16="http://schemas.microsoft.com/office/drawing/2014/main" id="{EA1CCC1E-91FF-5127-259C-24170B827EFB}"/>
              </a:ext>
            </a:extLst>
          </p:cNvPr>
          <p:cNvSpPr txBox="1"/>
          <p:nvPr/>
        </p:nvSpPr>
        <p:spPr>
          <a:xfrm>
            <a:off x="4470369" y="3994007"/>
            <a:ext cx="2194591"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離脱防止</a:t>
            </a:r>
          </a:p>
        </p:txBody>
      </p:sp>
      <p:cxnSp>
        <p:nvCxnSpPr>
          <p:cNvPr id="20" name="直線コネクタ 19">
            <a:extLst>
              <a:ext uri="{FF2B5EF4-FFF2-40B4-BE49-F238E27FC236}">
                <a16:creationId xmlns:a16="http://schemas.microsoft.com/office/drawing/2014/main" id="{5BE55DA4-D366-93E9-818A-C5CB316D61F6}"/>
              </a:ext>
            </a:extLst>
          </p:cNvPr>
          <p:cNvCxnSpPr/>
          <p:nvPr/>
        </p:nvCxnSpPr>
        <p:spPr>
          <a:xfrm>
            <a:off x="5094517" y="4709762"/>
            <a:ext cx="0" cy="1292023"/>
          </a:xfrm>
          <a:prstGeom prst="line">
            <a:avLst/>
          </a:prstGeom>
          <a:ln>
            <a:solidFill>
              <a:srgbClr val="04FA0A"/>
            </a:solidFill>
          </a:ln>
        </p:spPr>
        <p:style>
          <a:lnRef idx="1">
            <a:schemeClr val="accent1"/>
          </a:lnRef>
          <a:fillRef idx="0">
            <a:schemeClr val="accent1"/>
          </a:fillRef>
          <a:effectRef idx="0">
            <a:schemeClr val="accent1"/>
          </a:effectRef>
          <a:fontRef idx="minor">
            <a:schemeClr val="tx1"/>
          </a:fontRef>
        </p:style>
      </p:cxnSp>
      <p:pic>
        <p:nvPicPr>
          <p:cNvPr id="22" name="図 21" descr="LINE公式アカウントのロゴを活用しよう！注意点やNG例も合わせて解説 - LINEマーケティングツールFANVO">
            <a:extLst>
              <a:ext uri="{FF2B5EF4-FFF2-40B4-BE49-F238E27FC236}">
                <a16:creationId xmlns:a16="http://schemas.microsoft.com/office/drawing/2014/main" id="{4DC60E86-0524-E40F-7236-4D8A38BD333B}"/>
              </a:ext>
            </a:extLst>
          </p:cNvPr>
          <p:cNvPicPr>
            <a:picLocks noChangeAspect="1"/>
          </p:cNvPicPr>
          <p:nvPr/>
        </p:nvPicPr>
        <p:blipFill>
          <a:blip r:embed="rId3"/>
          <a:stretch>
            <a:fillRect/>
          </a:stretch>
        </p:blipFill>
        <p:spPr>
          <a:xfrm>
            <a:off x="4866739" y="4519050"/>
            <a:ext cx="419340" cy="418460"/>
          </a:xfrm>
          <a:prstGeom prst="rect">
            <a:avLst/>
          </a:prstGeom>
        </p:spPr>
      </p:pic>
      <p:sp>
        <p:nvSpPr>
          <p:cNvPr id="24" name="テキスト ボックス 23">
            <a:extLst>
              <a:ext uri="{FF2B5EF4-FFF2-40B4-BE49-F238E27FC236}">
                <a16:creationId xmlns:a16="http://schemas.microsoft.com/office/drawing/2014/main" id="{8F0B071A-7C5B-F060-B690-5A7A3AFEC0DD}"/>
              </a:ext>
            </a:extLst>
          </p:cNvPr>
          <p:cNvSpPr txBox="1"/>
          <p:nvPr/>
        </p:nvSpPr>
        <p:spPr>
          <a:xfrm>
            <a:off x="5268638" y="5094163"/>
            <a:ext cx="3857945" cy="261610"/>
          </a:xfrm>
          <a:prstGeom prst="rect">
            <a:avLst/>
          </a:prstGeom>
          <a:noFill/>
        </p:spPr>
        <p:txBody>
          <a:bodyPr wrap="square">
            <a:spAutoFit/>
          </a:bodyPr>
          <a:lstStyle/>
          <a:p>
            <a:r>
              <a:rPr lang="ja-JP" altLang="en-US" sz="1100" b="1" dirty="0">
                <a:latin typeface="メイリオ"/>
                <a:ea typeface="メイリオ"/>
                <a:cs typeface="メイリオ"/>
                <a:sym typeface="Meiryo"/>
              </a:rPr>
              <a:t>⇨ステップ配信がスタート。</a:t>
            </a:r>
            <a:endParaRPr lang="ja-JP" altLang="en-US" sz="1200" dirty="0">
              <a:latin typeface="メイリオ"/>
              <a:ea typeface="メイリオ"/>
              <a:cs typeface="メイリオ"/>
            </a:endParaRPr>
          </a:p>
        </p:txBody>
      </p:sp>
      <p:sp>
        <p:nvSpPr>
          <p:cNvPr id="26" name="テキスト ボックス 25">
            <a:extLst>
              <a:ext uri="{FF2B5EF4-FFF2-40B4-BE49-F238E27FC236}">
                <a16:creationId xmlns:a16="http://schemas.microsoft.com/office/drawing/2014/main" id="{70592E01-ABF8-E8A1-7E8A-7A1556DFA756}"/>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前後検索を各カテゴリ別</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ニーズ大小別で棲み分け、最適なタイミングで</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ステップ配信のコンテンツ出し分けに活用。</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535646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841248" y="3038203"/>
            <a:ext cx="8229600"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なぜLINE公式アカウントなのか</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広告で新規見込み客を集め、LINEで関係を積み上げる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の役割 4"/>
          <p:cNvGraphicFramePr>
            <a:graphicFrameLocks noGrp="1"/>
          </p:cNvGraphicFramePr>
          <p:nvPr/>
        </p:nvGraphicFramePr>
        <p:xfrm>
          <a:off x="502920" y="1508760"/>
          <a:ext cx="8897112" cy="2194560"/>
        </p:xfrm>
        <a:graphic>
          <a:graphicData uri="http://schemas.openxmlformats.org/drawingml/2006/table">
            <a:tbl>
              <a:tblPr/>
              <a:tblGrid>
                <a:gridCol w="1828800"/>
                <a:gridCol w="3520440"/>
                <a:gridCol w="3547872"/>
              </a:tblGrid>
              <a:tr h="365760">
                <a:tc>
                  <a:txBody>
                    <a:bodyPr/>
                    <a:lstStyle/>
                    <a:p>
                      <a:pPr algn="l">
                        <a:buNone/>
                      </a:pPr>
                      <a:endParaRPr lang="ja-JP" altLang="en-US" sz="1300" dirty="0">
                        <a:latin typeface="メイリオ"/>
                        <a:ea typeface="メイリオ"/>
                        <a:cs typeface="メイリオ"/>
                      </a:endParaRPr>
                    </a:p>
                  </a:txBody>
                  <a:tcPr marL="109728" marR="91440" marT="36576" marB="3657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役割</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新しい見込み客との接点を獲得する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一度つながった見込み客に、継続して情報を届ける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主に届く相手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まだつながっていない方</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友だち追加した方</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届けられる時期</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広告を配信している期間</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イベント期も、イベントのない期間も</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積み上がるもの</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セミナー予約などの反響</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友だち（次回以降も案内できる相手）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bl>
          </a:graphicData>
        </a:graphic>
      </p:graphicFrame>
      <p:sp>
        <p:nvSpPr>
          <p:cNvPr id="6" name="メリット 見出し"/>
          <p:cNvSpPr/>
          <p:nvPr/>
        </p:nvSpPr>
        <p:spPr>
          <a:xfrm>
            <a:off x="502920" y="3886200"/>
            <a:ext cx="310896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LINE公式アカウントのメリット</a:t>
            </a:r>
            <a:endParaRPr lang="ja-JP" altLang="en-US" sz="1200" dirty="0">
              <a:latin typeface="メイリオ"/>
              <a:ea typeface="メイリオ"/>
              <a:cs typeface="メイリオ"/>
            </a:endParaRPr>
          </a:p>
        </p:txBody>
      </p:sp>
      <p:sp>
        <p:nvSpPr>
          <p:cNvPr id="7" name="メリット"/>
          <p:cNvSpPr/>
          <p:nvPr/>
        </p:nvSpPr>
        <p:spPr>
          <a:xfrm>
            <a:off x="502920" y="4197096"/>
            <a:ext cx="8897112" cy="1737360"/>
          </a:xfrm>
          <a:prstGeom prst="rect">
            <a:avLst/>
          </a:prstGeom>
          <a:solidFill>
            <a:srgbClr val="EEF1F8"/>
          </a:solidFill>
          <a:ln w="9525">
            <a:solidFill>
              <a:srgbClr val="1F2A5C"/>
            </a:solidFill>
          </a:ln>
        </p:spPr>
        <p:txBody>
          <a:bodyPr wrap="square" lIns="274320" tIns="54864" rIns="182880" bIns="54864" rtlCol="0" anchor="ctr">
            <a:noAutofit/>
          </a:bodyPr>
          <a:lstStyle/>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・友だち追加した方に、継続して情報を届けられる（次回以降のイベントも案内できる）</a:t>
            </a:r>
            <a:endParaRPr lang="ja-JP" altLang="en-US" sz="1200" dirty="0">
              <a:latin typeface="メイリオ"/>
              <a:ea typeface="メイリオ"/>
              <a:cs typeface="メイリオ"/>
            </a:endParaRPr>
          </a:p>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・イベントのない時期も、見込み客との接点を持てる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・通知を通じて、見込み客との接点をつくれる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・友だちとして、見込み客を蓄積できる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・中長期的に、広告への依存度を下げられる可能性がある</a:t>
            </a:r>
            <a:endParaRPr lang="ja-JP" altLang="en-US" sz="1200" dirty="0">
              <a:latin typeface="メイリオ"/>
              <a:ea typeface="メイリオ"/>
              <a:cs typeface="メイリオ"/>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
        <p:nvSpPr>
          <p:cNvPr id="3" name="Lead">
            <a:extLst>
              <a:ext uri="{FF2B5EF4-FFF2-40B4-BE49-F238E27FC236}">
                <a16:creationId xmlns:a16="http://schemas.microsoft.com/office/drawing/2014/main" id="{F08FF241-FA02-3DB4-F5A0-2846B825B044}"/>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panose="020B0604030504040204" pitchFamily="50" charset="-128"/>
                <a:ea typeface="メイリオ" panose="020B0604030504040204" pitchFamily="50" charset="-128"/>
                <a:cs typeface="メイリオ"/>
              </a:rPr>
              <a:t>保険・イベント集客におけるLINE公式アカウントの活用事例</a:t>
            </a:r>
          </a:p>
        </p:txBody>
      </p:sp>
      <p:sp>
        <p:nvSpPr>
          <p:cNvPr id="6" name="Body">
            <a:extLst>
              <a:ext uri="{FF2B5EF4-FFF2-40B4-BE49-F238E27FC236}">
                <a16:creationId xmlns:a16="http://schemas.microsoft.com/office/drawing/2014/main" id="{82F47B3D-36AC-458C-435D-AA635278C458}"/>
              </a:ext>
            </a:extLst>
          </p:cNvPr>
          <p:cNvSpPr txBox="1"/>
          <p:nvPr/>
        </p:nvSpPr>
        <p:spPr>
          <a:xfrm>
            <a:off x="342900" y="1270000"/>
            <a:ext cx="6743700" cy="3810000"/>
          </a:xfrm>
          <a:prstGeom prst="rect">
            <a:avLst/>
          </a:prstGeom>
          <a:noFill/>
        </p:spPr>
        <p:txBody>
          <a:bodyPr wrap="square" lIns="0" tIns="0" rIns="0" bIns="0" anchor="t"/>
          <a:lstStyle/>
          <a:p>
            <a:endParaRPr>
              <a:latin typeface="メイリオ" panose="020B0604030504040204" pitchFamily="50" charset="-128"/>
              <a:ea typeface="メイリオ" panose="020B0604030504040204" pitchFamily="50" charset="-128"/>
              <a:cs typeface="メイリオ"/>
            </a:endParaRPr>
          </a:p>
        </p:txBody>
      </p:sp>
      <p:sp>
        <p:nvSpPr>
          <p:cNvPr id="8" name="TextBox 2001">
            <a:extLst>
              <a:ext uri="{FF2B5EF4-FFF2-40B4-BE49-F238E27FC236}">
                <a16:creationId xmlns:a16="http://schemas.microsoft.com/office/drawing/2014/main" id="{1266011E-8375-ED18-07F7-0E1E547F7E33}"/>
              </a:ext>
            </a:extLst>
          </p:cNvPr>
          <p:cNvSpPr txBox="1"/>
          <p:nvPr/>
        </p:nvSpPr>
        <p:spPr>
          <a:xfrm>
            <a:off x="365760" y="1371600"/>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生命保険会社</a:t>
            </a:r>
          </a:p>
        </p:txBody>
      </p:sp>
      <p:sp>
        <p:nvSpPr>
          <p:cNvPr id="10" name="Oval 2002">
            <a:extLst>
              <a:ext uri="{FF2B5EF4-FFF2-40B4-BE49-F238E27FC236}">
                <a16:creationId xmlns:a16="http://schemas.microsoft.com/office/drawing/2014/main" id="{77E596DF-1EAC-1237-A0BF-A8592C3A90C8}"/>
              </a:ext>
            </a:extLst>
          </p:cNvPr>
          <p:cNvSpPr/>
          <p:nvPr/>
        </p:nvSpPr>
        <p:spPr>
          <a:xfrm>
            <a:off x="914400" y="1783080"/>
            <a:ext cx="146685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800" b="1">
                <a:solidFill>
                  <a:srgbClr val="FFFFFF"/>
                </a:solidFill>
                <a:latin typeface="メイリオ" panose="020B0604030504040204" pitchFamily="50" charset="-128"/>
                <a:ea typeface="メイリオ" panose="020B0604030504040204" pitchFamily="50" charset="-128"/>
              </a:rPr>
              <a:t>約8倍</a:t>
            </a:r>
          </a:p>
          <a:p>
            <a:pPr algn="ctr"/>
            <a:r>
              <a:rPr sz="1000">
                <a:solidFill>
                  <a:srgbClr val="FFFFFF"/>
                </a:solidFill>
                <a:latin typeface="メイリオ" panose="020B0604030504040204" pitchFamily="50" charset="-128"/>
                <a:ea typeface="メイリオ" panose="020B0604030504040204" pitchFamily="50" charset="-128"/>
              </a:rPr>
              <a:t>資料請求の</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CV率</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（メール比）</a:t>
            </a:r>
          </a:p>
        </p:txBody>
      </p:sp>
      <p:sp>
        <p:nvSpPr>
          <p:cNvPr id="12" name="Oval 2003">
            <a:extLst>
              <a:ext uri="{FF2B5EF4-FFF2-40B4-BE49-F238E27FC236}">
                <a16:creationId xmlns:a16="http://schemas.microsoft.com/office/drawing/2014/main" id="{7F917EDB-4DA5-2D51-DEF9-F1D7DC62A3D0}"/>
              </a:ext>
            </a:extLst>
          </p:cNvPr>
          <p:cNvSpPr/>
          <p:nvPr/>
        </p:nvSpPr>
        <p:spPr>
          <a:xfrm>
            <a:off x="2743200" y="1783080"/>
            <a:ext cx="146685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800" b="1">
                <a:solidFill>
                  <a:srgbClr val="FFFFFF"/>
                </a:solidFill>
                <a:latin typeface="メイリオ" panose="020B0604030504040204" pitchFamily="50" charset="-128"/>
                <a:ea typeface="メイリオ" panose="020B0604030504040204" pitchFamily="50" charset="-128"/>
              </a:rPr>
              <a:t>5.2%</a:t>
            </a:r>
          </a:p>
          <a:p>
            <a:pPr algn="ctr"/>
            <a:r>
              <a:rPr sz="1000">
                <a:solidFill>
                  <a:srgbClr val="FFFFFF"/>
                </a:solidFill>
                <a:latin typeface="メイリオ" panose="020B0604030504040204" pitchFamily="50" charset="-128"/>
                <a:ea typeface="メイリオ" panose="020B0604030504040204" pitchFamily="50" charset="-128"/>
              </a:rPr>
              <a:t>営業職員経由</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の友だちの</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ブロック率</a:t>
            </a:r>
          </a:p>
        </p:txBody>
      </p:sp>
      <p:sp>
        <p:nvSpPr>
          <p:cNvPr id="14" name="TextBox 2004">
            <a:extLst>
              <a:ext uri="{FF2B5EF4-FFF2-40B4-BE49-F238E27FC236}">
                <a16:creationId xmlns:a16="http://schemas.microsoft.com/office/drawing/2014/main" id="{2705E967-51E9-64AC-1273-825ACF9CF11D}"/>
              </a:ext>
            </a:extLst>
          </p:cNvPr>
          <p:cNvSpPr txBox="1"/>
          <p:nvPr/>
        </p:nvSpPr>
        <p:spPr>
          <a:xfrm>
            <a:off x="365760" y="3427095"/>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教室・スクール（見学会などのイベント集客）</a:t>
            </a:r>
          </a:p>
        </p:txBody>
      </p:sp>
      <p:sp>
        <p:nvSpPr>
          <p:cNvPr id="16" name="Rounded Rectangle 2005">
            <a:extLst>
              <a:ext uri="{FF2B5EF4-FFF2-40B4-BE49-F238E27FC236}">
                <a16:creationId xmlns:a16="http://schemas.microsoft.com/office/drawing/2014/main" id="{ABF72EB3-0E58-C4B4-86D5-6D34D9F75C0B}"/>
              </a:ext>
            </a:extLst>
          </p:cNvPr>
          <p:cNvSpPr/>
          <p:nvPr/>
        </p:nvSpPr>
        <p:spPr>
          <a:xfrm>
            <a:off x="914400" y="3838575"/>
            <a:ext cx="146304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800" b="1" dirty="0">
                <a:solidFill>
                  <a:srgbClr val="FFFFFF"/>
                </a:solidFill>
                <a:latin typeface="メイリオ" panose="020B0604030504040204" pitchFamily="50" charset="-128"/>
                <a:ea typeface="メイリオ" panose="020B0604030504040204" pitchFamily="50" charset="-128"/>
              </a:rPr>
              <a:t>約7割</a:t>
            </a:r>
          </a:p>
          <a:p>
            <a:pPr algn="ctr"/>
            <a:r>
              <a:rPr sz="1000" dirty="0" err="1">
                <a:solidFill>
                  <a:srgbClr val="FFFFFF"/>
                </a:solidFill>
                <a:latin typeface="メイリオ" panose="020B0604030504040204" pitchFamily="50" charset="-128"/>
                <a:ea typeface="メイリオ" panose="020B0604030504040204" pitchFamily="50" charset="-128"/>
              </a:rPr>
              <a:t>見学会の参加者の</a:t>
            </a:r>
            <a:br>
              <a:rPr sz="1000" dirty="0" err="1">
                <a:solidFill>
                  <a:srgbClr val="FFFFFF"/>
                </a:solidFill>
                <a:latin typeface="メイリオ" panose="020B0604030504040204" pitchFamily="50" charset="-128"/>
                <a:ea typeface="メイリオ" panose="020B0604030504040204" pitchFamily="50" charset="-128"/>
              </a:rPr>
            </a:br>
            <a:r>
              <a:rPr sz="1000" dirty="0" err="1">
                <a:solidFill>
                  <a:srgbClr val="FFFFFF"/>
                </a:solidFill>
                <a:latin typeface="メイリオ" panose="020B0604030504040204" pitchFamily="50" charset="-128"/>
                <a:ea typeface="メイリオ" panose="020B0604030504040204" pitchFamily="50" charset="-128"/>
              </a:rPr>
              <a:t>入会率</a:t>
            </a:r>
            <a:endParaRPr sz="800" dirty="0">
              <a:solidFill>
                <a:srgbClr val="FFFFFF"/>
              </a:solidFill>
              <a:latin typeface="メイリオ" panose="020B0604030504040204" pitchFamily="50" charset="-128"/>
              <a:ea typeface="メイリオ" panose="020B0604030504040204" pitchFamily="50" charset="-128"/>
            </a:endParaRPr>
          </a:p>
        </p:txBody>
      </p:sp>
      <p:sp>
        <p:nvSpPr>
          <p:cNvPr id="17" name="注記"/>
          <p:cNvSpPr/>
          <p:nvPr/>
        </p:nvSpPr>
        <p:spPr>
          <a:xfrm>
            <a:off x="365760" y="52120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※LINEヤフー for Business 掲載の事例（数値は各社調べ）。生命保険会社＝2024年4月・2025年2月公開、教室＝2021年8月公開。5.2%は営業職員経由の友だち（自然に友だちになった方は74.9%）</a:t>
            </a:r>
            <a:endParaRPr lang="ja-JP" altLang="en-US" sz="1200" dirty="0"/>
          </a:p>
        </p:txBody>
      </p:sp>
    </p:spTree>
    <p:extLst>
      <p:ext uri="{BB962C8B-B14F-4D97-AF65-F5344CB8AC3E}">
        <p14:creationId xmlns:p14="http://schemas.microsoft.com/office/powerpoint/2010/main" val="2155798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運用方針・全体導線</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graphicFrame>
        <p:nvGraphicFramePr>
          <p:cNvPr id="46" name="要件定義 45"/>
          <p:cNvGraphicFramePr>
            <a:graphicFrameLocks noGrp="1"/>
          </p:cNvGraphicFramePr>
          <p:nvPr/>
        </p:nvGraphicFramePr>
        <p:xfrm>
          <a:off x="420624" y="1082040"/>
          <a:ext cx="9052560" cy="4434840"/>
        </p:xfrm>
        <a:graphic>
          <a:graphicData uri="http://schemas.openxmlformats.org/drawingml/2006/table">
            <a:tbl>
              <a:tblPr/>
              <a:tblGrid>
                <a:gridCol w="2011680"/>
                <a:gridCol w="7040880"/>
              </a:tblGrid>
              <a:tr h="7315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プロモーション目的</a:t>
                      </a:r>
                      <a:endParaRPr lang="ja-JP" altLang="en-US" sz="14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広告で獲得した見込み客をLINE公式アカウントに蓄積し、継続的な情報配信で、次回セミナーへの参加とオンラインサロンへの入会を増やす</a:t>
                      </a:r>
                      <a:endParaRPr lang="ja-JP" altLang="en-US" sz="14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中長期の目的</a:t>
                      </a:r>
                      <a:endParaRPr lang="ja-JP" altLang="en-US" sz="14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入会後の継続利用・紹介にもLINEを活用し、LTVの最大化をめざす</a:t>
                      </a:r>
                      <a:endParaRPr lang="ja-JP" altLang="en-US" sz="14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契約期間</a:t>
                      </a:r>
                      <a:endParaRPr lang="ja-JP" altLang="en-US" sz="14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6か月（平常期とセミナー開催月で、配信内容と工数が変わる）</a:t>
                      </a:r>
                      <a:endParaRPr lang="ja-JP" altLang="en-US" sz="14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6858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配信目標</a:t>
                      </a:r>
                      <a:endParaRPr lang="ja-JP" altLang="en-US" sz="14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友だち獲得を増やし、ブロック率を抑えながら、配信可能な人数を積み上げる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（6か月の想定は、概算お見積りに記載）</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128016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手法（ご提案）</a:t>
                      </a:r>
                      <a:endParaRPr lang="ja-JP" altLang="en-US" sz="14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① 離脱防止ポップアップ（導入推奨）で、LPを離れる方を友だちに</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　 予約完了後は、サンクスLINE誘導（追加オプション）または通常のご案内</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② 友だち追加直後・予約した方・参加後の段階ごとに、案内を変える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③ 平常期 月1〜2回、開催月 月4〜5回の企画配信で、つながりを保つ</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9144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＋αの施策</a:t>
                      </a:r>
                      <a:endParaRPr lang="ja-JP" altLang="en-US" sz="14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過去のセミナー予約者・参加者へのご案内（通知メッセージ）</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サロンの申込み完了ページからのLINE誘導（サンクスLINE誘導）</a:t>
                      </a:r>
                      <a:endParaRPr lang="ja-JP" altLang="en-US" sz="1300" dirty="0">
                        <a:latin typeface="メイリオ"/>
                        <a:ea typeface="メイリオ"/>
                        <a:cs typeface="メイリオ"/>
                      </a:endParaRPr>
                    </a:p>
                    <a:p>
                      <a:pPr algn="l">
                        <a:buNone/>
                      </a:pPr>
                      <a:r>
                        <a:rPr lang="ja-JP" altLang="en-US" sz="1100" b="0" dirty="0">
                          <a:solidFill>
                            <a:srgbClr val="7F7F7F"/>
                          </a:solidFill>
                          <a:latin typeface="メイリオ" panose="020B0604030504040204" pitchFamily="50" charset="-128"/>
                          <a:ea typeface="メイリオ" panose="020B0604030504040204" pitchFamily="50" charset="-128"/>
                          <a:cs typeface="メイリオ"/>
                        </a:rPr>
                        <a:t>※通知メッセージは、予約時の電話番号がある場合</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bl>
          </a:graphicData>
        </a:graphic>
      </p:graphicFrame>
    </p:spTree>
    <p:extLst>
      <p:ext uri="{BB962C8B-B14F-4D97-AF65-F5344CB8AC3E}">
        <p14:creationId xmlns:p14="http://schemas.microsoft.com/office/powerpoint/2010/main" val="3136620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運用方針</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一度集めた見込み客を蓄積し、継続的にアプローチできる仕組みを強化する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KEY TAKEAWAY 見出し"/>
          <p:cNvSpPr/>
          <p:nvPr/>
        </p:nvSpPr>
        <p:spPr>
          <a:xfrm>
            <a:off x="420624" y="1600200"/>
            <a:ext cx="210312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KEY TAKEAWAY</a:t>
            </a:r>
            <a:endParaRPr lang="ja-JP" altLang="en-US" sz="1200" dirty="0">
              <a:latin typeface="メイリオ"/>
              <a:ea typeface="メイリオ"/>
              <a:cs typeface="メイリオ"/>
            </a:endParaRPr>
          </a:p>
        </p:txBody>
      </p:sp>
      <p:sp>
        <p:nvSpPr>
          <p:cNvPr id="51" name="KEY TAKEAWAY"/>
          <p:cNvSpPr/>
          <p:nvPr/>
        </p:nvSpPr>
        <p:spPr>
          <a:xfrm>
            <a:off x="420624" y="1911095"/>
            <a:ext cx="9052560" cy="731520"/>
          </a:xfrm>
          <a:prstGeom prst="rect">
            <a:avLst/>
          </a:prstGeom>
          <a:solidFill>
            <a:srgbClr val="EEF1F8"/>
          </a:solidFill>
          <a:ln w="9525">
            <a:solidFill>
              <a:srgbClr val="1F2A5C"/>
            </a:solidFill>
          </a:ln>
        </p:spPr>
        <p:txBody>
          <a:bodyPr wrap="square" lIns="73152" tIns="36576" rIns="73152" bIns="36576" rtlCol="0" anchor="ctr">
            <a:noAutofit/>
          </a:bodyPr>
          <a:lstStyle/>
          <a:p>
            <a:pPr algn="ctr">
              <a:buNone/>
            </a:pPr>
            <a:r>
              <a:rPr lang="ja-JP" altLang="en-US" sz="2000" b="1" dirty="0">
                <a:solidFill>
                  <a:srgbClr val="1F2A5C"/>
                </a:solidFill>
                <a:latin typeface="メイリオ" panose="020B0604030504040204" pitchFamily="50" charset="-128"/>
                <a:ea typeface="メイリオ" panose="020B0604030504040204" pitchFamily="50" charset="-128"/>
                <a:cs typeface="メイリオ"/>
              </a:rPr>
              <a:t>イベント開催時だけでなく、平常期にも継続して情報を届ける</a:t>
            </a:r>
            <a:endParaRPr lang="ja-JP" altLang="en-US" sz="1200" dirty="0">
              <a:latin typeface="メイリオ"/>
              <a:ea typeface="メイリオ"/>
              <a:cs typeface="メイリオ"/>
            </a:endParaRPr>
          </a:p>
        </p:txBody>
      </p:sp>
      <p:graphicFrame>
        <p:nvGraphicFramePr>
          <p:cNvPr id="52" name="3つのポイント 51"/>
          <p:cNvGraphicFramePr>
            <a:graphicFrameLocks noGrp="1"/>
          </p:cNvGraphicFramePr>
          <p:nvPr/>
        </p:nvGraphicFramePr>
        <p:xfrm>
          <a:off x="420624" y="2926080"/>
          <a:ext cx="9052560" cy="2834640"/>
        </p:xfrm>
        <a:graphic>
          <a:graphicData uri="http://schemas.openxmlformats.org/drawingml/2006/table">
            <a:tbl>
              <a:tblPr/>
              <a:tblGrid>
                <a:gridCol w="1554480"/>
                <a:gridCol w="2468880"/>
                <a:gridCol w="3840480"/>
                <a:gridCol w="1188720"/>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強化するポイント</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打ち手</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伸ばす数字</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01 集める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LPを見た方・予約した方と、LINEでつながる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・離脱防止ポップアップ（推奨）で友だちに</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・予約者はサンクスLINE誘導（追加オプション）</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友だち数</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02 届け続ける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平常期・開催月それぞれの時期に合わせて届ける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・企画配信：平常期 月1〜2回／開催月 月4〜5回</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・予約した方へ、前日・当日のリマインド</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予約・参加数</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03 つなげる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参加後、関心が高いうちにサロンを案内する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・参加後に、振り返りとサロンの内容をご案内</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・受講生の声で、入会の判断材料を届ける</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入会数</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2572955576"/>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全体導線：広告で集め、LINEで育て、セミナー参加・サロン入会へ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広告による新規集客と、LINEによる継続的な顧客育成を組み合わせる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広告の領域"/>
          <p:cNvSpPr/>
          <p:nvPr/>
        </p:nvSpPr>
        <p:spPr>
          <a:xfrm>
            <a:off x="420624" y="1645920"/>
            <a:ext cx="2871215"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広告（新規集客）</a:t>
            </a:r>
            <a:endParaRPr lang="ja-JP" altLang="en-US" sz="1200" dirty="0">
              <a:latin typeface="メイリオ"/>
              <a:ea typeface="メイリオ"/>
              <a:cs typeface="メイリオ"/>
            </a:endParaRPr>
          </a:p>
        </p:txBody>
      </p:sp>
      <p:sp>
        <p:nvSpPr>
          <p:cNvPr id="51" name="LINEの領域"/>
          <p:cNvSpPr/>
          <p:nvPr/>
        </p:nvSpPr>
        <p:spPr>
          <a:xfrm>
            <a:off x="3511296" y="1645920"/>
            <a:ext cx="5961888" cy="310896"/>
          </a:xfrm>
          <a:prstGeom prst="rect">
            <a:avLst/>
          </a:prstGeom>
          <a:solidFill>
            <a:srgbClr val="06C755"/>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LINE公式アカウント（継続的な顧客育成）</a:t>
            </a:r>
            <a:endParaRPr lang="ja-JP" altLang="en-US" sz="1200" dirty="0">
              <a:latin typeface="メイリオ"/>
              <a:ea typeface="メイリオ"/>
              <a:cs typeface="メイリオ"/>
            </a:endParaRPr>
          </a:p>
        </p:txBody>
      </p:sp>
      <p:sp>
        <p:nvSpPr>
          <p:cNvPr id="52" name="導線 広告"/>
          <p:cNvSpPr/>
          <p:nvPr/>
        </p:nvSpPr>
        <p:spPr>
          <a:xfrm>
            <a:off x="420624"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200" dirty="0">
              <a:latin typeface="メイリオ"/>
              <a:ea typeface="メイリオ"/>
              <a:cs typeface="メイリオ"/>
            </a:endParaRPr>
          </a:p>
        </p:txBody>
      </p:sp>
      <p:sp>
        <p:nvSpPr>
          <p:cNvPr id="53" name="導線の説明 広告"/>
          <p:cNvSpPr/>
          <p:nvPr/>
        </p:nvSpPr>
        <p:spPr>
          <a:xfrm>
            <a:off x="42062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Meta広告などで、新しい見込み客と接点をつくる</a:t>
            </a:r>
            <a:endParaRPr lang="ja-JP" altLang="en-US" sz="1200" dirty="0">
              <a:latin typeface="メイリオ"/>
              <a:ea typeface="メイリオ"/>
              <a:cs typeface="メイリオ"/>
            </a:endParaRPr>
          </a:p>
        </p:txBody>
      </p:sp>
      <p:sp>
        <p:nvSpPr>
          <p:cNvPr id="54" name="矢印"/>
          <p:cNvSpPr/>
          <p:nvPr/>
        </p:nvSpPr>
        <p:spPr>
          <a:xfrm>
            <a:off x="1746504"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5" name="導線 セミナーLP"/>
          <p:cNvSpPr/>
          <p:nvPr/>
        </p:nvSpPr>
        <p:spPr>
          <a:xfrm>
            <a:off x="1965960"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セミナーLP</a:t>
            </a:r>
            <a:endParaRPr lang="ja-JP" altLang="en-US" sz="1200" dirty="0">
              <a:latin typeface="メイリオ"/>
              <a:ea typeface="メイリオ"/>
              <a:cs typeface="メイリオ"/>
            </a:endParaRPr>
          </a:p>
        </p:txBody>
      </p:sp>
      <p:sp>
        <p:nvSpPr>
          <p:cNvPr id="56" name="導線の説明 セミナーLP"/>
          <p:cNvSpPr/>
          <p:nvPr/>
        </p:nvSpPr>
        <p:spPr>
          <a:xfrm>
            <a:off x="1965960"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セミナーの内容を知り、予約する</a:t>
            </a:r>
            <a:endParaRPr lang="ja-JP" altLang="en-US" sz="1200" dirty="0">
              <a:latin typeface="メイリオ"/>
              <a:ea typeface="メイリオ"/>
              <a:cs typeface="メイリオ"/>
            </a:endParaRPr>
          </a:p>
        </p:txBody>
      </p:sp>
      <p:sp>
        <p:nvSpPr>
          <p:cNvPr id="57" name="矢印"/>
          <p:cNvSpPr/>
          <p:nvPr/>
        </p:nvSpPr>
        <p:spPr>
          <a:xfrm>
            <a:off x="3291839"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8" name="導線 LINE友だち追加"/>
          <p:cNvSpPr/>
          <p:nvPr/>
        </p:nvSpPr>
        <p:spPr>
          <a:xfrm>
            <a:off x="3511296"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LINE友だち追加</a:t>
            </a:r>
            <a:endParaRPr lang="ja-JP" altLang="en-US" sz="1200" dirty="0">
              <a:latin typeface="メイリオ"/>
              <a:ea typeface="メイリオ"/>
              <a:cs typeface="メイリオ"/>
            </a:endParaRPr>
          </a:p>
        </p:txBody>
      </p:sp>
      <p:sp>
        <p:nvSpPr>
          <p:cNvPr id="59" name="導線の説明 LINE友だち追加"/>
          <p:cNvSpPr/>
          <p:nvPr/>
        </p:nvSpPr>
        <p:spPr>
          <a:xfrm>
            <a:off x="3511296"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予約完了後のご案内（サンクスLINE誘導は追加オプション）</a:t>
            </a:r>
            <a:endParaRPr lang="ja-JP" altLang="en-US" sz="1200" dirty="0">
              <a:latin typeface="メイリオ"/>
              <a:ea typeface="メイリオ"/>
              <a:cs typeface="メイリオ"/>
            </a:endParaRPr>
          </a:p>
        </p:txBody>
      </p:sp>
      <p:sp>
        <p:nvSpPr>
          <p:cNvPr id="60" name="矢印"/>
          <p:cNvSpPr/>
          <p:nvPr/>
        </p:nvSpPr>
        <p:spPr>
          <a:xfrm>
            <a:off x="4837176"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1" name="導線 継続的な情報配信"/>
          <p:cNvSpPr/>
          <p:nvPr/>
        </p:nvSpPr>
        <p:spPr>
          <a:xfrm>
            <a:off x="5056632"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継続的な情報配信</a:t>
            </a:r>
            <a:endParaRPr lang="ja-JP" altLang="en-US" sz="1200" dirty="0">
              <a:latin typeface="メイリオ"/>
              <a:ea typeface="メイリオ"/>
              <a:cs typeface="メイリオ"/>
            </a:endParaRPr>
          </a:p>
        </p:txBody>
      </p:sp>
      <p:sp>
        <p:nvSpPr>
          <p:cNvPr id="62" name="導線の説明 継続的な情報配信"/>
          <p:cNvSpPr/>
          <p:nvPr/>
        </p:nvSpPr>
        <p:spPr>
          <a:xfrm>
            <a:off x="5056632"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あいさつ・見どころ動画・参加特典</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企画配信：平常期 月1〜2回／開催月 月4〜5回</a:t>
            </a:r>
            <a:endParaRPr lang="ja-JP" altLang="en-US" sz="1200" dirty="0">
              <a:latin typeface="メイリオ"/>
              <a:ea typeface="メイリオ"/>
              <a:cs typeface="メイリオ"/>
            </a:endParaRPr>
          </a:p>
        </p:txBody>
      </p:sp>
      <p:sp>
        <p:nvSpPr>
          <p:cNvPr id="63" name="矢印"/>
          <p:cNvSpPr/>
          <p:nvPr/>
        </p:nvSpPr>
        <p:spPr>
          <a:xfrm>
            <a:off x="6382512"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4" name="導線 セミナー予約・参加"/>
          <p:cNvSpPr/>
          <p:nvPr/>
        </p:nvSpPr>
        <p:spPr>
          <a:xfrm>
            <a:off x="6601968"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セミナー予約・参加</a:t>
            </a:r>
            <a:endParaRPr lang="ja-JP" altLang="en-US" sz="1200" dirty="0">
              <a:latin typeface="メイリオ"/>
              <a:ea typeface="メイリオ"/>
              <a:cs typeface="メイリオ"/>
            </a:endParaRPr>
          </a:p>
        </p:txBody>
      </p:sp>
      <p:sp>
        <p:nvSpPr>
          <p:cNvPr id="65" name="導線の説明 セミナー予約・参加"/>
          <p:cNvSpPr/>
          <p:nvPr/>
        </p:nvSpPr>
        <p:spPr>
          <a:xfrm>
            <a:off x="6601968"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p:txBody>
      </p:sp>
      <p:sp>
        <p:nvSpPr>
          <p:cNvPr id="66" name="矢印"/>
          <p:cNvSpPr/>
          <p:nvPr/>
        </p:nvSpPr>
        <p:spPr>
          <a:xfrm>
            <a:off x="7927848"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7" name="導線 オンラインサロン入会"/>
          <p:cNvSpPr/>
          <p:nvPr/>
        </p:nvSpPr>
        <p:spPr>
          <a:xfrm>
            <a:off x="8147304"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オンラインサロン入会</a:t>
            </a:r>
            <a:endParaRPr lang="ja-JP" altLang="en-US" sz="1200" dirty="0">
              <a:latin typeface="メイリオ"/>
              <a:ea typeface="メイリオ"/>
              <a:cs typeface="メイリオ"/>
            </a:endParaRPr>
          </a:p>
        </p:txBody>
      </p:sp>
      <p:sp>
        <p:nvSpPr>
          <p:cNvPr id="68" name="導線の説明 オンラインサロン入会"/>
          <p:cNvSpPr/>
          <p:nvPr/>
        </p:nvSpPr>
        <p:spPr>
          <a:xfrm>
            <a:off x="814730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参加後の振り返り・サロンの内容紹介・入会のご案内</a:t>
            </a:r>
            <a:endParaRPr lang="ja-JP" altLang="en-US" sz="1200" dirty="0">
              <a:latin typeface="メイリオ"/>
              <a:ea typeface="メイリオ"/>
              <a:cs typeface="メイリオ"/>
            </a:endParaRPr>
          </a:p>
        </p:txBody>
      </p:sp>
      <p:sp>
        <p:nvSpPr>
          <p:cNvPr id="69" name="中長期"/>
          <p:cNvSpPr/>
          <p:nvPr/>
        </p:nvSpPr>
        <p:spPr>
          <a:xfrm>
            <a:off x="3511296" y="4754880"/>
            <a:ext cx="5961888" cy="45720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中長期：入会後の継続利用・紹介にも、LINEでの情報配信を活用</a:t>
            </a:r>
            <a:endParaRPr lang="ja-JP" altLang="en-US" sz="1200" dirty="0">
              <a:latin typeface="メイリオ"/>
              <a:ea typeface="メイリオ"/>
              <a:cs typeface="メイリオ"/>
            </a:endParaRPr>
          </a:p>
        </p:txBody>
      </p:sp>
      <p:sp>
        <p:nvSpPr>
          <p:cNvPr id="70" name="注記"/>
          <p:cNvSpPr/>
          <p:nvPr/>
        </p:nvSpPr>
        <p:spPr>
          <a:xfrm>
            <a:off x="420624" y="589788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※一般の方向けセミナーから友だち追加した方は、流入経路で分け、一般の方向けの案内を中心に配信</a:t>
            </a:r>
            <a:endParaRPr lang="ja-JP" altLang="en-US" sz="1200" dirty="0">
              <a:latin typeface="メイリオ"/>
              <a:ea typeface="メイリオ"/>
              <a:cs typeface="メイリオ"/>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想定動線（フェーズごとのLINEの役割）</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離脱・停滞が起きやすい点</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R="73152"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離脱防止ポップアップ（推奨）</a:t>
                      </a:r>
                    </a:p>
                  </a:txBody>
                  <a:tcPr marR="73152"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次の開催まで関心が続きにくい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R="73152"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R="73152"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予約後の友だち追加・前日の案内</a:t>
                      </a:r>
                    </a:p>
                  </a:txBody>
                  <a:tcPr marR="73152"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R="73152"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次のイベントまで期間が空く</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月1〜2回の配信で次回へ</a:t>
                      </a:r>
                    </a:p>
                  </a:txBody>
                  <a:tcPr marR="73152"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R="73152"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継続利用・紹介まで届きにくい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イベント案内・紹介（中長期）</a:t>
                      </a:r>
                    </a:p>
                  </a:txBody>
                  <a:tcPr marR="73152"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予約完了後の</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友だち追加</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・見どころ動画</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737360" cy="246221"/>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・前日・当日のリマインド</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※個別チャット対応は効率化のみで基本貴社対応</a:t>
            </a:r>
          </a:p>
        </p:txBody>
      </p:sp>
      <p:sp>
        <p:nvSpPr>
          <p:cNvPr id="109" name="予約後の友だち追加の注記"/>
          <p:cNvSpPr/>
          <p:nvPr/>
        </p:nvSpPr>
        <p:spPr>
          <a:xfrm>
            <a:off x="6309360" y="4160520"/>
            <a:ext cx="2962656" cy="548640"/>
          </a:xfrm>
          <a:prstGeom prst="rect">
            <a:avLst/>
          </a:prstGeom>
          <a:noFill/>
          <a:ln>
            <a:noFill/>
          </a:ln>
        </p:spPr>
        <p:txBody>
          <a:bodyPr wrap="square" lIns="4572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※予約完了後の友だち追加は、サンクスLINE誘導（追加オプション）または通常の友だち追加のご案内で実施</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配信の出し分け：予約した方／予約していない方</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次のイベントの案内を、開催が決まり次第届けられる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123444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友だち追加の流入経路（離脱防止ポップアップ／予約完了後のご案内）で分け、予約した方は当日の参加へ、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予約していない方は平常期の配信で次のイベントへつなげる。流入経路だけでは予約・参加・入会の状況をすべて把握できないため、状況に応じた出し分けは、連携の仕様を確認のうえ設計。</a:t>
            </a:r>
          </a:p>
        </p:txBody>
      </p:sp>
    </p:spTree>
    <p:extLst>
      <p:ext uri="{BB962C8B-B14F-4D97-AF65-F5344CB8AC3E}">
        <p14:creationId xmlns:p14="http://schemas.microsoft.com/office/powerpoint/2010/main" val="3203648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期待成果・費用</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概算お見積り：推奨構成（ポップアップあり）での6か月の運用</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¥145,000〜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¥335,000程度</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平常期 ¥135,000〜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cs typeface="メイリオ"/>
              </a:rPr>
              <a:t>6か月後（サンクスLINE誘導あり）</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平常期 1〜2回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前日・当日の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リマインド</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配信可能な人数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導入（推奨）</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追加オプション</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
        <p:nvSpPr>
          <p:cNvPr id="384" name="想定の注記"/>
          <p:cNvSpPr/>
          <p:nvPr/>
        </p:nvSpPr>
        <p:spPr>
          <a:xfrm>
            <a:off x="6748272" y="3931920"/>
            <a:ext cx="2898648" cy="2286000"/>
          </a:xfrm>
          <a:prstGeom prst="rect">
            <a:avLst/>
          </a:prstGeom>
          <a:noFill/>
          <a:ln>
            <a:noFill/>
          </a:ln>
        </p:spPr>
        <p:txBody>
          <a:bodyPr wrap="square" lIns="45720" tIns="0" rIns="0" bIns="0" rtlCol="0" anchor="t">
            <a:noAutofit/>
          </a:bodyPr>
          <a:lstStyle/>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※SIMによる想定値（実績ではない）。ポップアップ＋サンクスLINE誘導の場合</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※推奨構成（ポップアップのみ）では、予約完了後の友だち追加が減るため、友だち数・配信可能な人数は少なくなる想定</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※セミナー予約・サロン入会は、LINEの配信・リンクからの件数。友だち数ほどの差は見込まないが、同数とは限らない</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※配信可能な人数＝ブロックされずに届く友だちの数</a:t>
            </a:r>
            <a:endParaRPr lang="ja-JP" altLang="en-US" sz="1200" dirty="0">
              <a:latin typeface="メイリオ"/>
              <a:ea typeface="メイリオ"/>
              <a:cs typeface="メイリオ"/>
            </a:endParaRPr>
          </a:p>
        </p:txBody>
      </p:sp>
      <p:sp>
        <p:nvSpPr>
          <p:cNvPr id="385" name="追加オプション"/>
          <p:cNvSpPr/>
          <p:nvPr/>
        </p:nvSpPr>
        <p:spPr>
          <a:xfrm>
            <a:off x="265176" y="6053328"/>
            <a:ext cx="5971032" cy="411480"/>
          </a:xfrm>
          <a:prstGeom prst="rect">
            <a:avLst/>
          </a:prstGeom>
          <a:solidFill>
            <a:srgbClr val="F5F7FA"/>
          </a:solidFill>
          <a:ln w="9525">
            <a:solidFill>
              <a:srgbClr val="1F2A5C"/>
            </a:solidFill>
          </a:ln>
        </p:spPr>
        <p:txBody>
          <a:bodyPr wrap="square" lIns="91440" tIns="18288" rIns="91440" bIns="18288" rtlCol="0" anchor="ctr">
            <a:noAutofit/>
          </a:bodyPr>
          <a:lstStyle/>
          <a:p>
            <a:pPr algn="l">
              <a:buNone/>
            </a:pPr>
            <a:r>
              <a:rPr lang="ja-JP" altLang="en-US" sz="1100" b="1" dirty="0">
                <a:solidFill>
                  <a:srgbClr val="1F2A5C"/>
                </a:solidFill>
                <a:latin typeface="メイリオ" panose="020B0604030504040204" pitchFamily="50" charset="-128"/>
                <a:ea typeface="メイリオ" panose="020B0604030504040204" pitchFamily="50" charset="-128"/>
                <a:cs typeface="メイリオ"/>
              </a:rPr>
              <a:t>追加オプション｜サンクスLINE誘導：初期＋¥150,000・月額＋¥30,000〜</a:t>
            </a:r>
            <a:endParaRPr lang="ja-JP" altLang="en-US" sz="1200" dirty="0">
              <a:latin typeface="メイリオ"/>
              <a:ea typeface="メイリオ"/>
              <a:cs typeface="メイリオ"/>
            </a:endParaRPr>
          </a:p>
          <a:p>
            <a:pPr algn="l">
              <a:buNone/>
            </a:pPr>
            <a:r>
              <a:rPr lang="ja-JP" altLang="en-US" sz="1000" b="0" dirty="0">
                <a:solidFill>
                  <a:srgbClr val="333333"/>
                </a:solidFill>
                <a:latin typeface="メイリオ" panose="020B0604030504040204" pitchFamily="50" charset="-128"/>
                <a:ea typeface="メイリオ" panose="020B0604030504040204" pitchFamily="50" charset="-128"/>
                <a:cs typeface="メイリオ"/>
              </a:rPr>
              <a:t>（追加した場合の合計：初期 ¥295,000〜／開催月 ¥365,000程度／平常期 ¥165,000〜）</a:t>
            </a:r>
            <a:endParaRPr lang="ja-JP" altLang="en-US" sz="1200" dirty="0">
              <a:latin typeface="メイリオ"/>
              <a:ea typeface="メイリオ"/>
              <a:cs typeface="メイリオ"/>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費用の比較：推奨構成と、サンクスLINE誘導を追加する場合</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費用の比較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ポップアップの導入を推奨。サンクスLINE誘導は追加の選択肢</a:t>
            </a:r>
            <a:endParaRPr lang="en-US" sz="1600" b="0" u="none" strike="noStrike" dirty="0">
              <a:solidFill>
                <a:srgbClr val="000000"/>
              </a:solidFill>
              <a:effectLst/>
              <a:uFillTx/>
              <a:latin typeface="メイリオ"/>
              <a:ea typeface="メイリオ"/>
              <a:cs typeface="メイリオ"/>
            </a:endParaRPr>
          </a:p>
        </p:txBody>
      </p:sp>
      <p:graphicFrame>
        <p:nvGraphicFramePr>
          <p:cNvPr id="638" name="費用の比較 637"/>
          <p:cNvGraphicFramePr>
            <a:graphicFrameLocks noGrp="1"/>
          </p:cNvGraphicFramePr>
          <p:nvPr/>
        </p:nvGraphicFramePr>
        <p:xfrm>
          <a:off x="384048" y="1353312"/>
          <a:ext cx="9144000" cy="3264408"/>
        </p:xfrm>
        <a:graphic>
          <a:graphicData uri="http://schemas.openxmlformats.org/drawingml/2006/table">
            <a:tbl>
              <a:tblPr/>
              <a:tblGrid>
                <a:gridCol w="2514600"/>
                <a:gridCol w="3200400"/>
                <a:gridCol w="3429000"/>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推奨構成：ポップアップあり</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追加構成：＋サンクスLINE誘導</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初期費用</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295,000円〜（＋150,000円）</a:t>
                      </a:r>
                      <a:endParaRPr lang="ja-JP" altLang="en-US" sz="15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月額費用（平常期）</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135,000円〜</a:t>
                      </a:r>
                      <a:endParaRPr lang="ja-JP" altLang="en-US" sz="15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165,000円〜（＋30,000円〜）</a:t>
                      </a:r>
                      <a:endParaRPr lang="ja-JP" altLang="en-US" sz="15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月額費用（セミナー開催月）</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335,000円程度</a:t>
                      </a:r>
                      <a:endParaRPr lang="ja-JP" altLang="en-US" sz="15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365,000円程度（＋30,000円〜）</a:t>
                      </a:r>
                      <a:endParaRPr lang="ja-JP" altLang="en-US" sz="15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8686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友だちの入口</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離脱防止ポップアップで、LPを離れる方を友だちに。予約完了ページには通常の友だち追加ボタン等を設置（費用・実装条件は仕様確認のうえ）</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上記に加え、予約完了後にLINEへ自動遷移（フォームの入力内容の引き継ぎも可能）</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6400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追加するメリット</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予約した方を友だちにしやすくなり、特にセミナー開催時期の友だち追加数の上積みが期待できる</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639" name="注記"/>
          <p:cNvSpPr/>
          <p:nvPr/>
        </p:nvSpPr>
        <p:spPr>
          <a:xfrm>
            <a:off x="420624" y="4754880"/>
            <a:ext cx="9052560" cy="96012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※月額費用＝コンサルティング費（平常期 100,000円／セミナー開催月 300,000円程度）＋ツール・LINE関連費（推奨構成 35,000円〜＝ポップアップ 30,000円＋LINE公式アカウント利用料 5,000円〜）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※初期費用（推奨構成）＝運用設計・構築 100,000円〜＋ポップアップ 15,000円＋LINE公式アカウント開設 30,000円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※ポップアップ・サンクスLINE誘導はどちらも選択制。ポップアップも導入しない場合の参考：初期 130,000円〜／平常期 105,000円〜／開催月 305,000円程度（別途の実装・制作費等は含まない）</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※サンクスLINE誘導の最低利用期間・停止条件（セミナー開催月だけの利用可否）は、確認のうえご案内</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4048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135,000円〜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 15,000円＋LINE公式アカウント開設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※ツールは選択制。サンクスLINE誘導を追加する場合は、初期＋150,000円・月額＋30,000円〜（ポップアップを導入しない場合は、初期−15,000円・月額−30,000円）</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145,000円〜／月額 35,000円〜＋成果報酬（セミナー予約 12,000円／件）。ツールの追加は上記と同じ</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2955272464"/>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ポップアップ（推奨）・</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サンクスLINE誘導（追加）</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月1〜2回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セミナー前日・当日のリマインド</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注記"/>
          <p:cNvSpPr/>
          <p:nvPr/>
        </p:nvSpPr>
        <p:spPr>
          <a:xfrm>
            <a:off x="420624" y="512064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※月額のコンサルティング費には、企画配信の制作に加え、LINEアカウントの運用・導線の管理・ステップ配信の改善・配信結果の分析・次回施策への改善提案を含む</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※平常期の配信は、次のイベントまで関係を保つためのもの（配信の回数を増やすこと自体は目的にしない）</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※前日・当日のリマインドは、企画配信とは別に、予約ごとに配信。契約期間は6か月</a:t>
            </a:r>
            <a:endParaRPr lang="ja-JP" altLang="en-US" sz="1200" dirty="0">
              <a:latin typeface="メイリオ"/>
              <a:ea typeface="メイリオ"/>
              <a:cs typeface="メイリオ"/>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別案：成果件数に応じた費用で、リスクを抑えて運用を始められる</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複数の</a:t>
            </a: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数を増加。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32" name="注記"/>
          <p:cNvSpPr/>
          <p:nvPr/>
        </p:nvSpPr>
        <p:spPr>
          <a:xfrm>
            <a:off x="420624" y="553212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※成果地点の定義・重複計上の有無・計測方法は、ご契約前に確認のうえ決定</a:t>
            </a:r>
            <a:endParaRPr lang="ja-JP" altLang="en-US" sz="1200" dirty="0">
              <a:latin typeface="メイリオ"/>
              <a:ea typeface="メイリオ"/>
              <a:cs typeface="メイリオ"/>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LINE施策の全体像：6つの段階で、友だち獲得から入会まで案内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友だち追加の時期と状況に合わせて、届ける内容を変える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LINE施策の全体像 49"/>
          <p:cNvGraphicFramePr>
            <a:graphicFrameLocks noGrp="1"/>
          </p:cNvGraphicFramePr>
          <p:nvPr/>
        </p:nvGraphicFramePr>
        <p:xfrm>
          <a:off x="420624" y="1600200"/>
          <a:ext cx="9052560" cy="3931920"/>
        </p:xfrm>
        <a:graphic>
          <a:graphicData uri="http://schemas.openxmlformats.org/drawingml/2006/table">
            <a:tbl>
              <a:tblPr/>
              <a:tblGrid>
                <a:gridCol w="1828800"/>
                <a:gridCol w="4206240"/>
                <a:gridCol w="3017520"/>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主な施策</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ねらい</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7315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① 友だち獲得</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離脱防止ポップアップ（導入推奨）／予約完了後の友だち追加：サンクスLINE誘導（追加オプション）または通常のご案内</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LPを離れる方・予約した方とつながる</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② 友だち追加直後</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あいさつメッセージ・見どころ動画・参加特典（必要に応じて、簡易的な興味分野の把握）</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セミナーの中身を伝え、予約につなげる</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③ 予約した方</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当日の参加を後押しする</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④ 参加後</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セミナー内容の振り返り／オンラインサロンの内容紹介・入会のご案内</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関心が高いうちに、入会を案内する</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⑤ 平常期</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月1〜2回の企画配信／次回イベントのご案内</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イベントのない期間もつながりを保つ</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⑥ セミナー開催月</a:t>
                      </a:r>
                      <a:endParaRPr lang="ja-JP" altLang="en-US" sz="13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月4〜5回の企画配信</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開催に合わせて、予約・参加を後押しする</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bl>
          </a:graphicData>
        </a:graphic>
      </p:graphicFrame>
      <p:sp>
        <p:nvSpPr>
          <p:cNvPr id="51" name="注記"/>
          <p:cNvSpPr/>
          <p:nvPr/>
        </p:nvSpPr>
        <p:spPr>
          <a:xfrm>
            <a:off x="420624" y="562356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※③のリマインドは、企画配信の回数とは別に、予約ごとに配信</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※③④は、予約・参加した方を特定できる範囲で実施（予約完了後の友だち追加など）。予約システム等との連携は、可否を確認のうえ設計</a:t>
            </a:r>
            <a:endParaRPr lang="ja-JP" altLang="en-US" sz="1200" dirty="0">
              <a:latin typeface="メイリオ"/>
              <a:ea typeface="メイリオ"/>
              <a:cs typeface="メイリオ"/>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
        <p:nvSpPr>
          <p:cNvPr id="23" name="ツールの位置づけ"/>
          <p:cNvSpPr/>
          <p:nvPr/>
        </p:nvSpPr>
        <p:spPr>
          <a:xfrm>
            <a:off x="3749039" y="1316736"/>
            <a:ext cx="1371600" cy="484632"/>
          </a:xfrm>
          <a:prstGeom prst="rect">
            <a:avLst/>
          </a:prstGeom>
          <a:solidFill>
            <a:srgbClr val="FFFFFF"/>
          </a:solidFill>
          <a:ln w="19050">
            <a:solidFill>
              <a:srgbClr val="1F2A5C"/>
            </a:solidFill>
          </a:ln>
        </p:spPr>
        <p:txBody>
          <a:bodyPr wrap="square" lIns="45720" tIns="18288" rIns="45720"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任意・導入推奨</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271334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簡易</a:t>
            </a:r>
            <a:r>
              <a:rPr lang="en-US" altLang="ja-JP" sz="1000" b="1" dirty="0">
                <a:solidFill>
                  <a:schemeClr val="bg1"/>
                </a:solidFill>
                <a:latin typeface="メイリオ"/>
                <a:ea typeface="メイリオ"/>
                <a:cs typeface="メイリオ"/>
                <a:sym typeface="Meiryo"/>
              </a:rPr>
              <a:t>SIM</a:t>
            </a:r>
            <a:r>
              <a:rPr lang="ja-JP" altLang="en-US" sz="1000" b="1" dirty="0">
                <a:solidFill>
                  <a:schemeClr val="bg1"/>
                </a:solidFill>
                <a:latin typeface="メイリオ"/>
                <a:ea typeface="メイリオ"/>
                <a:cs typeface="メイリオ"/>
                <a:sym typeface="Meiryo"/>
              </a:rPr>
              <a:t>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
        <p:nvSpPr>
          <p:cNvPr id="75" name="ツールの位置づけ"/>
          <p:cNvSpPr/>
          <p:nvPr/>
        </p:nvSpPr>
        <p:spPr>
          <a:xfrm>
            <a:off x="3749039" y="1316736"/>
            <a:ext cx="1371600" cy="484632"/>
          </a:xfrm>
          <a:prstGeom prst="rect">
            <a:avLst/>
          </a:prstGeom>
          <a:solidFill>
            <a:srgbClr val="FFFFFF"/>
          </a:solidFill>
          <a:ln w="19050">
            <a:solidFill>
              <a:srgbClr val="1F2A5C"/>
            </a:solidFill>
          </a:ln>
        </p:spPr>
        <p:txBody>
          <a:bodyPr wrap="square" lIns="45720" tIns="18288" rIns="45720"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任意・導入推奨</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300" dirty="0">
                <a:latin typeface="メイリオ"/>
                <a:ea typeface="メイリオ"/>
                <a:cs typeface="メイリオ"/>
                <a:sym typeface="Meiryo"/>
              </a:rPr>
              <a:t>予約後のLINE誘導を自動化し、開催時期の友だち数を上積み</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
        <p:nvSpPr>
          <p:cNvPr id="1055" name="ツールの位置づけ"/>
          <p:cNvSpPr/>
          <p:nvPr/>
        </p:nvSpPr>
        <p:spPr>
          <a:xfrm>
            <a:off x="7269480" y="841248"/>
            <a:ext cx="1463040" cy="484632"/>
          </a:xfrm>
          <a:prstGeom prst="rect">
            <a:avLst/>
          </a:prstGeom>
          <a:solidFill>
            <a:srgbClr val="FFFFFF"/>
          </a:solidFill>
          <a:ln w="19050">
            <a:solidFill>
              <a:srgbClr val="1F2A5C"/>
            </a:solidFill>
          </a:ln>
        </p:spPr>
        <p:txBody>
          <a:bodyPr wrap="square" lIns="45720" tIns="18288" rIns="45720"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追加オプション</a:t>
            </a:r>
            <a:endParaRPr lang="ja-JP" altLang="en-US" sz="1200" dirty="0">
              <a:latin typeface="メイリオ"/>
              <a:ea typeface="メイリオ"/>
              <a:cs typeface="メイリオ"/>
            </a:endParaRPr>
          </a:p>
        </p:txBody>
      </p:sp>
      <p:sp>
        <p:nvSpPr>
          <p:cNvPr id="1056" name="追加オプションの注記"/>
          <p:cNvSpPr/>
          <p:nvPr/>
        </p:nvSpPr>
        <p:spPr>
          <a:xfrm>
            <a:off x="5486400" y="6272784"/>
            <a:ext cx="4023360" cy="201168"/>
          </a:xfrm>
          <a:prstGeom prst="rect">
            <a:avLst/>
          </a:prstGeom>
          <a:noFill/>
          <a:ln>
            <a:noFill/>
          </a:ln>
        </p:spPr>
        <p:txBody>
          <a:bodyPr wrap="square" lIns="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※最低利用期間・停止条件は確認のうえご案内</a:t>
            </a:r>
            <a:endParaRPr lang="ja-JP" altLang="en-US" sz="1200" dirty="0">
              <a:latin typeface="メイリオ"/>
              <a:ea typeface="メイリオ"/>
              <a:cs typeface="メイリオ"/>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LINE友だち追加～15日を境に大きくアクティブ率が下がる（ブロック率が上がる）</a:t>
            </a:r>
          </a:p>
          <a:p>
            <a:r>
              <a:rPr lang="ja-JP" altLang="en-US" sz="1600" b="1" dirty="0">
                <a:latin typeface="メイリオ" panose="020B0604030504040204" pitchFamily="50" charset="-128"/>
                <a:ea typeface="メイリオ" panose="020B0604030504040204" pitchFamily="50" charset="-128"/>
                <a:cs typeface="メイリオ"/>
                <a:sym typeface="Meiryo"/>
              </a:rPr>
              <a:t>為、段階に合わせて配信を変え、イベントの無い時期は回数を絞る。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友だち追加直後のステップ配信（5通・案）</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追加直後の関心が高いうちに、セミナーの中身と参加の判断材料を届ける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ステップ 追加直後"/>
          <p:cNvSpPr/>
          <p:nvPr/>
        </p:nvSpPr>
        <p:spPr>
          <a:xfrm>
            <a:off x="420624"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追加直後</a:t>
            </a:r>
            <a:endParaRPr lang="ja-JP" altLang="en-US" sz="1200" dirty="0">
              <a:latin typeface="メイリオ"/>
              <a:ea typeface="メイリオ"/>
              <a:cs typeface="メイリオ"/>
            </a:endParaRPr>
          </a:p>
        </p:txBody>
      </p:sp>
      <p:sp>
        <p:nvSpPr>
          <p:cNvPr id="51" name="配信 追加直後"/>
          <p:cNvSpPr/>
          <p:nvPr/>
        </p:nvSpPr>
        <p:spPr>
          <a:xfrm>
            <a:off x="420624"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あいさつ・参加特典</a:t>
            </a:r>
            <a:endParaRPr lang="ja-JP" altLang="en-US" sz="1200" dirty="0">
              <a:latin typeface="メイリオ"/>
              <a:ea typeface="メイリオ"/>
              <a:cs typeface="メイリオ"/>
            </a:endParaRPr>
          </a:p>
        </p:txBody>
      </p:sp>
      <p:sp>
        <p:nvSpPr>
          <p:cNvPr id="52" name="内容 追加直後"/>
          <p:cNvSpPr/>
          <p:nvPr/>
        </p:nvSpPr>
        <p:spPr>
          <a:xfrm>
            <a:off x="420624"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参加特典をご案内。必要に応じて、興味分野を1問で確認（保険営業の方向け／一般の方向け）</a:t>
            </a:r>
            <a:endParaRPr lang="ja-JP" altLang="en-US" sz="1200" dirty="0">
              <a:latin typeface="メイリオ"/>
              <a:ea typeface="メイリオ"/>
              <a:cs typeface="メイリオ"/>
            </a:endParaRPr>
          </a:p>
        </p:txBody>
      </p:sp>
      <p:sp>
        <p:nvSpPr>
          <p:cNvPr id="53" name="ステップ 1〜2日後"/>
          <p:cNvSpPr/>
          <p:nvPr/>
        </p:nvSpPr>
        <p:spPr>
          <a:xfrm>
            <a:off x="2258568"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1〜2日後</a:t>
            </a:r>
            <a:endParaRPr lang="ja-JP" altLang="en-US" sz="1200" dirty="0">
              <a:latin typeface="メイリオ"/>
              <a:ea typeface="メイリオ"/>
              <a:cs typeface="メイリオ"/>
            </a:endParaRPr>
          </a:p>
        </p:txBody>
      </p:sp>
      <p:sp>
        <p:nvSpPr>
          <p:cNvPr id="54" name="配信 1〜2日後"/>
          <p:cNvSpPr/>
          <p:nvPr/>
        </p:nvSpPr>
        <p:spPr>
          <a:xfrm>
            <a:off x="2258568"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見どころ動画</a:t>
            </a:r>
            <a:endParaRPr lang="ja-JP" altLang="en-US" sz="1200" dirty="0">
              <a:latin typeface="メイリオ"/>
              <a:ea typeface="メイリオ"/>
              <a:cs typeface="メイリオ"/>
            </a:endParaRPr>
          </a:p>
        </p:txBody>
      </p:sp>
      <p:sp>
        <p:nvSpPr>
          <p:cNvPr id="55" name="内容 1〜2日後"/>
          <p:cNvSpPr/>
          <p:nvPr/>
        </p:nvSpPr>
        <p:spPr>
          <a:xfrm>
            <a:off x="2258568"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両想い営業・ライフプランブロックなど、セミナーの見どころを動画で紹介</a:t>
            </a:r>
            <a:endParaRPr lang="ja-JP" altLang="en-US" sz="1200" dirty="0">
              <a:latin typeface="メイリオ"/>
              <a:ea typeface="メイリオ"/>
              <a:cs typeface="メイリオ"/>
            </a:endParaRPr>
          </a:p>
        </p:txBody>
      </p:sp>
      <p:sp>
        <p:nvSpPr>
          <p:cNvPr id="56" name="ステップ 4〜5日後"/>
          <p:cNvSpPr/>
          <p:nvPr/>
        </p:nvSpPr>
        <p:spPr>
          <a:xfrm>
            <a:off x="4096512"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4〜5日後</a:t>
            </a:r>
            <a:endParaRPr lang="ja-JP" altLang="en-US" sz="1200" dirty="0">
              <a:latin typeface="メイリオ"/>
              <a:ea typeface="メイリオ"/>
              <a:cs typeface="メイリオ"/>
            </a:endParaRPr>
          </a:p>
        </p:txBody>
      </p:sp>
      <p:sp>
        <p:nvSpPr>
          <p:cNvPr id="57" name="配信 4〜5日後"/>
          <p:cNvSpPr/>
          <p:nvPr/>
        </p:nvSpPr>
        <p:spPr>
          <a:xfrm>
            <a:off x="4096512"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p:txBody>
      </p:sp>
      <p:sp>
        <p:nvSpPr>
          <p:cNvPr id="58" name="内容 4〜5日後"/>
          <p:cNvSpPr/>
          <p:nvPr/>
        </p:nvSpPr>
        <p:spPr>
          <a:xfrm>
            <a:off x="4096512"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面談の進め方が変わった受講生の声を紹介</a:t>
            </a:r>
            <a:endParaRPr lang="ja-JP" altLang="en-US" sz="1200" dirty="0">
              <a:latin typeface="メイリオ"/>
              <a:ea typeface="メイリオ"/>
              <a:cs typeface="メイリオ"/>
            </a:endParaRPr>
          </a:p>
        </p:txBody>
      </p:sp>
      <p:sp>
        <p:nvSpPr>
          <p:cNvPr id="59" name="ステップ 8〜9日後"/>
          <p:cNvSpPr/>
          <p:nvPr/>
        </p:nvSpPr>
        <p:spPr>
          <a:xfrm>
            <a:off x="5934456"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8〜9日後</a:t>
            </a:r>
            <a:endParaRPr lang="ja-JP" altLang="en-US" sz="1200" dirty="0">
              <a:latin typeface="メイリオ"/>
              <a:ea typeface="メイリオ"/>
              <a:cs typeface="メイリオ"/>
            </a:endParaRPr>
          </a:p>
        </p:txBody>
      </p:sp>
      <p:sp>
        <p:nvSpPr>
          <p:cNvPr id="60" name="配信 8〜9日後"/>
          <p:cNvSpPr/>
          <p:nvPr/>
        </p:nvSpPr>
        <p:spPr>
          <a:xfrm>
            <a:off x="5934456"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61" name="内容 8〜9日後"/>
          <p:cNvSpPr/>
          <p:nvPr/>
        </p:nvSpPr>
        <p:spPr>
          <a:xfrm>
            <a:off x="5934456"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62" name="ステップ 12〜15日後"/>
          <p:cNvSpPr/>
          <p:nvPr/>
        </p:nvSpPr>
        <p:spPr>
          <a:xfrm>
            <a:off x="7772400"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12〜15日後</a:t>
            </a:r>
            <a:endParaRPr lang="ja-JP" altLang="en-US" sz="1200" dirty="0">
              <a:latin typeface="メイリオ"/>
              <a:ea typeface="メイリオ"/>
              <a:cs typeface="メイリオ"/>
            </a:endParaRPr>
          </a:p>
        </p:txBody>
      </p:sp>
      <p:sp>
        <p:nvSpPr>
          <p:cNvPr id="63" name="配信 12〜15日後"/>
          <p:cNvSpPr/>
          <p:nvPr/>
        </p:nvSpPr>
        <p:spPr>
          <a:xfrm>
            <a:off x="7772400"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次回セミナーのご案内</a:t>
            </a:r>
            <a:endParaRPr lang="ja-JP" altLang="en-US" sz="1200" dirty="0">
              <a:latin typeface="メイリオ"/>
              <a:ea typeface="メイリオ"/>
              <a:cs typeface="メイリオ"/>
            </a:endParaRPr>
          </a:p>
        </p:txBody>
      </p:sp>
      <p:sp>
        <p:nvSpPr>
          <p:cNvPr id="64" name="内容 12〜15日後"/>
          <p:cNvSpPr/>
          <p:nvPr/>
        </p:nvSpPr>
        <p:spPr>
          <a:xfrm>
            <a:off x="7772400"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開催日程と予約ページをご案内（募集期間外は、案内開始時にお届け）</a:t>
            </a:r>
            <a:endParaRPr lang="ja-JP" altLang="en-US" sz="1200" dirty="0">
              <a:latin typeface="メイリオ"/>
              <a:ea typeface="メイリオ"/>
              <a:cs typeface="メイリオ"/>
            </a:endParaRPr>
          </a:p>
        </p:txBody>
      </p:sp>
      <p:sp>
        <p:nvSpPr>
          <p:cNvPr id="65" name="注記"/>
          <p:cNvSpPr/>
          <p:nvPr/>
        </p:nvSpPr>
        <p:spPr>
          <a:xfrm>
            <a:off x="420624" y="461772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※配信内容は、貴社LPの「生産性4倍セミナーの特徴」「受講生の声」「よくある質問」をもとにした例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※一般の方向けを選んだ方には、一般の方向けの案内を中心に配信</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※前後検索のデータを取得後、内容・順番を見直す</a:t>
            </a:r>
            <a:endParaRPr lang="ja-JP" altLang="en-US" sz="1200" dirty="0">
              <a:latin typeface="メイリオ"/>
              <a:ea typeface="メイリオ"/>
              <a:cs typeface="メイリオ"/>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参加後のフォローアップ：関心が高いうちに、入会の判断材料を届ける</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参加直後と参加後30〜60日に、サロンの内容と入会方法をお届けする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091185"/>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配信内容（例）</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200">
                <a:solidFill>
                  <a:srgbClr val="FFFFFF"/>
                </a:solidFill>
                <a:latin typeface="メイリオ"/>
                <a:ea typeface="メイリオ"/>
                <a:cs typeface="メイリオ"/>
              </a:rPr>
              <a:t>熱が高いうちに、サロンをご案内</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200">
                <a:solidFill>
                  <a:srgbClr val="FFFFFF"/>
                </a:solidFill>
                <a:latin typeface="メイリオ"/>
                <a:ea typeface="メイリオ"/>
                <a:cs typeface="メイリオ"/>
              </a:rPr>
              <a:t>迷っている方へ、成果と続け方を届ける</a:t>
            </a:r>
          </a:p>
        </p:txBody>
      </p:sp>
      <p:sp>
        <p:nvSpPr>
          <p:cNvPr id="12" name="配信内容"/>
          <p:cNvSpPr/>
          <p:nvPr/>
        </p:nvSpPr>
        <p:spPr>
          <a:xfrm>
            <a:off x="548640"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セミナーの振り返り</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両想い営業・ライフプランブロックの要点をおさらい</a:t>
            </a:r>
            <a:endParaRPr lang="ja-JP" altLang="en-US" sz="1200" dirty="0">
              <a:latin typeface="メイリオ"/>
              <a:ea typeface="メイリオ"/>
              <a:cs typeface="メイリオ"/>
            </a:endParaRPr>
          </a:p>
        </p:txBody>
      </p:sp>
      <p:cxnSp>
        <p:nvCxnSpPr>
          <p:cNvPr id="13" name="Connector 12"/>
          <p:cNvCxnSpPr/>
          <p:nvPr/>
        </p:nvCxnSpPr>
        <p:spPr>
          <a:xfrm>
            <a:off x="548640" y="2993136"/>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配信内容"/>
          <p:cNvSpPr/>
          <p:nvPr/>
        </p:nvSpPr>
        <p:spPr>
          <a:xfrm>
            <a:off x="548640"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「契約で頭がいっぱい」だった方が、個人保険でTOT</a:t>
            </a:r>
            <a:endParaRPr lang="ja-JP" altLang="en-US" sz="1200" dirty="0">
              <a:latin typeface="メイリオ"/>
              <a:ea typeface="メイリオ"/>
              <a:cs typeface="メイリオ"/>
            </a:endParaRPr>
          </a:p>
        </p:txBody>
      </p:sp>
      <p:cxnSp>
        <p:nvCxnSpPr>
          <p:cNvPr id="15" name="Connector 14"/>
          <p:cNvCxnSpPr/>
          <p:nvPr/>
        </p:nvCxnSpPr>
        <p:spPr>
          <a:xfrm>
            <a:off x="548640" y="3669793"/>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配信内容"/>
          <p:cNvSpPr/>
          <p:nvPr/>
        </p:nvSpPr>
        <p:spPr>
          <a:xfrm>
            <a:off x="548640"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ライフプランブロックは、サロンの方だけが使える</a:t>
            </a:r>
            <a:endParaRPr lang="ja-JP" altLang="en-US" sz="1200" dirty="0">
              <a:latin typeface="メイリオ"/>
              <a:ea typeface="メイリオ"/>
              <a:cs typeface="メイリオ"/>
            </a:endParaRPr>
          </a:p>
        </p:txBody>
      </p:sp>
      <p:sp>
        <p:nvSpPr>
          <p:cNvPr id="17" name="配信内容"/>
          <p:cNvSpPr/>
          <p:nvPr/>
        </p:nvSpPr>
        <p:spPr>
          <a:xfrm>
            <a:off x="5129783"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ロープレ動画で面談を振り返り、TOTを達成</a:t>
            </a:r>
            <a:endParaRPr lang="ja-JP" altLang="en-US" sz="1200" dirty="0">
              <a:latin typeface="メイリオ"/>
              <a:ea typeface="メイリオ"/>
              <a:cs typeface="メイリオ"/>
            </a:endParaRPr>
          </a:p>
        </p:txBody>
      </p:sp>
      <p:cxnSp>
        <p:nvCxnSpPr>
          <p:cNvPr id="18" name="Connector 17"/>
          <p:cNvCxnSpPr/>
          <p:nvPr/>
        </p:nvCxnSpPr>
        <p:spPr>
          <a:xfrm>
            <a:off x="5129783" y="2993136"/>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配信内容"/>
          <p:cNvSpPr/>
          <p:nvPr/>
        </p:nvSpPr>
        <p:spPr>
          <a:xfrm>
            <a:off x="5129783"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講師メッセージ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毎日遅くまで働いた頃から、働く時間を半分以下に</a:t>
            </a:r>
            <a:endParaRPr lang="ja-JP" altLang="en-US" sz="1200" dirty="0">
              <a:latin typeface="メイリオ"/>
              <a:ea typeface="メイリオ"/>
              <a:cs typeface="メイリオ"/>
            </a:endParaRPr>
          </a:p>
        </p:txBody>
      </p:sp>
      <p:cxnSp>
        <p:nvCxnSpPr>
          <p:cNvPr id="20" name="Connector 19"/>
          <p:cNvCxnSpPr/>
          <p:nvPr/>
        </p:nvCxnSpPr>
        <p:spPr>
          <a:xfrm>
            <a:off x="5129783" y="3669793"/>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配信内容"/>
          <p:cNvSpPr/>
          <p:nvPr/>
        </p:nvSpPr>
        <p:spPr>
          <a:xfrm>
            <a:off x="5129783"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次のセミナーのご案内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次回の日程と、サロン入会のお申込み方法</a:t>
            </a:r>
            <a:endParaRPr lang="ja-JP" altLang="en-US" sz="1200" dirty="0">
              <a:latin typeface="メイリオ"/>
              <a:ea typeface="メイリオ"/>
              <a:cs typeface="メイリオ"/>
            </a:endParaRPr>
          </a:p>
        </p:txBody>
      </p:sp>
      <p:sp>
        <p:nvSpPr>
          <p:cNvPr id="22" name="注記"/>
          <p:cNvSpPr/>
          <p:nvPr/>
        </p:nvSpPr>
        <p:spPr>
          <a:xfrm>
            <a:off x="457200" y="5916168"/>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※参加した方を判別できる場合に、その情報を活用して配信（自動で判別できるかは、予約システム等との連携の可否による）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※配信内容は、貴社LPの「受講生の声」「講師メッセージ」「よくある質問」「講師紹介」をもとにした例</a:t>
            </a:r>
            <a:endParaRPr lang="ja-JP" altLang="en-US" sz="1200" dirty="0">
              <a:latin typeface="メイリオ"/>
              <a:ea typeface="メイリオ"/>
              <a:cs typeface="メイリオ"/>
            </a:endParaRPr>
          </a:p>
        </p:txBody>
      </p:sp>
      <p:sp>
        <p:nvSpPr>
          <p:cNvPr id="23" name="ほかの配信案"/>
          <p:cNvSpPr/>
          <p:nvPr/>
        </p:nvSpPr>
        <p:spPr>
          <a:xfrm>
            <a:off x="457200" y="4474463"/>
            <a:ext cx="9052560" cy="292608"/>
          </a:xfrm>
          <a:prstGeom prst="rect">
            <a:avLst/>
          </a:prstGeom>
          <a:noFill/>
          <a:ln>
            <a:noFill/>
          </a:ln>
        </p:spPr>
        <p:txBody>
          <a:bodyPr wrap="square" lIns="91440" tIns="0" rIns="0" bIns="0"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他の案</a:t>
            </a:r>
            <a:endParaRPr lang="ja-JP" altLang="en-US" sz="1200" dirty="0">
              <a:latin typeface="メイリオ"/>
              <a:ea typeface="メイリオ"/>
              <a:cs typeface="メイリオ"/>
            </a:endParaRPr>
          </a:p>
        </p:txBody>
      </p:sp>
      <p:sp>
        <p:nvSpPr>
          <p:cNvPr id="24" name="ほかの配信案 項目"/>
          <p:cNvSpPr/>
          <p:nvPr/>
        </p:nvSpPr>
        <p:spPr>
          <a:xfrm>
            <a:off x="457200" y="4767071"/>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25" name="ほかの配信案 内容"/>
          <p:cNvSpPr/>
          <p:nvPr/>
        </p:nvSpPr>
        <p:spPr>
          <a:xfrm>
            <a:off x="2377440" y="4767071"/>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次のセミナーの案内に添える</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26" name="ほかの配信案 項目"/>
          <p:cNvSpPr/>
          <p:nvPr/>
        </p:nvSpPr>
        <p:spPr>
          <a:xfrm>
            <a:off x="457200" y="5352287"/>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講師紹介</a:t>
            </a:r>
            <a:endParaRPr lang="ja-JP" altLang="en-US" sz="1200" dirty="0">
              <a:latin typeface="メイリオ"/>
              <a:ea typeface="メイリオ"/>
              <a:cs typeface="メイリオ"/>
            </a:endParaRPr>
          </a:p>
        </p:txBody>
      </p:sp>
      <p:sp>
        <p:nvSpPr>
          <p:cNvPr id="27" name="ほかの配信案 内容"/>
          <p:cNvSpPr/>
          <p:nvPr/>
        </p:nvSpPr>
        <p:spPr>
          <a:xfrm>
            <a:off x="2377440" y="5352287"/>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入会を迷っている方へ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谷岡さんの経歴：契約件数全国1位で表彰・週2日の営業で毎年TOT</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396800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運用体制・スケジュール</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導入前に確認させていただきたい事項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契約前に確認する事項と、運用開始後に調整できる事項を分けて整理する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確認事項 49"/>
          <p:cNvGraphicFramePr>
            <a:graphicFrameLocks noGrp="1"/>
          </p:cNvGraphicFramePr>
          <p:nvPr/>
        </p:nvGraphicFramePr>
        <p:xfrm>
          <a:off x="420624" y="1600200"/>
          <a:ext cx="9052560" cy="3995928"/>
        </p:xfrm>
        <a:graphic>
          <a:graphicData uri="http://schemas.openxmlformats.org/drawingml/2006/table">
            <a:tbl>
              <a:tblPr/>
              <a:tblGrid>
                <a:gridCol w="1371600"/>
                <a:gridCol w="2286000"/>
                <a:gridCol w="5394960"/>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区分</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確認させていただきたいこと</a:t>
                      </a:r>
                      <a:endParaRPr lang="ja-JP" altLang="en-US" sz="1300" dirty="0">
                        <a:latin typeface="メイリオ"/>
                        <a:ea typeface="メイリオ"/>
                        <a:cs typeface="メイリオ"/>
                      </a:endParaRPr>
                    </a:p>
                  </a:txBody>
                  <a:tcPr marL="109728" marR="91440"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r>
              <a:tr h="566928">
                <a:tc rowSpan="5">
                  <a:txBody>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契約前に確認</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予約・参加情報との紐づけ</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予約システム・フォーム・顧客管理の情報と、LINEの友だちを紐づけられるか（難しい場合は流入経路での出し分け・全体配信が基本）</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vMerge="1">
                  <a:txBody>
                    <a:bodyPr/>
                    <a:lstStyle/>
                    <a:p>
                      <a:pPr algn="ctr">
                        <a:buNone/>
                      </a:pP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サンクスLINE誘導の導入</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導入するかどうか。導入する場合は、最低利用期間・停止条件（セミナー開催月だけの利用可否）</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11480">
                <a:tc vMerge="1">
                  <a:txBody>
                    <a:bodyPr/>
                    <a:lstStyle/>
                    <a:p>
                      <a:pPr algn="ctr">
                        <a:buNone/>
                      </a:pP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通常の友だち追加ボタン</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予約完了ページへの設置可否・費用・実装条件</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vMerge="1">
                  <a:txBody>
                    <a:bodyPr/>
                    <a:lstStyle/>
                    <a:p>
                      <a:pPr algn="ctr">
                        <a:buNone/>
                      </a:pP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SIMと成果の計測方法</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セミナー予約・サロン入会を、LINEからの件数とするか、広告からの予約も含めるか</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vMerge="1">
                  <a:txBody>
                    <a:bodyPr/>
                    <a:lstStyle/>
                    <a:p>
                      <a:pPr algn="ctr">
                        <a:buNone/>
                      </a:pP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成果報酬型プラン（別案）</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成果地点の定義・重複計上の有無・計測方法（成果報酬単価 12,000円／件）</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rowSpan="3">
                  <a:txBody>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運用開始後に調整</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一般の方向けセミナー</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同じLINE公式アカウントでの配信の出し分け（流入経路の分け方・配信内容）</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411480">
                <a:tc vMerge="1">
                  <a:txBody>
                    <a:bodyPr/>
                    <a:lstStyle/>
                    <a:p>
                      <a:pPr algn="ctr">
                        <a:buNone/>
                      </a:pP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平常期の配信</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月1〜2回の範囲での回数・内容</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r h="411480">
                <a:tc vMerge="1">
                  <a:txBody>
                    <a:bodyPr/>
                    <a:lstStyle/>
                    <a:p>
                      <a:pPr algn="ctr">
                        <a:buNone/>
                      </a:pP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興味分野の確認</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友だち追加直後の簡易アンケートを入れるかどうか（必要最小限の1問程度）</a:t>
                      </a:r>
                      <a:endParaRPr lang="ja-JP" altLang="en-US" sz="1200" dirty="0">
                        <a:latin typeface="メイリオ"/>
                        <a:ea typeface="メイリオ"/>
                        <a:cs typeface="メイリオ"/>
                      </a:endParaRPr>
                    </a:p>
                  </a:txBody>
                  <a:tcPr marL="109728"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r>
            </a:tbl>
          </a:graphicData>
        </a:graphic>
      </p:graphicFrame>
      <p:sp>
        <p:nvSpPr>
          <p:cNvPr id="51" name="注記"/>
          <p:cNvSpPr/>
          <p:nvPr/>
        </p:nvSpPr>
        <p:spPr>
          <a:xfrm>
            <a:off x="420624" y="580644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※データ連携が必要な高度な施策は、別途要件定義・お見積りのうえ実施</a:t>
            </a:r>
            <a:endParaRPr lang="ja-JP" altLang="en-US" sz="1200" dirty="0">
              <a:latin typeface="メイリオ"/>
              <a:ea typeface="メイリオ"/>
              <a:cs typeface="メイリオ"/>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ツール導入・連携の設定 / 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3566160" y="5841409"/>
            <a:ext cx="6099048"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※契約期間は6か月。貴社作業・確認にかかる時間により前後する可能性がございます。</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46" name="正方形/長方形 2"/>
          <p:cNvSpPr/>
          <p:nvPr/>
        </p:nvSpPr>
        <p:spPr>
          <a:xfrm>
            <a:off x="7902506" y="2743200"/>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ツールの選択</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実装条件の確認</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（サンクスLINE誘導の</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契約・停止条件）</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1214348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補足資料・その他サービス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LINEステップ配信シナリオ（5通）</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友だち追加直後〜セミナー予約まで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興味分野の把握（簡易アンケート）</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流入経路・興味分野に応じた配信の出し分け</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効果計測・改善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配信ごとの開封・クリック・予約を確認し、次の配信に反映</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セミナー開催月・平常期の企画配信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開催月は月4〜5回、平常期は月1〜2回の配信案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142239</TotalTime>
  <Words>6597</Words>
  <Application>Microsoft Office PowerPoint</Application>
  <PresentationFormat>A4 210 x 297 mm</PresentationFormat>
  <Paragraphs>1355</Paragraphs>
  <Slides>63</Slides>
  <Notes>29</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63</vt:i4>
      </vt:variant>
    </vt:vector>
  </HeadingPairs>
  <TitlesOfParts>
    <vt:vector size="69"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1951</cp:revision>
  <cp:lastPrinted>2022-11-01T11:38:14Z</cp:lastPrinted>
  <dcterms:created xsi:type="dcterms:W3CDTF">2015-09-04T09:21:15Z</dcterms:created>
  <dcterms:modified xsi:type="dcterms:W3CDTF">2026-10-20T07:51:33Z</dcterms:modified>
</cp:coreProperties>
</file>