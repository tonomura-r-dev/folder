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88" r:id="rId4"/>
    <p:sldId id="2972" r:id="rId5"/>
    <p:sldId id="2971" r:id="rId6"/>
    <p:sldId id="2736" r:id="rId7"/>
    <p:sldId id="2976" r:id="rId8"/>
    <p:sldId id="3026" r:id="rId9"/>
    <p:sldId id="2986" r:id="rId10"/>
    <p:sldId id="2975" r:id="rId11"/>
    <p:sldId id="2985" r:id="rId12"/>
    <p:sldId id="3004" r:id="rId13"/>
    <p:sldId id="2761" r:id="rId14"/>
    <p:sldId id="3021" r:id="rId15"/>
    <p:sldId id="3008" r:id="rId16"/>
    <p:sldId id="2737" r:id="rId17"/>
    <p:sldId id="2979" r:id="rId18"/>
    <p:sldId id="3006" r:id="rId19"/>
    <p:sldId id="3027" r:id="rId20"/>
    <p:sldId id="2989" r:id="rId21"/>
    <p:sldId id="3015" r:id="rId22"/>
    <p:sldId id="3013" r:id="rId23"/>
    <p:sldId id="2957" r:id="rId24"/>
    <p:sldId id="3022" r:id="rId25"/>
    <p:sldId id="3031" r:id="rId26"/>
    <p:sldId id="3023" r:id="rId27"/>
    <p:sldId id="3024" r:id="rId28"/>
    <p:sldId id="3019" r:id="rId29"/>
    <p:sldId id="3032" r:id="rId30"/>
    <p:sldId id="3028" r:id="rId31"/>
    <p:sldId id="2970" r:id="rId32"/>
    <p:sldId id="2959" r:id="rId33"/>
    <p:sldId id="3025" r:id="rId34"/>
    <p:sldId id="2966" r:id="rId35"/>
    <p:sldId id="3029" r:id="rId36"/>
    <p:sldId id="3011" r:id="rId37"/>
    <p:sldId id="2734" r:id="rId38"/>
    <p:sldId id="2595" r:id="rId39"/>
    <p:sldId id="2566" r:id="rId40"/>
    <p:sldId id="2915" r:id="rId41"/>
    <p:sldId id="3030" r:id="rId42"/>
    <p:sldId id="2619" r:id="rId43"/>
    <p:sldId id="1169" r:id="rId44"/>
    <p:sldId id="2961" r:id="rId45"/>
    <p:sldId id="2908" r:id="rId46"/>
    <p:sldId id="2935" r:id="rId47"/>
    <p:sldId id="2919" r:id="rId48"/>
    <p:sldId id="2519" r:id="rId49"/>
    <p:sldId id="2931" r:id="rId50"/>
    <p:sldId id="2749" r:id="rId51"/>
    <p:sldId id="2950" r:id="rId52"/>
    <p:sldId id="2563" r:id="rId53"/>
    <p:sldId id="2968" r:id="rId54"/>
    <p:sldId id="2969" r:id="rId55"/>
    <p:sldId id="2951" r:id="rId56"/>
    <p:sldId id="2841" r:id="rId57"/>
    <p:sldId id="2849" r:id="rId58"/>
    <p:sldId id="2904" r:id="rId59"/>
    <p:sldId id="2905" r:id="rId60"/>
    <p:sldId id="2906" r:id="rId61"/>
    <p:sldId id="2907" r:id="rId62"/>
    <p:sldId id="2575" r:id="rId63"/>
    <p:sldId id="2910" r:id="rId6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handoutMaster" Target="handoutMasters/handout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68803-9F0E-9C31-9560-2094718579F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9DBAC0-C8E1-8C5B-7FC3-E2F967DE37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C9E6ECD-81E8-9621-C097-7F38D3F575C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0567096-EE1C-9444-DCCA-A268D8AAC4E0}"/>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686084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93DA-F068-C7F5-5FEB-7A94DD8867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0B680EF-CF86-D787-518D-CA5960A564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DA54E59-6FD5-42C5-308A-B0701935BFB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4931D7D-5F42-F5B5-3683-5A2F0031C5B6}"/>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2180266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966-D000-6EA3-BAC7-8246A8124F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3751AD-7833-5352-F3CD-93BF48718D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713479-1F1B-7F88-B85D-7A35CA42650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D17977F-8BEB-2B1C-1C7A-1D7AA1F05039}"/>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4278962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eg"/><Relationship Id="rId2" Type="http://schemas.openxmlformats.org/officeDocument/2006/relationships/image" Target="../media/image15.jp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hyperlink" Target="https://youtube.com/shorts/0qI4QgrOppQ" TargetMode="External"/><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45.jpeg"/><Relationship Id="rId3" Type="http://schemas.openxmlformats.org/officeDocument/2006/relationships/image" Target="../media/image3.emf"/><Relationship Id="rId7" Type="http://schemas.openxmlformats.org/officeDocument/2006/relationships/image" Target="../media/image44.jpe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3.jpeg"/><Relationship Id="rId5" Type="http://schemas.openxmlformats.org/officeDocument/2006/relationships/image" Target="../media/image42.jpeg"/><Relationship Id="rId4" Type="http://schemas.openxmlformats.org/officeDocument/2006/relationships/image" Target="../media/image41.jpe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48.svg"/><Relationship Id="rId4" Type="http://schemas.openxmlformats.org/officeDocument/2006/relationships/image" Target="../media/image47.sv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53.jpe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5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5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現状把握・課題</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80906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という特性から、</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見込み客との継続的な接点として活用できる。</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保険営業の方は毎年約24万人。会える回数が減るなか、成果を出すやり方へのニーズは続く</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nvGraphicFramePr>
        <p:xfrm>
          <a:off x="420624" y="1645920"/>
          <a:ext cx="9052560" cy="2697480"/>
        </p:xfrm>
        <a:graphic>
          <a:graphicData uri="http://schemas.openxmlformats.org/drawingml/2006/table">
            <a:tbl>
              <a:tblPr/>
              <a:tblGrid>
                <a:gridCol w="19202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7724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営業職員数</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約24万人で、5年間ほぼ横ばい（2020年度 248,601人 → 2024年度 241,507人）</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毎年ほぼ同じ規模の方が、営業を続けている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保険の加入経路</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加入経路のうち「生命保険会社の営業職員」が56.7%（2024年調査）</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保険の加入は、今も営業職員が中心。営業力を上げたいニーズは続く</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77724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お客様との接触回数</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会える回数が減り、限られた面談で成果を出すやり方が求められている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1" name="示唆 線"/>
          <p:cNvSpPr/>
          <p:nvPr/>
        </p:nvSpPr>
        <p:spPr>
          <a:xfrm>
            <a:off x="420624" y="4434840"/>
            <a:ext cx="64008" cy="914400"/>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p>
        </p:txBody>
      </p:sp>
      <p:sp>
        <p:nvSpPr>
          <p:cNvPr id="52" name="示唆"/>
          <p:cNvSpPr/>
          <p:nvPr/>
        </p:nvSpPr>
        <p:spPr>
          <a:xfrm>
            <a:off x="484632" y="4434840"/>
            <a:ext cx="8988552" cy="91440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貴社の「週2日で成果を出す面談メソッド」は、このニーズに合う。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広告で集めた方と、LINEで次のイベントまでつながり続ける。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※営業職員数：生命保険協会「2025年版 生命保険の動向」／加入経路：生命保険文化センター「2024（令和6）年度 生命保険に関する全国実態調査」</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482478621"/>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1" name="示唆 線"/>
          <p:cNvSpPr/>
          <p:nvPr/>
        </p:nvSpPr>
        <p:spPr>
          <a:xfrm>
            <a:off x="420624" y="4526280"/>
            <a:ext cx="64008" cy="1097280"/>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2" name="示唆"/>
          <p:cNvSpPr/>
          <p:nvPr/>
        </p:nvSpPr>
        <p:spPr>
          <a:xfrm>
            <a:off x="484632" y="4526280"/>
            <a:ext cx="8988552"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
        <p:nvSpPr>
          <p:cNvPr id="53"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※流入経路で分けられない方には、どちらにも当てはまる内容（開催のお知らせなど）を基本に配信</a:t>
            </a:r>
            <a:endParaRPr lang="ja-JP" altLang="en-US" sz="1200" dirty="0">
              <a:latin typeface="メイリオ"/>
              <a:ea typeface="メイリオ"/>
              <a:cs typeface="メイリオ"/>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※R&amp;C保険営業ラボ：R&amp;C株式会社のプレスリリースより。招待制のため、画面は未掲載</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9E4664-0791-AB23-9ACF-A79FA4D2CD1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98A5F44-4DAD-79B8-2CEA-267E86DC8605}"/>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198BB5E6-49E8-E304-2236-96ED9AF800A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88303E2C-F4EF-F0AA-1EF9-E0A01EDFC0E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513D5E39-C6C9-D6C0-5819-C587AA1C50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160D2D1C-9CD0-28D0-3138-8C01E5B887B5}"/>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13B630D1-4FF6-F9C6-E36E-F82FF8BB2858}"/>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1" name="正方形/長方形 10">
            <a:extLst>
              <a:ext uri="{FF2B5EF4-FFF2-40B4-BE49-F238E27FC236}">
                <a16:creationId xmlns:a16="http://schemas.microsoft.com/office/drawing/2014/main" id="{3A99C536-4301-F569-61F1-54067CA4AE75}"/>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3" name="正方形/長方形 12">
            <a:extLst>
              <a:ext uri="{FF2B5EF4-FFF2-40B4-BE49-F238E27FC236}">
                <a16:creationId xmlns:a16="http://schemas.microsoft.com/office/drawing/2014/main" id="{5B08C2C6-BF88-EDFE-9307-526D7AB38942}"/>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cxnSp>
        <p:nvCxnSpPr>
          <p:cNvPr id="15" name="直線矢印コネクタ 14">
            <a:extLst>
              <a:ext uri="{FF2B5EF4-FFF2-40B4-BE49-F238E27FC236}">
                <a16:creationId xmlns:a16="http://schemas.microsoft.com/office/drawing/2014/main" id="{56C657A1-149E-41EE-730E-3EAE4C3BA201}"/>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6" name="テキスト ボックス 15">
            <a:extLst>
              <a:ext uri="{FF2B5EF4-FFF2-40B4-BE49-F238E27FC236}">
                <a16:creationId xmlns:a16="http://schemas.microsoft.com/office/drawing/2014/main" id="{E4FE3AE9-35AF-85CD-C2CC-E0CD16851957}"/>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7F3169DD-B4D2-C3B3-E898-796DA8E0ABBE}"/>
              </a:ext>
            </a:extLst>
          </p:cNvPr>
          <p:cNvSpPr/>
          <p:nvPr/>
        </p:nvSpPr>
        <p:spPr>
          <a:xfrm>
            <a:off x="5182016"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9" name="図 8" descr="LINE公式アカウントのロゴを活用しよう！注意点やNG例も合わせて解説 - LINEマーケティングツールFANVO">
            <a:extLst>
              <a:ext uri="{FF2B5EF4-FFF2-40B4-BE49-F238E27FC236}">
                <a16:creationId xmlns:a16="http://schemas.microsoft.com/office/drawing/2014/main" id="{7499D9A1-145E-E266-83BC-3570D5C46C13}"/>
              </a:ext>
            </a:extLst>
          </p:cNvPr>
          <p:cNvPicPr>
            <a:picLocks noChangeAspect="1"/>
          </p:cNvPicPr>
          <p:nvPr/>
        </p:nvPicPr>
        <p:blipFill>
          <a:blip r:embed="rId3"/>
          <a:stretch>
            <a:fillRect/>
          </a:stretch>
        </p:blipFill>
        <p:spPr>
          <a:xfrm>
            <a:off x="4972346" y="1415224"/>
            <a:ext cx="419340" cy="418460"/>
          </a:xfrm>
          <a:prstGeom prst="rect">
            <a:avLst/>
          </a:prstGeom>
        </p:spPr>
      </p:pic>
      <p:sp>
        <p:nvSpPr>
          <p:cNvPr id="12" name="テキスト ボックス 11">
            <a:extLst>
              <a:ext uri="{FF2B5EF4-FFF2-40B4-BE49-F238E27FC236}">
                <a16:creationId xmlns:a16="http://schemas.microsoft.com/office/drawing/2014/main" id="{D510765C-D91E-3EF4-4A1A-9BF832DC8A4C}"/>
              </a:ext>
            </a:extLst>
          </p:cNvPr>
          <p:cNvSpPr txBox="1"/>
          <p:nvPr/>
        </p:nvSpPr>
        <p:spPr>
          <a:xfrm>
            <a:off x="5301604"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8" name="テキスト ボックス 7">
            <a:extLst>
              <a:ext uri="{FF2B5EF4-FFF2-40B4-BE49-F238E27FC236}">
                <a16:creationId xmlns:a16="http://schemas.microsoft.com/office/drawing/2014/main" id="{2D224931-6ECA-9763-63E9-7DD9B080E440}"/>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0" name="四角形: 角を丸くする 9">
            <a:extLst>
              <a:ext uri="{FF2B5EF4-FFF2-40B4-BE49-F238E27FC236}">
                <a16:creationId xmlns:a16="http://schemas.microsoft.com/office/drawing/2014/main" id="{F6D71787-DACF-D927-0AC0-7D5E99A64F29}"/>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9" name="四角形: 角を丸くする 18">
            <a:extLst>
              <a:ext uri="{FF2B5EF4-FFF2-40B4-BE49-F238E27FC236}">
                <a16:creationId xmlns:a16="http://schemas.microsoft.com/office/drawing/2014/main" id="{FCA279C4-C296-61EC-C9D3-DAE41B033D78}"/>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cs typeface="メイリオ"/>
              </a:rPr>
              <a:t>お金周り</a:t>
            </a:r>
          </a:p>
        </p:txBody>
      </p:sp>
      <p:sp>
        <p:nvSpPr>
          <p:cNvPr id="25" name="四角形: 角を丸くする 24">
            <a:extLst>
              <a:ext uri="{FF2B5EF4-FFF2-40B4-BE49-F238E27FC236}">
                <a16:creationId xmlns:a16="http://schemas.microsoft.com/office/drawing/2014/main" id="{F1163350-C485-703A-6504-08D7D75EE71A}"/>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7" name="四角形: 角を丸くする 26">
            <a:extLst>
              <a:ext uri="{FF2B5EF4-FFF2-40B4-BE49-F238E27FC236}">
                <a16:creationId xmlns:a16="http://schemas.microsoft.com/office/drawing/2014/main" id="{575B5195-33B9-6FF0-63AF-D3B0017CCCC2}"/>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6" name="差し込み 前後検索の画像"/>
          <p:cNvSpPr/>
          <p:nvPr/>
        </p:nvSpPr>
        <p:spPr>
          <a:xfrm>
            <a:off x="1312605" y="1893604"/>
            <a:ext cx="7223640" cy="4213792"/>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438123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033BA2-CF45-0DF9-CBDD-A5830E2CF0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F42532B-D77B-6AC3-A328-689E2FC45F9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5D33EAB5-3104-05B5-E501-BBD7DE6AC9F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6F2AE0B-CB02-A8CD-4FB4-B3F45A0A747C}"/>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BA92233F-6BFD-0359-EEDA-BE51C1C483C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8F8E1B34-1AC7-E92D-4681-D5F6A71CFBF4}"/>
              </a:ext>
            </a:extLst>
          </p:cNvPr>
          <p:cNvCxnSpPr>
            <a:cxnSpLocks/>
          </p:cNvCxnSpPr>
          <p:nvPr/>
        </p:nvCxnSpPr>
        <p:spPr>
          <a:xfrm flipV="1">
            <a:off x="807709" y="170990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79E5C2B4-5B91-6669-DA9D-9C6100822D80}"/>
              </a:ext>
            </a:extLst>
          </p:cNvPr>
          <p:cNvSpPr txBox="1"/>
          <p:nvPr/>
        </p:nvSpPr>
        <p:spPr>
          <a:xfrm>
            <a:off x="2151017" y="1491943"/>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22" name="正方形/長方形 21">
            <a:extLst>
              <a:ext uri="{FF2B5EF4-FFF2-40B4-BE49-F238E27FC236}">
                <a16:creationId xmlns:a16="http://schemas.microsoft.com/office/drawing/2014/main" id="{F784DCA2-0206-476A-CC2D-15EA1A5F9515}"/>
              </a:ext>
            </a:extLst>
          </p:cNvPr>
          <p:cNvSpPr/>
          <p:nvPr/>
        </p:nvSpPr>
        <p:spPr>
          <a:xfrm>
            <a:off x="920090" y="1468481"/>
            <a:ext cx="1397216"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キーワード</a:t>
            </a:r>
          </a:p>
        </p:txBody>
      </p:sp>
      <p:sp>
        <p:nvSpPr>
          <p:cNvPr id="13" name="正方形/長方形 12">
            <a:extLst>
              <a:ext uri="{FF2B5EF4-FFF2-40B4-BE49-F238E27FC236}">
                <a16:creationId xmlns:a16="http://schemas.microsoft.com/office/drawing/2014/main" id="{61C146B2-09C1-EAF2-AA90-D6921017547B}"/>
              </a:ext>
            </a:extLst>
          </p:cNvPr>
          <p:cNvSpPr/>
          <p:nvPr/>
        </p:nvSpPr>
        <p:spPr>
          <a:xfrm>
            <a:off x="1090344"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前</a:t>
            </a:r>
            <a:r>
              <a:rPr kumimoji="1"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6" name="正方形/長方形 15">
            <a:extLst>
              <a:ext uri="{FF2B5EF4-FFF2-40B4-BE49-F238E27FC236}">
                <a16:creationId xmlns:a16="http://schemas.microsoft.com/office/drawing/2014/main" id="{59D3B460-577D-4DA5-3627-A3FE3F8ED9DC}"/>
              </a:ext>
            </a:extLst>
          </p:cNvPr>
          <p:cNvSpPr/>
          <p:nvPr/>
        </p:nvSpPr>
        <p:spPr>
          <a:xfrm>
            <a:off x="5109349" y="6053937"/>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後</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”15</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日</a:t>
            </a:r>
          </a:p>
        </p:txBody>
      </p:sp>
      <p:sp>
        <p:nvSpPr>
          <p:cNvPr id="18" name="テキスト ボックス 17">
            <a:extLst>
              <a:ext uri="{FF2B5EF4-FFF2-40B4-BE49-F238E27FC236}">
                <a16:creationId xmlns:a16="http://schemas.microsoft.com/office/drawing/2014/main" id="{D8D61203-B4E8-EA26-11E7-042F4CC7854D}"/>
              </a:ext>
            </a:extLst>
          </p:cNvPr>
          <p:cNvSpPr txBox="1"/>
          <p:nvPr/>
        </p:nvSpPr>
        <p:spPr>
          <a:xfrm>
            <a:off x="736682" y="1847126"/>
            <a:ext cx="1079863" cy="253916"/>
          </a:xfrm>
          <a:prstGeom prst="rect">
            <a:avLst/>
          </a:prstGeom>
          <a:noFill/>
        </p:spPr>
        <p:txBody>
          <a:bodyPr wrap="square">
            <a:spAutoFit/>
          </a:bodyPr>
          <a:lstStyle/>
          <a:p>
            <a:r>
              <a:rPr lang="ja-JP" altLang="en-US" sz="1050" b="1" dirty="0">
                <a:solidFill>
                  <a:srgbClr val="1F2A5C"/>
                </a:solidFill>
                <a:latin typeface="メイリオ" panose="020B0604030504040204" pitchFamily="50" charset="-128"/>
                <a:ea typeface="メイリオ" panose="020B0604030504040204" pitchFamily="50" charset="-128"/>
                <a:cs typeface="メイリオ"/>
              </a:rPr>
              <a:t>検索</a:t>
            </a:r>
            <a:r>
              <a:rPr lang="en-US" altLang="ja-JP" sz="1050" b="1" dirty="0">
                <a:solidFill>
                  <a:srgbClr val="1F2A5C"/>
                </a:solidFill>
                <a:latin typeface="メイリオ" panose="020B0604030504040204" pitchFamily="50" charset="-128"/>
                <a:ea typeface="メイリオ" panose="020B0604030504040204" pitchFamily="50" charset="-128"/>
                <a:cs typeface="メイリオ"/>
              </a:rPr>
              <a:t>Vol:</a:t>
            </a:r>
            <a:r>
              <a:rPr lang="ja-JP" altLang="en-US" sz="1050" b="1" dirty="0">
                <a:solidFill>
                  <a:srgbClr val="1F2A5C"/>
                </a:solidFill>
                <a:latin typeface="メイリオ" panose="020B0604030504040204" pitchFamily="50" charset="-128"/>
                <a:ea typeface="メイリオ" panose="020B0604030504040204" pitchFamily="50" charset="-128"/>
                <a:cs typeface="メイリオ"/>
              </a:rPr>
              <a:t>多</a:t>
            </a:r>
            <a:endParaRPr kumimoji="1" lang="ja-JP" altLang="en-US"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63FD9650-CF2E-C04B-71DA-C5C32192D256}"/>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短期のステップ配信の配信コンテンツ作成に利用。</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11" name="四角形: 角を丸くする 10">
            <a:extLst>
              <a:ext uri="{FF2B5EF4-FFF2-40B4-BE49-F238E27FC236}">
                <a16:creationId xmlns:a16="http://schemas.microsoft.com/office/drawing/2014/main" id="{9698CAAA-C7D0-DE8C-1937-135259153DF5}"/>
              </a:ext>
            </a:extLst>
          </p:cNvPr>
          <p:cNvSpPr/>
          <p:nvPr/>
        </p:nvSpPr>
        <p:spPr>
          <a:xfrm>
            <a:off x="8482149" y="1685711"/>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ブランド名</a:t>
            </a:r>
          </a:p>
        </p:txBody>
      </p:sp>
      <p:sp>
        <p:nvSpPr>
          <p:cNvPr id="15" name="四角形: 角を丸くする 14">
            <a:extLst>
              <a:ext uri="{FF2B5EF4-FFF2-40B4-BE49-F238E27FC236}">
                <a16:creationId xmlns:a16="http://schemas.microsoft.com/office/drawing/2014/main" id="{D484CC40-8F93-841D-9C65-D77C9FDB28E9}"/>
              </a:ext>
            </a:extLst>
          </p:cNvPr>
          <p:cNvSpPr/>
          <p:nvPr/>
        </p:nvSpPr>
        <p:spPr>
          <a:xfrm>
            <a:off x="8482149" y="1980746"/>
            <a:ext cx="1185818" cy="253916"/>
          </a:xfrm>
          <a:prstGeom prst="roundRect">
            <a:avLst/>
          </a:prstGeom>
          <a:solidFill>
            <a:srgbClr val="1F2A5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お金周り</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四角形: 角を丸くする 18">
            <a:extLst>
              <a:ext uri="{FF2B5EF4-FFF2-40B4-BE49-F238E27FC236}">
                <a16:creationId xmlns:a16="http://schemas.microsoft.com/office/drawing/2014/main" id="{14477AFE-E2AB-A03A-8102-B7565C7E8967}"/>
              </a:ext>
            </a:extLst>
          </p:cNvPr>
          <p:cNvSpPr/>
          <p:nvPr/>
        </p:nvSpPr>
        <p:spPr>
          <a:xfrm>
            <a:off x="8482149" y="2269869"/>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solidFill>
                <a:latin typeface="メイリオ" panose="020B0604030504040204" pitchFamily="50" charset="-128"/>
                <a:ea typeface="メイリオ" panose="020B0604030504040204" pitchFamily="50" charset="-128"/>
                <a:cs typeface="メイリオ"/>
              </a:rPr>
              <a:t>ライフイベント</a:t>
            </a:r>
            <a:endParaRPr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3" name="四角形: 角を丸くする 22">
            <a:extLst>
              <a:ext uri="{FF2B5EF4-FFF2-40B4-BE49-F238E27FC236}">
                <a16:creationId xmlns:a16="http://schemas.microsoft.com/office/drawing/2014/main" id="{9E775032-FD1B-EA57-EF1F-2E939977DBF0}"/>
              </a:ext>
            </a:extLst>
          </p:cNvPr>
          <p:cNvSpPr/>
          <p:nvPr/>
        </p:nvSpPr>
        <p:spPr>
          <a:xfrm>
            <a:off x="8482149" y="2564904"/>
            <a:ext cx="1185818" cy="253916"/>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34" name="正方形/長方形 133">
            <a:extLst>
              <a:ext uri="{FF2B5EF4-FFF2-40B4-BE49-F238E27FC236}">
                <a16:creationId xmlns:a16="http://schemas.microsoft.com/office/drawing/2014/main" id="{E1DBE2B9-1B8A-7D74-6827-B277538B2E74}"/>
              </a:ext>
            </a:extLst>
          </p:cNvPr>
          <p:cNvSpPr/>
          <p:nvPr/>
        </p:nvSpPr>
        <p:spPr>
          <a:xfrm>
            <a:off x="5173309" y="1536888"/>
            <a:ext cx="1079863"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36" name="図 135" descr="LINE公式アカウントのロゴを活用しよう！注意点やNG例も合わせて解説 - LINEマーケティングツールFANVO">
            <a:extLst>
              <a:ext uri="{FF2B5EF4-FFF2-40B4-BE49-F238E27FC236}">
                <a16:creationId xmlns:a16="http://schemas.microsoft.com/office/drawing/2014/main" id="{7292D2B2-006C-20F1-069A-EA07DB9040FF}"/>
              </a:ext>
            </a:extLst>
          </p:cNvPr>
          <p:cNvPicPr>
            <a:picLocks noChangeAspect="1"/>
          </p:cNvPicPr>
          <p:nvPr/>
        </p:nvPicPr>
        <p:blipFill>
          <a:blip r:embed="rId3"/>
          <a:stretch>
            <a:fillRect/>
          </a:stretch>
        </p:blipFill>
        <p:spPr>
          <a:xfrm>
            <a:off x="4963639" y="1415224"/>
            <a:ext cx="419340" cy="418460"/>
          </a:xfrm>
          <a:prstGeom prst="rect">
            <a:avLst/>
          </a:prstGeom>
        </p:spPr>
      </p:pic>
      <p:sp>
        <p:nvSpPr>
          <p:cNvPr id="138" name="テキスト ボックス 137">
            <a:extLst>
              <a:ext uri="{FF2B5EF4-FFF2-40B4-BE49-F238E27FC236}">
                <a16:creationId xmlns:a16="http://schemas.microsoft.com/office/drawing/2014/main" id="{3825EFF3-DD91-80CA-5C34-6956639E0AF6}"/>
              </a:ext>
            </a:extLst>
          </p:cNvPr>
          <p:cNvSpPr txBox="1"/>
          <p:nvPr/>
        </p:nvSpPr>
        <p:spPr>
          <a:xfrm>
            <a:off x="5319022" y="1579097"/>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9" name="差し込み 前後検索の画像"/>
          <p:cNvSpPr/>
          <p:nvPr/>
        </p:nvSpPr>
        <p:spPr>
          <a:xfrm>
            <a:off x="1386465" y="1895415"/>
            <a:ext cx="7152121" cy="4172069"/>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cs typeface="メイリオ"/>
              </a:rPr>
              <a:t>前後検索の画像</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267346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445661-D170-7F4D-B8A8-8C3B4D5EF47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F2A605-8BE9-543D-C379-8ADC172A2B5B}"/>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87FB6EC3-4D6F-6C45-86B8-DAD6CBB0E53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ニーズ調査（前後検索）</a:t>
            </a:r>
            <a:endParaRPr sz="1600" b="1" dirty="0">
              <a:solidFill>
                <a:srgbClr val="002060"/>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72B83C2C-8DD1-B131-625E-DC1B80BAE95D}"/>
              </a:ext>
            </a:extLst>
          </p:cNvPr>
          <p:cNvSpPr txBox="1"/>
          <p:nvPr/>
        </p:nvSpPr>
        <p:spPr>
          <a:xfrm>
            <a:off x="3030583" y="184284"/>
            <a:ext cx="2351314" cy="246221"/>
          </a:xfrm>
          <a:prstGeom prst="rect">
            <a:avLst/>
          </a:prstGeom>
          <a:noFill/>
        </p:spPr>
        <p:txBody>
          <a:bodyPr wrap="square">
            <a:spAutoFit/>
          </a:bodyPr>
          <a:lstStyle/>
          <a:p>
            <a:r>
              <a:rPr lang="en-US" altLang="ja-JP" sz="1000" dirty="0">
                <a:solidFill>
                  <a:srgbClr val="1F2A5C"/>
                </a:solidFill>
                <a:latin typeface="メイリオ"/>
                <a:ea typeface="メイリオ"/>
                <a:cs typeface="メイリオ"/>
                <a:sym typeface="Meiryo"/>
              </a:rPr>
              <a:t>※LINE</a:t>
            </a:r>
            <a:r>
              <a:rPr lang="ja-JP" altLang="en-US" sz="1000" dirty="0">
                <a:solidFill>
                  <a:srgbClr val="1F2A5C"/>
                </a:solidFill>
                <a:latin typeface="メイリオ"/>
                <a:ea typeface="メイリオ"/>
                <a:cs typeface="メイリオ"/>
                <a:sym typeface="Meiryo"/>
              </a:rPr>
              <a:t>ヤフーの媒体情報を参考に</a:t>
            </a:r>
            <a:endParaRPr lang="ja-JP" altLang="en-US" sz="1050" dirty="0">
              <a:solidFill>
                <a:srgbClr val="1F2A5C"/>
              </a:solidFill>
              <a:latin typeface="メイリオ"/>
              <a:ea typeface="メイリオ"/>
              <a:cs typeface="メイリオ"/>
            </a:endParaRPr>
          </a:p>
        </p:txBody>
      </p:sp>
      <p:cxnSp>
        <p:nvCxnSpPr>
          <p:cNvPr id="6" name="直線コネクタ 5">
            <a:extLst>
              <a:ext uri="{FF2B5EF4-FFF2-40B4-BE49-F238E27FC236}">
                <a16:creationId xmlns:a16="http://schemas.microsoft.com/office/drawing/2014/main" id="{F9E4E4A3-0061-C7DF-4A07-669885EC904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 name="Card1_Title">
            <a:extLst>
              <a:ext uri="{FF2B5EF4-FFF2-40B4-BE49-F238E27FC236}">
                <a16:creationId xmlns:a16="http://schemas.microsoft.com/office/drawing/2014/main" id="{8E31DAD6-1621-DBDA-E670-9EC6437B61A2}"/>
              </a:ext>
            </a:extLst>
          </p:cNvPr>
          <p:cNvSpPr txBox="1"/>
          <p:nvPr/>
        </p:nvSpPr>
        <p:spPr>
          <a:xfrm>
            <a:off x="441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検索「前」クエリ（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7" name="Card1_Body">
            <a:extLst>
              <a:ext uri="{FF2B5EF4-FFF2-40B4-BE49-F238E27FC236}">
                <a16:creationId xmlns:a16="http://schemas.microsoft.com/office/drawing/2014/main" id="{D3A10FAB-A215-96CD-4586-4D95A31E157D}"/>
              </a:ext>
            </a:extLst>
          </p:cNvPr>
          <p:cNvSpPr txBox="1"/>
          <p:nvPr/>
        </p:nvSpPr>
        <p:spPr>
          <a:xfrm>
            <a:off x="441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0" name="Card2_Title">
            <a:extLst>
              <a:ext uri="{FF2B5EF4-FFF2-40B4-BE49-F238E27FC236}">
                <a16:creationId xmlns:a16="http://schemas.microsoft.com/office/drawing/2014/main" id="{AF3F627C-CA5A-EA6E-EB31-14D66576A08E}"/>
              </a:ext>
            </a:extLst>
          </p:cNvPr>
          <p:cNvSpPr txBox="1"/>
          <p:nvPr/>
        </p:nvSpPr>
        <p:spPr>
          <a:xfrm>
            <a:off x="3553460" y="1709511"/>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検索「起点」（</a:t>
            </a:r>
            <a:r>
              <a:rPr kumimoji="0" lang="en-US" altLang="ja-JP"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0</a:t>
            </a:r>
            <a:r>
              <a:rPr kumimoji="0" lang="ja-JP" altLang="en-US" sz="1200" b="1" i="0" u="none" strike="noStrike" kern="0" cap="none" spc="0" normalizeH="0" baseline="0" noProof="0" dirty="0">
                <a:ln>
                  <a:noFill/>
                </a:ln>
                <a:solidFill>
                  <a:srgbClr val="4A6FA5"/>
                </a:solidFill>
                <a:effectLst/>
                <a:uLnTx/>
                <a:uFillTx/>
                <a:latin typeface="メイリオ" panose="020B0604030504040204" pitchFamily="50" charset="-128"/>
                <a:ea typeface="メイリオ" panose="020B0604030504040204" pitchFamily="50" charset="-128"/>
                <a:cs typeface="メイリオ"/>
                <a:sym typeface="Arial"/>
              </a:rPr>
              <a:t>日）</a:t>
            </a:r>
          </a:p>
        </p:txBody>
      </p:sp>
      <p:sp>
        <p:nvSpPr>
          <p:cNvPr id="11" name="Card2_Body">
            <a:extLst>
              <a:ext uri="{FF2B5EF4-FFF2-40B4-BE49-F238E27FC236}">
                <a16:creationId xmlns:a16="http://schemas.microsoft.com/office/drawing/2014/main" id="{071EA822-5DE7-F7FC-CE53-C2441B6BA07A}"/>
              </a:ext>
            </a:extLst>
          </p:cNvPr>
          <p:cNvSpPr txBox="1"/>
          <p:nvPr/>
        </p:nvSpPr>
        <p:spPr>
          <a:xfrm>
            <a:off x="35534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4A6FA5"/>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5" name="Card3_Title">
            <a:extLst>
              <a:ext uri="{FF2B5EF4-FFF2-40B4-BE49-F238E27FC236}">
                <a16:creationId xmlns:a16="http://schemas.microsoft.com/office/drawing/2014/main" id="{8D47B4FA-63E9-2461-A89D-BE48099D1CEF}"/>
              </a:ext>
            </a:extLst>
          </p:cNvPr>
          <p:cNvSpPr txBox="1"/>
          <p:nvPr/>
        </p:nvSpPr>
        <p:spPr>
          <a:xfrm>
            <a:off x="6664960" y="1709511"/>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検索「後」クエリ（</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1〜15</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日</a:t>
            </a:r>
            <a:r>
              <a:rPr kumimoji="0" lang="en-US" altLang="ja-JP"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7" name="Card3_Body">
            <a:extLst>
              <a:ext uri="{FF2B5EF4-FFF2-40B4-BE49-F238E27FC236}">
                <a16:creationId xmlns:a16="http://schemas.microsoft.com/office/drawing/2014/main" id="{0F35057D-2CE3-9DDA-8E94-282A37275B5F}"/>
              </a:ext>
            </a:extLst>
          </p:cNvPr>
          <p:cNvSpPr txBox="1"/>
          <p:nvPr/>
        </p:nvSpPr>
        <p:spPr>
          <a:xfrm>
            <a:off x="6664960" y="2203410"/>
            <a:ext cx="2921000" cy="1445481"/>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171450" marR="0" lvl="0" indent="-171450" algn="l" defTabSz="914400" rtl="0" eaLnBrk="1" fontAlgn="auto" latinLnBrk="0" hangingPunct="1">
              <a:lnSpc>
                <a:spcPct val="100000"/>
              </a:lnSpc>
              <a:spcBef>
                <a:spcPts val="200"/>
              </a:spcBef>
              <a:spcAft>
                <a:spcPts val="0"/>
              </a:spcAft>
              <a:buClr>
                <a:srgbClr val="1F2A5C"/>
              </a:buClr>
              <a:buSzTx/>
              <a:buFont typeface="Arial"/>
              <a:buChar char="•"/>
              <a:tabLst/>
              <a:defRPr>
                <a:latin typeface="メイリオ"/>
                <a:ea typeface="メイリオ"/>
                <a:cs typeface="メイリオ"/>
              </a:defRPr>
            </a:pPr>
            <a:r>
              <a:rPr kumimoji="0" lang="ja-JP" altLang="en-US" sz="1200" b="0" i="0" u="none" strike="noStrike" kern="0" cap="none" spc="0"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cs typeface="メイリオ"/>
                <a:sym typeface="Arial"/>
              </a:rPr>
              <a:t>--</a:t>
            </a:r>
          </a:p>
        </p:txBody>
      </p:sp>
      <p:sp>
        <p:nvSpPr>
          <p:cNvPr id="12" name="テキスト ボックス 11">
            <a:extLst>
              <a:ext uri="{FF2B5EF4-FFF2-40B4-BE49-F238E27FC236}">
                <a16:creationId xmlns:a16="http://schemas.microsoft.com/office/drawing/2014/main" id="{DCF84225-84DA-E8B0-FCCE-46A1376BC209}"/>
              </a:ext>
            </a:extLst>
          </p:cNvPr>
          <p:cNvSpPr txBox="1"/>
          <p:nvPr/>
        </p:nvSpPr>
        <p:spPr>
          <a:xfrm>
            <a:off x="5286079" y="4595204"/>
            <a:ext cx="1079863" cy="261610"/>
          </a:xfrm>
          <a:prstGeom prst="rect">
            <a:avLst/>
          </a:prstGeom>
          <a:noFill/>
        </p:spPr>
        <p:txBody>
          <a:bodyPr wrap="square">
            <a:spAutoFit/>
          </a:bodyPr>
          <a:lstStyle/>
          <a:p>
            <a:r>
              <a:rPr lang="en-US" altLang="ja-JP" sz="1100" b="1" dirty="0">
                <a:latin typeface="メイリオ"/>
                <a:ea typeface="メイリオ"/>
                <a:cs typeface="メイリオ"/>
                <a:sym typeface="Meiryo"/>
              </a:rPr>
              <a:t>OA</a:t>
            </a:r>
            <a:r>
              <a:rPr lang="ja-JP" altLang="en-US" sz="1100" b="1" dirty="0">
                <a:latin typeface="メイリオ"/>
                <a:ea typeface="メイリオ"/>
                <a:cs typeface="メイリオ"/>
                <a:sym typeface="Meiryo"/>
              </a:rPr>
              <a:t>追加想定</a:t>
            </a:r>
            <a:endParaRPr lang="ja-JP" altLang="en-US" sz="1200" dirty="0">
              <a:latin typeface="メイリオ"/>
              <a:ea typeface="メイリオ"/>
              <a:cs typeface="メイリオ"/>
            </a:endParaRPr>
          </a:p>
        </p:txBody>
      </p:sp>
      <p:sp>
        <p:nvSpPr>
          <p:cNvPr id="13" name="矢印: 下 12">
            <a:extLst>
              <a:ext uri="{FF2B5EF4-FFF2-40B4-BE49-F238E27FC236}">
                <a16:creationId xmlns:a16="http://schemas.microsoft.com/office/drawing/2014/main" id="{D61D535A-38C6-7BB0-0D6E-34AB306808A8}"/>
              </a:ext>
            </a:extLst>
          </p:cNvPr>
          <p:cNvSpPr/>
          <p:nvPr/>
        </p:nvSpPr>
        <p:spPr>
          <a:xfrm>
            <a:off x="5036442" y="3737247"/>
            <a:ext cx="1097280" cy="2090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6" name="Card1_Title">
            <a:extLst>
              <a:ext uri="{FF2B5EF4-FFF2-40B4-BE49-F238E27FC236}">
                <a16:creationId xmlns:a16="http://schemas.microsoft.com/office/drawing/2014/main" id="{EA1CCC1E-91FF-5127-259C-24170B827EFB}"/>
              </a:ext>
            </a:extLst>
          </p:cNvPr>
          <p:cNvSpPr txBox="1"/>
          <p:nvPr/>
        </p:nvSpPr>
        <p:spPr>
          <a:xfrm>
            <a:off x="4470369" y="3994007"/>
            <a:ext cx="2194591" cy="457200"/>
          </a:xfrm>
          <a:prstGeom prst="rect">
            <a:avLst/>
          </a:prstGeom>
          <a:solidFill>
            <a:schemeClr val="accent1">
              <a:lumMod val="20000"/>
              <a:lumOff val="80000"/>
            </a:schemeClr>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r>
              <a:rPr kumimoji="0" lang="ja-JP" altLang="en-US" sz="1200" b="1" i="0" u="none" strike="noStrike" kern="0" cap="none" spc="0" normalizeH="0" baseline="0" noProof="0" dirty="0">
                <a:ln>
                  <a:noFill/>
                </a:ln>
                <a:solidFill>
                  <a:srgbClr val="1F2A5C"/>
                </a:solidFill>
                <a:effectLst/>
                <a:uLnTx/>
                <a:uFillTx/>
                <a:latin typeface="メイリオ" panose="020B0604030504040204" pitchFamily="50" charset="-128"/>
                <a:ea typeface="メイリオ" panose="020B0604030504040204" pitchFamily="50" charset="-128"/>
                <a:cs typeface="メイリオ"/>
                <a:sym typeface="Arial"/>
              </a:rPr>
              <a:t>離脱防止</a:t>
            </a:r>
          </a:p>
        </p:txBody>
      </p:sp>
      <p:cxnSp>
        <p:nvCxnSpPr>
          <p:cNvPr id="20" name="直線コネクタ 19">
            <a:extLst>
              <a:ext uri="{FF2B5EF4-FFF2-40B4-BE49-F238E27FC236}">
                <a16:creationId xmlns:a16="http://schemas.microsoft.com/office/drawing/2014/main" id="{5BE55DA4-D366-93E9-818A-C5CB316D61F6}"/>
              </a:ext>
            </a:extLst>
          </p:cNvPr>
          <p:cNvCxnSpPr/>
          <p:nvPr/>
        </p:nvCxnSpPr>
        <p:spPr>
          <a:xfrm>
            <a:off x="5094517" y="4709762"/>
            <a:ext cx="0" cy="1292023"/>
          </a:xfrm>
          <a:prstGeom prst="line">
            <a:avLst/>
          </a:prstGeom>
          <a:ln>
            <a:solidFill>
              <a:srgbClr val="04FA0A"/>
            </a:solidFill>
          </a:ln>
        </p:spPr>
        <p:style>
          <a:lnRef idx="1">
            <a:schemeClr val="accent1"/>
          </a:lnRef>
          <a:fillRef idx="0">
            <a:schemeClr val="accent1"/>
          </a:fillRef>
          <a:effectRef idx="0">
            <a:schemeClr val="accent1"/>
          </a:effectRef>
          <a:fontRef idx="minor">
            <a:schemeClr val="tx1"/>
          </a:fontRef>
        </p:style>
      </p:cxnSp>
      <p:pic>
        <p:nvPicPr>
          <p:cNvPr id="22" name="図 21" descr="LINE公式アカウントのロゴを活用しよう！注意点やNG例も合わせて解説 - LINEマーケティングツールFANVO">
            <a:extLst>
              <a:ext uri="{FF2B5EF4-FFF2-40B4-BE49-F238E27FC236}">
                <a16:creationId xmlns:a16="http://schemas.microsoft.com/office/drawing/2014/main" id="{4DC60E86-0524-E40F-7236-4D8A38BD333B}"/>
              </a:ext>
            </a:extLst>
          </p:cNvPr>
          <p:cNvPicPr>
            <a:picLocks noChangeAspect="1"/>
          </p:cNvPicPr>
          <p:nvPr/>
        </p:nvPicPr>
        <p:blipFill>
          <a:blip r:embed="rId3"/>
          <a:stretch>
            <a:fillRect/>
          </a:stretch>
        </p:blipFill>
        <p:spPr>
          <a:xfrm>
            <a:off x="4866739" y="4519050"/>
            <a:ext cx="419340" cy="418460"/>
          </a:xfrm>
          <a:prstGeom prst="rect">
            <a:avLst/>
          </a:prstGeom>
        </p:spPr>
      </p:pic>
      <p:sp>
        <p:nvSpPr>
          <p:cNvPr id="24" name="テキスト ボックス 23">
            <a:extLst>
              <a:ext uri="{FF2B5EF4-FFF2-40B4-BE49-F238E27FC236}">
                <a16:creationId xmlns:a16="http://schemas.microsoft.com/office/drawing/2014/main" id="{8F0B071A-7C5B-F060-B690-5A7A3AFEC0DD}"/>
              </a:ext>
            </a:extLst>
          </p:cNvPr>
          <p:cNvSpPr txBox="1"/>
          <p:nvPr/>
        </p:nvSpPr>
        <p:spPr>
          <a:xfrm>
            <a:off x="5268638" y="5094163"/>
            <a:ext cx="3857945" cy="261610"/>
          </a:xfrm>
          <a:prstGeom prst="rect">
            <a:avLst/>
          </a:prstGeom>
          <a:noFill/>
        </p:spPr>
        <p:txBody>
          <a:bodyPr wrap="square">
            <a:spAutoFit/>
          </a:bodyPr>
          <a:lstStyle/>
          <a:p>
            <a:r>
              <a:rPr lang="ja-JP" altLang="en-US" sz="1100" b="1" dirty="0">
                <a:latin typeface="メイリオ"/>
                <a:ea typeface="メイリオ"/>
                <a:cs typeface="メイリオ"/>
                <a:sym typeface="Meiryo"/>
              </a:rPr>
              <a:t>⇨ステップ配信がスタート。</a:t>
            </a:r>
            <a:endParaRPr lang="ja-JP" altLang="en-US" sz="1200" dirty="0">
              <a:latin typeface="メイリオ"/>
              <a:ea typeface="メイリオ"/>
              <a:cs typeface="メイリオ"/>
            </a:endParaRPr>
          </a:p>
        </p:txBody>
      </p:sp>
      <p:sp>
        <p:nvSpPr>
          <p:cNvPr id="26" name="テキスト ボックス 25">
            <a:extLst>
              <a:ext uri="{FF2B5EF4-FFF2-40B4-BE49-F238E27FC236}">
                <a16:creationId xmlns:a16="http://schemas.microsoft.com/office/drawing/2014/main" id="{70592E01-ABF8-E8A1-7E8A-7A1556DFA756}"/>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前後検索を各カテゴリ別</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ニーズ大小別で棲み分け、最適なタイミングで</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ステップ配信のコンテンツ出し分けに活用。</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535646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の役割 4"/>
          <p:cNvGraphicFramePr>
            <a:graphicFrameLocks noGrp="1"/>
          </p:cNvGraphicFramePr>
          <p:nvPr/>
        </p:nvGraphicFramePr>
        <p:xfrm>
          <a:off x="502920" y="1508760"/>
          <a:ext cx="8897112" cy="2206752"/>
        </p:xfrm>
        <a:graphic>
          <a:graphicData uri="http://schemas.openxmlformats.org/drawingml/2006/table">
            <a:tbl>
              <a:tblPr/>
              <a:tblGrid>
                <a:gridCol w="18288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3547872">
                  <a:extLst>
                    <a:ext uri="{9D8B030D-6E8A-4147-A177-3AD203B41FA5}">
                      <a16:colId xmlns:a16="http://schemas.microsoft.com/office/drawing/2014/main" val="20002"/>
                    </a:ext>
                  </a:extLst>
                </a:gridCol>
              </a:tblGrid>
              <a:tr h="365760">
                <a:tc>
                  <a:txBody>
                    <a:bodyPr/>
                    <a:lstStyle/>
                    <a:p>
                      <a:pPr algn="l">
                        <a:buNone/>
                      </a:pP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役割</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新しい見込み客との接点を獲得する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一度つながった見込み客に、継続して情報を届ける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主に届く相手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まだつながっていない方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友だち追加した方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届けられる時期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広告を配信している期間</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イベント期も、イベントのない期間も</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積み上がるもの</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セミナー予約などの反響</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友だち（次回以降も案内できる相手）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a:t>
            </a:r>
          </a:p>
        </p:txBody>
      </p:sp>
      <p:sp>
        <p:nvSpPr>
          <p:cNvPr id="3" name="Lead">
            <a:extLst>
              <a:ext uri="{FF2B5EF4-FFF2-40B4-BE49-F238E27FC236}">
                <a16:creationId xmlns:a16="http://schemas.microsoft.com/office/drawing/2014/main" id="{F08FF241-FA02-3DB4-F5A0-2846B825B044}"/>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panose="020B0604030504040204" pitchFamily="50" charset="-128"/>
                <a:ea typeface="メイリオ" panose="020B0604030504040204" pitchFamily="50" charset="-128"/>
                <a:cs typeface="メイリオ"/>
              </a:rPr>
              <a:t>保険・イベント集客におけるLINE公式アカウントの活用事例</a:t>
            </a:r>
          </a:p>
        </p:txBody>
      </p:sp>
      <p:sp>
        <p:nvSpPr>
          <p:cNvPr id="6" name="Body">
            <a:extLst>
              <a:ext uri="{FF2B5EF4-FFF2-40B4-BE49-F238E27FC236}">
                <a16:creationId xmlns:a16="http://schemas.microsoft.com/office/drawing/2014/main" id="{82F47B3D-36AC-458C-435D-AA635278C458}"/>
              </a:ext>
            </a:extLst>
          </p:cNvPr>
          <p:cNvSpPr txBox="1"/>
          <p:nvPr/>
        </p:nvSpPr>
        <p:spPr>
          <a:xfrm>
            <a:off x="342900" y="1270000"/>
            <a:ext cx="6743700" cy="3810000"/>
          </a:xfrm>
          <a:prstGeom prst="rect">
            <a:avLst/>
          </a:prstGeom>
          <a:noFill/>
        </p:spPr>
        <p:txBody>
          <a:bodyPr wrap="square" lIns="0" tIns="0" rIns="0" bIns="0" anchor="t"/>
          <a:lstStyle/>
          <a:p>
            <a:endParaRPr>
              <a:latin typeface="メイリオ" panose="020B0604030504040204" pitchFamily="50" charset="-128"/>
              <a:ea typeface="メイリオ" panose="020B0604030504040204" pitchFamily="50" charset="-128"/>
              <a:cs typeface="メイリオ"/>
            </a:endParaRPr>
          </a:p>
        </p:txBody>
      </p:sp>
      <p:sp>
        <p:nvSpPr>
          <p:cNvPr id="8" name="TextBox 2001">
            <a:extLst>
              <a:ext uri="{FF2B5EF4-FFF2-40B4-BE49-F238E27FC236}">
                <a16:creationId xmlns:a16="http://schemas.microsoft.com/office/drawing/2014/main" id="{1266011E-8375-ED18-07F7-0E1E547F7E33}"/>
              </a:ext>
            </a:extLst>
          </p:cNvPr>
          <p:cNvSpPr txBox="1"/>
          <p:nvPr/>
        </p:nvSpPr>
        <p:spPr>
          <a:xfrm>
            <a:off x="365760" y="1371600"/>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生命保険会社</a:t>
            </a:r>
          </a:p>
        </p:txBody>
      </p:sp>
      <p:sp>
        <p:nvSpPr>
          <p:cNvPr id="10" name="Oval 2002">
            <a:extLst>
              <a:ext uri="{FF2B5EF4-FFF2-40B4-BE49-F238E27FC236}">
                <a16:creationId xmlns:a16="http://schemas.microsoft.com/office/drawing/2014/main" id="{77E596DF-1EAC-1237-A0BF-A8592C3A90C8}"/>
              </a:ext>
            </a:extLst>
          </p:cNvPr>
          <p:cNvSpPr/>
          <p:nvPr/>
        </p:nvSpPr>
        <p:spPr>
          <a:xfrm>
            <a:off x="914400" y="1783080"/>
            <a:ext cx="1466850" cy="1188720"/>
          </a:xfrm>
          <a:prstGeom prst="ellipse">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a:solidFill>
                  <a:srgbClr val="FFFFFF"/>
                </a:solidFill>
                <a:latin typeface="メイリオ" panose="020B0604030504040204" pitchFamily="50" charset="-128"/>
                <a:ea typeface="メイリオ" panose="020B0604030504040204" pitchFamily="50" charset="-128"/>
              </a:rPr>
              <a:t>約8倍</a:t>
            </a:r>
          </a:p>
          <a:p>
            <a:pPr algn="ctr"/>
            <a:r>
              <a:rPr sz="1000">
                <a:solidFill>
                  <a:srgbClr val="FFFFFF"/>
                </a:solidFill>
                <a:latin typeface="メイリオ" panose="020B0604030504040204" pitchFamily="50" charset="-128"/>
                <a:ea typeface="メイリオ" panose="020B0604030504040204" pitchFamily="50" charset="-128"/>
              </a:rPr>
              <a:t>資料請求の</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CV率</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（メール比）</a:t>
            </a:r>
          </a:p>
        </p:txBody>
      </p:sp>
      <p:sp>
        <p:nvSpPr>
          <p:cNvPr id="12" name="Oval 2003">
            <a:extLst>
              <a:ext uri="{FF2B5EF4-FFF2-40B4-BE49-F238E27FC236}">
                <a16:creationId xmlns:a16="http://schemas.microsoft.com/office/drawing/2014/main" id="{7F917EDB-4DA5-2D51-DEF9-F1D7DC62A3D0}"/>
              </a:ext>
            </a:extLst>
          </p:cNvPr>
          <p:cNvSpPr/>
          <p:nvPr/>
        </p:nvSpPr>
        <p:spPr>
          <a:xfrm>
            <a:off x="2743200" y="1783080"/>
            <a:ext cx="1466850" cy="1188720"/>
          </a:xfrm>
          <a:prstGeom prst="ellipse">
            <a:avLst/>
          </a:prstGeom>
          <a:solidFill>
            <a:srgbClr val="4A6FA5"/>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a:solidFill>
                  <a:srgbClr val="FFFFFF"/>
                </a:solidFill>
                <a:latin typeface="メイリオ" panose="020B0604030504040204" pitchFamily="50" charset="-128"/>
                <a:ea typeface="メイリオ" panose="020B0604030504040204" pitchFamily="50" charset="-128"/>
              </a:rPr>
              <a:t>5.2%</a:t>
            </a:r>
          </a:p>
          <a:p>
            <a:pPr algn="ctr"/>
            <a:r>
              <a:rPr sz="1000">
                <a:solidFill>
                  <a:srgbClr val="FFFFFF"/>
                </a:solidFill>
                <a:latin typeface="メイリオ" panose="020B0604030504040204" pitchFamily="50" charset="-128"/>
                <a:ea typeface="メイリオ" panose="020B0604030504040204" pitchFamily="50" charset="-128"/>
              </a:rPr>
              <a:t>営業職員経由</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の友だちの</a:t>
            </a:r>
            <a:br>
              <a:rPr sz="1000">
                <a:solidFill>
                  <a:srgbClr val="FFFFFF"/>
                </a:solidFill>
                <a:latin typeface="メイリオ" panose="020B0604030504040204" pitchFamily="50" charset="-128"/>
                <a:ea typeface="メイリオ" panose="020B0604030504040204" pitchFamily="50" charset="-128"/>
              </a:rPr>
            </a:br>
            <a:r>
              <a:rPr sz="1000">
                <a:solidFill>
                  <a:srgbClr val="FFFFFF"/>
                </a:solidFill>
                <a:latin typeface="メイリオ" panose="020B0604030504040204" pitchFamily="50" charset="-128"/>
                <a:ea typeface="メイリオ" panose="020B0604030504040204" pitchFamily="50" charset="-128"/>
              </a:rPr>
              <a:t>ブロック率</a:t>
            </a:r>
          </a:p>
        </p:txBody>
      </p:sp>
      <p:sp>
        <p:nvSpPr>
          <p:cNvPr id="14" name="TextBox 2004">
            <a:extLst>
              <a:ext uri="{FF2B5EF4-FFF2-40B4-BE49-F238E27FC236}">
                <a16:creationId xmlns:a16="http://schemas.microsoft.com/office/drawing/2014/main" id="{2705E967-51E9-64AC-1273-825ACF9CF11D}"/>
              </a:ext>
            </a:extLst>
          </p:cNvPr>
          <p:cNvSpPr txBox="1"/>
          <p:nvPr/>
        </p:nvSpPr>
        <p:spPr>
          <a:xfrm>
            <a:off x="365760" y="3427095"/>
            <a:ext cx="9052560" cy="320040"/>
          </a:xfrm>
          <a:prstGeom prst="rect">
            <a:avLst/>
          </a:prstGeom>
          <a:noFill/>
        </p:spPr>
        <p:txBody>
          <a:bodyPr wrap="square">
            <a:spAutoFit/>
          </a:bodyPr>
          <a:lstStyle/>
          <a:p>
            <a:pPr algn="l"/>
            <a:r>
              <a:rPr sz="1400" b="1">
                <a:solidFill>
                  <a:srgbClr val="1F2A5C"/>
                </a:solidFill>
                <a:latin typeface="メイリオ" panose="020B0604030504040204" pitchFamily="50" charset="-128"/>
                <a:ea typeface="メイリオ" panose="020B0604030504040204" pitchFamily="50" charset="-128"/>
                <a:cs typeface="メイリオ"/>
              </a:rPr>
              <a:t>教室・スクール（見学会などのイベント集客）</a:t>
            </a:r>
          </a:p>
        </p:txBody>
      </p:sp>
      <p:sp>
        <p:nvSpPr>
          <p:cNvPr id="16" name="Rounded Rectangle 2005">
            <a:extLst>
              <a:ext uri="{FF2B5EF4-FFF2-40B4-BE49-F238E27FC236}">
                <a16:creationId xmlns:a16="http://schemas.microsoft.com/office/drawing/2014/main" id="{ABF72EB3-0E58-C4B4-86D5-6D34D9F75C0B}"/>
              </a:ext>
            </a:extLst>
          </p:cNvPr>
          <p:cNvSpPr/>
          <p:nvPr/>
        </p:nvSpPr>
        <p:spPr>
          <a:xfrm>
            <a:off x="914400" y="3838575"/>
            <a:ext cx="14630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p>
            <a:pPr algn="ctr"/>
            <a:r>
              <a:rPr sz="1800" b="1" dirty="0">
                <a:solidFill>
                  <a:srgbClr val="FFFFFF"/>
                </a:solidFill>
                <a:latin typeface="メイリオ" panose="020B0604030504040204" pitchFamily="50" charset="-128"/>
                <a:ea typeface="メイリオ" panose="020B0604030504040204" pitchFamily="50" charset="-128"/>
              </a:rPr>
              <a:t>約7割</a:t>
            </a:r>
          </a:p>
          <a:p>
            <a:pPr algn="ctr"/>
            <a:r>
              <a:rPr sz="1000" dirty="0" err="1">
                <a:solidFill>
                  <a:srgbClr val="FFFFFF"/>
                </a:solidFill>
                <a:latin typeface="メイリオ" panose="020B0604030504040204" pitchFamily="50" charset="-128"/>
                <a:ea typeface="メイリオ" panose="020B0604030504040204" pitchFamily="50" charset="-128"/>
              </a:rPr>
              <a:t>見学会の参加者の</a:t>
            </a:r>
            <a:br>
              <a:rPr sz="1000" dirty="0" err="1">
                <a:solidFill>
                  <a:srgbClr val="FFFFFF"/>
                </a:solidFill>
                <a:latin typeface="メイリオ" panose="020B0604030504040204" pitchFamily="50" charset="-128"/>
                <a:ea typeface="メイリオ" panose="020B0604030504040204" pitchFamily="50" charset="-128"/>
              </a:rPr>
            </a:br>
            <a:r>
              <a:rPr sz="1000" dirty="0" err="1">
                <a:solidFill>
                  <a:srgbClr val="FFFFFF"/>
                </a:solidFill>
                <a:latin typeface="メイリオ" panose="020B0604030504040204" pitchFamily="50" charset="-128"/>
                <a:ea typeface="メイリオ" panose="020B0604030504040204" pitchFamily="50" charset="-128"/>
              </a:rPr>
              <a:t>入会率</a:t>
            </a:r>
            <a:endParaRPr sz="800" dirty="0">
              <a:solidFill>
                <a:srgbClr val="FFFFFF"/>
              </a:solidFill>
              <a:latin typeface="メイリオ" panose="020B0604030504040204" pitchFamily="50" charset="-128"/>
              <a:ea typeface="メイリオ" panose="020B0604030504040204" pitchFamily="50" charset="-128"/>
            </a:endParaRPr>
          </a:p>
        </p:txBody>
      </p:sp>
      <p:sp>
        <p:nvSpPr>
          <p:cNvPr id="17" name="注記"/>
          <p:cNvSpPr/>
          <p:nvPr/>
        </p:nvSpPr>
        <p:spPr>
          <a:xfrm>
            <a:off x="365760" y="52120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※LINEヤフー for Business 掲載の事例（数値は各社調べ）。生命保険会社＝2024年4月・2025年2月公開、教室＝2021年8月公開。5.2%は営業職員経由の友だち（自然に友だちになった方は74.9%）</a:t>
            </a:r>
            <a:endParaRPr lang="ja-JP" altLang="en-US" sz="1200" dirty="0"/>
          </a:p>
        </p:txBody>
      </p:sp>
    </p:spTree>
    <p:extLst>
      <p:ext uri="{BB962C8B-B14F-4D97-AF65-F5344CB8AC3E}">
        <p14:creationId xmlns:p14="http://schemas.microsoft.com/office/powerpoint/2010/main" val="2155798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266280894"/>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入会後の継続利用・紹介にもLINEを活用し、LTVの最大化をめざす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6か月（平常期とセミナー開催月で、配信内容と工数が変わる）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友だち獲得を増やし、ブロック率を抑えながら、配信可能な人数を積み上げる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離脱防止ポップアップ（導入推奨）で、LPを離れる方を友だちに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友だち追加直後・予約した方・参加後の段階ごとに、案内を変える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平常期 月1〜2回、開催月 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イベント開催時だけでなく、平常期にも継続して情報を届ける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3666070414"/>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平常期・開催月それぞれの</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時期に合わせて届ける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Meta広告などで、新しい見込み客と接点をつくる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セミナーの内容を知り、予約する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オンラインサロン入会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
        <p:nvSpPr>
          <p:cNvPr id="70"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※一般の方向けセミナーから友だち追加した方は、流入経路で分け、一般の方向けの案内を中心に配信</a:t>
            </a:r>
            <a:endParaRPr lang="ja-JP" altLang="en-US" sz="1200" dirty="0">
              <a:latin typeface="メイリオ"/>
              <a:ea typeface="メイリオ"/>
              <a:cs typeface="メイリオ"/>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84048" y="3200400"/>
          <a:ext cx="9381744" cy="29626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32888">
                  <a:extLst>
                    <a:ext uri="{9D8B030D-6E8A-4147-A177-3AD203B41FA5}">
                      <a16:colId xmlns:a16="http://schemas.microsoft.com/office/drawing/2014/main" val="20003"/>
                    </a:ext>
                  </a:extLst>
                </a:gridCol>
              </a:tblGrid>
              <a:tr h="329184">
                <a:tc>
                  <a:txBody>
                    <a:bodyPr/>
                    <a:lstStyle/>
                    <a:p>
                      <a:pPr algn="ctr"/>
                      <a:r>
                        <a:rPr lang="ja-JP" sz="1200" b="1">
                          <a:solidFill>
                            <a:srgbClr val="FFFFFF"/>
                          </a:solidFill>
                          <a:latin typeface="メイリオ"/>
                          <a:ea typeface="メイリオ"/>
                          <a:cs typeface="メイリオ"/>
                        </a:rPr>
                        <a:t>フェーズ</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ユーザー状態・心理</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離脱・停滞が起きやすい点</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LINE OAの役割・施策</a:t>
                      </a:r>
                    </a:p>
                  </a:txBody>
                  <a:tcPr marR="73152" anchor="ctr">
                    <a:solidFill>
                      <a:srgbClr val="1F2A5C"/>
                    </a:solidFill>
                  </a:tcPr>
                </a:tc>
                <a:extLst>
                  <a:ext uri="{0D108BD9-81ED-4DB2-BD59-A6C34878D82A}">
                    <a16:rowId xmlns:a16="http://schemas.microsoft.com/office/drawing/2014/main" val="10000"/>
                  </a:ext>
                </a:extLst>
              </a:tr>
              <a:tr h="329184">
                <a:tc>
                  <a:txBody>
                    <a:bodyPr/>
                    <a:lstStyle/>
                    <a:p>
                      <a:pPr algn="l"/>
                      <a:r>
                        <a:rPr lang="ja-JP" sz="1200" b="1">
                          <a:solidFill>
                            <a:srgbClr val="1F2A5C"/>
                          </a:solidFill>
                          <a:latin typeface="メイリオ"/>
                          <a:ea typeface="メイリオ"/>
                          <a:cs typeface="メイリオ"/>
                        </a:rPr>
                        <a:t>① 接触</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営業力を上げたい・情報収集中</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日程が合わず、申し込まない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離脱防止ポップアップ（推奨）</a:t>
                      </a:r>
                    </a:p>
                  </a:txBody>
                  <a:tcPr marR="73152" anchor="ctr">
                    <a:solidFill>
                      <a:srgbClr val="FFFFFF"/>
                    </a:solidFill>
                  </a:tcPr>
                </a:tc>
                <a:extLst>
                  <a:ext uri="{0D108BD9-81ED-4DB2-BD59-A6C34878D82A}">
                    <a16:rowId xmlns:a16="http://schemas.microsoft.com/office/drawing/2014/main" val="10001"/>
                  </a:ext>
                </a:extLst>
              </a:tr>
              <a:tr h="329184">
                <a:tc>
                  <a:txBody>
                    <a:bodyPr/>
                    <a:lstStyle/>
                    <a:p>
                      <a:pPr algn="l"/>
                      <a:r>
                        <a:rPr lang="ja-JP" sz="1200" b="1">
                          <a:solidFill>
                            <a:srgbClr val="1F2A5C"/>
                          </a:solidFill>
                          <a:latin typeface="メイリオ"/>
                          <a:ea typeface="メイリオ"/>
                          <a:cs typeface="メイリオ"/>
                        </a:rPr>
                        <a:t>② サイト離脱</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今回は申し込まない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次の開催まで関心が続きにくい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ポップアップからLINE友だち化</a:t>
                      </a:r>
                    </a:p>
                  </a:txBody>
                  <a:tcPr marR="73152" anchor="ctr">
                    <a:solidFill>
                      <a:srgbClr val="F5F7FA"/>
                    </a:solidFill>
                  </a:tcPr>
                </a:tc>
                <a:extLst>
                  <a:ext uri="{0D108BD9-81ED-4DB2-BD59-A6C34878D82A}">
                    <a16:rowId xmlns:a16="http://schemas.microsoft.com/office/drawing/2014/main" val="10002"/>
                  </a:ext>
                </a:extLst>
              </a:tr>
              <a:tr h="329184">
                <a:tc>
                  <a:txBody>
                    <a:bodyPr/>
                    <a:lstStyle/>
                    <a:p>
                      <a:pPr algn="l"/>
                      <a:r>
                        <a:rPr lang="ja-JP" sz="1200" b="1">
                          <a:solidFill>
                            <a:srgbClr val="1F2A5C"/>
                          </a:solidFill>
                          <a:latin typeface="メイリオ"/>
                          <a:ea typeface="メイリオ"/>
                          <a:cs typeface="メイリオ"/>
                        </a:rPr>
                        <a:t>③ 育成（追加直後）</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どんなセミナーか分からない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中身が見えず、予約に進まない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見どころ・特典をステップ配信</a:t>
                      </a:r>
                    </a:p>
                  </a:txBody>
                  <a:tcPr marR="73152" anchor="ctr">
                    <a:solidFill>
                      <a:srgbClr val="FFFFFF"/>
                    </a:solidFill>
                  </a:tcPr>
                </a:tc>
                <a:extLst>
                  <a:ext uri="{0D108BD9-81ED-4DB2-BD59-A6C34878D82A}">
                    <a16:rowId xmlns:a16="http://schemas.microsoft.com/office/drawing/2014/main" val="10003"/>
                  </a:ext>
                </a:extLst>
              </a:tr>
              <a:tr h="329184">
                <a:tc>
                  <a:txBody>
                    <a:bodyPr/>
                    <a:lstStyle/>
                    <a:p>
                      <a:pPr algn="l"/>
                      <a:r>
                        <a:rPr lang="ja-JP" sz="1200" b="1">
                          <a:solidFill>
                            <a:srgbClr val="1F2A5C"/>
                          </a:solidFill>
                          <a:latin typeface="メイリオ"/>
                          <a:ea typeface="メイリオ"/>
                          <a:cs typeface="メイリオ"/>
                        </a:rPr>
                        <a:t>④ リード獲得</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セミナーを予約した</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日が空き、参加を忘れる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予約後の友だち追加・前日の案内</a:t>
                      </a:r>
                    </a:p>
                  </a:txBody>
                  <a:tcPr marR="73152" anchor="ctr">
                    <a:solidFill>
                      <a:srgbClr val="F5F7FA"/>
                    </a:solidFill>
                  </a:tcPr>
                </a:tc>
                <a:extLst>
                  <a:ext uri="{0D108BD9-81ED-4DB2-BD59-A6C34878D82A}">
                    <a16:rowId xmlns:a16="http://schemas.microsoft.com/office/drawing/2014/main" val="10004"/>
                  </a:ext>
                </a:extLst>
              </a:tr>
              <a:tr h="329184">
                <a:tc>
                  <a:txBody>
                    <a:bodyPr/>
                    <a:lstStyle/>
                    <a:p>
                      <a:pPr algn="l"/>
                      <a:r>
                        <a:rPr lang="ja-JP" sz="1200" b="1">
                          <a:solidFill>
                            <a:srgbClr val="1F2A5C"/>
                          </a:solidFill>
                          <a:latin typeface="メイリオ"/>
                          <a:ea typeface="メイリオ"/>
                          <a:cs typeface="メイリオ"/>
                        </a:rPr>
                        <a:t>⑤ リード有効化</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参加して関心が高まっている</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入会を迷ったまま時間が経つ</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参加直後にサロンを案内</a:t>
                      </a:r>
                    </a:p>
                  </a:txBody>
                  <a:tcPr marR="73152" anchor="ctr">
                    <a:solidFill>
                      <a:srgbClr val="FFFFFF"/>
                    </a:solidFill>
                  </a:tcPr>
                </a:tc>
                <a:extLst>
                  <a:ext uri="{0D108BD9-81ED-4DB2-BD59-A6C34878D82A}">
                    <a16:rowId xmlns:a16="http://schemas.microsoft.com/office/drawing/2014/main" val="10005"/>
                  </a:ext>
                </a:extLst>
              </a:tr>
              <a:tr h="329184">
                <a:tc>
                  <a:txBody>
                    <a:bodyPr/>
                    <a:lstStyle/>
                    <a:p>
                      <a:pPr algn="l"/>
                      <a:r>
                        <a:rPr lang="ja-JP" sz="1200" b="1">
                          <a:solidFill>
                            <a:srgbClr val="1F2A5C"/>
                          </a:solidFill>
                          <a:latin typeface="メイリオ"/>
                          <a:ea typeface="メイリオ"/>
                          <a:cs typeface="メイリオ"/>
                        </a:rPr>
                        <a:t>⑥ 再育成</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未入会／予約したが不参加</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次のイベントまで期間が空く</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月1〜2回の配信で次回へ</a:t>
                      </a:r>
                    </a:p>
                  </a:txBody>
                  <a:tcPr marR="73152" anchor="ctr">
                    <a:solidFill>
                      <a:srgbClr val="F5F7FA"/>
                    </a:solidFill>
                  </a:tcPr>
                </a:tc>
                <a:extLst>
                  <a:ext uri="{0D108BD9-81ED-4DB2-BD59-A6C34878D82A}">
                    <a16:rowId xmlns:a16="http://schemas.microsoft.com/office/drawing/2014/main" val="10006"/>
                  </a:ext>
                </a:extLst>
              </a:tr>
              <a:tr h="329184">
                <a:tc>
                  <a:txBody>
                    <a:bodyPr/>
                    <a:lstStyle/>
                    <a:p>
                      <a:pPr algn="l"/>
                      <a:r>
                        <a:rPr lang="ja-JP" sz="1200" b="1">
                          <a:solidFill>
                            <a:srgbClr val="1F2A5C"/>
                          </a:solidFill>
                          <a:latin typeface="メイリオ"/>
                          <a:ea typeface="メイリオ"/>
                          <a:cs typeface="メイリオ"/>
                        </a:rPr>
                        <a:t>⑦ マネタイズ</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サロンの入会を検討</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入会後の中身・成果が見えない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入会した方の声を配信</a:t>
                      </a:r>
                    </a:p>
                  </a:txBody>
                  <a:tcPr marR="73152" anchor="ctr">
                    <a:solidFill>
                      <a:srgbClr val="FFFFFF"/>
                    </a:solidFill>
                  </a:tcPr>
                </a:tc>
                <a:extLst>
                  <a:ext uri="{0D108BD9-81ED-4DB2-BD59-A6C34878D82A}">
                    <a16:rowId xmlns:a16="http://schemas.microsoft.com/office/drawing/2014/main" val="10007"/>
                  </a:ext>
                </a:extLst>
              </a:tr>
              <a:tr h="329184">
                <a:tc>
                  <a:txBody>
                    <a:bodyPr/>
                    <a:lstStyle/>
                    <a:p>
                      <a:pPr algn="l"/>
                      <a:r>
                        <a:rPr lang="ja-JP" sz="1200" b="1">
                          <a:solidFill>
                            <a:srgbClr val="1F2A5C"/>
                          </a:solidFill>
                          <a:latin typeface="メイリオ"/>
                          <a:ea typeface="メイリオ"/>
                          <a:cs typeface="メイリオ"/>
                        </a:rPr>
                        <a:t>⑧ ファン化・紹介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サロンに入会</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継続利用・紹介まで届きにくい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イベント案内・紹介（中長期）</a:t>
                      </a:r>
                    </a:p>
                  </a:txBody>
                  <a:tcPr marR="73152" anchor="ctr">
                    <a:solidFill>
                      <a:srgbClr val="F5F7FA"/>
                    </a:solidFill>
                  </a:tcPr>
                </a:tc>
                <a:extLst>
                  <a:ext uri="{0D108BD9-81ED-4DB2-BD59-A6C34878D82A}">
                    <a16:rowId xmlns:a16="http://schemas.microsoft.com/office/drawing/2014/main" val="10008"/>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※個別チャット対応は効率化のみで基本貴社対応</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トラック分岐の設計思想</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¥335,000程度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平常期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¥365,000程度／平常期 ¥165,000〜）</a:t>
            </a:r>
            <a:endParaRPr lang="ja-JP" altLang="en-US" sz="1200" dirty="0">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nvGraphicFramePr>
        <p:xfrm>
          <a:off x="384048" y="1353312"/>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335,000円程度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365,000円程度（＋30,000円〜）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39" name="注記"/>
          <p:cNvSpPr/>
          <p:nvPr/>
        </p:nvSpPr>
        <p:spPr>
          <a:xfrm>
            <a:off x="420624" y="4754880"/>
            <a:ext cx="9052560" cy="96012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※月額費用＝コンサルティング費（平常期 100,000円／セミナー開催月 300,000円程度）＋ツール・LINE関連費（推奨構成 35,000円〜＝ポップアップ 30,000円＋LINE公式アカウント利用料 5,000円〜）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※初期費用（推奨構成）＝運用設計・構築 100,000円〜＋ポップアップ 15,000円＋LINE公式アカウント開設 30,000円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※ポップアップ・サンクスLINE誘導はどちらも選択制。ポップアップも導入しない場合の参考：初期 130,000円〜／平常期 105,000円〜／開催月 305,000円程度（別途の実装・制作費等は含まない）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※サンクスLINE誘導の最低利用期間・停止条件（セミナー開催月だけの利用可否）は、確認のうえご案内</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300,000円程度</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
        <p:nvSpPr>
          <p:cNvPr id="640" name="注記"/>
          <p:cNvSpPr/>
          <p:nvPr/>
        </p:nvSpPr>
        <p:spPr>
          <a:xfrm>
            <a:off x="384048" y="53035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※初期費用＝運用設計・構築 100,000円〜＋ポップアップ 15,000円＋LINE公式アカウント開設 30,000円</a:t>
            </a:r>
            <a:endParaRPr lang="ja-JP" altLang="en-US" sz="1200" dirty="0">
              <a:latin typeface="メイリオ"/>
              <a:ea typeface="メイリオ"/>
              <a:cs typeface="メイリオ"/>
            </a:endParaRPr>
          </a:p>
        </p:txBody>
      </p:sp>
      <p:sp>
        <p:nvSpPr>
          <p:cNvPr id="641" name="注記"/>
          <p:cNvSpPr/>
          <p:nvPr/>
        </p:nvSpPr>
        <p:spPr>
          <a:xfrm>
            <a:off x="384048" y="55321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※月額ツール・LINE関連費＝ポップアップ 30,000円＋LINE公式アカウント利用料 5,000円〜</a:t>
            </a:r>
            <a:endParaRPr lang="ja-JP" altLang="en-US" sz="1200" dirty="0">
              <a:latin typeface="メイリオ"/>
              <a:ea typeface="メイリオ"/>
              <a:cs typeface="メイリオ"/>
            </a:endParaRPr>
          </a:p>
        </p:txBody>
      </p:sp>
      <p:sp>
        <p:nvSpPr>
          <p:cNvPr id="642" name="注記"/>
          <p:cNvSpPr/>
          <p:nvPr/>
        </p:nvSpPr>
        <p:spPr>
          <a:xfrm>
            <a:off x="384048" y="57607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※ツールは選択制。サンクスLINE誘導を追加する場合は、初期＋150,000円・月額＋30,000円〜（ポップアップを導入しない場合は、初期−15,000円・月額−30,000円）</a:t>
            </a:r>
            <a:endParaRPr lang="ja-JP" altLang="en-US" sz="1200" dirty="0">
              <a:latin typeface="メイリオ"/>
              <a:ea typeface="メイリオ"/>
              <a:cs typeface="メイリオ"/>
            </a:endParaRPr>
          </a:p>
        </p:txBody>
      </p:sp>
      <p:sp>
        <p:nvSpPr>
          <p:cNvPr id="643" name="注記"/>
          <p:cNvSpPr/>
          <p:nvPr/>
        </p:nvSpPr>
        <p:spPr>
          <a:xfrm>
            <a:off x="384048" y="59893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※成果報酬型プラン：初期 145,000円〜／月額 35,000円〜＋成果報酬（セミナー予約 12,000円／件）。ツールの追加は上記と同じ</a:t>
            </a:r>
            <a:endParaRPr lang="ja-JP" altLang="en-US" sz="1200" dirty="0">
              <a:latin typeface="メイリオ"/>
              <a:ea typeface="メイリオ"/>
              <a:cs typeface="メイリオ"/>
            </a:endParaRPr>
          </a:p>
        </p:txBody>
      </p:sp>
      <p:sp>
        <p:nvSpPr>
          <p:cNvPr id="644" name="注記"/>
          <p:cNvSpPr/>
          <p:nvPr/>
        </p:nvSpPr>
        <p:spPr>
          <a:xfrm>
            <a:off x="384048" y="62179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2955272464"/>
              </p:ext>
            </p:extLst>
          </p:nvPr>
        </p:nvGraphicFramePr>
        <p:xfrm>
          <a:off x="384048" y="1353312"/>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月3回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注記"/>
          <p:cNvSpPr/>
          <p:nvPr/>
        </p:nvSpPr>
        <p:spPr>
          <a:xfrm>
            <a:off x="420624" y="512064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※月額のコンサルティング費には、企画配信の制作に加え、LINEアカウントの運用・導線の管理・ステップ配信の改善・配信結果の分析・次回施策への改善提案を含む</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※平常期の配信は、次のイベントまで関係を保つためのもの（配信の回数を増やすこと自体は目的にしない）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※前日・当日のリマインドは、企画配信とは別に、予約ごとに配信。契約期間は6か月</a:t>
            </a:r>
            <a:endParaRPr lang="ja-JP" altLang="en-US" sz="1200" dirty="0">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複数の</a:t>
            </a: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数を増加。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nvGraphicFramePr>
        <p:xfrm>
          <a:off x="420624" y="1600200"/>
          <a:ext cx="9052560" cy="3931920"/>
        </p:xfrm>
        <a:graphic>
          <a:graphicData uri="http://schemas.openxmlformats.org/drawingml/2006/table">
            <a:tbl>
              <a:tblPr/>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離脱防止ポップアップ（導入推奨）／予約完了後の友だち追加：サンクスLINE誘導（追加オプション）または通常のご案内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あいさつメッセージ・見どころ動画・参加特典（必要に応じて、簡易的な興味分野の把握）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セミナー内容の振り返り／オンラインサロンの内容紹介・入会のご案内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
        <p:nvSpPr>
          <p:cNvPr id="23"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271334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a:t>
            </a:r>
            <a:r>
              <a:rPr lang="ja-JP" altLang="en-US" sz="1050" dirty="0">
                <a:solidFill>
                  <a:srgbClr val="1F2A5C"/>
                </a:solidFill>
                <a:latin typeface="メイリオ"/>
                <a:ea typeface="メイリオ"/>
                <a:cs typeface="メイリオ"/>
                <a:sym typeface="Meiryo"/>
              </a:rPr>
              <a:t>以外の注力動線への誘導も同バナーから実施が可能です。</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簡易</a:t>
            </a:r>
            <a:r>
              <a:rPr lang="en-US" altLang="ja-JP" sz="1000" b="1" dirty="0">
                <a:solidFill>
                  <a:schemeClr val="bg1"/>
                </a:solidFill>
                <a:latin typeface="メイリオ"/>
                <a:ea typeface="メイリオ"/>
                <a:cs typeface="メイリオ"/>
                <a:sym typeface="Meiryo"/>
              </a:rPr>
              <a:t>SIM</a:t>
            </a:r>
            <a:r>
              <a:rPr lang="ja-JP" altLang="en-US" sz="1000" b="1" dirty="0">
                <a:solidFill>
                  <a:schemeClr val="bg1"/>
                </a:solidFill>
                <a:latin typeface="メイリオ"/>
                <a:ea typeface="メイリオ"/>
                <a:cs typeface="メイリオ"/>
                <a:sym typeface="Meiryo"/>
              </a:rPr>
              <a:t>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
        <p:nvSpPr>
          <p:cNvPr id="75"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5" name="ツールの位置づけ"/>
          <p:cNvSpPr/>
          <p:nvPr/>
        </p:nvSpPr>
        <p:spPr>
          <a:xfrm>
            <a:off x="7269480" y="841248"/>
            <a:ext cx="146304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追加オプション</a:t>
            </a:r>
            <a:endParaRPr lang="ja-JP" altLang="en-US" sz="1200" dirty="0">
              <a:latin typeface="メイリオ"/>
              <a:ea typeface="メイリオ"/>
              <a:cs typeface="メイリオ"/>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LINE友だち追加～15日を境に大きくアクティブ率が下がる（ブロック率が上がる）</a:t>
            </a:r>
          </a:p>
          <a:p>
            <a:r>
              <a:rPr lang="ja-JP" altLang="en-US" sz="1600" b="1" dirty="0">
                <a:latin typeface="メイリオ" panose="020B0604030504040204" pitchFamily="50" charset="-128"/>
                <a:ea typeface="メイリオ" panose="020B0604030504040204" pitchFamily="50" charset="-128"/>
                <a:cs typeface="メイリオ"/>
                <a:sym typeface="Meiryo"/>
              </a:rPr>
              <a:t>為、段階に合わせて配信を変え、イベントの無い時期は回数を絞る。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友だち追加直後のステップ配信（5通・案）</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追加直後の関心が高いうちに、セミナーの中身と参加の判断材料を届ける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ステップ 追加直後"/>
          <p:cNvSpPr/>
          <p:nvPr/>
        </p:nvSpPr>
        <p:spPr>
          <a:xfrm>
            <a:off x="420624"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追加直後</a:t>
            </a:r>
            <a:endParaRPr lang="ja-JP" altLang="en-US" sz="1200" dirty="0">
              <a:latin typeface="メイリオ"/>
              <a:ea typeface="メイリオ"/>
              <a:cs typeface="メイリオ"/>
            </a:endParaRPr>
          </a:p>
        </p:txBody>
      </p:sp>
      <p:sp>
        <p:nvSpPr>
          <p:cNvPr id="51" name="配信 追加直後"/>
          <p:cNvSpPr/>
          <p:nvPr/>
        </p:nvSpPr>
        <p:spPr>
          <a:xfrm>
            <a:off x="420624"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あいさつ・参加特典</a:t>
            </a:r>
            <a:endParaRPr lang="ja-JP" altLang="en-US" sz="1200" dirty="0">
              <a:latin typeface="メイリオ"/>
              <a:ea typeface="メイリオ"/>
              <a:cs typeface="メイリオ"/>
            </a:endParaRPr>
          </a:p>
        </p:txBody>
      </p:sp>
      <p:sp>
        <p:nvSpPr>
          <p:cNvPr id="52" name="内容 追加直後"/>
          <p:cNvSpPr/>
          <p:nvPr/>
        </p:nvSpPr>
        <p:spPr>
          <a:xfrm>
            <a:off x="420624"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参加特典をご案内。必要に応じて、興味分野を1問で確認（保険営業の方向け／一般の方向け）</a:t>
            </a:r>
            <a:endParaRPr lang="ja-JP" altLang="en-US" sz="1200" dirty="0">
              <a:latin typeface="メイリオ"/>
              <a:ea typeface="メイリオ"/>
              <a:cs typeface="メイリオ"/>
            </a:endParaRPr>
          </a:p>
        </p:txBody>
      </p:sp>
      <p:sp>
        <p:nvSpPr>
          <p:cNvPr id="53" name="ステップ 1〜2日後"/>
          <p:cNvSpPr/>
          <p:nvPr/>
        </p:nvSpPr>
        <p:spPr>
          <a:xfrm>
            <a:off x="2258568"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1〜2日後</a:t>
            </a:r>
            <a:endParaRPr lang="ja-JP" altLang="en-US" sz="1200" dirty="0">
              <a:latin typeface="メイリオ"/>
              <a:ea typeface="メイリオ"/>
              <a:cs typeface="メイリオ"/>
            </a:endParaRPr>
          </a:p>
        </p:txBody>
      </p:sp>
      <p:sp>
        <p:nvSpPr>
          <p:cNvPr id="54" name="配信 1〜2日後"/>
          <p:cNvSpPr/>
          <p:nvPr/>
        </p:nvSpPr>
        <p:spPr>
          <a:xfrm>
            <a:off x="2258568"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見どころ動画</a:t>
            </a:r>
            <a:endParaRPr lang="ja-JP" altLang="en-US" sz="1200" dirty="0">
              <a:latin typeface="メイリオ"/>
              <a:ea typeface="メイリオ"/>
              <a:cs typeface="メイリオ"/>
            </a:endParaRPr>
          </a:p>
        </p:txBody>
      </p:sp>
      <p:sp>
        <p:nvSpPr>
          <p:cNvPr id="55" name="内容 1〜2日後"/>
          <p:cNvSpPr/>
          <p:nvPr/>
        </p:nvSpPr>
        <p:spPr>
          <a:xfrm>
            <a:off x="2258568"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両想い営業・ライフプランブロックなど、セミナーの見どころを動画で紹介</a:t>
            </a:r>
            <a:endParaRPr lang="ja-JP" altLang="en-US" sz="1200" dirty="0">
              <a:latin typeface="メイリオ"/>
              <a:ea typeface="メイリオ"/>
              <a:cs typeface="メイリオ"/>
            </a:endParaRPr>
          </a:p>
        </p:txBody>
      </p:sp>
      <p:sp>
        <p:nvSpPr>
          <p:cNvPr id="56" name="ステップ 4〜5日後"/>
          <p:cNvSpPr/>
          <p:nvPr/>
        </p:nvSpPr>
        <p:spPr>
          <a:xfrm>
            <a:off x="4096512"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4〜5日後</a:t>
            </a:r>
            <a:endParaRPr lang="ja-JP" altLang="en-US" sz="1200" dirty="0">
              <a:latin typeface="メイリオ"/>
              <a:ea typeface="メイリオ"/>
              <a:cs typeface="メイリオ"/>
            </a:endParaRPr>
          </a:p>
        </p:txBody>
      </p:sp>
      <p:sp>
        <p:nvSpPr>
          <p:cNvPr id="57" name="配信 4〜5日後"/>
          <p:cNvSpPr/>
          <p:nvPr/>
        </p:nvSpPr>
        <p:spPr>
          <a:xfrm>
            <a:off x="4096512"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p:txBody>
      </p:sp>
      <p:sp>
        <p:nvSpPr>
          <p:cNvPr id="58" name="内容 4〜5日後"/>
          <p:cNvSpPr/>
          <p:nvPr/>
        </p:nvSpPr>
        <p:spPr>
          <a:xfrm>
            <a:off x="4096512"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面談の進め方が変わった受講生の声を紹介</a:t>
            </a:r>
            <a:endParaRPr lang="ja-JP" altLang="en-US" sz="1200" dirty="0">
              <a:latin typeface="メイリオ"/>
              <a:ea typeface="メイリオ"/>
              <a:cs typeface="メイリオ"/>
            </a:endParaRPr>
          </a:p>
        </p:txBody>
      </p:sp>
      <p:sp>
        <p:nvSpPr>
          <p:cNvPr id="59" name="ステップ 8〜9日後"/>
          <p:cNvSpPr/>
          <p:nvPr/>
        </p:nvSpPr>
        <p:spPr>
          <a:xfrm>
            <a:off x="5934456"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8〜9日後</a:t>
            </a:r>
            <a:endParaRPr lang="ja-JP" altLang="en-US" sz="1200" dirty="0">
              <a:latin typeface="メイリオ"/>
              <a:ea typeface="メイリオ"/>
              <a:cs typeface="メイリオ"/>
            </a:endParaRPr>
          </a:p>
        </p:txBody>
      </p:sp>
      <p:sp>
        <p:nvSpPr>
          <p:cNvPr id="60" name="配信 8〜9日後"/>
          <p:cNvSpPr/>
          <p:nvPr/>
        </p:nvSpPr>
        <p:spPr>
          <a:xfrm>
            <a:off x="5934456"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61" name="内容 8〜9日後"/>
          <p:cNvSpPr/>
          <p:nvPr/>
        </p:nvSpPr>
        <p:spPr>
          <a:xfrm>
            <a:off x="5934456"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62" name="ステップ 12〜15日後"/>
          <p:cNvSpPr/>
          <p:nvPr/>
        </p:nvSpPr>
        <p:spPr>
          <a:xfrm>
            <a:off x="7772400"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12〜15日後</a:t>
            </a:r>
            <a:endParaRPr lang="ja-JP" altLang="en-US" sz="1200" dirty="0">
              <a:latin typeface="メイリオ"/>
              <a:ea typeface="メイリオ"/>
              <a:cs typeface="メイリオ"/>
            </a:endParaRPr>
          </a:p>
        </p:txBody>
      </p:sp>
      <p:sp>
        <p:nvSpPr>
          <p:cNvPr id="63" name="配信 12〜15日後"/>
          <p:cNvSpPr/>
          <p:nvPr/>
        </p:nvSpPr>
        <p:spPr>
          <a:xfrm>
            <a:off x="7772400"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次回セミナーのご案内</a:t>
            </a:r>
            <a:endParaRPr lang="ja-JP" altLang="en-US" sz="1200" dirty="0">
              <a:latin typeface="メイリオ"/>
              <a:ea typeface="メイリオ"/>
              <a:cs typeface="メイリオ"/>
            </a:endParaRPr>
          </a:p>
        </p:txBody>
      </p:sp>
      <p:sp>
        <p:nvSpPr>
          <p:cNvPr id="64" name="内容 12〜15日後"/>
          <p:cNvSpPr/>
          <p:nvPr/>
        </p:nvSpPr>
        <p:spPr>
          <a:xfrm>
            <a:off x="7772400"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開催日程と予約ページをご案内（募集期間外は、案内開始時にお届け）</a:t>
            </a:r>
            <a:endParaRPr lang="ja-JP" altLang="en-US" sz="1200" dirty="0">
              <a:latin typeface="メイリオ"/>
              <a:ea typeface="メイリオ"/>
              <a:cs typeface="メイリオ"/>
            </a:endParaRPr>
          </a:p>
        </p:txBody>
      </p:sp>
      <p:sp>
        <p:nvSpPr>
          <p:cNvPr id="65" name="注記"/>
          <p:cNvSpPr/>
          <p:nvPr/>
        </p:nvSpPr>
        <p:spPr>
          <a:xfrm>
            <a:off x="420624" y="461772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※配信内容は、貴社LPの「生産性4倍セミナーの特徴」「受講生の声」「よくある質問」をもとにした例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※一般の方向けを選んだ方には、一般の方向けの案内を中心に配信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※前後検索のデータを取得後、内容・順番を見直す</a:t>
            </a:r>
            <a:endParaRPr lang="ja-JP" altLang="en-US" sz="1200" dirty="0">
              <a:latin typeface="メイリオ"/>
              <a:ea typeface="メイリオ"/>
              <a:cs typeface="メイリオ"/>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熱が高いうちに、サロンをご案内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谷岡さんの経歴：契約件数全国1位で表彰・週2日の営業で毎年TOT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導入前に確認させていただきたい事項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契約前に確認する事項と、運用開始後に調整できる事項を分けて整理する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確認事項 49"/>
          <p:cNvGraphicFramePr>
            <a:graphicFrameLocks noGrp="1"/>
          </p:cNvGraphicFramePr>
          <p:nvPr/>
        </p:nvGraphicFramePr>
        <p:xfrm>
          <a:off x="420624" y="1600200"/>
          <a:ext cx="9052560" cy="3995928"/>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区分</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確認させていただきたいこと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rowSpan="5">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契約前に確認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予約・参加情報との紐づけ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予約システム・フォーム・顧客管理の情報と、LINEの友だちを紐づけられるか（難しい場合は流入経路での出し分け・全体配信が基本）</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サンクスLINE誘導の導入</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導入するかどうか。導入する場合は、最低利用期間・停止条件（セミナー開催月だけの利用可否）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通常の友だち追加ボタン</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予約完了ページへの設置可否・費用・実装条件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SIMと成果の計測方法</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セミナー予約・サロン入会を、LINEからの件数とするか、広告からの予約も含めるか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成果報酬型プラン（別案）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成果地点の定義・重複計上の有無・計測方法（成果報酬単価 12,000円／件）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rowSpan="3">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運用開始後に調整</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一般の方向けセミナー</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同じLINE公式アカウントでの配信の出し分け（流入経路の分け方・配信内容）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月1〜2回の範囲での回数・内容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7"/>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興味分野の確認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友だち追加直後の簡易アンケートを入れるかどうか（必要最小限の1問程度）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8"/>
                  </a:ext>
                </a:extLst>
              </a:tr>
            </a:tbl>
          </a:graphicData>
        </a:graphic>
      </p:graphicFrame>
      <p:sp>
        <p:nvSpPr>
          <p:cNvPr id="51" name="注記"/>
          <p:cNvSpPr/>
          <p:nvPr/>
        </p:nvSpPr>
        <p:spPr>
          <a:xfrm>
            <a:off x="420624" y="580644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※データ連携が必要な高度な施策は、別途要件定義・お見積りのうえ実施</a:t>
            </a:r>
            <a:endParaRPr lang="ja-JP" altLang="en-US" sz="1200" dirty="0">
              <a:latin typeface="メイリオ"/>
              <a:ea typeface="メイリオ"/>
              <a:cs typeface="メイリオ"/>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6099048"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※契約期間は6か月。貴社作業・確認にかかる時間により前後する可能性がございます。</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LINEステップ配信シナリオ（5通）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興味分野の把握（簡易アンケート）</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セミナー開催月・平常期の企画配信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開催月は月4〜5回、平常期は月1〜2回の配信案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142249</TotalTime>
  <Words>8026</Words>
  <Application>Microsoft Office PowerPoint</Application>
  <PresentationFormat>A4 210 x 297 mm</PresentationFormat>
  <Paragraphs>1350</Paragraphs>
  <Slides>62</Slides>
  <Notes>22</Notes>
  <HiddenSlides>3</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62</vt:i4>
      </vt:variant>
    </vt:vector>
  </HeadingPairs>
  <TitlesOfParts>
    <vt:vector size="68"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2026-10-20T09:12:38Z</dcterms:modified>
</cp:coreProperties>
</file>