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handoutMasters/handoutMaster1.xml" ContentType="application/vnd.openxmlformats-officedocument.presentationml.handoutMaster+xml"/>
  <Override PartName="/ppt/media/image38.svg" ContentType="image/svg+xml"/>
  <Override PartName="/ppt/media/image45.svg" ContentType="image/svg+xml"/>
  <Override PartName="/ppt/media/image46.svg" ContentType="image/svg+xml"/>
  <Override PartName="/ppt/media/image47.svg" ContentType="image/svg+xml"/>
  <Override PartName="/ppt/media/image48.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4" r:id="rId1"/>
    <p:sldMasterId id="2147483687" r:id="rId2"/>
  </p:sldMasterIdLst>
  <p:notesMasterIdLst>
    <p:notesMasterId r:id="rId62"/>
  </p:notesMasterIdLst>
  <p:handoutMasterIdLst>
    <p:handoutMasterId r:id="rId63"/>
  </p:handoutMasterIdLst>
  <p:sldIdLst>
    <p:sldId id="2363" r:id="rId3"/>
    <p:sldId id="2988" r:id="rId4"/>
    <p:sldId id="2971" r:id="rId5"/>
    <p:sldId id="2972" r:id="rId6"/>
    <p:sldId id="2736" r:id="rId7"/>
    <p:sldId id="2976" r:id="rId8"/>
    <p:sldId id="3033" r:id="rId9"/>
    <p:sldId id="3026" r:id="rId10"/>
    <p:sldId id="2986" r:id="rId11"/>
    <p:sldId id="2761" r:id="rId12"/>
    <p:sldId id="3021" r:id="rId13"/>
    <p:sldId id="3008" r:id="rId14"/>
    <p:sldId id="2737" r:id="rId15"/>
    <p:sldId id="2979" r:id="rId16"/>
    <p:sldId id="3006" r:id="rId17"/>
    <p:sldId id="3027" r:id="rId18"/>
    <p:sldId id="2989" r:id="rId19"/>
    <p:sldId id="3015" r:id="rId20"/>
    <p:sldId id="2957" r:id="rId22"/>
    <p:sldId id="3022" r:id="rId23"/>
    <p:sldId id="3031" r:id="rId24"/>
    <p:sldId id="3023" r:id="rId25"/>
    <p:sldId id="3024" r:id="rId26"/>
    <p:sldId id="3019" r:id="rId27"/>
    <p:sldId id="3032" r:id="rId28"/>
    <p:sldId id="3028" r:id="rId29"/>
    <p:sldId id="2970" r:id="rId30"/>
    <p:sldId id="2959" r:id="rId31"/>
    <p:sldId id="3025" r:id="rId32"/>
    <p:sldId id="3034" r:id="rId68"/>
    <p:sldId id="2966" r:id="rId33"/>
    <p:sldId id="3013" r:id="rId21"/>
    <p:sldId id="3029" r:id="rId34"/>
    <p:sldId id="3011" r:id="rId35"/>
    <p:sldId id="2734" r:id="rId36"/>
    <p:sldId id="2595" r:id="rId37"/>
    <p:sldId id="2566" r:id="rId38"/>
    <p:sldId id="2915" r:id="rId39"/>
    <p:sldId id="2619" r:id="rId40"/>
    <p:sldId id="1169" r:id="rId41"/>
    <p:sldId id="2961" r:id="rId42"/>
    <p:sldId id="2908" r:id="rId43"/>
    <p:sldId id="2935" r:id="rId44"/>
    <p:sldId id="2919" r:id="rId45"/>
    <p:sldId id="2519" r:id="rId46"/>
    <p:sldId id="2931" r:id="rId47"/>
    <p:sldId id="2749" r:id="rId48"/>
    <p:sldId id="2950" r:id="rId49"/>
    <p:sldId id="2563" r:id="rId50"/>
    <p:sldId id="2968" r:id="rId51"/>
    <p:sldId id="2969" r:id="rId52"/>
    <p:sldId id="2951" r:id="rId53"/>
    <p:sldId id="2841" r:id="rId54"/>
    <p:sldId id="2849" r:id="rId55"/>
    <p:sldId id="2904" r:id="rId56"/>
    <p:sldId id="2905" r:id="rId57"/>
    <p:sldId id="2906" r:id="rId58"/>
    <p:sldId id="2907" r:id="rId59"/>
    <p:sldId id="2575" r:id="rId60"/>
    <p:sldId id="2910" r:id="rId61"/>
  </p:sldIdLst>
  <p:sldSz cx="9906000" cy="6858000" type="A4"/>
  <p:notesSz cx="6807200" cy="9939338"/>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158" userDrawn="1">
          <p15:clr>
            <a:srgbClr val="A4A3A4"/>
          </p15:clr>
        </p15:guide>
        <p15:guide id="2" pos="308"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4FA0A"/>
    <a:srgbClr val="FDFDFD"/>
    <a:srgbClr val="173559"/>
    <a:srgbClr val="2080FF"/>
    <a:srgbClr val="1D8DFF"/>
    <a:srgbClr val="515457"/>
    <a:srgbClr val="F6A454"/>
    <a:srgbClr val="EAEEF4"/>
    <a:srgbClr val="2D6CB9"/>
    <a:srgbClr val="D1D9E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中間スタイル 2 - アクセント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B301B821-A1FF-4177-AEE7-76D212191A09}" styleName="中間スタイル 1 - アクセント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9012ECD-51FC-41F1-AA8D-1B2483CD663E}" styleName="淡色スタイル 2 - アクセント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157" autoAdjust="0"/>
    <p:restoredTop sz="94424" autoAdjust="0"/>
  </p:normalViewPr>
  <p:slideViewPr>
    <p:cSldViewPr snapToGrid="0">
      <p:cViewPr>
        <p:scale>
          <a:sx n="50" d="100"/>
          <a:sy n="50" d="100"/>
        </p:scale>
        <p:origin x="-56" y="504"/>
      </p:cViewPr>
      <p:guideLst>
        <p:guide orient="horz" pos="3158"/>
        <p:guide pos="308"/>
      </p:guideLst>
    </p:cSldViewPr>
  </p:slideViewPr>
  <p:notesTextViewPr>
    <p:cViewPr>
      <p:scale>
        <a:sx n="1" d="1"/>
        <a:sy n="1" d="1"/>
      </p:scale>
      <p:origin x="0" y="0"/>
    </p:cViewPr>
  </p:notesTextViewPr>
  <p:sorterViewPr>
    <p:cViewPr>
      <p:scale>
        <a:sx n="100" d="100"/>
        <a:sy n="100" d="100"/>
      </p:scale>
      <p:origin x="0" y="-3072"/>
    </p:cViewPr>
  </p:sorterViewPr>
  <p:notesViewPr>
    <p:cSldViewPr snapToGrid="0">
      <p:cViewPr varScale="1">
        <p:scale>
          <a:sx n="79" d="100"/>
          <a:sy n="79" d="100"/>
        </p:scale>
        <p:origin x="4014" y="102"/>
      </p:cViewPr>
      <p:guideLst/>
    </p:cSldViewPr>
  </p:notesViewPr>
  <p:gridSpacing cx="1080001" cy="1080001"/>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19" Type="http://schemas.openxmlformats.org/officeDocument/2006/relationships/slide" Target="slides/slide17.xml"/><Relationship Id="rId20" Type="http://schemas.openxmlformats.org/officeDocument/2006/relationships/slide" Target="slides/slide18.xml"/><Relationship Id="rId21" Type="http://schemas.openxmlformats.org/officeDocument/2006/relationships/slide" Target="slides/slide32.xml"/><Relationship Id="rId22" Type="http://schemas.openxmlformats.org/officeDocument/2006/relationships/slide" Target="slides/slide19.xml"/><Relationship Id="rId23" Type="http://schemas.openxmlformats.org/officeDocument/2006/relationships/slide" Target="slides/slide20.xml"/><Relationship Id="rId24" Type="http://schemas.openxmlformats.org/officeDocument/2006/relationships/slide" Target="slides/slide21.xml"/><Relationship Id="rId25" Type="http://schemas.openxmlformats.org/officeDocument/2006/relationships/slide" Target="slides/slide22.xml"/><Relationship Id="rId26" Type="http://schemas.openxmlformats.org/officeDocument/2006/relationships/slide" Target="slides/slide23.xml"/><Relationship Id="rId27" Type="http://schemas.openxmlformats.org/officeDocument/2006/relationships/slide" Target="slides/slide24.xml"/><Relationship Id="rId28" Type="http://schemas.openxmlformats.org/officeDocument/2006/relationships/slide" Target="slides/slide25.xml"/><Relationship Id="rId29" Type="http://schemas.openxmlformats.org/officeDocument/2006/relationships/slide" Target="slides/slide26.xml"/><Relationship Id="rId30" Type="http://schemas.openxmlformats.org/officeDocument/2006/relationships/slide" Target="slides/slide27.xml"/><Relationship Id="rId31" Type="http://schemas.openxmlformats.org/officeDocument/2006/relationships/slide" Target="slides/slide28.xml"/><Relationship Id="rId32" Type="http://schemas.openxmlformats.org/officeDocument/2006/relationships/slide" Target="slides/slide29.xml"/><Relationship Id="rId33" Type="http://schemas.openxmlformats.org/officeDocument/2006/relationships/slide" Target="slides/slide31.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notesMaster" Target="notesMasters/notesMaster1.xml"/><Relationship Id="rId63" Type="http://schemas.openxmlformats.org/officeDocument/2006/relationships/handoutMaster" Target="handoutMasters/handoutMaster1.xml"/><Relationship Id="rId64" Type="http://schemas.openxmlformats.org/officeDocument/2006/relationships/presProps" Target="presProps.xml"/><Relationship Id="rId65" Type="http://schemas.openxmlformats.org/officeDocument/2006/relationships/viewProps" Target="viewProps.xml"/><Relationship Id="rId66" Type="http://schemas.openxmlformats.org/officeDocument/2006/relationships/theme" Target="theme/theme1.xml"/><Relationship Id="rId67" Type="http://schemas.openxmlformats.org/officeDocument/2006/relationships/tableStyles" Target="tableStyles.xml"/><Relationship Id="rId68" Type="http://schemas.openxmlformats.org/officeDocument/2006/relationships/slide" Target="slides/slide30.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フッター プレースホルダー 3"/>
          <p:cNvSpPr>
            <a:spLocks noGrp="1"/>
          </p:cNvSpPr>
          <p:nvPr>
            <p:ph type="ftr" sz="quarter" idx="2"/>
          </p:nvPr>
        </p:nvSpPr>
        <p:spPr>
          <a:xfrm>
            <a:off x="0" y="9441662"/>
            <a:ext cx="2949420" cy="497676"/>
          </a:xfrm>
          <a:prstGeom prst="rect">
            <a:avLst/>
          </a:prstGeom>
        </p:spPr>
        <p:txBody>
          <a:bodyPr vert="horz" lIns="90561" tIns="45280" rIns="90561" bIns="45280" rtlCol="0" anchor="b"/>
          <a:lstStyle>
            <a:lvl1pPr algn="l">
              <a:defRPr sz="1200"/>
            </a:lvl1pPr>
          </a:lstStyle>
          <a:p>
            <a:endParaRPr kumimoji="1" lang="ja-JP" altLang="en-US"/>
          </a:p>
        </p:txBody>
      </p:sp>
      <p:sp>
        <p:nvSpPr>
          <p:cNvPr id="5" name="スライド番号プレースホルダー 4"/>
          <p:cNvSpPr>
            <a:spLocks noGrp="1"/>
          </p:cNvSpPr>
          <p:nvPr>
            <p:ph type="sldNum" sz="quarter" idx="3"/>
          </p:nvPr>
        </p:nvSpPr>
        <p:spPr>
          <a:xfrm>
            <a:off x="3856210" y="9441662"/>
            <a:ext cx="2949420" cy="497676"/>
          </a:xfrm>
          <a:prstGeom prst="rect">
            <a:avLst/>
          </a:prstGeom>
        </p:spPr>
        <p:txBody>
          <a:bodyPr vert="horz" lIns="90561" tIns="45280" rIns="90561" bIns="45280" rtlCol="0" anchor="b"/>
          <a:lstStyle>
            <a:lvl1pPr algn="r">
              <a:defRPr sz="1200"/>
            </a:lvl1pPr>
          </a:lstStyle>
          <a:p>
            <a:fld id="{7B45B759-5475-4693-BFD4-53BF6401E48A}" type="slidenum">
              <a:rPr kumimoji="1" lang="ja-JP" altLang="en-US" smtClean="0"/>
              <a:t>‹#›</a:t>
            </a:fld>
            <a:endParaRPr kumimoji="1" lang="ja-JP" altLang="en-US"/>
          </a:p>
        </p:txBody>
      </p:sp>
    </p:spTree>
    <p:extLst>
      <p:ext uri="{BB962C8B-B14F-4D97-AF65-F5344CB8AC3E}">
        <p14:creationId xmlns:p14="http://schemas.microsoft.com/office/powerpoint/2010/main" val="325953079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1" y="2"/>
            <a:ext cx="2950528" cy="497524"/>
          </a:xfrm>
          <a:prstGeom prst="rect">
            <a:avLst/>
          </a:prstGeom>
        </p:spPr>
        <p:txBody>
          <a:bodyPr vert="horz" lIns="91529" tIns="45765" rIns="91529" bIns="45765" rtlCol="0"/>
          <a:lstStyle>
            <a:lvl1pPr algn="l">
              <a:defRPr sz="1200"/>
            </a:lvl1pPr>
          </a:lstStyle>
          <a:p>
            <a:endParaRPr kumimoji="1" lang="ja-JP" altLang="en-US"/>
          </a:p>
        </p:txBody>
      </p:sp>
      <p:sp>
        <p:nvSpPr>
          <p:cNvPr id="3" name="日付プレースホルダー 2"/>
          <p:cNvSpPr>
            <a:spLocks noGrp="1"/>
          </p:cNvSpPr>
          <p:nvPr>
            <p:ph type="dt" idx="1"/>
          </p:nvPr>
        </p:nvSpPr>
        <p:spPr>
          <a:xfrm>
            <a:off x="3855082" y="2"/>
            <a:ext cx="2950528" cy="497524"/>
          </a:xfrm>
          <a:prstGeom prst="rect">
            <a:avLst/>
          </a:prstGeom>
        </p:spPr>
        <p:txBody>
          <a:bodyPr vert="horz" lIns="91529" tIns="45765" rIns="91529" bIns="45765" rtlCol="0"/>
          <a:lstStyle>
            <a:lvl1pPr algn="r">
              <a:defRPr sz="1200"/>
            </a:lvl1pPr>
          </a:lstStyle>
          <a:p>
            <a:fld id="{6AF8158D-F6B1-45E0-9831-E70689DC8490}" type="datetimeFigureOut">
              <a:rPr kumimoji="1" lang="ja-JP" altLang="en-US" smtClean="0"/>
              <a:t>2026/10/22</a:t>
            </a:fld>
            <a:endParaRPr kumimoji="1" lang="ja-JP" altLang="en-US"/>
          </a:p>
        </p:txBody>
      </p:sp>
      <p:sp>
        <p:nvSpPr>
          <p:cNvPr id="4" name="スライド イメージ プレースホルダー 3"/>
          <p:cNvSpPr>
            <a:spLocks noGrp="1" noRot="1" noChangeAspect="1"/>
          </p:cNvSpPr>
          <p:nvPr>
            <p:ph type="sldImg" idx="2"/>
          </p:nvPr>
        </p:nvSpPr>
        <p:spPr>
          <a:xfrm>
            <a:off x="981075" y="1243013"/>
            <a:ext cx="4845050" cy="3354387"/>
          </a:xfrm>
          <a:prstGeom prst="rect">
            <a:avLst/>
          </a:prstGeom>
          <a:noFill/>
          <a:ln w="12700">
            <a:solidFill>
              <a:prstClr val="black"/>
            </a:solidFill>
          </a:ln>
        </p:spPr>
        <p:txBody>
          <a:bodyPr vert="horz" lIns="91529" tIns="45765" rIns="91529" bIns="45765" rtlCol="0" anchor="ctr"/>
          <a:lstStyle/>
          <a:p>
            <a:endParaRPr lang="ja-JP" altLang="en-US"/>
          </a:p>
        </p:txBody>
      </p:sp>
      <p:sp>
        <p:nvSpPr>
          <p:cNvPr id="5" name="ノート プレースホルダー 4"/>
          <p:cNvSpPr>
            <a:spLocks noGrp="1"/>
          </p:cNvSpPr>
          <p:nvPr>
            <p:ph type="body" sz="quarter" idx="3"/>
          </p:nvPr>
        </p:nvSpPr>
        <p:spPr>
          <a:xfrm>
            <a:off x="680402" y="4782901"/>
            <a:ext cx="5446396" cy="3913426"/>
          </a:xfrm>
          <a:prstGeom prst="rect">
            <a:avLst/>
          </a:prstGeom>
        </p:spPr>
        <p:txBody>
          <a:bodyPr vert="horz" lIns="91529" tIns="45765" rIns="91529" bIns="45765"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1" y="9441817"/>
            <a:ext cx="2950528" cy="497524"/>
          </a:xfrm>
          <a:prstGeom prst="rect">
            <a:avLst/>
          </a:prstGeom>
        </p:spPr>
        <p:txBody>
          <a:bodyPr vert="horz" lIns="91529" tIns="45765" rIns="91529" bIns="45765"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55082" y="9441817"/>
            <a:ext cx="2950528" cy="497524"/>
          </a:xfrm>
          <a:prstGeom prst="rect">
            <a:avLst/>
          </a:prstGeom>
        </p:spPr>
        <p:txBody>
          <a:bodyPr vert="horz" lIns="91529" tIns="45765" rIns="91529" bIns="45765" rtlCol="0" anchor="b"/>
          <a:lstStyle>
            <a:lvl1pPr algn="r">
              <a:defRPr sz="1200"/>
            </a:lvl1pPr>
          </a:lstStyle>
          <a:p>
            <a:fld id="{022E43C0-6795-4B13-B37C-259C826D4B6A}" type="slidenum">
              <a:rPr kumimoji="1" lang="ja-JP" altLang="en-US" smtClean="0"/>
              <a:t>‹#›</a:t>
            </a:fld>
            <a:endParaRPr kumimoji="1" lang="ja-JP" altLang="en-US"/>
          </a:p>
        </p:txBody>
      </p:sp>
    </p:spTree>
    <p:extLst>
      <p:ext uri="{BB962C8B-B14F-4D97-AF65-F5344CB8AC3E}">
        <p14:creationId xmlns:p14="http://schemas.microsoft.com/office/powerpoint/2010/main" val="640918907"/>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215D0A-BA72-DE45-32FA-363803F140CE}"/>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7D2F8A3-D4B3-B9E6-A613-A157696B87F2}"/>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933FBD4A-B575-3375-091A-F6A24B5A9BD0}"/>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4CAEAEB9-E37C-569F-CBB7-45D65E2A0906}"/>
              </a:ext>
            </a:extLst>
          </p:cNvPr>
          <p:cNvSpPr>
            <a:spLocks noGrp="1"/>
          </p:cNvSpPr>
          <p:nvPr>
            <p:ph type="sldNum" sz="quarter" idx="10"/>
          </p:nvPr>
        </p:nvSpPr>
        <p:spPr/>
        <p:txBody>
          <a:bodyPr/>
          <a:lstStyle/>
          <a:p>
            <a:fld id="{022E43C0-6795-4B13-B37C-259C826D4B6A}" type="slidenum">
              <a:rPr kumimoji="1" lang="ja-JP" altLang="en-US" smtClean="0"/>
              <a:t>3</a:t>
            </a:fld>
            <a:endParaRPr kumimoji="1" lang="ja-JP" altLang="en-US"/>
          </a:p>
        </p:txBody>
      </p:sp>
    </p:spTree>
    <p:extLst>
      <p:ext uri="{BB962C8B-B14F-4D97-AF65-F5344CB8AC3E}">
        <p14:creationId xmlns:p14="http://schemas.microsoft.com/office/powerpoint/2010/main" val="112384761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681540-B398-8C02-E1F2-1F1C4798CC29}"/>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A82C74D-328C-FB0E-E710-C92A52BEF4BD}"/>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175EB1E7-3A4C-2E0A-CA67-686800FA87A8}"/>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2173A52D-F6CC-DC20-5CFE-D4EBA25ECCBC}"/>
              </a:ext>
            </a:extLst>
          </p:cNvPr>
          <p:cNvSpPr>
            <a:spLocks noGrp="1"/>
          </p:cNvSpPr>
          <p:nvPr>
            <p:ph type="sldNum" sz="quarter" idx="10"/>
          </p:nvPr>
        </p:nvSpPr>
        <p:spPr/>
        <p:txBody>
          <a:bodyPr/>
          <a:lstStyle/>
          <a:p>
            <a:fld id="{022E43C0-6795-4B13-B37C-259C826D4B6A}" type="slidenum">
              <a:rPr kumimoji="1" lang="ja-JP" altLang="en-US" smtClean="0"/>
              <a:t>4</a:t>
            </a:fld>
            <a:endParaRPr kumimoji="1" lang="ja-JP" altLang="en-US"/>
          </a:p>
        </p:txBody>
      </p:sp>
    </p:spTree>
    <p:extLst>
      <p:ext uri="{BB962C8B-B14F-4D97-AF65-F5344CB8AC3E}">
        <p14:creationId xmlns:p14="http://schemas.microsoft.com/office/powerpoint/2010/main" val="273798680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BA4272-5DA9-3CCF-23F3-9466DBC1B849}"/>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5AFD5C72-277A-86ED-D54E-FE626540E2BE}"/>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EF71F2ED-0463-0DB8-0277-A35A864B316E}"/>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1D54FEC3-6CD7-0B2F-7F8F-E9EA265B8458}"/>
              </a:ext>
            </a:extLst>
          </p:cNvPr>
          <p:cNvSpPr>
            <a:spLocks noGrp="1"/>
          </p:cNvSpPr>
          <p:nvPr>
            <p:ph type="sldNum" sz="quarter" idx="10"/>
          </p:nvPr>
        </p:nvSpPr>
        <p:spPr/>
        <p:txBody>
          <a:bodyPr/>
          <a:lstStyle/>
          <a:p>
            <a:fld id="{022E43C0-6795-4B13-B37C-259C826D4B6A}" type="slidenum">
              <a:rPr kumimoji="1" lang="ja-JP" altLang="en-US" smtClean="0"/>
              <a:t>6</a:t>
            </a:fld>
            <a:endParaRPr kumimoji="1" lang="ja-JP" altLang="en-US"/>
          </a:p>
        </p:txBody>
      </p:sp>
    </p:spTree>
    <p:extLst>
      <p:ext uri="{BB962C8B-B14F-4D97-AF65-F5344CB8AC3E}">
        <p14:creationId xmlns:p14="http://schemas.microsoft.com/office/powerpoint/2010/main" val="355300822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4E720E-DA68-EF51-102C-8A8F426BC2A5}"/>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8CF3953B-7C5E-F4EE-4A6B-ED8A375555FC}"/>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D1937431-13FD-3E05-9A43-DCB7C90B899F}"/>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42A18B0F-EA65-28D1-0695-DBC0FCD085B9}"/>
              </a:ext>
            </a:extLst>
          </p:cNvPr>
          <p:cNvSpPr>
            <a:spLocks noGrp="1"/>
          </p:cNvSpPr>
          <p:nvPr>
            <p:ph type="sldNum" sz="quarter" idx="10"/>
          </p:nvPr>
        </p:nvSpPr>
        <p:spPr/>
        <p:txBody>
          <a:bodyPr/>
          <a:lstStyle/>
          <a:p>
            <a:fld id="{022E43C0-6795-4B13-B37C-259C826D4B6A}" type="slidenum">
              <a:rPr kumimoji="1" lang="ja-JP" altLang="en-US" smtClean="0"/>
              <a:t>9</a:t>
            </a:fld>
            <a:endParaRPr kumimoji="1" lang="ja-JP" altLang="en-US"/>
          </a:p>
        </p:txBody>
      </p:sp>
    </p:spTree>
    <p:extLst>
      <p:ext uri="{BB962C8B-B14F-4D97-AF65-F5344CB8AC3E}">
        <p14:creationId xmlns:p14="http://schemas.microsoft.com/office/powerpoint/2010/main" val="50893304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11E9D4-0876-C25C-8529-8B74AB559B8E}"/>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5CF43F49-5B7A-3752-251E-82690E66FE6F}"/>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35863D13-39F9-D392-9C29-D9EAD3D1EA4D}"/>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073CE111-A992-AC9F-119C-E1210F4D3DD7}"/>
              </a:ext>
            </a:extLst>
          </p:cNvPr>
          <p:cNvSpPr>
            <a:spLocks noGrp="1"/>
          </p:cNvSpPr>
          <p:nvPr>
            <p:ph type="sldNum" sz="quarter" idx="10"/>
          </p:nvPr>
        </p:nvSpPr>
        <p:spPr/>
        <p:txBody>
          <a:bodyPr/>
          <a:lstStyle/>
          <a:p>
            <a:fld id="{022E43C0-6795-4B13-B37C-259C826D4B6A}" type="slidenum">
              <a:rPr kumimoji="1" lang="ja-JP" altLang="en-US" smtClean="0"/>
              <a:t>14</a:t>
            </a:fld>
            <a:endParaRPr kumimoji="1" lang="ja-JP" altLang="en-US"/>
          </a:p>
        </p:txBody>
      </p:sp>
    </p:spTree>
    <p:extLst>
      <p:ext uri="{BB962C8B-B14F-4D97-AF65-F5344CB8AC3E}">
        <p14:creationId xmlns:p14="http://schemas.microsoft.com/office/powerpoint/2010/main" val="188658237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A3B6B0-6587-3186-12B6-A952A7A5D12A}"/>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DDBB0FD4-EC87-837C-B6C4-420DF35669C9}"/>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470D00E3-9072-6B26-2C54-100B09DEBA10}"/>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BF5CD577-5D30-A22F-CC79-63E4DE657085}"/>
              </a:ext>
            </a:extLst>
          </p:cNvPr>
          <p:cNvSpPr>
            <a:spLocks noGrp="1"/>
          </p:cNvSpPr>
          <p:nvPr>
            <p:ph type="sldNum" sz="quarter" idx="10"/>
          </p:nvPr>
        </p:nvSpPr>
        <p:spPr/>
        <p:txBody>
          <a:bodyPr/>
          <a:lstStyle/>
          <a:p>
            <a:fld id="{022E43C0-6795-4B13-B37C-259C826D4B6A}" type="slidenum">
              <a:rPr kumimoji="1" lang="ja-JP" altLang="en-US" smtClean="0"/>
              <a:t>15</a:t>
            </a:fld>
            <a:endParaRPr kumimoji="1" lang="ja-JP" altLang="en-US"/>
          </a:p>
        </p:txBody>
      </p:sp>
    </p:spTree>
    <p:extLst>
      <p:ext uri="{BB962C8B-B14F-4D97-AF65-F5344CB8AC3E}">
        <p14:creationId xmlns:p14="http://schemas.microsoft.com/office/powerpoint/2010/main" val="320937411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866AA4-1AC1-0B6A-8DD3-54899EB2E283}"/>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9F4BF6DE-3BFF-29D8-3037-FBBE63C7FD89}"/>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BB3F9493-7009-9A31-DAE6-BB1112CC20A3}"/>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AD6E5153-623E-955A-9E75-0EA3C02F1D85}"/>
              </a:ext>
            </a:extLst>
          </p:cNvPr>
          <p:cNvSpPr>
            <a:spLocks noGrp="1"/>
          </p:cNvSpPr>
          <p:nvPr>
            <p:ph type="sldNum" sz="quarter" idx="10"/>
          </p:nvPr>
        </p:nvSpPr>
        <p:spPr/>
        <p:txBody>
          <a:bodyPr/>
          <a:lstStyle/>
          <a:p>
            <a:fld id="{022E43C0-6795-4B13-B37C-259C826D4B6A}" type="slidenum">
              <a:rPr kumimoji="1" lang="ja-JP" altLang="en-US" smtClean="0"/>
              <a:t>17</a:t>
            </a:fld>
            <a:endParaRPr kumimoji="1" lang="ja-JP" altLang="en-US"/>
          </a:p>
        </p:txBody>
      </p:sp>
    </p:spTree>
    <p:extLst>
      <p:ext uri="{BB962C8B-B14F-4D97-AF65-F5344CB8AC3E}">
        <p14:creationId xmlns:p14="http://schemas.microsoft.com/office/powerpoint/2010/main" val="20278029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B192C0-1B1B-AD3F-B0C2-F33DAD8A2DF2}"/>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9133AE9E-C7C9-D146-DD36-5849B111FD78}"/>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558A3C9A-42D2-B5D7-5F81-0F1CAB8FD4BB}"/>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A11D8EFF-3CFC-7207-CD2B-A2DC20DEDF1D}"/>
              </a:ext>
            </a:extLst>
          </p:cNvPr>
          <p:cNvSpPr>
            <a:spLocks noGrp="1"/>
          </p:cNvSpPr>
          <p:nvPr>
            <p:ph type="sldNum" sz="quarter" idx="10"/>
          </p:nvPr>
        </p:nvSpPr>
        <p:spPr/>
        <p:txBody>
          <a:bodyPr/>
          <a:lstStyle/>
          <a:p>
            <a:fld id="{022E43C0-6795-4B13-B37C-259C826D4B6A}" type="slidenum">
              <a:rPr kumimoji="1" lang="ja-JP" altLang="en-US" smtClean="0"/>
              <a:t>19</a:t>
            </a:fld>
            <a:endParaRPr kumimoji="1" lang="ja-JP" altLang="en-US"/>
          </a:p>
        </p:txBody>
      </p:sp>
    </p:spTree>
    <p:extLst>
      <p:ext uri="{BB962C8B-B14F-4D97-AF65-F5344CB8AC3E}">
        <p14:creationId xmlns:p14="http://schemas.microsoft.com/office/powerpoint/2010/main" val="331237192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F87073-46E4-97E2-AA29-34C04E4216C6}"/>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E716C4E1-C336-7022-85BD-D0261416B806}"/>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C2802BD2-A4F7-3ACB-C314-CC3BD50FC00F}"/>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55C9B1FE-F22D-0B70-94D0-AC959C46242D}"/>
              </a:ext>
            </a:extLst>
          </p:cNvPr>
          <p:cNvSpPr>
            <a:spLocks noGrp="1"/>
          </p:cNvSpPr>
          <p:nvPr>
            <p:ph type="sldNum" sz="quarter" idx="10"/>
          </p:nvPr>
        </p:nvSpPr>
        <p:spPr/>
        <p:txBody>
          <a:bodyPr/>
          <a:lstStyle/>
          <a:p>
            <a:fld id="{022E43C0-6795-4B13-B37C-259C826D4B6A}" type="slidenum">
              <a:rPr kumimoji="1" lang="ja-JP" altLang="en-US" smtClean="0"/>
              <a:t>33</a:t>
            </a:fld>
            <a:endParaRPr kumimoji="1" lang="ja-JP" altLang="en-US"/>
          </a:p>
        </p:txBody>
      </p:sp>
    </p:spTree>
    <p:extLst>
      <p:ext uri="{BB962C8B-B14F-4D97-AF65-F5344CB8AC3E}">
        <p14:creationId xmlns:p14="http://schemas.microsoft.com/office/powerpoint/2010/main" val="288896505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solidFill>
                <a:schemeClr val="tx1">
                  <a:lumMod val="65000"/>
                  <a:lumOff val="35000"/>
                </a:schemeClr>
              </a:solidFill>
            </a:endParaRPr>
          </a:p>
        </p:txBody>
      </p:sp>
      <p:sp>
        <p:nvSpPr>
          <p:cNvPr id="4" name="スライド番号プレースホルダー 3"/>
          <p:cNvSpPr>
            <a:spLocks noGrp="1"/>
          </p:cNvSpPr>
          <p:nvPr>
            <p:ph type="sldNum" sz="quarter" idx="10"/>
          </p:nvPr>
        </p:nvSpPr>
        <p:spPr/>
        <p:txBody>
          <a:bodyPr/>
          <a:lstStyle/>
          <a:p>
            <a:fld id="{022E43C0-6795-4B13-B37C-259C826D4B6A}" type="slidenum">
              <a:rPr kumimoji="1" lang="ja-JP" altLang="en-US" smtClean="0"/>
              <a:t>35</a:t>
            </a:fld>
            <a:endParaRPr kumimoji="1" lang="ja-JP" altLang="en-US"/>
          </a:p>
        </p:txBody>
      </p:sp>
    </p:spTree>
    <p:extLst>
      <p:ext uri="{BB962C8B-B14F-4D97-AF65-F5344CB8AC3E}">
        <p14:creationId xmlns:p14="http://schemas.microsoft.com/office/powerpoint/2010/main" val="152232489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022E43C0-6795-4B13-B37C-259C826D4B6A}" type="slidenum">
              <a:rPr kumimoji="1" lang="ja-JP" altLang="en-US" smtClean="0"/>
              <a:t>36</a:t>
            </a:fld>
            <a:endParaRPr kumimoji="1" lang="ja-JP" altLang="en-US"/>
          </a:p>
        </p:txBody>
      </p:sp>
    </p:spTree>
    <p:extLst>
      <p:ext uri="{BB962C8B-B14F-4D97-AF65-F5344CB8AC3E}">
        <p14:creationId xmlns:p14="http://schemas.microsoft.com/office/powerpoint/2010/main" val="183506441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DB6ADA-9EE0-91AA-01F0-865797FB3369}"/>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E48D7824-B497-EEC9-3C27-6A309145FC0A}"/>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A893DCE5-B0D5-3EB2-202E-F260807F7109}"/>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F8AE7A32-4756-AD3E-9E41-6DB0BE31AC45}"/>
              </a:ext>
            </a:extLst>
          </p:cNvPr>
          <p:cNvSpPr>
            <a:spLocks noGrp="1"/>
          </p:cNvSpPr>
          <p:nvPr>
            <p:ph type="sldNum" sz="quarter" idx="10"/>
          </p:nvPr>
        </p:nvSpPr>
        <p:spPr/>
        <p:txBody>
          <a:bodyPr/>
          <a:lstStyle/>
          <a:p>
            <a:fld id="{022E43C0-6795-4B13-B37C-259C826D4B6A}" type="slidenum">
              <a:rPr kumimoji="1" lang="ja-JP" altLang="en-US" smtClean="0"/>
              <a:t>37</a:t>
            </a:fld>
            <a:endParaRPr kumimoji="1" lang="ja-JP" altLang="en-US"/>
          </a:p>
        </p:txBody>
      </p:sp>
    </p:spTree>
    <p:extLst>
      <p:ext uri="{BB962C8B-B14F-4D97-AF65-F5344CB8AC3E}">
        <p14:creationId xmlns:p14="http://schemas.microsoft.com/office/powerpoint/2010/main" val="322614683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022E43C0-6795-4B13-B37C-259C826D4B6A}" type="slidenum">
              <a:rPr kumimoji="1" lang="ja-JP" altLang="en-US" smtClean="0"/>
              <a:t>38</a:t>
            </a:fld>
            <a:endParaRPr kumimoji="1" lang="ja-JP" altLang="en-US"/>
          </a:p>
        </p:txBody>
      </p:sp>
    </p:spTree>
    <p:extLst>
      <p:ext uri="{BB962C8B-B14F-4D97-AF65-F5344CB8AC3E}">
        <p14:creationId xmlns:p14="http://schemas.microsoft.com/office/powerpoint/2010/main" val="371762245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フッター プレースホルダー 3"/>
          <p:cNvSpPr>
            <a:spLocks noGrp="1"/>
          </p:cNvSpPr>
          <p:nvPr>
            <p:ph type="ftr" sz="quarter" idx="10"/>
          </p:nvPr>
        </p:nvSpPr>
        <p:spPr/>
        <p:txBody>
          <a:bodyPr/>
          <a:lstStyle/>
          <a:p>
            <a:pPr defTabSz="956886">
              <a:defRPr/>
            </a:pPr>
            <a:endParaRPr lang="ja-JP" altLang="en-US">
              <a:solidFill>
                <a:prstClr val="black"/>
              </a:solidFill>
              <a:latin typeface="Calibri"/>
              <a:ea typeface="ＭＳ Ｐゴシック" panose="020B0600070205080204" pitchFamily="50" charset="-128"/>
            </a:endParaRPr>
          </a:p>
        </p:txBody>
      </p:sp>
      <p:sp>
        <p:nvSpPr>
          <p:cNvPr id="5" name="スライド番号プレースホルダー 4"/>
          <p:cNvSpPr>
            <a:spLocks noGrp="1"/>
          </p:cNvSpPr>
          <p:nvPr>
            <p:ph type="sldNum" sz="quarter" idx="11"/>
          </p:nvPr>
        </p:nvSpPr>
        <p:spPr/>
        <p:txBody>
          <a:bodyPr/>
          <a:lstStyle/>
          <a:p>
            <a:pPr defTabSz="956886">
              <a:defRPr/>
            </a:pPr>
            <a:fld id="{929202D6-C1F5-472A-A72F-285F233F82C2}" type="slidenum">
              <a:rPr lang="ja-JP" altLang="en-US">
                <a:solidFill>
                  <a:prstClr val="black"/>
                </a:solidFill>
                <a:latin typeface="Calibri"/>
                <a:ea typeface="ＭＳ Ｐゴシック" panose="020B0600070205080204" pitchFamily="50" charset="-128"/>
              </a:rPr>
              <a:pPr defTabSz="956886">
                <a:defRPr/>
              </a:pPr>
              <a:t>39</a:t>
            </a:fld>
            <a:endParaRPr lang="ja-JP" altLang="en-US">
              <a:solidFill>
                <a:prstClr val="black"/>
              </a:solidFill>
              <a:latin typeface="Calibri"/>
              <a:ea typeface="ＭＳ Ｐゴシック" panose="020B0600070205080204" pitchFamily="50" charset="-128"/>
            </a:endParaRPr>
          </a:p>
        </p:txBody>
      </p:sp>
    </p:spTree>
    <p:extLst>
      <p:ext uri="{BB962C8B-B14F-4D97-AF65-F5344CB8AC3E}">
        <p14:creationId xmlns:p14="http://schemas.microsoft.com/office/powerpoint/2010/main" val="37920873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EE855B-5535-79F7-D3A0-C0A506787C8C}"/>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3C6FB8FB-0888-2275-ABE8-A13FDAA10E3F}"/>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2D71EA6C-9577-A559-064D-4DE5700FB2FB}"/>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A1C4F904-4503-6BD1-FC32-6AA038134FF0}"/>
              </a:ext>
            </a:extLst>
          </p:cNvPr>
          <p:cNvSpPr>
            <a:spLocks noGrp="1"/>
          </p:cNvSpPr>
          <p:nvPr>
            <p:ph type="sldNum" sz="quarter" idx="10"/>
          </p:nvPr>
        </p:nvSpPr>
        <p:spPr/>
        <p:txBody>
          <a:bodyPr/>
          <a:lstStyle/>
          <a:p>
            <a:fld id="{022E43C0-6795-4B13-B37C-259C826D4B6A}" type="slidenum">
              <a:rPr kumimoji="1" lang="ja-JP" altLang="en-US" smtClean="0"/>
              <a:t>42</a:t>
            </a:fld>
            <a:endParaRPr kumimoji="1" lang="ja-JP" altLang="en-US"/>
          </a:p>
        </p:txBody>
      </p:sp>
    </p:spTree>
    <p:extLst>
      <p:ext uri="{BB962C8B-B14F-4D97-AF65-F5344CB8AC3E}">
        <p14:creationId xmlns:p14="http://schemas.microsoft.com/office/powerpoint/2010/main" val="24795380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022E43C0-6795-4B13-B37C-259C826D4B6A}" type="slidenum">
              <a:rPr kumimoji="1" lang="ja-JP" altLang="en-US" smtClean="0"/>
              <a:t>43</a:t>
            </a:fld>
            <a:endParaRPr kumimoji="1" lang="ja-JP" altLang="en-US"/>
          </a:p>
        </p:txBody>
      </p:sp>
    </p:spTree>
    <p:extLst>
      <p:ext uri="{BB962C8B-B14F-4D97-AF65-F5344CB8AC3E}">
        <p14:creationId xmlns:p14="http://schemas.microsoft.com/office/powerpoint/2010/main" val="298542484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022E43C0-6795-4B13-B37C-259C826D4B6A}" type="slidenum">
              <a:rPr kumimoji="1" lang="ja-JP" altLang="en-US" smtClean="0"/>
              <a:t>44</a:t>
            </a:fld>
            <a:endParaRPr kumimoji="1" lang="ja-JP" altLang="en-US"/>
          </a:p>
        </p:txBody>
      </p:sp>
    </p:spTree>
    <p:extLst>
      <p:ext uri="{BB962C8B-B14F-4D97-AF65-F5344CB8AC3E}">
        <p14:creationId xmlns:p14="http://schemas.microsoft.com/office/powerpoint/2010/main" val="237052644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BED428-D571-14FF-D396-D7175DA0FB54}"/>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D271AB2A-80AE-D1AA-E70B-86CDF9350544}"/>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6C0C2926-5D95-6624-6AD9-E45C5528979C}"/>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0B6DFD87-0439-882A-B65E-9CEE51F20332}"/>
              </a:ext>
            </a:extLst>
          </p:cNvPr>
          <p:cNvSpPr>
            <a:spLocks noGrp="1"/>
          </p:cNvSpPr>
          <p:nvPr>
            <p:ph type="sldNum" sz="quarter" idx="10"/>
          </p:nvPr>
        </p:nvSpPr>
        <p:spPr/>
        <p:txBody>
          <a:bodyPr/>
          <a:lstStyle/>
          <a:p>
            <a:fld id="{022E43C0-6795-4B13-B37C-259C826D4B6A}" type="slidenum">
              <a:rPr kumimoji="1" lang="ja-JP" altLang="en-US" smtClean="0"/>
              <a:t>45</a:t>
            </a:fld>
            <a:endParaRPr kumimoji="1" lang="ja-JP" altLang="en-US"/>
          </a:p>
        </p:txBody>
      </p:sp>
    </p:spTree>
    <p:extLst>
      <p:ext uri="{BB962C8B-B14F-4D97-AF65-F5344CB8AC3E}">
        <p14:creationId xmlns:p14="http://schemas.microsoft.com/office/powerpoint/2010/main" val="110140536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A7E86F-A6D1-E87A-0CDF-967B15A6E033}"/>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EB2A411-33D2-6528-1C93-D186B1984948}"/>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86218984-9375-B358-47D3-58B36CCF8DAE}"/>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51F039DC-7BEC-8764-B0DE-E4A154E5A1A8}"/>
              </a:ext>
            </a:extLst>
          </p:cNvPr>
          <p:cNvSpPr>
            <a:spLocks noGrp="1"/>
          </p:cNvSpPr>
          <p:nvPr>
            <p:ph type="sldNum" sz="quarter" idx="10"/>
          </p:nvPr>
        </p:nvSpPr>
        <p:spPr/>
        <p:txBody>
          <a:bodyPr/>
          <a:lstStyle/>
          <a:p>
            <a:fld id="{022E43C0-6795-4B13-B37C-259C826D4B6A}" type="slidenum">
              <a:rPr kumimoji="1" lang="ja-JP" altLang="en-US" smtClean="0"/>
              <a:t>47</a:t>
            </a:fld>
            <a:endParaRPr kumimoji="1" lang="ja-JP" altLang="en-US"/>
          </a:p>
        </p:txBody>
      </p:sp>
    </p:spTree>
    <p:extLst>
      <p:ext uri="{BB962C8B-B14F-4D97-AF65-F5344CB8AC3E}">
        <p14:creationId xmlns:p14="http://schemas.microsoft.com/office/powerpoint/2010/main" val="239023445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2_タイトルとコンテンツ">
    <p:spTree>
      <p:nvGrpSpPr>
        <p:cNvPr id="1" name=""/>
        <p:cNvGrpSpPr/>
        <p:nvPr/>
      </p:nvGrpSpPr>
      <p:grpSpPr>
        <a:xfrm>
          <a:off x="0" y="0"/>
          <a:ext cx="0" cy="0"/>
          <a:chOff x="0" y="0"/>
          <a:chExt cx="0" cy="0"/>
        </a:xfrm>
      </p:grpSpPr>
      <p:sp>
        <p:nvSpPr>
          <p:cNvPr id="2" name="正方形/長方形 1"/>
          <p:cNvSpPr/>
          <p:nvPr userDrawn="1"/>
        </p:nvSpPr>
        <p:spPr>
          <a:xfrm>
            <a:off x="9398000" y="6591300"/>
            <a:ext cx="419100" cy="266700"/>
          </a:xfrm>
          <a:prstGeom prst="rect">
            <a:avLst/>
          </a:prstGeom>
          <a:solidFill>
            <a:srgbClr val="191F5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758107768"/>
      </p:ext>
    </p:extLst>
  </p:cSld>
  <p:clrMapOvr>
    <a:masterClrMapping/>
  </p:clrMapOvr>
  <p:hf hdr="0" dt="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4_タイトルとコンテンツ">
    <p:spTree>
      <p:nvGrpSpPr>
        <p:cNvPr id="1" name=""/>
        <p:cNvGrpSpPr/>
        <p:nvPr/>
      </p:nvGrpSpPr>
      <p:grpSpPr>
        <a:xfrm>
          <a:off x="0" y="0"/>
          <a:ext cx="0" cy="0"/>
          <a:chOff x="0" y="0"/>
          <a:chExt cx="0" cy="0"/>
        </a:xfrm>
      </p:grpSpPr>
      <p:cxnSp>
        <p:nvCxnSpPr>
          <p:cNvPr id="5" name="直線コネクタ 4"/>
          <p:cNvCxnSpPr/>
          <p:nvPr/>
        </p:nvCxnSpPr>
        <p:spPr>
          <a:xfrm>
            <a:off x="0" y="548680"/>
            <a:ext cx="9906000" cy="0"/>
          </a:xfrm>
          <a:prstGeom prst="line">
            <a:avLst/>
          </a:prstGeom>
          <a:ln>
            <a:solidFill>
              <a:srgbClr val="191F54"/>
            </a:solidFill>
          </a:ln>
          <a:effectLst/>
        </p:spPr>
        <p:style>
          <a:lnRef idx="2">
            <a:schemeClr val="accent1"/>
          </a:lnRef>
          <a:fillRef idx="0">
            <a:schemeClr val="accent1"/>
          </a:fillRef>
          <a:effectRef idx="1">
            <a:schemeClr val="accent1"/>
          </a:effectRef>
          <a:fontRef idx="minor">
            <a:schemeClr val="tx1"/>
          </a:fontRef>
        </p:style>
      </p:cxnSp>
      <p:sp>
        <p:nvSpPr>
          <p:cNvPr id="7" name="正方形/長方形 6"/>
          <p:cNvSpPr/>
          <p:nvPr/>
        </p:nvSpPr>
        <p:spPr>
          <a:xfrm>
            <a:off x="0" y="0"/>
            <a:ext cx="451204" cy="548680"/>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sz="1800">
              <a:solidFill>
                <a:prstClr val="white"/>
              </a:solidFill>
            </a:endParaRPr>
          </a:p>
        </p:txBody>
      </p:sp>
    </p:spTree>
    <p:extLst>
      <p:ext uri="{BB962C8B-B14F-4D97-AF65-F5344CB8AC3E}">
        <p14:creationId xmlns:p14="http://schemas.microsoft.com/office/powerpoint/2010/main" val="1958189266"/>
      </p:ext>
    </p:extLst>
  </p:cSld>
  <p:clrMapOvr>
    <a:masterClrMapping/>
  </p:clrMapOvr>
  <p:hf hdr="0" dt="0"/>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1_タイトル スライド">
    <p:spTree>
      <p:nvGrpSpPr>
        <p:cNvPr id="1" name=""/>
        <p:cNvGrpSpPr/>
        <p:nvPr/>
      </p:nvGrpSpPr>
      <p:grpSpPr>
        <a:xfrm>
          <a:off x="0" y="0"/>
          <a:ext cx="0" cy="0"/>
          <a:chOff x="0" y="0"/>
          <a:chExt cx="0" cy="0"/>
        </a:xfrm>
      </p:grpSpPr>
    </p:spTree>
    <p:extLst>
      <p:ext uri="{BB962C8B-B14F-4D97-AF65-F5344CB8AC3E}">
        <p14:creationId xmlns:p14="http://schemas.microsoft.com/office/powerpoint/2010/main" val="3785212341"/>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 Id="rId5" Type="http://schemas.openxmlformats.org/officeDocument/2006/relationships/image" Target="../media/image1.png"/><Relationship Id="rId6"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image" Target="../media/image3.emf"/></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2" name="図 1"/>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8151357" y="72255"/>
            <a:ext cx="1598627" cy="424153"/>
          </a:xfrm>
          <a:prstGeom prst="rect">
            <a:avLst/>
          </a:prstGeom>
        </p:spPr>
      </p:pic>
      <p:pic>
        <p:nvPicPr>
          <p:cNvPr id="5" name="図 4"/>
          <p:cNvPicPr>
            <a:picLocks noChangeAspect="1"/>
          </p:cNvPicPr>
          <p:nvPr/>
        </p:nvPicPr>
        <p:blipFill>
          <a:blip r:embed="rId6"/>
          <a:stretch>
            <a:fillRect/>
          </a:stretch>
        </p:blipFill>
        <p:spPr>
          <a:xfrm>
            <a:off x="8151355" y="32333"/>
            <a:ext cx="1653069" cy="635796"/>
          </a:xfrm>
          <a:prstGeom prst="rect">
            <a:avLst/>
          </a:prstGeom>
        </p:spPr>
      </p:pic>
      <p:sp>
        <p:nvSpPr>
          <p:cNvPr id="6" name="正方形/長方形 5"/>
          <p:cNvSpPr/>
          <p:nvPr/>
        </p:nvSpPr>
        <p:spPr>
          <a:xfrm>
            <a:off x="0" y="6552728"/>
            <a:ext cx="9906000" cy="332656"/>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sz="1800">
              <a:solidFill>
                <a:prstClr val="white"/>
              </a:solidFill>
            </a:endParaRPr>
          </a:p>
        </p:txBody>
      </p:sp>
      <p:sp>
        <p:nvSpPr>
          <p:cNvPr id="8" name="スライド番号プレースホルダ 1"/>
          <p:cNvSpPr txBox="1">
            <a:spLocks/>
          </p:cNvSpPr>
          <p:nvPr/>
        </p:nvSpPr>
        <p:spPr>
          <a:xfrm>
            <a:off x="7594600" y="6552729"/>
            <a:ext cx="2311400" cy="365125"/>
          </a:xfrm>
          <a:prstGeom prst="rect">
            <a:avLst/>
          </a:prstGeom>
        </p:spPr>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r"/>
            <a:fld id="{9FC100E3-15F5-4145-A942-47DB1D8B776D}" type="slidenum">
              <a:rPr lang="ja-JP" altLang="en-US" sz="1400" b="1" smtClean="0">
                <a:solidFill>
                  <a:schemeClr val="bg1"/>
                </a:solidFill>
                <a:latin typeface="メイリオ" panose="020B0604030504040204" pitchFamily="50" charset="-128"/>
                <a:ea typeface="メイリオ" panose="020B0604030504040204" pitchFamily="50" charset="-128"/>
                <a:cs typeface="メイリオ" panose="020B0604030504040204" pitchFamily="50" charset="-128"/>
              </a:rPr>
              <a:pPr algn="r"/>
              <a:t>‹#›</a:t>
            </a:fld>
            <a:endParaRPr lang="ja-JP" altLang="en-US" sz="1400" b="1" dirty="0">
              <a:solidFill>
                <a:schemeClr val="bg1"/>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9" name="テキスト ボックス 8"/>
          <p:cNvSpPr txBox="1">
            <a:spLocks noChangeArrowheads="1"/>
          </p:cNvSpPr>
          <p:nvPr userDrawn="1"/>
        </p:nvSpPr>
        <p:spPr bwMode="auto">
          <a:xfrm>
            <a:off x="116569" y="6597932"/>
            <a:ext cx="3666301"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2400">
                <a:solidFill>
                  <a:schemeClr val="tx1"/>
                </a:solidFill>
                <a:latin typeface="Arial" charset="0"/>
                <a:ea typeface="ＭＳ Ｐゴシック" charset="0"/>
                <a:cs typeface="ＭＳ Ｐゴシック" charset="0"/>
              </a:defRPr>
            </a:lvl1pPr>
            <a:lvl2pPr marL="742950" indent="-285750">
              <a:defRPr kumimoji="1" sz="2400">
                <a:solidFill>
                  <a:schemeClr val="tx1"/>
                </a:solidFill>
                <a:latin typeface="Arial" charset="0"/>
                <a:ea typeface="ＭＳ Ｐゴシック" charset="0"/>
              </a:defRPr>
            </a:lvl2pPr>
            <a:lvl3pPr marL="1143000" indent="-228600">
              <a:defRPr kumimoji="1" sz="2400">
                <a:solidFill>
                  <a:schemeClr val="tx1"/>
                </a:solidFill>
                <a:latin typeface="Arial" charset="0"/>
                <a:ea typeface="ＭＳ Ｐゴシック" charset="0"/>
              </a:defRPr>
            </a:lvl3pPr>
            <a:lvl4pPr marL="1600200" indent="-228600">
              <a:defRPr kumimoji="1" sz="2400">
                <a:solidFill>
                  <a:schemeClr val="tx1"/>
                </a:solidFill>
                <a:latin typeface="Arial" charset="0"/>
                <a:ea typeface="ＭＳ Ｐゴシック" charset="0"/>
              </a:defRPr>
            </a:lvl4pPr>
            <a:lvl5pPr marL="2057400" indent="-228600">
              <a:defRPr kumimoji="1" sz="2400">
                <a:solidFill>
                  <a:schemeClr val="tx1"/>
                </a:solidFill>
                <a:latin typeface="Arial" charset="0"/>
                <a:ea typeface="ＭＳ Ｐゴシック" charset="0"/>
              </a:defRPr>
            </a:lvl5pPr>
            <a:lvl6pPr marL="2514600" indent="-228600" fontAlgn="base">
              <a:spcBef>
                <a:spcPct val="0"/>
              </a:spcBef>
              <a:spcAft>
                <a:spcPct val="0"/>
              </a:spcAft>
              <a:defRPr kumimoji="1" sz="2400">
                <a:solidFill>
                  <a:schemeClr val="tx1"/>
                </a:solidFill>
                <a:latin typeface="Arial" charset="0"/>
                <a:ea typeface="ＭＳ Ｐゴシック" charset="0"/>
              </a:defRPr>
            </a:lvl6pPr>
            <a:lvl7pPr marL="2971800" indent="-228600" fontAlgn="base">
              <a:spcBef>
                <a:spcPct val="0"/>
              </a:spcBef>
              <a:spcAft>
                <a:spcPct val="0"/>
              </a:spcAft>
              <a:defRPr kumimoji="1" sz="2400">
                <a:solidFill>
                  <a:schemeClr val="tx1"/>
                </a:solidFill>
                <a:latin typeface="Arial" charset="0"/>
                <a:ea typeface="ＭＳ Ｐゴシック" charset="0"/>
              </a:defRPr>
            </a:lvl7pPr>
            <a:lvl8pPr marL="3429000" indent="-228600" fontAlgn="base">
              <a:spcBef>
                <a:spcPct val="0"/>
              </a:spcBef>
              <a:spcAft>
                <a:spcPct val="0"/>
              </a:spcAft>
              <a:defRPr kumimoji="1" sz="2400">
                <a:solidFill>
                  <a:schemeClr val="tx1"/>
                </a:solidFill>
                <a:latin typeface="Arial" charset="0"/>
                <a:ea typeface="ＭＳ Ｐゴシック" charset="0"/>
              </a:defRPr>
            </a:lvl8pPr>
            <a:lvl9pPr marL="3886200" indent="-228600" fontAlgn="base">
              <a:spcBef>
                <a:spcPct val="0"/>
              </a:spcBef>
              <a:spcAft>
                <a:spcPct val="0"/>
              </a:spcAft>
              <a:defRPr kumimoji="1" sz="2400">
                <a:solidFill>
                  <a:schemeClr val="tx1"/>
                </a:solidFill>
                <a:latin typeface="Arial" charset="0"/>
                <a:ea typeface="ＭＳ Ｐゴシック" charset="0"/>
              </a:defRPr>
            </a:lvl9pPr>
          </a:lstStyle>
          <a:p>
            <a:pPr>
              <a:defRPr/>
            </a:pPr>
            <a:r>
              <a:rPr lang="en-US" altLang="ja-JP" sz="800" b="1" dirty="0">
                <a:solidFill>
                  <a:schemeClr val="bg1"/>
                </a:solidFill>
                <a:latin typeface="メイリオ"/>
                <a:ea typeface="メイリオ"/>
                <a:cs typeface="メイリオ"/>
              </a:rPr>
              <a:t>Copyright(c) DYM Co., Ltd</a:t>
            </a:r>
            <a:r>
              <a:rPr lang="ja-JP" altLang="en-US" sz="800" b="1" dirty="0" err="1">
                <a:solidFill>
                  <a:schemeClr val="bg1"/>
                </a:solidFill>
                <a:latin typeface="メイリオ"/>
                <a:ea typeface="メイリオ"/>
                <a:cs typeface="メイリオ"/>
              </a:rPr>
              <a:t>．</a:t>
            </a:r>
            <a:r>
              <a:rPr lang="en-US" altLang="ja-JP" sz="800" b="1" dirty="0">
                <a:solidFill>
                  <a:schemeClr val="bg1"/>
                </a:solidFill>
                <a:latin typeface="メイリオ"/>
                <a:ea typeface="メイリオ"/>
                <a:cs typeface="メイリオ"/>
              </a:rPr>
              <a:t> All Rights Reserved.</a:t>
            </a:r>
          </a:p>
        </p:txBody>
      </p:sp>
    </p:spTree>
    <p:extLst>
      <p:ext uri="{BB962C8B-B14F-4D97-AF65-F5344CB8AC3E}">
        <p14:creationId xmlns:p14="http://schemas.microsoft.com/office/powerpoint/2010/main" val="345870335"/>
      </p:ext>
    </p:extLst>
  </p:cSld>
  <p:clrMap bg1="lt1" tx1="dk1" bg2="lt2" tx2="dk2" accent1="accent1" accent2="accent2" accent3="accent3" accent4="accent4" accent5="accent5" accent6="accent6" hlink="hlink" folHlink="folHlink"/>
  <p:sldLayoutIdLst>
    <p:sldLayoutId id="2147483676" r:id="rId1"/>
    <p:sldLayoutId id="2147483683" r:id="rId2"/>
    <p:sldLayoutId id="2147483689" r:id="rId3"/>
  </p:sldLayoutIdLst>
  <p:hf hdr="0" dt="0"/>
  <p:txStyles>
    <p:titleStyle>
      <a:lvl1pPr algn="ctr" rtl="0" eaLnBrk="1" fontAlgn="base" hangingPunct="1">
        <a:spcBef>
          <a:spcPct val="0"/>
        </a:spcBef>
        <a:spcAft>
          <a:spcPct val="0"/>
        </a:spcAft>
        <a:defRPr kumimoji="1" sz="4400" kern="1200">
          <a:solidFill>
            <a:schemeClr val="tx1"/>
          </a:solidFill>
          <a:latin typeface="+mj-lt"/>
          <a:ea typeface="+mj-ea"/>
          <a:cs typeface="+mj-cs"/>
        </a:defRPr>
      </a:lvl1pPr>
      <a:lvl2pPr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2pPr>
      <a:lvl3pPr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3pPr>
      <a:lvl4pPr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4pPr>
      <a:lvl5pPr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5pPr>
      <a:lvl6pPr marL="457200"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6pPr>
      <a:lvl7pPr marL="914400"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7pPr>
      <a:lvl8pPr marL="1371600"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8pPr>
      <a:lvl9pPr marL="1828800"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9pPr>
    </p:titleStyle>
    <p:bodyStyle>
      <a:lvl1pPr marL="342900" indent="-342900" algn="l" rtl="0" eaLnBrk="1" fontAlgn="base" hangingPunct="1">
        <a:spcBef>
          <a:spcPct val="20000"/>
        </a:spcBef>
        <a:spcAft>
          <a:spcPct val="0"/>
        </a:spcAft>
        <a:buFont typeface="Arial" charset="0"/>
        <a:buChar char="•"/>
        <a:defRPr kumimoji="1"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kumimoji="1" sz="2800"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kumimoji="1"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kumimoji="1"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kumimoji="1"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5" name="正方形/長方形 4"/>
          <p:cNvSpPr/>
          <p:nvPr/>
        </p:nvSpPr>
        <p:spPr>
          <a:xfrm>
            <a:off x="0" y="6552728"/>
            <a:ext cx="9906000" cy="332656"/>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a:solidFill>
                <a:prstClr val="white"/>
              </a:solidFill>
            </a:endParaRPr>
          </a:p>
        </p:txBody>
      </p:sp>
      <p:sp>
        <p:nvSpPr>
          <p:cNvPr id="10" name="テキスト ボックス 9"/>
          <p:cNvSpPr txBox="1">
            <a:spLocks noChangeArrowheads="1"/>
          </p:cNvSpPr>
          <p:nvPr/>
        </p:nvSpPr>
        <p:spPr bwMode="auto">
          <a:xfrm>
            <a:off x="116569" y="6597932"/>
            <a:ext cx="3666301"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2400">
                <a:solidFill>
                  <a:schemeClr val="tx1"/>
                </a:solidFill>
                <a:latin typeface="Arial" charset="0"/>
                <a:ea typeface="ＭＳ Ｐゴシック" charset="0"/>
                <a:cs typeface="ＭＳ Ｐゴシック" charset="0"/>
              </a:defRPr>
            </a:lvl1pPr>
            <a:lvl2pPr marL="742950" indent="-285750">
              <a:defRPr kumimoji="1" sz="2400">
                <a:solidFill>
                  <a:schemeClr val="tx1"/>
                </a:solidFill>
                <a:latin typeface="Arial" charset="0"/>
                <a:ea typeface="ＭＳ Ｐゴシック" charset="0"/>
              </a:defRPr>
            </a:lvl2pPr>
            <a:lvl3pPr marL="1143000" indent="-228600">
              <a:defRPr kumimoji="1" sz="2400">
                <a:solidFill>
                  <a:schemeClr val="tx1"/>
                </a:solidFill>
                <a:latin typeface="Arial" charset="0"/>
                <a:ea typeface="ＭＳ Ｐゴシック" charset="0"/>
              </a:defRPr>
            </a:lvl3pPr>
            <a:lvl4pPr marL="1600200" indent="-228600">
              <a:defRPr kumimoji="1" sz="2400">
                <a:solidFill>
                  <a:schemeClr val="tx1"/>
                </a:solidFill>
                <a:latin typeface="Arial" charset="0"/>
                <a:ea typeface="ＭＳ Ｐゴシック" charset="0"/>
              </a:defRPr>
            </a:lvl4pPr>
            <a:lvl5pPr marL="2057400" indent="-228600">
              <a:defRPr kumimoji="1" sz="2400">
                <a:solidFill>
                  <a:schemeClr val="tx1"/>
                </a:solidFill>
                <a:latin typeface="Arial" charset="0"/>
                <a:ea typeface="ＭＳ Ｐゴシック" charset="0"/>
              </a:defRPr>
            </a:lvl5pPr>
            <a:lvl6pPr marL="2514600" indent="-228600" fontAlgn="base">
              <a:spcBef>
                <a:spcPct val="0"/>
              </a:spcBef>
              <a:spcAft>
                <a:spcPct val="0"/>
              </a:spcAft>
              <a:defRPr kumimoji="1" sz="2400">
                <a:solidFill>
                  <a:schemeClr val="tx1"/>
                </a:solidFill>
                <a:latin typeface="Arial" charset="0"/>
                <a:ea typeface="ＭＳ Ｐゴシック" charset="0"/>
              </a:defRPr>
            </a:lvl6pPr>
            <a:lvl7pPr marL="2971800" indent="-228600" fontAlgn="base">
              <a:spcBef>
                <a:spcPct val="0"/>
              </a:spcBef>
              <a:spcAft>
                <a:spcPct val="0"/>
              </a:spcAft>
              <a:defRPr kumimoji="1" sz="2400">
                <a:solidFill>
                  <a:schemeClr val="tx1"/>
                </a:solidFill>
                <a:latin typeface="Arial" charset="0"/>
                <a:ea typeface="ＭＳ Ｐゴシック" charset="0"/>
              </a:defRPr>
            </a:lvl7pPr>
            <a:lvl8pPr marL="3429000" indent="-228600" fontAlgn="base">
              <a:spcBef>
                <a:spcPct val="0"/>
              </a:spcBef>
              <a:spcAft>
                <a:spcPct val="0"/>
              </a:spcAft>
              <a:defRPr kumimoji="1" sz="2400">
                <a:solidFill>
                  <a:schemeClr val="tx1"/>
                </a:solidFill>
                <a:latin typeface="Arial" charset="0"/>
                <a:ea typeface="ＭＳ Ｐゴシック" charset="0"/>
              </a:defRPr>
            </a:lvl8pPr>
            <a:lvl9pPr marL="3886200" indent="-228600" fontAlgn="base">
              <a:spcBef>
                <a:spcPct val="0"/>
              </a:spcBef>
              <a:spcAft>
                <a:spcPct val="0"/>
              </a:spcAft>
              <a:defRPr kumimoji="1" sz="2400">
                <a:solidFill>
                  <a:schemeClr val="tx1"/>
                </a:solidFill>
                <a:latin typeface="Arial" charset="0"/>
                <a:ea typeface="ＭＳ Ｐゴシック" charset="0"/>
              </a:defRPr>
            </a:lvl9pPr>
          </a:lstStyle>
          <a:p>
            <a:pPr>
              <a:defRPr/>
            </a:pPr>
            <a:r>
              <a:rPr lang="en-US" altLang="ja-JP" sz="800" b="1" dirty="0">
                <a:solidFill>
                  <a:prstClr val="white"/>
                </a:solidFill>
                <a:latin typeface="メイリオ"/>
                <a:ea typeface="メイリオ"/>
                <a:cs typeface="メイリオ"/>
              </a:rPr>
              <a:t>Copyright(c) DYM Co., </a:t>
            </a:r>
            <a:r>
              <a:rPr lang="en-US" altLang="ja-JP" sz="800" b="1" dirty="0" err="1">
                <a:solidFill>
                  <a:prstClr val="white"/>
                </a:solidFill>
                <a:latin typeface="メイリオ"/>
                <a:ea typeface="メイリオ"/>
                <a:cs typeface="メイリオ"/>
              </a:rPr>
              <a:t>Ltd.All</a:t>
            </a:r>
            <a:r>
              <a:rPr lang="en-US" altLang="ja-JP" sz="800" b="1" dirty="0">
                <a:solidFill>
                  <a:prstClr val="white"/>
                </a:solidFill>
                <a:latin typeface="メイリオ"/>
                <a:ea typeface="メイリオ"/>
                <a:cs typeface="メイリオ"/>
              </a:rPr>
              <a:t> Rights Reserved.</a:t>
            </a:r>
          </a:p>
        </p:txBody>
      </p:sp>
      <p:sp>
        <p:nvSpPr>
          <p:cNvPr id="8" name="正方形/長方形 7"/>
          <p:cNvSpPr/>
          <p:nvPr/>
        </p:nvSpPr>
        <p:spPr>
          <a:xfrm>
            <a:off x="0" y="0"/>
            <a:ext cx="416496" cy="548680"/>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a:solidFill>
                <a:prstClr val="white"/>
              </a:solidFill>
            </a:endParaRPr>
          </a:p>
        </p:txBody>
      </p:sp>
      <p:cxnSp>
        <p:nvCxnSpPr>
          <p:cNvPr id="4" name="直線コネクタ 3"/>
          <p:cNvCxnSpPr/>
          <p:nvPr/>
        </p:nvCxnSpPr>
        <p:spPr>
          <a:xfrm>
            <a:off x="0" y="548680"/>
            <a:ext cx="9906000" cy="0"/>
          </a:xfrm>
          <a:prstGeom prst="line">
            <a:avLst/>
          </a:prstGeom>
          <a:ln>
            <a:solidFill>
              <a:srgbClr val="00324B"/>
            </a:solidFill>
          </a:ln>
          <a:effectLst/>
        </p:spPr>
        <p:style>
          <a:lnRef idx="2">
            <a:schemeClr val="accent1"/>
          </a:lnRef>
          <a:fillRef idx="0">
            <a:schemeClr val="accent1"/>
          </a:fillRef>
          <a:effectRef idx="1">
            <a:schemeClr val="accent1"/>
          </a:effectRef>
          <a:fontRef idx="minor">
            <a:schemeClr val="tx1"/>
          </a:fontRef>
        </p:style>
      </p:cxnSp>
      <p:pic>
        <p:nvPicPr>
          <p:cNvPr id="9" name="図 1"/>
          <p:cNvPicPr>
            <a:picLocks/>
          </p:cNvPicPr>
          <p:nvPr userDrawn="1"/>
        </p:nvPicPr>
        <p:blipFill rotWithShape="1">
          <a:blip r:embed="rId2" cstate="hqprint">
            <a:extLst>
              <a:ext uri="{28A0092B-C50C-407E-A947-70E740481C1C}">
                <a14:useLocalDpi xmlns:a14="http://schemas.microsoft.com/office/drawing/2010/main" val="0"/>
              </a:ext>
            </a:extLst>
          </a:blip>
          <a:srcRect l="-1647" r="-11171"/>
          <a:stretch/>
        </p:blipFill>
        <p:spPr bwMode="auto">
          <a:xfrm>
            <a:off x="8619408" y="161057"/>
            <a:ext cx="1192729" cy="26331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スライド番号プレースホルダ 1"/>
          <p:cNvSpPr txBox="1">
            <a:spLocks/>
          </p:cNvSpPr>
          <p:nvPr userDrawn="1"/>
        </p:nvSpPr>
        <p:spPr>
          <a:xfrm>
            <a:off x="7545288" y="6571255"/>
            <a:ext cx="2133600" cy="216000"/>
          </a:xfrm>
          <a:prstGeom prst="rect">
            <a:avLst/>
          </a:prstGeom>
        </p:spPr>
        <p:txBody>
          <a:bodyPr tIns="25200"/>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r"/>
            <a:fld id="{9FC100E3-15F5-4145-A942-47DB1D8B776D}" type="slidenum">
              <a:rPr lang="ja-JP" altLang="en-US" sz="1400" i="1" smtClean="0">
                <a:solidFill>
                  <a:prstClr val="white"/>
                </a:solidFill>
                <a:latin typeface="Century Gothic" panose="020B0502020202020204" pitchFamily="34" charset="0"/>
              </a:rPr>
              <a:pPr algn="r"/>
              <a:t>‹#›</a:t>
            </a:fld>
            <a:endParaRPr lang="ja-JP" altLang="en-US" sz="1400" i="1" dirty="0">
              <a:solidFill>
                <a:prstClr val="white"/>
              </a:solidFill>
              <a:latin typeface="Century Gothic" panose="020B0502020202020204" pitchFamily="34" charset="0"/>
            </a:endParaRPr>
          </a:p>
        </p:txBody>
      </p:sp>
    </p:spTree>
    <p:extLst>
      <p:ext uri="{BB962C8B-B14F-4D97-AF65-F5344CB8AC3E}">
        <p14:creationId xmlns:p14="http://schemas.microsoft.com/office/powerpoint/2010/main" val="611138245"/>
      </p:ext>
    </p:extLst>
  </p:cSld>
  <p:clrMap bg1="lt1" tx1="dk1" bg2="lt2" tx2="dk2" accent1="accent1" accent2="accent2" accent3="accent3" accent4="accent4" accent5="accent5" accent6="accent6" hlink="hlink" folHlink="folHlink"/>
  <p:hf hdr="0" dt="0"/>
  <p:txStyles>
    <p:titleStyle>
      <a:lvl1pPr algn="ctr" defTabSz="457200" rtl="0" eaLnBrk="1" fontAlgn="base" hangingPunct="1">
        <a:spcBef>
          <a:spcPct val="0"/>
        </a:spcBef>
        <a:spcAft>
          <a:spcPct val="0"/>
        </a:spcAft>
        <a:defRPr kumimoji="1" sz="4400" kern="1200">
          <a:solidFill>
            <a:schemeClr val="tx1"/>
          </a:solidFill>
          <a:latin typeface="+mj-lt"/>
          <a:ea typeface="+mj-ea"/>
          <a:cs typeface="ＭＳ Ｐゴシック" charset="0"/>
        </a:defRPr>
      </a:lvl1pPr>
      <a:lvl2pPr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2pPr>
      <a:lvl3pPr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3pPr>
      <a:lvl4pPr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4pPr>
      <a:lvl5pPr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5pPr>
      <a:lvl6pPr marL="457200"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6pPr>
      <a:lvl7pPr marL="914400"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7pPr>
      <a:lvl8pPr marL="1371600"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8pPr>
      <a:lvl9pPr marL="1828800"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9pPr>
    </p:titleStyle>
    <p:bodyStyle>
      <a:lvl1pPr marL="342900" indent="-342900" algn="l" defTabSz="457200" rtl="0" eaLnBrk="1" fontAlgn="base" hangingPunct="1">
        <a:spcBef>
          <a:spcPct val="20000"/>
        </a:spcBef>
        <a:spcAft>
          <a:spcPct val="0"/>
        </a:spcAft>
        <a:buFont typeface="Arial" charset="0"/>
        <a:buChar char="•"/>
        <a:defRPr kumimoji="1" sz="3200" kern="1200">
          <a:solidFill>
            <a:schemeClr val="tx1"/>
          </a:solidFill>
          <a:latin typeface="+mn-lt"/>
          <a:ea typeface="+mn-ea"/>
          <a:cs typeface="ＭＳ Ｐゴシック" charset="0"/>
        </a:defRPr>
      </a:lvl1pPr>
      <a:lvl2pPr marL="742950" indent="-285750" algn="l" defTabSz="457200" rtl="0" eaLnBrk="1" fontAlgn="base" hangingPunct="1">
        <a:spcBef>
          <a:spcPct val="20000"/>
        </a:spcBef>
        <a:spcAft>
          <a:spcPct val="0"/>
        </a:spcAft>
        <a:buFont typeface="Arial" charset="0"/>
        <a:buChar char="–"/>
        <a:defRPr kumimoji="1" sz="2800" kern="1200">
          <a:solidFill>
            <a:schemeClr val="tx1"/>
          </a:solidFill>
          <a:latin typeface="+mn-lt"/>
          <a:ea typeface="+mn-ea"/>
          <a:cs typeface="+mn-cs"/>
        </a:defRPr>
      </a:lvl2pPr>
      <a:lvl3pPr marL="1143000" indent="-228600" algn="l" defTabSz="457200" rtl="0" eaLnBrk="1" fontAlgn="base" hangingPunct="1">
        <a:spcBef>
          <a:spcPct val="20000"/>
        </a:spcBef>
        <a:spcAft>
          <a:spcPct val="0"/>
        </a:spcAft>
        <a:buFont typeface="Arial" charset="0"/>
        <a:buChar char="•"/>
        <a:defRPr kumimoji="1" sz="2400" kern="1200">
          <a:solidFill>
            <a:schemeClr val="tx1"/>
          </a:solidFill>
          <a:latin typeface="+mn-lt"/>
          <a:ea typeface="+mn-ea"/>
          <a:cs typeface="+mn-cs"/>
        </a:defRPr>
      </a:lvl3pPr>
      <a:lvl4pPr marL="1600200" indent="-228600" algn="l" defTabSz="457200" rtl="0" eaLnBrk="1" fontAlgn="base" hangingPunct="1">
        <a:spcBef>
          <a:spcPct val="20000"/>
        </a:spcBef>
        <a:spcAft>
          <a:spcPct val="0"/>
        </a:spcAft>
        <a:buFont typeface="Arial" charset="0"/>
        <a:buChar char="–"/>
        <a:defRPr kumimoji="1" sz="2000" kern="1200">
          <a:solidFill>
            <a:schemeClr val="tx1"/>
          </a:solidFill>
          <a:latin typeface="+mn-lt"/>
          <a:ea typeface="+mn-ea"/>
          <a:cs typeface="+mn-cs"/>
        </a:defRPr>
      </a:lvl4pPr>
      <a:lvl5pPr marL="2057400" indent="-228600" algn="l" defTabSz="457200" rtl="0" eaLnBrk="1" fontAlgn="base" hangingPunct="1">
        <a:spcBef>
          <a:spcPct val="20000"/>
        </a:spcBef>
        <a:spcAft>
          <a:spcPct val="0"/>
        </a:spcAft>
        <a:buFont typeface="Arial" charset="0"/>
        <a:buChar char="»"/>
        <a:defRPr kumimoji="1"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9pPr>
    </p:bodyStyle>
    <p:otherStyle>
      <a:defPPr>
        <a:defRPr lang="ja-JP"/>
      </a:defPPr>
      <a:lvl1pPr marL="0" algn="l" defTabSz="457200" rtl="0" eaLnBrk="1" latinLnBrk="0" hangingPunct="1">
        <a:defRPr kumimoji="1" sz="1800" kern="1200">
          <a:solidFill>
            <a:schemeClr val="tx1"/>
          </a:solidFill>
          <a:latin typeface="+mn-lt"/>
          <a:ea typeface="+mn-ea"/>
          <a:cs typeface="+mn-cs"/>
        </a:defRPr>
      </a:lvl1pPr>
      <a:lvl2pPr marL="457200" algn="l" defTabSz="457200" rtl="0" eaLnBrk="1" latinLnBrk="0" hangingPunct="1">
        <a:defRPr kumimoji="1" sz="1800" kern="1200">
          <a:solidFill>
            <a:schemeClr val="tx1"/>
          </a:solidFill>
          <a:latin typeface="+mn-lt"/>
          <a:ea typeface="+mn-ea"/>
          <a:cs typeface="+mn-cs"/>
        </a:defRPr>
      </a:lvl2pPr>
      <a:lvl3pPr marL="914400" algn="l" defTabSz="457200" rtl="0" eaLnBrk="1" latinLnBrk="0" hangingPunct="1">
        <a:defRPr kumimoji="1" sz="1800" kern="1200">
          <a:solidFill>
            <a:schemeClr val="tx1"/>
          </a:solidFill>
          <a:latin typeface="+mn-lt"/>
          <a:ea typeface="+mn-ea"/>
          <a:cs typeface="+mn-cs"/>
        </a:defRPr>
      </a:lvl3pPr>
      <a:lvl4pPr marL="1371600" algn="l" defTabSz="457200" rtl="0" eaLnBrk="1" latinLnBrk="0" hangingPunct="1">
        <a:defRPr kumimoji="1" sz="1800" kern="1200">
          <a:solidFill>
            <a:schemeClr val="tx1"/>
          </a:solidFill>
          <a:latin typeface="+mn-lt"/>
          <a:ea typeface="+mn-ea"/>
          <a:cs typeface="+mn-cs"/>
        </a:defRPr>
      </a:lvl4pPr>
      <a:lvl5pPr marL="1828800" algn="l" defTabSz="457200" rtl="0" eaLnBrk="1" latinLnBrk="0" hangingPunct="1">
        <a:defRPr kumimoji="1" sz="1800" kern="1200">
          <a:solidFill>
            <a:schemeClr val="tx1"/>
          </a:solidFill>
          <a:latin typeface="+mn-lt"/>
          <a:ea typeface="+mn-ea"/>
          <a:cs typeface="+mn-cs"/>
        </a:defRPr>
      </a:lvl5pPr>
      <a:lvl6pPr marL="2286000" algn="l" defTabSz="457200" rtl="0" eaLnBrk="1" latinLnBrk="0" hangingPunct="1">
        <a:defRPr kumimoji="1" sz="1800" kern="1200">
          <a:solidFill>
            <a:schemeClr val="tx1"/>
          </a:solidFill>
          <a:latin typeface="+mn-lt"/>
          <a:ea typeface="+mn-ea"/>
          <a:cs typeface="+mn-cs"/>
        </a:defRPr>
      </a:lvl6pPr>
      <a:lvl7pPr marL="2743200" algn="l" defTabSz="457200" rtl="0" eaLnBrk="1" latinLnBrk="0" hangingPunct="1">
        <a:defRPr kumimoji="1" sz="1800" kern="1200">
          <a:solidFill>
            <a:schemeClr val="tx1"/>
          </a:solidFill>
          <a:latin typeface="+mn-lt"/>
          <a:ea typeface="+mn-ea"/>
          <a:cs typeface="+mn-cs"/>
        </a:defRPr>
      </a:lvl7pPr>
      <a:lvl8pPr marL="3200400" algn="l" defTabSz="457200" rtl="0" eaLnBrk="1" latinLnBrk="0" hangingPunct="1">
        <a:defRPr kumimoji="1" sz="1800" kern="1200">
          <a:solidFill>
            <a:schemeClr val="tx1"/>
          </a:solidFill>
          <a:latin typeface="+mn-lt"/>
          <a:ea typeface="+mn-ea"/>
          <a:cs typeface="+mn-cs"/>
        </a:defRPr>
      </a:lvl8pPr>
      <a:lvl9pPr marL="3657600" algn="l" defTabSz="4572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image" Target="../media/image5.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8.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9.png"/><Relationship Id="rId3" Type="http://schemas.openxmlformats.org/officeDocument/2006/relationships/image" Target="../media/image10.png"/><Relationship Id="rId4" Type="http://schemas.openxmlformats.org/officeDocument/2006/relationships/image" Target="../media/image11.png"/><Relationship Id="rId5" Type="http://schemas.openxmlformats.org/officeDocument/2006/relationships/image" Target="../media/image12.png"/><Relationship Id="rId6" Type="http://schemas.openxmlformats.org/officeDocument/2006/relationships/image" Target="../media/image13.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4.jpg"/><Relationship Id="rId3" Type="http://schemas.openxmlformats.org/officeDocument/2006/relationships/image" Target="../media/image15.jpg"/><Relationship Id="rId4" Type="http://schemas.openxmlformats.org/officeDocument/2006/relationships/image" Target="../media/image16.png"/><Relationship Id="rId5" Type="http://schemas.openxmlformats.org/officeDocument/2006/relationships/image" Target="../media/image17.png"/><Relationship Id="rId6" Type="http://schemas.openxmlformats.org/officeDocument/2006/relationships/image" Target="../media/image18.png"/><Relationship Id="rId7" Type="http://schemas.openxmlformats.org/officeDocument/2006/relationships/image" Target="../media/image19.jpeg"/><Relationship Id="rId8" Type="http://schemas.openxmlformats.org/officeDocument/2006/relationships/image" Target="../media/image20.jpg"/><Relationship Id="rId9" Type="http://schemas.openxmlformats.org/officeDocument/2006/relationships/image" Target="../media/image21.png"/><Relationship Id="rId10" Type="http://schemas.openxmlformats.org/officeDocument/2006/relationships/image" Target="../media/image22.png"/><Relationship Id="rId11" Type="http://schemas.openxmlformats.org/officeDocument/2006/relationships/hyperlink" Target="https://youtube.com/shorts/0qI4QgrOppQ" TargetMode="Externa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3.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24.png"/><Relationship Id="rId4" Type="http://schemas.openxmlformats.org/officeDocument/2006/relationships/image" Target="../media/image25.png"/><Relationship Id="rId5" Type="http://schemas.openxmlformats.org/officeDocument/2006/relationships/image" Target="../media/image26.png"/><Relationship Id="rId6" Type="http://schemas.openxmlformats.org/officeDocument/2006/relationships/image" Target="../media/image27.png"/><Relationship Id="rId7" Type="http://schemas.openxmlformats.org/officeDocument/2006/relationships/image" Target="../media/image28.png"/><Relationship Id="rId8" Type="http://schemas.openxmlformats.org/officeDocument/2006/relationships/image" Target="../media/image29.png"/><Relationship Id="rId9" Type="http://schemas.openxmlformats.org/officeDocument/2006/relationships/image" Target="../media/image30.png"/><Relationship Id="rId10" Type="http://schemas.openxmlformats.org/officeDocument/2006/relationships/image" Target="../media/image31.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32.png"/><Relationship Id="rId4" Type="http://schemas.openxmlformats.org/officeDocument/2006/relationships/image" Target="../media/image33.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34.png"/><Relationship Id="rId4" Type="http://schemas.openxmlformats.org/officeDocument/2006/relationships/image" Target="../media/image35.png"/><Relationship Id="rId5" Type="http://schemas.openxmlformats.org/officeDocument/2006/relationships/image" Target="../media/image36.png"/><Relationship Id="rId6" Type="http://schemas.openxmlformats.org/officeDocument/2006/relationships/image" Target="../media/image37.png"/><Relationship Id="rId7" Type="http://schemas.openxmlformats.org/officeDocument/2006/relationships/image" Target="../media/image38.svg"/><Relationship Id="rId8" Type="http://schemas.openxmlformats.org/officeDocument/2006/relationships/image" Target="../media/image39.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3.emf"/><Relationship Id="rId4" Type="http://schemas.openxmlformats.org/officeDocument/2006/relationships/image" Target="../media/image40.jpeg"/><Relationship Id="rId5" Type="http://schemas.openxmlformats.org/officeDocument/2006/relationships/image" Target="../media/image41.jpeg"/><Relationship Id="rId6" Type="http://schemas.openxmlformats.org/officeDocument/2006/relationships/image" Target="../media/image42.jpeg"/><Relationship Id="rId7" Type="http://schemas.openxmlformats.org/officeDocument/2006/relationships/image" Target="../media/image43.jpeg"/><Relationship Id="rId8" Type="http://schemas.openxmlformats.org/officeDocument/2006/relationships/image" Target="../media/image44.jpe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45.svg"/><Relationship Id="rId4" Type="http://schemas.openxmlformats.org/officeDocument/2006/relationships/image" Target="../media/image46.svg"/><Relationship Id="rId5" Type="http://schemas.openxmlformats.org/officeDocument/2006/relationships/image" Target="../media/image47.svg"/><Relationship Id="rId6" Type="http://schemas.openxmlformats.org/officeDocument/2006/relationships/image" Target="../media/image48.sv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9.png"/><Relationship Id="rId3" Type="http://schemas.openxmlformats.org/officeDocument/2006/relationships/image" Target="../media/image50.png"/><Relationship Id="rId4" Type="http://schemas.openxmlformats.org/officeDocument/2006/relationships/image" Target="../media/image51.png"/><Relationship Id="rId5" Type="http://schemas.openxmlformats.org/officeDocument/2006/relationships/image" Target="../media/image52.jpe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3.png"/><Relationship Id="rId3" Type="http://schemas.openxmlformats.org/officeDocument/2006/relationships/image" Target="../media/image54.png"/><Relationship Id="rId4" Type="http://schemas.openxmlformats.org/officeDocument/2006/relationships/image" Target="../media/image55.png"/><Relationship Id="rId5" Type="http://schemas.openxmlformats.org/officeDocument/2006/relationships/image" Target="../media/image56.png"/><Relationship Id="rId6" Type="http://schemas.openxmlformats.org/officeDocument/2006/relationships/image" Target="../media/image57.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8.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9.png"/><Relationship Id="rId3" Type="http://schemas.openxmlformats.org/officeDocument/2006/relationships/image" Target="../media/image60.png"/><Relationship Id="rId4" Type="http://schemas.openxmlformats.org/officeDocument/2006/relationships/image" Target="../media/image61.png"/><Relationship Id="rId5" Type="http://schemas.openxmlformats.org/officeDocument/2006/relationships/image" Target="../media/image62.png"/><Relationship Id="rId6" Type="http://schemas.openxmlformats.org/officeDocument/2006/relationships/image" Target="../media/image63.png"/><Relationship Id="rId7" Type="http://schemas.openxmlformats.org/officeDocument/2006/relationships/image" Target="../media/image64.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5.png"/><Relationship Id="rId3" Type="http://schemas.openxmlformats.org/officeDocument/2006/relationships/image" Target="../media/image66.png"/><Relationship Id="rId4" Type="http://schemas.openxmlformats.org/officeDocument/2006/relationships/image" Target="../media/image67.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8.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9.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0.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1.png"/><Relationship Id="rId3" Type="http://schemas.openxmlformats.org/officeDocument/2006/relationships/image" Target="../media/image72.png"/><Relationship Id="rId4" Type="http://schemas.openxmlformats.org/officeDocument/2006/relationships/image" Target="../media/image7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正方形/長方形 1">
            <a:extLst>
              <a:ext uri="{FF2B5EF4-FFF2-40B4-BE49-F238E27FC236}">
                <a16:creationId xmlns:a16="http://schemas.microsoft.com/office/drawing/2014/main" id="{69A0322D-BA5F-9122-1E12-FB7AC2AF15A5}"/>
              </a:ext>
            </a:extLst>
          </p:cNvPr>
          <p:cNvSpPr/>
          <p:nvPr/>
        </p:nvSpPr>
        <p:spPr>
          <a:xfrm>
            <a:off x="1665887" y="3038203"/>
            <a:ext cx="6574236" cy="584775"/>
          </a:xfrm>
          <a:prstGeom prst="rect">
            <a:avLst/>
          </a:prstGeom>
        </p:spPr>
        <p:txBody>
          <a:bodyPr wrap="none">
            <a:spAutoFit/>
          </a:bodyPr>
          <a:lstStyle/>
          <a:p>
            <a:pPr algn="ctr"/>
            <a:r>
              <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LINE</a:t>
            </a: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公式アカウント運用のご提案</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6" name="正方形/長方形 5">
            <a:extLst>
              <a:ext uri="{FF2B5EF4-FFF2-40B4-BE49-F238E27FC236}">
                <a16:creationId xmlns:a16="http://schemas.microsoft.com/office/drawing/2014/main" id="{3CC59398-53B4-E01E-A60C-6C13628FCBFB}"/>
              </a:ext>
            </a:extLst>
          </p:cNvPr>
          <p:cNvSpPr/>
          <p:nvPr/>
        </p:nvSpPr>
        <p:spPr>
          <a:xfrm>
            <a:off x="1613481" y="2331720"/>
            <a:ext cx="6626632" cy="658368"/>
          </a:xfrm>
          <a:prstGeom prst="rect">
            <a:avLst/>
          </a:prstGeom>
        </p:spPr>
        <p:txBody>
          <a:bodyPr wrap="square">
            <a:spAutoFit/>
          </a:bodyPr>
          <a:lstStyle/>
          <a:p>
            <a:pPr algn="ctr"/>
            <a:r>
              <a:rPr lang="ja-JP" altLang="en-US" sz="1600" dirty="0">
                <a:solidFill>
                  <a:schemeClr val="tx1">
                    <a:lumMod val="50000"/>
                    <a:lumOff val="50000"/>
                  </a:schemeClr>
                </a:solidFill>
                <a:latin typeface="メイリオ" panose="020B0604030504040204" pitchFamily="34" charset="-128"/>
                <a:ea typeface="メイリオ" panose="020B0604030504040204" pitchFamily="34" charset="-128"/>
                <a:cs typeface="メイリオ"/>
              </a:rPr>
              <a:t>広告で集めた見込み客をLINEで育成し、</a:t>
            </a:r>
          </a:p>
          <a:p>
            <a:pPr algn="ctr"/>
            <a:r>
              <a:rPr lang="ja-JP" altLang="en-US" sz="1600" dirty="0">
                <a:solidFill>
                  <a:schemeClr val="tx1">
                    <a:lumMod val="50000"/>
                    <a:lumOff val="50000"/>
                  </a:schemeClr>
                </a:solidFill>
                <a:latin typeface="メイリオ" panose="020B0604030504040204" pitchFamily="34" charset="-128"/>
                <a:ea typeface="メイリオ" panose="020B0604030504040204" pitchFamily="34" charset="-128"/>
                <a:cs typeface="メイリオ"/>
              </a:rPr>
              <a:t>次のセミナー参加・サロン入会へ</a:t>
            </a:r>
          </a:p>
        </p:txBody>
      </p:sp>
      <p:cxnSp>
        <p:nvCxnSpPr>
          <p:cNvPr id="5" name="直線コネクタ 4">
            <a:extLst>
              <a:ext uri="{FF2B5EF4-FFF2-40B4-BE49-F238E27FC236}">
                <a16:creationId xmlns:a16="http://schemas.microsoft.com/office/drawing/2014/main" id="{B532C1C8-7FE6-8830-B27C-27941421F5F9}"/>
              </a:ext>
            </a:extLst>
          </p:cNvPr>
          <p:cNvCxnSpPr>
            <a:cxnSpLocks/>
          </p:cNvCxnSpPr>
          <p:nvPr/>
        </p:nvCxnSpPr>
        <p:spPr>
          <a:xfrm>
            <a:off x="1337175" y="3705064"/>
            <a:ext cx="7231660" cy="0"/>
          </a:xfrm>
          <a:prstGeom prst="line">
            <a:avLst/>
          </a:prstGeom>
          <a:ln w="190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pic>
        <p:nvPicPr>
          <p:cNvPr id="9" name="図 8" descr="背景パターン&#10;&#10;AI 生成コンテンツは誤りを含む可能性があります。">
            <a:extLst>
              <a:ext uri="{FF2B5EF4-FFF2-40B4-BE49-F238E27FC236}">
                <a16:creationId xmlns:a16="http://schemas.microsoft.com/office/drawing/2014/main" id="{FFE022E1-8FF6-B4B4-B955-17E7CFA96460}"/>
              </a:ext>
            </a:extLst>
          </p:cNvPr>
          <p:cNvPicPr>
            <a:picLocks noChangeAspect="1"/>
          </p:cNvPicPr>
          <p:nvPr/>
        </p:nvPicPr>
        <p:blipFill>
          <a:blip r:embed="rId2"/>
          <a:stretch>
            <a:fillRect/>
          </a:stretch>
        </p:blipFill>
        <p:spPr>
          <a:xfrm>
            <a:off x="-1" y="0"/>
            <a:ext cx="8159931" cy="766354"/>
          </a:xfrm>
          <a:prstGeom prst="rect">
            <a:avLst/>
          </a:prstGeom>
        </p:spPr>
      </p:pic>
      <p:pic>
        <p:nvPicPr>
          <p:cNvPr id="10" name="図 9" descr="背景パターン&#10;&#10;AI 生成コンテンツは誤りを含む可能性があります。">
            <a:extLst>
              <a:ext uri="{FF2B5EF4-FFF2-40B4-BE49-F238E27FC236}">
                <a16:creationId xmlns:a16="http://schemas.microsoft.com/office/drawing/2014/main" id="{0F2999B3-5873-C495-70F5-12487911C618}"/>
              </a:ext>
            </a:extLst>
          </p:cNvPr>
          <p:cNvPicPr>
            <a:picLocks noChangeAspect="1"/>
          </p:cNvPicPr>
          <p:nvPr/>
        </p:nvPicPr>
        <p:blipFill>
          <a:blip r:embed="rId2"/>
          <a:stretch>
            <a:fillRect/>
          </a:stretch>
        </p:blipFill>
        <p:spPr>
          <a:xfrm>
            <a:off x="7863840" y="494114"/>
            <a:ext cx="2042161" cy="272239"/>
          </a:xfrm>
          <a:prstGeom prst="rect">
            <a:avLst/>
          </a:prstGeom>
        </p:spPr>
      </p:pic>
      <p:sp>
        <p:nvSpPr>
          <p:cNvPr id="7" name="テキスト ボックス 6">
            <a:extLst>
              <a:ext uri="{FF2B5EF4-FFF2-40B4-BE49-F238E27FC236}">
                <a16:creationId xmlns:a16="http://schemas.microsoft.com/office/drawing/2014/main" id="{A461DC58-6517-316F-E5FE-0F7AB1043C43}"/>
              </a:ext>
            </a:extLst>
          </p:cNvPr>
          <p:cNvSpPr txBox="1"/>
          <p:nvPr/>
        </p:nvSpPr>
        <p:spPr>
          <a:xfrm>
            <a:off x="365759" y="216290"/>
            <a:ext cx="5233851" cy="338554"/>
          </a:xfrm>
          <a:prstGeom prst="rect">
            <a:avLst/>
          </a:prstGeom>
          <a:noFill/>
        </p:spPr>
        <p:txBody>
          <a:bodyPr wrap="square">
            <a:spAutoFit/>
          </a:bodyPr>
          <a:lstStyle/>
          <a:p>
            <a:r>
              <a:rPr lang="ja-JP" altLang="en-US" sz="16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株式会社すなおコンサルティング 御中</a:t>
            </a:r>
            <a:endParaRPr lang="ja-JP" altLang="en-US" sz="1050" dirty="0">
              <a:latin typeface="メイリオ"/>
              <a:ea typeface="メイリオ"/>
              <a:cs typeface="メイリオ"/>
            </a:endParaRPr>
          </a:p>
        </p:txBody>
      </p:sp>
    </p:spTree>
    <p:extLst>
      <p:ext uri="{BB962C8B-B14F-4D97-AF65-F5344CB8AC3E}">
        <p14:creationId xmlns:p14="http://schemas.microsoft.com/office/powerpoint/2010/main" val="39445980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6A891A-F874-A527-E24E-39C71E4366CF}"/>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1ADD4630-B4FB-1ED5-AA03-7B456BE4B713}"/>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資料アジェンダ</a:t>
            </a:r>
          </a:p>
        </p:txBody>
      </p:sp>
      <p:sp>
        <p:nvSpPr>
          <p:cNvPr id="2" name="正方形/長方形 1">
            <a:extLst>
              <a:ext uri="{FF2B5EF4-FFF2-40B4-BE49-F238E27FC236}">
                <a16:creationId xmlns:a16="http://schemas.microsoft.com/office/drawing/2014/main" id="{2930638E-A234-B57F-602E-9D9732D57A7B}"/>
              </a:ext>
            </a:extLst>
          </p:cNvPr>
          <p:cNvSpPr/>
          <p:nvPr/>
        </p:nvSpPr>
        <p:spPr>
          <a:xfrm>
            <a:off x="4042977" y="3038203"/>
            <a:ext cx="1826141" cy="584775"/>
          </a:xfrm>
          <a:prstGeom prst="rect">
            <a:avLst/>
          </a:prstGeom>
        </p:spPr>
        <p:txBody>
          <a:bodyPr wrap="none">
            <a:spAutoFit/>
          </a:bodyPr>
          <a:lstStyle/>
          <a:p>
            <a:pPr algn="ct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現状把握</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36314323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6A8E8E-25CB-4B86-C4F6-E5A7023586F7}"/>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82750B4B-A121-360C-93EE-1C576646E633}"/>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 name="正方形/長方形 3">
            <a:extLst>
              <a:ext uri="{FF2B5EF4-FFF2-40B4-BE49-F238E27FC236}">
                <a16:creationId xmlns:a16="http://schemas.microsoft.com/office/drawing/2014/main" id="{9AF57BBF-9E24-A5DD-4EBD-626AA56926E3}"/>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cxnSp>
        <p:nvCxnSpPr>
          <p:cNvPr id="5" name="直線コネクタ 4">
            <a:extLst>
              <a:ext uri="{FF2B5EF4-FFF2-40B4-BE49-F238E27FC236}">
                <a16:creationId xmlns:a16="http://schemas.microsoft.com/office/drawing/2014/main" id="{2F558483-DBE8-2E46-BAD9-E71868086667}"/>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5" name="Google Shape;156;p7">
            <a:extLst>
              <a:ext uri="{FF2B5EF4-FFF2-40B4-BE49-F238E27FC236}">
                <a16:creationId xmlns:a16="http://schemas.microsoft.com/office/drawing/2014/main" id="{0954E864-E162-A524-FB6F-26FF53B70221}"/>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現状把握</a:t>
            </a:r>
            <a:endParaRPr sz="1600" b="1" dirty="0">
              <a:solidFill>
                <a:srgbClr val="002060"/>
              </a:solidFill>
              <a:latin typeface="メイリオ"/>
              <a:ea typeface="メイリオ"/>
              <a:cs typeface="メイリオ"/>
              <a:sym typeface="Meiryo"/>
            </a:endParaRPr>
          </a:p>
        </p:txBody>
      </p:sp>
      <p:sp>
        <p:nvSpPr>
          <p:cNvPr id="29" name="テキスト ボックス 28">
            <a:extLst>
              <a:ext uri="{FF2B5EF4-FFF2-40B4-BE49-F238E27FC236}">
                <a16:creationId xmlns:a16="http://schemas.microsoft.com/office/drawing/2014/main" id="{89944725-A636-ECEB-0A63-635C9AC8D442}"/>
              </a:ext>
            </a:extLst>
          </p:cNvPr>
          <p:cNvSpPr txBox="1"/>
          <p:nvPr/>
        </p:nvSpPr>
        <p:spPr>
          <a:xfrm>
            <a:off x="4801044" y="1595900"/>
            <a:ext cx="4492485" cy="276999"/>
          </a:xfrm>
          <a:prstGeom prst="rect">
            <a:avLst/>
          </a:prstGeom>
          <a:solidFill>
            <a:srgbClr val="04FA0A"/>
          </a:solidFill>
        </p:spPr>
        <p:txBody>
          <a:bodyPr wrap="square">
            <a:spAutoFit/>
          </a:bodyPr>
          <a:lstStyle/>
          <a:p>
            <a:pPr algn="ctr"/>
            <a:r>
              <a:rPr lang="en-US" altLang="ja-JP" sz="1200" b="1" dirty="0">
                <a:solidFill>
                  <a:schemeClr val="bg1"/>
                </a:solidFill>
                <a:latin typeface="メイリオ" panose="020B0604030504040204" pitchFamily="50" charset="-128"/>
                <a:ea typeface="メイリオ" panose="020B0604030504040204" pitchFamily="50" charset="-128"/>
                <a:cs typeface="メイリオ"/>
              </a:rPr>
              <a:t>LINE</a:t>
            </a:r>
            <a:r>
              <a:rPr lang="ja-JP" altLang="en-US" sz="1200" b="1" dirty="0">
                <a:solidFill>
                  <a:schemeClr val="bg1"/>
                </a:solidFill>
                <a:latin typeface="メイリオ" panose="020B0604030504040204" pitchFamily="50" charset="-128"/>
                <a:ea typeface="メイリオ" panose="020B0604030504040204" pitchFamily="50" charset="-128"/>
                <a:cs typeface="メイリオ"/>
              </a:rPr>
              <a:t>ステータス</a:t>
            </a:r>
            <a:endParaRPr lang="ja-JP" altLang="en-US" sz="1200" b="1" dirty="0">
              <a:solidFill>
                <a:schemeClr val="bg1"/>
              </a:solidFill>
              <a:latin typeface="メイリオ"/>
              <a:ea typeface="メイリオ"/>
              <a:cs typeface="メイリオ"/>
            </a:endParaRPr>
          </a:p>
        </p:txBody>
      </p:sp>
      <p:sp>
        <p:nvSpPr>
          <p:cNvPr id="31" name="テキスト ボックス 30">
            <a:extLst>
              <a:ext uri="{FF2B5EF4-FFF2-40B4-BE49-F238E27FC236}">
                <a16:creationId xmlns:a16="http://schemas.microsoft.com/office/drawing/2014/main" id="{4084F56D-F327-A822-5987-1D40EC17F819}"/>
              </a:ext>
            </a:extLst>
          </p:cNvPr>
          <p:cNvSpPr txBox="1"/>
          <p:nvPr/>
        </p:nvSpPr>
        <p:spPr>
          <a:xfrm>
            <a:off x="548883" y="1595900"/>
            <a:ext cx="4084077" cy="276999"/>
          </a:xfrm>
          <a:prstGeom prst="rect">
            <a:avLst/>
          </a:prstGeom>
          <a:solidFill>
            <a:schemeClr val="tx1"/>
          </a:solidFill>
        </p:spPr>
        <p:txBody>
          <a:bodyPr wrap="square">
            <a:spAutoFit/>
          </a:bodyPr>
          <a:lstStyle/>
          <a:p>
            <a:pPr algn="ctr"/>
            <a:r>
              <a:rPr lang="en-US" altLang="ja-JP" sz="1200" dirty="0">
                <a:solidFill>
                  <a:schemeClr val="bg1"/>
                </a:solidFill>
                <a:latin typeface="メイリオ" panose="020B0604030504040204" pitchFamily="50" charset="-128"/>
                <a:ea typeface="メイリオ" panose="020B0604030504040204" pitchFamily="50" charset="-128"/>
                <a:cs typeface="メイリオ"/>
              </a:rPr>
              <a:t>LP（セミナー申込みページ）ステータス</a:t>
            </a:r>
            <a:endParaRPr lang="ja-JP" altLang="en-US" sz="1200" dirty="0">
              <a:solidFill>
                <a:schemeClr val="bg1"/>
              </a:solidFill>
              <a:latin typeface="メイリオ"/>
              <a:ea typeface="メイリオ"/>
              <a:cs typeface="メイリオ"/>
            </a:endParaRPr>
          </a:p>
        </p:txBody>
      </p:sp>
      <p:sp>
        <p:nvSpPr>
          <p:cNvPr id="43" name="テキスト ボックス 42">
            <a:extLst>
              <a:ext uri="{FF2B5EF4-FFF2-40B4-BE49-F238E27FC236}">
                <a16:creationId xmlns:a16="http://schemas.microsoft.com/office/drawing/2014/main" id="{DF252064-AA26-BA2E-6A97-4DB09F013416}"/>
              </a:ext>
            </a:extLst>
          </p:cNvPr>
          <p:cNvSpPr txBox="1"/>
          <p:nvPr/>
        </p:nvSpPr>
        <p:spPr>
          <a:xfrm>
            <a:off x="548882" y="5699170"/>
            <a:ext cx="4084077" cy="415498"/>
          </a:xfrm>
          <a:prstGeom prst="rect">
            <a:avLst/>
          </a:prstGeom>
          <a:solidFill>
            <a:schemeClr val="bg1">
              <a:lumMod val="95000"/>
            </a:schemeClr>
          </a:solidFill>
        </p:spPr>
        <p:txBody>
          <a:bodyPr wrap="square">
            <a:spAutoFit/>
          </a:bodyPr>
          <a:lstStyle/>
          <a:p>
            <a:pPr algn="ctr"/>
            <a:r>
              <a:rPr lang="ja-JP" altLang="en-US" sz="1050" dirty="0">
                <a:latin typeface="メイリオ" panose="020B0604030504040204" pitchFamily="50" charset="-128"/>
                <a:ea typeface="メイリオ" panose="020B0604030504040204" pitchFamily="50" charset="-128"/>
                <a:cs typeface="メイリオ"/>
              </a:rPr>
              <a:t>広告でセミナー予約を獲得（1回 約8</a:t>
            </a:r>
            <a:r>
              <a:rPr lang="en-US" altLang="ja-JP" sz="1050" dirty="0">
                <a:latin typeface="メイリオ" panose="020B0604030504040204" pitchFamily="50" charset="-128"/>
                <a:ea typeface="メイリオ" panose="020B0604030504040204" pitchFamily="50" charset="-128"/>
                <a:cs typeface="メイリオ"/>
              </a:rPr>
              <a:t>0</a:t>
            </a:r>
            <a:r>
              <a:rPr lang="ja-JP" altLang="en-US" sz="1050" dirty="0">
                <a:latin typeface="メイリオ" panose="020B0604030504040204" pitchFamily="50" charset="-128"/>
                <a:ea typeface="メイリオ" panose="020B0604030504040204" pitchFamily="50" charset="-128"/>
                <a:cs typeface="メイリオ"/>
              </a:rPr>
              <a:t>件・CPA 約26,0</a:t>
            </a:r>
            <a:r>
              <a:rPr lang="en-US" altLang="ja-JP" sz="1050" dirty="0">
                <a:latin typeface="メイリオ" panose="020B0604030504040204" pitchFamily="50" charset="-128"/>
                <a:ea typeface="メイリオ" panose="020B0604030504040204" pitchFamily="50" charset="-128"/>
                <a:cs typeface="メイリオ"/>
              </a:rPr>
              <a:t>00</a:t>
            </a:r>
            <a:r>
              <a:rPr lang="ja-JP" altLang="en-US" sz="1050" dirty="0">
                <a:latin typeface="メイリオ" panose="020B0604030504040204" pitchFamily="50" charset="-128"/>
                <a:ea typeface="メイリオ" panose="020B0604030504040204" pitchFamily="50" charset="-128"/>
                <a:cs typeface="メイリオ"/>
              </a:rPr>
              <a:t>円）。</a:t>
            </a:r>
            <a:endParaRPr lang="en-US" altLang="ja-JP" sz="1050" dirty="0">
              <a:latin typeface="メイリオ" panose="020B0604030504040204" pitchFamily="50" charset="-128"/>
              <a:ea typeface="メイリオ" panose="020B0604030504040204" pitchFamily="50" charset="-128"/>
              <a:cs typeface="メイリオ"/>
            </a:endParaRPr>
          </a:p>
          <a:p>
            <a:pPr algn="ctr"/>
            <a:r>
              <a:rPr lang="ja-JP" altLang="en-US" sz="1050" b="1" dirty="0">
                <a:solidFill>
                  <a:srgbClr val="1F2A5C"/>
                </a:solidFill>
                <a:latin typeface="メイリオ" panose="020B0604030504040204" pitchFamily="50" charset="-128"/>
                <a:ea typeface="メイリオ" panose="020B0604030504040204" pitchFamily="50" charset="-128"/>
                <a:cs typeface="メイリオ"/>
              </a:rPr>
              <a:t>接点を次回イベントまで継続できる仕組みを強化する。</a:t>
            </a:r>
            <a:endParaRPr lang="en-US" altLang="ja-JP" sz="1050" b="1" dirty="0">
              <a:solidFill>
                <a:srgbClr val="1F2A5C"/>
              </a:solidFill>
              <a:latin typeface="メイリオ" panose="020B0604030504040204" pitchFamily="50" charset="-128"/>
              <a:ea typeface="メイリオ" panose="020B0604030504040204" pitchFamily="50" charset="-128"/>
              <a:cs typeface="メイリオ"/>
            </a:endParaRPr>
          </a:p>
        </p:txBody>
      </p:sp>
      <p:sp>
        <p:nvSpPr>
          <p:cNvPr id="53" name="テキスト ボックス 52">
            <a:extLst>
              <a:ext uri="{FF2B5EF4-FFF2-40B4-BE49-F238E27FC236}">
                <a16:creationId xmlns:a16="http://schemas.microsoft.com/office/drawing/2014/main" id="{A9D49B02-3153-70EA-C9DA-F1F7EE54CE44}"/>
              </a:ext>
            </a:extLst>
          </p:cNvPr>
          <p:cNvSpPr txBox="1"/>
          <p:nvPr/>
        </p:nvSpPr>
        <p:spPr>
          <a:xfrm>
            <a:off x="4801043" y="5699170"/>
            <a:ext cx="4492485" cy="415498"/>
          </a:xfrm>
          <a:prstGeom prst="rect">
            <a:avLst/>
          </a:prstGeom>
          <a:solidFill>
            <a:schemeClr val="bg1">
              <a:lumMod val="95000"/>
            </a:schemeClr>
          </a:solidFill>
        </p:spPr>
        <p:txBody>
          <a:bodyPr wrap="square">
            <a:spAutoFit/>
          </a:bodyPr>
          <a:lstStyle/>
          <a:p>
            <a:pPr algn="ctr"/>
            <a:r>
              <a:rPr lang="ja-JP" altLang="en-US" sz="1050" dirty="0">
                <a:latin typeface="メイリオ" panose="020B0604030504040204" pitchFamily="50" charset="-128"/>
                <a:ea typeface="メイリオ" panose="020B0604030504040204" pitchFamily="50" charset="-128"/>
                <a:cs typeface="メイリオ"/>
              </a:rPr>
              <a:t>LINE公式アカウントを、</a:t>
            </a:r>
            <a:endParaRPr lang="en-US" altLang="ja-JP" sz="1050" dirty="0">
              <a:latin typeface="メイリオ" panose="020B0604030504040204" pitchFamily="50" charset="-128"/>
              <a:ea typeface="メイリオ" panose="020B0604030504040204" pitchFamily="50" charset="-128"/>
              <a:cs typeface="メイリオ"/>
            </a:endParaRPr>
          </a:p>
          <a:p>
            <a:pPr algn="ctr"/>
            <a:r>
              <a:rPr lang="ja-JP" altLang="en-US" sz="1050" dirty="0">
                <a:latin typeface="メイリオ" panose="020B0604030504040204" pitchFamily="50" charset="-128"/>
                <a:ea typeface="メイリオ" panose="020B0604030504040204" pitchFamily="50" charset="-128"/>
                <a:cs typeface="メイリオ"/>
              </a:rPr>
              <a:t>見込み客との継続的な接点として活用</a:t>
            </a:r>
            <a:endParaRPr lang="en-US" altLang="ja-JP" sz="1050" dirty="0">
              <a:latin typeface="メイリオ" panose="020B0604030504040204" pitchFamily="50" charset="-128"/>
              <a:ea typeface="メイリオ" panose="020B0604030504040204" pitchFamily="50" charset="-128"/>
              <a:cs typeface="メイリオ"/>
            </a:endParaRPr>
          </a:p>
        </p:txBody>
      </p:sp>
      <p:pic>
        <p:nvPicPr>
          <p:cNvPr id="55" name="図 54">
            <a:extLst>
              <a:ext uri="{FF2B5EF4-FFF2-40B4-BE49-F238E27FC236}">
                <a16:creationId xmlns:a16="http://schemas.microsoft.com/office/drawing/2014/main" id="{A0055F99-5527-C0F0-D670-596AA96C9DB0}"/>
              </a:ext>
            </a:extLst>
          </p:cNvPr>
          <p:cNvPicPr>
            <a:picLocks noChangeAspect="1"/>
          </p:cNvPicPr>
          <p:nvPr/>
        </p:nvPicPr>
        <p:blipFill>
          <a:blip r:embed="rId3"/>
          <a:stretch>
            <a:fillRect/>
          </a:stretch>
        </p:blipFill>
        <p:spPr>
          <a:xfrm>
            <a:off x="4801043" y="2013911"/>
            <a:ext cx="1732686" cy="3519238"/>
          </a:xfrm>
          <a:prstGeom prst="rect">
            <a:avLst/>
          </a:prstGeom>
        </p:spPr>
      </p:pic>
      <p:sp>
        <p:nvSpPr>
          <p:cNvPr id="61" name="テキスト ボックス 60">
            <a:extLst>
              <a:ext uri="{FF2B5EF4-FFF2-40B4-BE49-F238E27FC236}">
                <a16:creationId xmlns:a16="http://schemas.microsoft.com/office/drawing/2014/main" id="{B2CAE599-CD63-C0C4-6166-4C1744AE2DDD}"/>
              </a:ext>
            </a:extLst>
          </p:cNvPr>
          <p:cNvSpPr txBox="1"/>
          <p:nvPr/>
        </p:nvSpPr>
        <p:spPr>
          <a:xfrm>
            <a:off x="4891820" y="2275406"/>
            <a:ext cx="1543813" cy="2862322"/>
          </a:xfrm>
          <a:prstGeom prst="rect">
            <a:avLst/>
          </a:prstGeom>
          <a:solidFill>
            <a:schemeClr val="bg1"/>
          </a:solidFill>
        </p:spPr>
        <p:txBody>
          <a:bodyPr wrap="square">
            <a:spAutoFit/>
          </a:bodyPr>
          <a:lstStyle/>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p:txBody>
      </p:sp>
      <p:sp>
        <p:nvSpPr>
          <p:cNvPr id="65" name="テキスト ボックス 64">
            <a:extLst>
              <a:ext uri="{FF2B5EF4-FFF2-40B4-BE49-F238E27FC236}">
                <a16:creationId xmlns:a16="http://schemas.microsoft.com/office/drawing/2014/main" id="{C742707A-0EFE-C959-2429-B7F41C6A6533}"/>
              </a:ext>
            </a:extLst>
          </p:cNvPr>
          <p:cNvSpPr txBox="1"/>
          <p:nvPr/>
        </p:nvSpPr>
        <p:spPr>
          <a:xfrm>
            <a:off x="2134777" y="2013910"/>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LP UU</a:t>
            </a:r>
          </a:p>
        </p:txBody>
      </p:sp>
      <p:sp>
        <p:nvSpPr>
          <p:cNvPr id="67" name="テキスト ボックス 66">
            <a:extLst>
              <a:ext uri="{FF2B5EF4-FFF2-40B4-BE49-F238E27FC236}">
                <a16:creationId xmlns:a16="http://schemas.microsoft.com/office/drawing/2014/main" id="{F4B640EE-F406-8C64-40BB-99B4F8666757}"/>
              </a:ext>
            </a:extLst>
          </p:cNvPr>
          <p:cNvSpPr txBox="1"/>
          <p:nvPr/>
        </p:nvSpPr>
        <p:spPr>
          <a:xfrm>
            <a:off x="2137430" y="4908654"/>
            <a:ext cx="2183307" cy="369332"/>
          </a:xfrm>
          <a:prstGeom prst="rect">
            <a:avLst/>
          </a:prstGeom>
          <a:noFill/>
        </p:spPr>
        <p:txBody>
          <a:bodyPr wrap="square">
            <a:spAutoFit/>
          </a:bodyPr>
          <a:lstStyle/>
          <a:p>
            <a:r>
              <a:rPr lang="en-US" altLang="ja-JP" sz="900" dirty="0">
                <a:solidFill>
                  <a:schemeClr val="bg1">
                    <a:lumMod val="65000"/>
                  </a:schemeClr>
                </a:solidFill>
                <a:latin typeface="メイリオ" panose="020B0604030504040204" pitchFamily="50" charset="-128"/>
                <a:ea typeface="メイリオ" panose="020B0604030504040204" pitchFamily="50" charset="-128"/>
                <a:cs typeface="メイリオ"/>
              </a:rPr>
              <a:t>※1回のイベントの数値。LP UUは</a:t>
            </a:r>
          </a:p>
          <a:p>
            <a:r>
              <a:rPr lang="ja-JP" altLang="en-US" sz="900" dirty="0">
                <a:solidFill>
                  <a:schemeClr val="bg1">
                    <a:lumMod val="65000"/>
                  </a:schemeClr>
                </a:solidFill>
                <a:latin typeface="メイリオ" panose="020B0604030504040204" pitchFamily="50" charset="-128"/>
                <a:ea typeface="メイリオ" panose="020B0604030504040204" pitchFamily="50" charset="-128"/>
                <a:cs typeface="メイリオ"/>
              </a:rPr>
              <a:t>　広告のクリック数からの想定数値。</a:t>
            </a:r>
            <a:endParaRPr lang="ja-JP" altLang="en-US" sz="1400" dirty="0">
              <a:solidFill>
                <a:schemeClr val="bg1">
                  <a:lumMod val="65000"/>
                </a:schemeClr>
              </a:solidFill>
              <a:latin typeface="メイリオ"/>
              <a:ea typeface="メイリオ"/>
              <a:cs typeface="メイリオ"/>
            </a:endParaRPr>
          </a:p>
        </p:txBody>
      </p:sp>
      <p:sp>
        <p:nvSpPr>
          <p:cNvPr id="69" name="テキスト ボックス 68">
            <a:extLst>
              <a:ext uri="{FF2B5EF4-FFF2-40B4-BE49-F238E27FC236}">
                <a16:creationId xmlns:a16="http://schemas.microsoft.com/office/drawing/2014/main" id="{005CE4EC-9DAD-614D-EF21-189AC4A54B8B}"/>
              </a:ext>
            </a:extLst>
          </p:cNvPr>
          <p:cNvSpPr txBox="1"/>
          <p:nvPr/>
        </p:nvSpPr>
        <p:spPr>
          <a:xfrm>
            <a:off x="2134777" y="2329936"/>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うち広告</a:t>
            </a:r>
            <a:r>
              <a:rPr lang="en-US" altLang="ja-JP" sz="1000" dirty="0">
                <a:solidFill>
                  <a:schemeClr val="bg1"/>
                </a:solidFill>
                <a:latin typeface="メイリオ" panose="020B0604030504040204" pitchFamily="50" charset="-128"/>
                <a:ea typeface="メイリオ" panose="020B0604030504040204" pitchFamily="50" charset="-128"/>
                <a:cs typeface="メイリオ"/>
              </a:rPr>
              <a:t>UU</a:t>
            </a:r>
          </a:p>
        </p:txBody>
      </p:sp>
      <p:sp>
        <p:nvSpPr>
          <p:cNvPr id="71" name="テキスト ボックス 70">
            <a:extLst>
              <a:ext uri="{FF2B5EF4-FFF2-40B4-BE49-F238E27FC236}">
                <a16:creationId xmlns:a16="http://schemas.microsoft.com/office/drawing/2014/main" id="{E9F2E720-D964-9A60-45CD-5C6E8BAA9807}"/>
              </a:ext>
            </a:extLst>
          </p:cNvPr>
          <p:cNvSpPr txBox="1"/>
          <p:nvPr/>
        </p:nvSpPr>
        <p:spPr>
          <a:xfrm>
            <a:off x="2134777" y="2645962"/>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広告費用</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73" name="テキスト ボックス 72">
            <a:extLst>
              <a:ext uri="{FF2B5EF4-FFF2-40B4-BE49-F238E27FC236}">
                <a16:creationId xmlns:a16="http://schemas.microsoft.com/office/drawing/2014/main" id="{C569673A-D559-A164-179E-003DC44124E7}"/>
              </a:ext>
            </a:extLst>
          </p:cNvPr>
          <p:cNvSpPr txBox="1"/>
          <p:nvPr/>
        </p:nvSpPr>
        <p:spPr>
          <a:xfrm>
            <a:off x="2117317" y="4550976"/>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メイン流入元</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75" name="テキスト ボックス 74">
            <a:extLst>
              <a:ext uri="{FF2B5EF4-FFF2-40B4-BE49-F238E27FC236}">
                <a16:creationId xmlns:a16="http://schemas.microsoft.com/office/drawing/2014/main" id="{5DF15628-8396-5390-0708-F6E808EFAAFF}"/>
              </a:ext>
            </a:extLst>
          </p:cNvPr>
          <p:cNvSpPr txBox="1"/>
          <p:nvPr/>
        </p:nvSpPr>
        <p:spPr>
          <a:xfrm>
            <a:off x="2117317" y="4234950"/>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他</a:t>
            </a:r>
            <a:r>
              <a:rPr lang="en-US" altLang="ja-JP" sz="1000" dirty="0">
                <a:solidFill>
                  <a:schemeClr val="bg1"/>
                </a:solidFill>
                <a:latin typeface="メイリオ" panose="020B0604030504040204" pitchFamily="50" charset="-128"/>
                <a:ea typeface="メイリオ" panose="020B0604030504040204" pitchFamily="50" charset="-128"/>
                <a:cs typeface="メイリオ"/>
              </a:rPr>
              <a:t>SNS</a:t>
            </a:r>
          </a:p>
        </p:txBody>
      </p:sp>
      <p:sp>
        <p:nvSpPr>
          <p:cNvPr id="76" name="テキスト ボックス 75">
            <a:extLst>
              <a:ext uri="{FF2B5EF4-FFF2-40B4-BE49-F238E27FC236}">
                <a16:creationId xmlns:a16="http://schemas.microsoft.com/office/drawing/2014/main" id="{4C5B2CB3-9726-166D-3753-A503CCEF0A26}"/>
              </a:ext>
            </a:extLst>
          </p:cNvPr>
          <p:cNvSpPr txBox="1"/>
          <p:nvPr/>
        </p:nvSpPr>
        <p:spPr>
          <a:xfrm>
            <a:off x="2117317" y="3918924"/>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イベント開催</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78" name="テキスト ボックス 77">
            <a:extLst>
              <a:ext uri="{FF2B5EF4-FFF2-40B4-BE49-F238E27FC236}">
                <a16:creationId xmlns:a16="http://schemas.microsoft.com/office/drawing/2014/main" id="{DC4812CB-3D04-2C5B-A271-41DFEDCAB4C8}"/>
              </a:ext>
            </a:extLst>
          </p:cNvPr>
          <p:cNvSpPr txBox="1"/>
          <p:nvPr/>
        </p:nvSpPr>
        <p:spPr>
          <a:xfrm>
            <a:off x="2134777" y="2961988"/>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CV数</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80" name="テキスト ボックス 79">
            <a:extLst>
              <a:ext uri="{FF2B5EF4-FFF2-40B4-BE49-F238E27FC236}">
                <a16:creationId xmlns:a16="http://schemas.microsoft.com/office/drawing/2014/main" id="{0482930D-56AE-298D-A6EB-FFBDE40ECC00}"/>
              </a:ext>
            </a:extLst>
          </p:cNvPr>
          <p:cNvSpPr txBox="1"/>
          <p:nvPr/>
        </p:nvSpPr>
        <p:spPr>
          <a:xfrm>
            <a:off x="2134777" y="3278014"/>
            <a:ext cx="1077319" cy="253916"/>
          </a:xfrm>
          <a:prstGeom prst="rect">
            <a:avLst/>
          </a:prstGeom>
          <a:solidFill>
            <a:schemeClr val="tx1">
              <a:lumMod val="50000"/>
              <a:lumOff val="50000"/>
            </a:schemeClr>
          </a:solidFill>
        </p:spPr>
        <p:txBody>
          <a:bodyPr wrap="square">
            <a:spAutoFit/>
          </a:bodyPr>
          <a:lstStyle/>
          <a:p>
            <a:pPr algn="ctr"/>
            <a:r>
              <a:rPr lang="en-US" altLang="ja-JP" sz="1000" dirty="0">
                <a:solidFill>
                  <a:schemeClr val="bg1"/>
                </a:solidFill>
                <a:latin typeface="メイリオ" panose="020B0604030504040204" pitchFamily="50" charset="-128"/>
                <a:ea typeface="メイリオ" panose="020B0604030504040204" pitchFamily="50" charset="-128"/>
                <a:cs typeface="メイリオ"/>
              </a:rPr>
              <a:t>CV</a:t>
            </a:r>
            <a:r>
              <a:rPr lang="ja-JP" altLang="en-US" sz="1000" dirty="0">
                <a:solidFill>
                  <a:schemeClr val="bg1"/>
                </a:solidFill>
                <a:latin typeface="メイリオ" panose="020B0604030504040204" pitchFamily="50" charset="-128"/>
                <a:ea typeface="メイリオ" panose="020B0604030504040204" pitchFamily="50" charset="-128"/>
                <a:cs typeface="メイリオ"/>
              </a:rPr>
              <a:t>地点</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82" name="テキスト ボックス 81">
            <a:extLst>
              <a:ext uri="{FF2B5EF4-FFF2-40B4-BE49-F238E27FC236}">
                <a16:creationId xmlns:a16="http://schemas.microsoft.com/office/drawing/2014/main" id="{3C4E2BA0-63A7-25D9-1A97-5C69DFD79C77}"/>
              </a:ext>
            </a:extLst>
          </p:cNvPr>
          <p:cNvSpPr txBox="1"/>
          <p:nvPr/>
        </p:nvSpPr>
        <p:spPr>
          <a:xfrm>
            <a:off x="2134777" y="3594040"/>
            <a:ext cx="1077319" cy="253916"/>
          </a:xfrm>
          <a:prstGeom prst="rect">
            <a:avLst/>
          </a:prstGeom>
          <a:solidFill>
            <a:schemeClr val="tx1">
              <a:lumMod val="50000"/>
              <a:lumOff val="50000"/>
            </a:schemeClr>
          </a:solidFill>
        </p:spPr>
        <p:txBody>
          <a:bodyPr wrap="square">
            <a:spAutoFit/>
          </a:bodyPr>
          <a:lstStyle/>
          <a:p>
            <a:pPr algn="ctr"/>
            <a:r>
              <a:rPr lang="en-US" altLang="ja-JP" sz="1000" dirty="0">
                <a:solidFill>
                  <a:schemeClr val="bg1"/>
                </a:solidFill>
                <a:latin typeface="メイリオ" panose="020B0604030504040204" pitchFamily="50" charset="-128"/>
                <a:ea typeface="メイリオ" panose="020B0604030504040204" pitchFamily="50" charset="-128"/>
                <a:cs typeface="メイリオ"/>
              </a:rPr>
              <a:t>LINE</a:t>
            </a:r>
            <a:r>
              <a:rPr lang="ja-JP" altLang="en-US" sz="1000" dirty="0">
                <a:solidFill>
                  <a:schemeClr val="bg1"/>
                </a:solidFill>
                <a:latin typeface="メイリオ" panose="020B0604030504040204" pitchFamily="50" charset="-128"/>
                <a:ea typeface="メイリオ" panose="020B0604030504040204" pitchFamily="50" charset="-128"/>
                <a:cs typeface="メイリオ"/>
              </a:rPr>
              <a:t>動線</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86" name="テキスト ボックス 85">
            <a:extLst>
              <a:ext uri="{FF2B5EF4-FFF2-40B4-BE49-F238E27FC236}">
                <a16:creationId xmlns:a16="http://schemas.microsoft.com/office/drawing/2014/main" id="{EE72F3BF-6AE9-F7CC-CE6A-1536B8F8A660}"/>
              </a:ext>
            </a:extLst>
          </p:cNvPr>
          <p:cNvSpPr txBox="1"/>
          <p:nvPr/>
        </p:nvSpPr>
        <p:spPr>
          <a:xfrm>
            <a:off x="6624506" y="2019331"/>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友だち数</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88" name="テキスト ボックス 87">
            <a:extLst>
              <a:ext uri="{FF2B5EF4-FFF2-40B4-BE49-F238E27FC236}">
                <a16:creationId xmlns:a16="http://schemas.microsoft.com/office/drawing/2014/main" id="{01CD0233-3F13-52A2-0BD2-A107006D060A}"/>
              </a:ext>
            </a:extLst>
          </p:cNvPr>
          <p:cNvSpPr txBox="1"/>
          <p:nvPr/>
        </p:nvSpPr>
        <p:spPr>
          <a:xfrm>
            <a:off x="6624506" y="2335357"/>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アクティブ数</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90" name="テキスト ボックス 89">
            <a:extLst>
              <a:ext uri="{FF2B5EF4-FFF2-40B4-BE49-F238E27FC236}">
                <a16:creationId xmlns:a16="http://schemas.microsoft.com/office/drawing/2014/main" id="{E7B4DAA3-597E-9850-4FC5-7AEEE3895876}"/>
              </a:ext>
            </a:extLst>
          </p:cNvPr>
          <p:cNvSpPr txBox="1"/>
          <p:nvPr/>
        </p:nvSpPr>
        <p:spPr>
          <a:xfrm>
            <a:off x="6624506" y="2651383"/>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ブロック率</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94" name="テキスト ボックス 93">
            <a:extLst>
              <a:ext uri="{FF2B5EF4-FFF2-40B4-BE49-F238E27FC236}">
                <a16:creationId xmlns:a16="http://schemas.microsoft.com/office/drawing/2014/main" id="{C4822FE9-074B-EE00-9A49-F386569EF4E6}"/>
              </a:ext>
            </a:extLst>
          </p:cNvPr>
          <p:cNvSpPr txBox="1"/>
          <p:nvPr/>
        </p:nvSpPr>
        <p:spPr>
          <a:xfrm>
            <a:off x="6624506" y="4547539"/>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ツール</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96" name="テキスト ボックス 95">
            <a:extLst>
              <a:ext uri="{FF2B5EF4-FFF2-40B4-BE49-F238E27FC236}">
                <a16:creationId xmlns:a16="http://schemas.microsoft.com/office/drawing/2014/main" id="{E79733FB-6A51-DF26-D629-AE6F7073025B}"/>
              </a:ext>
            </a:extLst>
          </p:cNvPr>
          <p:cNvSpPr txBox="1"/>
          <p:nvPr/>
        </p:nvSpPr>
        <p:spPr>
          <a:xfrm>
            <a:off x="6624506" y="4231513"/>
            <a:ext cx="1077319" cy="246221"/>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想定コスト</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98" name="テキスト ボックス 97">
            <a:extLst>
              <a:ext uri="{FF2B5EF4-FFF2-40B4-BE49-F238E27FC236}">
                <a16:creationId xmlns:a16="http://schemas.microsoft.com/office/drawing/2014/main" id="{0B4493A0-88F0-89E9-9CBF-885AEEBFF9AC}"/>
              </a:ext>
            </a:extLst>
          </p:cNvPr>
          <p:cNvSpPr txBox="1"/>
          <p:nvPr/>
        </p:nvSpPr>
        <p:spPr>
          <a:xfrm>
            <a:off x="6624506" y="2967409"/>
            <a:ext cx="1077319" cy="246221"/>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月間投稿数</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100" name="テキスト ボックス 99">
            <a:extLst>
              <a:ext uri="{FF2B5EF4-FFF2-40B4-BE49-F238E27FC236}">
                <a16:creationId xmlns:a16="http://schemas.microsoft.com/office/drawing/2014/main" id="{EE73B576-3B41-B994-1FCA-9ED3BC1A3172}"/>
              </a:ext>
            </a:extLst>
          </p:cNvPr>
          <p:cNvSpPr txBox="1"/>
          <p:nvPr/>
        </p:nvSpPr>
        <p:spPr>
          <a:xfrm>
            <a:off x="6624506" y="3283435"/>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ステップ実施</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102" name="テキスト ボックス 101">
            <a:extLst>
              <a:ext uri="{FF2B5EF4-FFF2-40B4-BE49-F238E27FC236}">
                <a16:creationId xmlns:a16="http://schemas.microsoft.com/office/drawing/2014/main" id="{F2C9EB15-683C-4B0A-1EE1-C4245240F17A}"/>
              </a:ext>
            </a:extLst>
          </p:cNvPr>
          <p:cNvSpPr txBox="1"/>
          <p:nvPr/>
        </p:nvSpPr>
        <p:spPr>
          <a:xfrm>
            <a:off x="6624506" y="3599461"/>
            <a:ext cx="1077319" cy="246221"/>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アンケート実施</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104" name="テキスト ボックス 103">
            <a:extLst>
              <a:ext uri="{FF2B5EF4-FFF2-40B4-BE49-F238E27FC236}">
                <a16:creationId xmlns:a16="http://schemas.microsoft.com/office/drawing/2014/main" id="{AABDA6DE-2BAF-ADF7-0424-50D388AC01E5}"/>
              </a:ext>
            </a:extLst>
          </p:cNvPr>
          <p:cNvSpPr txBox="1"/>
          <p:nvPr/>
        </p:nvSpPr>
        <p:spPr>
          <a:xfrm>
            <a:off x="6624506" y="3915487"/>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プロフ動線</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106" name="テキスト ボックス 105">
            <a:extLst>
              <a:ext uri="{FF2B5EF4-FFF2-40B4-BE49-F238E27FC236}">
                <a16:creationId xmlns:a16="http://schemas.microsoft.com/office/drawing/2014/main" id="{6C91CF70-D90C-4141-8B26-5B1DD07D7D1D}"/>
              </a:ext>
            </a:extLst>
          </p:cNvPr>
          <p:cNvSpPr txBox="1"/>
          <p:nvPr/>
        </p:nvSpPr>
        <p:spPr>
          <a:xfrm>
            <a:off x="3229084" y="2019331"/>
            <a:ext cx="1360330" cy="253916"/>
          </a:xfrm>
          <a:prstGeom prst="rect">
            <a:avLst/>
          </a:prstGeom>
          <a:solidFill>
            <a:schemeClr val="bg1">
              <a:lumMod val="95000"/>
            </a:schemeClr>
          </a:solidFill>
        </p:spPr>
        <p:txBody>
          <a:bodyPr wrap="square" anchor="ctr">
            <a:spAutoFit/>
          </a:bodyPr>
          <a:lstStyle/>
          <a:p>
            <a:pPr algn="ctr"/>
            <a:r>
              <a:rPr lang="ja-JP" altLang="en-US" sz="1000" b="1" dirty="0">
                <a:latin typeface="メイリオ" panose="020B0604030504040204" pitchFamily="50" charset="-128"/>
                <a:ea typeface="メイリオ" panose="020B0604030504040204" pitchFamily="50" charset="-128"/>
                <a:cs typeface="メイリオ"/>
              </a:rPr>
              <a:t>約</a:t>
            </a:r>
            <a:r>
              <a:rPr lang="en-US" altLang="ja-JP" sz="1000" b="1" dirty="0">
                <a:latin typeface="メイリオ" panose="020B0604030504040204" pitchFamily="50" charset="-128"/>
                <a:ea typeface="メイリオ" panose="020B0604030504040204" pitchFamily="50" charset="-128"/>
                <a:cs typeface="メイリオ"/>
              </a:rPr>
              <a:t>3,000</a:t>
            </a:r>
          </a:p>
        </p:txBody>
      </p:sp>
      <p:sp>
        <p:nvSpPr>
          <p:cNvPr id="108" name="テキスト ボックス 107">
            <a:extLst>
              <a:ext uri="{FF2B5EF4-FFF2-40B4-BE49-F238E27FC236}">
                <a16:creationId xmlns:a16="http://schemas.microsoft.com/office/drawing/2014/main" id="{2786C9AD-9375-AA46-5333-046CCBB18FE2}"/>
              </a:ext>
            </a:extLst>
          </p:cNvPr>
          <p:cNvSpPr txBox="1"/>
          <p:nvPr/>
        </p:nvSpPr>
        <p:spPr>
          <a:xfrm>
            <a:off x="3229084" y="2335357"/>
            <a:ext cx="1360330" cy="253916"/>
          </a:xfrm>
          <a:prstGeom prst="rect">
            <a:avLst/>
          </a:prstGeom>
          <a:solidFill>
            <a:schemeClr val="bg1">
              <a:lumMod val="95000"/>
            </a:schemeClr>
          </a:solidFill>
        </p:spPr>
        <p:txBody>
          <a:bodyPr wrap="square" anchor="ctr">
            <a:spAutoFit/>
          </a:bodyPr>
          <a:lstStyle/>
          <a:p>
            <a:pPr algn="ctr"/>
            <a:r>
              <a:rPr lang="en-US" altLang="ja-JP" sz="1000" b="1" dirty="0">
                <a:latin typeface="メイリオ" panose="020B0604030504040204" pitchFamily="50" charset="-128"/>
                <a:ea typeface="メイリオ" panose="020B0604030504040204" pitchFamily="50" charset="-128"/>
                <a:cs typeface="メイリオ"/>
              </a:rPr>
              <a:t>約3,000</a:t>
            </a:r>
          </a:p>
        </p:txBody>
      </p:sp>
      <p:sp>
        <p:nvSpPr>
          <p:cNvPr id="110" name="テキスト ボックス 109">
            <a:extLst>
              <a:ext uri="{FF2B5EF4-FFF2-40B4-BE49-F238E27FC236}">
                <a16:creationId xmlns:a16="http://schemas.microsoft.com/office/drawing/2014/main" id="{813069E4-69E1-66A2-90C2-822AF2276F64}"/>
              </a:ext>
            </a:extLst>
          </p:cNvPr>
          <p:cNvSpPr txBox="1"/>
          <p:nvPr/>
        </p:nvSpPr>
        <p:spPr>
          <a:xfrm>
            <a:off x="3229084" y="2651383"/>
            <a:ext cx="1360330" cy="253916"/>
          </a:xfrm>
          <a:prstGeom prst="rect">
            <a:avLst/>
          </a:prstGeom>
          <a:solidFill>
            <a:schemeClr val="bg1">
              <a:lumMod val="95000"/>
            </a:schemeClr>
          </a:solidFill>
        </p:spPr>
        <p:txBody>
          <a:bodyPr wrap="square" anchor="ctr">
            <a:spAutoFit/>
          </a:bodyPr>
          <a:lstStyle/>
          <a:p>
            <a:pPr algn="ctr"/>
            <a:r>
              <a:rPr lang="en-US" altLang="ja-JP" sz="1000" b="1" dirty="0">
                <a:latin typeface="メイリオ" panose="020B0604030504040204" pitchFamily="50" charset="-128"/>
                <a:ea typeface="メイリオ" panose="020B0604030504040204" pitchFamily="50" charset="-128"/>
                <a:cs typeface="メイリオ"/>
              </a:rPr>
              <a:t>約210万円</a:t>
            </a:r>
          </a:p>
        </p:txBody>
      </p:sp>
      <p:sp>
        <p:nvSpPr>
          <p:cNvPr id="112" name="テキスト ボックス 111">
            <a:extLst>
              <a:ext uri="{FF2B5EF4-FFF2-40B4-BE49-F238E27FC236}">
                <a16:creationId xmlns:a16="http://schemas.microsoft.com/office/drawing/2014/main" id="{9864CA39-A311-2EB8-804E-4F1BBDF74575}"/>
              </a:ext>
            </a:extLst>
          </p:cNvPr>
          <p:cNvSpPr txBox="1"/>
          <p:nvPr/>
        </p:nvSpPr>
        <p:spPr>
          <a:xfrm>
            <a:off x="3211624" y="4556397"/>
            <a:ext cx="1360330" cy="253916"/>
          </a:xfrm>
          <a:prstGeom prst="rect">
            <a:avLst/>
          </a:prstGeom>
          <a:solidFill>
            <a:schemeClr val="bg1">
              <a:lumMod val="95000"/>
            </a:schemeClr>
          </a:solidFill>
        </p:spPr>
        <p:txBody>
          <a:bodyPr wrap="square" anchor="ctr">
            <a:spAutoFit/>
          </a:bodyPr>
          <a:lstStyle/>
          <a:p>
            <a:pPr algn="ctr"/>
            <a:r>
              <a:rPr lang="en-US" altLang="ja-JP" sz="1000" b="1" dirty="0">
                <a:latin typeface="メイリオ" panose="020B0604030504040204" pitchFamily="50" charset="-128"/>
                <a:ea typeface="メイリオ" panose="020B0604030504040204" pitchFamily="50" charset="-128"/>
                <a:cs typeface="メイリオ"/>
              </a:rPr>
              <a:t>広告</a:t>
            </a:r>
          </a:p>
        </p:txBody>
      </p:sp>
      <p:sp>
        <p:nvSpPr>
          <p:cNvPr id="114" name="テキスト ボックス 113">
            <a:extLst>
              <a:ext uri="{FF2B5EF4-FFF2-40B4-BE49-F238E27FC236}">
                <a16:creationId xmlns:a16="http://schemas.microsoft.com/office/drawing/2014/main" id="{EDFB7A90-75B8-B37D-145F-272542CA021E}"/>
              </a:ext>
            </a:extLst>
          </p:cNvPr>
          <p:cNvSpPr txBox="1"/>
          <p:nvPr/>
        </p:nvSpPr>
        <p:spPr>
          <a:xfrm>
            <a:off x="3211624" y="4240371"/>
            <a:ext cx="1360330" cy="253916"/>
          </a:xfrm>
          <a:prstGeom prst="rect">
            <a:avLst/>
          </a:prstGeom>
          <a:solidFill>
            <a:schemeClr val="bg1">
              <a:lumMod val="95000"/>
            </a:schemeClr>
          </a:solidFill>
        </p:spPr>
        <p:txBody>
          <a:bodyPr wrap="square" anchor="ctr">
            <a:spAutoFit/>
          </a:bodyPr>
          <a:lstStyle/>
          <a:p>
            <a:pPr algn="ctr"/>
            <a:r>
              <a:rPr lang="en-US" altLang="ja-JP" sz="1000" b="1" dirty="0">
                <a:latin typeface="メイリオ" panose="020B0604030504040204" pitchFamily="50" charset="-128"/>
                <a:ea typeface="メイリオ" panose="020B0604030504040204" pitchFamily="50" charset="-128"/>
                <a:cs typeface="メイリオ"/>
              </a:rPr>
              <a:t>Facebookグループ</a:t>
            </a:r>
          </a:p>
        </p:txBody>
      </p:sp>
      <p:sp>
        <p:nvSpPr>
          <p:cNvPr id="116" name="テキスト ボックス 115">
            <a:extLst>
              <a:ext uri="{FF2B5EF4-FFF2-40B4-BE49-F238E27FC236}">
                <a16:creationId xmlns:a16="http://schemas.microsoft.com/office/drawing/2014/main" id="{EFFD1CA4-9630-0E9F-4C5E-ED52F6370CB1}"/>
              </a:ext>
            </a:extLst>
          </p:cNvPr>
          <p:cNvSpPr txBox="1"/>
          <p:nvPr/>
        </p:nvSpPr>
        <p:spPr>
          <a:xfrm>
            <a:off x="3211624" y="3924345"/>
            <a:ext cx="1360330" cy="253916"/>
          </a:xfrm>
          <a:prstGeom prst="rect">
            <a:avLst/>
          </a:prstGeom>
          <a:solidFill>
            <a:schemeClr val="bg1">
              <a:lumMod val="95000"/>
            </a:schemeClr>
          </a:solidFill>
        </p:spPr>
        <p:txBody>
          <a:bodyPr wrap="square" anchor="ctr">
            <a:spAutoFit/>
          </a:bodyPr>
          <a:lstStyle/>
          <a:p>
            <a:pPr algn="ctr"/>
            <a:r>
              <a:rPr lang="en-US" altLang="ja-JP" sz="1000" b="1" dirty="0">
                <a:latin typeface="メイリオ" panose="020B0604030504040204" pitchFamily="50" charset="-128"/>
                <a:ea typeface="メイリオ" panose="020B0604030504040204" pitchFamily="50" charset="-128"/>
                <a:cs typeface="メイリオ"/>
              </a:rPr>
              <a:t>年4回</a:t>
            </a:r>
          </a:p>
        </p:txBody>
      </p:sp>
      <p:sp>
        <p:nvSpPr>
          <p:cNvPr id="118" name="テキスト ボックス 117">
            <a:extLst>
              <a:ext uri="{FF2B5EF4-FFF2-40B4-BE49-F238E27FC236}">
                <a16:creationId xmlns:a16="http://schemas.microsoft.com/office/drawing/2014/main" id="{550EE59A-47D1-9367-09B0-1A6F7E0AE0E3}"/>
              </a:ext>
            </a:extLst>
          </p:cNvPr>
          <p:cNvSpPr txBox="1"/>
          <p:nvPr/>
        </p:nvSpPr>
        <p:spPr>
          <a:xfrm>
            <a:off x="3229084" y="2971256"/>
            <a:ext cx="1360330" cy="246221"/>
          </a:xfrm>
          <a:prstGeom prst="rect">
            <a:avLst/>
          </a:prstGeom>
          <a:solidFill>
            <a:schemeClr val="bg1">
              <a:lumMod val="95000"/>
            </a:schemeClr>
          </a:solidFill>
        </p:spPr>
        <p:txBody>
          <a:bodyPr wrap="square" anchor="ctr">
            <a:spAutoFit/>
          </a:bodyPr>
          <a:lstStyle/>
          <a:p>
            <a:pPr algn="ctr"/>
            <a:r>
              <a:rPr lang="ja-JP" altLang="en-US" sz="1000" b="1" dirty="0">
                <a:latin typeface="メイリオ" panose="020B0604030504040204" pitchFamily="50" charset="-128"/>
                <a:ea typeface="メイリオ" panose="020B0604030504040204" pitchFamily="50" charset="-128"/>
                <a:cs typeface="メイリオ"/>
              </a:rPr>
              <a:t>約</a:t>
            </a:r>
            <a:r>
              <a:rPr lang="en-US" altLang="ja-JP" sz="1000" b="1" dirty="0">
                <a:latin typeface="メイリオ" panose="020B0604030504040204" pitchFamily="50" charset="-128"/>
                <a:ea typeface="メイリオ" panose="020B0604030504040204" pitchFamily="50" charset="-128"/>
                <a:cs typeface="メイリオ"/>
              </a:rPr>
              <a:t>80件</a:t>
            </a:r>
          </a:p>
        </p:txBody>
      </p:sp>
      <p:sp>
        <p:nvSpPr>
          <p:cNvPr id="120" name="テキスト ボックス 119">
            <a:extLst>
              <a:ext uri="{FF2B5EF4-FFF2-40B4-BE49-F238E27FC236}">
                <a16:creationId xmlns:a16="http://schemas.microsoft.com/office/drawing/2014/main" id="{23698D91-4F04-ED85-ACCD-AD4A9AC48A1B}"/>
              </a:ext>
            </a:extLst>
          </p:cNvPr>
          <p:cNvSpPr txBox="1"/>
          <p:nvPr/>
        </p:nvSpPr>
        <p:spPr>
          <a:xfrm>
            <a:off x="3229084" y="3283435"/>
            <a:ext cx="1360330" cy="246221"/>
          </a:xfrm>
          <a:prstGeom prst="rect">
            <a:avLst/>
          </a:prstGeom>
          <a:solidFill>
            <a:schemeClr val="bg1">
              <a:lumMod val="95000"/>
            </a:schemeClr>
          </a:solidFill>
        </p:spPr>
        <p:txBody>
          <a:bodyPr wrap="square" anchor="ctr">
            <a:spAutoFit/>
          </a:bodyPr>
          <a:lstStyle/>
          <a:p>
            <a:pPr algn="ctr"/>
            <a:r>
              <a:rPr lang="ja-JP" altLang="en-US" sz="1000" b="1" dirty="0">
                <a:latin typeface="メイリオ" panose="020B0604030504040204" pitchFamily="50" charset="-128"/>
                <a:ea typeface="メイリオ" panose="020B0604030504040204" pitchFamily="50" charset="-128"/>
                <a:cs typeface="メイリオ"/>
              </a:rPr>
              <a:t>セミナー予約</a:t>
            </a:r>
            <a:endParaRPr lang="en-US" altLang="ja-JP" sz="1000" b="1" dirty="0">
              <a:solidFill>
                <a:srgbClr val="1F2A5C"/>
              </a:solidFill>
              <a:latin typeface="メイリオ" panose="020B0604030504040204" pitchFamily="50" charset="-128"/>
              <a:ea typeface="メイリオ" panose="020B0604030504040204" pitchFamily="50" charset="-128"/>
              <a:cs typeface="メイリオ"/>
            </a:endParaRPr>
          </a:p>
        </p:txBody>
      </p:sp>
      <p:sp>
        <p:nvSpPr>
          <p:cNvPr id="122" name="テキスト ボックス 121">
            <a:extLst>
              <a:ext uri="{FF2B5EF4-FFF2-40B4-BE49-F238E27FC236}">
                <a16:creationId xmlns:a16="http://schemas.microsoft.com/office/drawing/2014/main" id="{5E8D7F39-4F6F-4AF2-4196-C2EA1FC38898}"/>
              </a:ext>
            </a:extLst>
          </p:cNvPr>
          <p:cNvSpPr txBox="1"/>
          <p:nvPr/>
        </p:nvSpPr>
        <p:spPr>
          <a:xfrm>
            <a:off x="3229084" y="3599461"/>
            <a:ext cx="1360330" cy="253916"/>
          </a:xfrm>
          <a:prstGeom prst="rect">
            <a:avLst/>
          </a:prstGeom>
          <a:solidFill>
            <a:schemeClr val="bg1">
              <a:lumMod val="95000"/>
            </a:schemeClr>
          </a:solidFill>
        </p:spPr>
        <p:txBody>
          <a:bodyPr wrap="square" anchor="ctr">
            <a:spAutoFit/>
          </a:bodyPr>
          <a:lstStyle/>
          <a:p>
            <a:pPr algn="ctr"/>
            <a:r>
              <a:rPr lang="ja-JP" altLang="en-US" sz="1000" b="1" dirty="0">
                <a:solidFill>
                  <a:srgbClr val="1F2A5C"/>
                </a:solidFill>
                <a:latin typeface="メイリオ" panose="020B0604030504040204" pitchFamily="50" charset="-128"/>
                <a:ea typeface="メイリオ" panose="020B0604030504040204" pitchFamily="50" charset="-128"/>
                <a:cs typeface="メイリオ"/>
              </a:rPr>
              <a:t>なし</a:t>
            </a:r>
            <a:endParaRPr lang="en-US" altLang="ja-JP" sz="1000" b="1" dirty="0">
              <a:solidFill>
                <a:srgbClr val="1F2A5C"/>
              </a:solidFill>
              <a:latin typeface="メイリオ" panose="020B0604030504040204" pitchFamily="50" charset="-128"/>
              <a:ea typeface="メイリオ" panose="020B0604030504040204" pitchFamily="50" charset="-128"/>
              <a:cs typeface="メイリオ"/>
            </a:endParaRPr>
          </a:p>
        </p:txBody>
      </p:sp>
      <p:sp>
        <p:nvSpPr>
          <p:cNvPr id="171" name="テキスト ボックス 170">
            <a:extLst>
              <a:ext uri="{FF2B5EF4-FFF2-40B4-BE49-F238E27FC236}">
                <a16:creationId xmlns:a16="http://schemas.microsoft.com/office/drawing/2014/main" id="{C08B973B-E807-9696-E35D-A7AFE85B05D4}"/>
              </a:ext>
            </a:extLst>
          </p:cNvPr>
          <p:cNvSpPr txBox="1"/>
          <p:nvPr/>
        </p:nvSpPr>
        <p:spPr>
          <a:xfrm>
            <a:off x="7754601" y="2021490"/>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cs typeface="メイリオ"/>
              </a:rPr>
              <a:t>なし</a:t>
            </a:r>
          </a:p>
        </p:txBody>
      </p:sp>
      <p:sp>
        <p:nvSpPr>
          <p:cNvPr id="173" name="テキスト ボックス 172">
            <a:extLst>
              <a:ext uri="{FF2B5EF4-FFF2-40B4-BE49-F238E27FC236}">
                <a16:creationId xmlns:a16="http://schemas.microsoft.com/office/drawing/2014/main" id="{20E8600C-74F6-D8CE-13DD-E436F6712689}"/>
              </a:ext>
            </a:extLst>
          </p:cNvPr>
          <p:cNvSpPr txBox="1"/>
          <p:nvPr/>
        </p:nvSpPr>
        <p:spPr>
          <a:xfrm>
            <a:off x="7754601" y="2337516"/>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cs typeface="メイリオ"/>
              </a:rPr>
              <a:t>なし</a:t>
            </a:r>
          </a:p>
        </p:txBody>
      </p:sp>
      <p:sp>
        <p:nvSpPr>
          <p:cNvPr id="175" name="テキスト ボックス 174">
            <a:extLst>
              <a:ext uri="{FF2B5EF4-FFF2-40B4-BE49-F238E27FC236}">
                <a16:creationId xmlns:a16="http://schemas.microsoft.com/office/drawing/2014/main" id="{A09F1BA2-66AE-1801-55BA-97DAABCF1F8A}"/>
              </a:ext>
            </a:extLst>
          </p:cNvPr>
          <p:cNvSpPr txBox="1"/>
          <p:nvPr/>
        </p:nvSpPr>
        <p:spPr>
          <a:xfrm>
            <a:off x="7754601" y="2653542"/>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cs typeface="メイリオ"/>
              </a:rPr>
              <a:t>なし</a:t>
            </a:r>
          </a:p>
        </p:txBody>
      </p:sp>
      <p:sp>
        <p:nvSpPr>
          <p:cNvPr id="179" name="テキスト ボックス 178">
            <a:extLst>
              <a:ext uri="{FF2B5EF4-FFF2-40B4-BE49-F238E27FC236}">
                <a16:creationId xmlns:a16="http://schemas.microsoft.com/office/drawing/2014/main" id="{6C59D28E-FF8E-2297-95D2-CE45250AC0A3}"/>
              </a:ext>
            </a:extLst>
          </p:cNvPr>
          <p:cNvSpPr txBox="1"/>
          <p:nvPr/>
        </p:nvSpPr>
        <p:spPr>
          <a:xfrm>
            <a:off x="7754601" y="4549698"/>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cs typeface="メイリオ"/>
              </a:rPr>
              <a:t>なし</a:t>
            </a:r>
          </a:p>
        </p:txBody>
      </p:sp>
      <p:sp>
        <p:nvSpPr>
          <p:cNvPr id="181" name="テキスト ボックス 180">
            <a:extLst>
              <a:ext uri="{FF2B5EF4-FFF2-40B4-BE49-F238E27FC236}">
                <a16:creationId xmlns:a16="http://schemas.microsoft.com/office/drawing/2014/main" id="{47410AFA-018D-A9C2-B086-8AF69BAA4489}"/>
              </a:ext>
            </a:extLst>
          </p:cNvPr>
          <p:cNvSpPr txBox="1"/>
          <p:nvPr/>
        </p:nvSpPr>
        <p:spPr>
          <a:xfrm>
            <a:off x="7754601" y="4233672"/>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cs typeface="メイリオ"/>
              </a:rPr>
              <a:t>なし</a:t>
            </a:r>
          </a:p>
        </p:txBody>
      </p:sp>
      <p:sp>
        <p:nvSpPr>
          <p:cNvPr id="183" name="テキスト ボックス 182">
            <a:extLst>
              <a:ext uri="{FF2B5EF4-FFF2-40B4-BE49-F238E27FC236}">
                <a16:creationId xmlns:a16="http://schemas.microsoft.com/office/drawing/2014/main" id="{165EBB6B-ADB3-3E8C-14D2-AB834625C2FE}"/>
              </a:ext>
            </a:extLst>
          </p:cNvPr>
          <p:cNvSpPr txBox="1"/>
          <p:nvPr/>
        </p:nvSpPr>
        <p:spPr>
          <a:xfrm>
            <a:off x="7754601" y="2969568"/>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cs typeface="メイリオ"/>
              </a:rPr>
              <a:t>なし</a:t>
            </a:r>
          </a:p>
        </p:txBody>
      </p:sp>
      <p:sp>
        <p:nvSpPr>
          <p:cNvPr id="185" name="テキスト ボックス 184">
            <a:extLst>
              <a:ext uri="{FF2B5EF4-FFF2-40B4-BE49-F238E27FC236}">
                <a16:creationId xmlns:a16="http://schemas.microsoft.com/office/drawing/2014/main" id="{3A3BFABF-D395-60F7-F2BD-02619745DF45}"/>
              </a:ext>
            </a:extLst>
          </p:cNvPr>
          <p:cNvSpPr txBox="1"/>
          <p:nvPr/>
        </p:nvSpPr>
        <p:spPr>
          <a:xfrm>
            <a:off x="7754601" y="3285594"/>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cs typeface="メイリオ"/>
              </a:rPr>
              <a:t>なし</a:t>
            </a:r>
          </a:p>
        </p:txBody>
      </p:sp>
      <p:sp>
        <p:nvSpPr>
          <p:cNvPr id="187" name="テキスト ボックス 186">
            <a:extLst>
              <a:ext uri="{FF2B5EF4-FFF2-40B4-BE49-F238E27FC236}">
                <a16:creationId xmlns:a16="http://schemas.microsoft.com/office/drawing/2014/main" id="{231C25BF-5B10-E199-7FC9-7E0D6694588F}"/>
              </a:ext>
            </a:extLst>
          </p:cNvPr>
          <p:cNvSpPr txBox="1"/>
          <p:nvPr/>
        </p:nvSpPr>
        <p:spPr>
          <a:xfrm>
            <a:off x="7754601" y="3601620"/>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cs typeface="メイリオ"/>
              </a:rPr>
              <a:t>なし</a:t>
            </a:r>
          </a:p>
        </p:txBody>
      </p:sp>
      <p:sp>
        <p:nvSpPr>
          <p:cNvPr id="189" name="テキスト ボックス 188">
            <a:extLst>
              <a:ext uri="{FF2B5EF4-FFF2-40B4-BE49-F238E27FC236}">
                <a16:creationId xmlns:a16="http://schemas.microsoft.com/office/drawing/2014/main" id="{CDB65BA8-4992-8A6F-6949-F0D9E6297210}"/>
              </a:ext>
            </a:extLst>
          </p:cNvPr>
          <p:cNvSpPr txBox="1"/>
          <p:nvPr/>
        </p:nvSpPr>
        <p:spPr>
          <a:xfrm>
            <a:off x="7754601" y="3917646"/>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cs typeface="メイリオ"/>
              </a:rPr>
              <a:t>なし</a:t>
            </a:r>
          </a:p>
        </p:txBody>
      </p:sp>
      <p:pic>
        <p:nvPicPr>
          <p:cNvPr id="192" name="Picture 191" descr="sunao_lp_firstview.png"/>
          <p:cNvPicPr>
            <a:picLocks noChangeAspect="1"/>
          </p:cNvPicPr>
          <p:nvPr/>
        </p:nvPicPr>
        <p:blipFill>
          <a:blip r:embed="rId4"/>
          <a:stretch>
            <a:fillRect/>
          </a:stretch>
        </p:blipFill>
        <p:spPr>
          <a:xfrm>
            <a:off x="507335" y="2271233"/>
            <a:ext cx="1557206" cy="2637933"/>
          </a:xfrm>
          <a:prstGeom prst="rect">
            <a:avLst/>
          </a:prstGeom>
        </p:spPr>
      </p:pic>
      <p:sp>
        <p:nvSpPr>
          <p:cNvPr id="2" name="テキスト ボックス 1">
            <a:extLst>
              <a:ext uri="{FF2B5EF4-FFF2-40B4-BE49-F238E27FC236}">
                <a16:creationId xmlns:a16="http://schemas.microsoft.com/office/drawing/2014/main" id="{3F83FE19-1018-A2D8-4032-86D45BF09F48}"/>
              </a:ext>
            </a:extLst>
          </p:cNvPr>
          <p:cNvSpPr txBox="1"/>
          <p:nvPr/>
        </p:nvSpPr>
        <p:spPr>
          <a:xfrm>
            <a:off x="1282764" y="767248"/>
            <a:ext cx="7340471" cy="369332"/>
          </a:xfrm>
          <a:prstGeom prst="rect">
            <a:avLst/>
          </a:prstGeom>
          <a:noFill/>
        </p:spPr>
        <p:txBody>
          <a:bodyPr wrap="none" rtlCol="0">
            <a:spAutoFit/>
          </a:bodyPr>
          <a:lstStyle/>
          <a:p>
            <a:r>
              <a:rPr kumimoji="1" lang="ja-JP" altLang="en-US" b="1" dirty="0">
                <a:latin typeface="メイリオ" panose="020B0604030504040204" pitchFamily="50" charset="-128"/>
                <a:ea typeface="メイリオ" panose="020B0604030504040204" pitchFamily="50" charset="-128"/>
              </a:rPr>
              <a:t>集めた見込み客との接点を次回イベントまで続ける仕組みを強化する</a:t>
            </a:r>
          </a:p>
        </p:txBody>
      </p:sp>
    </p:spTree>
    <p:extLst>
      <p:ext uri="{BB962C8B-B14F-4D97-AF65-F5344CB8AC3E}">
        <p14:creationId xmlns:p14="http://schemas.microsoft.com/office/powerpoint/2010/main" val="237848453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0E5221-666F-DE20-B9E8-FDFC607CC22D}"/>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31AFE6AB-F1DA-C6B7-D87F-3695F50AA578}"/>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 name="正方形/長方形 3">
            <a:extLst>
              <a:ext uri="{FF2B5EF4-FFF2-40B4-BE49-F238E27FC236}">
                <a16:creationId xmlns:a16="http://schemas.microsoft.com/office/drawing/2014/main" id="{F8C7209A-302D-E575-6893-8AB70FAE1F89}"/>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sp>
        <p:nvSpPr>
          <p:cNvPr id="45" name="Google Shape;156;p7">
            <a:extLst>
              <a:ext uri="{FF2B5EF4-FFF2-40B4-BE49-F238E27FC236}">
                <a16:creationId xmlns:a16="http://schemas.microsoft.com/office/drawing/2014/main" id="{49FC28CD-401F-CB33-EA18-1071AD4C7D12}"/>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想定動線</a:t>
            </a:r>
            <a:endParaRPr sz="1600" b="1" dirty="0">
              <a:solidFill>
                <a:srgbClr val="002060"/>
              </a:solidFill>
              <a:latin typeface="メイリオ"/>
              <a:ea typeface="メイリオ"/>
              <a:cs typeface="メイリオ"/>
              <a:sym typeface="Meiryo"/>
            </a:endParaRPr>
          </a:p>
        </p:txBody>
      </p:sp>
      <p:cxnSp>
        <p:nvCxnSpPr>
          <p:cNvPr id="2" name="直線コネクタ 1">
            <a:extLst>
              <a:ext uri="{FF2B5EF4-FFF2-40B4-BE49-F238E27FC236}">
                <a16:creationId xmlns:a16="http://schemas.microsoft.com/office/drawing/2014/main" id="{075811D5-D863-CFCC-F7C2-B17B78E050E7}"/>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6" name="テキスト ボックス 5">
            <a:extLst>
              <a:ext uri="{FF2B5EF4-FFF2-40B4-BE49-F238E27FC236}">
                <a16:creationId xmlns:a16="http://schemas.microsoft.com/office/drawing/2014/main" id="{EC0D1AEC-5D54-2359-450D-84430B2857C0}"/>
              </a:ext>
            </a:extLst>
          </p:cNvPr>
          <p:cNvSpPr txBox="1"/>
          <p:nvPr/>
        </p:nvSpPr>
        <p:spPr>
          <a:xfrm>
            <a:off x="3542139" y="2019663"/>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cs typeface="メイリオ"/>
              </a:rPr>
              <a:t>⑤ リード有効化</a:t>
            </a:r>
            <a:endParaRPr lang="ja-JP" altLang="ja-JP" sz="1100" b="1" dirty="0">
              <a:latin typeface="メイリオ" panose="020B0604030504040204" pitchFamily="50" charset="-128"/>
              <a:ea typeface="メイリオ" panose="020B0604030504040204" pitchFamily="50" charset="-128"/>
              <a:cs typeface="メイリオ"/>
            </a:endParaRPr>
          </a:p>
        </p:txBody>
      </p:sp>
      <p:sp>
        <p:nvSpPr>
          <p:cNvPr id="8" name="テキスト ボックス 7">
            <a:extLst>
              <a:ext uri="{FF2B5EF4-FFF2-40B4-BE49-F238E27FC236}">
                <a16:creationId xmlns:a16="http://schemas.microsoft.com/office/drawing/2014/main" id="{8948BAF3-ECB9-2FF9-8B0D-50EE1A62E7C4}"/>
              </a:ext>
            </a:extLst>
          </p:cNvPr>
          <p:cNvSpPr txBox="1"/>
          <p:nvPr/>
        </p:nvSpPr>
        <p:spPr>
          <a:xfrm>
            <a:off x="4830775" y="2249778"/>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cs typeface="メイリオ"/>
              </a:rPr>
              <a:t>⑥ 有効リードの再育成</a:t>
            </a:r>
            <a:endParaRPr lang="ja-JP" altLang="ja-JP" sz="1100" b="1" dirty="0">
              <a:latin typeface="メイリオ" panose="020B0604030504040204" pitchFamily="50" charset="-128"/>
              <a:ea typeface="メイリオ" panose="020B0604030504040204" pitchFamily="50" charset="-128"/>
              <a:cs typeface="メイリオ"/>
            </a:endParaRPr>
          </a:p>
        </p:txBody>
      </p:sp>
      <p:sp>
        <p:nvSpPr>
          <p:cNvPr id="15" name="正方形/長方形 14">
            <a:extLst>
              <a:ext uri="{FF2B5EF4-FFF2-40B4-BE49-F238E27FC236}">
                <a16:creationId xmlns:a16="http://schemas.microsoft.com/office/drawing/2014/main" id="{55D1671E-E029-A7B0-F0FE-5B3AEA581FA7}"/>
              </a:ext>
            </a:extLst>
          </p:cNvPr>
          <p:cNvSpPr/>
          <p:nvPr/>
        </p:nvSpPr>
        <p:spPr>
          <a:xfrm>
            <a:off x="334303" y="1552575"/>
            <a:ext cx="9425943" cy="44850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cxnSp>
        <p:nvCxnSpPr>
          <p:cNvPr id="16" name="直線矢印コネクタ 15">
            <a:extLst>
              <a:ext uri="{FF2B5EF4-FFF2-40B4-BE49-F238E27FC236}">
                <a16:creationId xmlns:a16="http://schemas.microsoft.com/office/drawing/2014/main" id="{9C9A66C9-6F0C-720F-D33F-5A677E31CE55}"/>
              </a:ext>
            </a:extLst>
          </p:cNvPr>
          <p:cNvCxnSpPr>
            <a:cxnSpLocks/>
          </p:cNvCxnSpPr>
          <p:nvPr/>
        </p:nvCxnSpPr>
        <p:spPr>
          <a:xfrm>
            <a:off x="417642" y="1782459"/>
            <a:ext cx="9240215" cy="0"/>
          </a:xfrm>
          <a:prstGeom prst="straightConnector1">
            <a:avLst/>
          </a:prstGeom>
          <a:ln w="28575">
            <a:solidFill>
              <a:schemeClr val="tx1"/>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17" name="テキスト ボックス 16">
            <a:extLst>
              <a:ext uri="{FF2B5EF4-FFF2-40B4-BE49-F238E27FC236}">
                <a16:creationId xmlns:a16="http://schemas.microsoft.com/office/drawing/2014/main" id="{E0FFD56C-A8BF-1D7F-B9F0-7A4C2CF517A7}"/>
              </a:ext>
            </a:extLst>
          </p:cNvPr>
          <p:cNvSpPr txBox="1"/>
          <p:nvPr/>
        </p:nvSpPr>
        <p:spPr>
          <a:xfrm>
            <a:off x="4066503" y="1654589"/>
            <a:ext cx="2315056" cy="234537"/>
          </a:xfrm>
          <a:prstGeom prst="rect">
            <a:avLst/>
          </a:prstGeom>
          <a:solidFill>
            <a:schemeClr val="bg1">
              <a:lumMod val="95000"/>
            </a:schemeClr>
          </a:solidFill>
        </p:spPr>
        <p:txBody>
          <a:bodyPr wrap="square">
            <a:spAutoFit/>
          </a:bodyPr>
          <a:lstStyle/>
          <a:p>
            <a:pPr algn="ctr"/>
            <a:r>
              <a:rPr lang="ja-JP" altLang="en-US" sz="1050" b="1" dirty="0">
                <a:latin typeface="メイリオ" panose="020B0604030504040204" pitchFamily="50" charset="-128"/>
                <a:ea typeface="メイリオ" panose="020B0604030504040204" pitchFamily="50" charset="-128"/>
                <a:cs typeface="メイリオ"/>
                <a:sym typeface="Meiryo"/>
              </a:rPr>
              <a:t>カスタマージャーニーマップ</a:t>
            </a:r>
            <a:endParaRPr lang="ja-JP" altLang="en-US" sz="1050" dirty="0">
              <a:latin typeface="メイリオ"/>
              <a:ea typeface="メイリオ"/>
              <a:cs typeface="メイリオ"/>
            </a:endParaRPr>
          </a:p>
        </p:txBody>
      </p:sp>
      <p:sp>
        <p:nvSpPr>
          <p:cNvPr id="28" name="正方形/長方形 27">
            <a:extLst>
              <a:ext uri="{FF2B5EF4-FFF2-40B4-BE49-F238E27FC236}">
                <a16:creationId xmlns:a16="http://schemas.microsoft.com/office/drawing/2014/main" id="{985D0F3D-E958-2764-0030-33A43FBBB844}"/>
              </a:ext>
            </a:extLst>
          </p:cNvPr>
          <p:cNvSpPr/>
          <p:nvPr/>
        </p:nvSpPr>
        <p:spPr>
          <a:xfrm>
            <a:off x="377495" y="3168907"/>
            <a:ext cx="9425943" cy="1280323"/>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32" name="テキスト ボックス 31">
            <a:extLst>
              <a:ext uri="{FF2B5EF4-FFF2-40B4-BE49-F238E27FC236}">
                <a16:creationId xmlns:a16="http://schemas.microsoft.com/office/drawing/2014/main" id="{62DFAD71-5EA4-2410-A3B7-8926C38B8C15}"/>
              </a:ext>
            </a:extLst>
          </p:cNvPr>
          <p:cNvSpPr txBox="1"/>
          <p:nvPr/>
        </p:nvSpPr>
        <p:spPr>
          <a:xfrm>
            <a:off x="3136470" y="3386385"/>
            <a:ext cx="1868110" cy="261610"/>
          </a:xfrm>
          <a:prstGeom prst="rect">
            <a:avLst/>
          </a:prstGeom>
          <a:solidFill>
            <a:srgbClr val="173559"/>
          </a:solidFill>
        </p:spPr>
        <p:txBody>
          <a:bodyPr wrap="square">
            <a:spAutoFit/>
          </a:bodyPr>
          <a:lstStyle/>
          <a:p>
            <a:pPr algn="ctr"/>
            <a:r>
              <a:rPr lang="ja-JP" altLang="en-US" sz="1100" dirty="0">
                <a:solidFill>
                  <a:schemeClr val="bg1"/>
                </a:solidFill>
                <a:latin typeface="メイリオ" panose="020B0604030504040204" pitchFamily="50" charset="-128"/>
                <a:ea typeface="メイリオ" panose="020B0604030504040204" pitchFamily="50" charset="-128"/>
                <a:cs typeface="メイリオ"/>
              </a:rPr>
              <a:t>セミナー予約</a:t>
            </a:r>
            <a:endParaRPr lang="en-US" altLang="ja-JP" sz="11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36" name="テキスト ボックス 35">
            <a:extLst>
              <a:ext uri="{FF2B5EF4-FFF2-40B4-BE49-F238E27FC236}">
                <a16:creationId xmlns:a16="http://schemas.microsoft.com/office/drawing/2014/main" id="{38132008-D8F9-19F3-2653-AEF9F6C09DC2}"/>
              </a:ext>
            </a:extLst>
          </p:cNvPr>
          <p:cNvSpPr txBox="1"/>
          <p:nvPr/>
        </p:nvSpPr>
        <p:spPr>
          <a:xfrm>
            <a:off x="6119414" y="3532648"/>
            <a:ext cx="3640831" cy="261610"/>
          </a:xfrm>
          <a:prstGeom prst="rect">
            <a:avLst/>
          </a:prstGeom>
          <a:solidFill>
            <a:srgbClr val="173559"/>
          </a:solidFill>
        </p:spPr>
        <p:txBody>
          <a:bodyPr wrap="square">
            <a:spAutoFit/>
          </a:bodyPr>
          <a:lstStyle/>
          <a:p>
            <a:pPr algn="ctr"/>
            <a:r>
              <a:rPr lang="ja-JP" altLang="en-US" sz="1100" dirty="0">
                <a:solidFill>
                  <a:schemeClr val="bg1"/>
                </a:solidFill>
                <a:latin typeface="メイリオ" panose="020B0604030504040204" pitchFamily="50" charset="-128"/>
                <a:ea typeface="メイリオ" panose="020B0604030504040204" pitchFamily="50" charset="-128"/>
                <a:cs typeface="メイリオ"/>
              </a:rPr>
              <a:t>サロン入会</a:t>
            </a:r>
            <a:endParaRPr lang="en-US" altLang="ja-JP" sz="11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38" name="テキスト ボックス 37">
            <a:extLst>
              <a:ext uri="{FF2B5EF4-FFF2-40B4-BE49-F238E27FC236}">
                <a16:creationId xmlns:a16="http://schemas.microsoft.com/office/drawing/2014/main" id="{8423A7FD-A6C6-EFD2-582C-90B8E121BC79}"/>
              </a:ext>
            </a:extLst>
          </p:cNvPr>
          <p:cNvSpPr txBox="1"/>
          <p:nvPr/>
        </p:nvSpPr>
        <p:spPr>
          <a:xfrm>
            <a:off x="330435" y="3170605"/>
            <a:ext cx="2157994" cy="253916"/>
          </a:xfrm>
          <a:prstGeom prst="rect">
            <a:avLst/>
          </a:prstGeom>
          <a:noFill/>
        </p:spPr>
        <p:txBody>
          <a:bodyPr wrap="square">
            <a:spAutoFit/>
          </a:bodyPr>
          <a:lstStyle/>
          <a:p>
            <a:pPr algn="ctr"/>
            <a:r>
              <a:rPr lang="en-US" altLang="ja-JP" sz="1050" b="1" dirty="0">
                <a:latin typeface="メイリオ" panose="020B0604030504040204" pitchFamily="50" charset="-128"/>
                <a:ea typeface="メイリオ" panose="020B0604030504040204" pitchFamily="50" charset="-128"/>
                <a:cs typeface="メイリオ"/>
              </a:rPr>
              <a:t>&lt;</a:t>
            </a:r>
            <a:r>
              <a:rPr lang="ja-JP" altLang="en-US" sz="1050" b="1" dirty="0">
                <a:latin typeface="メイリオ" panose="020B0604030504040204" pitchFamily="50" charset="-128"/>
                <a:ea typeface="メイリオ" panose="020B0604030504040204" pitchFamily="50" charset="-128"/>
                <a:cs typeface="メイリオ"/>
              </a:rPr>
              <a:t>貴社のユーザー動線イメージ</a:t>
            </a:r>
            <a:r>
              <a:rPr lang="en-US" altLang="ja-JP" sz="1050" b="1" dirty="0">
                <a:latin typeface="メイリオ" panose="020B0604030504040204" pitchFamily="50" charset="-128"/>
                <a:ea typeface="メイリオ" panose="020B0604030504040204" pitchFamily="50" charset="-128"/>
                <a:cs typeface="メイリオ"/>
              </a:rPr>
              <a:t>&gt;</a:t>
            </a:r>
            <a:endParaRPr lang="ja-JP" altLang="en-US" sz="1050" b="1" dirty="0">
              <a:latin typeface="メイリオ" panose="020B0604030504040204" pitchFamily="50" charset="-128"/>
              <a:ea typeface="メイリオ" panose="020B0604030504040204" pitchFamily="50" charset="-128"/>
              <a:cs typeface="メイリオ"/>
            </a:endParaRPr>
          </a:p>
        </p:txBody>
      </p:sp>
      <p:sp>
        <p:nvSpPr>
          <p:cNvPr id="24" name="テキスト ボックス 23">
            <a:extLst>
              <a:ext uri="{FF2B5EF4-FFF2-40B4-BE49-F238E27FC236}">
                <a16:creationId xmlns:a16="http://schemas.microsoft.com/office/drawing/2014/main" id="{86D765FE-5D14-B727-20F8-7C773D684C03}"/>
              </a:ext>
            </a:extLst>
          </p:cNvPr>
          <p:cNvSpPr txBox="1"/>
          <p:nvPr/>
        </p:nvSpPr>
        <p:spPr>
          <a:xfrm>
            <a:off x="3542137" y="3670478"/>
            <a:ext cx="2352195" cy="261610"/>
          </a:xfrm>
          <a:prstGeom prst="rect">
            <a:avLst/>
          </a:prstGeom>
          <a:solidFill>
            <a:srgbClr val="173559"/>
          </a:solidFill>
        </p:spPr>
        <p:txBody>
          <a:bodyPr wrap="square">
            <a:spAutoFit/>
          </a:bodyPr>
          <a:lstStyle/>
          <a:p>
            <a:pPr algn="ctr"/>
            <a:r>
              <a:rPr lang="ja-JP" altLang="en-US" sz="1100" dirty="0">
                <a:solidFill>
                  <a:schemeClr val="bg1"/>
                </a:solidFill>
                <a:latin typeface="メイリオ" panose="020B0604030504040204" pitchFamily="50" charset="-128"/>
                <a:ea typeface="メイリオ" panose="020B0604030504040204" pitchFamily="50" charset="-128"/>
                <a:cs typeface="メイリオ"/>
              </a:rPr>
              <a:t>セミナー参加</a:t>
            </a:r>
            <a:endParaRPr lang="en-US" altLang="ja-JP" sz="11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19" name="テキスト ボックス 18">
            <a:extLst>
              <a:ext uri="{FF2B5EF4-FFF2-40B4-BE49-F238E27FC236}">
                <a16:creationId xmlns:a16="http://schemas.microsoft.com/office/drawing/2014/main" id="{54872F58-9C7B-BF3F-8FD6-90758592757B}"/>
              </a:ext>
            </a:extLst>
          </p:cNvPr>
          <p:cNvSpPr txBox="1"/>
          <p:nvPr/>
        </p:nvSpPr>
        <p:spPr>
          <a:xfrm>
            <a:off x="7408050" y="2697616"/>
            <a:ext cx="2352196" cy="400110"/>
          </a:xfrm>
          <a:prstGeom prst="rect">
            <a:avLst/>
          </a:prstGeom>
          <a:solidFill>
            <a:schemeClr val="tx1">
              <a:lumMod val="50000"/>
              <a:lumOff val="50000"/>
              <a:alpha val="30000"/>
            </a:schemeClr>
          </a:solidFill>
        </p:spPr>
        <p:txBody>
          <a:bodyPr wrap="square">
            <a:spAutoFit/>
          </a:bodyPr>
          <a:lstStyle/>
          <a:p>
            <a:pPr>
              <a:buNone/>
            </a:pPr>
            <a:r>
              <a:rPr lang="ja-JP" altLang="en-US" sz="1100" dirty="0">
                <a:latin typeface="メイリオ" panose="020B0604030504040204" pitchFamily="50" charset="-128"/>
                <a:ea typeface="メイリオ" panose="020B0604030504040204" pitchFamily="50" charset="-128"/>
                <a:cs typeface="メイリオ"/>
              </a:rPr>
              <a:t>⑧</a:t>
            </a:r>
            <a:r>
              <a:rPr lang="en-US" altLang="ja-JP" sz="1100" dirty="0">
                <a:latin typeface="メイリオ" panose="020B0604030504040204" pitchFamily="50" charset="-128"/>
                <a:ea typeface="メイリオ" panose="020B0604030504040204" pitchFamily="50" charset="-128"/>
                <a:cs typeface="メイリオ"/>
              </a:rPr>
              <a:t>LTV</a:t>
            </a:r>
            <a:r>
              <a:rPr lang="ja-JP" altLang="en-US" sz="1100" dirty="0">
                <a:latin typeface="メイリオ" panose="020B0604030504040204" pitchFamily="50" charset="-128"/>
                <a:ea typeface="メイリオ" panose="020B0604030504040204" pitchFamily="50" charset="-128"/>
                <a:cs typeface="メイリオ"/>
              </a:rPr>
              <a:t>最大化・紹介</a:t>
            </a:r>
            <a:endParaRPr lang="en-US" altLang="ja-JP" sz="1100" dirty="0">
              <a:latin typeface="メイリオ" panose="020B0604030504040204" pitchFamily="50" charset="-128"/>
              <a:ea typeface="メイリオ" panose="020B0604030504040204" pitchFamily="50" charset="-128"/>
              <a:cs typeface="メイリオ"/>
            </a:endParaRPr>
          </a:p>
          <a:p>
            <a:pPr>
              <a:buNone/>
            </a:pPr>
            <a:endParaRPr lang="ja-JP" altLang="ja-JP" sz="900" dirty="0">
              <a:latin typeface="メイリオ" panose="020B0604030504040204" pitchFamily="50" charset="-128"/>
              <a:ea typeface="メイリオ" panose="020B0604030504040204" pitchFamily="50" charset="-128"/>
              <a:cs typeface="メイリオ"/>
            </a:endParaRPr>
          </a:p>
        </p:txBody>
      </p:sp>
      <p:sp>
        <p:nvSpPr>
          <p:cNvPr id="21" name="テキスト ボックス 20">
            <a:extLst>
              <a:ext uri="{FF2B5EF4-FFF2-40B4-BE49-F238E27FC236}">
                <a16:creationId xmlns:a16="http://schemas.microsoft.com/office/drawing/2014/main" id="{71A37862-DC0D-FFB9-A4C0-DFCD839440E7}"/>
              </a:ext>
            </a:extLst>
          </p:cNvPr>
          <p:cNvSpPr txBox="1"/>
          <p:nvPr/>
        </p:nvSpPr>
        <p:spPr>
          <a:xfrm>
            <a:off x="334303" y="2025996"/>
            <a:ext cx="1868111" cy="348203"/>
          </a:xfrm>
          <a:prstGeom prst="rect">
            <a:avLst/>
          </a:prstGeom>
          <a:solidFill>
            <a:srgbClr val="F2F2F2"/>
          </a:solidFill>
        </p:spPr>
        <p:txBody>
          <a:bodyPr wrap="square">
            <a:spAutoFit/>
          </a:bodyPr>
          <a:lstStyle/>
          <a:p>
            <a:pPr>
              <a:buNone/>
            </a:pPr>
            <a:r>
              <a:rPr lang="ja-JP" altLang="ja-JP" sz="1100" dirty="0">
                <a:latin typeface="メイリオ" panose="020B0604030504040204" pitchFamily="50" charset="-128"/>
                <a:ea typeface="メイリオ" panose="020B0604030504040204" pitchFamily="50" charset="-128"/>
                <a:cs typeface="メイリオ"/>
              </a:rPr>
              <a:t>① 接触（認知・流入）</a:t>
            </a:r>
          </a:p>
        </p:txBody>
      </p:sp>
      <p:sp>
        <p:nvSpPr>
          <p:cNvPr id="23" name="テキスト ボックス 22">
            <a:extLst>
              <a:ext uri="{FF2B5EF4-FFF2-40B4-BE49-F238E27FC236}">
                <a16:creationId xmlns:a16="http://schemas.microsoft.com/office/drawing/2014/main" id="{687CD251-15DA-69B7-5940-0B47AE7838C7}"/>
              </a:ext>
            </a:extLst>
          </p:cNvPr>
          <p:cNvSpPr txBox="1"/>
          <p:nvPr/>
        </p:nvSpPr>
        <p:spPr>
          <a:xfrm>
            <a:off x="1268357" y="2262194"/>
            <a:ext cx="1868111" cy="348203"/>
          </a:xfrm>
          <a:prstGeom prst="rect">
            <a:avLst/>
          </a:prstGeom>
          <a:solidFill>
            <a:srgbClr val="F2F2F2"/>
          </a:solidFill>
        </p:spPr>
        <p:txBody>
          <a:bodyPr wrap="square">
            <a:spAutoFit/>
          </a:bodyPr>
          <a:lstStyle/>
          <a:p>
            <a:pPr>
              <a:buNone/>
            </a:pPr>
            <a:r>
              <a:rPr lang="ja-JP" altLang="ja-JP" sz="1100" dirty="0">
                <a:latin typeface="メイリオ" panose="020B0604030504040204" pitchFamily="50" charset="-128"/>
                <a:ea typeface="メイリオ" panose="020B0604030504040204" pitchFamily="50" charset="-128"/>
                <a:cs typeface="メイリオ"/>
              </a:rPr>
              <a:t>② サイト離脱</a:t>
            </a:r>
            <a:r>
              <a:rPr lang="ja-JP" altLang="en-US" sz="1100" dirty="0">
                <a:latin typeface="メイリオ" panose="020B0604030504040204" pitchFamily="50" charset="-128"/>
                <a:ea typeface="メイリオ" panose="020B0604030504040204" pitchFamily="50" charset="-128"/>
                <a:cs typeface="メイリオ"/>
              </a:rPr>
              <a:t>（対策）</a:t>
            </a:r>
            <a:endParaRPr lang="ja-JP" altLang="ja-JP" sz="1100" dirty="0">
              <a:latin typeface="メイリオ" panose="020B0604030504040204" pitchFamily="50" charset="-128"/>
              <a:ea typeface="メイリオ" panose="020B0604030504040204" pitchFamily="50" charset="-128"/>
              <a:cs typeface="メイリオ"/>
            </a:endParaRPr>
          </a:p>
        </p:txBody>
      </p:sp>
      <p:sp>
        <p:nvSpPr>
          <p:cNvPr id="9" name="テキスト ボックス 8">
            <a:extLst>
              <a:ext uri="{FF2B5EF4-FFF2-40B4-BE49-F238E27FC236}">
                <a16:creationId xmlns:a16="http://schemas.microsoft.com/office/drawing/2014/main" id="{4C3DC3D4-7D19-11E4-6F8B-21449E92FE21}"/>
              </a:ext>
            </a:extLst>
          </p:cNvPr>
          <p:cNvSpPr txBox="1"/>
          <p:nvPr/>
        </p:nvSpPr>
        <p:spPr>
          <a:xfrm>
            <a:off x="181151" y="707743"/>
            <a:ext cx="9476706" cy="625812"/>
          </a:xfrm>
          <a:prstGeom prst="rect">
            <a:avLst/>
          </a:prstGeom>
          <a:noFill/>
        </p:spPr>
        <p:txBody>
          <a:bodyPr wrap="square">
            <a:spAutoFit/>
          </a:bodyPr>
          <a:lstStyle/>
          <a:p>
            <a:pPr marL="228600">
              <a:spcAft>
                <a:spcPts val="800"/>
              </a:spcAft>
              <a:buNone/>
            </a:pPr>
            <a:r>
              <a:rPr lang="ja-JP" altLang="ja-JP" sz="1400" dirty="0">
                <a:effectLst/>
                <a:latin typeface="メイリオ" panose="02020603050405020304" pitchFamily="18" charset="0"/>
                <a:ea typeface="メイリオ" panose="020B0604030504040204" pitchFamily="50" charset="-128"/>
                <a:cs typeface="メイリオ" panose="020B0604030504040204" pitchFamily="50" charset="-128"/>
              </a:rPr>
              <a:t>広告で新しい見込み客を集め、LINEで継続的に育成し、</a:t>
            </a:r>
            <a:endParaRPr lang="en-US" altLang="ja-JP" sz="1400" dirty="0">
              <a:effectLst/>
              <a:latin typeface="メイリオ" panose="02020603050405020304" pitchFamily="18" charset="0"/>
              <a:ea typeface="メイリオ" panose="020B0604030504040204" pitchFamily="50" charset="-128"/>
              <a:cs typeface="メイリオ" panose="020B0604030504040204" pitchFamily="50" charset="-128"/>
            </a:endParaRPr>
          </a:p>
          <a:p>
            <a:pPr marL="228600">
              <a:spcAft>
                <a:spcPts val="800"/>
              </a:spcAft>
              <a:buNone/>
            </a:pPr>
            <a:r>
              <a:rPr lang="ja-JP" altLang="ja-JP" sz="1400" dirty="0">
                <a:effectLst/>
                <a:latin typeface="メイリオ" panose="02020603050405020304" pitchFamily="18" charset="0"/>
                <a:ea typeface="メイリオ" panose="020B0604030504040204" pitchFamily="50" charset="-128"/>
                <a:cs typeface="メイリオ" panose="020B0604030504040204" pitchFamily="50" charset="-128"/>
              </a:rPr>
              <a:t>次回イベント・サロン入会へつなげる動線を、8フェーズで整理する。</a:t>
            </a:r>
            <a:endParaRPr lang="en-US" altLang="ja-JP" sz="1400" dirty="0">
              <a:effectLst/>
              <a:latin typeface="メイリオ" panose="02020603050405020304" pitchFamily="18" charset="0"/>
              <a:ea typeface="メイリオ" panose="020B0604030504040204" pitchFamily="50" charset="-128"/>
              <a:cs typeface="メイリオ" panose="020B0604030504040204" pitchFamily="50" charset="-128"/>
            </a:endParaRPr>
          </a:p>
        </p:txBody>
      </p:sp>
      <p:sp>
        <p:nvSpPr>
          <p:cNvPr id="10" name="正方形/長方形 9">
            <a:extLst>
              <a:ext uri="{FF2B5EF4-FFF2-40B4-BE49-F238E27FC236}">
                <a16:creationId xmlns:a16="http://schemas.microsoft.com/office/drawing/2014/main" id="{BC3DB233-2109-75A0-E58B-5975C2C6368D}"/>
              </a:ext>
            </a:extLst>
          </p:cNvPr>
          <p:cNvSpPr/>
          <p:nvPr/>
        </p:nvSpPr>
        <p:spPr>
          <a:xfrm>
            <a:off x="377494" y="4594042"/>
            <a:ext cx="9425943" cy="1545908"/>
          </a:xfrm>
          <a:prstGeom prst="rect">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ja-JP" altLang="en-US" sz="1200" dirty="0">
                <a:solidFill>
                  <a:schemeClr val="tx1"/>
                </a:solidFill>
                <a:latin typeface="メイリオ" panose="020B0604030504040204" pitchFamily="50" charset="-128"/>
                <a:ea typeface="メイリオ" panose="020B0604030504040204" pitchFamily="50" charset="-128"/>
                <a:cs typeface="メイリオ"/>
              </a:rPr>
              <a:t>サービス特性として、</a:t>
            </a:r>
            <a:endParaRPr lang="en-US" altLang="ja-JP" sz="1200" dirty="0">
              <a:solidFill>
                <a:schemeClr val="tx1"/>
              </a:solidFill>
              <a:latin typeface="メイリオ" panose="020B0604030504040204" pitchFamily="50" charset="-128"/>
              <a:ea typeface="メイリオ" panose="020B0604030504040204" pitchFamily="50" charset="-128"/>
              <a:cs typeface="メイリオ"/>
            </a:endParaRPr>
          </a:p>
          <a:p>
            <a:endParaRPr kumimoji="1" lang="en-US" altLang="ja-JP" sz="600" dirty="0">
              <a:solidFill>
                <a:schemeClr val="tx1"/>
              </a:solidFill>
              <a:latin typeface="メイリオ" panose="020B0604030504040204" pitchFamily="50" charset="-128"/>
              <a:ea typeface="メイリオ" panose="020B0604030504040204" pitchFamily="50" charset="-128"/>
              <a:cs typeface="メイリオ"/>
            </a:endParaRPr>
          </a:p>
          <a:p>
            <a:r>
              <a:rPr kumimoji="1" lang="en-US" altLang="ja-JP" sz="1200" b="1" dirty="0">
                <a:solidFill>
                  <a:schemeClr val="tx1"/>
                </a:solidFill>
                <a:latin typeface="メイリオ" panose="020B0604030504040204" pitchFamily="50" charset="-128"/>
                <a:ea typeface="メイリオ" panose="020B0604030504040204" pitchFamily="50" charset="-128"/>
                <a:cs typeface="メイリオ"/>
              </a:rPr>
              <a:t>【</a:t>
            </a:r>
            <a:r>
              <a:rPr kumimoji="1" lang="ja-JP" altLang="en-US" sz="1200" b="1" dirty="0">
                <a:solidFill>
                  <a:schemeClr val="tx1"/>
                </a:solidFill>
                <a:latin typeface="メイリオ" panose="020B0604030504040204" pitchFamily="50" charset="-128"/>
                <a:ea typeface="メイリオ" panose="020B0604030504040204" pitchFamily="50" charset="-128"/>
                <a:cs typeface="メイリオ"/>
              </a:rPr>
              <a:t>ターゲット</a:t>
            </a:r>
            <a:r>
              <a:rPr kumimoji="1" lang="en-US" altLang="ja-JP" sz="1200" b="1" dirty="0">
                <a:solidFill>
                  <a:schemeClr val="tx1"/>
                </a:solidFill>
                <a:latin typeface="メイリオ" panose="020B0604030504040204" pitchFamily="50" charset="-128"/>
                <a:ea typeface="メイリオ" panose="020B0604030504040204" pitchFamily="50" charset="-128"/>
                <a:cs typeface="メイリオ"/>
              </a:rPr>
              <a:t>】</a:t>
            </a:r>
            <a:r>
              <a:rPr kumimoji="1" lang="ja-JP" altLang="en-US" sz="1200" b="1" dirty="0">
                <a:solidFill>
                  <a:schemeClr val="tx1"/>
                </a:solidFill>
                <a:latin typeface="メイリオ" panose="020B0604030504040204" pitchFamily="50" charset="-128"/>
                <a:ea typeface="メイリオ" panose="020B0604030504040204" pitchFamily="50" charset="-128"/>
                <a:cs typeface="メイリオ"/>
              </a:rPr>
              <a:t>　　　</a:t>
            </a:r>
            <a:r>
              <a:rPr lang="ja-JP" altLang="en-US" sz="1200" dirty="0">
                <a:solidFill>
                  <a:schemeClr val="tx1"/>
                </a:solidFill>
                <a:latin typeface="メイリオ" panose="020B0604030504040204" pitchFamily="50" charset="-128"/>
                <a:ea typeface="メイリオ" panose="020B0604030504040204" pitchFamily="50" charset="-128"/>
                <a:cs typeface="メイリオ"/>
              </a:rPr>
              <a:t>：保険営業の方向けのセミナー・サロンが主軸（一般の方向けのマネーセミナーもあり）</a:t>
            </a:r>
            <a:endParaRPr kumimoji="1" lang="en-US" altLang="ja-JP" sz="1200" dirty="0">
              <a:solidFill>
                <a:schemeClr val="tx1"/>
              </a:solidFill>
              <a:latin typeface="メイリオ" panose="020B0604030504040204" pitchFamily="50" charset="-128"/>
              <a:ea typeface="メイリオ" panose="020B0604030504040204" pitchFamily="50" charset="-128"/>
              <a:cs typeface="メイリオ"/>
            </a:endParaRPr>
          </a:p>
          <a:p>
            <a:r>
              <a:rPr kumimoji="1" lang="en-US" altLang="ja-JP" sz="1200" b="1" dirty="0">
                <a:solidFill>
                  <a:schemeClr val="tx1"/>
                </a:solidFill>
                <a:latin typeface="メイリオ" panose="020B0604030504040204" pitchFamily="50" charset="-128"/>
                <a:ea typeface="メイリオ" panose="020B0604030504040204" pitchFamily="50" charset="-128"/>
                <a:cs typeface="メイリオ"/>
              </a:rPr>
              <a:t>【</a:t>
            </a:r>
            <a:r>
              <a:rPr kumimoji="1" lang="ja-JP" altLang="en-US" sz="1200" b="1" dirty="0">
                <a:solidFill>
                  <a:schemeClr val="tx1"/>
                </a:solidFill>
                <a:latin typeface="メイリオ" panose="020B0604030504040204" pitchFamily="50" charset="-128"/>
                <a:ea typeface="メイリオ" panose="020B0604030504040204" pitchFamily="50" charset="-128"/>
                <a:cs typeface="メイリオ"/>
              </a:rPr>
              <a:t>商材・サービス</a:t>
            </a:r>
            <a:r>
              <a:rPr kumimoji="1" lang="en-US" altLang="ja-JP" sz="1200" b="1" dirty="0">
                <a:solidFill>
                  <a:schemeClr val="tx1"/>
                </a:solidFill>
                <a:latin typeface="メイリオ" panose="020B0604030504040204" pitchFamily="50" charset="-128"/>
                <a:ea typeface="メイリオ" panose="020B0604030504040204" pitchFamily="50" charset="-128"/>
                <a:cs typeface="メイリオ"/>
              </a:rPr>
              <a:t>】</a:t>
            </a:r>
            <a:r>
              <a:rPr kumimoji="1" lang="ja-JP" altLang="en-US" sz="1200" b="1" dirty="0">
                <a:solidFill>
                  <a:schemeClr val="tx1"/>
                </a:solidFill>
                <a:latin typeface="メイリオ" panose="020B0604030504040204" pitchFamily="50" charset="-128"/>
                <a:ea typeface="メイリオ" panose="020B0604030504040204" pitchFamily="50" charset="-128"/>
                <a:cs typeface="メイリオ"/>
              </a:rPr>
              <a:t>　</a:t>
            </a:r>
            <a:r>
              <a:rPr lang="ja-JP" altLang="en-US" sz="1200" dirty="0">
                <a:solidFill>
                  <a:schemeClr val="tx1"/>
                </a:solidFill>
                <a:latin typeface="メイリオ" panose="020B0604030504040204" pitchFamily="50" charset="-128"/>
                <a:ea typeface="メイリオ" panose="020B0604030504040204" pitchFamily="50" charset="-128"/>
                <a:cs typeface="メイリオ"/>
              </a:rPr>
              <a:t>： セミナー参加の段階では費用の不安は小さく、金額の判断はサロン入会の段階</a:t>
            </a:r>
            <a:endParaRPr kumimoji="1" lang="en-US" altLang="ja-JP" sz="1200" dirty="0">
              <a:solidFill>
                <a:schemeClr val="tx1"/>
              </a:solidFill>
              <a:latin typeface="メイリオ" panose="020B0604030504040204" pitchFamily="50" charset="-128"/>
              <a:ea typeface="メイリオ" panose="020B0604030504040204" pitchFamily="50" charset="-128"/>
              <a:cs typeface="メイリオ"/>
            </a:endParaRPr>
          </a:p>
          <a:p>
            <a:r>
              <a:rPr kumimoji="1" lang="en-US" altLang="ja-JP" sz="1200" b="1" dirty="0">
                <a:solidFill>
                  <a:schemeClr val="tx1"/>
                </a:solidFill>
                <a:latin typeface="メイリオ" panose="020B0604030504040204" pitchFamily="50" charset="-128"/>
                <a:ea typeface="メイリオ" panose="020B0604030504040204" pitchFamily="50" charset="-128"/>
                <a:cs typeface="メイリオ"/>
              </a:rPr>
              <a:t>【イベントは年4回】 </a:t>
            </a:r>
            <a:r>
              <a:rPr lang="ja-JP" altLang="en-US" sz="1200" dirty="0">
                <a:solidFill>
                  <a:schemeClr val="tx1"/>
                </a:solidFill>
                <a:latin typeface="メイリオ" panose="020B0604030504040204" pitchFamily="50" charset="-128"/>
                <a:ea typeface="メイリオ" panose="020B0604030504040204" pitchFamily="50" charset="-128"/>
                <a:cs typeface="メイリオ"/>
              </a:rPr>
              <a:t>：イベントの間の時期にも、継続して情報を届けることが重要</a:t>
            </a:r>
            <a:endParaRPr lang="en-US" altLang="ja-JP" sz="1200" dirty="0">
              <a:solidFill>
                <a:schemeClr val="tx1"/>
              </a:solidFill>
              <a:latin typeface="メイリオ" panose="020B0604030504040204" pitchFamily="50" charset="-128"/>
              <a:ea typeface="メイリオ" panose="020B0604030504040204" pitchFamily="50" charset="-128"/>
              <a:cs typeface="メイリオ"/>
            </a:endParaRPr>
          </a:p>
          <a:p>
            <a:r>
              <a:rPr kumimoji="1" lang="en-US" altLang="ja-JP" sz="1200" b="1" dirty="0">
                <a:solidFill>
                  <a:schemeClr val="tx1"/>
                </a:solidFill>
                <a:latin typeface="メイリオ" panose="020B0604030504040204" pitchFamily="50" charset="-128"/>
                <a:ea typeface="メイリオ" panose="020B0604030504040204" pitchFamily="50" charset="-128"/>
                <a:cs typeface="メイリオ"/>
              </a:rPr>
              <a:t>【</a:t>
            </a:r>
            <a:r>
              <a:rPr kumimoji="1" lang="en-US" altLang="ja-JP" sz="1200" b="1" dirty="0" err="1">
                <a:solidFill>
                  <a:schemeClr val="tx1"/>
                </a:solidFill>
                <a:latin typeface="メイリオ" panose="020B0604030504040204" pitchFamily="50" charset="-128"/>
                <a:ea typeface="メイリオ" panose="020B0604030504040204" pitchFamily="50" charset="-128"/>
                <a:cs typeface="メイリオ"/>
              </a:rPr>
              <a:t>広告</a:t>
            </a:r>
            <a:r>
              <a:rPr kumimoji="1" lang="en-US" altLang="ja-JP" sz="1200" b="1" dirty="0">
                <a:solidFill>
                  <a:schemeClr val="tx1"/>
                </a:solidFill>
                <a:latin typeface="メイリオ" panose="020B0604030504040204" pitchFamily="50" charset="-128"/>
                <a:ea typeface="メイリオ" panose="020B0604030504040204" pitchFamily="50" charset="-128"/>
                <a:cs typeface="メイリオ"/>
              </a:rPr>
              <a:t>】</a:t>
            </a:r>
            <a:r>
              <a:rPr kumimoji="1" lang="ja-JP" altLang="en-US" sz="1200" b="1" dirty="0">
                <a:solidFill>
                  <a:schemeClr val="tx1"/>
                </a:solidFill>
                <a:latin typeface="メイリオ" panose="020B0604030504040204" pitchFamily="50" charset="-128"/>
                <a:ea typeface="メイリオ" panose="020B0604030504040204" pitchFamily="50" charset="-128"/>
                <a:cs typeface="メイリオ"/>
              </a:rPr>
              <a:t>　　　　　　</a:t>
            </a:r>
            <a:r>
              <a:rPr kumimoji="1" lang="ja-JP" altLang="en-US" sz="1200" dirty="0">
                <a:solidFill>
                  <a:schemeClr val="tx1"/>
                </a:solidFill>
                <a:latin typeface="メイリオ" panose="020B0604030504040204" pitchFamily="50" charset="-128"/>
                <a:ea typeface="メイリオ" panose="020B0604030504040204" pitchFamily="50" charset="-128"/>
                <a:cs typeface="メイリオ"/>
              </a:rPr>
              <a:t>：</a:t>
            </a:r>
            <a:r>
              <a:rPr lang="en-US" altLang="ja-JP" sz="1200" dirty="0">
                <a:solidFill>
                  <a:schemeClr val="tx1"/>
                </a:solidFill>
                <a:latin typeface="メイリオ" panose="020B0604030504040204" pitchFamily="50" charset="-128"/>
                <a:ea typeface="メイリオ" panose="020B0604030504040204" pitchFamily="50" charset="-128"/>
                <a:cs typeface="メイリオ"/>
              </a:rPr>
              <a:t> </a:t>
            </a:r>
            <a:r>
              <a:rPr lang="en-US" altLang="ja-JP" sz="1200" dirty="0" err="1">
                <a:solidFill>
                  <a:schemeClr val="tx1"/>
                </a:solidFill>
                <a:latin typeface="メイリオ" panose="020B0604030504040204" pitchFamily="50" charset="-128"/>
                <a:ea typeface="メイリオ" panose="020B0604030504040204" pitchFamily="50" charset="-128"/>
                <a:cs typeface="メイリオ"/>
              </a:rPr>
              <a:t>セミナー予約</a:t>
            </a:r>
            <a:r>
              <a:rPr lang="ja-JP" altLang="en-US" sz="1200" dirty="0">
                <a:solidFill>
                  <a:schemeClr val="tx1"/>
                </a:solidFill>
                <a:latin typeface="メイリオ" panose="020B0604030504040204" pitchFamily="50" charset="-128"/>
                <a:ea typeface="メイリオ" panose="020B0604030504040204" pitchFamily="50" charset="-128"/>
                <a:cs typeface="メイリオ"/>
              </a:rPr>
              <a:t>者</a:t>
            </a:r>
            <a:r>
              <a:rPr lang="en-US" altLang="ja-JP" sz="1200" dirty="0" err="1">
                <a:solidFill>
                  <a:schemeClr val="tx1"/>
                </a:solidFill>
                <a:latin typeface="メイリオ" panose="020B0604030504040204" pitchFamily="50" charset="-128"/>
                <a:ea typeface="メイリオ" panose="020B0604030504040204" pitchFamily="50" charset="-128"/>
                <a:cs typeface="メイリオ"/>
              </a:rPr>
              <a:t>を集めている</a:t>
            </a:r>
            <a:endParaRPr kumimoji="1" lang="en-US" altLang="ja-JP" sz="1200" dirty="0">
              <a:solidFill>
                <a:schemeClr val="tx1"/>
              </a:solidFill>
              <a:latin typeface="メイリオ" panose="020B0604030504040204" pitchFamily="50" charset="-128"/>
              <a:ea typeface="メイリオ" panose="020B0604030504040204" pitchFamily="50" charset="-128"/>
              <a:cs typeface="メイリオ"/>
            </a:endParaRPr>
          </a:p>
          <a:p>
            <a:endParaRPr lang="en-US" altLang="ja-JP" sz="700" dirty="0">
              <a:solidFill>
                <a:schemeClr val="tx1"/>
              </a:solidFill>
              <a:latin typeface="メイリオ" panose="020B0604030504040204" pitchFamily="50" charset="-128"/>
              <a:ea typeface="メイリオ" panose="020B0604030504040204" pitchFamily="50" charset="-128"/>
              <a:cs typeface="メイリオ"/>
            </a:endParaRPr>
          </a:p>
          <a:p>
            <a:endParaRPr lang="en-US" altLang="ja-JP" sz="700" dirty="0">
              <a:solidFill>
                <a:schemeClr val="tx1"/>
              </a:solidFill>
              <a:latin typeface="メイリオ" panose="020B0604030504040204" pitchFamily="50" charset="-128"/>
              <a:ea typeface="メイリオ" panose="020B0604030504040204" pitchFamily="50" charset="-128"/>
              <a:cs typeface="メイリオ"/>
            </a:endParaRPr>
          </a:p>
          <a:p>
            <a:r>
              <a:rPr lang="ja-JP" altLang="en-US" sz="1200" dirty="0">
                <a:solidFill>
                  <a:schemeClr val="tx1"/>
                </a:solidFill>
                <a:latin typeface="メイリオ" panose="020B0604030504040204" pitchFamily="50" charset="-128"/>
                <a:ea typeface="メイリオ" panose="020B0604030504040204" pitchFamily="50" charset="-128"/>
                <a:cs typeface="メイリオ"/>
              </a:rPr>
              <a:t>という特性があり、</a:t>
            </a:r>
            <a:r>
              <a:rPr lang="ja-JP" altLang="en-US" sz="1200" b="1" dirty="0">
                <a:solidFill>
                  <a:srgbClr val="1F2A5C"/>
                </a:solidFill>
                <a:latin typeface="メイリオ" panose="020B0604030504040204" pitchFamily="50" charset="-128"/>
                <a:ea typeface="メイリオ" panose="020B0604030504040204" pitchFamily="50" charset="-128"/>
                <a:cs typeface="メイリオ"/>
              </a:rPr>
              <a:t>集めた方と、次のイベント参加・サロン入会まで接点を持ち続けることが重要</a:t>
            </a:r>
            <a:endParaRPr lang="en-US" altLang="ja-JP" sz="1200" dirty="0">
              <a:solidFill>
                <a:schemeClr val="tx1"/>
              </a:solidFill>
              <a:latin typeface="メイリオ" panose="020B0604030504040204" pitchFamily="50" charset="-128"/>
              <a:ea typeface="メイリオ" panose="020B0604030504040204" pitchFamily="50" charset="-128"/>
              <a:cs typeface="メイリオ"/>
            </a:endParaRPr>
          </a:p>
        </p:txBody>
      </p:sp>
      <p:sp>
        <p:nvSpPr>
          <p:cNvPr id="7" name="テキスト ボックス 6">
            <a:extLst>
              <a:ext uri="{FF2B5EF4-FFF2-40B4-BE49-F238E27FC236}">
                <a16:creationId xmlns:a16="http://schemas.microsoft.com/office/drawing/2014/main" id="{BE746261-2A92-C9B9-6034-451CF233AB9D}"/>
              </a:ext>
            </a:extLst>
          </p:cNvPr>
          <p:cNvSpPr txBox="1"/>
          <p:nvPr/>
        </p:nvSpPr>
        <p:spPr>
          <a:xfrm>
            <a:off x="6119414" y="2496774"/>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cs typeface="メイリオ"/>
              </a:rPr>
              <a:t>⑦マネタイズ</a:t>
            </a:r>
            <a:r>
              <a:rPr lang="en-US" altLang="ja-JP" sz="1000" b="1" dirty="0">
                <a:latin typeface="メイリオ" panose="020B0604030504040204" pitchFamily="50" charset="-128"/>
                <a:ea typeface="メイリオ" panose="020B0604030504040204" pitchFamily="50" charset="-128"/>
                <a:cs typeface="メイリオ"/>
              </a:rPr>
              <a:t>(</a:t>
            </a:r>
            <a:r>
              <a:rPr lang="ja-JP" altLang="en-US" sz="1000" b="1" dirty="0">
                <a:latin typeface="メイリオ" panose="020B0604030504040204" pitchFamily="50" charset="-128"/>
                <a:ea typeface="メイリオ" panose="020B0604030504040204" pitchFamily="50" charset="-128"/>
                <a:cs typeface="メイリオ"/>
              </a:rPr>
              <a:t>成約</a:t>
            </a:r>
            <a:r>
              <a:rPr lang="en-US" altLang="ja-JP" sz="1000" b="1" dirty="0">
                <a:latin typeface="メイリオ" panose="020B0604030504040204" pitchFamily="50" charset="-128"/>
                <a:ea typeface="メイリオ" panose="020B0604030504040204" pitchFamily="50" charset="-128"/>
                <a:cs typeface="メイリオ"/>
              </a:rPr>
              <a:t>/</a:t>
            </a:r>
            <a:r>
              <a:rPr lang="ja-JP" altLang="en-US" sz="1000" b="1" dirty="0">
                <a:latin typeface="メイリオ" panose="020B0604030504040204" pitchFamily="50" charset="-128"/>
                <a:ea typeface="メイリオ" panose="020B0604030504040204" pitchFamily="50" charset="-128"/>
                <a:cs typeface="メイリオ"/>
              </a:rPr>
              <a:t>購入</a:t>
            </a:r>
            <a:r>
              <a:rPr lang="en-US" altLang="ja-JP" sz="1000" b="1" dirty="0">
                <a:latin typeface="メイリオ" panose="020B0604030504040204" pitchFamily="50" charset="-128"/>
                <a:ea typeface="メイリオ" panose="020B0604030504040204" pitchFamily="50" charset="-128"/>
                <a:cs typeface="メイリオ"/>
              </a:rPr>
              <a:t>)</a:t>
            </a:r>
            <a:endParaRPr lang="ja-JP" altLang="ja-JP" sz="1100" b="1" dirty="0">
              <a:latin typeface="メイリオ" panose="020B0604030504040204" pitchFamily="50" charset="-128"/>
              <a:ea typeface="メイリオ" panose="020B0604030504040204" pitchFamily="50" charset="-128"/>
              <a:cs typeface="メイリオ"/>
            </a:endParaRPr>
          </a:p>
        </p:txBody>
      </p:sp>
      <p:cxnSp>
        <p:nvCxnSpPr>
          <p:cNvPr id="14" name="コネクタ: カギ線 13">
            <a:extLst>
              <a:ext uri="{FF2B5EF4-FFF2-40B4-BE49-F238E27FC236}">
                <a16:creationId xmlns:a16="http://schemas.microsoft.com/office/drawing/2014/main" id="{B116237D-8580-3F61-2B2F-766C3CCF8BF6}"/>
              </a:ext>
            </a:extLst>
          </p:cNvPr>
          <p:cNvCxnSpPr>
            <a:cxnSpLocks/>
          </p:cNvCxnSpPr>
          <p:nvPr/>
        </p:nvCxnSpPr>
        <p:spPr>
          <a:xfrm rot="5400000" flipH="1" flipV="1">
            <a:off x="4264071" y="2454256"/>
            <a:ext cx="224186" cy="249721"/>
          </a:xfrm>
          <a:prstGeom prst="bentConnector3">
            <a:avLst>
              <a:gd name="adj1" fmla="val 50000"/>
            </a:avLst>
          </a:prstGeom>
          <a:ln w="1905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2" name="テキスト ボックス 11">
            <a:extLst>
              <a:ext uri="{FF2B5EF4-FFF2-40B4-BE49-F238E27FC236}">
                <a16:creationId xmlns:a16="http://schemas.microsoft.com/office/drawing/2014/main" id="{12C4F8BA-6552-4B16-FBC5-C62D2917BFE8}"/>
              </a:ext>
            </a:extLst>
          </p:cNvPr>
          <p:cNvSpPr txBox="1"/>
          <p:nvPr/>
        </p:nvSpPr>
        <p:spPr>
          <a:xfrm>
            <a:off x="2202414" y="2498472"/>
            <a:ext cx="1868111" cy="383023"/>
          </a:xfrm>
          <a:prstGeom prst="rect">
            <a:avLst/>
          </a:prstGeom>
          <a:solidFill>
            <a:srgbClr val="F2F2F2"/>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cs typeface="メイリオ"/>
              </a:rPr>
              <a:t>③ 育成（興味</a:t>
            </a:r>
            <a:r>
              <a:rPr lang="ja-JP" altLang="en-US" sz="1100" b="1" dirty="0">
                <a:latin typeface="メイリオ" panose="020B0604030504040204" pitchFamily="50" charset="-128"/>
                <a:ea typeface="メイリオ" panose="020B0604030504040204" pitchFamily="50" charset="-128"/>
                <a:cs typeface="メイリオ"/>
              </a:rPr>
              <a:t>喚起</a:t>
            </a:r>
            <a:r>
              <a:rPr lang="ja-JP" altLang="ja-JP" sz="1100" b="1" dirty="0">
                <a:latin typeface="メイリオ" panose="020B0604030504040204" pitchFamily="50" charset="-128"/>
                <a:ea typeface="メイリオ" panose="020B0604030504040204" pitchFamily="50" charset="-128"/>
                <a:cs typeface="メイリオ"/>
              </a:rPr>
              <a:t>）</a:t>
            </a:r>
          </a:p>
        </p:txBody>
      </p:sp>
      <p:sp>
        <p:nvSpPr>
          <p:cNvPr id="13" name="テキスト ボックス 12">
            <a:extLst>
              <a:ext uri="{FF2B5EF4-FFF2-40B4-BE49-F238E27FC236}">
                <a16:creationId xmlns:a16="http://schemas.microsoft.com/office/drawing/2014/main" id="{BD16F021-165B-ADE2-A377-D74CBC854B23}"/>
              </a:ext>
            </a:extLst>
          </p:cNvPr>
          <p:cNvSpPr txBox="1"/>
          <p:nvPr/>
        </p:nvSpPr>
        <p:spPr>
          <a:xfrm>
            <a:off x="3136468" y="2714703"/>
            <a:ext cx="1868111" cy="383023"/>
          </a:xfrm>
          <a:prstGeom prst="rect">
            <a:avLst/>
          </a:prstGeom>
          <a:solidFill>
            <a:srgbClr val="F2F2F2"/>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cs typeface="メイリオ"/>
              </a:rPr>
              <a:t>④リード獲得 </a:t>
            </a:r>
            <a:r>
              <a:rPr lang="en-US" altLang="ja-JP" sz="900" b="1" dirty="0">
                <a:latin typeface="メイリオ" panose="020B0604030504040204" pitchFamily="50" charset="-128"/>
                <a:ea typeface="メイリオ" panose="020B0604030504040204" pitchFamily="50" charset="-128"/>
                <a:cs typeface="メイリオ"/>
              </a:rPr>
              <a:t>(web/LINE)</a:t>
            </a:r>
            <a:endParaRPr lang="ja-JP" altLang="ja-JP" sz="1050" b="1" dirty="0">
              <a:latin typeface="メイリオ" panose="020B0604030504040204" pitchFamily="50" charset="-128"/>
              <a:ea typeface="メイリオ" panose="020B0604030504040204" pitchFamily="50" charset="-128"/>
              <a:cs typeface="メイリオ"/>
            </a:endParaRPr>
          </a:p>
        </p:txBody>
      </p:sp>
      <p:sp>
        <p:nvSpPr>
          <p:cNvPr id="11" name="テキスト ボックス 10">
            <a:extLst>
              <a:ext uri="{FF2B5EF4-FFF2-40B4-BE49-F238E27FC236}">
                <a16:creationId xmlns:a16="http://schemas.microsoft.com/office/drawing/2014/main" id="{2393C1D2-496B-1648-5EFD-E8E0242ED7FD}"/>
              </a:ext>
            </a:extLst>
          </p:cNvPr>
          <p:cNvSpPr txBox="1"/>
          <p:nvPr/>
        </p:nvSpPr>
        <p:spPr>
          <a:xfrm>
            <a:off x="7408050" y="4096480"/>
            <a:ext cx="2352195" cy="261610"/>
          </a:xfrm>
          <a:prstGeom prst="rect">
            <a:avLst/>
          </a:prstGeom>
          <a:solidFill>
            <a:srgbClr val="173559"/>
          </a:solidFill>
        </p:spPr>
        <p:txBody>
          <a:bodyPr wrap="square">
            <a:spAutoFit/>
          </a:bodyPr>
          <a:lstStyle/>
          <a:p>
            <a:pPr algn="ctr"/>
            <a:r>
              <a:rPr lang="ja-JP" altLang="en-US" sz="1100" dirty="0">
                <a:solidFill>
                  <a:schemeClr val="bg1"/>
                </a:solidFill>
                <a:latin typeface="メイリオ" panose="020B0604030504040204" pitchFamily="50" charset="-128"/>
                <a:ea typeface="メイリオ" panose="020B0604030504040204" pitchFamily="50" charset="-128"/>
                <a:cs typeface="メイリオ"/>
              </a:rPr>
              <a:t>セミナー参加</a:t>
            </a:r>
            <a:endParaRPr lang="en-US" altLang="ja-JP" sz="11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18" name="テキスト ボックス 17">
            <a:extLst>
              <a:ext uri="{FF2B5EF4-FFF2-40B4-BE49-F238E27FC236}">
                <a16:creationId xmlns:a16="http://schemas.microsoft.com/office/drawing/2014/main" id="{1A845779-79CA-4072-2A28-CD9E201361F3}"/>
              </a:ext>
            </a:extLst>
          </p:cNvPr>
          <p:cNvSpPr txBox="1"/>
          <p:nvPr/>
        </p:nvSpPr>
        <p:spPr>
          <a:xfrm>
            <a:off x="6381559" y="3815834"/>
            <a:ext cx="2202588" cy="261610"/>
          </a:xfrm>
          <a:prstGeom prst="rect">
            <a:avLst/>
          </a:prstGeom>
          <a:solidFill>
            <a:srgbClr val="173559"/>
          </a:solidFill>
        </p:spPr>
        <p:txBody>
          <a:bodyPr wrap="square">
            <a:spAutoFit/>
          </a:bodyPr>
          <a:lstStyle/>
          <a:p>
            <a:pPr algn="ctr"/>
            <a:r>
              <a:rPr lang="ja-JP" altLang="en-US" sz="1100" dirty="0">
                <a:solidFill>
                  <a:schemeClr val="bg1"/>
                </a:solidFill>
                <a:latin typeface="メイリオ" panose="020B0604030504040204" pitchFamily="50" charset="-128"/>
                <a:ea typeface="メイリオ" panose="020B0604030504040204" pitchFamily="50" charset="-128"/>
                <a:cs typeface="メイリオ"/>
              </a:rPr>
              <a:t>セミナー予約</a:t>
            </a:r>
            <a:endParaRPr lang="en-US" altLang="ja-JP" sz="1100" dirty="0">
              <a:solidFill>
                <a:schemeClr val="bg1"/>
              </a:solidFill>
              <a:latin typeface="メイリオ" panose="020B0604030504040204" pitchFamily="50" charset="-128"/>
              <a:ea typeface="メイリオ" panose="020B0604030504040204" pitchFamily="50" charset="-128"/>
              <a:cs typeface="メイリオ"/>
            </a:endParaRPr>
          </a:p>
        </p:txBody>
      </p:sp>
    </p:spTree>
    <p:extLst>
      <p:ext uri="{BB962C8B-B14F-4D97-AF65-F5344CB8AC3E}">
        <p14:creationId xmlns:p14="http://schemas.microsoft.com/office/powerpoint/2010/main" val="17159093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AD501E-4538-865B-06FF-B4530B24F063}"/>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3D3533E4-0377-76E5-495C-9BA89161C5A7}"/>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資料アジェンダ</a:t>
            </a:r>
          </a:p>
        </p:txBody>
      </p:sp>
      <p:sp>
        <p:nvSpPr>
          <p:cNvPr id="2" name="正方形/長方形 1">
            <a:extLst>
              <a:ext uri="{FF2B5EF4-FFF2-40B4-BE49-F238E27FC236}">
                <a16:creationId xmlns:a16="http://schemas.microsoft.com/office/drawing/2014/main" id="{602C552F-05B3-B0A8-5D9C-EEE4787A9537}"/>
              </a:ext>
            </a:extLst>
          </p:cNvPr>
          <p:cNvSpPr/>
          <p:nvPr/>
        </p:nvSpPr>
        <p:spPr>
          <a:xfrm>
            <a:off x="841248" y="3038203"/>
            <a:ext cx="8229600" cy="584775"/>
          </a:xfrm>
          <a:prstGeom prst="rect">
            <a:avLst/>
          </a:prstGeom>
        </p:spPr>
        <p:txBody>
          <a:bodyPr wrap="none">
            <a:spAutoFit/>
          </a:bodyPr>
          <a:lstStyle/>
          <a:p>
            <a:pPr algn="ct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市場・ユーザー・競合</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31128037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B8DBEE-A033-E538-7B67-FCA6549C3DF9}"/>
            </a:ext>
          </a:extLst>
        </p:cNvPr>
        <p:cNvGrpSpPr/>
        <p:nvPr/>
      </p:nvGrpSpPr>
      <p:grpSpPr>
        <a:xfrm>
          <a:off x="0" y="0"/>
          <a:ext cx="0" cy="0"/>
          <a:chOff x="0" y="0"/>
          <a:chExt cx="0" cy="0"/>
        </a:xfrm>
      </p:grpSpPr>
      <p:sp>
        <p:nvSpPr>
          <p:cNvPr id="45" name="Google Shape;156;p7">
            <a:extLst>
              <a:ext uri="{FF2B5EF4-FFF2-40B4-BE49-F238E27FC236}">
                <a16:creationId xmlns:a16="http://schemas.microsoft.com/office/drawing/2014/main" id="{73A3A993-1ECB-4CB5-EF51-73494E022DA2}"/>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研修・学びの市場：営業職の学びのニーズが伸びている</a:t>
            </a:r>
            <a:endParaRPr sz="1600" b="1" dirty="0">
              <a:solidFill>
                <a:srgbClr val="002060"/>
              </a:solidFill>
              <a:latin typeface="メイリオ"/>
              <a:ea typeface="メイリオ"/>
              <a:cs typeface="メイリオ"/>
              <a:sym typeface="Meiryo"/>
            </a:endParaRPr>
          </a:p>
        </p:txBody>
      </p:sp>
      <p:sp>
        <p:nvSpPr>
          <p:cNvPr id="46" name="正方形/長方形 2">
            <a:extLst>
              <a:ext uri="{FF2B5EF4-FFF2-40B4-BE49-F238E27FC236}">
                <a16:creationId xmlns:a16="http://schemas.microsoft.com/office/drawing/2014/main" id="{31AFE6AB-F1DA-C6B7-D87F-3695F50AA578}"/>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7" name="正方形/長方形 3">
            <a:extLst>
              <a:ext uri="{FF2B5EF4-FFF2-40B4-BE49-F238E27FC236}">
                <a16:creationId xmlns:a16="http://schemas.microsoft.com/office/drawing/2014/main" id="{F8C7209A-302D-E575-6893-8AB70FAE1F89}"/>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cxnSp>
        <p:nvCxnSpPr>
          <p:cNvPr id="48" name="直線コネクタ 1">
            <a:extLst>
              <a:ext uri="{FF2B5EF4-FFF2-40B4-BE49-F238E27FC236}">
                <a16:creationId xmlns:a16="http://schemas.microsoft.com/office/drawing/2014/main" id="{075811D5-D863-CFCC-F7C2-B17B78E050E7}"/>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9" name="テキスト ボックス 8">
            <a:extLst>
              <a:ext uri="{FF2B5EF4-FFF2-40B4-BE49-F238E27FC236}">
                <a16:creationId xmlns:a16="http://schemas.microsoft.com/office/drawing/2014/main" id="{4C3DC3D4-7D19-11E4-6F8B-21449E92FE21}"/>
              </a:ext>
            </a:extLst>
          </p:cNvPr>
          <p:cNvSpPr txBox="1"/>
          <p:nvPr/>
        </p:nvSpPr>
        <p:spPr>
          <a:xfrm>
            <a:off x="208551" y="821985"/>
            <a:ext cx="9476706" cy="625812"/>
          </a:xfrm>
          <a:prstGeom prst="rect">
            <a:avLst/>
          </a:prstGeom>
          <a:noFill/>
        </p:spPr>
        <p:txBody>
          <a:bodyPr wrap="square">
            <a:spAutoFit/>
          </a:bodyPr>
          <a:lstStyle/>
          <a:p>
            <a:pPr marL="228600">
              <a:spcAft>
                <a:spcPts val="800"/>
              </a:spcAft>
              <a:buNone/>
            </a:pPr>
            <a:r>
              <a:rPr lang="ja-JP" altLang="ja-JP" sz="1400" dirty="0">
                <a:effectLst/>
                <a:latin typeface="メイリオ" panose="02020603050405020304" pitchFamily="18" charset="0"/>
                <a:ea typeface="メイリオ" panose="020B0604030504040204" pitchFamily="50" charset="-128"/>
                <a:cs typeface="メイリオ" panose="020B0604030504040204" pitchFamily="50" charset="-128"/>
              </a:rPr>
              <a:t>企業の研修への投資も、個人がお金を払って学ぶ市場も伸びている</a:t>
            </a:r>
            <a:endParaRPr lang="en-US" altLang="ja-JP" sz="1400" dirty="0">
              <a:effectLst/>
              <a:latin typeface="メイリオ" panose="02020603050405020304" pitchFamily="18" charset="0"/>
              <a:ea typeface="メイリオ" panose="020B0604030504040204" pitchFamily="50" charset="-128"/>
              <a:cs typeface="メイリオ" panose="020B0604030504040204" pitchFamily="50" charset="-128"/>
            </a:endParaRPr>
          </a:p>
        </p:txBody>
      </p:sp>
      <p:graphicFrame>
        <p:nvGraphicFramePr>
          <p:cNvPr id="50" name="業界STUDY 49"/>
          <p:cNvGraphicFramePr>
            <a:graphicFrameLocks noGrp="1"/>
          </p:cNvGraphicFramePr>
          <p:nvPr>
            <p:extLst>
              <p:ext uri="{D42A27DB-BD31-4B8C-83A1-F6EECF244321}">
                <p14:modId xmlns:p14="http://schemas.microsoft.com/office/powerpoint/2010/main" val="3429415095"/>
              </p:ext>
            </p:extLst>
          </p:nvPr>
        </p:nvGraphicFramePr>
        <p:xfrm>
          <a:off x="420624" y="1645920"/>
          <a:ext cx="9052560" cy="2656840"/>
        </p:xfrm>
        <a:graphic>
          <a:graphicData uri="http://schemas.openxmlformats.org/drawingml/2006/table">
            <a:tbl>
              <a:tblPr/>
              <a:tblGrid>
                <a:gridCol w="1737360">
                  <a:extLst>
                    <a:ext uri="{9D8B030D-6E8A-4147-A177-3AD203B41FA5}">
                      <a16:colId xmlns:a16="http://schemas.microsoft.com/office/drawing/2014/main" val="20000"/>
                    </a:ext>
                  </a:extLst>
                </a:gridCol>
                <a:gridCol w="4297680">
                  <a:extLst>
                    <a:ext uri="{9D8B030D-6E8A-4147-A177-3AD203B41FA5}">
                      <a16:colId xmlns:a16="http://schemas.microsoft.com/office/drawing/2014/main" val="20001"/>
                    </a:ext>
                  </a:extLst>
                </a:gridCol>
                <a:gridCol w="3017520">
                  <a:extLst>
                    <a:ext uri="{9D8B030D-6E8A-4147-A177-3AD203B41FA5}">
                      <a16:colId xmlns:a16="http://schemas.microsoft.com/office/drawing/2014/main" val="20002"/>
                    </a:ext>
                  </a:extLst>
                </a:gridCol>
              </a:tblGrid>
              <a:tr h="365760">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rPr>
                        <a:t>項目</a:t>
                      </a:r>
                      <a:endParaRPr lang="ja-JP" altLang="en-US" sz="1300" dirty="0"/>
                    </a:p>
                  </a:txBody>
                  <a:tcPr marL="109728"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rPr>
                        <a:t>ファクト</a:t>
                      </a:r>
                      <a:endParaRPr lang="ja-JP" altLang="en-US" sz="1300" dirty="0"/>
                    </a:p>
                  </a:txBody>
                  <a:tcPr marL="109728"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rPr>
                        <a:t>意味すること</a:t>
                      </a:r>
                      <a:endParaRPr lang="ja-JP" altLang="en-US" sz="1300" dirty="0"/>
                    </a:p>
                  </a:txBody>
                  <a:tcPr marL="109728"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extLst>
                  <a:ext uri="{0D108BD9-81ED-4DB2-BD59-A6C34878D82A}">
                    <a16:rowId xmlns:a16="http://schemas.microsoft.com/office/drawing/2014/main" val="10000"/>
                  </a:ext>
                </a:extLst>
              </a:tr>
              <a:tr h="523240">
                <a:tc>
                  <a:txBody>
                    <a:bodyPr/>
                    <a:lstStyle/>
                    <a:p>
                      <a:pPr algn="l">
                        <a:buNone/>
                      </a:pPr>
                      <a:r>
                        <a:rPr lang="ja-JP" altLang="en-US" sz="1200" b="1" dirty="0">
                          <a:solidFill>
                            <a:srgbClr val="1F2A5C"/>
                          </a:solidFill>
                          <a:latin typeface="メイリオ" panose="020B0604030504040204" pitchFamily="50" charset="-128"/>
                          <a:ea typeface="メイリオ" panose="020B0604030504040204" pitchFamily="50" charset="-128"/>
                        </a:rPr>
                        <a:t>企業向け研修サービス市場</a:t>
                      </a:r>
                      <a:endParaRPr lang="ja-JP" altLang="en-US" sz="1200" dirty="0"/>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rPr>
                        <a:t>2025年度 6,075億円（前年度比3.7%増）。</a:t>
                      </a:r>
                      <a:endParaRPr lang="en-US" altLang="ja-JP" sz="1200" b="0" dirty="0">
                        <a:solidFill>
                          <a:srgbClr val="333333"/>
                        </a:solidFill>
                        <a:latin typeface="メイリオ" panose="020B0604030504040204" pitchFamily="50" charset="-128"/>
                        <a:ea typeface="メイリオ" panose="020B0604030504040204" pitchFamily="50" charset="-128"/>
                      </a:endParaRPr>
                    </a:p>
                    <a:p>
                      <a:pPr algn="l">
                        <a:buNone/>
                      </a:pPr>
                      <a:r>
                        <a:rPr lang="ja-JP" altLang="en-US" sz="1200" b="0" dirty="0">
                          <a:solidFill>
                            <a:srgbClr val="333333"/>
                          </a:solidFill>
                          <a:latin typeface="メイリオ" panose="020B0604030504040204" pitchFamily="50" charset="-128"/>
                          <a:ea typeface="メイリオ" panose="020B0604030504040204" pitchFamily="50" charset="-128"/>
                        </a:rPr>
                        <a:t>　2026年度は6,300億円の予測</a:t>
                      </a:r>
                      <a:endParaRPr lang="ja-JP" altLang="en-US" sz="1200" dirty="0"/>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rPr>
                        <a:t>企業の人材育成への投資は増えている</a:t>
                      </a:r>
                      <a:endParaRPr lang="ja-JP" altLang="en-US" sz="1200" dirty="0"/>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721360">
                <a:tc>
                  <a:txBody>
                    <a:bodyPr/>
                    <a:lstStyle/>
                    <a:p>
                      <a:pPr algn="l">
                        <a:buNone/>
                      </a:pPr>
                      <a:r>
                        <a:rPr lang="ja-JP" altLang="en-US" sz="1200" b="1" dirty="0">
                          <a:solidFill>
                            <a:srgbClr val="1F2A5C"/>
                          </a:solidFill>
                          <a:latin typeface="メイリオ" panose="020B0604030504040204" pitchFamily="50" charset="-128"/>
                          <a:ea typeface="メイリオ" panose="020B0604030504040204" pitchFamily="50" charset="-128"/>
                        </a:rPr>
                        <a:t>eラーニング市場</a:t>
                      </a:r>
                      <a:endParaRPr lang="ja-JP" altLang="en-US" sz="1200" dirty="0"/>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rPr>
                        <a:t>2025年度 3,924億円（前年度比2.7%増）。法人向け 1,294億円（4.7%増）・個人向け 2,630億円（1.7%増）。個人向けは資格関連の伸びで3年ぶりのプラス</a:t>
                      </a:r>
                      <a:endParaRPr lang="ja-JP" altLang="en-US" sz="1200" dirty="0"/>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rPr>
                        <a:t>個人がお金を払って学ぶ市場も、</a:t>
                      </a:r>
                      <a:endParaRPr lang="en-US" altLang="ja-JP" sz="1200" b="0" dirty="0">
                        <a:solidFill>
                          <a:srgbClr val="333333"/>
                        </a:solidFill>
                        <a:latin typeface="メイリオ" panose="020B0604030504040204" pitchFamily="50" charset="-128"/>
                        <a:ea typeface="メイリオ" panose="020B0604030504040204" pitchFamily="50" charset="-128"/>
                      </a:endParaRPr>
                    </a:p>
                    <a:p>
                      <a:pPr algn="l">
                        <a:buNone/>
                      </a:pPr>
                      <a:r>
                        <a:rPr lang="ja-JP" altLang="en-US" sz="1200" b="0" dirty="0">
                          <a:solidFill>
                            <a:srgbClr val="333333"/>
                          </a:solidFill>
                          <a:latin typeface="メイリオ" panose="020B0604030504040204" pitchFamily="50" charset="-128"/>
                          <a:ea typeface="メイリオ" panose="020B0604030504040204" pitchFamily="50" charset="-128"/>
                        </a:rPr>
                        <a:t>再び伸び始めている</a:t>
                      </a:r>
                      <a:endParaRPr lang="ja-JP" altLang="en-US" sz="1200" dirty="0"/>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extLst>
                  <a:ext uri="{0D108BD9-81ED-4DB2-BD59-A6C34878D82A}">
                    <a16:rowId xmlns:a16="http://schemas.microsoft.com/office/drawing/2014/main" val="10002"/>
                  </a:ext>
                </a:extLst>
              </a:tr>
              <a:tr h="523240">
                <a:tc>
                  <a:txBody>
                    <a:bodyPr/>
                    <a:lstStyle/>
                    <a:p>
                      <a:pPr algn="l">
                        <a:buNone/>
                      </a:pPr>
                      <a:r>
                        <a:rPr lang="ja-JP" altLang="en-US" sz="1200" b="1" dirty="0">
                          <a:solidFill>
                            <a:srgbClr val="1F2A5C"/>
                          </a:solidFill>
                          <a:latin typeface="メイリオ" panose="020B0604030504040204" pitchFamily="50" charset="-128"/>
                          <a:ea typeface="メイリオ" panose="020B0604030504040204" pitchFamily="50" charset="-128"/>
                        </a:rPr>
                        <a:t>オンラインサロン</a:t>
                      </a:r>
                      <a:endParaRPr lang="ja-JP" altLang="en-US" sz="1200" dirty="0"/>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rPr>
                        <a:t>最大手のDMMオンラインサロンの流通総額は2024年度 </a:t>
                      </a:r>
                      <a:endParaRPr lang="en-US" altLang="ja-JP" sz="1200" b="0" dirty="0">
                        <a:solidFill>
                          <a:srgbClr val="333333"/>
                        </a:solidFill>
                        <a:latin typeface="メイリオ" panose="020B0604030504040204" pitchFamily="50" charset="-128"/>
                        <a:ea typeface="メイリオ" panose="020B0604030504040204" pitchFamily="50" charset="-128"/>
                      </a:endParaRPr>
                    </a:p>
                    <a:p>
                      <a:pPr algn="l">
                        <a:buNone/>
                      </a:pPr>
                      <a:r>
                        <a:rPr lang="ja-JP" altLang="en-US" sz="1200" b="0" dirty="0">
                          <a:solidFill>
                            <a:srgbClr val="333333"/>
                          </a:solidFill>
                          <a:latin typeface="メイリオ" panose="020B0604030504040204" pitchFamily="50" charset="-128"/>
                          <a:ea typeface="メイリオ" panose="020B0604030504040204" pitchFamily="50" charset="-128"/>
                        </a:rPr>
                        <a:t>約60億円。シェアは61.9%（2021年度は51.4%）</a:t>
                      </a:r>
                      <a:endParaRPr lang="ja-JP" altLang="en-US" sz="1200" dirty="0"/>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rPr>
                        <a:t>有料のオンラインコミュニティで学ぶ形が定着している</a:t>
                      </a:r>
                      <a:endParaRPr lang="ja-JP" altLang="en-US" sz="1200" dirty="0"/>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23240">
                <a:tc>
                  <a:txBody>
                    <a:bodyPr/>
                    <a:lstStyle/>
                    <a:p>
                      <a:pPr algn="l">
                        <a:buNone/>
                      </a:pPr>
                      <a:r>
                        <a:rPr lang="ja-JP" altLang="en-US" sz="1200" b="1" dirty="0">
                          <a:solidFill>
                            <a:srgbClr val="1F2A5C"/>
                          </a:solidFill>
                          <a:latin typeface="メイリオ" panose="020B0604030504040204" pitchFamily="50" charset="-128"/>
                          <a:ea typeface="メイリオ" panose="020B0604030504040204" pitchFamily="50" charset="-128"/>
                        </a:rPr>
                        <a:t>保険営業の方の</a:t>
                      </a:r>
                      <a:endParaRPr lang="en-US" altLang="ja-JP" sz="1200" b="1" dirty="0">
                        <a:solidFill>
                          <a:srgbClr val="1F2A5C"/>
                        </a:solidFill>
                        <a:latin typeface="メイリオ" panose="020B0604030504040204" pitchFamily="50" charset="-128"/>
                        <a:ea typeface="メイリオ" panose="020B0604030504040204" pitchFamily="50" charset="-128"/>
                      </a:endParaRPr>
                    </a:p>
                    <a:p>
                      <a:pPr algn="l">
                        <a:buNone/>
                      </a:pPr>
                      <a:r>
                        <a:rPr lang="ja-JP" altLang="en-US" sz="1200" b="1" dirty="0">
                          <a:solidFill>
                            <a:srgbClr val="1F2A5C"/>
                          </a:solidFill>
                          <a:latin typeface="メイリオ" panose="020B0604030504040204" pitchFamily="50" charset="-128"/>
                          <a:ea typeface="メイリオ" panose="020B0604030504040204" pitchFamily="50" charset="-128"/>
                        </a:rPr>
                        <a:t>接触回数</a:t>
                      </a:r>
                      <a:endParaRPr lang="ja-JP" altLang="en-US" sz="1200" dirty="0"/>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rPr>
                        <a:t>コロナ前と比べ、接触回数が「減少した」営業職員が55.5%（2023年調査）</a:t>
                      </a:r>
                      <a:endParaRPr lang="ja-JP" altLang="en-US" sz="1200" dirty="0"/>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rPr>
                        <a:t>限られた面談で成果を出すやり方を学ぶ必要がある</a:t>
                      </a:r>
                      <a:endParaRPr lang="ja-JP" altLang="en-US" sz="1200" dirty="0"/>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2932556337"/>
                  </a:ext>
                </a:extLst>
              </a:tr>
            </a:tbl>
          </a:graphicData>
        </a:graphic>
      </p:graphicFrame>
      <p:sp>
        <p:nvSpPr>
          <p:cNvPr id="52" name="示唆"/>
          <p:cNvSpPr/>
          <p:nvPr/>
        </p:nvSpPr>
        <p:spPr>
          <a:xfrm>
            <a:off x="420624" y="4467352"/>
            <a:ext cx="9052560" cy="788670"/>
          </a:xfrm>
          <a:prstGeom prst="rect">
            <a:avLst/>
          </a:prstGeom>
          <a:solidFill>
            <a:srgbClr val="F5F7FA"/>
          </a:solidFill>
          <a:ln>
            <a:noFill/>
          </a:ln>
        </p:spPr>
        <p:txBody>
          <a:bodyPr wrap="square" lIns="182880" tIns="54864" rIns="182880" bIns="54864" rtlCol="0" anchor="ctr">
            <a:noAutofit/>
          </a:bodyPr>
          <a:lstStyle/>
          <a:p>
            <a:pPr algn="l">
              <a:lnSpc>
                <a:spcPct val="120000"/>
              </a:lnSpc>
              <a:buNone/>
            </a:pPr>
            <a:r>
              <a:rPr lang="ja-JP" altLang="en-US" sz="1300" b="1" dirty="0">
                <a:solidFill>
                  <a:srgbClr val="1F2A5C"/>
                </a:solidFill>
                <a:latin typeface="メイリオ" panose="020B0604030504040204" pitchFamily="50" charset="-128"/>
                <a:ea typeface="メイリオ" panose="020B0604030504040204" pitchFamily="50" charset="-128"/>
              </a:rPr>
              <a:t>示唆</a:t>
            </a:r>
            <a:endParaRPr lang="ja-JP" altLang="en-US" sz="1200" dirty="0"/>
          </a:p>
          <a:p>
            <a:pPr algn="l">
              <a:lnSpc>
                <a:spcPct val="120000"/>
              </a:lnSpc>
              <a:buNone/>
            </a:pPr>
            <a:r>
              <a:rPr lang="ja-JP" altLang="en-US" sz="1300" b="0" dirty="0">
                <a:solidFill>
                  <a:srgbClr val="333333"/>
                </a:solidFill>
                <a:latin typeface="メイリオ" panose="020B0604030504040204" pitchFamily="50" charset="-128"/>
                <a:ea typeface="メイリオ" panose="020B0604030504040204" pitchFamily="50" charset="-128"/>
              </a:rPr>
              <a:t>学びたい方が増えている。そのため、セミナーで出会った方とLINEでつながり、次のセミナー・サロンの入会まで</a:t>
            </a:r>
            <a:endParaRPr lang="en-US" altLang="ja-JP" sz="1300" b="0" dirty="0">
              <a:solidFill>
                <a:srgbClr val="333333"/>
              </a:solidFill>
              <a:latin typeface="メイリオ" panose="020B0604030504040204" pitchFamily="50" charset="-128"/>
              <a:ea typeface="メイリオ" panose="020B0604030504040204" pitchFamily="50" charset="-128"/>
            </a:endParaRPr>
          </a:p>
          <a:p>
            <a:pPr algn="l">
              <a:lnSpc>
                <a:spcPct val="120000"/>
              </a:lnSpc>
              <a:buNone/>
            </a:pPr>
            <a:r>
              <a:rPr lang="ja-JP" altLang="en-US" sz="1300" b="0" dirty="0">
                <a:solidFill>
                  <a:srgbClr val="333333"/>
                </a:solidFill>
                <a:latin typeface="メイリオ" panose="020B0604030504040204" pitchFamily="50" charset="-128"/>
                <a:ea typeface="メイリオ" panose="020B0604030504040204" pitchFamily="50" charset="-128"/>
              </a:rPr>
              <a:t>案内を続ける場を整えることが重要。</a:t>
            </a:r>
            <a:endParaRPr lang="ja-JP" altLang="en-US" sz="1200" dirty="0"/>
          </a:p>
        </p:txBody>
      </p:sp>
      <p:sp>
        <p:nvSpPr>
          <p:cNvPr id="53" name="注記"/>
          <p:cNvSpPr/>
          <p:nvPr/>
        </p:nvSpPr>
        <p:spPr>
          <a:xfrm>
            <a:off x="420624" y="5897880"/>
            <a:ext cx="9052560" cy="411480"/>
          </a:xfrm>
          <a:prstGeom prst="rect">
            <a:avLst/>
          </a:prstGeom>
          <a:noFill/>
          <a:ln>
            <a:noFill/>
          </a:ln>
        </p:spPr>
        <p:txBody>
          <a:bodyPr wrap="square" lIns="0" tIns="0" rIns="0" bIns="0" rtlCol="0" anchor="t">
            <a:noAutofit/>
          </a:bodyPr>
          <a:lstStyle/>
          <a:p>
            <a:pPr algn="l">
              <a:buNone/>
            </a:pPr>
            <a:r>
              <a:rPr lang="ja-JP" altLang="en-US" sz="900" b="0" dirty="0">
                <a:solidFill>
                  <a:srgbClr val="7F7F7F"/>
                </a:solidFill>
                <a:latin typeface="メイリオ" panose="020B0604030504040204" pitchFamily="50" charset="-128"/>
                <a:ea typeface="メイリオ" panose="020B0604030504040204" pitchFamily="50" charset="-128"/>
              </a:rPr>
              <a:t>※企業向け研修サービス市場：矢野経済研究所（2026年8月24日）／eラーニング市場：矢野経済研究所（2026年4月22日。2025年度は見込み）／オンラインサロン：DMM.com発表（2025年11月14日。調査：デロイト トーマツ ミック経済研究所）／接触回数：矢野経済研究所「生命保険の営業職員アンケート調査」（2023年4〜6月、生命保険の営業職員400名）</a:t>
            </a:r>
            <a:endParaRPr lang="ja-JP" altLang="en-US" sz="1200" dirty="0"/>
          </a:p>
        </p:txBody>
      </p:sp>
    </p:spTree>
    <p:extLst>
      <p:ext uri="{BB962C8B-B14F-4D97-AF65-F5344CB8AC3E}">
        <p14:creationId xmlns:p14="http://schemas.microsoft.com/office/powerpoint/2010/main" val="25447284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Google Shape;156;p7">
            <a:extLst>
              <a:ext uri="{FF2B5EF4-FFF2-40B4-BE49-F238E27FC236}">
                <a16:creationId xmlns:a16="http://schemas.microsoft.com/office/drawing/2014/main" id="{73A3A993-1ECB-4CB5-EF51-73494E022DA2}"/>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お金への関心は高まる一方で、学ぶ機会が少ない</a:t>
            </a:r>
            <a:endParaRPr sz="1600" b="1" dirty="0">
              <a:solidFill>
                <a:srgbClr val="002060"/>
              </a:solidFill>
              <a:latin typeface="メイリオ"/>
              <a:ea typeface="メイリオ"/>
              <a:cs typeface="メイリオ"/>
              <a:sym typeface="Meiryo"/>
            </a:endParaRPr>
          </a:p>
        </p:txBody>
      </p:sp>
      <p:sp>
        <p:nvSpPr>
          <p:cNvPr id="46" name="正方形/長方形 2">
            <a:extLst>
              <a:ext uri="{FF2B5EF4-FFF2-40B4-BE49-F238E27FC236}">
                <a16:creationId xmlns:a16="http://schemas.microsoft.com/office/drawing/2014/main" id="{31AFE6AB-F1DA-C6B7-D87F-3695F50AA578}"/>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7" name="正方形/長方形 3">
            <a:extLst>
              <a:ext uri="{FF2B5EF4-FFF2-40B4-BE49-F238E27FC236}">
                <a16:creationId xmlns:a16="http://schemas.microsoft.com/office/drawing/2014/main" id="{F8C7209A-302D-E575-6893-8AB70FAE1F89}"/>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cxnSp>
        <p:nvCxnSpPr>
          <p:cNvPr id="48" name="直線コネクタ 1">
            <a:extLst>
              <a:ext uri="{FF2B5EF4-FFF2-40B4-BE49-F238E27FC236}">
                <a16:creationId xmlns:a16="http://schemas.microsoft.com/office/drawing/2014/main" id="{075811D5-D863-CFCC-F7C2-B17B78E050E7}"/>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9" name="テキスト ボックス 8">
            <a:extLst>
              <a:ext uri="{FF2B5EF4-FFF2-40B4-BE49-F238E27FC236}">
                <a16:creationId xmlns:a16="http://schemas.microsoft.com/office/drawing/2014/main" id="{4C3DC3D4-7D19-11E4-6F8B-21449E92FE21}"/>
              </a:ext>
            </a:extLst>
          </p:cNvPr>
          <p:cNvSpPr txBox="1"/>
          <p:nvPr/>
        </p:nvSpPr>
        <p:spPr>
          <a:xfrm>
            <a:off x="208551" y="855516"/>
            <a:ext cx="9476706" cy="625812"/>
          </a:xfrm>
          <a:prstGeom prst="rect">
            <a:avLst/>
          </a:prstGeom>
          <a:noFill/>
        </p:spPr>
        <p:txBody>
          <a:bodyPr wrap="square">
            <a:spAutoFit/>
          </a:bodyPr>
          <a:lstStyle/>
          <a:p>
            <a:pPr marL="228600">
              <a:spcAft>
                <a:spcPts val="800"/>
              </a:spcAft>
              <a:buNone/>
            </a:pPr>
            <a:r>
              <a:rPr lang="ja-JP" altLang="ja-JP" sz="1400" dirty="0">
                <a:effectLst/>
                <a:latin typeface="メイリオ" panose="02020603050405020304" pitchFamily="18" charset="0"/>
                <a:ea typeface="メイリオ" panose="020B0604030504040204" pitchFamily="50" charset="-128"/>
                <a:cs typeface="メイリオ" panose="020B0604030504040204" pitchFamily="50" charset="-128"/>
              </a:rPr>
              <a:t>資産形成を始める方は増えているのに、金融について学んでいない方が約9割</a:t>
            </a:r>
            <a:endParaRPr lang="en-US" altLang="ja-JP" sz="1400" dirty="0">
              <a:effectLst/>
              <a:latin typeface="メイリオ" panose="02020603050405020304" pitchFamily="18" charset="0"/>
              <a:ea typeface="メイリオ" panose="020B0604030504040204" pitchFamily="50" charset="-128"/>
              <a:cs typeface="メイリオ" panose="020B0604030504040204" pitchFamily="50" charset="-128"/>
            </a:endParaRPr>
          </a:p>
        </p:txBody>
      </p:sp>
      <p:graphicFrame>
        <p:nvGraphicFramePr>
          <p:cNvPr id="50" name="業界STUDY 49"/>
          <p:cNvGraphicFramePr>
            <a:graphicFrameLocks noGrp="1"/>
          </p:cNvGraphicFramePr>
          <p:nvPr>
            <p:extLst>
              <p:ext uri="{D42A27DB-BD31-4B8C-83A1-F6EECF244321}">
                <p14:modId xmlns:p14="http://schemas.microsoft.com/office/powerpoint/2010/main" val="3122004456"/>
              </p:ext>
            </p:extLst>
          </p:nvPr>
        </p:nvGraphicFramePr>
        <p:xfrm>
          <a:off x="420624" y="1645920"/>
          <a:ext cx="9052560" cy="2854960"/>
        </p:xfrm>
        <a:graphic>
          <a:graphicData uri="http://schemas.openxmlformats.org/drawingml/2006/table">
            <a:tbl>
              <a:tblPr/>
              <a:tblGrid>
                <a:gridCol w="1737360">
                  <a:extLst>
                    <a:ext uri="{9D8B030D-6E8A-4147-A177-3AD203B41FA5}">
                      <a16:colId xmlns:a16="http://schemas.microsoft.com/office/drawing/2014/main" val="20000"/>
                    </a:ext>
                  </a:extLst>
                </a:gridCol>
                <a:gridCol w="4297680">
                  <a:extLst>
                    <a:ext uri="{9D8B030D-6E8A-4147-A177-3AD203B41FA5}">
                      <a16:colId xmlns:a16="http://schemas.microsoft.com/office/drawing/2014/main" val="20001"/>
                    </a:ext>
                  </a:extLst>
                </a:gridCol>
                <a:gridCol w="3017520">
                  <a:extLst>
                    <a:ext uri="{9D8B030D-6E8A-4147-A177-3AD203B41FA5}">
                      <a16:colId xmlns:a16="http://schemas.microsoft.com/office/drawing/2014/main" val="20002"/>
                    </a:ext>
                  </a:extLst>
                </a:gridCol>
              </a:tblGrid>
              <a:tr h="365760">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rPr>
                        <a:t>項目</a:t>
                      </a:r>
                      <a:endParaRPr lang="ja-JP" altLang="en-US" sz="1300" dirty="0"/>
                    </a:p>
                  </a:txBody>
                  <a:tcPr marL="109728"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rPr>
                        <a:t>ファクト</a:t>
                      </a:r>
                      <a:endParaRPr lang="ja-JP" altLang="en-US" sz="1300" dirty="0"/>
                    </a:p>
                  </a:txBody>
                  <a:tcPr marL="109728"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rPr>
                        <a:t>意味すること</a:t>
                      </a:r>
                      <a:endParaRPr lang="ja-JP" altLang="en-US" sz="1300" dirty="0"/>
                    </a:p>
                  </a:txBody>
                  <a:tcPr marL="109728"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extLst>
                  <a:ext uri="{0D108BD9-81ED-4DB2-BD59-A6C34878D82A}">
                    <a16:rowId xmlns:a16="http://schemas.microsoft.com/office/drawing/2014/main" val="10000"/>
                  </a:ext>
                </a:extLst>
              </a:tr>
              <a:tr h="721360">
                <a:tc>
                  <a:txBody>
                    <a:bodyPr/>
                    <a:lstStyle/>
                    <a:p>
                      <a:pPr algn="l">
                        <a:buNone/>
                      </a:pPr>
                      <a:r>
                        <a:rPr lang="ja-JP" altLang="en-US" sz="1200" b="1" dirty="0">
                          <a:solidFill>
                            <a:srgbClr val="1F2A5C"/>
                          </a:solidFill>
                          <a:latin typeface="メイリオ" panose="020B0604030504040204" pitchFamily="50" charset="-128"/>
                          <a:ea typeface="メイリオ" panose="020B0604030504040204" pitchFamily="50" charset="-128"/>
                        </a:rPr>
                        <a:t>NISA口座数</a:t>
                      </a:r>
                      <a:endParaRPr lang="ja-JP" altLang="en-US" sz="1200" dirty="0"/>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rPr>
                        <a:t>2023年末 2,125万 → 2024年末 2,559万 → 2025年末 2,821万口座（政府目標：2027年末までに3,400万口座）</a:t>
                      </a:r>
                      <a:endParaRPr lang="ja-JP" altLang="en-US" sz="1200" dirty="0"/>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rPr>
                        <a:t>資産形成を始める方は増え続けている</a:t>
                      </a:r>
                      <a:endParaRPr lang="ja-JP" altLang="en-US" sz="1200" dirty="0"/>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23240">
                <a:tc>
                  <a:txBody>
                    <a:bodyPr/>
                    <a:lstStyle/>
                    <a:p>
                      <a:pPr algn="l">
                        <a:buNone/>
                      </a:pPr>
                      <a:r>
                        <a:rPr lang="ja-JP" altLang="en-US" sz="1200" b="1" dirty="0">
                          <a:solidFill>
                            <a:srgbClr val="1F2A5C"/>
                          </a:solidFill>
                          <a:latin typeface="メイリオ" panose="020B0604030504040204" pitchFamily="50" charset="-128"/>
                          <a:ea typeface="メイリオ" panose="020B0604030504040204" pitchFamily="50" charset="-128"/>
                        </a:rPr>
                        <a:t>NISAの累計買付額</a:t>
                      </a:r>
                      <a:endParaRPr lang="ja-JP" altLang="en-US" sz="1200" dirty="0"/>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rPr>
                        <a:t>2023年末 35兆円 → 2024年末 53兆円 → 2025年末 71兆円。2027年末の政府目標56兆円をすでに超えた</a:t>
                      </a:r>
                      <a:endParaRPr lang="ja-JP" altLang="en-US" sz="1200" dirty="0"/>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rPr>
                        <a:t>実際にお金が動いている</a:t>
                      </a:r>
                      <a:endParaRPr lang="ja-JP" altLang="en-US" sz="1200" dirty="0"/>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extLst>
                  <a:ext uri="{0D108BD9-81ED-4DB2-BD59-A6C34878D82A}">
                    <a16:rowId xmlns:a16="http://schemas.microsoft.com/office/drawing/2014/main" val="10002"/>
                  </a:ext>
                </a:extLst>
              </a:tr>
              <a:tr h="523240">
                <a:tc>
                  <a:txBody>
                    <a:bodyPr/>
                    <a:lstStyle/>
                    <a:p>
                      <a:pPr algn="l">
                        <a:buNone/>
                      </a:pPr>
                      <a:r>
                        <a:rPr lang="ja-JP" altLang="en-US" sz="1200" b="1" dirty="0">
                          <a:solidFill>
                            <a:srgbClr val="1F2A5C"/>
                          </a:solidFill>
                          <a:latin typeface="メイリオ" panose="020B0604030504040204" pitchFamily="50" charset="-128"/>
                          <a:ea typeface="メイリオ" panose="020B0604030504040204" pitchFamily="50" charset="-128"/>
                        </a:rPr>
                        <a:t>金融経済教育</a:t>
                      </a:r>
                      <a:endParaRPr lang="ja-JP" altLang="en-US" sz="1200" dirty="0"/>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rPr>
                        <a:t>「受けたと認識している」方は8.7%。</a:t>
                      </a:r>
                      <a:endParaRPr lang="en-US" altLang="ja-JP" sz="1200" b="0" dirty="0">
                        <a:solidFill>
                          <a:srgbClr val="333333"/>
                        </a:solidFill>
                        <a:latin typeface="メイリオ" panose="020B0604030504040204" pitchFamily="50" charset="-128"/>
                        <a:ea typeface="メイリオ" panose="020B0604030504040204" pitchFamily="50" charset="-128"/>
                      </a:endParaRPr>
                    </a:p>
                    <a:p>
                      <a:pPr algn="l">
                        <a:buNone/>
                      </a:pPr>
                      <a:r>
                        <a:rPr lang="ja-JP" altLang="en-US" sz="1200" b="0" dirty="0">
                          <a:solidFill>
                            <a:srgbClr val="333333"/>
                          </a:solidFill>
                          <a:latin typeface="メイリオ" panose="020B0604030504040204" pitchFamily="50" charset="-128"/>
                          <a:ea typeface="メイリオ" panose="020B0604030504040204" pitchFamily="50" charset="-128"/>
                        </a:rPr>
                        <a:t>一方で67.5%が「学校で行うべき」と回答</a:t>
                      </a:r>
                      <a:endParaRPr lang="ja-JP" altLang="en-US" sz="1200" dirty="0"/>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rPr>
                        <a:t>学ぶ機会が少なく、</a:t>
                      </a:r>
                      <a:endParaRPr lang="en-US" altLang="ja-JP" sz="1200" b="0" dirty="0">
                        <a:solidFill>
                          <a:srgbClr val="333333"/>
                        </a:solidFill>
                        <a:latin typeface="メイリオ" panose="020B0604030504040204" pitchFamily="50" charset="-128"/>
                        <a:ea typeface="メイリオ" panose="020B0604030504040204" pitchFamily="50" charset="-128"/>
                      </a:endParaRPr>
                    </a:p>
                    <a:p>
                      <a:pPr algn="l">
                        <a:buNone/>
                      </a:pPr>
                      <a:r>
                        <a:rPr lang="ja-JP" altLang="en-US" sz="1200" b="0" dirty="0">
                          <a:solidFill>
                            <a:srgbClr val="333333"/>
                          </a:solidFill>
                          <a:latin typeface="メイリオ" panose="020B0604030504040204" pitchFamily="50" charset="-128"/>
                          <a:ea typeface="メイリオ" panose="020B0604030504040204" pitchFamily="50" charset="-128"/>
                        </a:rPr>
                        <a:t>学びたいというニーズは大きい</a:t>
                      </a:r>
                      <a:endParaRPr lang="ja-JP" altLang="en-US" sz="1200" dirty="0"/>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721360">
                <a:tc>
                  <a:txBody>
                    <a:bodyPr/>
                    <a:lstStyle/>
                    <a:p>
                      <a:pPr algn="l">
                        <a:buNone/>
                      </a:pPr>
                      <a:r>
                        <a:rPr lang="ja-JP" altLang="en-US" sz="1200" b="1" dirty="0">
                          <a:solidFill>
                            <a:srgbClr val="1F2A5C"/>
                          </a:solidFill>
                          <a:latin typeface="メイリオ" panose="020B0604030504040204" pitchFamily="50" charset="-128"/>
                          <a:ea typeface="メイリオ" panose="020B0604030504040204" pitchFamily="50" charset="-128"/>
                        </a:rPr>
                        <a:t>知識・計画</a:t>
                      </a:r>
                      <a:endParaRPr lang="ja-JP" altLang="en-US" sz="1200" dirty="0"/>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rPr>
                        <a:t>金融リテラシーの正答率は53.8%（前回から1.9ポイント低下）。老後の資金計画をたてている方は40.1%、商品性を理解せずに投資信託を買った方は29.3%</a:t>
                      </a:r>
                      <a:endParaRPr lang="ja-JP" altLang="en-US" sz="1200" dirty="0"/>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rPr>
                        <a:t>相談に乗れる方が求められている</a:t>
                      </a:r>
                      <a:endParaRPr lang="ja-JP" altLang="en-US" sz="1200" dirty="0"/>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476197571"/>
                  </a:ext>
                </a:extLst>
              </a:tr>
            </a:tbl>
          </a:graphicData>
        </a:graphic>
      </p:graphicFrame>
      <p:sp>
        <p:nvSpPr>
          <p:cNvPr id="52" name="示唆"/>
          <p:cNvSpPr/>
          <p:nvPr/>
        </p:nvSpPr>
        <p:spPr>
          <a:xfrm>
            <a:off x="420624" y="4665472"/>
            <a:ext cx="9052560" cy="788670"/>
          </a:xfrm>
          <a:prstGeom prst="rect">
            <a:avLst/>
          </a:prstGeom>
          <a:solidFill>
            <a:srgbClr val="F5F7FA"/>
          </a:solidFill>
          <a:ln>
            <a:noFill/>
          </a:ln>
        </p:spPr>
        <p:txBody>
          <a:bodyPr wrap="square" lIns="182880" tIns="54864" rIns="182880" bIns="54864" rtlCol="0" anchor="ctr">
            <a:noAutofit/>
          </a:bodyPr>
          <a:lstStyle/>
          <a:p>
            <a:pPr algn="l">
              <a:lnSpc>
                <a:spcPct val="120000"/>
              </a:lnSpc>
              <a:buNone/>
            </a:pPr>
            <a:r>
              <a:rPr lang="ja-JP" altLang="en-US" sz="1300" b="1" dirty="0">
                <a:solidFill>
                  <a:srgbClr val="1F2A5C"/>
                </a:solidFill>
                <a:latin typeface="メイリオ" panose="020B0604030504040204" pitchFamily="50" charset="-128"/>
                <a:ea typeface="メイリオ" panose="020B0604030504040204" pitchFamily="50" charset="-128"/>
              </a:rPr>
              <a:t>示唆</a:t>
            </a:r>
            <a:endParaRPr lang="ja-JP" altLang="en-US" sz="1200" dirty="0"/>
          </a:p>
          <a:p>
            <a:pPr algn="l">
              <a:lnSpc>
                <a:spcPct val="120000"/>
              </a:lnSpc>
              <a:buNone/>
            </a:pPr>
            <a:r>
              <a:rPr lang="ja-JP" altLang="en-US" sz="1300" b="0" dirty="0">
                <a:solidFill>
                  <a:srgbClr val="333333"/>
                </a:solidFill>
                <a:latin typeface="メイリオ" panose="020B0604030504040204" pitchFamily="50" charset="-128"/>
                <a:ea typeface="メイリオ" panose="020B0604030504040204" pitchFamily="50" charset="-128"/>
              </a:rPr>
              <a:t>お金への関心が高まる一方で、学ぶ機会が少ない。保険営業の方にとって、相談につながるチャンスが増えている。一般の方向けのマネーセミナーも、LINEで次回の案内を続けられる。</a:t>
            </a:r>
            <a:endParaRPr lang="ja-JP" altLang="en-US" sz="1200" dirty="0"/>
          </a:p>
        </p:txBody>
      </p:sp>
      <p:sp>
        <p:nvSpPr>
          <p:cNvPr id="53" name="注記"/>
          <p:cNvSpPr/>
          <p:nvPr/>
        </p:nvSpPr>
        <p:spPr>
          <a:xfrm>
            <a:off x="420624" y="5897880"/>
            <a:ext cx="9052560" cy="411480"/>
          </a:xfrm>
          <a:prstGeom prst="rect">
            <a:avLst/>
          </a:prstGeom>
          <a:noFill/>
          <a:ln>
            <a:noFill/>
          </a:ln>
        </p:spPr>
        <p:txBody>
          <a:bodyPr wrap="square" lIns="0" tIns="0" rIns="0" bIns="0" rtlCol="0" anchor="t">
            <a:noAutofit/>
          </a:bodyPr>
          <a:lstStyle/>
          <a:p>
            <a:pPr algn="l">
              <a:buNone/>
            </a:pPr>
            <a:r>
              <a:rPr lang="ja-JP" altLang="en-US" sz="900" b="0" dirty="0">
                <a:solidFill>
                  <a:srgbClr val="7F7F7F"/>
                </a:solidFill>
                <a:latin typeface="メイリオ" panose="020B0604030504040204" pitchFamily="50" charset="-128"/>
                <a:ea typeface="メイリオ" panose="020B0604030504040204" pitchFamily="50" charset="-128"/>
              </a:rPr>
              <a:t>※NISA口座数・買付額：金融庁「NISAの利用状況」（2025年12月末時点）／金融経済教育・正答率・資金計画・投資信託：金融経済教育推進機構（J-FLEC）「金融リテラシー調査（2025年）」（2026年3月27日公表、30,000人）</a:t>
            </a:r>
            <a:endParaRPr lang="ja-JP" alt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Google Shape;156;p7">
            <a:extLst>
              <a:ext uri="{FF2B5EF4-FFF2-40B4-BE49-F238E27FC236}">
                <a16:creationId xmlns:a16="http://schemas.microsoft.com/office/drawing/2014/main" id="{73A3A993-1ECB-4CB5-EF51-73494E022DA2}"/>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ターゲット：保険営業の方が主軸。一般の方向けも考慮</a:t>
            </a:r>
            <a:endParaRPr sz="1600" b="1" dirty="0">
              <a:solidFill>
                <a:srgbClr val="002060"/>
              </a:solidFill>
              <a:latin typeface="メイリオ"/>
              <a:ea typeface="メイリオ"/>
              <a:cs typeface="メイリオ"/>
              <a:sym typeface="Meiryo"/>
            </a:endParaRPr>
          </a:p>
        </p:txBody>
      </p:sp>
      <p:sp>
        <p:nvSpPr>
          <p:cNvPr id="46" name="正方形/長方形 2">
            <a:extLst>
              <a:ext uri="{FF2B5EF4-FFF2-40B4-BE49-F238E27FC236}">
                <a16:creationId xmlns:a16="http://schemas.microsoft.com/office/drawing/2014/main" id="{31AFE6AB-F1DA-C6B7-D87F-3695F50AA578}"/>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7" name="正方形/長方形 3">
            <a:extLst>
              <a:ext uri="{FF2B5EF4-FFF2-40B4-BE49-F238E27FC236}">
                <a16:creationId xmlns:a16="http://schemas.microsoft.com/office/drawing/2014/main" id="{F8C7209A-302D-E575-6893-8AB70FAE1F89}"/>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cxnSp>
        <p:nvCxnSpPr>
          <p:cNvPr id="48" name="直線コネクタ 1">
            <a:extLst>
              <a:ext uri="{FF2B5EF4-FFF2-40B4-BE49-F238E27FC236}">
                <a16:creationId xmlns:a16="http://schemas.microsoft.com/office/drawing/2014/main" id="{075811D5-D863-CFCC-F7C2-B17B78E050E7}"/>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9" name="テキスト ボックス 8">
            <a:extLst>
              <a:ext uri="{FF2B5EF4-FFF2-40B4-BE49-F238E27FC236}">
                <a16:creationId xmlns:a16="http://schemas.microsoft.com/office/drawing/2014/main" id="{4C3DC3D4-7D19-11E4-6F8B-21449E92FE21}"/>
              </a:ext>
            </a:extLst>
          </p:cNvPr>
          <p:cNvSpPr txBox="1"/>
          <p:nvPr/>
        </p:nvSpPr>
        <p:spPr>
          <a:xfrm>
            <a:off x="181151" y="707743"/>
            <a:ext cx="9476706" cy="625812"/>
          </a:xfrm>
          <a:prstGeom prst="rect">
            <a:avLst/>
          </a:prstGeom>
          <a:noFill/>
        </p:spPr>
        <p:txBody>
          <a:bodyPr wrap="square">
            <a:spAutoFit/>
          </a:bodyPr>
          <a:lstStyle/>
          <a:p>
            <a:pPr marL="228600">
              <a:spcAft>
                <a:spcPts val="800"/>
              </a:spcAft>
              <a:buNone/>
            </a:pPr>
            <a:r>
              <a:rPr lang="ja-JP" altLang="ja-JP" sz="1400" dirty="0">
                <a:effectLst/>
                <a:latin typeface="メイリオ" panose="02020603050405020304" pitchFamily="18" charset="0"/>
                <a:ea typeface="メイリオ" panose="020B0604030504040204" pitchFamily="50" charset="-128"/>
                <a:cs typeface="メイリオ" panose="020B0604030504040204" pitchFamily="50" charset="-128"/>
              </a:rPr>
              <a:t>対象によって、関心のある内容と申込先が異なる</a:t>
            </a:r>
            <a:endParaRPr lang="en-US" altLang="ja-JP" sz="1400" dirty="0">
              <a:effectLst/>
              <a:latin typeface="メイリオ" panose="02020603050405020304" pitchFamily="18" charset="0"/>
              <a:ea typeface="メイリオ" panose="020B0604030504040204" pitchFamily="50" charset="-128"/>
              <a:cs typeface="メイリオ" panose="020B0604030504040204" pitchFamily="50" charset="-128"/>
            </a:endParaRPr>
          </a:p>
        </p:txBody>
      </p:sp>
      <p:graphicFrame>
        <p:nvGraphicFramePr>
          <p:cNvPr id="50" name="ターゲット 49"/>
          <p:cNvGraphicFramePr>
            <a:graphicFrameLocks noGrp="1"/>
          </p:cNvGraphicFramePr>
          <p:nvPr>
            <p:extLst>
              <p:ext uri="{D42A27DB-BD31-4B8C-83A1-F6EECF244321}">
                <p14:modId xmlns:p14="http://schemas.microsoft.com/office/powerpoint/2010/main" val="3726247305"/>
              </p:ext>
            </p:extLst>
          </p:nvPr>
        </p:nvGraphicFramePr>
        <p:xfrm>
          <a:off x="420624" y="1645920"/>
          <a:ext cx="9052559" cy="2633472"/>
        </p:xfrm>
        <a:graphic>
          <a:graphicData uri="http://schemas.openxmlformats.org/drawingml/2006/table">
            <a:tbl>
              <a:tblPr/>
              <a:tblGrid>
                <a:gridCol w="1920240">
                  <a:extLst>
                    <a:ext uri="{9D8B030D-6E8A-4147-A177-3AD203B41FA5}">
                      <a16:colId xmlns:a16="http://schemas.microsoft.com/office/drawing/2014/main" val="20000"/>
                    </a:ext>
                  </a:extLst>
                </a:gridCol>
                <a:gridCol w="3749039">
                  <a:extLst>
                    <a:ext uri="{9D8B030D-6E8A-4147-A177-3AD203B41FA5}">
                      <a16:colId xmlns:a16="http://schemas.microsoft.com/office/drawing/2014/main" val="20001"/>
                    </a:ext>
                  </a:extLst>
                </a:gridCol>
                <a:gridCol w="3383280">
                  <a:extLst>
                    <a:ext uri="{9D8B030D-6E8A-4147-A177-3AD203B41FA5}">
                      <a16:colId xmlns:a16="http://schemas.microsoft.com/office/drawing/2014/main" val="20002"/>
                    </a:ext>
                  </a:extLst>
                </a:gridCol>
              </a:tblGrid>
              <a:tr h="365760">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項目</a:t>
                      </a:r>
                      <a:endParaRPr lang="ja-JP" altLang="en-US" sz="1300" dirty="0">
                        <a:latin typeface="メイリオ"/>
                        <a:ea typeface="メイリオ"/>
                        <a:cs typeface="メイリオ"/>
                      </a:endParaRPr>
                    </a:p>
                  </a:txBody>
                  <a:tcPr marL="109728"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保険営業の方（主軸）</a:t>
                      </a:r>
                      <a:endParaRPr lang="ja-JP" altLang="en-US" sz="1300" dirty="0">
                        <a:latin typeface="メイリオ"/>
                        <a:ea typeface="メイリオ"/>
                        <a:cs typeface="メイリオ"/>
                      </a:endParaRPr>
                    </a:p>
                  </a:txBody>
                  <a:tcPr marL="109728"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一般の方</a:t>
                      </a:r>
                      <a:endParaRPr lang="ja-JP" altLang="en-US" sz="1300" dirty="0">
                        <a:latin typeface="メイリオ"/>
                        <a:ea typeface="メイリオ"/>
                        <a:cs typeface="メイリオ"/>
                      </a:endParaRPr>
                    </a:p>
                  </a:txBody>
                  <a:tcPr marL="109728"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extLst>
                  <a:ext uri="{0D108BD9-81ED-4DB2-BD59-A6C34878D82A}">
                    <a16:rowId xmlns:a16="http://schemas.microsoft.com/office/drawing/2014/main" val="10000"/>
                  </a:ext>
                </a:extLst>
              </a:tr>
              <a:tr h="566928">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関心</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営業力の向上（面談・提案の進め方）</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資産形成・お金の知識</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66928">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申込先</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生産性4倍セミナー → オンラインサロン「ハッピーライフ」</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資産形成・マネーセミナー等</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extLst>
                  <a:ext uri="{0D108BD9-81ED-4DB2-BD59-A6C34878D82A}">
                    <a16:rowId xmlns:a16="http://schemas.microsoft.com/office/drawing/2014/main" val="10002"/>
                  </a:ext>
                </a:extLst>
              </a:tr>
              <a:tr h="566928">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LINEで届ける内容</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セミナーの見どころ・受講生の声・サロンのご案内</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マネーセミナー等のご案内</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66928">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出し分けの基本</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保険営業の方向けのLPから友だち追加</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一般の方向けの申込みページ等から</a:t>
                      </a:r>
                      <a:endParaRPr lang="en-US" altLang="ja-JP" sz="1300" b="0" dirty="0">
                        <a:solidFill>
                          <a:srgbClr val="333333"/>
                        </a:solidFill>
                        <a:latin typeface="メイリオ" panose="020B0604030504040204" pitchFamily="50" charset="-128"/>
                        <a:ea typeface="メイリオ" panose="020B0604030504040204" pitchFamily="50" charset="-128"/>
                        <a:cs typeface="メイリオ"/>
                      </a:endParaRPr>
                    </a:p>
                    <a:p>
                      <a:pPr algn="l">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友だち追加</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extLst>
                  <a:ext uri="{0D108BD9-81ED-4DB2-BD59-A6C34878D82A}">
                    <a16:rowId xmlns:a16="http://schemas.microsoft.com/office/drawing/2014/main" val="10004"/>
                  </a:ext>
                </a:extLst>
              </a:tr>
            </a:tbl>
          </a:graphicData>
        </a:graphic>
      </p:graphicFrame>
      <p:sp>
        <p:nvSpPr>
          <p:cNvPr id="52" name="示唆"/>
          <p:cNvSpPr/>
          <p:nvPr/>
        </p:nvSpPr>
        <p:spPr>
          <a:xfrm>
            <a:off x="420624" y="4526280"/>
            <a:ext cx="9052560" cy="1097280"/>
          </a:xfrm>
          <a:prstGeom prst="rect">
            <a:avLst/>
          </a:prstGeom>
          <a:solidFill>
            <a:srgbClr val="F5F7FA"/>
          </a:solidFill>
          <a:ln>
            <a:noFill/>
          </a:ln>
        </p:spPr>
        <p:txBody>
          <a:bodyPr wrap="square" lIns="182880" tIns="54864" rIns="182880" bIns="54864" rtlCol="0" anchor="ctr">
            <a:noAutofit/>
          </a:bodyPr>
          <a:lstStyle/>
          <a:p>
            <a:pPr algn="l">
              <a:lnSpc>
                <a:spcPct val="120000"/>
              </a:lnSpc>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示唆</a:t>
            </a:r>
            <a:endParaRPr lang="ja-JP" altLang="en-US" sz="1200" dirty="0">
              <a:latin typeface="メイリオ"/>
              <a:ea typeface="メイリオ"/>
              <a:cs typeface="メイリオ"/>
            </a:endParaRPr>
          </a:p>
          <a:p>
            <a:pPr algn="l">
              <a:lnSpc>
                <a:spcPct val="120000"/>
              </a:lnSpc>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同じLINE公式アカウントで運用する場合は、友だち追加の流入経路（どのページから追加したか）で出し分ける。</a:t>
            </a:r>
            <a:endParaRPr lang="ja-JP" altLang="en-US" sz="1200" dirty="0">
              <a:latin typeface="メイリオ"/>
              <a:ea typeface="メイリオ"/>
              <a:cs typeface="メイリオ"/>
            </a:endParaRPr>
          </a:p>
          <a:p>
            <a:pPr algn="l">
              <a:lnSpc>
                <a:spcPct val="120000"/>
              </a:lnSpc>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一般の方向けセミナーの参加者には、保険営業の方向けサロンへの入会を前提にした案内はしない。</a:t>
            </a:r>
            <a:endParaRPr lang="ja-JP" altLang="en-US" sz="1200" dirty="0">
              <a:latin typeface="メイリオ"/>
              <a:ea typeface="メイリオ"/>
              <a:cs typeface="メイリオ"/>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9E3E23-EB7F-D169-38DE-98B27F305DB6}"/>
            </a:ext>
          </a:extLst>
        </p:cNvPr>
        <p:cNvGrpSpPr/>
        <p:nvPr/>
      </p:nvGrpSpPr>
      <p:grpSpPr>
        <a:xfrm>
          <a:off x="0" y="0"/>
          <a:ext cx="0" cy="0"/>
          <a:chOff x="0" y="0"/>
          <a:chExt cx="0" cy="0"/>
        </a:xfrm>
      </p:grpSpPr>
      <p:sp>
        <p:nvSpPr>
          <p:cNvPr id="45" name="Google Shape;156;p7">
            <a:extLst>
              <a:ext uri="{FF2B5EF4-FFF2-40B4-BE49-F238E27FC236}">
                <a16:creationId xmlns:a16="http://schemas.microsoft.com/office/drawing/2014/main" id="{C62F92F0-EE46-60C0-E453-43E26B4DBD66}"/>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競合調査：貴社施策内で検討の訴求軸</a:t>
            </a:r>
            <a:endParaRPr sz="1600" b="1" dirty="0">
              <a:solidFill>
                <a:srgbClr val="002060"/>
              </a:solidFill>
              <a:latin typeface="メイリオ"/>
              <a:ea typeface="メイリオ"/>
              <a:cs typeface="メイリオ"/>
              <a:sym typeface="Meiryo"/>
            </a:endParaRPr>
          </a:p>
        </p:txBody>
      </p:sp>
      <p:sp>
        <p:nvSpPr>
          <p:cNvPr id="46" name="正方形/長方形 2">
            <a:extLst>
              <a:ext uri="{FF2B5EF4-FFF2-40B4-BE49-F238E27FC236}">
                <a16:creationId xmlns:a16="http://schemas.microsoft.com/office/drawing/2014/main" id="{31AFE6AB-F1DA-C6B7-D87F-3695F50AA578}"/>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7" name="正方形/長方形 3">
            <a:extLst>
              <a:ext uri="{FF2B5EF4-FFF2-40B4-BE49-F238E27FC236}">
                <a16:creationId xmlns:a16="http://schemas.microsoft.com/office/drawing/2014/main" id="{F8C7209A-302D-E575-6893-8AB70FAE1F89}"/>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cxnSp>
        <p:nvCxnSpPr>
          <p:cNvPr id="48" name="直線コネクタ 1">
            <a:extLst>
              <a:ext uri="{FF2B5EF4-FFF2-40B4-BE49-F238E27FC236}">
                <a16:creationId xmlns:a16="http://schemas.microsoft.com/office/drawing/2014/main" id="{075811D5-D863-CFCC-F7C2-B17B78E050E7}"/>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9" name="テキスト ボックス 8">
            <a:extLst>
              <a:ext uri="{FF2B5EF4-FFF2-40B4-BE49-F238E27FC236}">
                <a16:creationId xmlns:a16="http://schemas.microsoft.com/office/drawing/2014/main" id="{4C3DC3D4-7D19-11E4-6F8B-21449E92FE21}"/>
              </a:ext>
            </a:extLst>
          </p:cNvPr>
          <p:cNvSpPr txBox="1"/>
          <p:nvPr/>
        </p:nvSpPr>
        <p:spPr>
          <a:xfrm>
            <a:off x="181151" y="707743"/>
            <a:ext cx="9476706" cy="625812"/>
          </a:xfrm>
          <a:prstGeom prst="rect">
            <a:avLst/>
          </a:prstGeom>
          <a:noFill/>
        </p:spPr>
        <p:txBody>
          <a:bodyPr wrap="square">
            <a:spAutoFit/>
          </a:bodyPr>
          <a:lstStyle/>
          <a:p>
            <a:pPr marL="228600">
              <a:spcAft>
                <a:spcPts val="800"/>
              </a:spcAft>
              <a:buNone/>
            </a:pPr>
            <a:r>
              <a:rPr lang="ja-JP" altLang="ja-JP" sz="1400" dirty="0">
                <a:effectLst/>
                <a:latin typeface="メイリオ" panose="02020603050405020304" pitchFamily="18" charset="0"/>
                <a:ea typeface="メイリオ" panose="020B0604030504040204" pitchFamily="50" charset="-128"/>
                <a:cs typeface="メイリオ" panose="020B0604030504040204" pitchFamily="50" charset="-128"/>
              </a:rPr>
              <a:t>保険営業の方向けの他社も、LINEで特典や学びを届けている</a:t>
            </a:r>
            <a:endParaRPr lang="en-US" altLang="ja-JP" sz="1400" dirty="0">
              <a:effectLst/>
              <a:latin typeface="メイリオ" panose="02020603050405020304" pitchFamily="18" charset="0"/>
              <a:ea typeface="メイリオ" panose="020B0604030504040204" pitchFamily="50" charset="-128"/>
              <a:cs typeface="メイリオ" panose="020B0604030504040204" pitchFamily="50" charset="-128"/>
            </a:endParaRPr>
          </a:p>
        </p:txBody>
      </p:sp>
      <p:graphicFrame>
        <p:nvGraphicFramePr>
          <p:cNvPr id="50" name="他社のLINE 49"/>
          <p:cNvGraphicFramePr>
            <a:graphicFrameLocks noGrp="1"/>
          </p:cNvGraphicFramePr>
          <p:nvPr>
            <p:extLst>
              <p:ext uri="{D42A27DB-BD31-4B8C-83A1-F6EECF244321}">
                <p14:modId xmlns:p14="http://schemas.microsoft.com/office/powerpoint/2010/main" val="3478589760"/>
              </p:ext>
            </p:extLst>
          </p:nvPr>
        </p:nvGraphicFramePr>
        <p:xfrm>
          <a:off x="420624" y="1645920"/>
          <a:ext cx="6492240" cy="2194560"/>
        </p:xfrm>
        <a:graphic>
          <a:graphicData uri="http://schemas.openxmlformats.org/drawingml/2006/table">
            <a:tbl>
              <a:tblPr/>
              <a:tblGrid>
                <a:gridCol w="1600200">
                  <a:extLst>
                    <a:ext uri="{9D8B030D-6E8A-4147-A177-3AD203B41FA5}">
                      <a16:colId xmlns:a16="http://schemas.microsoft.com/office/drawing/2014/main" val="20000"/>
                    </a:ext>
                  </a:extLst>
                </a:gridCol>
                <a:gridCol w="2148840">
                  <a:extLst>
                    <a:ext uri="{9D8B030D-6E8A-4147-A177-3AD203B41FA5}">
                      <a16:colId xmlns:a16="http://schemas.microsoft.com/office/drawing/2014/main" val="20001"/>
                    </a:ext>
                  </a:extLst>
                </a:gridCol>
                <a:gridCol w="2743200">
                  <a:extLst>
                    <a:ext uri="{9D8B030D-6E8A-4147-A177-3AD203B41FA5}">
                      <a16:colId xmlns:a16="http://schemas.microsoft.com/office/drawing/2014/main" val="20002"/>
                    </a:ext>
                  </a:extLst>
                </a:gridCol>
              </a:tblGrid>
              <a:tr h="365760">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rPr>
                        <a:t>他社</a:t>
                      </a:r>
                      <a:endParaRPr lang="ja-JP" altLang="en-US" sz="1300" dirty="0"/>
                    </a:p>
                  </a:txBody>
                  <a:tcPr marL="109728"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rPr>
                        <a:t>サービス</a:t>
                      </a:r>
                      <a:endParaRPr lang="ja-JP" altLang="en-US" sz="1300" dirty="0"/>
                    </a:p>
                  </a:txBody>
                  <a:tcPr marL="109728"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rPr>
                        <a:t>LINEでしていること</a:t>
                      </a:r>
                      <a:endParaRPr lang="ja-JP" altLang="en-US" sz="1300" dirty="0"/>
                    </a:p>
                  </a:txBody>
                  <a:tcPr marL="109728"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extLst>
                  <a:ext uri="{0D108BD9-81ED-4DB2-BD59-A6C34878D82A}">
                    <a16:rowId xmlns:a16="http://schemas.microsoft.com/office/drawing/2014/main" val="10000"/>
                  </a:ext>
                </a:extLst>
              </a:tr>
              <a:tr h="914400">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rPr>
                        <a:t>野沢塾</a:t>
                      </a:r>
                      <a:endParaRPr lang="ja-JP" altLang="en-US" sz="1300" dirty="0"/>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300" b="0" dirty="0">
                          <a:solidFill>
                            <a:srgbClr val="333333"/>
                          </a:solidFill>
                          <a:latin typeface="メイリオ" panose="020B0604030504040204" pitchFamily="50" charset="-128"/>
                          <a:ea typeface="メイリオ" panose="020B0604030504040204" pitchFamily="50" charset="-128"/>
                        </a:rPr>
                        <a:t>保険営業の方向けの講座（月2回）</a:t>
                      </a:r>
                      <a:endParaRPr lang="ja-JP" altLang="en-US" sz="1300" dirty="0"/>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300" b="0" dirty="0">
                          <a:solidFill>
                            <a:srgbClr val="333333"/>
                          </a:solidFill>
                          <a:latin typeface="メイリオ" panose="020B0604030504040204" pitchFamily="50" charset="-128"/>
                          <a:ea typeface="メイリオ" panose="020B0604030504040204" pitchFamily="50" charset="-128"/>
                        </a:rPr>
                        <a:t>サイトのボタンから友だち追加。あいさつで特典の動画を届ける</a:t>
                      </a:r>
                      <a:endParaRPr lang="ja-JP" altLang="en-US" sz="1300" dirty="0"/>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914400">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rPr>
                        <a:t>R&amp;C保険営業ラボ</a:t>
                      </a:r>
                      <a:endParaRPr lang="ja-JP" altLang="en-US" sz="1300" dirty="0"/>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300" b="0" dirty="0">
                          <a:solidFill>
                            <a:srgbClr val="333333"/>
                          </a:solidFill>
                          <a:latin typeface="メイリオ" panose="020B0604030504040204" pitchFamily="50" charset="-128"/>
                          <a:ea typeface="メイリオ" panose="020B0604030504040204" pitchFamily="50" charset="-128"/>
                        </a:rPr>
                        <a:t>保険営業の方向けの無料の学習サービス</a:t>
                      </a:r>
                      <a:endParaRPr lang="en-US" altLang="ja-JP" sz="1300" b="0" dirty="0">
                        <a:solidFill>
                          <a:srgbClr val="333333"/>
                        </a:solidFill>
                        <a:latin typeface="メイリオ" panose="020B0604030504040204" pitchFamily="50" charset="-128"/>
                        <a:ea typeface="メイリオ" panose="020B0604030504040204" pitchFamily="50" charset="-128"/>
                      </a:endParaRPr>
                    </a:p>
                    <a:p>
                      <a:pPr algn="l">
                        <a:buNone/>
                      </a:pPr>
                      <a:r>
                        <a:rPr lang="ja-JP" altLang="en-US" sz="1300" b="0" dirty="0">
                          <a:solidFill>
                            <a:srgbClr val="333333"/>
                          </a:solidFill>
                          <a:latin typeface="メイリオ" panose="020B0604030504040204" pitchFamily="50" charset="-128"/>
                          <a:ea typeface="メイリオ" panose="020B0604030504040204" pitchFamily="50" charset="-128"/>
                        </a:rPr>
                        <a:t>（2026年9月開始）</a:t>
                      </a:r>
                      <a:endParaRPr lang="ja-JP" altLang="en-US" sz="1300" dirty="0"/>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300" b="0" dirty="0">
                          <a:solidFill>
                            <a:srgbClr val="333333"/>
                          </a:solidFill>
                          <a:latin typeface="メイリオ" panose="020B0604030504040204" pitchFamily="50" charset="-128"/>
                          <a:ea typeface="メイリオ" panose="020B0604030504040204" pitchFamily="50" charset="-128"/>
                        </a:rPr>
                        <a:t>登録時の5問のアンケートに合わせて、資料・動画を段階的に配信</a:t>
                      </a:r>
                      <a:endParaRPr lang="ja-JP" altLang="en-US" sz="1300" dirty="0"/>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extLst>
                  <a:ext uri="{0D108BD9-81ED-4DB2-BD59-A6C34878D82A}">
                    <a16:rowId xmlns:a16="http://schemas.microsoft.com/office/drawing/2014/main" val="10002"/>
                  </a:ext>
                </a:extLst>
              </a:tr>
            </a:tbl>
          </a:graphicData>
        </a:graphic>
      </p:graphicFrame>
      <p:sp>
        <p:nvSpPr>
          <p:cNvPr id="51" name="貴社の訴求軸 見出し"/>
          <p:cNvSpPr/>
          <p:nvPr/>
        </p:nvSpPr>
        <p:spPr>
          <a:xfrm>
            <a:off x="420624" y="4160520"/>
            <a:ext cx="1828800" cy="310896"/>
          </a:xfrm>
          <a:prstGeom prst="rect">
            <a:avLst/>
          </a:prstGeom>
          <a:solidFill>
            <a:srgbClr val="1F2A5C"/>
          </a:solidFill>
          <a:ln>
            <a:noFill/>
          </a:ln>
        </p:spPr>
        <p:txBody>
          <a:bodyPr wrap="square" lIns="73152" tIns="36576" rIns="73152" bIns="36576" rtlCol="0" anchor="ctr">
            <a:noAutofit/>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rPr>
              <a:t>貴社の訴求軸</a:t>
            </a:r>
            <a:endParaRPr lang="ja-JP" altLang="en-US" sz="1200" dirty="0"/>
          </a:p>
        </p:txBody>
      </p:sp>
      <p:sp>
        <p:nvSpPr>
          <p:cNvPr id="52" name="貴社の訴求軸"/>
          <p:cNvSpPr/>
          <p:nvPr/>
        </p:nvSpPr>
        <p:spPr>
          <a:xfrm>
            <a:off x="420624" y="4471416"/>
            <a:ext cx="6492240" cy="822960"/>
          </a:xfrm>
          <a:prstGeom prst="rect">
            <a:avLst/>
          </a:prstGeom>
          <a:solidFill>
            <a:srgbClr val="EEF1F8"/>
          </a:solidFill>
          <a:ln w="9525">
            <a:solidFill>
              <a:srgbClr val="1F2A5C"/>
            </a:solidFill>
          </a:ln>
        </p:spPr>
        <p:txBody>
          <a:bodyPr wrap="square" lIns="73152" tIns="36576" rIns="73152" bIns="36576" rtlCol="0" anchor="ctr">
            <a:noAutofit/>
          </a:bodyPr>
          <a:lstStyle/>
          <a:p>
            <a:pPr algn="ctr">
              <a:lnSpc>
                <a:spcPct val="125000"/>
              </a:lnSpc>
              <a:buNone/>
            </a:pPr>
            <a:r>
              <a:rPr lang="ja-JP" altLang="en-US" sz="1400" b="1" dirty="0">
                <a:solidFill>
                  <a:srgbClr val="1F2A5C"/>
                </a:solidFill>
                <a:latin typeface="メイリオ" panose="020B0604030504040204" pitchFamily="50" charset="-128"/>
                <a:ea typeface="メイリオ" panose="020B0604030504040204" pitchFamily="50" charset="-128"/>
              </a:rPr>
              <a:t>イベントの予約・参加に合わせて、案内を変える</a:t>
            </a:r>
            <a:endParaRPr lang="ja-JP" altLang="en-US" sz="1200" dirty="0"/>
          </a:p>
          <a:p>
            <a:pPr algn="ctr">
              <a:lnSpc>
                <a:spcPct val="125000"/>
              </a:lnSpc>
              <a:buNone/>
            </a:pPr>
            <a:r>
              <a:rPr lang="ja-JP" altLang="en-US" sz="1400" b="1" dirty="0">
                <a:solidFill>
                  <a:srgbClr val="1F2A5C"/>
                </a:solidFill>
                <a:latin typeface="メイリオ" panose="020B0604030504040204" pitchFamily="50" charset="-128"/>
                <a:ea typeface="メイリオ" panose="020B0604030504040204" pitchFamily="50" charset="-128"/>
              </a:rPr>
              <a:t>参加後は、サロンの入会へつなげる</a:t>
            </a:r>
            <a:endParaRPr lang="ja-JP" altLang="en-US" sz="1200" dirty="0"/>
          </a:p>
        </p:txBody>
      </p:sp>
      <p:pic>
        <p:nvPicPr>
          <p:cNvPr id="53" name="Picture 52" descr="image.png"/>
          <p:cNvPicPr>
            <a:picLocks noChangeAspect="1"/>
          </p:cNvPicPr>
          <p:nvPr/>
        </p:nvPicPr>
        <p:blipFill>
          <a:blip r:embed="rId3"/>
          <a:stretch>
            <a:fillRect/>
          </a:stretch>
        </p:blipFill>
        <p:spPr>
          <a:xfrm>
            <a:off x="7492936" y="1645920"/>
            <a:ext cx="1583054" cy="3429000"/>
          </a:xfrm>
          <a:prstGeom prst="rect">
            <a:avLst/>
          </a:prstGeom>
        </p:spPr>
      </p:pic>
      <p:sp>
        <p:nvSpPr>
          <p:cNvPr id="54" name="画像の説明"/>
          <p:cNvSpPr/>
          <p:nvPr/>
        </p:nvSpPr>
        <p:spPr>
          <a:xfrm>
            <a:off x="6995160" y="5120640"/>
            <a:ext cx="2560320" cy="228600"/>
          </a:xfrm>
          <a:prstGeom prst="rect">
            <a:avLst/>
          </a:prstGeom>
          <a:noFill/>
          <a:ln>
            <a:noFill/>
          </a:ln>
        </p:spPr>
        <p:txBody>
          <a:bodyPr wrap="square" lIns="0" tIns="0" rIns="0" bIns="0" rtlCol="0" anchor="t">
            <a:noAutofit/>
          </a:bodyPr>
          <a:lstStyle/>
          <a:p>
            <a:pPr algn="ctr">
              <a:buNone/>
            </a:pPr>
            <a:r>
              <a:rPr lang="ja-JP" altLang="en-US" sz="1000" b="0" dirty="0">
                <a:solidFill>
                  <a:srgbClr val="7F7F7F"/>
                </a:solidFill>
                <a:latin typeface="メイリオ" panose="020B0604030504040204" pitchFamily="50" charset="-128"/>
                <a:ea typeface="メイリオ" panose="020B0604030504040204" pitchFamily="50" charset="-128"/>
              </a:rPr>
              <a:t>野沢塾のあいさつ（LINE公式アカウント）</a:t>
            </a:r>
            <a:endParaRPr lang="ja-JP" altLang="en-US" sz="1200" dirty="0"/>
          </a:p>
        </p:txBody>
      </p:sp>
      <p:sp>
        <p:nvSpPr>
          <p:cNvPr id="55" name="注記"/>
          <p:cNvSpPr/>
          <p:nvPr/>
        </p:nvSpPr>
        <p:spPr>
          <a:xfrm>
            <a:off x="420624" y="5897880"/>
            <a:ext cx="9052560" cy="411480"/>
          </a:xfrm>
          <a:prstGeom prst="rect">
            <a:avLst/>
          </a:prstGeom>
          <a:noFill/>
          <a:ln>
            <a:noFill/>
          </a:ln>
        </p:spPr>
        <p:txBody>
          <a:bodyPr wrap="square" lIns="0" tIns="0" rIns="0" bIns="0" rtlCol="0" anchor="t">
            <a:noAutofit/>
          </a:bodyPr>
          <a:lstStyle/>
          <a:p>
            <a:pPr algn="l">
              <a:buNone/>
            </a:pPr>
            <a:r>
              <a:rPr lang="ja-JP" altLang="en-US" sz="900" b="0" dirty="0">
                <a:solidFill>
                  <a:srgbClr val="7F7F7F"/>
                </a:solidFill>
                <a:latin typeface="メイリオ" panose="020B0604030504040204" pitchFamily="50" charset="-128"/>
                <a:ea typeface="メイリオ" panose="020B0604030504040204" pitchFamily="50" charset="-128"/>
              </a:rPr>
              <a:t>※野沢塾：LINE公式アカウント（2026年10月19日確認）・公式サイト（2026年10月18日確認）より。画面の名前とパスワードは伏せている</a:t>
            </a:r>
            <a:endParaRPr lang="ja-JP" altLang="en-US" sz="1200" dirty="0"/>
          </a:p>
          <a:p>
            <a:pPr algn="l">
              <a:buNone/>
            </a:pPr>
            <a:r>
              <a:rPr lang="ja-JP" altLang="en-US" sz="900" b="0" dirty="0">
                <a:solidFill>
                  <a:srgbClr val="7F7F7F"/>
                </a:solidFill>
                <a:latin typeface="メイリオ" panose="020B0604030504040204" pitchFamily="50" charset="-128"/>
                <a:ea typeface="メイリオ" panose="020B0604030504040204" pitchFamily="50" charset="-128"/>
              </a:rPr>
              <a:t>※R&amp;C保険営業ラボ：R&amp;C株式会社のプレスリリースより。</a:t>
            </a:r>
            <a:endParaRPr lang="ja-JP" altLang="en-US" sz="1200" dirty="0"/>
          </a:p>
        </p:txBody>
      </p:sp>
    </p:spTree>
    <p:extLst>
      <p:ext uri="{BB962C8B-B14F-4D97-AF65-F5344CB8AC3E}">
        <p14:creationId xmlns:p14="http://schemas.microsoft.com/office/powerpoint/2010/main" val="186140682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1E9651-D02B-F1D5-7974-8EFB42339FA2}"/>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0D14D38F-F567-ACF2-CDEB-76004FDB5B51}"/>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資料アジェンダ</a:t>
            </a:r>
          </a:p>
        </p:txBody>
      </p:sp>
      <p:sp>
        <p:nvSpPr>
          <p:cNvPr id="2" name="正方形/長方形 1">
            <a:extLst>
              <a:ext uri="{FF2B5EF4-FFF2-40B4-BE49-F238E27FC236}">
                <a16:creationId xmlns:a16="http://schemas.microsoft.com/office/drawing/2014/main" id="{636C1E2A-AC35-76CA-EBEE-CAD4F26CF45A}"/>
              </a:ext>
            </a:extLst>
          </p:cNvPr>
          <p:cNvSpPr/>
          <p:nvPr/>
        </p:nvSpPr>
        <p:spPr>
          <a:xfrm>
            <a:off x="841248" y="3038203"/>
            <a:ext cx="8229600" cy="584775"/>
          </a:xfrm>
          <a:prstGeom prst="rect">
            <a:avLst/>
          </a:prstGeom>
        </p:spPr>
        <p:txBody>
          <a:bodyPr wrap="none">
            <a:spAutoFit/>
          </a:bodyPr>
          <a:lstStyle/>
          <a:p>
            <a:pPr algn="ctr"/>
            <a:r>
              <a:rPr lang="en-US" altLang="ja-JP"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なぜLINE公式アカウントなのか</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370954333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752;p28"/>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なぜLINEか</a:t>
            </a:r>
          </a:p>
        </p:txBody>
      </p:sp>
      <p:sp>
        <p:nvSpPr>
          <p:cNvPr id="3" name="正方形/長方形 8"/>
          <p:cNvSpPr/>
          <p:nvPr/>
        </p:nvSpPr>
        <p:spPr>
          <a:xfrm>
            <a:off x="0" y="777240"/>
            <a:ext cx="2103120"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latin typeface="メイリオ" panose="020B0604030504040204" pitchFamily="50" charset="-128"/>
                <a:ea typeface="メイリオ" panose="020B0604030504040204" pitchFamily="50" charset="-128"/>
                <a:cs typeface="メイリオ"/>
              </a:rPr>
              <a:t>LINE公式アカウント</a:t>
            </a:r>
          </a:p>
        </p:txBody>
      </p:sp>
      <p:sp>
        <p:nvSpPr>
          <p:cNvPr id="4" name="Google Shape;752;p28"/>
          <p:cNvSpPr txBox="1"/>
          <p:nvPr/>
        </p:nvSpPr>
        <p:spPr>
          <a:xfrm>
            <a:off x="2286000" y="859536"/>
            <a:ext cx="7406640" cy="338328"/>
          </a:xfrm>
          <a:prstGeom prst="rect">
            <a:avLst/>
          </a:prstGeom>
          <a:noFill/>
          <a:ln>
            <a:noFill/>
          </a:ln>
        </p:spPr>
        <p:txBody>
          <a:bodyPr spcFirstLastPara="1" wrap="square" lIns="91425" tIns="45700" rIns="91425" bIns="45700" anchor="ctr" anchorCtr="0">
            <a:spAutoFit/>
          </a:bodyPr>
          <a:lstStyle/>
          <a:p>
            <a:r>
              <a:rPr lang="en-US" altLang="ja-JP" sz="1600" b="1" dirty="0" err="1">
                <a:latin typeface="メイリオ" panose="020B0604030504040204" pitchFamily="50" charset="-128"/>
                <a:ea typeface="メイリオ" panose="020B0604030504040204" pitchFamily="50" charset="-128"/>
                <a:cs typeface="メイリオ"/>
                <a:sym typeface="Meiryo"/>
              </a:rPr>
              <a:t>広告で新規見込み客を集め、LINEで関係を積み上げる</a:t>
            </a:r>
            <a:endParaRPr lang="en-US" altLang="ja-JP" sz="1600" b="1" dirty="0">
              <a:latin typeface="メイリオ" panose="020B0604030504040204" pitchFamily="50" charset="-128"/>
              <a:ea typeface="メイリオ" panose="020B0604030504040204" pitchFamily="50" charset="-128"/>
              <a:cs typeface="メイリオ"/>
              <a:sym typeface="Meiryo"/>
            </a:endParaRPr>
          </a:p>
        </p:txBody>
      </p:sp>
      <p:graphicFrame>
        <p:nvGraphicFramePr>
          <p:cNvPr id="5" name="広告とLINEの役割 4"/>
          <p:cNvGraphicFramePr>
            <a:graphicFrameLocks noGrp="1"/>
          </p:cNvGraphicFramePr>
          <p:nvPr>
            <p:extLst>
              <p:ext uri="{D42A27DB-BD31-4B8C-83A1-F6EECF244321}">
                <p14:modId xmlns:p14="http://schemas.microsoft.com/office/powerpoint/2010/main" val="4095152665"/>
              </p:ext>
            </p:extLst>
          </p:nvPr>
        </p:nvGraphicFramePr>
        <p:xfrm>
          <a:off x="502920" y="1508760"/>
          <a:ext cx="8897112" cy="2206752"/>
        </p:xfrm>
        <a:graphic>
          <a:graphicData uri="http://schemas.openxmlformats.org/drawingml/2006/table">
            <a:tbl>
              <a:tblPr/>
              <a:tblGrid>
                <a:gridCol w="1828800">
                  <a:extLst>
                    <a:ext uri="{9D8B030D-6E8A-4147-A177-3AD203B41FA5}">
                      <a16:colId xmlns:a16="http://schemas.microsoft.com/office/drawing/2014/main" val="20000"/>
                    </a:ext>
                  </a:extLst>
                </a:gridCol>
                <a:gridCol w="3520440">
                  <a:extLst>
                    <a:ext uri="{9D8B030D-6E8A-4147-A177-3AD203B41FA5}">
                      <a16:colId xmlns:a16="http://schemas.microsoft.com/office/drawing/2014/main" val="20001"/>
                    </a:ext>
                  </a:extLst>
                </a:gridCol>
                <a:gridCol w="3547872">
                  <a:extLst>
                    <a:ext uri="{9D8B030D-6E8A-4147-A177-3AD203B41FA5}">
                      <a16:colId xmlns:a16="http://schemas.microsoft.com/office/drawing/2014/main" val="20002"/>
                    </a:ext>
                  </a:extLst>
                </a:gridCol>
              </a:tblGrid>
              <a:tr h="365760">
                <a:tc>
                  <a:txBody>
                    <a:bodyPr/>
                    <a:lstStyle/>
                    <a:p>
                      <a:pPr algn="l">
                        <a:buNone/>
                      </a:pPr>
                      <a:endParaRPr lang="ja-JP" altLang="en-US" sz="1300" dirty="0">
                        <a:latin typeface="メイリオ"/>
                        <a:ea typeface="メイリオ"/>
                        <a:cs typeface="メイリオ"/>
                      </a:endParaRPr>
                    </a:p>
                  </a:txBody>
                  <a:tcPr marL="109728" marT="36576" marB="36576"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FFFFF"/>
                    </a:solidFill>
                  </a:tcPr>
                </a:tc>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広告</a:t>
                      </a:r>
                      <a:endParaRPr lang="ja-JP" altLang="en-US" sz="1300" dirty="0">
                        <a:latin typeface="メイリオ"/>
                        <a:ea typeface="メイリオ"/>
                        <a:cs typeface="メイリオ"/>
                      </a:endParaRPr>
                    </a:p>
                  </a:txBody>
                  <a:tcPr marL="109728" marT="36576" marB="36576" anchor="ctr">
                    <a:lnL w="9525" cap="flat" cmpd="sng" algn="ctr">
                      <a:solidFill>
                        <a:srgbClr val="FFFFFF"/>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LINE公式アカウント</a:t>
                      </a:r>
                      <a:endParaRPr lang="ja-JP" altLang="en-US" sz="1300" dirty="0">
                        <a:latin typeface="メイリオ"/>
                        <a:ea typeface="メイリオ"/>
                        <a:cs typeface="メイリオ"/>
                      </a:endParaRPr>
                    </a:p>
                  </a:txBody>
                  <a:tcPr marL="109728"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extLst>
                  <a:ext uri="{0D108BD9-81ED-4DB2-BD59-A6C34878D82A}">
                    <a16:rowId xmlns:a16="http://schemas.microsoft.com/office/drawing/2014/main" val="10000"/>
                  </a:ext>
                </a:extLst>
              </a:tr>
              <a:tr h="457200">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役割</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新しい見込み客との接点を獲得する</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一度つながった見込み客に、</a:t>
                      </a:r>
                      <a:endParaRPr lang="en-US" altLang="ja-JP" sz="1300" b="1" dirty="0">
                        <a:solidFill>
                          <a:srgbClr val="1F2A5C"/>
                        </a:solidFill>
                        <a:latin typeface="メイリオ" panose="020B0604030504040204" pitchFamily="50" charset="-128"/>
                        <a:ea typeface="メイリオ" panose="020B0604030504040204" pitchFamily="50" charset="-128"/>
                        <a:cs typeface="メイリオ"/>
                      </a:endParaRPr>
                    </a:p>
                    <a:p>
                      <a:pPr algn="ctr">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継続して情報を届ける</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57200">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主に届く相手</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まだつながっていない方</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ctr">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友だち追加した方</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extLst>
                  <a:ext uri="{0D108BD9-81ED-4DB2-BD59-A6C34878D82A}">
                    <a16:rowId xmlns:a16="http://schemas.microsoft.com/office/drawing/2014/main" val="10002"/>
                  </a:ext>
                </a:extLst>
              </a:tr>
              <a:tr h="457200">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届けられる時期</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広告を配信している期間</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イベント期も、イベントのない期間も</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57200">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積み上がるもの</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セミナー予約などの反響</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ctr">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友だち（次回以降も案内できる相手）</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extLst>
                  <a:ext uri="{0D108BD9-81ED-4DB2-BD59-A6C34878D82A}">
                    <a16:rowId xmlns:a16="http://schemas.microsoft.com/office/drawing/2014/main" val="10004"/>
                  </a:ext>
                </a:extLst>
              </a:tr>
            </a:tbl>
          </a:graphicData>
        </a:graphic>
      </p:graphicFrame>
      <p:sp>
        <p:nvSpPr>
          <p:cNvPr id="6" name="メリット 見出し"/>
          <p:cNvSpPr/>
          <p:nvPr/>
        </p:nvSpPr>
        <p:spPr>
          <a:xfrm>
            <a:off x="502920" y="3886200"/>
            <a:ext cx="3108960" cy="310896"/>
          </a:xfrm>
          <a:prstGeom prst="rect">
            <a:avLst/>
          </a:prstGeom>
          <a:solidFill>
            <a:srgbClr val="1F2A5C"/>
          </a:solidFill>
          <a:ln>
            <a:noFill/>
          </a:ln>
        </p:spPr>
        <p:txBody>
          <a:bodyPr wrap="square" lIns="73152" tIns="36576" rIns="73152" bIns="36576" rtlCol="0" anchor="ctr">
            <a:noAutofit/>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LINE公式アカウントのメリット</a:t>
            </a:r>
            <a:endParaRPr lang="ja-JP" altLang="en-US" sz="1200" dirty="0">
              <a:latin typeface="メイリオ"/>
              <a:ea typeface="メイリオ"/>
              <a:cs typeface="メイリオ"/>
            </a:endParaRPr>
          </a:p>
        </p:txBody>
      </p:sp>
      <p:sp>
        <p:nvSpPr>
          <p:cNvPr id="7" name="メリット"/>
          <p:cNvSpPr/>
          <p:nvPr/>
        </p:nvSpPr>
        <p:spPr>
          <a:xfrm>
            <a:off x="502920" y="4197096"/>
            <a:ext cx="8897112" cy="1737360"/>
          </a:xfrm>
          <a:prstGeom prst="rect">
            <a:avLst/>
          </a:prstGeom>
          <a:solidFill>
            <a:srgbClr val="EEF1F8"/>
          </a:solidFill>
          <a:ln w="9525">
            <a:solidFill>
              <a:srgbClr val="1F2A5C"/>
            </a:solidFill>
          </a:ln>
        </p:spPr>
        <p:txBody>
          <a:bodyPr wrap="square" lIns="274320" tIns="54864" rIns="182880" bIns="54864" rtlCol="0" anchor="ctr">
            <a:noAutofit/>
          </a:bodyPr>
          <a:lstStyle/>
          <a:p>
            <a:pPr algn="l">
              <a:lnSpc>
                <a:spcPct val="130000"/>
              </a:lnSpc>
              <a:buNone/>
            </a:pPr>
            <a:r>
              <a:rPr lang="ja-JP" altLang="en-US" sz="1400" b="1" dirty="0">
                <a:solidFill>
                  <a:srgbClr val="1F2A5C"/>
                </a:solidFill>
                <a:latin typeface="メイリオ" panose="020B0604030504040204" pitchFamily="50" charset="-128"/>
                <a:ea typeface="メイリオ" panose="020B0604030504040204" pitchFamily="50" charset="-128"/>
                <a:cs typeface="メイリオ"/>
              </a:rPr>
              <a:t>・友だち追加した方に、継続して情報を届けられる（次回以降のイベントも案内できる）</a:t>
            </a:r>
            <a:endParaRPr lang="ja-JP" altLang="en-US" sz="1200" dirty="0">
              <a:latin typeface="メイリオ"/>
              <a:ea typeface="メイリオ"/>
              <a:cs typeface="メイリオ"/>
            </a:endParaRPr>
          </a:p>
          <a:p>
            <a:pPr algn="l">
              <a:lnSpc>
                <a:spcPct val="130000"/>
              </a:lnSpc>
              <a:buNone/>
            </a:pPr>
            <a:r>
              <a:rPr lang="ja-JP" altLang="en-US" sz="1400" b="1" dirty="0">
                <a:solidFill>
                  <a:srgbClr val="1F2A5C"/>
                </a:solidFill>
                <a:latin typeface="メイリオ" panose="020B0604030504040204" pitchFamily="50" charset="-128"/>
                <a:ea typeface="メイリオ" panose="020B0604030504040204" pitchFamily="50" charset="-128"/>
                <a:cs typeface="メイリオ"/>
              </a:rPr>
              <a:t>・イベントのない時期も、見込み客との接点を持てる</a:t>
            </a:r>
            <a:endParaRPr lang="ja-JP" altLang="en-US" sz="1200" dirty="0">
              <a:latin typeface="メイリオ"/>
              <a:ea typeface="メイリオ"/>
              <a:cs typeface="メイリオ"/>
            </a:endParaRPr>
          </a:p>
          <a:p>
            <a:pPr algn="l">
              <a:lnSpc>
                <a:spcPct val="130000"/>
              </a:lnSpc>
              <a:buNone/>
            </a:pPr>
            <a:r>
              <a:rPr lang="ja-JP" altLang="en-US" sz="1400" b="0" dirty="0">
                <a:solidFill>
                  <a:srgbClr val="333333"/>
                </a:solidFill>
                <a:latin typeface="メイリオ" panose="020B0604030504040204" pitchFamily="50" charset="-128"/>
                <a:ea typeface="メイリオ" panose="020B0604030504040204" pitchFamily="50" charset="-128"/>
                <a:cs typeface="メイリオ"/>
              </a:rPr>
              <a:t>・通知を通じて、見込み客との接点をつくれる</a:t>
            </a:r>
            <a:endParaRPr lang="ja-JP" altLang="en-US" sz="1200" dirty="0">
              <a:latin typeface="メイリオ"/>
              <a:ea typeface="メイリオ"/>
              <a:cs typeface="メイリオ"/>
            </a:endParaRPr>
          </a:p>
          <a:p>
            <a:pPr algn="l">
              <a:lnSpc>
                <a:spcPct val="130000"/>
              </a:lnSpc>
              <a:buNone/>
            </a:pPr>
            <a:r>
              <a:rPr lang="ja-JP" altLang="en-US" sz="1400" b="0" dirty="0">
                <a:solidFill>
                  <a:srgbClr val="333333"/>
                </a:solidFill>
                <a:latin typeface="メイリオ" panose="020B0604030504040204" pitchFamily="50" charset="-128"/>
                <a:ea typeface="メイリオ" panose="020B0604030504040204" pitchFamily="50" charset="-128"/>
                <a:cs typeface="メイリオ"/>
              </a:rPr>
              <a:t>・友だちとして、見込み客を蓄積できる</a:t>
            </a:r>
            <a:endParaRPr lang="ja-JP" altLang="en-US" sz="1200" dirty="0">
              <a:latin typeface="メイリオ"/>
              <a:ea typeface="メイリオ"/>
              <a:cs typeface="メイリオ"/>
            </a:endParaRPr>
          </a:p>
          <a:p>
            <a:pPr algn="l">
              <a:lnSpc>
                <a:spcPct val="130000"/>
              </a:lnSpc>
              <a:buNone/>
            </a:pPr>
            <a:r>
              <a:rPr lang="ja-JP" altLang="en-US" sz="1400" b="0" dirty="0">
                <a:solidFill>
                  <a:srgbClr val="333333"/>
                </a:solidFill>
                <a:latin typeface="メイリオ" panose="020B0604030504040204" pitchFamily="50" charset="-128"/>
                <a:ea typeface="メイリオ" panose="020B0604030504040204" pitchFamily="50" charset="-128"/>
                <a:cs typeface="メイリオ"/>
              </a:rPr>
              <a:t>・中長期的に、広告への依存度を下げられる可能性がある</a:t>
            </a:r>
            <a:endParaRPr lang="ja-JP" altLang="en-US" sz="1200" dirty="0">
              <a:latin typeface="メイリオ"/>
              <a:ea typeface="メイリオ"/>
              <a:cs typeface="メイリオ"/>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2AA527-0EA1-7A75-453D-963C8B528D58}"/>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9B6D9B23-C685-E912-4659-E23BCCC23FC3}"/>
              </a:ext>
            </a:extLst>
          </p:cNvPr>
          <p:cNvSpPr txBox="1"/>
          <p:nvPr/>
        </p:nvSpPr>
        <p:spPr>
          <a:xfrm>
            <a:off x="548883" y="138137"/>
            <a:ext cx="7680960"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事例紹介：保険・イベント集客でのLINEの成果</a:t>
            </a:r>
          </a:p>
        </p:txBody>
      </p:sp>
      <p:sp>
        <p:nvSpPr>
          <p:cNvPr id="5" name="正方形/長方形 2">
            <a:extLst>
              <a:ext uri="{FF2B5EF4-FFF2-40B4-BE49-F238E27FC236}">
                <a16:creationId xmlns:a16="http://schemas.microsoft.com/office/drawing/2014/main" id="{31AFE6AB-F1DA-C6B7-D87F-3695F50AA578}"/>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6" name="正方形/長方形 3">
            <a:extLst>
              <a:ext uri="{FF2B5EF4-FFF2-40B4-BE49-F238E27FC236}">
                <a16:creationId xmlns:a16="http://schemas.microsoft.com/office/drawing/2014/main" id="{F8C7209A-302D-E575-6893-8AB70FAE1F89}"/>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cxnSp>
        <p:nvCxnSpPr>
          <p:cNvPr id="7" name="直線コネクタ 1">
            <a:extLst>
              <a:ext uri="{FF2B5EF4-FFF2-40B4-BE49-F238E27FC236}">
                <a16:creationId xmlns:a16="http://schemas.microsoft.com/office/drawing/2014/main" id="{075811D5-D863-CFCC-F7C2-B17B78E050E7}"/>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8" name="テキスト ボックス 8">
            <a:extLst>
              <a:ext uri="{FF2B5EF4-FFF2-40B4-BE49-F238E27FC236}">
                <a16:creationId xmlns:a16="http://schemas.microsoft.com/office/drawing/2014/main" id="{4C3DC3D4-7D19-11E4-6F8B-21449E92FE21}"/>
              </a:ext>
            </a:extLst>
          </p:cNvPr>
          <p:cNvSpPr txBox="1"/>
          <p:nvPr/>
        </p:nvSpPr>
        <p:spPr>
          <a:xfrm>
            <a:off x="181151" y="707743"/>
            <a:ext cx="9476706" cy="338554"/>
          </a:xfrm>
          <a:prstGeom prst="rect">
            <a:avLst/>
          </a:prstGeom>
          <a:noFill/>
        </p:spPr>
        <p:txBody>
          <a:bodyPr wrap="square">
            <a:spAutoFit/>
          </a:bodyPr>
          <a:lstStyle/>
          <a:p>
            <a:pPr marL="228600">
              <a:spcAft>
                <a:spcPts val="800"/>
              </a:spcAft>
              <a:buNone/>
            </a:pPr>
            <a:r>
              <a:rPr lang="ja-JP" altLang="ja-JP" sz="1600" dirty="0">
                <a:effectLst/>
                <a:latin typeface="メイリオ" panose="02020603050405020304" pitchFamily="18" charset="0"/>
                <a:ea typeface="メイリオ" panose="020B0604030504040204" pitchFamily="50" charset="-128"/>
                <a:cs typeface="メイリオ" panose="020B0604030504040204" pitchFamily="50" charset="-128"/>
              </a:rPr>
              <a:t>保険・イベント集客の事例</a:t>
            </a:r>
            <a:endParaRPr lang="en-US" altLang="ja-JP" sz="1600" dirty="0">
              <a:effectLst/>
              <a:latin typeface="メイリオ" panose="02020603050405020304" pitchFamily="18" charset="0"/>
              <a:ea typeface="メイリオ" panose="020B0604030504040204" pitchFamily="50" charset="-128"/>
              <a:cs typeface="メイリオ" panose="020B0604030504040204" pitchFamily="50" charset="-128"/>
            </a:endParaRPr>
          </a:p>
        </p:txBody>
      </p:sp>
      <p:graphicFrame>
        <p:nvGraphicFramePr>
          <p:cNvPr id="9" name="事例 8"/>
          <p:cNvGraphicFramePr>
            <a:graphicFrameLocks noGrp="1"/>
          </p:cNvGraphicFramePr>
          <p:nvPr>
            <p:extLst>
              <p:ext uri="{D42A27DB-BD31-4B8C-83A1-F6EECF244321}">
                <p14:modId xmlns:p14="http://schemas.microsoft.com/office/powerpoint/2010/main" val="425815105"/>
              </p:ext>
            </p:extLst>
          </p:nvPr>
        </p:nvGraphicFramePr>
        <p:xfrm>
          <a:off x="420624" y="1783080"/>
          <a:ext cx="9052560" cy="3767328"/>
        </p:xfrm>
        <a:graphic>
          <a:graphicData uri="http://schemas.openxmlformats.org/drawingml/2006/table">
            <a:tbl>
              <a:tblPr/>
              <a:tblGrid>
                <a:gridCol w="1600200">
                  <a:extLst>
                    <a:ext uri="{9D8B030D-6E8A-4147-A177-3AD203B41FA5}">
                      <a16:colId xmlns:a16="http://schemas.microsoft.com/office/drawing/2014/main" val="20000"/>
                    </a:ext>
                  </a:extLst>
                </a:gridCol>
                <a:gridCol w="2377440">
                  <a:extLst>
                    <a:ext uri="{9D8B030D-6E8A-4147-A177-3AD203B41FA5}">
                      <a16:colId xmlns:a16="http://schemas.microsoft.com/office/drawing/2014/main" val="20001"/>
                    </a:ext>
                  </a:extLst>
                </a:gridCol>
                <a:gridCol w="2514600">
                  <a:extLst>
                    <a:ext uri="{9D8B030D-6E8A-4147-A177-3AD203B41FA5}">
                      <a16:colId xmlns:a16="http://schemas.microsoft.com/office/drawing/2014/main" val="20002"/>
                    </a:ext>
                  </a:extLst>
                </a:gridCol>
                <a:gridCol w="2560320">
                  <a:extLst>
                    <a:ext uri="{9D8B030D-6E8A-4147-A177-3AD203B41FA5}">
                      <a16:colId xmlns:a16="http://schemas.microsoft.com/office/drawing/2014/main" val="20003"/>
                    </a:ext>
                  </a:extLst>
                </a:gridCol>
              </a:tblGrid>
              <a:tr h="384048">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業種</a:t>
                      </a:r>
                      <a:endParaRPr lang="ja-JP" altLang="en-US" sz="1300" dirty="0">
                        <a:latin typeface="メイリオ"/>
                        <a:ea typeface="メイリオ"/>
                        <a:cs typeface="メイリオ"/>
                      </a:endParaRPr>
                    </a:p>
                  </a:txBody>
                  <a:tcPr marL="109728"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LINEでしたこと</a:t>
                      </a:r>
                      <a:endParaRPr lang="ja-JP" altLang="en-US" sz="1300" dirty="0">
                        <a:latin typeface="メイリオ"/>
                        <a:ea typeface="メイリオ"/>
                        <a:cs typeface="メイリオ"/>
                      </a:endParaRPr>
                    </a:p>
                  </a:txBody>
                  <a:tcPr marL="109728"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結果</a:t>
                      </a:r>
                      <a:endParaRPr lang="ja-JP" altLang="en-US" sz="1300" dirty="0">
                        <a:latin typeface="メイリオ"/>
                        <a:ea typeface="メイリオ"/>
                        <a:cs typeface="メイリオ"/>
                      </a:endParaRPr>
                    </a:p>
                  </a:txBody>
                  <a:tcPr marL="109728"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貴社での活かし方</a:t>
                      </a:r>
                      <a:endParaRPr lang="ja-JP" altLang="en-US" sz="1300" dirty="0">
                        <a:latin typeface="メイリオ"/>
                        <a:ea typeface="メイリオ"/>
                        <a:cs typeface="メイリオ"/>
                      </a:endParaRPr>
                    </a:p>
                  </a:txBody>
                  <a:tcPr marL="109728"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extLst>
                  <a:ext uri="{0D108BD9-81ED-4DB2-BD59-A6C34878D82A}">
                    <a16:rowId xmlns:a16="http://schemas.microsoft.com/office/drawing/2014/main" val="10000"/>
                  </a:ext>
                </a:extLst>
              </a:tr>
              <a:tr h="1097280">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生命保険会社</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同じ内容をメールとLINEで配信</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a:buNone/>
                      </a:pPr>
                      <a:r>
                        <a:rPr lang="ja-JP" altLang="en-US" sz="2200" b="1" dirty="0">
                          <a:solidFill>
                            <a:srgbClr val="1F2A5C"/>
                          </a:solidFill>
                          <a:latin typeface="メイリオ" panose="020B0604030504040204" pitchFamily="50" charset="-128"/>
                          <a:ea typeface="メイリオ" panose="020B0604030504040204" pitchFamily="50" charset="-128"/>
                          <a:cs typeface="メイリオ"/>
                        </a:rPr>
                        <a:t>約8倍</a:t>
                      </a:r>
                      <a:endParaRPr lang="ja-JP" altLang="en-US" sz="1300" dirty="0">
                        <a:latin typeface="メイリオ"/>
                        <a:ea typeface="メイリオ"/>
                        <a:cs typeface="メイリオ"/>
                      </a:endParaRPr>
                    </a:p>
                    <a:p>
                      <a:pPr algn="ctr">
                        <a:buNone/>
                      </a:pPr>
                      <a:r>
                        <a:rPr lang="ja-JP" altLang="en-US" sz="1100" b="0" dirty="0">
                          <a:solidFill>
                            <a:srgbClr val="333333"/>
                          </a:solidFill>
                          <a:latin typeface="メイリオ" panose="020B0604030504040204" pitchFamily="50" charset="-128"/>
                          <a:ea typeface="メイリオ" panose="020B0604030504040204" pitchFamily="50" charset="-128"/>
                          <a:cs typeface="メイリオ"/>
                        </a:rPr>
                        <a:t>資料請求のCV率（メール比）</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次回セミナーの案内を、LINEで届ける</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1188720">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生命保険会社</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営業職員経由で、お客様にLINEの友だち追加を案内</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ctr">
                        <a:buNone/>
                      </a:pPr>
                      <a:r>
                        <a:rPr lang="ja-JP" altLang="en-US" sz="2200" b="1" dirty="0">
                          <a:solidFill>
                            <a:srgbClr val="1F2A5C"/>
                          </a:solidFill>
                          <a:latin typeface="メイリオ" panose="020B0604030504040204" pitchFamily="50" charset="-128"/>
                          <a:ea typeface="メイリオ" panose="020B0604030504040204" pitchFamily="50" charset="-128"/>
                          <a:cs typeface="メイリオ"/>
                        </a:rPr>
                        <a:t>5.2%</a:t>
                      </a:r>
                      <a:endParaRPr lang="ja-JP" altLang="en-US" sz="1300" dirty="0">
                        <a:latin typeface="メイリオ"/>
                        <a:ea typeface="メイリオ"/>
                        <a:cs typeface="メイリオ"/>
                      </a:endParaRPr>
                    </a:p>
                    <a:p>
                      <a:pPr algn="ctr">
                        <a:buNone/>
                      </a:pPr>
                      <a:r>
                        <a:rPr lang="ja-JP" altLang="en-US" sz="1100" b="0" dirty="0">
                          <a:solidFill>
                            <a:srgbClr val="333333"/>
                          </a:solidFill>
                          <a:latin typeface="メイリオ" panose="020B0604030504040204" pitchFamily="50" charset="-128"/>
                          <a:ea typeface="メイリオ" panose="020B0604030504040204" pitchFamily="50" charset="-128"/>
                          <a:cs typeface="メイリオ"/>
                        </a:rPr>
                        <a:t>営業職員経由の友だちのブロック率（自然に友だちになった方は74.9%）</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接点のある方を友だちにし、</a:t>
                      </a:r>
                      <a:endParaRPr lang="en-US" altLang="ja-JP" sz="1300" b="1" dirty="0">
                        <a:solidFill>
                          <a:srgbClr val="1F2A5C"/>
                        </a:solidFill>
                        <a:latin typeface="メイリオ" panose="020B0604030504040204" pitchFamily="50" charset="-128"/>
                        <a:ea typeface="メイリオ" panose="020B0604030504040204" pitchFamily="50" charset="-128"/>
                        <a:cs typeface="メイリオ"/>
                      </a:endParaRPr>
                    </a:p>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配信を届け続ける</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extLst>
                  <a:ext uri="{0D108BD9-81ED-4DB2-BD59-A6C34878D82A}">
                    <a16:rowId xmlns:a16="http://schemas.microsoft.com/office/drawing/2014/main" val="10002"/>
                  </a:ext>
                </a:extLst>
              </a:tr>
              <a:tr h="1097280">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教室・スクール</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見学会（イベント）の案内をLINEで配信</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a:buNone/>
                      </a:pPr>
                      <a:r>
                        <a:rPr lang="ja-JP" altLang="en-US" sz="2200" b="1" dirty="0">
                          <a:solidFill>
                            <a:srgbClr val="1F2A5C"/>
                          </a:solidFill>
                          <a:latin typeface="メイリオ" panose="020B0604030504040204" pitchFamily="50" charset="-128"/>
                          <a:ea typeface="メイリオ" panose="020B0604030504040204" pitchFamily="50" charset="-128"/>
                          <a:cs typeface="メイリオ"/>
                        </a:rPr>
                        <a:t>約7割</a:t>
                      </a:r>
                      <a:endParaRPr lang="ja-JP" altLang="en-US" sz="1300" dirty="0">
                        <a:latin typeface="メイリオ"/>
                        <a:ea typeface="メイリオ"/>
                        <a:cs typeface="メイリオ"/>
                      </a:endParaRPr>
                    </a:p>
                    <a:p>
                      <a:pPr algn="ctr">
                        <a:buNone/>
                      </a:pPr>
                      <a:r>
                        <a:rPr lang="ja-JP" altLang="en-US" sz="1100" b="0" dirty="0">
                          <a:solidFill>
                            <a:srgbClr val="333333"/>
                          </a:solidFill>
                          <a:latin typeface="メイリオ" panose="020B0604030504040204" pitchFamily="50" charset="-128"/>
                          <a:ea typeface="メイリオ" panose="020B0604030504040204" pitchFamily="50" charset="-128"/>
                          <a:cs typeface="メイリオ"/>
                        </a:rPr>
                        <a:t>見学会の参加者の入会率</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セミナー参加後に、サロンの</a:t>
                      </a:r>
                      <a:endParaRPr lang="en-US" altLang="ja-JP" sz="1300" b="1" dirty="0">
                        <a:solidFill>
                          <a:srgbClr val="1F2A5C"/>
                        </a:solidFill>
                        <a:latin typeface="メイリオ" panose="020B0604030504040204" pitchFamily="50" charset="-128"/>
                        <a:ea typeface="メイリオ" panose="020B0604030504040204" pitchFamily="50" charset="-128"/>
                        <a:cs typeface="メイリオ"/>
                      </a:endParaRPr>
                    </a:p>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入会を案内する</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10" name="注記"/>
          <p:cNvSpPr/>
          <p:nvPr/>
        </p:nvSpPr>
        <p:spPr>
          <a:xfrm>
            <a:off x="420624" y="5852160"/>
            <a:ext cx="9052560" cy="228600"/>
          </a:xfrm>
          <a:prstGeom prst="rect">
            <a:avLst/>
          </a:prstGeom>
          <a:noFill/>
          <a:ln>
            <a:noFill/>
          </a:ln>
        </p:spPr>
        <p:txBody>
          <a:bodyPr wrap="square" lIns="0" tIns="0" rIns="0" bIns="0" rtlCol="0" anchor="t">
            <a:noAutofit/>
          </a:bodyPr>
          <a:lstStyle/>
          <a:p>
            <a:pPr algn="l">
              <a:buNone/>
            </a:pPr>
            <a:r>
              <a:rPr lang="ja-JP" altLang="en-US" sz="900" b="0" dirty="0">
                <a:solidFill>
                  <a:srgbClr val="7F7F7F"/>
                </a:solidFill>
                <a:latin typeface="メイリオ" panose="020B0604030504040204" pitchFamily="50" charset="-128"/>
                <a:ea typeface="メイリオ" panose="020B0604030504040204" pitchFamily="50" charset="-128"/>
                <a:cs typeface="メイリオ"/>
              </a:rPr>
              <a:t>※LINEヤフー for Business 掲載の導入事例（数値は各社調べ）。生命保険会社＝2024年4月・2025年2月公開、教室・スクール＝2021年8月公開</a:t>
            </a:r>
            <a:endParaRPr lang="ja-JP" altLang="en-US" sz="1200" dirty="0">
              <a:latin typeface="メイリオ"/>
              <a:ea typeface="メイリオ"/>
              <a:cs typeface="メイリオ"/>
            </a:endParaRPr>
          </a:p>
        </p:txBody>
      </p:sp>
    </p:spTree>
    <p:extLst>
      <p:ext uri="{BB962C8B-B14F-4D97-AF65-F5344CB8AC3E}">
        <p14:creationId xmlns:p14="http://schemas.microsoft.com/office/powerpoint/2010/main" val="215579828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48C43D-93AD-C213-ED4C-7741F0FE507D}"/>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E72800AA-EBD7-DB78-DF5E-877E18C2F2D7}"/>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資料アジェンダ</a:t>
            </a:r>
          </a:p>
        </p:txBody>
      </p:sp>
      <p:sp>
        <p:nvSpPr>
          <p:cNvPr id="2" name="正方形/長方形 1">
            <a:extLst>
              <a:ext uri="{FF2B5EF4-FFF2-40B4-BE49-F238E27FC236}">
                <a16:creationId xmlns:a16="http://schemas.microsoft.com/office/drawing/2014/main" id="{10683329-D426-0C34-21A1-BB46AEF49EBC}"/>
              </a:ext>
            </a:extLst>
          </p:cNvPr>
          <p:cNvSpPr/>
          <p:nvPr/>
        </p:nvSpPr>
        <p:spPr>
          <a:xfrm>
            <a:off x="841248" y="3038203"/>
            <a:ext cx="8229600" cy="584775"/>
          </a:xfrm>
          <a:prstGeom prst="rect">
            <a:avLst/>
          </a:prstGeom>
        </p:spPr>
        <p:txBody>
          <a:bodyPr wrap="none">
            <a:spAutoFit/>
          </a:bodyPr>
          <a:lstStyle/>
          <a:p>
            <a:pPr algn="ct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運用方針・全体導線</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32060173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082CEA-3068-C260-29FA-52D10FA7F467}"/>
            </a:ext>
          </a:extLst>
        </p:cNvPr>
        <p:cNvGrpSpPr/>
        <p:nvPr/>
      </p:nvGrpSpPr>
      <p:grpSpPr>
        <a:xfrm>
          <a:off x="0" y="0"/>
          <a:ext cx="0" cy="0"/>
          <a:chOff x="0" y="0"/>
          <a:chExt cx="0" cy="0"/>
        </a:xfrm>
      </p:grpSpPr>
      <p:sp>
        <p:nvSpPr>
          <p:cNvPr id="45" name="Google Shape;156;p7">
            <a:extLst>
              <a:ext uri="{FF2B5EF4-FFF2-40B4-BE49-F238E27FC236}">
                <a16:creationId xmlns:a16="http://schemas.microsoft.com/office/drawing/2014/main" id="{8B2265A6-2819-27E8-AA87-ACBFF2D49AD0}"/>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要件定義</a:t>
            </a:r>
            <a:endParaRPr sz="1600" b="1" dirty="0">
              <a:solidFill>
                <a:srgbClr val="002060"/>
              </a:solidFill>
              <a:latin typeface="メイリオ"/>
              <a:ea typeface="メイリオ"/>
              <a:cs typeface="メイリオ"/>
              <a:sym typeface="Meiryo"/>
            </a:endParaRPr>
          </a:p>
        </p:txBody>
      </p:sp>
      <p:graphicFrame>
        <p:nvGraphicFramePr>
          <p:cNvPr id="46" name="要件定義 45"/>
          <p:cNvGraphicFramePr>
            <a:graphicFrameLocks noGrp="1"/>
          </p:cNvGraphicFramePr>
          <p:nvPr>
            <p:extLst>
              <p:ext uri="{D42A27DB-BD31-4B8C-83A1-F6EECF244321}">
                <p14:modId xmlns:p14="http://schemas.microsoft.com/office/powerpoint/2010/main" val="4270878370"/>
              </p:ext>
            </p:extLst>
          </p:nvPr>
        </p:nvGraphicFramePr>
        <p:xfrm>
          <a:off x="420624" y="1082040"/>
          <a:ext cx="9052560" cy="4434840"/>
        </p:xfrm>
        <a:graphic>
          <a:graphicData uri="http://schemas.openxmlformats.org/drawingml/2006/table">
            <a:tbl>
              <a:tblPr/>
              <a:tblGrid>
                <a:gridCol w="2011680">
                  <a:extLst>
                    <a:ext uri="{9D8B030D-6E8A-4147-A177-3AD203B41FA5}">
                      <a16:colId xmlns:a16="http://schemas.microsoft.com/office/drawing/2014/main" val="20000"/>
                    </a:ext>
                  </a:extLst>
                </a:gridCol>
                <a:gridCol w="7040880">
                  <a:extLst>
                    <a:ext uri="{9D8B030D-6E8A-4147-A177-3AD203B41FA5}">
                      <a16:colId xmlns:a16="http://schemas.microsoft.com/office/drawing/2014/main" val="20001"/>
                    </a:ext>
                  </a:extLst>
                </a:gridCol>
              </a:tblGrid>
              <a:tr h="731520">
                <a:tc>
                  <a:txBody>
                    <a:bodyPr/>
                    <a:lstStyle/>
                    <a:p>
                      <a:pPr algn="ctr">
                        <a:buNone/>
                      </a:pPr>
                      <a:r>
                        <a:rPr lang="ja-JP" altLang="en-US" sz="1400" b="1" dirty="0">
                          <a:solidFill>
                            <a:srgbClr val="1F2A5C"/>
                          </a:solidFill>
                          <a:latin typeface="メイリオ" panose="020B0604030504040204" pitchFamily="50" charset="-128"/>
                          <a:ea typeface="メイリオ" panose="020B0604030504040204" pitchFamily="50" charset="-128"/>
                          <a:cs typeface="メイリオ"/>
                        </a:rPr>
                        <a:t>プロモーション目的</a:t>
                      </a:r>
                      <a:endParaRPr lang="ja-JP" altLang="en-US" sz="14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400" b="1" dirty="0">
                          <a:solidFill>
                            <a:srgbClr val="1F2A5C"/>
                          </a:solidFill>
                          <a:latin typeface="メイリオ" panose="020B0604030504040204" pitchFamily="50" charset="-128"/>
                          <a:ea typeface="メイリオ" panose="020B0604030504040204" pitchFamily="50" charset="-128"/>
                          <a:cs typeface="メイリオ"/>
                        </a:rPr>
                        <a:t>広告で獲得した見込み客をLINE公式アカウントに蓄積し、継続的な情報配信で、</a:t>
                      </a:r>
                      <a:endParaRPr lang="en-US" altLang="ja-JP" sz="1400" b="1" dirty="0">
                        <a:solidFill>
                          <a:srgbClr val="1F2A5C"/>
                        </a:solidFill>
                        <a:latin typeface="メイリオ" panose="020B0604030504040204" pitchFamily="50" charset="-128"/>
                        <a:ea typeface="メイリオ" panose="020B0604030504040204" pitchFamily="50" charset="-128"/>
                        <a:cs typeface="メイリオ"/>
                      </a:endParaRPr>
                    </a:p>
                    <a:p>
                      <a:pPr algn="l">
                        <a:buNone/>
                      </a:pPr>
                      <a:r>
                        <a:rPr lang="ja-JP" altLang="en-US" sz="1400" b="1" dirty="0">
                          <a:solidFill>
                            <a:srgbClr val="1F2A5C"/>
                          </a:solidFill>
                          <a:latin typeface="メイリオ" panose="020B0604030504040204" pitchFamily="50" charset="-128"/>
                          <a:ea typeface="メイリオ" panose="020B0604030504040204" pitchFamily="50" charset="-128"/>
                          <a:cs typeface="メイリオ"/>
                        </a:rPr>
                        <a:t>次回セミナーへの参加とオンラインサロンへの入会を増やす</a:t>
                      </a:r>
                      <a:endParaRPr lang="ja-JP" altLang="en-US" sz="14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411480">
                <a:tc>
                  <a:txBody>
                    <a:bodyPr/>
                    <a:lstStyle/>
                    <a:p>
                      <a:pPr algn="ctr">
                        <a:buNone/>
                      </a:pPr>
                      <a:r>
                        <a:rPr lang="ja-JP" altLang="en-US" sz="1400" b="1" dirty="0">
                          <a:solidFill>
                            <a:srgbClr val="1F2A5C"/>
                          </a:solidFill>
                          <a:latin typeface="メイリオ" panose="020B0604030504040204" pitchFamily="50" charset="-128"/>
                          <a:ea typeface="メイリオ" panose="020B0604030504040204" pitchFamily="50" charset="-128"/>
                          <a:cs typeface="メイリオ"/>
                        </a:rPr>
                        <a:t>中長期の目的</a:t>
                      </a:r>
                      <a:endParaRPr lang="ja-JP" altLang="en-US" sz="14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400" b="0" dirty="0">
                          <a:solidFill>
                            <a:srgbClr val="333333"/>
                          </a:solidFill>
                          <a:latin typeface="メイリオ" panose="020B0604030504040204" pitchFamily="50" charset="-128"/>
                          <a:ea typeface="メイリオ" panose="020B0604030504040204" pitchFamily="50" charset="-128"/>
                          <a:cs typeface="メイリオ"/>
                        </a:rPr>
                        <a:t>入会後の継続利用・紹介にもLINEを活用し、LTV最大化をめざす</a:t>
                      </a:r>
                      <a:endParaRPr lang="ja-JP" altLang="en-US" sz="14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extLst>
                  <a:ext uri="{0D108BD9-81ED-4DB2-BD59-A6C34878D82A}">
                    <a16:rowId xmlns:a16="http://schemas.microsoft.com/office/drawing/2014/main" val="10001"/>
                  </a:ext>
                </a:extLst>
              </a:tr>
              <a:tr h="411480">
                <a:tc>
                  <a:txBody>
                    <a:bodyPr/>
                    <a:lstStyle/>
                    <a:p>
                      <a:pPr algn="ctr">
                        <a:buNone/>
                      </a:pPr>
                      <a:r>
                        <a:rPr lang="ja-JP" altLang="en-US" sz="1400" b="1" dirty="0">
                          <a:solidFill>
                            <a:srgbClr val="1F2A5C"/>
                          </a:solidFill>
                          <a:latin typeface="メイリオ" panose="020B0604030504040204" pitchFamily="50" charset="-128"/>
                          <a:ea typeface="メイリオ" panose="020B0604030504040204" pitchFamily="50" charset="-128"/>
                          <a:cs typeface="メイリオ"/>
                        </a:rPr>
                        <a:t>契約期間</a:t>
                      </a:r>
                      <a:endParaRPr lang="ja-JP" altLang="en-US" sz="14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400" b="0" dirty="0">
                          <a:solidFill>
                            <a:srgbClr val="333333"/>
                          </a:solidFill>
                          <a:latin typeface="メイリオ" panose="020B0604030504040204" pitchFamily="50" charset="-128"/>
                          <a:ea typeface="メイリオ" panose="020B0604030504040204" pitchFamily="50" charset="-128"/>
                          <a:cs typeface="メイリオ"/>
                        </a:rPr>
                        <a:t>6か月（平常期とセミナー開催月で、配信内容と工数が変わる）</a:t>
                      </a:r>
                      <a:endParaRPr lang="ja-JP" altLang="en-US" sz="14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685800">
                <a:tc>
                  <a:txBody>
                    <a:bodyPr/>
                    <a:lstStyle/>
                    <a:p>
                      <a:pPr algn="ctr">
                        <a:buNone/>
                      </a:pPr>
                      <a:r>
                        <a:rPr lang="ja-JP" altLang="en-US" sz="1400" b="1" dirty="0">
                          <a:solidFill>
                            <a:srgbClr val="1F2A5C"/>
                          </a:solidFill>
                          <a:latin typeface="メイリオ" panose="020B0604030504040204" pitchFamily="50" charset="-128"/>
                          <a:ea typeface="メイリオ" panose="020B0604030504040204" pitchFamily="50" charset="-128"/>
                          <a:cs typeface="メイリオ"/>
                        </a:rPr>
                        <a:t>配信目標</a:t>
                      </a:r>
                      <a:endParaRPr lang="ja-JP" altLang="en-US" sz="14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400" b="0" dirty="0">
                          <a:solidFill>
                            <a:srgbClr val="333333"/>
                          </a:solidFill>
                          <a:latin typeface="メイリオ" panose="020B0604030504040204" pitchFamily="50" charset="-128"/>
                          <a:ea typeface="メイリオ" panose="020B0604030504040204" pitchFamily="50" charset="-128"/>
                          <a:cs typeface="メイリオ"/>
                        </a:rPr>
                        <a:t>友だちを増やし、ブロック率を抑えながら、セミナー参加・サロン入会につなげる</a:t>
                      </a:r>
                      <a:endParaRPr lang="ja-JP" altLang="en-US" sz="1300" dirty="0">
                        <a:latin typeface="メイリオ"/>
                        <a:ea typeface="メイリオ"/>
                        <a:cs typeface="メイリオ"/>
                      </a:endParaRPr>
                    </a:p>
                    <a:p>
                      <a:pPr algn="l">
                        <a:buNone/>
                      </a:pPr>
                      <a:r>
                        <a:rPr lang="ja-JP" altLang="en-US" sz="1400" b="0" dirty="0">
                          <a:solidFill>
                            <a:srgbClr val="333333"/>
                          </a:solidFill>
                          <a:latin typeface="メイリオ" panose="020B0604030504040204" pitchFamily="50" charset="-128"/>
                          <a:ea typeface="メイリオ" panose="020B0604030504040204" pitchFamily="50" charset="-128"/>
                          <a:cs typeface="メイリオ"/>
                        </a:rPr>
                        <a:t>（6か月の想定は、概算お見積りに記載）</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extLst>
                  <a:ext uri="{0D108BD9-81ED-4DB2-BD59-A6C34878D82A}">
                    <a16:rowId xmlns:a16="http://schemas.microsoft.com/office/drawing/2014/main" val="10003"/>
                  </a:ext>
                </a:extLst>
              </a:tr>
              <a:tr h="1280160">
                <a:tc>
                  <a:txBody>
                    <a:bodyPr/>
                    <a:lstStyle/>
                    <a:p>
                      <a:pPr algn="ctr">
                        <a:buNone/>
                      </a:pPr>
                      <a:r>
                        <a:rPr lang="ja-JP" altLang="en-US" sz="1400" b="1" dirty="0">
                          <a:solidFill>
                            <a:srgbClr val="1F2A5C"/>
                          </a:solidFill>
                          <a:latin typeface="メイリオ" panose="020B0604030504040204" pitchFamily="50" charset="-128"/>
                          <a:ea typeface="メイリオ" panose="020B0604030504040204" pitchFamily="50" charset="-128"/>
                          <a:cs typeface="メイリオ"/>
                        </a:rPr>
                        <a:t>手法（ご提案）</a:t>
                      </a:r>
                      <a:endParaRPr lang="ja-JP" altLang="en-US" sz="14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400" b="0" dirty="0">
                          <a:solidFill>
                            <a:srgbClr val="333333"/>
                          </a:solidFill>
                          <a:latin typeface="メイリオ" panose="020B0604030504040204" pitchFamily="50" charset="-128"/>
                          <a:ea typeface="メイリオ" panose="020B0604030504040204" pitchFamily="50" charset="-128"/>
                          <a:cs typeface="メイリオ"/>
                        </a:rPr>
                        <a:t>① 離脱防止ポップアップ（推奨）で、LPを離れる方を対象に</a:t>
                      </a:r>
                      <a:endParaRPr lang="ja-JP" altLang="en-US" sz="1300" dirty="0">
                        <a:latin typeface="メイリオ"/>
                        <a:ea typeface="メイリオ"/>
                        <a:cs typeface="メイリオ"/>
                      </a:endParaRPr>
                    </a:p>
                    <a:p>
                      <a:pPr algn="l">
                        <a:buNone/>
                      </a:pPr>
                      <a:r>
                        <a:rPr lang="ja-JP" altLang="en-US" sz="1400" b="0" dirty="0">
                          <a:solidFill>
                            <a:srgbClr val="333333"/>
                          </a:solidFill>
                          <a:latin typeface="メイリオ" panose="020B0604030504040204" pitchFamily="50" charset="-128"/>
                          <a:ea typeface="メイリオ" panose="020B0604030504040204" pitchFamily="50" charset="-128"/>
                          <a:cs typeface="メイリオ"/>
                        </a:rPr>
                        <a:t>　 予約完了後は、サンクスLINE誘導（追加オプション）または通常のご案内</a:t>
                      </a:r>
                      <a:endParaRPr lang="ja-JP" altLang="en-US" sz="1300" dirty="0">
                        <a:latin typeface="メイリオ"/>
                        <a:ea typeface="メイリオ"/>
                        <a:cs typeface="メイリオ"/>
                      </a:endParaRPr>
                    </a:p>
                    <a:p>
                      <a:pPr algn="l">
                        <a:buNone/>
                      </a:pPr>
                      <a:r>
                        <a:rPr lang="ja-JP" altLang="en-US" sz="1400" b="0" dirty="0">
                          <a:solidFill>
                            <a:srgbClr val="333333"/>
                          </a:solidFill>
                          <a:latin typeface="メイリオ" panose="020B0604030504040204" pitchFamily="50" charset="-128"/>
                          <a:ea typeface="メイリオ" panose="020B0604030504040204" pitchFamily="50" charset="-128"/>
                          <a:cs typeface="メイリオ"/>
                        </a:rPr>
                        <a:t>② 友だち追加直後・予約した方・参加後の段階ごとで、案内を変える</a:t>
                      </a:r>
                      <a:endParaRPr lang="ja-JP" altLang="en-US" sz="1300" dirty="0">
                        <a:latin typeface="メイリオ"/>
                        <a:ea typeface="メイリオ"/>
                        <a:cs typeface="メイリオ"/>
                      </a:endParaRPr>
                    </a:p>
                    <a:p>
                      <a:pPr algn="l">
                        <a:buNone/>
                      </a:pPr>
                      <a:r>
                        <a:rPr lang="ja-JP" altLang="en-US" sz="1400" b="0" dirty="0">
                          <a:solidFill>
                            <a:srgbClr val="333333"/>
                          </a:solidFill>
                          <a:latin typeface="メイリオ" panose="020B0604030504040204" pitchFamily="50" charset="-128"/>
                          <a:ea typeface="メイリオ" panose="020B0604030504040204" pitchFamily="50" charset="-128"/>
                          <a:cs typeface="メイリオ"/>
                        </a:rPr>
                        <a:t>③ 平常期 月1〜2回、開催月 月4〜5回の企画配信で、つながりを保つ</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914400">
                <a:tc>
                  <a:txBody>
                    <a:bodyPr/>
                    <a:lstStyle/>
                    <a:p>
                      <a:pPr algn="ctr">
                        <a:buNone/>
                      </a:pPr>
                      <a:r>
                        <a:rPr lang="ja-JP" altLang="en-US" sz="1400" b="1" dirty="0">
                          <a:solidFill>
                            <a:srgbClr val="1F2A5C"/>
                          </a:solidFill>
                          <a:latin typeface="メイリオ" panose="020B0604030504040204" pitchFamily="50" charset="-128"/>
                          <a:ea typeface="メイリオ" panose="020B0604030504040204" pitchFamily="50" charset="-128"/>
                          <a:cs typeface="メイリオ"/>
                        </a:rPr>
                        <a:t>＋αの施策</a:t>
                      </a:r>
                      <a:endParaRPr lang="ja-JP" altLang="en-US" sz="14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400" b="0" dirty="0">
                          <a:solidFill>
                            <a:srgbClr val="333333"/>
                          </a:solidFill>
                          <a:latin typeface="メイリオ" panose="020B0604030504040204" pitchFamily="50" charset="-128"/>
                          <a:ea typeface="メイリオ" panose="020B0604030504040204" pitchFamily="50" charset="-128"/>
                          <a:cs typeface="メイリオ"/>
                        </a:rPr>
                        <a:t>過去のセミナー予約者・参加者へのご案内（通知メッセージ）</a:t>
                      </a:r>
                      <a:endParaRPr lang="ja-JP" altLang="en-US" sz="1300" dirty="0">
                        <a:latin typeface="メイリオ"/>
                        <a:ea typeface="メイリオ"/>
                        <a:cs typeface="メイリオ"/>
                      </a:endParaRPr>
                    </a:p>
                    <a:p>
                      <a:pPr algn="l">
                        <a:buNone/>
                      </a:pPr>
                      <a:r>
                        <a:rPr lang="ja-JP" altLang="en-US" sz="1400" b="0" dirty="0">
                          <a:solidFill>
                            <a:srgbClr val="333333"/>
                          </a:solidFill>
                          <a:latin typeface="メイリオ" panose="020B0604030504040204" pitchFamily="50" charset="-128"/>
                          <a:ea typeface="メイリオ" panose="020B0604030504040204" pitchFamily="50" charset="-128"/>
                          <a:cs typeface="メイリオ"/>
                        </a:rPr>
                        <a:t>サロンの申込み完了ページからのLINE誘導（サンクスLINE誘導）</a:t>
                      </a:r>
                      <a:endParaRPr lang="ja-JP" altLang="en-US" sz="1300" dirty="0">
                        <a:latin typeface="メイリオ"/>
                        <a:ea typeface="メイリオ"/>
                        <a:cs typeface="メイリオ"/>
                      </a:endParaRPr>
                    </a:p>
                    <a:p>
                      <a:pPr algn="l">
                        <a:buNone/>
                      </a:pPr>
                      <a:r>
                        <a:rPr lang="ja-JP" altLang="en-US" sz="1100" b="0" dirty="0">
                          <a:solidFill>
                            <a:srgbClr val="7F7F7F"/>
                          </a:solidFill>
                          <a:latin typeface="メイリオ" panose="020B0604030504040204" pitchFamily="50" charset="-128"/>
                          <a:ea typeface="メイリオ" panose="020B0604030504040204" pitchFamily="50" charset="-128"/>
                          <a:cs typeface="メイリオ"/>
                        </a:rPr>
                        <a:t>※通知メッセージは、予約時の電話番号がある場合</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313662023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7BE316-B5A0-8BF0-8055-8F5EB8BA81E4}"/>
            </a:ext>
          </a:extLst>
        </p:cNvPr>
        <p:cNvGrpSpPr/>
        <p:nvPr/>
      </p:nvGrpSpPr>
      <p:grpSpPr>
        <a:xfrm>
          <a:off x="0" y="0"/>
          <a:ext cx="0" cy="0"/>
          <a:chOff x="0" y="0"/>
          <a:chExt cx="0" cy="0"/>
        </a:xfrm>
      </p:grpSpPr>
      <p:sp>
        <p:nvSpPr>
          <p:cNvPr id="45" name="Google Shape;156;p7">
            <a:extLst>
              <a:ext uri="{FF2B5EF4-FFF2-40B4-BE49-F238E27FC236}">
                <a16:creationId xmlns:a16="http://schemas.microsoft.com/office/drawing/2014/main" id="{7D9E611B-4E41-7D55-FDAA-59D5455231E1}"/>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運用方針</a:t>
            </a:r>
            <a:endParaRPr sz="1600" b="1" dirty="0">
              <a:solidFill>
                <a:srgbClr val="002060"/>
              </a:solidFill>
              <a:latin typeface="メイリオ"/>
              <a:ea typeface="メイリオ"/>
              <a:cs typeface="メイリオ"/>
              <a:sym typeface="Meiryo"/>
            </a:endParaRPr>
          </a:p>
        </p:txBody>
      </p:sp>
      <p:sp>
        <p:nvSpPr>
          <p:cNvPr id="46" name="正方形/長方形 2">
            <a:extLst>
              <a:ext uri="{FF2B5EF4-FFF2-40B4-BE49-F238E27FC236}">
                <a16:creationId xmlns:a16="http://schemas.microsoft.com/office/drawing/2014/main" id="{31AFE6AB-F1DA-C6B7-D87F-3695F50AA578}"/>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7" name="正方形/長方形 3">
            <a:extLst>
              <a:ext uri="{FF2B5EF4-FFF2-40B4-BE49-F238E27FC236}">
                <a16:creationId xmlns:a16="http://schemas.microsoft.com/office/drawing/2014/main" id="{F8C7209A-302D-E575-6893-8AB70FAE1F89}"/>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cxnSp>
        <p:nvCxnSpPr>
          <p:cNvPr id="48" name="直線コネクタ 1">
            <a:extLst>
              <a:ext uri="{FF2B5EF4-FFF2-40B4-BE49-F238E27FC236}">
                <a16:creationId xmlns:a16="http://schemas.microsoft.com/office/drawing/2014/main" id="{075811D5-D863-CFCC-F7C2-B17B78E050E7}"/>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9" name="テキスト ボックス 8">
            <a:extLst>
              <a:ext uri="{FF2B5EF4-FFF2-40B4-BE49-F238E27FC236}">
                <a16:creationId xmlns:a16="http://schemas.microsoft.com/office/drawing/2014/main" id="{4C3DC3D4-7D19-11E4-6F8B-21449E92FE21}"/>
              </a:ext>
            </a:extLst>
          </p:cNvPr>
          <p:cNvSpPr txBox="1"/>
          <p:nvPr/>
        </p:nvSpPr>
        <p:spPr>
          <a:xfrm>
            <a:off x="181151" y="707743"/>
            <a:ext cx="9476706" cy="625812"/>
          </a:xfrm>
          <a:prstGeom prst="rect">
            <a:avLst/>
          </a:prstGeom>
          <a:noFill/>
        </p:spPr>
        <p:txBody>
          <a:bodyPr wrap="square">
            <a:spAutoFit/>
          </a:bodyPr>
          <a:lstStyle/>
          <a:p>
            <a:pPr marL="228600">
              <a:spcAft>
                <a:spcPts val="800"/>
              </a:spcAft>
              <a:buNone/>
            </a:pPr>
            <a:r>
              <a:rPr lang="ja-JP" altLang="ja-JP" sz="1400" dirty="0">
                <a:effectLst/>
                <a:latin typeface="メイリオ" panose="02020603050405020304" pitchFamily="18" charset="0"/>
                <a:ea typeface="メイリオ" panose="020B0604030504040204" pitchFamily="50" charset="-128"/>
                <a:cs typeface="メイリオ" panose="020B0604030504040204" pitchFamily="50" charset="-128"/>
              </a:rPr>
              <a:t>一度集めた見込み客を蓄積し、継続的にアプローチできる仕組みを強化する</a:t>
            </a:r>
            <a:endParaRPr lang="en-US" altLang="ja-JP" sz="1400" dirty="0">
              <a:effectLst/>
              <a:latin typeface="メイリオ" panose="02020603050405020304" pitchFamily="18" charset="0"/>
              <a:ea typeface="メイリオ" panose="020B0604030504040204" pitchFamily="50" charset="-128"/>
              <a:cs typeface="メイリオ" panose="020B0604030504040204" pitchFamily="50" charset="-128"/>
            </a:endParaRPr>
          </a:p>
        </p:txBody>
      </p:sp>
      <p:sp>
        <p:nvSpPr>
          <p:cNvPr id="50" name="KEY TAKEAWAY 見出し"/>
          <p:cNvSpPr/>
          <p:nvPr/>
        </p:nvSpPr>
        <p:spPr>
          <a:xfrm>
            <a:off x="420624" y="1600200"/>
            <a:ext cx="2103120" cy="310896"/>
          </a:xfrm>
          <a:prstGeom prst="rect">
            <a:avLst/>
          </a:prstGeom>
          <a:solidFill>
            <a:srgbClr val="1F2A5C"/>
          </a:solidFill>
          <a:ln>
            <a:noFill/>
          </a:ln>
        </p:spPr>
        <p:txBody>
          <a:bodyPr wrap="square" lIns="73152" tIns="36576" rIns="73152" bIns="36576" rtlCol="0" anchor="ctr">
            <a:noAutofit/>
          </a:bodyPr>
          <a:lstStyle/>
          <a:p>
            <a:pPr algn="ctr">
              <a:buNone/>
            </a:pPr>
            <a:r>
              <a:rPr lang="ja-JP" altLang="en-US" sz="1200" b="1" dirty="0">
                <a:solidFill>
                  <a:srgbClr val="FFFFFF"/>
                </a:solidFill>
                <a:latin typeface="メイリオ" panose="020B0604030504040204" pitchFamily="50" charset="-128"/>
                <a:ea typeface="メイリオ" panose="020B0604030504040204" pitchFamily="50" charset="-128"/>
                <a:cs typeface="メイリオ"/>
              </a:rPr>
              <a:t>KEY TAKEAWAY</a:t>
            </a:r>
            <a:endParaRPr lang="ja-JP" altLang="en-US" sz="1200" dirty="0">
              <a:latin typeface="メイリオ"/>
              <a:ea typeface="メイリオ"/>
              <a:cs typeface="メイリオ"/>
            </a:endParaRPr>
          </a:p>
        </p:txBody>
      </p:sp>
      <p:sp>
        <p:nvSpPr>
          <p:cNvPr id="51" name="KEY TAKEAWAY"/>
          <p:cNvSpPr/>
          <p:nvPr/>
        </p:nvSpPr>
        <p:spPr>
          <a:xfrm>
            <a:off x="420624" y="1911095"/>
            <a:ext cx="9120232" cy="731520"/>
          </a:xfrm>
          <a:prstGeom prst="rect">
            <a:avLst/>
          </a:prstGeom>
          <a:solidFill>
            <a:srgbClr val="EEF1F8"/>
          </a:solidFill>
          <a:ln w="9525">
            <a:solidFill>
              <a:srgbClr val="1F2A5C"/>
            </a:solidFill>
          </a:ln>
        </p:spPr>
        <p:txBody>
          <a:bodyPr wrap="square" lIns="73152" tIns="36576" rIns="73152" bIns="36576" rtlCol="0" anchor="ctr">
            <a:noAutofit/>
          </a:bodyPr>
          <a:lstStyle/>
          <a:p>
            <a:pPr algn="ctr">
              <a:buNone/>
            </a:pPr>
            <a:r>
              <a:rPr lang="ja-JP" altLang="en-US" sz="2000" b="1" dirty="0">
                <a:solidFill>
                  <a:srgbClr val="1F2A5C"/>
                </a:solidFill>
                <a:latin typeface="メイリオ" panose="020B0604030504040204" pitchFamily="50" charset="-128"/>
                <a:ea typeface="メイリオ" panose="020B0604030504040204" pitchFamily="50" charset="-128"/>
                <a:cs typeface="メイリオ"/>
              </a:rPr>
              <a:t>イベント開催時だけでない時期にも継続して情報を届ける</a:t>
            </a:r>
            <a:endParaRPr lang="ja-JP" altLang="en-US" sz="1200" dirty="0">
              <a:latin typeface="メイリオ"/>
              <a:ea typeface="メイリオ"/>
              <a:cs typeface="メイリオ"/>
            </a:endParaRPr>
          </a:p>
        </p:txBody>
      </p:sp>
      <p:graphicFrame>
        <p:nvGraphicFramePr>
          <p:cNvPr id="52" name="3つのポイント 51"/>
          <p:cNvGraphicFramePr>
            <a:graphicFrameLocks noGrp="1"/>
          </p:cNvGraphicFramePr>
          <p:nvPr>
            <p:extLst>
              <p:ext uri="{D42A27DB-BD31-4B8C-83A1-F6EECF244321}">
                <p14:modId xmlns:p14="http://schemas.microsoft.com/office/powerpoint/2010/main" val="2678730967"/>
              </p:ext>
            </p:extLst>
          </p:nvPr>
        </p:nvGraphicFramePr>
        <p:xfrm>
          <a:off x="420623" y="2926080"/>
          <a:ext cx="9120233" cy="2834640"/>
        </p:xfrm>
        <a:graphic>
          <a:graphicData uri="http://schemas.openxmlformats.org/drawingml/2006/table">
            <a:tbl>
              <a:tblPr/>
              <a:tblGrid>
                <a:gridCol w="1566101">
                  <a:extLst>
                    <a:ext uri="{9D8B030D-6E8A-4147-A177-3AD203B41FA5}">
                      <a16:colId xmlns:a16="http://schemas.microsoft.com/office/drawing/2014/main" val="20000"/>
                    </a:ext>
                  </a:extLst>
                </a:gridCol>
                <a:gridCol w="2487336">
                  <a:extLst>
                    <a:ext uri="{9D8B030D-6E8A-4147-A177-3AD203B41FA5}">
                      <a16:colId xmlns:a16="http://schemas.microsoft.com/office/drawing/2014/main" val="20001"/>
                    </a:ext>
                  </a:extLst>
                </a:gridCol>
                <a:gridCol w="3869190">
                  <a:extLst>
                    <a:ext uri="{9D8B030D-6E8A-4147-A177-3AD203B41FA5}">
                      <a16:colId xmlns:a16="http://schemas.microsoft.com/office/drawing/2014/main" val="20002"/>
                    </a:ext>
                  </a:extLst>
                </a:gridCol>
                <a:gridCol w="1197606">
                  <a:extLst>
                    <a:ext uri="{9D8B030D-6E8A-4147-A177-3AD203B41FA5}">
                      <a16:colId xmlns:a16="http://schemas.microsoft.com/office/drawing/2014/main" val="20003"/>
                    </a:ext>
                  </a:extLst>
                </a:gridCol>
              </a:tblGrid>
              <a:tr h="365760">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段階</a:t>
                      </a:r>
                      <a:endParaRPr lang="ja-JP" altLang="en-US" sz="1300" dirty="0">
                        <a:latin typeface="メイリオ"/>
                        <a:ea typeface="メイリオ"/>
                        <a:cs typeface="メイリオ"/>
                      </a:endParaRPr>
                    </a:p>
                  </a:txBody>
                  <a:tcPr marL="109728"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強化するポイント</a:t>
                      </a:r>
                      <a:endParaRPr lang="ja-JP" altLang="en-US" sz="1300" dirty="0">
                        <a:latin typeface="メイリオ"/>
                        <a:ea typeface="メイリオ"/>
                        <a:cs typeface="メイリオ"/>
                      </a:endParaRPr>
                    </a:p>
                  </a:txBody>
                  <a:tcPr marL="109728"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打ち手</a:t>
                      </a:r>
                      <a:endParaRPr lang="ja-JP" altLang="en-US" sz="1300" dirty="0">
                        <a:latin typeface="メイリオ"/>
                        <a:ea typeface="メイリオ"/>
                        <a:cs typeface="メイリオ"/>
                      </a:endParaRPr>
                    </a:p>
                  </a:txBody>
                  <a:tcPr marL="109728"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伸ばす数字</a:t>
                      </a:r>
                      <a:endParaRPr lang="ja-JP" altLang="en-US" sz="1300" dirty="0">
                        <a:latin typeface="メイリオ"/>
                        <a:ea typeface="メイリオ"/>
                        <a:cs typeface="メイリオ"/>
                      </a:endParaRPr>
                    </a:p>
                  </a:txBody>
                  <a:tcPr marL="109728"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extLst>
                  <a:ext uri="{0D108BD9-81ED-4DB2-BD59-A6C34878D82A}">
                    <a16:rowId xmlns:a16="http://schemas.microsoft.com/office/drawing/2014/main" val="10000"/>
                  </a:ext>
                </a:extLst>
              </a:tr>
              <a:tr h="822960">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01 集める</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LPを見た方・予約した方と、LINEでつながる</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・離脱防止ポップアップで友だちに</a:t>
                      </a:r>
                      <a:endParaRPr lang="ja-JP" altLang="en-US" sz="1300" dirty="0">
                        <a:latin typeface="メイリオ"/>
                        <a:ea typeface="メイリオ"/>
                        <a:cs typeface="メイリオ"/>
                      </a:endParaRPr>
                    </a:p>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・予約者はサンクスLINE誘導</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友だち数</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822960">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02 届け続ける</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平常期・開催月それぞれの</a:t>
                      </a:r>
                      <a:endParaRPr lang="en-US" altLang="ja-JP" sz="1300" b="0" dirty="0">
                        <a:solidFill>
                          <a:srgbClr val="333333"/>
                        </a:solidFill>
                        <a:latin typeface="メイリオ" panose="020B0604030504040204" pitchFamily="50" charset="-128"/>
                        <a:ea typeface="メイリオ" panose="020B0604030504040204" pitchFamily="50" charset="-128"/>
                        <a:cs typeface="メイリオ"/>
                      </a:endParaRPr>
                    </a:p>
                    <a:p>
                      <a:pPr algn="l">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時期に合わせて届ける</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・企画配信：平常期 月1〜2回／開催月 月4〜5回</a:t>
                      </a:r>
                      <a:endParaRPr lang="ja-JP" altLang="en-US" sz="1300" dirty="0">
                        <a:latin typeface="メイリオ"/>
                        <a:ea typeface="メイリオ"/>
                        <a:cs typeface="メイリオ"/>
                      </a:endParaRPr>
                    </a:p>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・予約した方へ、前日・当日のリマインド</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ctr">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予約・参加数</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extLst>
                  <a:ext uri="{0D108BD9-81ED-4DB2-BD59-A6C34878D82A}">
                    <a16:rowId xmlns:a16="http://schemas.microsoft.com/office/drawing/2014/main" val="10002"/>
                  </a:ext>
                </a:extLst>
              </a:tr>
              <a:tr h="822960">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03 つなげる</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参加後、関心が高いうちに</a:t>
                      </a:r>
                      <a:endParaRPr lang="en-US" altLang="ja-JP" sz="1300" b="0" dirty="0">
                        <a:solidFill>
                          <a:srgbClr val="333333"/>
                        </a:solidFill>
                        <a:latin typeface="メイリオ" panose="020B0604030504040204" pitchFamily="50" charset="-128"/>
                        <a:ea typeface="メイリオ" panose="020B0604030504040204" pitchFamily="50" charset="-128"/>
                        <a:cs typeface="メイリオ"/>
                      </a:endParaRPr>
                    </a:p>
                    <a:p>
                      <a:pPr algn="l">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サロン入会を案内する</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・参加後に、振り返りとサロンの内容をご案内</a:t>
                      </a:r>
                      <a:endParaRPr lang="ja-JP" altLang="en-US" sz="1300" dirty="0">
                        <a:latin typeface="メイリオ"/>
                        <a:ea typeface="メイリオ"/>
                        <a:cs typeface="メイリオ"/>
                      </a:endParaRPr>
                    </a:p>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・受講生の声で、入会の判断材料を届ける</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入会数</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257295557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Google Shape;156;p7">
            <a:extLst>
              <a:ext uri="{FF2B5EF4-FFF2-40B4-BE49-F238E27FC236}">
                <a16:creationId xmlns:a16="http://schemas.microsoft.com/office/drawing/2014/main" id="{73A3A993-1ECB-4CB5-EF51-73494E022DA2}"/>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全体導線：広告で集め、LINEで育て、セミナー参加・サロン入会へ</a:t>
            </a:r>
            <a:endParaRPr sz="1600" b="1" dirty="0">
              <a:solidFill>
                <a:srgbClr val="002060"/>
              </a:solidFill>
              <a:latin typeface="メイリオ"/>
              <a:ea typeface="メイリオ"/>
              <a:cs typeface="メイリオ"/>
              <a:sym typeface="Meiryo"/>
            </a:endParaRPr>
          </a:p>
        </p:txBody>
      </p:sp>
      <p:sp>
        <p:nvSpPr>
          <p:cNvPr id="46" name="正方形/長方形 2">
            <a:extLst>
              <a:ext uri="{FF2B5EF4-FFF2-40B4-BE49-F238E27FC236}">
                <a16:creationId xmlns:a16="http://schemas.microsoft.com/office/drawing/2014/main" id="{31AFE6AB-F1DA-C6B7-D87F-3695F50AA578}"/>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7" name="正方形/長方形 3">
            <a:extLst>
              <a:ext uri="{FF2B5EF4-FFF2-40B4-BE49-F238E27FC236}">
                <a16:creationId xmlns:a16="http://schemas.microsoft.com/office/drawing/2014/main" id="{F8C7209A-302D-E575-6893-8AB70FAE1F89}"/>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cxnSp>
        <p:nvCxnSpPr>
          <p:cNvPr id="48" name="直線コネクタ 1">
            <a:extLst>
              <a:ext uri="{FF2B5EF4-FFF2-40B4-BE49-F238E27FC236}">
                <a16:creationId xmlns:a16="http://schemas.microsoft.com/office/drawing/2014/main" id="{075811D5-D863-CFCC-F7C2-B17B78E050E7}"/>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9" name="テキスト ボックス 8">
            <a:extLst>
              <a:ext uri="{FF2B5EF4-FFF2-40B4-BE49-F238E27FC236}">
                <a16:creationId xmlns:a16="http://schemas.microsoft.com/office/drawing/2014/main" id="{4C3DC3D4-7D19-11E4-6F8B-21449E92FE21}"/>
              </a:ext>
            </a:extLst>
          </p:cNvPr>
          <p:cNvSpPr txBox="1"/>
          <p:nvPr/>
        </p:nvSpPr>
        <p:spPr>
          <a:xfrm>
            <a:off x="181151" y="707743"/>
            <a:ext cx="9476706" cy="625812"/>
          </a:xfrm>
          <a:prstGeom prst="rect">
            <a:avLst/>
          </a:prstGeom>
          <a:noFill/>
        </p:spPr>
        <p:txBody>
          <a:bodyPr wrap="square">
            <a:spAutoFit/>
          </a:bodyPr>
          <a:lstStyle/>
          <a:p>
            <a:pPr marL="228600">
              <a:spcAft>
                <a:spcPts val="800"/>
              </a:spcAft>
              <a:buNone/>
            </a:pPr>
            <a:r>
              <a:rPr lang="ja-JP" altLang="ja-JP" sz="1400" dirty="0">
                <a:effectLst/>
                <a:latin typeface="メイリオ" panose="02020603050405020304" pitchFamily="18" charset="0"/>
                <a:ea typeface="メイリオ" panose="020B0604030504040204" pitchFamily="50" charset="-128"/>
                <a:cs typeface="メイリオ" panose="020B0604030504040204" pitchFamily="50" charset="-128"/>
              </a:rPr>
              <a:t>広告による新規集客と、LINEによる継続的な顧客育成を組み合わせる</a:t>
            </a:r>
            <a:endParaRPr lang="en-US" altLang="ja-JP" sz="1400" dirty="0">
              <a:effectLst/>
              <a:latin typeface="メイリオ" panose="02020603050405020304" pitchFamily="18" charset="0"/>
              <a:ea typeface="メイリオ" panose="020B0604030504040204" pitchFamily="50" charset="-128"/>
              <a:cs typeface="メイリオ" panose="020B0604030504040204" pitchFamily="50" charset="-128"/>
            </a:endParaRPr>
          </a:p>
        </p:txBody>
      </p:sp>
      <p:sp>
        <p:nvSpPr>
          <p:cNvPr id="50" name="広告の領域"/>
          <p:cNvSpPr/>
          <p:nvPr/>
        </p:nvSpPr>
        <p:spPr>
          <a:xfrm>
            <a:off x="420624" y="1645920"/>
            <a:ext cx="2871215" cy="310896"/>
          </a:xfrm>
          <a:prstGeom prst="rect">
            <a:avLst/>
          </a:prstGeom>
          <a:solidFill>
            <a:srgbClr val="1F2A5C"/>
          </a:solidFill>
          <a:ln>
            <a:noFill/>
          </a:ln>
        </p:spPr>
        <p:txBody>
          <a:bodyPr wrap="square" lIns="73152" tIns="36576" rIns="73152" bIns="36576" rtlCol="0" anchor="ctr">
            <a:noAutofit/>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広告（新規集客）</a:t>
            </a:r>
            <a:endParaRPr lang="ja-JP" altLang="en-US" sz="1200" dirty="0">
              <a:latin typeface="メイリオ"/>
              <a:ea typeface="メイリオ"/>
              <a:cs typeface="メイリオ"/>
            </a:endParaRPr>
          </a:p>
        </p:txBody>
      </p:sp>
      <p:sp>
        <p:nvSpPr>
          <p:cNvPr id="51" name="LINEの領域"/>
          <p:cNvSpPr/>
          <p:nvPr/>
        </p:nvSpPr>
        <p:spPr>
          <a:xfrm>
            <a:off x="3511296" y="1645920"/>
            <a:ext cx="5961888" cy="310896"/>
          </a:xfrm>
          <a:prstGeom prst="rect">
            <a:avLst/>
          </a:prstGeom>
          <a:solidFill>
            <a:srgbClr val="06C755"/>
          </a:solidFill>
          <a:ln>
            <a:noFill/>
          </a:ln>
        </p:spPr>
        <p:txBody>
          <a:bodyPr wrap="square" lIns="73152" tIns="36576" rIns="73152" bIns="36576" rtlCol="0" anchor="ctr">
            <a:noAutofit/>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LINE公式アカウント（継続的な顧客育成）</a:t>
            </a:r>
            <a:endParaRPr lang="ja-JP" altLang="en-US" sz="1200" dirty="0">
              <a:latin typeface="メイリオ"/>
              <a:ea typeface="メイリオ"/>
              <a:cs typeface="メイリオ"/>
            </a:endParaRPr>
          </a:p>
        </p:txBody>
      </p:sp>
      <p:sp>
        <p:nvSpPr>
          <p:cNvPr id="52" name="導線 広告"/>
          <p:cNvSpPr/>
          <p:nvPr/>
        </p:nvSpPr>
        <p:spPr>
          <a:xfrm>
            <a:off x="420624" y="2057400"/>
            <a:ext cx="1325880" cy="685800"/>
          </a:xfrm>
          <a:prstGeom prst="rect">
            <a:avLst/>
          </a:prstGeom>
          <a:solidFill>
            <a:srgbClr val="1F2A5C"/>
          </a:solidFill>
          <a:ln>
            <a:noFill/>
          </a:ln>
        </p:spPr>
        <p:txBody>
          <a:bodyPr wrap="square" lIns="45720" tIns="27432" rIns="45720" bIns="27432" rtlCol="0" anchor="ctr">
            <a:noAutofit/>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広告</a:t>
            </a:r>
            <a:endParaRPr lang="ja-JP" altLang="en-US" sz="1200" dirty="0">
              <a:latin typeface="メイリオ"/>
              <a:ea typeface="メイリオ"/>
              <a:cs typeface="メイリオ"/>
            </a:endParaRPr>
          </a:p>
        </p:txBody>
      </p:sp>
      <p:sp>
        <p:nvSpPr>
          <p:cNvPr id="53" name="導線の説明 広告"/>
          <p:cNvSpPr/>
          <p:nvPr/>
        </p:nvSpPr>
        <p:spPr>
          <a:xfrm>
            <a:off x="420624" y="2834640"/>
            <a:ext cx="1325880" cy="1691640"/>
          </a:xfrm>
          <a:prstGeom prst="rect">
            <a:avLst/>
          </a:prstGeom>
          <a:solidFill>
            <a:srgbClr val="F5F7FA"/>
          </a:solidFill>
          <a:ln>
            <a:noFill/>
          </a:ln>
        </p:spPr>
        <p:txBody>
          <a:bodyPr wrap="square" lIns="73152" tIns="73152" rIns="73152" bIns="54864" rtlCol="0" anchor="t">
            <a:noAutofit/>
          </a:bodyPr>
          <a:lstStyle/>
          <a:p>
            <a:pPr algn="l">
              <a:lnSpc>
                <a:spcPct val="115000"/>
              </a:lnSpc>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広告などで、新しい見込み客と接点をつくる</a:t>
            </a:r>
            <a:endParaRPr lang="ja-JP" altLang="en-US" sz="1200" dirty="0">
              <a:latin typeface="メイリオ"/>
              <a:ea typeface="メイリオ"/>
              <a:cs typeface="メイリオ"/>
            </a:endParaRPr>
          </a:p>
        </p:txBody>
      </p:sp>
      <p:sp>
        <p:nvSpPr>
          <p:cNvPr id="54" name="矢印"/>
          <p:cNvSpPr/>
          <p:nvPr/>
        </p:nvSpPr>
        <p:spPr>
          <a:xfrm>
            <a:off x="1746504" y="2057400"/>
            <a:ext cx="219456" cy="685800"/>
          </a:xfrm>
          <a:prstGeom prst="rect">
            <a:avLst/>
          </a:prstGeom>
          <a:noFill/>
          <a:ln>
            <a:noFill/>
          </a:ln>
        </p:spPr>
        <p:txBody>
          <a:bodyPr wrap="square" lIns="0" tIns="0" rIns="0" bIns="0" rtlCol="0" anchor="ctr">
            <a:noAutofit/>
          </a:bodyPr>
          <a:lstStyle/>
          <a:p>
            <a:pPr algn="ctr">
              <a:buNone/>
            </a:pPr>
            <a:r>
              <a:rPr lang="ja-JP" altLang="en-US" sz="1200" b="0" dirty="0">
                <a:solidFill>
                  <a:srgbClr val="7F7F7F"/>
                </a:solidFill>
                <a:latin typeface="メイリオ" panose="020B0604030504040204" pitchFamily="50" charset="-128"/>
                <a:ea typeface="メイリオ" panose="020B0604030504040204" pitchFamily="50" charset="-128"/>
                <a:cs typeface="メイリオ"/>
              </a:rPr>
              <a:t>▶</a:t>
            </a:r>
            <a:endParaRPr lang="ja-JP" altLang="en-US" sz="1200" dirty="0">
              <a:latin typeface="メイリオ"/>
              <a:ea typeface="メイリオ"/>
              <a:cs typeface="メイリオ"/>
            </a:endParaRPr>
          </a:p>
        </p:txBody>
      </p:sp>
      <p:sp>
        <p:nvSpPr>
          <p:cNvPr id="55" name="導線 セミナーLP"/>
          <p:cNvSpPr/>
          <p:nvPr/>
        </p:nvSpPr>
        <p:spPr>
          <a:xfrm>
            <a:off x="1965960" y="2057400"/>
            <a:ext cx="1325880" cy="685800"/>
          </a:xfrm>
          <a:prstGeom prst="rect">
            <a:avLst/>
          </a:prstGeom>
          <a:solidFill>
            <a:srgbClr val="1F2A5C"/>
          </a:solidFill>
          <a:ln>
            <a:noFill/>
          </a:ln>
        </p:spPr>
        <p:txBody>
          <a:bodyPr wrap="square" lIns="45720" tIns="27432" rIns="45720" bIns="27432" rtlCol="0" anchor="ctr">
            <a:noAutofit/>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セミナーLP</a:t>
            </a:r>
            <a:endParaRPr lang="ja-JP" altLang="en-US" sz="1200" dirty="0">
              <a:latin typeface="メイリオ"/>
              <a:ea typeface="メイリオ"/>
              <a:cs typeface="メイリオ"/>
            </a:endParaRPr>
          </a:p>
        </p:txBody>
      </p:sp>
      <p:sp>
        <p:nvSpPr>
          <p:cNvPr id="56" name="導線の説明 セミナーLP"/>
          <p:cNvSpPr/>
          <p:nvPr/>
        </p:nvSpPr>
        <p:spPr>
          <a:xfrm>
            <a:off x="1965960" y="2834640"/>
            <a:ext cx="1325880" cy="1691640"/>
          </a:xfrm>
          <a:prstGeom prst="rect">
            <a:avLst/>
          </a:prstGeom>
          <a:solidFill>
            <a:srgbClr val="F5F7FA"/>
          </a:solidFill>
          <a:ln>
            <a:noFill/>
          </a:ln>
        </p:spPr>
        <p:txBody>
          <a:bodyPr wrap="square" lIns="73152" tIns="73152" rIns="73152" bIns="54864" rtlCol="0" anchor="t">
            <a:noAutofit/>
          </a:bodyPr>
          <a:lstStyle/>
          <a:p>
            <a:pPr algn="l">
              <a:lnSpc>
                <a:spcPct val="115000"/>
              </a:lnSpc>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セミナーの内容を知り、予約につなげる</a:t>
            </a:r>
            <a:endParaRPr lang="ja-JP" altLang="en-US" sz="1200" dirty="0">
              <a:latin typeface="メイリオ"/>
              <a:ea typeface="メイリオ"/>
              <a:cs typeface="メイリオ"/>
            </a:endParaRPr>
          </a:p>
        </p:txBody>
      </p:sp>
      <p:sp>
        <p:nvSpPr>
          <p:cNvPr id="57" name="矢印"/>
          <p:cNvSpPr/>
          <p:nvPr/>
        </p:nvSpPr>
        <p:spPr>
          <a:xfrm>
            <a:off x="3291839" y="2057400"/>
            <a:ext cx="219456" cy="685800"/>
          </a:xfrm>
          <a:prstGeom prst="rect">
            <a:avLst/>
          </a:prstGeom>
          <a:noFill/>
          <a:ln>
            <a:noFill/>
          </a:ln>
        </p:spPr>
        <p:txBody>
          <a:bodyPr wrap="square" lIns="0" tIns="0" rIns="0" bIns="0" rtlCol="0" anchor="ctr">
            <a:noAutofit/>
          </a:bodyPr>
          <a:lstStyle/>
          <a:p>
            <a:pPr algn="ctr">
              <a:buNone/>
            </a:pPr>
            <a:r>
              <a:rPr lang="ja-JP" altLang="en-US" sz="1200" b="0" dirty="0">
                <a:solidFill>
                  <a:srgbClr val="7F7F7F"/>
                </a:solidFill>
                <a:latin typeface="メイリオ" panose="020B0604030504040204" pitchFamily="50" charset="-128"/>
                <a:ea typeface="メイリオ" panose="020B0604030504040204" pitchFamily="50" charset="-128"/>
                <a:cs typeface="メイリオ"/>
              </a:rPr>
              <a:t>▶</a:t>
            </a:r>
            <a:endParaRPr lang="ja-JP" altLang="en-US" sz="1200" dirty="0">
              <a:latin typeface="メイリオ"/>
              <a:ea typeface="メイリオ"/>
              <a:cs typeface="メイリオ"/>
            </a:endParaRPr>
          </a:p>
        </p:txBody>
      </p:sp>
      <p:sp>
        <p:nvSpPr>
          <p:cNvPr id="58" name="導線 LINE友だち追加"/>
          <p:cNvSpPr/>
          <p:nvPr/>
        </p:nvSpPr>
        <p:spPr>
          <a:xfrm>
            <a:off x="3511296" y="2057400"/>
            <a:ext cx="1325880" cy="685800"/>
          </a:xfrm>
          <a:prstGeom prst="rect">
            <a:avLst/>
          </a:prstGeom>
          <a:solidFill>
            <a:srgbClr val="FFFFFF"/>
          </a:solidFill>
          <a:ln w="19050">
            <a:solidFill>
              <a:srgbClr val="06C755"/>
            </a:solidFill>
          </a:ln>
        </p:spPr>
        <p:txBody>
          <a:bodyPr wrap="square" lIns="45720" tIns="27432" rIns="45720" bIns="27432" rtlCol="0" anchor="ctr">
            <a:noAutofit/>
          </a:bodyPr>
          <a:lstStyle/>
          <a:p>
            <a:pPr algn="ctr">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LINE友だち追加</a:t>
            </a:r>
            <a:endParaRPr lang="ja-JP" altLang="en-US" sz="1200" dirty="0">
              <a:latin typeface="メイリオ"/>
              <a:ea typeface="メイリオ"/>
              <a:cs typeface="メイリオ"/>
            </a:endParaRPr>
          </a:p>
        </p:txBody>
      </p:sp>
      <p:sp>
        <p:nvSpPr>
          <p:cNvPr id="59" name="導線の説明 LINE友だち追加"/>
          <p:cNvSpPr/>
          <p:nvPr/>
        </p:nvSpPr>
        <p:spPr>
          <a:xfrm>
            <a:off x="3511296" y="2834640"/>
            <a:ext cx="1325880" cy="1691640"/>
          </a:xfrm>
          <a:prstGeom prst="rect">
            <a:avLst/>
          </a:prstGeom>
          <a:solidFill>
            <a:srgbClr val="F5F7FA"/>
          </a:solidFill>
          <a:ln>
            <a:noFill/>
          </a:ln>
        </p:spPr>
        <p:txBody>
          <a:bodyPr wrap="square" lIns="73152" tIns="73152" rIns="73152" bIns="54864" rtlCol="0" anchor="t">
            <a:noAutofit/>
          </a:bodyPr>
          <a:lstStyle/>
          <a:p>
            <a:pPr algn="l">
              <a:lnSpc>
                <a:spcPct val="115000"/>
              </a:lnSpc>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離脱防止ポップアップ（推奨）</a:t>
            </a:r>
            <a:endParaRPr lang="ja-JP" altLang="en-US" sz="1200" dirty="0">
              <a:latin typeface="メイリオ"/>
              <a:ea typeface="メイリオ"/>
              <a:cs typeface="メイリオ"/>
            </a:endParaRPr>
          </a:p>
          <a:p>
            <a:pPr algn="l">
              <a:lnSpc>
                <a:spcPct val="115000"/>
              </a:lnSpc>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予約完了後のご案内（サンクスLINE誘導は追加オプション）</a:t>
            </a:r>
            <a:endParaRPr lang="ja-JP" altLang="en-US" sz="1200" dirty="0">
              <a:latin typeface="メイリオ"/>
              <a:ea typeface="メイリオ"/>
              <a:cs typeface="メイリオ"/>
            </a:endParaRPr>
          </a:p>
        </p:txBody>
      </p:sp>
      <p:sp>
        <p:nvSpPr>
          <p:cNvPr id="60" name="矢印"/>
          <p:cNvSpPr/>
          <p:nvPr/>
        </p:nvSpPr>
        <p:spPr>
          <a:xfrm>
            <a:off x="4837176" y="2057400"/>
            <a:ext cx="219456" cy="685800"/>
          </a:xfrm>
          <a:prstGeom prst="rect">
            <a:avLst/>
          </a:prstGeom>
          <a:noFill/>
          <a:ln>
            <a:noFill/>
          </a:ln>
        </p:spPr>
        <p:txBody>
          <a:bodyPr wrap="square" lIns="0" tIns="0" rIns="0" bIns="0" rtlCol="0" anchor="ctr">
            <a:noAutofit/>
          </a:bodyPr>
          <a:lstStyle/>
          <a:p>
            <a:pPr algn="ctr">
              <a:buNone/>
            </a:pPr>
            <a:r>
              <a:rPr lang="ja-JP" altLang="en-US" sz="1200" b="0" dirty="0">
                <a:solidFill>
                  <a:srgbClr val="7F7F7F"/>
                </a:solidFill>
                <a:latin typeface="メイリオ" panose="020B0604030504040204" pitchFamily="50" charset="-128"/>
                <a:ea typeface="メイリオ" panose="020B0604030504040204" pitchFamily="50" charset="-128"/>
                <a:cs typeface="メイリオ"/>
              </a:rPr>
              <a:t>▶</a:t>
            </a:r>
            <a:endParaRPr lang="ja-JP" altLang="en-US" sz="1200" dirty="0">
              <a:latin typeface="メイリオ"/>
              <a:ea typeface="メイリオ"/>
              <a:cs typeface="メイリオ"/>
            </a:endParaRPr>
          </a:p>
        </p:txBody>
      </p:sp>
      <p:sp>
        <p:nvSpPr>
          <p:cNvPr id="61" name="導線 継続的な情報配信"/>
          <p:cNvSpPr/>
          <p:nvPr/>
        </p:nvSpPr>
        <p:spPr>
          <a:xfrm>
            <a:off x="5056632" y="2057400"/>
            <a:ext cx="1325880" cy="685800"/>
          </a:xfrm>
          <a:prstGeom prst="rect">
            <a:avLst/>
          </a:prstGeom>
          <a:solidFill>
            <a:srgbClr val="FFFFFF"/>
          </a:solidFill>
          <a:ln w="19050">
            <a:solidFill>
              <a:srgbClr val="06C755"/>
            </a:solidFill>
          </a:ln>
        </p:spPr>
        <p:txBody>
          <a:bodyPr wrap="square" lIns="45720" tIns="27432" rIns="45720" bIns="27432" rtlCol="0" anchor="ctr">
            <a:noAutofit/>
          </a:bodyPr>
          <a:lstStyle/>
          <a:p>
            <a:pPr algn="ctr">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継続的な情報配信</a:t>
            </a:r>
            <a:endParaRPr lang="ja-JP" altLang="en-US" sz="1200" dirty="0">
              <a:latin typeface="メイリオ"/>
              <a:ea typeface="メイリオ"/>
              <a:cs typeface="メイリオ"/>
            </a:endParaRPr>
          </a:p>
        </p:txBody>
      </p:sp>
      <p:sp>
        <p:nvSpPr>
          <p:cNvPr id="62" name="導線の説明 継続的な情報配信"/>
          <p:cNvSpPr/>
          <p:nvPr/>
        </p:nvSpPr>
        <p:spPr>
          <a:xfrm>
            <a:off x="5056632" y="2834640"/>
            <a:ext cx="1325880" cy="1691640"/>
          </a:xfrm>
          <a:prstGeom prst="rect">
            <a:avLst/>
          </a:prstGeom>
          <a:solidFill>
            <a:srgbClr val="F5F7FA"/>
          </a:solidFill>
          <a:ln>
            <a:noFill/>
          </a:ln>
        </p:spPr>
        <p:txBody>
          <a:bodyPr wrap="square" lIns="73152" tIns="73152" rIns="73152" bIns="54864" rtlCol="0" anchor="t">
            <a:noAutofit/>
          </a:bodyPr>
          <a:lstStyle/>
          <a:p>
            <a:pPr algn="l">
              <a:lnSpc>
                <a:spcPct val="115000"/>
              </a:lnSpc>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あいさつ・見どころ動画・参加特典</a:t>
            </a:r>
            <a:endParaRPr lang="ja-JP" altLang="en-US" sz="1200" dirty="0">
              <a:latin typeface="メイリオ"/>
              <a:ea typeface="メイリオ"/>
              <a:cs typeface="メイリオ"/>
            </a:endParaRPr>
          </a:p>
          <a:p>
            <a:pPr algn="l">
              <a:lnSpc>
                <a:spcPct val="115000"/>
              </a:lnSpc>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企画配信：平常期 月1〜2回／開催月 月4〜5回</a:t>
            </a:r>
            <a:endParaRPr lang="ja-JP" altLang="en-US" sz="1200" dirty="0">
              <a:latin typeface="メイリオ"/>
              <a:ea typeface="メイリオ"/>
              <a:cs typeface="メイリオ"/>
            </a:endParaRPr>
          </a:p>
        </p:txBody>
      </p:sp>
      <p:sp>
        <p:nvSpPr>
          <p:cNvPr id="63" name="矢印"/>
          <p:cNvSpPr/>
          <p:nvPr/>
        </p:nvSpPr>
        <p:spPr>
          <a:xfrm>
            <a:off x="6382512" y="2057400"/>
            <a:ext cx="219456" cy="685800"/>
          </a:xfrm>
          <a:prstGeom prst="rect">
            <a:avLst/>
          </a:prstGeom>
          <a:noFill/>
          <a:ln>
            <a:noFill/>
          </a:ln>
        </p:spPr>
        <p:txBody>
          <a:bodyPr wrap="square" lIns="0" tIns="0" rIns="0" bIns="0" rtlCol="0" anchor="ctr">
            <a:noAutofit/>
          </a:bodyPr>
          <a:lstStyle/>
          <a:p>
            <a:pPr algn="ctr">
              <a:buNone/>
            </a:pPr>
            <a:r>
              <a:rPr lang="ja-JP" altLang="en-US" sz="1200" b="0" dirty="0">
                <a:solidFill>
                  <a:srgbClr val="7F7F7F"/>
                </a:solidFill>
                <a:latin typeface="メイリオ" panose="020B0604030504040204" pitchFamily="50" charset="-128"/>
                <a:ea typeface="メイリオ" panose="020B0604030504040204" pitchFamily="50" charset="-128"/>
                <a:cs typeface="メイリオ"/>
              </a:rPr>
              <a:t>▶</a:t>
            </a:r>
            <a:endParaRPr lang="ja-JP" altLang="en-US" sz="1200" dirty="0">
              <a:latin typeface="メイリオ"/>
              <a:ea typeface="メイリオ"/>
              <a:cs typeface="メイリオ"/>
            </a:endParaRPr>
          </a:p>
        </p:txBody>
      </p:sp>
      <p:sp>
        <p:nvSpPr>
          <p:cNvPr id="64" name="導線 セミナー予約・参加"/>
          <p:cNvSpPr/>
          <p:nvPr/>
        </p:nvSpPr>
        <p:spPr>
          <a:xfrm>
            <a:off x="6601968" y="2057400"/>
            <a:ext cx="1325880" cy="685800"/>
          </a:xfrm>
          <a:prstGeom prst="rect">
            <a:avLst/>
          </a:prstGeom>
          <a:solidFill>
            <a:srgbClr val="FFFFFF"/>
          </a:solidFill>
          <a:ln w="19050">
            <a:solidFill>
              <a:srgbClr val="06C755"/>
            </a:solidFill>
          </a:ln>
        </p:spPr>
        <p:txBody>
          <a:bodyPr wrap="square" lIns="45720" tIns="27432" rIns="45720" bIns="27432" rtlCol="0" anchor="ctr">
            <a:noAutofit/>
          </a:bodyPr>
          <a:lstStyle/>
          <a:p>
            <a:pPr algn="ctr">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セミナー予約・参加</a:t>
            </a:r>
            <a:endParaRPr lang="ja-JP" altLang="en-US" sz="1200" dirty="0">
              <a:latin typeface="メイリオ"/>
              <a:ea typeface="メイリオ"/>
              <a:cs typeface="メイリオ"/>
            </a:endParaRPr>
          </a:p>
        </p:txBody>
      </p:sp>
      <p:sp>
        <p:nvSpPr>
          <p:cNvPr id="65" name="導線の説明 セミナー予約・参加"/>
          <p:cNvSpPr/>
          <p:nvPr/>
        </p:nvSpPr>
        <p:spPr>
          <a:xfrm>
            <a:off x="6601968" y="2834640"/>
            <a:ext cx="1325880" cy="1691640"/>
          </a:xfrm>
          <a:prstGeom prst="rect">
            <a:avLst/>
          </a:prstGeom>
          <a:solidFill>
            <a:srgbClr val="F5F7FA"/>
          </a:solidFill>
          <a:ln>
            <a:noFill/>
          </a:ln>
        </p:spPr>
        <p:txBody>
          <a:bodyPr wrap="square" lIns="73152" tIns="73152" rIns="73152" bIns="54864" rtlCol="0" anchor="t">
            <a:noAutofit/>
          </a:bodyPr>
          <a:lstStyle/>
          <a:p>
            <a:pPr algn="l">
              <a:lnSpc>
                <a:spcPct val="115000"/>
              </a:lnSpc>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前日・当日のリマインド／開催情報・参加方法のご案内</a:t>
            </a:r>
            <a:endParaRPr lang="ja-JP" altLang="en-US" sz="1200" dirty="0">
              <a:latin typeface="メイリオ"/>
              <a:ea typeface="メイリオ"/>
              <a:cs typeface="メイリオ"/>
            </a:endParaRPr>
          </a:p>
        </p:txBody>
      </p:sp>
      <p:sp>
        <p:nvSpPr>
          <p:cNvPr id="66" name="矢印"/>
          <p:cNvSpPr/>
          <p:nvPr/>
        </p:nvSpPr>
        <p:spPr>
          <a:xfrm>
            <a:off x="7927848" y="2057400"/>
            <a:ext cx="219456" cy="685800"/>
          </a:xfrm>
          <a:prstGeom prst="rect">
            <a:avLst/>
          </a:prstGeom>
          <a:noFill/>
          <a:ln>
            <a:noFill/>
          </a:ln>
        </p:spPr>
        <p:txBody>
          <a:bodyPr wrap="square" lIns="0" tIns="0" rIns="0" bIns="0" rtlCol="0" anchor="ctr">
            <a:noAutofit/>
          </a:bodyPr>
          <a:lstStyle/>
          <a:p>
            <a:pPr algn="ctr">
              <a:buNone/>
            </a:pPr>
            <a:r>
              <a:rPr lang="ja-JP" altLang="en-US" sz="1200" b="0" dirty="0">
                <a:solidFill>
                  <a:srgbClr val="7F7F7F"/>
                </a:solidFill>
                <a:latin typeface="メイリオ" panose="020B0604030504040204" pitchFamily="50" charset="-128"/>
                <a:ea typeface="メイリオ" panose="020B0604030504040204" pitchFamily="50" charset="-128"/>
                <a:cs typeface="メイリオ"/>
              </a:rPr>
              <a:t>▶</a:t>
            </a:r>
            <a:endParaRPr lang="ja-JP" altLang="en-US" sz="1200" dirty="0">
              <a:latin typeface="メイリオ"/>
              <a:ea typeface="メイリオ"/>
              <a:cs typeface="メイリオ"/>
            </a:endParaRPr>
          </a:p>
        </p:txBody>
      </p:sp>
      <p:sp>
        <p:nvSpPr>
          <p:cNvPr id="67" name="導線 オンラインサロン入会"/>
          <p:cNvSpPr/>
          <p:nvPr/>
        </p:nvSpPr>
        <p:spPr>
          <a:xfrm>
            <a:off x="8147304" y="2057400"/>
            <a:ext cx="1325880" cy="685800"/>
          </a:xfrm>
          <a:prstGeom prst="rect">
            <a:avLst/>
          </a:prstGeom>
          <a:solidFill>
            <a:srgbClr val="FFFFFF"/>
          </a:solidFill>
          <a:ln w="19050">
            <a:solidFill>
              <a:srgbClr val="06C755"/>
            </a:solidFill>
          </a:ln>
        </p:spPr>
        <p:txBody>
          <a:bodyPr wrap="square" lIns="45720" tIns="27432" rIns="45720" bIns="27432" rtlCol="0" anchor="ctr">
            <a:noAutofit/>
          </a:bodyPr>
          <a:lstStyle/>
          <a:p>
            <a:pPr algn="ctr">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サロン入会</a:t>
            </a:r>
            <a:endParaRPr lang="ja-JP" altLang="en-US" sz="1200" dirty="0">
              <a:latin typeface="メイリオ"/>
              <a:ea typeface="メイリオ"/>
              <a:cs typeface="メイリオ"/>
            </a:endParaRPr>
          </a:p>
        </p:txBody>
      </p:sp>
      <p:sp>
        <p:nvSpPr>
          <p:cNvPr id="68" name="導線の説明 オンラインサロン入会"/>
          <p:cNvSpPr/>
          <p:nvPr/>
        </p:nvSpPr>
        <p:spPr>
          <a:xfrm>
            <a:off x="8147304" y="2834640"/>
            <a:ext cx="1325880" cy="1691640"/>
          </a:xfrm>
          <a:prstGeom prst="rect">
            <a:avLst/>
          </a:prstGeom>
          <a:solidFill>
            <a:srgbClr val="F5F7FA"/>
          </a:solidFill>
          <a:ln>
            <a:noFill/>
          </a:ln>
        </p:spPr>
        <p:txBody>
          <a:bodyPr wrap="square" lIns="73152" tIns="73152" rIns="73152" bIns="54864" rtlCol="0" anchor="t">
            <a:noAutofit/>
          </a:bodyPr>
          <a:lstStyle/>
          <a:p>
            <a:pPr algn="l">
              <a:lnSpc>
                <a:spcPct val="115000"/>
              </a:lnSpc>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参加後の振り返り・サロンの内容紹介・入会のご案内</a:t>
            </a:r>
            <a:endParaRPr lang="ja-JP" altLang="en-US" sz="1200" dirty="0">
              <a:latin typeface="メイリオ"/>
              <a:ea typeface="メイリオ"/>
              <a:cs typeface="メイリオ"/>
            </a:endParaRPr>
          </a:p>
        </p:txBody>
      </p:sp>
      <p:sp>
        <p:nvSpPr>
          <p:cNvPr id="69" name="中長期"/>
          <p:cNvSpPr/>
          <p:nvPr/>
        </p:nvSpPr>
        <p:spPr>
          <a:xfrm>
            <a:off x="3511296" y="4754880"/>
            <a:ext cx="5961888" cy="457200"/>
          </a:xfrm>
          <a:prstGeom prst="rect">
            <a:avLst/>
          </a:prstGeom>
          <a:noFill/>
          <a:ln w="9525">
            <a:solidFill>
              <a:srgbClr val="7F7F7F"/>
            </a:solidFill>
            <a:prstDash val="dash"/>
          </a:ln>
        </p:spPr>
        <p:txBody>
          <a:bodyPr wrap="square" lIns="73152" tIns="36576" rIns="73152" bIns="36576" rtlCol="0" anchor="ctr">
            <a:noAutofit/>
          </a:bodyPr>
          <a:lstStyle/>
          <a:p>
            <a:pPr algn="ctr">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中長期：入会後の継続利用・紹介にも、LINEでの情報配信を活用</a:t>
            </a:r>
            <a:endParaRPr lang="ja-JP" altLang="en-US" sz="1200" dirty="0">
              <a:latin typeface="メイリオ"/>
              <a:ea typeface="メイリオ"/>
              <a:cs typeface="メイリオ"/>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4642A8-3E67-5B74-44A3-2319A4429A95}"/>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82672B0F-F237-F0AD-0406-3F0B4D837466}"/>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 name="正方形/長方形 3">
            <a:extLst>
              <a:ext uri="{FF2B5EF4-FFF2-40B4-BE49-F238E27FC236}">
                <a16:creationId xmlns:a16="http://schemas.microsoft.com/office/drawing/2014/main" id="{6E4BBB3A-0D38-BEFA-41CE-475A3AD94E4B}"/>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sp>
        <p:nvSpPr>
          <p:cNvPr id="45" name="Google Shape;156;p7">
            <a:extLst>
              <a:ext uri="{FF2B5EF4-FFF2-40B4-BE49-F238E27FC236}">
                <a16:creationId xmlns:a16="http://schemas.microsoft.com/office/drawing/2014/main" id="{F6061EA3-81DF-F127-35ED-8E76CB9BA872}"/>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想定動線（フェーズごとのLINEの役割）</a:t>
            </a:r>
            <a:endParaRPr sz="1600" b="1" dirty="0">
              <a:solidFill>
                <a:srgbClr val="002060"/>
              </a:solidFill>
              <a:latin typeface="メイリオ"/>
              <a:ea typeface="メイリオ"/>
              <a:cs typeface="メイリオ"/>
              <a:sym typeface="Meiryo"/>
            </a:endParaRPr>
          </a:p>
        </p:txBody>
      </p:sp>
      <p:cxnSp>
        <p:nvCxnSpPr>
          <p:cNvPr id="2" name="直線コネクタ 1">
            <a:extLst>
              <a:ext uri="{FF2B5EF4-FFF2-40B4-BE49-F238E27FC236}">
                <a16:creationId xmlns:a16="http://schemas.microsoft.com/office/drawing/2014/main" id="{4DFF8E60-181C-F552-91AA-8D421878A5E4}"/>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6" name="テキスト ボックス 5">
            <a:extLst>
              <a:ext uri="{FF2B5EF4-FFF2-40B4-BE49-F238E27FC236}">
                <a16:creationId xmlns:a16="http://schemas.microsoft.com/office/drawing/2014/main" id="{C90C3361-4E73-2E37-B42D-7BEC4ACEF81B}"/>
              </a:ext>
            </a:extLst>
          </p:cNvPr>
          <p:cNvSpPr txBox="1"/>
          <p:nvPr/>
        </p:nvSpPr>
        <p:spPr>
          <a:xfrm>
            <a:off x="3542139" y="2019663"/>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cs typeface="メイリオ"/>
              </a:rPr>
              <a:t>⑤ リード有効化</a:t>
            </a:r>
            <a:endParaRPr lang="ja-JP" altLang="ja-JP" sz="1100" b="1" dirty="0">
              <a:latin typeface="メイリオ" panose="020B0604030504040204" pitchFamily="50" charset="-128"/>
              <a:ea typeface="メイリオ" panose="020B0604030504040204" pitchFamily="50" charset="-128"/>
              <a:cs typeface="メイリオ"/>
            </a:endParaRPr>
          </a:p>
        </p:txBody>
      </p:sp>
      <p:sp>
        <p:nvSpPr>
          <p:cNvPr id="7" name="テキスト ボックス 6">
            <a:extLst>
              <a:ext uri="{FF2B5EF4-FFF2-40B4-BE49-F238E27FC236}">
                <a16:creationId xmlns:a16="http://schemas.microsoft.com/office/drawing/2014/main" id="{FFD30C49-34B0-02C4-AF70-B2CDE69444A5}"/>
              </a:ext>
            </a:extLst>
          </p:cNvPr>
          <p:cNvSpPr txBox="1"/>
          <p:nvPr/>
        </p:nvSpPr>
        <p:spPr>
          <a:xfrm>
            <a:off x="6119413" y="2428821"/>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cs typeface="メイリオ"/>
              </a:rPr>
              <a:t>⑦マネタイズ</a:t>
            </a:r>
            <a:r>
              <a:rPr lang="en-US" altLang="ja-JP" sz="1000" b="1" dirty="0">
                <a:latin typeface="メイリオ" panose="020B0604030504040204" pitchFamily="50" charset="-128"/>
                <a:ea typeface="メイリオ" panose="020B0604030504040204" pitchFamily="50" charset="-128"/>
                <a:cs typeface="メイリオ"/>
              </a:rPr>
              <a:t>(</a:t>
            </a:r>
            <a:r>
              <a:rPr lang="ja-JP" altLang="en-US" sz="1000" b="1" dirty="0">
                <a:latin typeface="メイリオ" panose="020B0604030504040204" pitchFamily="50" charset="-128"/>
                <a:ea typeface="メイリオ" panose="020B0604030504040204" pitchFamily="50" charset="-128"/>
                <a:cs typeface="メイリオ"/>
              </a:rPr>
              <a:t>成約</a:t>
            </a:r>
            <a:r>
              <a:rPr lang="en-US" altLang="ja-JP" sz="1000" b="1" dirty="0">
                <a:latin typeface="メイリオ" panose="020B0604030504040204" pitchFamily="50" charset="-128"/>
                <a:ea typeface="メイリオ" panose="020B0604030504040204" pitchFamily="50" charset="-128"/>
                <a:cs typeface="メイリオ"/>
              </a:rPr>
              <a:t>/</a:t>
            </a:r>
            <a:r>
              <a:rPr lang="ja-JP" altLang="en-US" sz="1000" b="1" dirty="0">
                <a:latin typeface="メイリオ" panose="020B0604030504040204" pitchFamily="50" charset="-128"/>
                <a:ea typeface="メイリオ" panose="020B0604030504040204" pitchFamily="50" charset="-128"/>
                <a:cs typeface="メイリオ"/>
              </a:rPr>
              <a:t>購入</a:t>
            </a:r>
            <a:r>
              <a:rPr lang="en-US" altLang="ja-JP" sz="1000" b="1" dirty="0">
                <a:latin typeface="メイリオ" panose="020B0604030504040204" pitchFamily="50" charset="-128"/>
                <a:ea typeface="メイリオ" panose="020B0604030504040204" pitchFamily="50" charset="-128"/>
                <a:cs typeface="メイリオ"/>
              </a:rPr>
              <a:t>)</a:t>
            </a:r>
            <a:endParaRPr lang="ja-JP" altLang="ja-JP" sz="1100" b="1" dirty="0">
              <a:latin typeface="メイリオ" panose="020B0604030504040204" pitchFamily="50" charset="-128"/>
              <a:ea typeface="メイリオ" panose="020B0604030504040204" pitchFamily="50" charset="-128"/>
              <a:cs typeface="メイリオ"/>
            </a:endParaRPr>
          </a:p>
        </p:txBody>
      </p:sp>
      <p:sp>
        <p:nvSpPr>
          <p:cNvPr id="8" name="テキスト ボックス 7">
            <a:extLst>
              <a:ext uri="{FF2B5EF4-FFF2-40B4-BE49-F238E27FC236}">
                <a16:creationId xmlns:a16="http://schemas.microsoft.com/office/drawing/2014/main" id="{48603E9D-0741-5356-E71D-C1FC418F0477}"/>
              </a:ext>
            </a:extLst>
          </p:cNvPr>
          <p:cNvSpPr txBox="1"/>
          <p:nvPr/>
        </p:nvSpPr>
        <p:spPr>
          <a:xfrm>
            <a:off x="4830776" y="2224242"/>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cs typeface="メイリオ"/>
              </a:rPr>
              <a:t>⑥ 有効リードの再育成</a:t>
            </a:r>
            <a:endParaRPr lang="ja-JP" altLang="ja-JP" sz="1100" b="1" dirty="0">
              <a:latin typeface="メイリオ" panose="020B0604030504040204" pitchFamily="50" charset="-128"/>
              <a:ea typeface="メイリオ" panose="020B0604030504040204" pitchFamily="50" charset="-128"/>
              <a:cs typeface="メイリオ"/>
            </a:endParaRPr>
          </a:p>
        </p:txBody>
      </p:sp>
      <p:sp>
        <p:nvSpPr>
          <p:cNvPr id="9" name="テキスト ボックス 8">
            <a:extLst>
              <a:ext uri="{FF2B5EF4-FFF2-40B4-BE49-F238E27FC236}">
                <a16:creationId xmlns:a16="http://schemas.microsoft.com/office/drawing/2014/main" id="{5510780C-7296-C3F4-8C4C-3E6051AD3A79}"/>
              </a:ext>
            </a:extLst>
          </p:cNvPr>
          <p:cNvSpPr txBox="1"/>
          <p:nvPr/>
        </p:nvSpPr>
        <p:spPr>
          <a:xfrm>
            <a:off x="7408050" y="2633400"/>
            <a:ext cx="2352196" cy="400110"/>
          </a:xfrm>
          <a:prstGeom prst="rect">
            <a:avLst/>
          </a:prstGeom>
          <a:solidFill>
            <a:schemeClr val="bg1">
              <a:lumMod val="65000"/>
              <a:alpha val="30000"/>
            </a:schemeClr>
          </a:solidFill>
        </p:spPr>
        <p:txBody>
          <a:bodyPr wrap="square">
            <a:spAutoFit/>
          </a:bodyPr>
          <a:lstStyle/>
          <a:p>
            <a:pPr>
              <a:buNone/>
            </a:pPr>
            <a:r>
              <a:rPr lang="ja-JP" altLang="en-US" sz="1100" dirty="0">
                <a:latin typeface="メイリオ" panose="020B0604030504040204" pitchFamily="50" charset="-128"/>
                <a:ea typeface="メイリオ" panose="020B0604030504040204" pitchFamily="50" charset="-128"/>
                <a:cs typeface="メイリオ"/>
              </a:rPr>
              <a:t>⑧</a:t>
            </a:r>
            <a:r>
              <a:rPr lang="en-US" altLang="ja-JP" sz="1100" dirty="0">
                <a:latin typeface="メイリオ" panose="020B0604030504040204" pitchFamily="50" charset="-128"/>
                <a:ea typeface="メイリオ" panose="020B0604030504040204" pitchFamily="50" charset="-128"/>
                <a:cs typeface="メイリオ"/>
              </a:rPr>
              <a:t>LTV</a:t>
            </a:r>
            <a:r>
              <a:rPr lang="ja-JP" altLang="en-US" sz="1100" dirty="0">
                <a:latin typeface="メイリオ" panose="020B0604030504040204" pitchFamily="50" charset="-128"/>
                <a:ea typeface="メイリオ" panose="020B0604030504040204" pitchFamily="50" charset="-128"/>
                <a:cs typeface="メイリオ"/>
              </a:rPr>
              <a:t>最大化・紹介</a:t>
            </a:r>
            <a:endParaRPr lang="en-US" altLang="ja-JP" sz="1100" dirty="0">
              <a:latin typeface="メイリオ" panose="020B0604030504040204" pitchFamily="50" charset="-128"/>
              <a:ea typeface="メイリオ" panose="020B0604030504040204" pitchFamily="50" charset="-128"/>
              <a:cs typeface="メイリオ"/>
            </a:endParaRPr>
          </a:p>
          <a:p>
            <a:pPr>
              <a:buNone/>
            </a:pPr>
            <a:endParaRPr lang="ja-JP" altLang="ja-JP" sz="900" dirty="0">
              <a:latin typeface="メイリオ" panose="020B0604030504040204" pitchFamily="50" charset="-128"/>
              <a:ea typeface="メイリオ" panose="020B0604030504040204" pitchFamily="50" charset="-128"/>
              <a:cs typeface="メイリオ"/>
            </a:endParaRPr>
          </a:p>
        </p:txBody>
      </p:sp>
      <p:sp>
        <p:nvSpPr>
          <p:cNvPr id="10" name="テキスト ボックス 9">
            <a:extLst>
              <a:ext uri="{FF2B5EF4-FFF2-40B4-BE49-F238E27FC236}">
                <a16:creationId xmlns:a16="http://schemas.microsoft.com/office/drawing/2014/main" id="{22893D84-2009-2D10-A58D-4D15D44E30A4}"/>
              </a:ext>
            </a:extLst>
          </p:cNvPr>
          <p:cNvSpPr txBox="1"/>
          <p:nvPr/>
        </p:nvSpPr>
        <p:spPr>
          <a:xfrm>
            <a:off x="334303" y="2025996"/>
            <a:ext cx="1868111" cy="348203"/>
          </a:xfrm>
          <a:prstGeom prst="rect">
            <a:avLst/>
          </a:prstGeom>
          <a:solidFill>
            <a:srgbClr val="F2F2F2"/>
          </a:solidFill>
        </p:spPr>
        <p:txBody>
          <a:bodyPr wrap="square">
            <a:spAutoFit/>
          </a:bodyPr>
          <a:lstStyle/>
          <a:p>
            <a:pPr>
              <a:buNone/>
            </a:pPr>
            <a:r>
              <a:rPr lang="ja-JP" altLang="ja-JP" sz="1100" dirty="0">
                <a:latin typeface="メイリオ" panose="020B0604030504040204" pitchFamily="50" charset="-128"/>
                <a:ea typeface="メイリオ" panose="020B0604030504040204" pitchFamily="50" charset="-128"/>
                <a:cs typeface="メイリオ"/>
              </a:rPr>
              <a:t>① 接触（認知・流入）</a:t>
            </a:r>
          </a:p>
        </p:txBody>
      </p:sp>
      <p:sp>
        <p:nvSpPr>
          <p:cNvPr id="11" name="テキスト ボックス 10">
            <a:extLst>
              <a:ext uri="{FF2B5EF4-FFF2-40B4-BE49-F238E27FC236}">
                <a16:creationId xmlns:a16="http://schemas.microsoft.com/office/drawing/2014/main" id="{23C7633E-5748-2D3A-84BA-79804E06BD11}"/>
              </a:ext>
            </a:extLst>
          </p:cNvPr>
          <p:cNvSpPr txBox="1"/>
          <p:nvPr/>
        </p:nvSpPr>
        <p:spPr>
          <a:xfrm>
            <a:off x="1268358" y="2236658"/>
            <a:ext cx="1868111" cy="348203"/>
          </a:xfrm>
          <a:prstGeom prst="rect">
            <a:avLst/>
          </a:prstGeom>
          <a:solidFill>
            <a:srgbClr val="F2F2F2"/>
          </a:solidFill>
        </p:spPr>
        <p:txBody>
          <a:bodyPr wrap="square">
            <a:spAutoFit/>
          </a:bodyPr>
          <a:lstStyle/>
          <a:p>
            <a:pPr>
              <a:buNone/>
            </a:pPr>
            <a:r>
              <a:rPr lang="ja-JP" altLang="ja-JP" sz="1100" dirty="0">
                <a:latin typeface="メイリオ" panose="020B0604030504040204" pitchFamily="50" charset="-128"/>
                <a:ea typeface="メイリオ" panose="020B0604030504040204" pitchFamily="50" charset="-128"/>
                <a:cs typeface="メイリオ"/>
              </a:rPr>
              <a:t>② サイト離脱</a:t>
            </a:r>
            <a:r>
              <a:rPr lang="ja-JP" altLang="en-US" sz="1100" dirty="0">
                <a:latin typeface="メイリオ" panose="020B0604030504040204" pitchFamily="50" charset="-128"/>
                <a:ea typeface="メイリオ" panose="020B0604030504040204" pitchFamily="50" charset="-128"/>
                <a:cs typeface="メイリオ"/>
              </a:rPr>
              <a:t>（対策）</a:t>
            </a:r>
            <a:endParaRPr lang="ja-JP" altLang="ja-JP" sz="1100" dirty="0">
              <a:latin typeface="メイリオ" panose="020B0604030504040204" pitchFamily="50" charset="-128"/>
              <a:ea typeface="メイリオ" panose="020B0604030504040204" pitchFamily="50" charset="-128"/>
              <a:cs typeface="メイリオ"/>
            </a:endParaRPr>
          </a:p>
        </p:txBody>
      </p:sp>
      <p:sp>
        <p:nvSpPr>
          <p:cNvPr id="12" name="テキスト ボックス 11">
            <a:extLst>
              <a:ext uri="{FF2B5EF4-FFF2-40B4-BE49-F238E27FC236}">
                <a16:creationId xmlns:a16="http://schemas.microsoft.com/office/drawing/2014/main" id="{0FF28B09-D075-F525-81E8-9E46FD2E18CC}"/>
              </a:ext>
            </a:extLst>
          </p:cNvPr>
          <p:cNvSpPr txBox="1"/>
          <p:nvPr/>
        </p:nvSpPr>
        <p:spPr>
          <a:xfrm>
            <a:off x="2202413" y="2430519"/>
            <a:ext cx="1868111" cy="383023"/>
          </a:xfrm>
          <a:prstGeom prst="rect">
            <a:avLst/>
          </a:prstGeom>
          <a:solidFill>
            <a:srgbClr val="F2F2F2"/>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cs typeface="メイリオ"/>
              </a:rPr>
              <a:t>③ 育成（興味</a:t>
            </a:r>
            <a:r>
              <a:rPr lang="ja-JP" altLang="en-US" sz="1100" b="1" dirty="0">
                <a:latin typeface="メイリオ" panose="020B0604030504040204" pitchFamily="50" charset="-128"/>
                <a:ea typeface="メイリオ" panose="020B0604030504040204" pitchFamily="50" charset="-128"/>
                <a:cs typeface="メイリオ"/>
              </a:rPr>
              <a:t>喚起</a:t>
            </a:r>
            <a:r>
              <a:rPr lang="ja-JP" altLang="ja-JP" sz="1100" b="1" dirty="0">
                <a:latin typeface="メイリオ" panose="020B0604030504040204" pitchFamily="50" charset="-128"/>
                <a:ea typeface="メイリオ" panose="020B0604030504040204" pitchFamily="50" charset="-128"/>
                <a:cs typeface="メイリオ"/>
              </a:rPr>
              <a:t>）</a:t>
            </a:r>
          </a:p>
        </p:txBody>
      </p:sp>
      <p:sp>
        <p:nvSpPr>
          <p:cNvPr id="13" name="テキスト ボックス 12">
            <a:extLst>
              <a:ext uri="{FF2B5EF4-FFF2-40B4-BE49-F238E27FC236}">
                <a16:creationId xmlns:a16="http://schemas.microsoft.com/office/drawing/2014/main" id="{16BD59AA-351D-314F-6C74-5744411BB09A}"/>
              </a:ext>
            </a:extLst>
          </p:cNvPr>
          <p:cNvSpPr txBox="1"/>
          <p:nvPr/>
        </p:nvSpPr>
        <p:spPr>
          <a:xfrm>
            <a:off x="3136468" y="2626872"/>
            <a:ext cx="1868111" cy="383023"/>
          </a:xfrm>
          <a:prstGeom prst="rect">
            <a:avLst/>
          </a:prstGeom>
          <a:solidFill>
            <a:srgbClr val="F2F2F2"/>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cs typeface="メイリオ"/>
              </a:rPr>
              <a:t>④リード獲得 </a:t>
            </a:r>
            <a:r>
              <a:rPr lang="en-US" altLang="ja-JP" sz="900" b="1" dirty="0">
                <a:latin typeface="メイリオ" panose="020B0604030504040204" pitchFamily="50" charset="-128"/>
                <a:ea typeface="メイリオ" panose="020B0604030504040204" pitchFamily="50" charset="-128"/>
                <a:cs typeface="メイリオ"/>
              </a:rPr>
              <a:t>(web/LINE)</a:t>
            </a:r>
            <a:endParaRPr lang="ja-JP" altLang="ja-JP" sz="1050" b="1" dirty="0">
              <a:latin typeface="メイリオ" panose="020B0604030504040204" pitchFamily="50" charset="-128"/>
              <a:ea typeface="メイリオ" panose="020B0604030504040204" pitchFamily="50" charset="-128"/>
              <a:cs typeface="メイリオ"/>
            </a:endParaRPr>
          </a:p>
        </p:txBody>
      </p:sp>
      <p:cxnSp>
        <p:nvCxnSpPr>
          <p:cNvPr id="14" name="コネクタ: カギ線 13">
            <a:extLst>
              <a:ext uri="{FF2B5EF4-FFF2-40B4-BE49-F238E27FC236}">
                <a16:creationId xmlns:a16="http://schemas.microsoft.com/office/drawing/2014/main" id="{7CD2930D-6317-C65A-EBFA-3A24A7BB98EE}"/>
              </a:ext>
            </a:extLst>
          </p:cNvPr>
          <p:cNvCxnSpPr>
            <a:cxnSpLocks/>
            <a:stCxn id="13" idx="0"/>
            <a:endCxn id="6" idx="2"/>
          </p:cNvCxnSpPr>
          <p:nvPr/>
        </p:nvCxnSpPr>
        <p:spPr>
          <a:xfrm rot="5400000" flipH="1" flipV="1">
            <a:off x="4282287" y="2389919"/>
            <a:ext cx="224186" cy="249721"/>
          </a:xfrm>
          <a:prstGeom prst="bentConnector3">
            <a:avLst>
              <a:gd name="adj1" fmla="val 50000"/>
            </a:avLst>
          </a:prstGeom>
          <a:ln w="1905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5" name="正方形/長方形 14">
            <a:extLst>
              <a:ext uri="{FF2B5EF4-FFF2-40B4-BE49-F238E27FC236}">
                <a16:creationId xmlns:a16="http://schemas.microsoft.com/office/drawing/2014/main" id="{FB4E9283-AFFE-D736-E74D-1988664432CA}"/>
              </a:ext>
            </a:extLst>
          </p:cNvPr>
          <p:cNvSpPr/>
          <p:nvPr/>
        </p:nvSpPr>
        <p:spPr>
          <a:xfrm>
            <a:off x="334303" y="1552575"/>
            <a:ext cx="9425943" cy="44850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cxnSp>
        <p:nvCxnSpPr>
          <p:cNvPr id="16" name="直線矢印コネクタ 15">
            <a:extLst>
              <a:ext uri="{FF2B5EF4-FFF2-40B4-BE49-F238E27FC236}">
                <a16:creationId xmlns:a16="http://schemas.microsoft.com/office/drawing/2014/main" id="{A823DE0C-5E87-D9B3-1B01-A8A108957A34}"/>
              </a:ext>
            </a:extLst>
          </p:cNvPr>
          <p:cNvCxnSpPr>
            <a:cxnSpLocks/>
          </p:cNvCxnSpPr>
          <p:nvPr/>
        </p:nvCxnSpPr>
        <p:spPr>
          <a:xfrm>
            <a:off x="417642" y="1782459"/>
            <a:ext cx="9240215" cy="0"/>
          </a:xfrm>
          <a:prstGeom prst="straightConnector1">
            <a:avLst/>
          </a:prstGeom>
          <a:ln w="28575">
            <a:solidFill>
              <a:schemeClr val="tx1"/>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17" name="テキスト ボックス 16">
            <a:extLst>
              <a:ext uri="{FF2B5EF4-FFF2-40B4-BE49-F238E27FC236}">
                <a16:creationId xmlns:a16="http://schemas.microsoft.com/office/drawing/2014/main" id="{F10F5A5D-3ADF-7E9F-1184-B3E6D3B235ED}"/>
              </a:ext>
            </a:extLst>
          </p:cNvPr>
          <p:cNvSpPr txBox="1"/>
          <p:nvPr/>
        </p:nvSpPr>
        <p:spPr>
          <a:xfrm>
            <a:off x="4066503" y="1654589"/>
            <a:ext cx="2315056" cy="234537"/>
          </a:xfrm>
          <a:prstGeom prst="rect">
            <a:avLst/>
          </a:prstGeom>
          <a:solidFill>
            <a:schemeClr val="bg1">
              <a:lumMod val="95000"/>
            </a:schemeClr>
          </a:solidFill>
        </p:spPr>
        <p:txBody>
          <a:bodyPr wrap="square">
            <a:spAutoFit/>
          </a:bodyPr>
          <a:lstStyle/>
          <a:p>
            <a:pPr algn="ctr"/>
            <a:r>
              <a:rPr lang="ja-JP" altLang="en-US" sz="1050" b="1" dirty="0">
                <a:latin typeface="メイリオ" panose="020B0604030504040204" pitchFamily="50" charset="-128"/>
                <a:ea typeface="メイリオ" panose="020B0604030504040204" pitchFamily="50" charset="-128"/>
                <a:cs typeface="メイリオ"/>
                <a:sym typeface="Meiryo"/>
              </a:rPr>
              <a:t>カスタマージャーニーマップ</a:t>
            </a:r>
            <a:endParaRPr lang="ja-JP" altLang="en-US" sz="1050" dirty="0">
              <a:latin typeface="メイリオ"/>
              <a:ea typeface="メイリオ"/>
              <a:cs typeface="メイリオ"/>
            </a:endParaRPr>
          </a:p>
        </p:txBody>
      </p:sp>
      <p:graphicFrame>
        <p:nvGraphicFramePr>
          <p:cNvPr id="18" name="Table 2">
            <a:extLst>
              <a:ext uri="{FF2B5EF4-FFF2-40B4-BE49-F238E27FC236}">
                <a16:creationId xmlns:a16="http://schemas.microsoft.com/office/drawing/2014/main" id="{89845608-F0C2-67EC-D03E-3B68C6BD5068}"/>
              </a:ext>
            </a:extLst>
          </p:cNvPr>
          <p:cNvGraphicFramePr>
            <a:graphicFrameLocks noGrp="1"/>
          </p:cNvGraphicFramePr>
          <p:nvPr>
            <p:extLst>
              <p:ext uri="{D42A27DB-BD31-4B8C-83A1-F6EECF244321}">
                <p14:modId xmlns:p14="http://schemas.microsoft.com/office/powerpoint/2010/main" val="3163375250"/>
              </p:ext>
            </p:extLst>
          </p:nvPr>
        </p:nvGraphicFramePr>
        <p:xfrm>
          <a:off x="384048" y="3200400"/>
          <a:ext cx="9381744" cy="2962656"/>
        </p:xfrm>
        <a:graphic>
          <a:graphicData uri="http://schemas.openxmlformats.org/drawingml/2006/table">
            <a:tbl>
              <a:tblPr firstRow="1" bandRow="1">
                <a:tableStyleId>{5C22544A-7EE6-4342-B048-85BDC9FD1C3A}</a:tableStyleId>
              </a:tblPr>
              <a:tblGrid>
                <a:gridCol w="2148840">
                  <a:extLst>
                    <a:ext uri="{9D8B030D-6E8A-4147-A177-3AD203B41FA5}">
                      <a16:colId xmlns:a16="http://schemas.microsoft.com/office/drawing/2014/main" val="20000"/>
                    </a:ext>
                  </a:extLst>
                </a:gridCol>
                <a:gridCol w="2377440">
                  <a:extLst>
                    <a:ext uri="{9D8B030D-6E8A-4147-A177-3AD203B41FA5}">
                      <a16:colId xmlns:a16="http://schemas.microsoft.com/office/drawing/2014/main" val="20001"/>
                    </a:ext>
                  </a:extLst>
                </a:gridCol>
                <a:gridCol w="2331720">
                  <a:extLst>
                    <a:ext uri="{9D8B030D-6E8A-4147-A177-3AD203B41FA5}">
                      <a16:colId xmlns:a16="http://schemas.microsoft.com/office/drawing/2014/main" val="20002"/>
                    </a:ext>
                  </a:extLst>
                </a:gridCol>
                <a:gridCol w="2523744">
                  <a:extLst>
                    <a:ext uri="{9D8B030D-6E8A-4147-A177-3AD203B41FA5}">
                      <a16:colId xmlns:a16="http://schemas.microsoft.com/office/drawing/2014/main" val="20003"/>
                    </a:ext>
                  </a:extLst>
                </a:gridCol>
              </a:tblGrid>
              <a:tr h="329184">
                <a:tc>
                  <a:txBody>
                    <a:bodyPr/>
                    <a:lstStyle/>
                    <a:p>
                      <a:pPr algn="ctr"/>
                      <a:r>
                        <a:rPr lang="ja-JP" sz="1200" b="1">
                          <a:solidFill>
                            <a:srgbClr val="FFFFFF"/>
                          </a:solidFill>
                          <a:latin typeface="メイリオ"/>
                          <a:ea typeface="メイリオ"/>
                          <a:cs typeface="メイリオ"/>
                        </a:rPr>
                        <a:t>フェーズ</a:t>
                      </a:r>
                    </a:p>
                  </a:txBody>
                  <a:tcPr marR="73152" anchor="ctr">
                    <a:solidFill>
                      <a:srgbClr val="1F2A5C"/>
                    </a:solidFill>
                  </a:tcPr>
                </a:tc>
                <a:tc>
                  <a:txBody>
                    <a:bodyPr/>
                    <a:lstStyle/>
                    <a:p>
                      <a:pPr algn="ctr"/>
                      <a:r>
                        <a:rPr lang="ja-JP" sz="1200" b="1">
                          <a:solidFill>
                            <a:srgbClr val="FFFFFF"/>
                          </a:solidFill>
                          <a:latin typeface="メイリオ"/>
                          <a:ea typeface="メイリオ"/>
                          <a:cs typeface="メイリオ"/>
                        </a:rPr>
                        <a:t>ユーザー状態・心理</a:t>
                      </a:r>
                    </a:p>
                  </a:txBody>
                  <a:tcPr marR="73152" anchor="ctr">
                    <a:solidFill>
                      <a:srgbClr val="1F2A5C"/>
                    </a:solidFill>
                  </a:tcPr>
                </a:tc>
                <a:tc>
                  <a:txBody>
                    <a:bodyPr/>
                    <a:lstStyle/>
                    <a:p>
                      <a:pPr algn="ctr"/>
                      <a:r>
                        <a:rPr lang="ja-JP" sz="1200" b="1">
                          <a:solidFill>
                            <a:srgbClr val="FFFFFF"/>
                          </a:solidFill>
                          <a:latin typeface="メイリオ"/>
                          <a:ea typeface="メイリオ"/>
                          <a:cs typeface="メイリオ"/>
                        </a:rPr>
                        <a:t>離脱・停滞が起きやすい点</a:t>
                      </a:r>
                    </a:p>
                  </a:txBody>
                  <a:tcPr marR="73152" anchor="ctr">
                    <a:solidFill>
                      <a:srgbClr val="1F2A5C"/>
                    </a:solidFill>
                  </a:tcPr>
                </a:tc>
                <a:tc>
                  <a:txBody>
                    <a:bodyPr/>
                    <a:lstStyle/>
                    <a:p>
                      <a:pPr algn="ctr"/>
                      <a:r>
                        <a:rPr lang="ja-JP" sz="1200" b="1">
                          <a:solidFill>
                            <a:srgbClr val="FFFFFF"/>
                          </a:solidFill>
                          <a:latin typeface="メイリオ"/>
                          <a:ea typeface="メイリオ"/>
                          <a:cs typeface="メイリオ"/>
                        </a:rPr>
                        <a:t>LINE OAの役割・施策</a:t>
                      </a:r>
                    </a:p>
                  </a:txBody>
                  <a:tcPr marR="73152" anchor="ctr">
                    <a:solidFill>
                      <a:srgbClr val="1F2A5C"/>
                    </a:solidFill>
                  </a:tcPr>
                </a:tc>
                <a:extLst>
                  <a:ext uri="{0D108BD9-81ED-4DB2-BD59-A6C34878D82A}">
                    <a16:rowId xmlns:a16="http://schemas.microsoft.com/office/drawing/2014/main" val="10000"/>
                  </a:ext>
                </a:extLst>
              </a:tr>
              <a:tr h="329184">
                <a:tc>
                  <a:txBody>
                    <a:bodyPr/>
                    <a:lstStyle/>
                    <a:p>
                      <a:pPr algn="l"/>
                      <a:r>
                        <a:rPr lang="ja-JP" sz="1200" b="1">
                          <a:solidFill>
                            <a:srgbClr val="1F2A5C"/>
                          </a:solidFill>
                          <a:latin typeface="メイリオ"/>
                          <a:ea typeface="メイリオ"/>
                          <a:cs typeface="メイリオ"/>
                        </a:rPr>
                        <a:t>① 接触（認知・流入）</a:t>
                      </a:r>
                    </a:p>
                  </a:txBody>
                  <a:tcPr marR="73152" anchor="ctr">
                    <a:solidFill>
                      <a:srgbClr val="FFFFFF"/>
                    </a:solidFill>
                  </a:tcPr>
                </a:tc>
                <a:tc>
                  <a:txBody>
                    <a:bodyPr/>
                    <a:lstStyle/>
                    <a:p>
                      <a:pPr algn="l"/>
                      <a:r>
                        <a:rPr lang="ja-JP" sz="1200" b="0">
                          <a:solidFill>
                            <a:srgbClr val="333333"/>
                          </a:solidFill>
                          <a:latin typeface="メイリオ"/>
                          <a:ea typeface="メイリオ"/>
                          <a:cs typeface="メイリオ"/>
                        </a:rPr>
                        <a:t>営業力を上げたい・情報収集中</a:t>
                      </a:r>
                    </a:p>
                  </a:txBody>
                  <a:tcPr marR="73152" anchor="ctr">
                    <a:solidFill>
                      <a:srgbClr val="FFFFFF"/>
                    </a:solidFill>
                  </a:tcPr>
                </a:tc>
                <a:tc>
                  <a:txBody>
                    <a:bodyPr/>
                    <a:lstStyle/>
                    <a:p>
                      <a:pPr algn="l"/>
                      <a:r>
                        <a:rPr lang="ja-JP" sz="1200" b="0">
                          <a:solidFill>
                            <a:srgbClr val="333333"/>
                          </a:solidFill>
                          <a:latin typeface="メイリオ"/>
                          <a:ea typeface="メイリオ"/>
                          <a:cs typeface="メイリオ"/>
                        </a:rPr>
                        <a:t>日程が合わず、申し込まない</a:t>
                      </a:r>
                    </a:p>
                  </a:txBody>
                  <a:tcPr marR="73152" anchor="ctr">
                    <a:solidFill>
                      <a:srgbClr val="FFFFFF"/>
                    </a:solidFill>
                  </a:tcPr>
                </a:tc>
                <a:tc>
                  <a:txBody>
                    <a:bodyPr/>
                    <a:lstStyle/>
                    <a:p>
                      <a:pPr algn="l"/>
                      <a:r>
                        <a:rPr lang="ja-JP" sz="1200" b="0">
                          <a:solidFill>
                            <a:srgbClr val="333333"/>
                          </a:solidFill>
                          <a:latin typeface="メイリオ"/>
                          <a:ea typeface="メイリオ"/>
                          <a:cs typeface="メイリオ"/>
                        </a:rPr>
                        <a:t>離脱防止ポップアップ（推奨）</a:t>
                      </a:r>
                    </a:p>
                  </a:txBody>
                  <a:tcPr marR="73152" anchor="ctr">
                    <a:solidFill>
                      <a:srgbClr val="FFFFFF"/>
                    </a:solidFill>
                  </a:tcPr>
                </a:tc>
                <a:extLst>
                  <a:ext uri="{0D108BD9-81ED-4DB2-BD59-A6C34878D82A}">
                    <a16:rowId xmlns:a16="http://schemas.microsoft.com/office/drawing/2014/main" val="10001"/>
                  </a:ext>
                </a:extLst>
              </a:tr>
              <a:tr h="329184">
                <a:tc>
                  <a:txBody>
                    <a:bodyPr/>
                    <a:lstStyle/>
                    <a:p>
                      <a:pPr algn="l"/>
                      <a:r>
                        <a:rPr lang="ja-JP" sz="1200" b="1">
                          <a:solidFill>
                            <a:srgbClr val="1F2A5C"/>
                          </a:solidFill>
                          <a:latin typeface="メイリオ"/>
                          <a:ea typeface="メイリオ"/>
                          <a:cs typeface="メイリオ"/>
                        </a:rPr>
                        <a:t>② サイト離脱（対策）</a:t>
                      </a:r>
                    </a:p>
                  </a:txBody>
                  <a:tcPr marR="73152" anchor="ctr">
                    <a:solidFill>
                      <a:srgbClr val="F5F7FA"/>
                    </a:solidFill>
                  </a:tcPr>
                </a:tc>
                <a:tc>
                  <a:txBody>
                    <a:bodyPr/>
                    <a:lstStyle/>
                    <a:p>
                      <a:pPr algn="l"/>
                      <a:r>
                        <a:rPr lang="ja-JP" sz="1200" b="0">
                          <a:solidFill>
                            <a:srgbClr val="333333"/>
                          </a:solidFill>
                          <a:latin typeface="メイリオ"/>
                          <a:ea typeface="メイリオ"/>
                          <a:cs typeface="メイリオ"/>
                        </a:rPr>
                        <a:t>今回は申し込まない</a:t>
                      </a:r>
                    </a:p>
                  </a:txBody>
                  <a:tcPr marR="73152" anchor="ctr">
                    <a:solidFill>
                      <a:srgbClr val="F5F7FA"/>
                    </a:solidFill>
                  </a:tcPr>
                </a:tc>
                <a:tc>
                  <a:txBody>
                    <a:bodyPr/>
                    <a:lstStyle/>
                    <a:p>
                      <a:pPr algn="l"/>
                      <a:r>
                        <a:rPr lang="ja-JP" sz="1200" b="0">
                          <a:solidFill>
                            <a:srgbClr val="333333"/>
                          </a:solidFill>
                          <a:latin typeface="メイリオ"/>
                          <a:ea typeface="メイリオ"/>
                          <a:cs typeface="メイリオ"/>
                        </a:rPr>
                        <a:t>次の開催まで関心が続きにくい</a:t>
                      </a:r>
                    </a:p>
                  </a:txBody>
                  <a:tcPr marR="73152" anchor="ctr">
                    <a:solidFill>
                      <a:srgbClr val="F5F7FA"/>
                    </a:solidFill>
                  </a:tcPr>
                </a:tc>
                <a:tc>
                  <a:txBody>
                    <a:bodyPr/>
                    <a:lstStyle/>
                    <a:p>
                      <a:pPr algn="l"/>
                      <a:r>
                        <a:rPr lang="ja-JP" sz="1200" b="0">
                          <a:solidFill>
                            <a:srgbClr val="333333"/>
                          </a:solidFill>
                          <a:latin typeface="メイリオ"/>
                          <a:ea typeface="メイリオ"/>
                          <a:cs typeface="メイリオ"/>
                        </a:rPr>
                        <a:t>ポップアップからLINE友だち化</a:t>
                      </a:r>
                    </a:p>
                  </a:txBody>
                  <a:tcPr marR="73152" anchor="ctr">
                    <a:solidFill>
                      <a:srgbClr val="F5F7FA"/>
                    </a:solidFill>
                  </a:tcPr>
                </a:tc>
                <a:extLst>
                  <a:ext uri="{0D108BD9-81ED-4DB2-BD59-A6C34878D82A}">
                    <a16:rowId xmlns:a16="http://schemas.microsoft.com/office/drawing/2014/main" val="10002"/>
                  </a:ext>
                </a:extLst>
              </a:tr>
              <a:tr h="329184">
                <a:tc>
                  <a:txBody>
                    <a:bodyPr/>
                    <a:lstStyle/>
                    <a:p>
                      <a:pPr algn="l"/>
                      <a:r>
                        <a:rPr lang="ja-JP" sz="1200" b="1">
                          <a:solidFill>
                            <a:srgbClr val="1F2A5C"/>
                          </a:solidFill>
                          <a:latin typeface="メイリオ"/>
                          <a:ea typeface="メイリオ"/>
                          <a:cs typeface="メイリオ"/>
                        </a:rPr>
                        <a:t>③ 育成（興味喚起）</a:t>
                      </a:r>
                    </a:p>
                  </a:txBody>
                  <a:tcPr marR="73152" anchor="ctr">
                    <a:solidFill>
                      <a:srgbClr val="FFFFFF"/>
                    </a:solidFill>
                  </a:tcPr>
                </a:tc>
                <a:tc>
                  <a:txBody>
                    <a:bodyPr/>
                    <a:lstStyle/>
                    <a:p>
                      <a:pPr algn="l"/>
                      <a:r>
                        <a:rPr lang="ja-JP" sz="1200" b="0">
                          <a:solidFill>
                            <a:srgbClr val="333333"/>
                          </a:solidFill>
                          <a:latin typeface="メイリオ"/>
                          <a:ea typeface="メイリオ"/>
                          <a:cs typeface="メイリオ"/>
                        </a:rPr>
                        <a:t>どんなセミナーか分からない</a:t>
                      </a:r>
                    </a:p>
                  </a:txBody>
                  <a:tcPr marR="73152" anchor="ctr">
                    <a:solidFill>
                      <a:srgbClr val="FFFFFF"/>
                    </a:solidFill>
                  </a:tcPr>
                </a:tc>
                <a:tc>
                  <a:txBody>
                    <a:bodyPr/>
                    <a:lstStyle/>
                    <a:p>
                      <a:pPr algn="l"/>
                      <a:r>
                        <a:rPr lang="ja-JP" sz="1200" b="0">
                          <a:solidFill>
                            <a:srgbClr val="333333"/>
                          </a:solidFill>
                          <a:latin typeface="メイリオ"/>
                          <a:ea typeface="メイリオ"/>
                          <a:cs typeface="メイリオ"/>
                        </a:rPr>
                        <a:t>中身が見えず、予約に進まない</a:t>
                      </a:r>
                    </a:p>
                  </a:txBody>
                  <a:tcPr marR="73152" anchor="ctr">
                    <a:solidFill>
                      <a:srgbClr val="FFFFFF"/>
                    </a:solidFill>
                  </a:tcPr>
                </a:tc>
                <a:tc>
                  <a:txBody>
                    <a:bodyPr/>
                    <a:lstStyle/>
                    <a:p>
                      <a:pPr algn="l"/>
                      <a:r>
                        <a:rPr lang="ja-JP" sz="1200" b="0">
                          <a:solidFill>
                            <a:srgbClr val="333333"/>
                          </a:solidFill>
                          <a:latin typeface="メイリオ"/>
                          <a:ea typeface="メイリオ"/>
                          <a:cs typeface="メイリオ"/>
                        </a:rPr>
                        <a:t>見どころ・特典をステップ配信</a:t>
                      </a:r>
                    </a:p>
                  </a:txBody>
                  <a:tcPr marR="73152" anchor="ctr">
                    <a:solidFill>
                      <a:srgbClr val="FFFFFF"/>
                    </a:solidFill>
                  </a:tcPr>
                </a:tc>
                <a:extLst>
                  <a:ext uri="{0D108BD9-81ED-4DB2-BD59-A6C34878D82A}">
                    <a16:rowId xmlns:a16="http://schemas.microsoft.com/office/drawing/2014/main" val="10003"/>
                  </a:ext>
                </a:extLst>
              </a:tr>
              <a:tr h="329184">
                <a:tc>
                  <a:txBody>
                    <a:bodyPr/>
                    <a:lstStyle/>
                    <a:p>
                      <a:pPr algn="l"/>
                      <a:r>
                        <a:rPr lang="ja-JP" sz="1200" b="1">
                          <a:solidFill>
                            <a:srgbClr val="1F2A5C"/>
                          </a:solidFill>
                          <a:latin typeface="メイリオ"/>
                          <a:ea typeface="メイリオ"/>
                          <a:cs typeface="メイリオ"/>
                        </a:rPr>
                        <a:t>④ リード獲得 (web/LINE)</a:t>
                      </a:r>
                    </a:p>
                  </a:txBody>
                  <a:tcPr marR="73152" anchor="ctr">
                    <a:solidFill>
                      <a:srgbClr val="F5F7FA"/>
                    </a:solidFill>
                  </a:tcPr>
                </a:tc>
                <a:tc>
                  <a:txBody>
                    <a:bodyPr/>
                    <a:lstStyle/>
                    <a:p>
                      <a:pPr algn="l"/>
                      <a:r>
                        <a:rPr lang="ja-JP" sz="1200" b="0">
                          <a:solidFill>
                            <a:srgbClr val="333333"/>
                          </a:solidFill>
                          <a:latin typeface="メイリオ"/>
                          <a:ea typeface="メイリオ"/>
                          <a:cs typeface="メイリオ"/>
                        </a:rPr>
                        <a:t>セミナーを予約した</a:t>
                      </a:r>
                    </a:p>
                  </a:txBody>
                  <a:tcPr marR="73152" anchor="ctr">
                    <a:solidFill>
                      <a:srgbClr val="F5F7FA"/>
                    </a:solidFill>
                  </a:tcPr>
                </a:tc>
                <a:tc>
                  <a:txBody>
                    <a:bodyPr/>
                    <a:lstStyle/>
                    <a:p>
                      <a:pPr algn="l"/>
                      <a:r>
                        <a:rPr lang="ja-JP" sz="1200" b="0">
                          <a:solidFill>
                            <a:srgbClr val="333333"/>
                          </a:solidFill>
                          <a:latin typeface="メイリオ"/>
                          <a:ea typeface="メイリオ"/>
                          <a:cs typeface="メイリオ"/>
                        </a:rPr>
                        <a:t>日が空き、参加を忘れる</a:t>
                      </a:r>
                    </a:p>
                  </a:txBody>
                  <a:tcPr marR="73152" anchor="ctr">
                    <a:solidFill>
                      <a:srgbClr val="F5F7FA"/>
                    </a:solidFill>
                  </a:tcPr>
                </a:tc>
                <a:tc>
                  <a:txBody>
                    <a:bodyPr/>
                    <a:lstStyle/>
                    <a:p>
                      <a:pPr algn="l"/>
                      <a:r>
                        <a:rPr lang="ja-JP" sz="1200" b="0">
                          <a:solidFill>
                            <a:srgbClr val="333333"/>
                          </a:solidFill>
                          <a:latin typeface="メイリオ"/>
                          <a:ea typeface="メイリオ"/>
                          <a:cs typeface="メイリオ"/>
                        </a:rPr>
                        <a:t>予約後の友だち追加・前日の案内</a:t>
                      </a:r>
                    </a:p>
                  </a:txBody>
                  <a:tcPr marR="73152" anchor="ctr">
                    <a:solidFill>
                      <a:srgbClr val="F5F7FA"/>
                    </a:solidFill>
                  </a:tcPr>
                </a:tc>
                <a:extLst>
                  <a:ext uri="{0D108BD9-81ED-4DB2-BD59-A6C34878D82A}">
                    <a16:rowId xmlns:a16="http://schemas.microsoft.com/office/drawing/2014/main" val="10004"/>
                  </a:ext>
                </a:extLst>
              </a:tr>
              <a:tr h="329184">
                <a:tc>
                  <a:txBody>
                    <a:bodyPr/>
                    <a:lstStyle/>
                    <a:p>
                      <a:pPr algn="l"/>
                      <a:r>
                        <a:rPr lang="ja-JP" sz="1200" b="1">
                          <a:solidFill>
                            <a:srgbClr val="1F2A5C"/>
                          </a:solidFill>
                          <a:latin typeface="メイリオ"/>
                          <a:ea typeface="メイリオ"/>
                          <a:cs typeface="メイリオ"/>
                        </a:rPr>
                        <a:t>⑤ リード有効化</a:t>
                      </a:r>
                    </a:p>
                  </a:txBody>
                  <a:tcPr marR="73152" anchor="ctr">
                    <a:solidFill>
                      <a:srgbClr val="FFFFFF"/>
                    </a:solidFill>
                  </a:tcPr>
                </a:tc>
                <a:tc>
                  <a:txBody>
                    <a:bodyPr/>
                    <a:lstStyle/>
                    <a:p>
                      <a:pPr algn="l"/>
                      <a:r>
                        <a:rPr lang="ja-JP" sz="1200" b="0">
                          <a:solidFill>
                            <a:srgbClr val="333333"/>
                          </a:solidFill>
                          <a:latin typeface="メイリオ"/>
                          <a:ea typeface="メイリオ"/>
                          <a:cs typeface="メイリオ"/>
                        </a:rPr>
                        <a:t>参加して関心が高まっている</a:t>
                      </a:r>
                    </a:p>
                  </a:txBody>
                  <a:tcPr marR="73152" anchor="ctr">
                    <a:solidFill>
                      <a:srgbClr val="FFFFFF"/>
                    </a:solidFill>
                  </a:tcPr>
                </a:tc>
                <a:tc>
                  <a:txBody>
                    <a:bodyPr/>
                    <a:lstStyle/>
                    <a:p>
                      <a:pPr algn="l"/>
                      <a:r>
                        <a:rPr lang="ja-JP" sz="1200" b="0">
                          <a:solidFill>
                            <a:srgbClr val="333333"/>
                          </a:solidFill>
                          <a:latin typeface="メイリオ"/>
                          <a:ea typeface="メイリオ"/>
                          <a:cs typeface="メイリオ"/>
                        </a:rPr>
                        <a:t>入会を迷ったまま時間が経つ</a:t>
                      </a:r>
                    </a:p>
                  </a:txBody>
                  <a:tcPr marR="73152" anchor="ctr">
                    <a:solidFill>
                      <a:srgbClr val="FFFFFF"/>
                    </a:solidFill>
                  </a:tcPr>
                </a:tc>
                <a:tc>
                  <a:txBody>
                    <a:bodyPr/>
                    <a:lstStyle/>
                    <a:p>
                      <a:pPr algn="l"/>
                      <a:r>
                        <a:rPr lang="ja-JP" sz="1200" b="0">
                          <a:solidFill>
                            <a:srgbClr val="333333"/>
                          </a:solidFill>
                          <a:latin typeface="メイリオ"/>
                          <a:ea typeface="メイリオ"/>
                          <a:cs typeface="メイリオ"/>
                        </a:rPr>
                        <a:t>参加直後にサロンを案内</a:t>
                      </a:r>
                    </a:p>
                  </a:txBody>
                  <a:tcPr marR="73152" anchor="ctr">
                    <a:solidFill>
                      <a:srgbClr val="FFFFFF"/>
                    </a:solidFill>
                  </a:tcPr>
                </a:tc>
                <a:extLst>
                  <a:ext uri="{0D108BD9-81ED-4DB2-BD59-A6C34878D82A}">
                    <a16:rowId xmlns:a16="http://schemas.microsoft.com/office/drawing/2014/main" val="10005"/>
                  </a:ext>
                </a:extLst>
              </a:tr>
              <a:tr h="329184">
                <a:tc>
                  <a:txBody>
                    <a:bodyPr/>
                    <a:lstStyle/>
                    <a:p>
                      <a:pPr algn="l"/>
                      <a:r>
                        <a:rPr lang="ja-JP" sz="1200" b="1">
                          <a:solidFill>
                            <a:srgbClr val="1F2A5C"/>
                          </a:solidFill>
                          <a:latin typeface="メイリオ"/>
                          <a:ea typeface="メイリオ"/>
                          <a:cs typeface="メイリオ"/>
                        </a:rPr>
                        <a:t>⑥ 有効リードの再育成</a:t>
                      </a:r>
                    </a:p>
                  </a:txBody>
                  <a:tcPr marR="73152" anchor="ctr">
                    <a:solidFill>
                      <a:srgbClr val="F5F7FA"/>
                    </a:solidFill>
                  </a:tcPr>
                </a:tc>
                <a:tc>
                  <a:txBody>
                    <a:bodyPr/>
                    <a:lstStyle/>
                    <a:p>
                      <a:pPr algn="l"/>
                      <a:r>
                        <a:rPr lang="ja-JP" sz="1200" b="0">
                          <a:solidFill>
                            <a:srgbClr val="333333"/>
                          </a:solidFill>
                          <a:latin typeface="メイリオ"/>
                          <a:ea typeface="メイリオ"/>
                          <a:cs typeface="メイリオ"/>
                        </a:rPr>
                        <a:t>未入会／予約したが不参加</a:t>
                      </a:r>
                    </a:p>
                  </a:txBody>
                  <a:tcPr marR="73152" anchor="ctr">
                    <a:solidFill>
                      <a:srgbClr val="F5F7FA"/>
                    </a:solidFill>
                  </a:tcPr>
                </a:tc>
                <a:tc>
                  <a:txBody>
                    <a:bodyPr/>
                    <a:lstStyle/>
                    <a:p>
                      <a:pPr algn="l"/>
                      <a:r>
                        <a:rPr lang="ja-JP" sz="1200" b="0">
                          <a:solidFill>
                            <a:srgbClr val="333333"/>
                          </a:solidFill>
                          <a:latin typeface="メイリオ"/>
                          <a:ea typeface="メイリオ"/>
                          <a:cs typeface="メイリオ"/>
                        </a:rPr>
                        <a:t>次のイベントまで期間が空く</a:t>
                      </a:r>
                    </a:p>
                  </a:txBody>
                  <a:tcPr marR="73152" anchor="ctr">
                    <a:solidFill>
                      <a:srgbClr val="F5F7FA"/>
                    </a:solidFill>
                  </a:tcPr>
                </a:tc>
                <a:tc>
                  <a:txBody>
                    <a:bodyPr/>
                    <a:lstStyle/>
                    <a:p>
                      <a:pPr algn="l"/>
                      <a:r>
                        <a:rPr lang="ja-JP" sz="1200" b="0">
                          <a:solidFill>
                            <a:srgbClr val="333333"/>
                          </a:solidFill>
                          <a:latin typeface="メイリオ"/>
                          <a:ea typeface="メイリオ"/>
                          <a:cs typeface="メイリオ"/>
                        </a:rPr>
                        <a:t>月1〜2回の配信で次回へ</a:t>
                      </a:r>
                    </a:p>
                  </a:txBody>
                  <a:tcPr marR="73152" anchor="ctr">
                    <a:solidFill>
                      <a:srgbClr val="F5F7FA"/>
                    </a:solidFill>
                  </a:tcPr>
                </a:tc>
                <a:extLst>
                  <a:ext uri="{0D108BD9-81ED-4DB2-BD59-A6C34878D82A}">
                    <a16:rowId xmlns:a16="http://schemas.microsoft.com/office/drawing/2014/main" val="10006"/>
                  </a:ext>
                </a:extLst>
              </a:tr>
              <a:tr h="329184">
                <a:tc>
                  <a:txBody>
                    <a:bodyPr/>
                    <a:lstStyle/>
                    <a:p>
                      <a:pPr algn="l"/>
                      <a:r>
                        <a:rPr lang="ja-JP" sz="1200" b="1">
                          <a:solidFill>
                            <a:srgbClr val="1F2A5C"/>
                          </a:solidFill>
                          <a:latin typeface="メイリオ"/>
                          <a:ea typeface="メイリオ"/>
                          <a:cs typeface="メイリオ"/>
                        </a:rPr>
                        <a:t>⑦ マネタイズ(成約/購入)</a:t>
                      </a:r>
                    </a:p>
                  </a:txBody>
                  <a:tcPr marR="73152" anchor="ctr">
                    <a:solidFill>
                      <a:srgbClr val="FFFFFF"/>
                    </a:solidFill>
                  </a:tcPr>
                </a:tc>
                <a:tc>
                  <a:txBody>
                    <a:bodyPr/>
                    <a:lstStyle/>
                    <a:p>
                      <a:pPr algn="l"/>
                      <a:r>
                        <a:rPr lang="ja-JP" sz="1200" b="0">
                          <a:solidFill>
                            <a:srgbClr val="333333"/>
                          </a:solidFill>
                          <a:latin typeface="メイリオ"/>
                          <a:ea typeface="メイリオ"/>
                          <a:cs typeface="メイリオ"/>
                        </a:rPr>
                        <a:t>サロンの入会を検討</a:t>
                      </a:r>
                    </a:p>
                  </a:txBody>
                  <a:tcPr marR="73152" anchor="ctr">
                    <a:solidFill>
                      <a:srgbClr val="FFFFFF"/>
                    </a:solidFill>
                  </a:tcPr>
                </a:tc>
                <a:tc>
                  <a:txBody>
                    <a:bodyPr/>
                    <a:lstStyle/>
                    <a:p>
                      <a:pPr algn="l"/>
                      <a:r>
                        <a:rPr lang="ja-JP" sz="1200" b="0">
                          <a:solidFill>
                            <a:srgbClr val="333333"/>
                          </a:solidFill>
                          <a:latin typeface="メイリオ"/>
                          <a:ea typeface="メイリオ"/>
                          <a:cs typeface="メイリオ"/>
                        </a:rPr>
                        <a:t>入会後の中身・成果が見えない</a:t>
                      </a:r>
                    </a:p>
                  </a:txBody>
                  <a:tcPr marR="73152" anchor="ctr">
                    <a:solidFill>
                      <a:srgbClr val="FFFFFF"/>
                    </a:solidFill>
                  </a:tcPr>
                </a:tc>
                <a:tc>
                  <a:txBody>
                    <a:bodyPr/>
                    <a:lstStyle/>
                    <a:p>
                      <a:pPr algn="l"/>
                      <a:r>
                        <a:rPr lang="ja-JP" sz="1200" b="0">
                          <a:solidFill>
                            <a:srgbClr val="333333"/>
                          </a:solidFill>
                          <a:latin typeface="メイリオ"/>
                          <a:ea typeface="メイリオ"/>
                          <a:cs typeface="メイリオ"/>
                        </a:rPr>
                        <a:t>入会した方の声を配信</a:t>
                      </a:r>
                    </a:p>
                  </a:txBody>
                  <a:tcPr marR="73152" anchor="ctr">
                    <a:solidFill>
                      <a:srgbClr val="FFFFFF"/>
                    </a:solidFill>
                  </a:tcPr>
                </a:tc>
                <a:extLst>
                  <a:ext uri="{0D108BD9-81ED-4DB2-BD59-A6C34878D82A}">
                    <a16:rowId xmlns:a16="http://schemas.microsoft.com/office/drawing/2014/main" val="10007"/>
                  </a:ext>
                </a:extLst>
              </a:tr>
              <a:tr h="329184">
                <a:tc>
                  <a:txBody>
                    <a:bodyPr/>
                    <a:lstStyle/>
                    <a:p>
                      <a:pPr algn="l"/>
                      <a:r>
                        <a:rPr lang="ja-JP" sz="1200" b="1">
                          <a:solidFill>
                            <a:srgbClr val="1F2A5C"/>
                          </a:solidFill>
                          <a:latin typeface="メイリオ"/>
                          <a:ea typeface="メイリオ"/>
                          <a:cs typeface="メイリオ"/>
                        </a:rPr>
                        <a:t>⑧ LTV最大化・紹介</a:t>
                      </a:r>
                    </a:p>
                  </a:txBody>
                  <a:tcPr marR="73152" anchor="ctr">
                    <a:solidFill>
                      <a:srgbClr val="F5F7FA"/>
                    </a:solidFill>
                  </a:tcPr>
                </a:tc>
                <a:tc>
                  <a:txBody>
                    <a:bodyPr/>
                    <a:lstStyle/>
                    <a:p>
                      <a:pPr algn="l"/>
                      <a:r>
                        <a:rPr lang="ja-JP" sz="1200" b="0">
                          <a:solidFill>
                            <a:srgbClr val="333333"/>
                          </a:solidFill>
                          <a:latin typeface="メイリオ"/>
                          <a:ea typeface="メイリオ"/>
                          <a:cs typeface="メイリオ"/>
                        </a:rPr>
                        <a:t>サロンに入会</a:t>
                      </a:r>
                    </a:p>
                  </a:txBody>
                  <a:tcPr marR="73152" anchor="ctr">
                    <a:solidFill>
                      <a:srgbClr val="F5F7FA"/>
                    </a:solidFill>
                  </a:tcPr>
                </a:tc>
                <a:tc>
                  <a:txBody>
                    <a:bodyPr/>
                    <a:lstStyle/>
                    <a:p>
                      <a:pPr algn="l"/>
                      <a:r>
                        <a:rPr lang="ja-JP" sz="1200" b="0">
                          <a:solidFill>
                            <a:srgbClr val="333333"/>
                          </a:solidFill>
                          <a:latin typeface="メイリオ"/>
                          <a:ea typeface="メイリオ"/>
                          <a:cs typeface="メイリオ"/>
                        </a:rPr>
                        <a:t>継続利用・紹介まで届きにくい</a:t>
                      </a:r>
                    </a:p>
                  </a:txBody>
                  <a:tcPr marR="73152" anchor="ctr">
                    <a:solidFill>
                      <a:srgbClr val="F5F7FA"/>
                    </a:solidFill>
                  </a:tcPr>
                </a:tc>
                <a:tc>
                  <a:txBody>
                    <a:bodyPr/>
                    <a:lstStyle/>
                    <a:p>
                      <a:pPr algn="l"/>
                      <a:r>
                        <a:rPr lang="ja-JP" sz="1200" b="0">
                          <a:solidFill>
                            <a:srgbClr val="333333"/>
                          </a:solidFill>
                          <a:latin typeface="メイリオ"/>
                          <a:ea typeface="メイリオ"/>
                          <a:cs typeface="メイリオ"/>
                        </a:rPr>
                        <a:t>イベント案内・紹介（中長期）</a:t>
                      </a:r>
                    </a:p>
                  </a:txBody>
                  <a:tcPr marR="73152" anchor="ctr">
                    <a:solidFill>
                      <a:srgbClr val="F5F7FA"/>
                    </a:solidFill>
                  </a:tcPr>
                </a:tc>
                <a:extLst>
                  <a:ext uri="{0D108BD9-81ED-4DB2-BD59-A6C34878D82A}">
                    <a16:rowId xmlns:a16="http://schemas.microsoft.com/office/drawing/2014/main" val="10008"/>
                  </a:ext>
                </a:extLst>
              </a:tr>
            </a:tbl>
          </a:graphicData>
        </a:graphic>
      </p:graphicFrame>
      <p:sp>
        <p:nvSpPr>
          <p:cNvPr id="19" name="テキスト ボックス 18">
            <a:extLst>
              <a:ext uri="{FF2B5EF4-FFF2-40B4-BE49-F238E27FC236}">
                <a16:creationId xmlns:a16="http://schemas.microsoft.com/office/drawing/2014/main" id="{66008B0A-0A1F-2AD8-1A0D-BF496D4F453D}"/>
              </a:ext>
            </a:extLst>
          </p:cNvPr>
          <p:cNvSpPr txBox="1"/>
          <p:nvPr/>
        </p:nvSpPr>
        <p:spPr>
          <a:xfrm>
            <a:off x="181151" y="707743"/>
            <a:ext cx="9476706" cy="307777"/>
          </a:xfrm>
          <a:prstGeom prst="rect">
            <a:avLst/>
          </a:prstGeom>
          <a:noFill/>
        </p:spPr>
        <p:txBody>
          <a:bodyPr wrap="square">
            <a:spAutoFit/>
          </a:bodyPr>
          <a:lstStyle/>
          <a:p>
            <a:pPr marL="228600">
              <a:spcAft>
                <a:spcPts val="800"/>
              </a:spcAft>
              <a:buNone/>
            </a:pPr>
            <a:r>
              <a:rPr lang="en-US" altLang="ja-JP" sz="1400" dirty="0">
                <a:effectLst/>
                <a:latin typeface="メイリオ" panose="02020603050405020304" pitchFamily="18" charset="0"/>
                <a:ea typeface="メイリオ" panose="020B0604030504040204" pitchFamily="50" charset="-128"/>
                <a:cs typeface="メイリオ" panose="020B0604030504040204" pitchFamily="50" charset="-128"/>
              </a:rPr>
              <a:t>8</a:t>
            </a:r>
            <a:r>
              <a:rPr lang="ja-JP" altLang="en-US" sz="1400" dirty="0">
                <a:effectLst/>
                <a:latin typeface="メイリオ" panose="02020603050405020304" pitchFamily="18" charset="0"/>
                <a:ea typeface="メイリオ" panose="020B0604030504040204" pitchFamily="50" charset="-128"/>
                <a:cs typeface="メイリオ" panose="020B0604030504040204" pitchFamily="50" charset="-128"/>
              </a:rPr>
              <a:t>フェーズごとのユーザー心理・離脱課題・</a:t>
            </a:r>
            <a:r>
              <a:rPr lang="en-US" altLang="ja-JP" sz="1400" dirty="0">
                <a:effectLst/>
                <a:latin typeface="メイリオ" panose="02020603050405020304" pitchFamily="18" charset="0"/>
                <a:ea typeface="メイリオ" panose="020B0604030504040204" pitchFamily="50" charset="-128"/>
                <a:cs typeface="メイリオ" panose="020B0604030504040204" pitchFamily="50" charset="-128"/>
              </a:rPr>
              <a:t>LINE OA</a:t>
            </a:r>
            <a:r>
              <a:rPr lang="ja-JP" altLang="en-US" sz="1400" dirty="0">
                <a:effectLst/>
                <a:latin typeface="メイリオ" panose="02020603050405020304" pitchFamily="18" charset="0"/>
                <a:ea typeface="メイリオ" panose="020B0604030504040204" pitchFamily="50" charset="-128"/>
                <a:cs typeface="メイリオ" panose="020B0604030504040204" pitchFamily="50" charset="-128"/>
              </a:rPr>
              <a:t>の役割を一覧化し、以降の施策設計の土台とする。</a:t>
            </a:r>
            <a:endParaRPr lang="ja-JP" altLang="ja-JP" sz="1100" dirty="0">
              <a:effectLst/>
              <a:latin typeface="メイリオ" panose="02020603050405020304" pitchFamily="18" charset="0"/>
              <a:ea typeface="メイリオ" panose="02020400000000000000" pitchFamily="18" charset="-128"/>
              <a:cs typeface="メイリオ"/>
            </a:endParaRPr>
          </a:p>
        </p:txBody>
      </p:sp>
    </p:spTree>
    <p:extLst>
      <p:ext uri="{BB962C8B-B14F-4D97-AF65-F5344CB8AC3E}">
        <p14:creationId xmlns:p14="http://schemas.microsoft.com/office/powerpoint/2010/main" val="357127231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FD3B1F-7F7B-6271-9DE8-D3CECB4AEE7A}"/>
            </a:ext>
          </a:extLst>
        </p:cNvPr>
        <p:cNvGrpSpPr/>
        <p:nvPr/>
      </p:nvGrpSpPr>
      <p:grpSpPr>
        <a:xfrm>
          <a:off x="0" y="0"/>
          <a:ext cx="0" cy="0"/>
          <a:chOff x="0" y="0"/>
          <a:chExt cx="0" cy="0"/>
        </a:xfrm>
      </p:grpSpPr>
      <p:sp>
        <p:nvSpPr>
          <p:cNvPr id="6" name="Google Shape;752;p28">
            <a:extLst>
              <a:ext uri="{FF2B5EF4-FFF2-40B4-BE49-F238E27FC236}">
                <a16:creationId xmlns:a16="http://schemas.microsoft.com/office/drawing/2014/main" id="{8421BF1B-3828-BADE-4033-28B8258FFCB2}"/>
              </a:ext>
            </a:extLst>
          </p:cNvPr>
          <p:cNvSpPr txBox="1"/>
          <p:nvPr/>
        </p:nvSpPr>
        <p:spPr>
          <a:xfrm>
            <a:off x="548883" y="138137"/>
            <a:ext cx="7027574" cy="338514"/>
          </a:xfrm>
          <a:prstGeom prst="rect">
            <a:avLst/>
          </a:prstGeom>
          <a:noFill/>
          <a:ln>
            <a:noFill/>
          </a:ln>
        </p:spPr>
        <p:txBody>
          <a:bodyPr spcFirstLastPara="1" wrap="square" lIns="91425" tIns="45700" rIns="91425" bIns="45700" anchor="ctr" anchorCtr="0">
            <a:spAutoFit/>
          </a:bodyPr>
          <a:lstStyle/>
          <a:p>
            <a:pPr lvl="0">
              <a:buClr>
                <a:srgbClr val="002060"/>
              </a:buClr>
              <a:buSzPts val="1600"/>
            </a:pPr>
            <a:r>
              <a:rPr lang="ja-JP" altLang="en-US" sz="1600" b="1" dirty="0">
                <a:solidFill>
                  <a:srgbClr val="002060"/>
                </a:solidFill>
                <a:latin typeface="メイリオ"/>
                <a:ea typeface="メイリオ"/>
                <a:cs typeface="メイリオ"/>
                <a:sym typeface="Meiryo"/>
              </a:rPr>
              <a:t>全体設計</a:t>
            </a:r>
          </a:p>
        </p:txBody>
      </p:sp>
      <p:sp>
        <p:nvSpPr>
          <p:cNvPr id="3" name="テキスト ボックス 2">
            <a:extLst>
              <a:ext uri="{FF2B5EF4-FFF2-40B4-BE49-F238E27FC236}">
                <a16:creationId xmlns:a16="http://schemas.microsoft.com/office/drawing/2014/main" id="{EDD3D979-9EEB-6B18-F888-A17F98CFB00B}"/>
              </a:ext>
            </a:extLst>
          </p:cNvPr>
          <p:cNvSpPr txBox="1"/>
          <p:nvPr/>
        </p:nvSpPr>
        <p:spPr>
          <a:xfrm>
            <a:off x="4630780" y="1385918"/>
            <a:ext cx="1285343" cy="261610"/>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cs typeface="メイリオ"/>
              </a:rPr>
              <a:t>⑤ 有効化</a:t>
            </a:r>
            <a:endParaRPr lang="ja-JP" altLang="ja-JP" sz="1100" b="1" dirty="0">
              <a:latin typeface="メイリオ" panose="020B0604030504040204" pitchFamily="50" charset="-128"/>
              <a:ea typeface="メイリオ" panose="020B0604030504040204" pitchFamily="50" charset="-128"/>
              <a:cs typeface="メイリオ"/>
            </a:endParaRPr>
          </a:p>
        </p:txBody>
      </p:sp>
      <p:sp>
        <p:nvSpPr>
          <p:cNvPr id="4" name="テキスト ボックス 3">
            <a:extLst>
              <a:ext uri="{FF2B5EF4-FFF2-40B4-BE49-F238E27FC236}">
                <a16:creationId xmlns:a16="http://schemas.microsoft.com/office/drawing/2014/main" id="{74A29E67-E629-D5BB-0BF0-30595AA3A156}"/>
              </a:ext>
            </a:extLst>
          </p:cNvPr>
          <p:cNvSpPr txBox="1"/>
          <p:nvPr/>
        </p:nvSpPr>
        <p:spPr>
          <a:xfrm>
            <a:off x="7269500" y="1385918"/>
            <a:ext cx="1285341" cy="261610"/>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cs typeface="メイリオ"/>
              </a:rPr>
              <a:t>⑦ 入会</a:t>
            </a:r>
            <a:endParaRPr lang="ja-JP" altLang="ja-JP" sz="1100" b="1" dirty="0">
              <a:latin typeface="メイリオ" panose="020B0604030504040204" pitchFamily="50" charset="-128"/>
              <a:ea typeface="メイリオ" panose="020B0604030504040204" pitchFamily="50" charset="-128"/>
              <a:cs typeface="メイリオ"/>
            </a:endParaRPr>
          </a:p>
        </p:txBody>
      </p:sp>
      <p:sp>
        <p:nvSpPr>
          <p:cNvPr id="5" name="テキスト ボックス 4">
            <a:extLst>
              <a:ext uri="{FF2B5EF4-FFF2-40B4-BE49-F238E27FC236}">
                <a16:creationId xmlns:a16="http://schemas.microsoft.com/office/drawing/2014/main" id="{C8FAABE7-2498-0A19-8EFA-AE3DAED1CE38}"/>
              </a:ext>
            </a:extLst>
          </p:cNvPr>
          <p:cNvSpPr txBox="1"/>
          <p:nvPr/>
        </p:nvSpPr>
        <p:spPr>
          <a:xfrm>
            <a:off x="5950140" y="1385918"/>
            <a:ext cx="1285341" cy="261610"/>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cs typeface="メイリオ"/>
              </a:rPr>
              <a:t>⑥ 再育成</a:t>
            </a:r>
            <a:endParaRPr lang="ja-JP" altLang="ja-JP" sz="1100" b="1" dirty="0">
              <a:latin typeface="メイリオ" panose="020B0604030504040204" pitchFamily="50" charset="-128"/>
              <a:ea typeface="メイリオ" panose="020B0604030504040204" pitchFamily="50" charset="-128"/>
              <a:cs typeface="メイリオ"/>
            </a:endParaRPr>
          </a:p>
        </p:txBody>
      </p:sp>
      <p:sp>
        <p:nvSpPr>
          <p:cNvPr id="8" name="テキスト ボックス 7">
            <a:extLst>
              <a:ext uri="{FF2B5EF4-FFF2-40B4-BE49-F238E27FC236}">
                <a16:creationId xmlns:a16="http://schemas.microsoft.com/office/drawing/2014/main" id="{7A77BB20-672A-267B-1278-73B82EFDB35A}"/>
              </a:ext>
            </a:extLst>
          </p:cNvPr>
          <p:cNvSpPr txBox="1"/>
          <p:nvPr/>
        </p:nvSpPr>
        <p:spPr>
          <a:xfrm>
            <a:off x="2435404" y="1385918"/>
            <a:ext cx="1063671" cy="261610"/>
          </a:xfrm>
          <a:prstGeom prst="rect">
            <a:avLst/>
          </a:prstGeom>
          <a:solidFill>
            <a:srgbClr val="F2F2F2"/>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cs typeface="メイリオ"/>
              </a:rPr>
              <a:t>③ 育成</a:t>
            </a:r>
          </a:p>
        </p:txBody>
      </p:sp>
      <p:sp>
        <p:nvSpPr>
          <p:cNvPr id="11" name="テキスト ボックス 10">
            <a:extLst>
              <a:ext uri="{FF2B5EF4-FFF2-40B4-BE49-F238E27FC236}">
                <a16:creationId xmlns:a16="http://schemas.microsoft.com/office/drawing/2014/main" id="{757FA4CB-2B6D-1C58-A1D7-FBC3E968719E}"/>
              </a:ext>
            </a:extLst>
          </p:cNvPr>
          <p:cNvSpPr txBox="1"/>
          <p:nvPr/>
        </p:nvSpPr>
        <p:spPr>
          <a:xfrm>
            <a:off x="3533092" y="1385918"/>
            <a:ext cx="1063671" cy="261610"/>
          </a:xfrm>
          <a:prstGeom prst="rect">
            <a:avLst/>
          </a:prstGeom>
          <a:solidFill>
            <a:srgbClr val="F2F2F2"/>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cs typeface="メイリオ"/>
              </a:rPr>
              <a:t>④ リード</a:t>
            </a:r>
            <a:endParaRPr lang="ja-JP" altLang="ja-JP" sz="1050" b="1" dirty="0">
              <a:latin typeface="メイリオ" panose="020B0604030504040204" pitchFamily="50" charset="-128"/>
              <a:ea typeface="メイリオ" panose="020B0604030504040204" pitchFamily="50" charset="-128"/>
              <a:cs typeface="メイリオ"/>
            </a:endParaRPr>
          </a:p>
        </p:txBody>
      </p:sp>
      <p:sp>
        <p:nvSpPr>
          <p:cNvPr id="16" name="正方形/長方形 15">
            <a:extLst>
              <a:ext uri="{FF2B5EF4-FFF2-40B4-BE49-F238E27FC236}">
                <a16:creationId xmlns:a16="http://schemas.microsoft.com/office/drawing/2014/main" id="{9F1496A9-1AA6-8C00-6027-75BA16E87457}"/>
              </a:ext>
            </a:extLst>
          </p:cNvPr>
          <p:cNvSpPr/>
          <p:nvPr/>
        </p:nvSpPr>
        <p:spPr>
          <a:xfrm>
            <a:off x="240028" y="773977"/>
            <a:ext cx="9425943" cy="44850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cxnSp>
        <p:nvCxnSpPr>
          <p:cNvPr id="17" name="直線矢印コネクタ 16">
            <a:extLst>
              <a:ext uri="{FF2B5EF4-FFF2-40B4-BE49-F238E27FC236}">
                <a16:creationId xmlns:a16="http://schemas.microsoft.com/office/drawing/2014/main" id="{0B8C27AC-9240-5C32-389B-1F46C1A17D15}"/>
              </a:ext>
            </a:extLst>
          </p:cNvPr>
          <p:cNvCxnSpPr>
            <a:cxnSpLocks/>
          </p:cNvCxnSpPr>
          <p:nvPr/>
        </p:nvCxnSpPr>
        <p:spPr>
          <a:xfrm>
            <a:off x="323367" y="1003861"/>
            <a:ext cx="9240215" cy="0"/>
          </a:xfrm>
          <a:prstGeom prst="straightConnector1">
            <a:avLst/>
          </a:prstGeom>
          <a:ln w="28575">
            <a:solidFill>
              <a:schemeClr val="tx1"/>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18" name="テキスト ボックス 17">
            <a:extLst>
              <a:ext uri="{FF2B5EF4-FFF2-40B4-BE49-F238E27FC236}">
                <a16:creationId xmlns:a16="http://schemas.microsoft.com/office/drawing/2014/main" id="{9BA284C9-F4DC-DB06-4BAF-EC4EB7A246B5}"/>
              </a:ext>
            </a:extLst>
          </p:cNvPr>
          <p:cNvSpPr txBox="1"/>
          <p:nvPr/>
        </p:nvSpPr>
        <p:spPr>
          <a:xfrm>
            <a:off x="3972228" y="875991"/>
            <a:ext cx="2315056" cy="234537"/>
          </a:xfrm>
          <a:prstGeom prst="rect">
            <a:avLst/>
          </a:prstGeom>
          <a:solidFill>
            <a:schemeClr val="bg1">
              <a:lumMod val="95000"/>
            </a:schemeClr>
          </a:solidFill>
        </p:spPr>
        <p:txBody>
          <a:bodyPr wrap="square">
            <a:spAutoFit/>
          </a:bodyPr>
          <a:lstStyle/>
          <a:p>
            <a:pPr algn="ctr"/>
            <a:r>
              <a:rPr lang="ja-JP" altLang="en-US" sz="1050" b="1" dirty="0">
                <a:latin typeface="メイリオ" panose="020B0604030504040204" pitchFamily="50" charset="-128"/>
                <a:ea typeface="メイリオ" panose="020B0604030504040204" pitchFamily="50" charset="-128"/>
                <a:cs typeface="メイリオ"/>
                <a:sym typeface="Meiryo"/>
              </a:rPr>
              <a:t>カスタマージャーニーマップ</a:t>
            </a:r>
            <a:endParaRPr lang="ja-JP" altLang="en-US" sz="1050" dirty="0">
              <a:latin typeface="メイリオ"/>
              <a:ea typeface="メイリオ"/>
              <a:cs typeface="メイリオ"/>
            </a:endParaRPr>
          </a:p>
        </p:txBody>
      </p:sp>
      <p:sp>
        <p:nvSpPr>
          <p:cNvPr id="20" name="テキスト ボックス 19">
            <a:extLst>
              <a:ext uri="{FF2B5EF4-FFF2-40B4-BE49-F238E27FC236}">
                <a16:creationId xmlns:a16="http://schemas.microsoft.com/office/drawing/2014/main" id="{5717FF50-BC66-88D1-6E63-63A2832D9840}"/>
              </a:ext>
            </a:extLst>
          </p:cNvPr>
          <p:cNvSpPr txBox="1"/>
          <p:nvPr/>
        </p:nvSpPr>
        <p:spPr>
          <a:xfrm>
            <a:off x="8588858" y="1385918"/>
            <a:ext cx="1339302" cy="261610"/>
          </a:xfrm>
          <a:prstGeom prst="rect">
            <a:avLst/>
          </a:prstGeom>
          <a:solidFill>
            <a:schemeClr val="tx1">
              <a:lumMod val="50000"/>
              <a:lumOff val="50000"/>
              <a:alpha val="30000"/>
            </a:schemeClr>
          </a:solidFill>
        </p:spPr>
        <p:txBody>
          <a:bodyPr wrap="square">
            <a:spAutoFit/>
          </a:bodyPr>
          <a:lstStyle/>
          <a:p>
            <a:pPr>
              <a:buNone/>
            </a:pPr>
            <a:r>
              <a:rPr lang="ja-JP" altLang="en-US" sz="1100" dirty="0">
                <a:latin typeface="メイリオ" panose="020B0604030504040204" pitchFamily="50" charset="-128"/>
                <a:ea typeface="メイリオ" panose="020B0604030504040204" pitchFamily="50" charset="-128"/>
                <a:cs typeface="メイリオ"/>
              </a:rPr>
              <a:t>⑧ 紹介</a:t>
            </a:r>
            <a:endParaRPr lang="en-US" altLang="ja-JP" sz="1100" dirty="0">
              <a:latin typeface="メイリオ" panose="020B0604030504040204" pitchFamily="50" charset="-128"/>
              <a:ea typeface="メイリオ" panose="020B0604030504040204" pitchFamily="50" charset="-128"/>
              <a:cs typeface="メイリオ"/>
            </a:endParaRPr>
          </a:p>
        </p:txBody>
      </p:sp>
      <p:sp>
        <p:nvSpPr>
          <p:cNvPr id="21" name="テキスト ボックス 20">
            <a:extLst>
              <a:ext uri="{FF2B5EF4-FFF2-40B4-BE49-F238E27FC236}">
                <a16:creationId xmlns:a16="http://schemas.microsoft.com/office/drawing/2014/main" id="{46D32A0E-F7DE-9D8C-2548-B53782ECD867}"/>
              </a:ext>
            </a:extLst>
          </p:cNvPr>
          <p:cNvSpPr txBox="1"/>
          <p:nvPr/>
        </p:nvSpPr>
        <p:spPr>
          <a:xfrm>
            <a:off x="240028" y="1385918"/>
            <a:ext cx="1063671" cy="261610"/>
          </a:xfrm>
          <a:prstGeom prst="rect">
            <a:avLst/>
          </a:prstGeom>
          <a:solidFill>
            <a:srgbClr val="F2F2F2"/>
          </a:solidFill>
        </p:spPr>
        <p:txBody>
          <a:bodyPr wrap="square">
            <a:spAutoFit/>
          </a:bodyPr>
          <a:lstStyle/>
          <a:p>
            <a:pPr>
              <a:buNone/>
            </a:pPr>
            <a:r>
              <a:rPr lang="ja-JP" altLang="ja-JP" sz="1100" dirty="0">
                <a:latin typeface="メイリオ" panose="020B0604030504040204" pitchFamily="50" charset="-128"/>
                <a:ea typeface="メイリオ" panose="020B0604030504040204" pitchFamily="50" charset="-128"/>
                <a:cs typeface="メイリオ"/>
              </a:rPr>
              <a:t>① 接触</a:t>
            </a:r>
          </a:p>
        </p:txBody>
      </p:sp>
      <p:sp>
        <p:nvSpPr>
          <p:cNvPr id="22" name="テキスト ボックス 21">
            <a:extLst>
              <a:ext uri="{FF2B5EF4-FFF2-40B4-BE49-F238E27FC236}">
                <a16:creationId xmlns:a16="http://schemas.microsoft.com/office/drawing/2014/main" id="{38E909FA-CB5E-B051-BA39-70C6E514BC74}"/>
              </a:ext>
            </a:extLst>
          </p:cNvPr>
          <p:cNvSpPr txBox="1"/>
          <p:nvPr/>
        </p:nvSpPr>
        <p:spPr>
          <a:xfrm>
            <a:off x="1337716" y="1385918"/>
            <a:ext cx="1063671" cy="261610"/>
          </a:xfrm>
          <a:prstGeom prst="rect">
            <a:avLst/>
          </a:prstGeom>
          <a:solidFill>
            <a:srgbClr val="F2F2F2"/>
          </a:solidFill>
        </p:spPr>
        <p:txBody>
          <a:bodyPr wrap="square">
            <a:spAutoFit/>
          </a:bodyPr>
          <a:lstStyle/>
          <a:p>
            <a:pPr>
              <a:buNone/>
            </a:pPr>
            <a:r>
              <a:rPr lang="ja-JP" altLang="ja-JP" sz="1100" dirty="0">
                <a:latin typeface="メイリオ" panose="020B0604030504040204" pitchFamily="50" charset="-128"/>
                <a:ea typeface="メイリオ" panose="020B0604030504040204" pitchFamily="50" charset="-128"/>
                <a:cs typeface="メイリオ"/>
              </a:rPr>
              <a:t>② </a:t>
            </a:r>
            <a:r>
              <a:rPr lang="ja-JP" altLang="en-US" sz="1100" dirty="0">
                <a:latin typeface="メイリオ" panose="020B0604030504040204" pitchFamily="50" charset="-128"/>
                <a:ea typeface="メイリオ" panose="020B0604030504040204" pitchFamily="50" charset="-128"/>
                <a:cs typeface="メイリオ"/>
              </a:rPr>
              <a:t>離脱</a:t>
            </a:r>
            <a:endParaRPr lang="ja-JP" altLang="ja-JP" sz="1100" dirty="0">
              <a:latin typeface="メイリオ" panose="020B0604030504040204" pitchFamily="50" charset="-128"/>
              <a:ea typeface="メイリオ" panose="020B0604030504040204" pitchFamily="50" charset="-128"/>
              <a:cs typeface="メイリオ"/>
            </a:endParaRPr>
          </a:p>
        </p:txBody>
      </p:sp>
      <p:sp>
        <p:nvSpPr>
          <p:cNvPr id="39" name="正方形/長方形 38">
            <a:extLst>
              <a:ext uri="{FF2B5EF4-FFF2-40B4-BE49-F238E27FC236}">
                <a16:creationId xmlns:a16="http://schemas.microsoft.com/office/drawing/2014/main" id="{0387F7F8-78A2-5984-62D7-5E0BC6139087}"/>
              </a:ext>
            </a:extLst>
          </p:cNvPr>
          <p:cNvSpPr/>
          <p:nvPr/>
        </p:nvSpPr>
        <p:spPr>
          <a:xfrm>
            <a:off x="1587355" y="2875302"/>
            <a:ext cx="697117" cy="756328"/>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b="1" dirty="0">
                <a:solidFill>
                  <a:schemeClr val="tx1"/>
                </a:solidFill>
                <a:latin typeface="メイリオ" panose="020B0604030504040204" pitchFamily="50" charset="-128"/>
                <a:ea typeface="メイリオ" panose="020B0604030504040204" pitchFamily="50" charset="-128"/>
                <a:cs typeface="メイリオ"/>
              </a:rPr>
              <a:t>離</a:t>
            </a:r>
            <a:endParaRPr kumimoji="1" lang="en-US" altLang="ja-JP" sz="1000" b="1" dirty="0">
              <a:solidFill>
                <a:schemeClr val="tx1"/>
              </a:solidFill>
              <a:latin typeface="メイリオ" panose="020B0604030504040204" pitchFamily="50" charset="-128"/>
              <a:ea typeface="メイリオ" panose="020B0604030504040204" pitchFamily="50" charset="-128"/>
              <a:cs typeface="メイリオ"/>
            </a:endParaRPr>
          </a:p>
          <a:p>
            <a:pPr algn="ctr"/>
            <a:r>
              <a:rPr kumimoji="1" lang="ja-JP" altLang="en-US" sz="1000" b="1" dirty="0">
                <a:solidFill>
                  <a:schemeClr val="tx1"/>
                </a:solidFill>
                <a:latin typeface="メイリオ" panose="020B0604030504040204" pitchFamily="50" charset="-128"/>
                <a:ea typeface="メイリオ" panose="020B0604030504040204" pitchFamily="50" charset="-128"/>
                <a:cs typeface="メイリオ"/>
              </a:rPr>
              <a:t>脱</a:t>
            </a:r>
            <a:endParaRPr kumimoji="1" lang="en-US" altLang="ja-JP" sz="1000" b="1" dirty="0">
              <a:solidFill>
                <a:schemeClr val="tx1"/>
              </a:solidFill>
              <a:latin typeface="メイリオ" panose="020B0604030504040204" pitchFamily="50" charset="-128"/>
              <a:ea typeface="メイリオ" panose="020B0604030504040204" pitchFamily="50" charset="-128"/>
              <a:cs typeface="メイリオ"/>
            </a:endParaRPr>
          </a:p>
          <a:p>
            <a:pPr algn="ctr"/>
            <a:r>
              <a:rPr kumimoji="1" lang="ja-JP" altLang="en-US" sz="1000" b="1" dirty="0">
                <a:solidFill>
                  <a:schemeClr val="tx1"/>
                </a:solidFill>
                <a:latin typeface="メイリオ" panose="020B0604030504040204" pitchFamily="50" charset="-128"/>
                <a:ea typeface="メイリオ" panose="020B0604030504040204" pitchFamily="50" charset="-128"/>
                <a:cs typeface="メイリオ"/>
              </a:rPr>
              <a:t>防</a:t>
            </a:r>
            <a:endParaRPr kumimoji="1" lang="en-US" altLang="ja-JP" sz="1000" b="1" dirty="0">
              <a:solidFill>
                <a:schemeClr val="tx1"/>
              </a:solidFill>
              <a:latin typeface="メイリオ" panose="020B0604030504040204" pitchFamily="50" charset="-128"/>
              <a:ea typeface="メイリオ" panose="020B0604030504040204" pitchFamily="50" charset="-128"/>
              <a:cs typeface="メイリオ"/>
            </a:endParaRPr>
          </a:p>
          <a:p>
            <a:pPr algn="ctr"/>
            <a:r>
              <a:rPr kumimoji="1" lang="ja-JP" altLang="en-US" sz="1000" b="1" dirty="0">
                <a:solidFill>
                  <a:schemeClr val="tx1"/>
                </a:solidFill>
                <a:latin typeface="メイリオ" panose="020B0604030504040204" pitchFamily="50" charset="-128"/>
                <a:ea typeface="メイリオ" panose="020B0604030504040204" pitchFamily="50" charset="-128"/>
                <a:cs typeface="メイリオ"/>
              </a:rPr>
              <a:t>止</a:t>
            </a:r>
            <a:endParaRPr lang="en-US" altLang="ja-JP" sz="100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41" name="正方形/長方形 40">
            <a:extLst>
              <a:ext uri="{FF2B5EF4-FFF2-40B4-BE49-F238E27FC236}">
                <a16:creationId xmlns:a16="http://schemas.microsoft.com/office/drawing/2014/main" id="{4EA0C91B-78C6-BBBB-2C69-9BB0F2452933}"/>
              </a:ext>
            </a:extLst>
          </p:cNvPr>
          <p:cNvSpPr/>
          <p:nvPr/>
        </p:nvSpPr>
        <p:spPr>
          <a:xfrm>
            <a:off x="2618680" y="3637979"/>
            <a:ext cx="697117" cy="304797"/>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dirty="0">
                <a:solidFill>
                  <a:schemeClr val="tx1"/>
                </a:solidFill>
                <a:latin typeface="メイリオ" panose="020B0604030504040204" pitchFamily="50" charset="-128"/>
                <a:ea typeface="メイリオ" panose="020B0604030504040204" pitchFamily="50" charset="-128"/>
                <a:cs typeface="メイリオ"/>
              </a:rPr>
              <a:t>予約完了</a:t>
            </a:r>
            <a:endParaRPr lang="en-US" altLang="ja-JP" sz="1000" dirty="0">
              <a:solidFill>
                <a:schemeClr val="tx1"/>
              </a:solidFill>
              <a:latin typeface="メイリオ" panose="020B0604030504040204" pitchFamily="50" charset="-128"/>
              <a:ea typeface="メイリオ" panose="020B0604030504040204" pitchFamily="50" charset="-128"/>
              <a:cs typeface="メイリオ"/>
            </a:endParaRPr>
          </a:p>
        </p:txBody>
      </p:sp>
      <p:sp>
        <p:nvSpPr>
          <p:cNvPr id="43" name="正方形/長方形 42">
            <a:extLst>
              <a:ext uri="{FF2B5EF4-FFF2-40B4-BE49-F238E27FC236}">
                <a16:creationId xmlns:a16="http://schemas.microsoft.com/office/drawing/2014/main" id="{16F18994-DA2E-D80B-5B66-954D59885119}"/>
              </a:ext>
            </a:extLst>
          </p:cNvPr>
          <p:cNvSpPr/>
          <p:nvPr/>
        </p:nvSpPr>
        <p:spPr>
          <a:xfrm>
            <a:off x="3554602" y="3544936"/>
            <a:ext cx="1020649" cy="490881"/>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b="1" dirty="0">
                <a:solidFill>
                  <a:schemeClr val="tx1"/>
                </a:solidFill>
                <a:latin typeface="メイリオ" panose="020B0604030504040204" pitchFamily="50" charset="-128"/>
                <a:ea typeface="メイリオ" panose="020B0604030504040204" pitchFamily="50" charset="-128"/>
                <a:cs typeface="メイリオ"/>
              </a:rPr>
              <a:t>予約完了後の</a:t>
            </a:r>
            <a:endParaRPr lang="en-US" altLang="ja-JP" sz="1000" b="1" dirty="0">
              <a:solidFill>
                <a:schemeClr val="tx1"/>
              </a:solidFill>
              <a:latin typeface="メイリオ" panose="020B0604030504040204" pitchFamily="50" charset="-128"/>
              <a:ea typeface="メイリオ" panose="020B0604030504040204" pitchFamily="50" charset="-128"/>
              <a:cs typeface="メイリオ"/>
            </a:endParaRPr>
          </a:p>
          <a:p>
            <a:pPr algn="ctr"/>
            <a:r>
              <a:rPr lang="ja-JP" altLang="en-US" sz="1000" b="1" dirty="0">
                <a:solidFill>
                  <a:schemeClr val="tx1"/>
                </a:solidFill>
                <a:latin typeface="メイリオ" panose="020B0604030504040204" pitchFamily="50" charset="-128"/>
                <a:ea typeface="メイリオ" panose="020B0604030504040204" pitchFamily="50" charset="-128"/>
                <a:cs typeface="メイリオ"/>
              </a:rPr>
              <a:t>友だち追加</a:t>
            </a:r>
            <a:endParaRPr lang="en-US" altLang="ja-JP" sz="1000" b="1" dirty="0">
              <a:solidFill>
                <a:schemeClr val="tx1"/>
              </a:solidFill>
              <a:latin typeface="メイリオ" panose="020B0604030504040204" pitchFamily="50" charset="-128"/>
              <a:ea typeface="メイリオ" panose="020B0604030504040204" pitchFamily="50" charset="-128"/>
              <a:cs typeface="メイリオ"/>
            </a:endParaRPr>
          </a:p>
        </p:txBody>
      </p:sp>
      <p:cxnSp>
        <p:nvCxnSpPr>
          <p:cNvPr id="44" name="直線矢印コネクタ 43">
            <a:extLst>
              <a:ext uri="{FF2B5EF4-FFF2-40B4-BE49-F238E27FC236}">
                <a16:creationId xmlns:a16="http://schemas.microsoft.com/office/drawing/2014/main" id="{EB54D42B-999A-C988-8087-353D7313BC5D}"/>
              </a:ext>
            </a:extLst>
          </p:cNvPr>
          <p:cNvCxnSpPr>
            <a:cxnSpLocks/>
          </p:cNvCxnSpPr>
          <p:nvPr/>
        </p:nvCxnSpPr>
        <p:spPr>
          <a:xfrm>
            <a:off x="3332019" y="3790376"/>
            <a:ext cx="198486" cy="0"/>
          </a:xfrm>
          <a:prstGeom prst="straightConnector1">
            <a:avLst/>
          </a:prstGeom>
          <a:ln w="22225">
            <a:solidFill>
              <a:schemeClr val="tx2"/>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48" name="正方形/長方形 47">
            <a:extLst>
              <a:ext uri="{FF2B5EF4-FFF2-40B4-BE49-F238E27FC236}">
                <a16:creationId xmlns:a16="http://schemas.microsoft.com/office/drawing/2014/main" id="{98DC54E6-D786-24C4-0A98-CF27487E94A5}"/>
              </a:ext>
            </a:extLst>
          </p:cNvPr>
          <p:cNvSpPr/>
          <p:nvPr/>
        </p:nvSpPr>
        <p:spPr>
          <a:xfrm>
            <a:off x="2628833" y="4890712"/>
            <a:ext cx="843512" cy="490881"/>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b="1" dirty="0">
                <a:solidFill>
                  <a:schemeClr val="tx1"/>
                </a:solidFill>
                <a:latin typeface="メイリオ" panose="020B0604030504040204" pitchFamily="50" charset="-128"/>
                <a:ea typeface="メイリオ" panose="020B0604030504040204" pitchFamily="50" charset="-128"/>
                <a:cs typeface="メイリオ"/>
              </a:rPr>
              <a:t>友だち</a:t>
            </a:r>
            <a:endParaRPr lang="en-US" altLang="ja-JP" sz="1000" b="1" dirty="0">
              <a:solidFill>
                <a:schemeClr val="tx1"/>
              </a:solidFill>
              <a:latin typeface="メイリオ" panose="020B0604030504040204" pitchFamily="50" charset="-128"/>
              <a:ea typeface="メイリオ" panose="020B0604030504040204" pitchFamily="50" charset="-128"/>
              <a:cs typeface="メイリオ"/>
            </a:endParaRPr>
          </a:p>
          <a:p>
            <a:pPr algn="ctr"/>
            <a:r>
              <a:rPr lang="ja-JP" altLang="en-US" sz="1000" b="1" dirty="0">
                <a:solidFill>
                  <a:schemeClr val="tx1"/>
                </a:solidFill>
                <a:latin typeface="メイリオ" panose="020B0604030504040204" pitchFamily="50" charset="-128"/>
                <a:ea typeface="メイリオ" panose="020B0604030504040204" pitchFamily="50" charset="-128"/>
                <a:cs typeface="メイリオ"/>
              </a:rPr>
              <a:t>追加誘導</a:t>
            </a:r>
            <a:endParaRPr lang="en-US" altLang="ja-JP" sz="1000" b="1" dirty="0">
              <a:solidFill>
                <a:schemeClr val="tx1"/>
              </a:solidFill>
              <a:latin typeface="メイリオ" panose="020B0604030504040204" pitchFamily="50" charset="-128"/>
              <a:ea typeface="メイリオ" panose="020B0604030504040204" pitchFamily="50" charset="-128"/>
              <a:cs typeface="メイリオ"/>
            </a:endParaRPr>
          </a:p>
        </p:txBody>
      </p:sp>
      <p:cxnSp>
        <p:nvCxnSpPr>
          <p:cNvPr id="49" name="直線矢印コネクタ 48">
            <a:extLst>
              <a:ext uri="{FF2B5EF4-FFF2-40B4-BE49-F238E27FC236}">
                <a16:creationId xmlns:a16="http://schemas.microsoft.com/office/drawing/2014/main" id="{D6140142-DD1A-809C-DE27-D2CD7D992B51}"/>
              </a:ext>
            </a:extLst>
          </p:cNvPr>
          <p:cNvCxnSpPr>
            <a:cxnSpLocks/>
          </p:cNvCxnSpPr>
          <p:nvPr/>
        </p:nvCxnSpPr>
        <p:spPr>
          <a:xfrm>
            <a:off x="3572613" y="5136153"/>
            <a:ext cx="1974603" cy="1512"/>
          </a:xfrm>
          <a:prstGeom prst="straightConnector1">
            <a:avLst/>
          </a:prstGeom>
          <a:ln w="57150">
            <a:solidFill>
              <a:srgbClr val="04FA0A"/>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56" name="左中かっこ 55">
            <a:extLst>
              <a:ext uri="{FF2B5EF4-FFF2-40B4-BE49-F238E27FC236}">
                <a16:creationId xmlns:a16="http://schemas.microsoft.com/office/drawing/2014/main" id="{9F7871CB-0948-ED66-262E-E4668DAEA788}"/>
              </a:ext>
            </a:extLst>
          </p:cNvPr>
          <p:cNvSpPr/>
          <p:nvPr/>
        </p:nvSpPr>
        <p:spPr>
          <a:xfrm>
            <a:off x="3306385" y="5445071"/>
            <a:ext cx="165959" cy="752529"/>
          </a:xfrm>
          <a:prstGeom prst="leftBrace">
            <a:avLst>
              <a:gd name="adj1" fmla="val 8333"/>
              <a:gd name="adj2" fmla="val 10247"/>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solidFill>
                <a:schemeClr val="tx1">
                  <a:lumMod val="65000"/>
                  <a:lumOff val="35000"/>
                </a:schemeClr>
              </a:solidFill>
              <a:latin typeface="メイリオ"/>
              <a:ea typeface="メイリオ"/>
              <a:cs typeface="メイリオ"/>
            </a:endParaRPr>
          </a:p>
        </p:txBody>
      </p:sp>
      <p:sp>
        <p:nvSpPr>
          <p:cNvPr id="58" name="テキスト ボックス 57">
            <a:extLst>
              <a:ext uri="{FF2B5EF4-FFF2-40B4-BE49-F238E27FC236}">
                <a16:creationId xmlns:a16="http://schemas.microsoft.com/office/drawing/2014/main" id="{524DFC21-9336-5CCC-A46E-6B03A60F8CD8}"/>
              </a:ext>
            </a:extLst>
          </p:cNvPr>
          <p:cNvSpPr txBox="1"/>
          <p:nvPr/>
        </p:nvSpPr>
        <p:spPr>
          <a:xfrm>
            <a:off x="3472344" y="5451968"/>
            <a:ext cx="1307291" cy="553998"/>
          </a:xfrm>
          <a:prstGeom prst="rect">
            <a:avLst/>
          </a:prstGeom>
          <a:noFill/>
        </p:spPr>
        <p:txBody>
          <a:bodyPr wrap="square">
            <a:spAutoFit/>
          </a:bodyPr>
          <a:lstStyle/>
          <a:p>
            <a:r>
              <a:rPr lang="ja-JP" altLang="en-US" sz="1000" b="1" dirty="0">
                <a:solidFill>
                  <a:schemeClr val="tx1"/>
                </a:solidFill>
                <a:latin typeface="メイリオ" panose="020B0604030504040204" pitchFamily="50" charset="-128"/>
                <a:ea typeface="メイリオ" panose="020B0604030504040204" pitchFamily="50" charset="-128"/>
                <a:cs typeface="メイリオ"/>
              </a:rPr>
              <a:t>・見どころ</a:t>
            </a:r>
            <a:r>
              <a:rPr lang="ja-JP" altLang="en-US" sz="1000" b="1" dirty="0">
                <a:latin typeface="メイリオ" panose="020B0604030504040204" pitchFamily="50" charset="-128"/>
                <a:ea typeface="メイリオ" panose="020B0604030504040204" pitchFamily="50" charset="-128"/>
                <a:cs typeface="メイリオ"/>
              </a:rPr>
              <a:t>配信</a:t>
            </a:r>
            <a:endParaRPr lang="en-US" altLang="ja-JP" sz="1000" b="1" dirty="0">
              <a:solidFill>
                <a:schemeClr val="tx1"/>
              </a:solidFill>
              <a:latin typeface="メイリオ" panose="020B0604030504040204" pitchFamily="50" charset="-128"/>
              <a:ea typeface="メイリオ" panose="020B0604030504040204" pitchFamily="50" charset="-128"/>
              <a:cs typeface="メイリオ"/>
            </a:endParaRPr>
          </a:p>
          <a:p>
            <a:r>
              <a:rPr lang="ja-JP" altLang="en-US" sz="1000" b="1" dirty="0">
                <a:latin typeface="メイリオ" panose="020B0604030504040204" pitchFamily="50" charset="-128"/>
                <a:ea typeface="メイリオ" panose="020B0604030504040204" pitchFamily="50" charset="-128"/>
                <a:cs typeface="メイリオ"/>
              </a:rPr>
              <a:t>・参加特典</a:t>
            </a:r>
            <a:endParaRPr lang="en-US" altLang="ja-JP" sz="1000" b="1" dirty="0">
              <a:solidFill>
                <a:schemeClr val="tx1"/>
              </a:solidFill>
              <a:latin typeface="メイリオ" panose="020B0604030504040204" pitchFamily="50" charset="-128"/>
              <a:ea typeface="メイリオ" panose="020B0604030504040204" pitchFamily="50" charset="-128"/>
              <a:cs typeface="メイリオ"/>
            </a:endParaRPr>
          </a:p>
          <a:p>
            <a:r>
              <a:rPr lang="ja-JP" altLang="en-US" sz="1000" b="1" dirty="0">
                <a:solidFill>
                  <a:schemeClr val="tx1"/>
                </a:solidFill>
                <a:latin typeface="メイリオ" panose="020B0604030504040204" pitchFamily="50" charset="-128"/>
                <a:ea typeface="メイリオ" panose="020B0604030504040204" pitchFamily="50" charset="-128"/>
                <a:cs typeface="メイリオ"/>
              </a:rPr>
              <a:t>・ステップ配信</a:t>
            </a:r>
            <a:endParaRPr lang="en-US" altLang="ja-JP" sz="100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60" name="左中かっこ 59">
            <a:extLst>
              <a:ext uri="{FF2B5EF4-FFF2-40B4-BE49-F238E27FC236}">
                <a16:creationId xmlns:a16="http://schemas.microsoft.com/office/drawing/2014/main" id="{6D1FBEB7-0DA2-6BD0-D8E5-5287AABE463D}"/>
              </a:ext>
            </a:extLst>
          </p:cNvPr>
          <p:cNvSpPr/>
          <p:nvPr/>
        </p:nvSpPr>
        <p:spPr>
          <a:xfrm>
            <a:off x="4341554" y="4064872"/>
            <a:ext cx="165959" cy="681427"/>
          </a:xfrm>
          <a:prstGeom prst="leftBrace">
            <a:avLst>
              <a:gd name="adj1" fmla="val 8333"/>
              <a:gd name="adj2" fmla="val 10247"/>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solidFill>
                <a:schemeClr val="tx1">
                  <a:lumMod val="65000"/>
                  <a:lumOff val="35000"/>
                </a:schemeClr>
              </a:solidFill>
              <a:latin typeface="メイリオ"/>
              <a:ea typeface="メイリオ"/>
              <a:cs typeface="メイリオ"/>
            </a:endParaRPr>
          </a:p>
        </p:txBody>
      </p:sp>
      <p:sp>
        <p:nvSpPr>
          <p:cNvPr id="62" name="テキスト ボックス 61">
            <a:extLst>
              <a:ext uri="{FF2B5EF4-FFF2-40B4-BE49-F238E27FC236}">
                <a16:creationId xmlns:a16="http://schemas.microsoft.com/office/drawing/2014/main" id="{23E526DD-37E7-611C-2660-347E6E25E45B}"/>
              </a:ext>
            </a:extLst>
          </p:cNvPr>
          <p:cNvSpPr txBox="1"/>
          <p:nvPr/>
        </p:nvSpPr>
        <p:spPr>
          <a:xfrm>
            <a:off x="4507513" y="4071769"/>
            <a:ext cx="1737360" cy="553998"/>
          </a:xfrm>
          <a:prstGeom prst="rect">
            <a:avLst/>
          </a:prstGeom>
          <a:noFill/>
        </p:spPr>
        <p:txBody>
          <a:bodyPr wrap="square">
            <a:spAutoFit/>
          </a:bodyPr>
          <a:lstStyle/>
          <a:p>
            <a:r>
              <a:rPr lang="ja-JP" altLang="en-US" sz="1000" b="1" dirty="0">
                <a:solidFill>
                  <a:schemeClr val="tx1"/>
                </a:solidFill>
                <a:latin typeface="メイリオ" panose="020B0604030504040204" pitchFamily="50" charset="-128"/>
                <a:ea typeface="メイリオ" panose="020B0604030504040204" pitchFamily="50" charset="-128"/>
                <a:cs typeface="メイリオ"/>
              </a:rPr>
              <a:t>・前日・当日のリマインド</a:t>
            </a:r>
            <a:endParaRPr lang="en-US" altLang="ja-JP" sz="1000" b="1" dirty="0">
              <a:solidFill>
                <a:schemeClr val="tx1"/>
              </a:solidFill>
              <a:latin typeface="メイリオ" panose="020B0604030504040204" pitchFamily="50" charset="-128"/>
              <a:ea typeface="メイリオ" panose="020B0604030504040204" pitchFamily="50" charset="-128"/>
              <a:cs typeface="メイリオ"/>
            </a:endParaRPr>
          </a:p>
          <a:p>
            <a:r>
              <a:rPr lang="ja-JP" altLang="en-US" sz="1000" b="1" dirty="0">
                <a:latin typeface="メイリオ" panose="020B0604030504040204" pitchFamily="50" charset="-128"/>
                <a:ea typeface="メイリオ" panose="020B0604030504040204" pitchFamily="50" charset="-128"/>
                <a:cs typeface="メイリオ"/>
              </a:rPr>
              <a:t>・見どころ配信</a:t>
            </a:r>
            <a:endParaRPr lang="en-US" altLang="ja-JP" sz="1000" b="1" dirty="0">
              <a:latin typeface="メイリオ" panose="020B0604030504040204" pitchFamily="50" charset="-128"/>
              <a:ea typeface="メイリオ" panose="020B0604030504040204" pitchFamily="50" charset="-128"/>
              <a:cs typeface="メイリオ"/>
            </a:endParaRPr>
          </a:p>
          <a:p>
            <a:r>
              <a:rPr lang="ja-JP" altLang="en-US" sz="1000" b="1" dirty="0">
                <a:solidFill>
                  <a:schemeClr val="tx1"/>
                </a:solidFill>
                <a:latin typeface="メイリオ" panose="020B0604030504040204" pitchFamily="50" charset="-128"/>
                <a:ea typeface="メイリオ" panose="020B0604030504040204" pitchFamily="50" charset="-128"/>
                <a:cs typeface="メイリオ"/>
              </a:rPr>
              <a:t>・参加者の声</a:t>
            </a:r>
            <a:endParaRPr lang="en-US" altLang="ja-JP" sz="1000" b="1" dirty="0">
              <a:solidFill>
                <a:schemeClr val="tx1"/>
              </a:solidFill>
              <a:latin typeface="メイリオ" panose="020B0604030504040204" pitchFamily="50" charset="-128"/>
              <a:ea typeface="メイリオ" panose="020B0604030504040204" pitchFamily="50" charset="-128"/>
              <a:cs typeface="メイリオ"/>
            </a:endParaRPr>
          </a:p>
        </p:txBody>
      </p:sp>
      <p:cxnSp>
        <p:nvCxnSpPr>
          <p:cNvPr id="65" name="直線矢印コネクタ 64">
            <a:extLst>
              <a:ext uri="{FF2B5EF4-FFF2-40B4-BE49-F238E27FC236}">
                <a16:creationId xmlns:a16="http://schemas.microsoft.com/office/drawing/2014/main" id="{92F8C127-A45A-8F56-9D6E-7D83C0CD059C}"/>
              </a:ext>
            </a:extLst>
          </p:cNvPr>
          <p:cNvCxnSpPr>
            <a:cxnSpLocks/>
          </p:cNvCxnSpPr>
          <p:nvPr/>
        </p:nvCxnSpPr>
        <p:spPr>
          <a:xfrm>
            <a:off x="4702245" y="3762641"/>
            <a:ext cx="761292" cy="1512"/>
          </a:xfrm>
          <a:prstGeom prst="straightConnector1">
            <a:avLst/>
          </a:prstGeom>
          <a:ln w="57150">
            <a:solidFill>
              <a:srgbClr val="04FA0A"/>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78" name="直線矢印コネクタ 77">
            <a:extLst>
              <a:ext uri="{FF2B5EF4-FFF2-40B4-BE49-F238E27FC236}">
                <a16:creationId xmlns:a16="http://schemas.microsoft.com/office/drawing/2014/main" id="{18BC9B61-1AB1-C280-3AB3-0A3065C47874}"/>
              </a:ext>
            </a:extLst>
          </p:cNvPr>
          <p:cNvCxnSpPr>
            <a:cxnSpLocks/>
          </p:cNvCxnSpPr>
          <p:nvPr/>
        </p:nvCxnSpPr>
        <p:spPr>
          <a:xfrm flipV="1">
            <a:off x="879791" y="2657573"/>
            <a:ext cx="4546592" cy="0"/>
          </a:xfrm>
          <a:prstGeom prst="straightConnector1">
            <a:avLst/>
          </a:prstGeom>
          <a:ln w="22225">
            <a:solidFill>
              <a:schemeClr val="tx2"/>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86" name="直線矢印コネクタ 85">
            <a:extLst>
              <a:ext uri="{FF2B5EF4-FFF2-40B4-BE49-F238E27FC236}">
                <a16:creationId xmlns:a16="http://schemas.microsoft.com/office/drawing/2014/main" id="{0C63AA03-27C4-0484-5A97-8C858F657C28}"/>
              </a:ext>
            </a:extLst>
          </p:cNvPr>
          <p:cNvCxnSpPr>
            <a:cxnSpLocks/>
          </p:cNvCxnSpPr>
          <p:nvPr/>
        </p:nvCxnSpPr>
        <p:spPr>
          <a:xfrm flipV="1">
            <a:off x="1120433" y="3147854"/>
            <a:ext cx="434566" cy="0"/>
          </a:xfrm>
          <a:prstGeom prst="straightConnector1">
            <a:avLst/>
          </a:prstGeom>
          <a:ln w="28575">
            <a:solidFill>
              <a:schemeClr val="bg1">
                <a:lumMod val="65000"/>
              </a:schemeClr>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87" name="テキスト ボックス 86">
            <a:extLst>
              <a:ext uri="{FF2B5EF4-FFF2-40B4-BE49-F238E27FC236}">
                <a16:creationId xmlns:a16="http://schemas.microsoft.com/office/drawing/2014/main" id="{91706F5F-C2C9-CFA6-A6DA-6320D8935BA3}"/>
              </a:ext>
            </a:extLst>
          </p:cNvPr>
          <p:cNvSpPr txBox="1"/>
          <p:nvPr/>
        </p:nvSpPr>
        <p:spPr>
          <a:xfrm>
            <a:off x="968181" y="2932648"/>
            <a:ext cx="671035" cy="230832"/>
          </a:xfrm>
          <a:prstGeom prst="rect">
            <a:avLst/>
          </a:prstGeom>
          <a:noFill/>
        </p:spPr>
        <p:txBody>
          <a:bodyPr wrap="square">
            <a:spAutoFit/>
          </a:bodyPr>
          <a:lstStyle/>
          <a:p>
            <a:pPr algn="ctr"/>
            <a:r>
              <a:rPr kumimoji="1" lang="ja-JP" altLang="en-US" sz="900" dirty="0">
                <a:solidFill>
                  <a:srgbClr val="1F2A5C"/>
                </a:solidFill>
                <a:latin typeface="メイリオ" panose="020B0604030504040204" pitchFamily="50" charset="-128"/>
                <a:ea typeface="メイリオ" panose="020B0604030504040204" pitchFamily="50" charset="-128"/>
                <a:cs typeface="メイリオ"/>
              </a:rPr>
              <a:t>離脱</a:t>
            </a:r>
            <a:endParaRPr kumimoji="1" lang="en-US" altLang="ja-JP" sz="900" dirty="0">
              <a:solidFill>
                <a:srgbClr val="1F2A5C"/>
              </a:solidFill>
              <a:latin typeface="メイリオ" panose="020B0604030504040204" pitchFamily="50" charset="-128"/>
              <a:ea typeface="メイリオ" panose="020B0604030504040204" pitchFamily="50" charset="-128"/>
              <a:cs typeface="メイリオ"/>
            </a:endParaRPr>
          </a:p>
        </p:txBody>
      </p:sp>
      <p:cxnSp>
        <p:nvCxnSpPr>
          <p:cNvPr id="88" name="直線矢印コネクタ 87">
            <a:extLst>
              <a:ext uri="{FF2B5EF4-FFF2-40B4-BE49-F238E27FC236}">
                <a16:creationId xmlns:a16="http://schemas.microsoft.com/office/drawing/2014/main" id="{826F5558-E52E-4955-ECF0-22B6B8A29748}"/>
              </a:ext>
            </a:extLst>
          </p:cNvPr>
          <p:cNvCxnSpPr>
            <a:cxnSpLocks/>
          </p:cNvCxnSpPr>
          <p:nvPr/>
        </p:nvCxnSpPr>
        <p:spPr>
          <a:xfrm flipV="1">
            <a:off x="2290047" y="3020133"/>
            <a:ext cx="434566" cy="0"/>
          </a:xfrm>
          <a:prstGeom prst="straightConnector1">
            <a:avLst/>
          </a:prstGeom>
          <a:ln w="28575">
            <a:solidFill>
              <a:schemeClr val="bg1">
                <a:lumMod val="65000"/>
              </a:schemeClr>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89" name="テキスト ボックス 88">
            <a:extLst>
              <a:ext uri="{FF2B5EF4-FFF2-40B4-BE49-F238E27FC236}">
                <a16:creationId xmlns:a16="http://schemas.microsoft.com/office/drawing/2014/main" id="{C87D3212-5CA7-479B-A73E-22643A6E1B0C}"/>
              </a:ext>
            </a:extLst>
          </p:cNvPr>
          <p:cNvSpPr txBox="1"/>
          <p:nvPr/>
        </p:nvSpPr>
        <p:spPr>
          <a:xfrm>
            <a:off x="2137795" y="2804927"/>
            <a:ext cx="671035" cy="230832"/>
          </a:xfrm>
          <a:prstGeom prst="rect">
            <a:avLst/>
          </a:prstGeom>
          <a:noFill/>
        </p:spPr>
        <p:txBody>
          <a:bodyPr wrap="square">
            <a:spAutoFit/>
          </a:bodyPr>
          <a:lstStyle/>
          <a:p>
            <a:pPr algn="ctr"/>
            <a:r>
              <a:rPr kumimoji="1" lang="ja-JP" altLang="en-US" sz="900" dirty="0">
                <a:solidFill>
                  <a:srgbClr val="1F2A5C"/>
                </a:solidFill>
                <a:latin typeface="メイリオ" panose="020B0604030504040204" pitchFamily="50" charset="-128"/>
                <a:ea typeface="メイリオ" panose="020B0604030504040204" pitchFamily="50" charset="-128"/>
                <a:cs typeface="メイリオ"/>
              </a:rPr>
              <a:t>離脱</a:t>
            </a:r>
            <a:endParaRPr kumimoji="1" lang="en-US" altLang="ja-JP" sz="900" dirty="0">
              <a:solidFill>
                <a:srgbClr val="1F2A5C"/>
              </a:solidFill>
              <a:latin typeface="メイリオ" panose="020B0604030504040204" pitchFamily="50" charset="-128"/>
              <a:ea typeface="メイリオ" panose="020B0604030504040204" pitchFamily="50" charset="-128"/>
              <a:cs typeface="メイリオ"/>
            </a:endParaRPr>
          </a:p>
        </p:txBody>
      </p:sp>
      <p:cxnSp>
        <p:nvCxnSpPr>
          <p:cNvPr id="91" name="コネクタ: カギ線 90">
            <a:extLst>
              <a:ext uri="{FF2B5EF4-FFF2-40B4-BE49-F238E27FC236}">
                <a16:creationId xmlns:a16="http://schemas.microsoft.com/office/drawing/2014/main" id="{E092BAF5-1123-4B1D-F3A5-6BB3C08065DE}"/>
              </a:ext>
            </a:extLst>
          </p:cNvPr>
          <p:cNvCxnSpPr>
            <a:stCxn id="39" idx="3"/>
            <a:endCxn id="41" idx="1"/>
          </p:cNvCxnSpPr>
          <p:nvPr/>
        </p:nvCxnSpPr>
        <p:spPr>
          <a:xfrm>
            <a:off x="2284472" y="3253466"/>
            <a:ext cx="334208" cy="536912"/>
          </a:xfrm>
          <a:prstGeom prst="bentConnector3">
            <a:avLst/>
          </a:prstGeom>
          <a:ln w="19050">
            <a:solidFill>
              <a:schemeClr val="tx2">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95" name="コネクタ: カギ線 94">
            <a:extLst>
              <a:ext uri="{FF2B5EF4-FFF2-40B4-BE49-F238E27FC236}">
                <a16:creationId xmlns:a16="http://schemas.microsoft.com/office/drawing/2014/main" id="{368BF7F4-176E-2B84-4610-9F916AC5F605}"/>
              </a:ext>
            </a:extLst>
          </p:cNvPr>
          <p:cNvCxnSpPr>
            <a:cxnSpLocks/>
            <a:stCxn id="39" idx="3"/>
            <a:endCxn id="48" idx="1"/>
          </p:cNvCxnSpPr>
          <p:nvPr/>
        </p:nvCxnSpPr>
        <p:spPr>
          <a:xfrm>
            <a:off x="2284472" y="3253466"/>
            <a:ext cx="344361" cy="1882687"/>
          </a:xfrm>
          <a:prstGeom prst="bentConnector3">
            <a:avLst>
              <a:gd name="adj1" fmla="val 50000"/>
            </a:avLst>
          </a:prstGeom>
          <a:ln w="19050">
            <a:solidFill>
              <a:schemeClr val="tx2">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98" name="直線矢印コネクタ 97">
            <a:extLst>
              <a:ext uri="{FF2B5EF4-FFF2-40B4-BE49-F238E27FC236}">
                <a16:creationId xmlns:a16="http://schemas.microsoft.com/office/drawing/2014/main" id="{81E1473F-6265-659C-CC0B-C6FE85BCA3EC}"/>
              </a:ext>
            </a:extLst>
          </p:cNvPr>
          <p:cNvCxnSpPr>
            <a:cxnSpLocks/>
          </p:cNvCxnSpPr>
          <p:nvPr/>
        </p:nvCxnSpPr>
        <p:spPr>
          <a:xfrm>
            <a:off x="1018332" y="2261854"/>
            <a:ext cx="6368884" cy="0"/>
          </a:xfrm>
          <a:prstGeom prst="straightConnector1">
            <a:avLst/>
          </a:prstGeom>
          <a:ln w="22225">
            <a:solidFill>
              <a:schemeClr val="tx2"/>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99" name="正方形/長方形 98">
            <a:extLst>
              <a:ext uri="{FF2B5EF4-FFF2-40B4-BE49-F238E27FC236}">
                <a16:creationId xmlns:a16="http://schemas.microsoft.com/office/drawing/2014/main" id="{71342B33-5F5E-5ACC-6866-024BDB2FCF99}"/>
              </a:ext>
            </a:extLst>
          </p:cNvPr>
          <p:cNvSpPr/>
          <p:nvPr/>
        </p:nvSpPr>
        <p:spPr>
          <a:xfrm>
            <a:off x="2618679" y="2095601"/>
            <a:ext cx="697117" cy="304797"/>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dirty="0">
                <a:solidFill>
                  <a:schemeClr val="tx1"/>
                </a:solidFill>
                <a:latin typeface="メイリオ" panose="020B0604030504040204" pitchFamily="50" charset="-128"/>
                <a:ea typeface="メイリオ" panose="020B0604030504040204" pitchFamily="50" charset="-128"/>
                <a:cs typeface="メイリオ"/>
              </a:rPr>
              <a:t>予約完了</a:t>
            </a:r>
            <a:endParaRPr lang="en-US" altLang="ja-JP" sz="1000" dirty="0">
              <a:solidFill>
                <a:schemeClr val="tx1"/>
              </a:solidFill>
              <a:latin typeface="メイリオ" panose="020B0604030504040204" pitchFamily="50" charset="-128"/>
              <a:ea typeface="メイリオ" panose="020B0604030504040204" pitchFamily="50" charset="-128"/>
              <a:cs typeface="メイリオ"/>
            </a:endParaRPr>
          </a:p>
        </p:txBody>
      </p:sp>
      <p:sp>
        <p:nvSpPr>
          <p:cNvPr id="101" name="正方形/長方形 100">
            <a:extLst>
              <a:ext uri="{FF2B5EF4-FFF2-40B4-BE49-F238E27FC236}">
                <a16:creationId xmlns:a16="http://schemas.microsoft.com/office/drawing/2014/main" id="{47073071-D09C-A372-757E-07EDFC1B4691}"/>
              </a:ext>
            </a:extLst>
          </p:cNvPr>
          <p:cNvSpPr/>
          <p:nvPr/>
        </p:nvSpPr>
        <p:spPr>
          <a:xfrm>
            <a:off x="7490414" y="2123310"/>
            <a:ext cx="843512" cy="277088"/>
          </a:xfrm>
          <a:prstGeom prst="rect">
            <a:avLst/>
          </a:prstGeom>
          <a:solidFill>
            <a:srgbClr val="1F2A5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b="1" dirty="0">
                <a:solidFill>
                  <a:schemeClr val="bg1"/>
                </a:solidFill>
                <a:latin typeface="メイリオ" panose="020B0604030504040204" pitchFamily="50" charset="-128"/>
                <a:ea typeface="メイリオ" panose="020B0604030504040204" pitchFamily="50" charset="-128"/>
                <a:cs typeface="メイリオ"/>
              </a:rPr>
              <a:t>サロン入会</a:t>
            </a:r>
            <a:endParaRPr lang="en-US" altLang="ja-JP" sz="1000" b="1" dirty="0">
              <a:solidFill>
                <a:schemeClr val="bg1"/>
              </a:solidFill>
              <a:latin typeface="メイリオ" panose="020B0604030504040204" pitchFamily="50" charset="-128"/>
              <a:ea typeface="メイリオ" panose="020B0604030504040204" pitchFamily="50" charset="-128"/>
              <a:cs typeface="メイリオ"/>
            </a:endParaRPr>
          </a:p>
        </p:txBody>
      </p:sp>
      <p:sp>
        <p:nvSpPr>
          <p:cNvPr id="103" name="正方形/長方形 102">
            <a:extLst>
              <a:ext uri="{FF2B5EF4-FFF2-40B4-BE49-F238E27FC236}">
                <a16:creationId xmlns:a16="http://schemas.microsoft.com/office/drawing/2014/main" id="{362FF045-6EC3-A2C7-23A8-F82F6C32CA62}"/>
              </a:ext>
            </a:extLst>
          </p:cNvPr>
          <p:cNvSpPr/>
          <p:nvPr/>
        </p:nvSpPr>
        <p:spPr>
          <a:xfrm>
            <a:off x="5151597" y="2099217"/>
            <a:ext cx="843512" cy="304064"/>
          </a:xfrm>
          <a:prstGeom prst="rect">
            <a:avLst/>
          </a:prstGeom>
          <a:solidFill>
            <a:srgbClr val="1F2A5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b="1" dirty="0">
                <a:solidFill>
                  <a:schemeClr val="bg1"/>
                </a:solidFill>
                <a:latin typeface="メイリオ" panose="020B0604030504040204" pitchFamily="50" charset="-128"/>
                <a:ea typeface="メイリオ" panose="020B0604030504040204" pitchFamily="50" charset="-128"/>
                <a:cs typeface="メイリオ"/>
              </a:rPr>
              <a:t>参加</a:t>
            </a:r>
            <a:endParaRPr lang="en-US" altLang="ja-JP" sz="1000" b="1" dirty="0">
              <a:solidFill>
                <a:schemeClr val="bg1"/>
              </a:solidFill>
              <a:latin typeface="メイリオ" panose="020B0604030504040204" pitchFamily="50" charset="-128"/>
              <a:ea typeface="メイリオ" panose="020B0604030504040204" pitchFamily="50" charset="-128"/>
              <a:cs typeface="メイリオ"/>
            </a:endParaRPr>
          </a:p>
        </p:txBody>
      </p:sp>
      <p:cxnSp>
        <p:nvCxnSpPr>
          <p:cNvPr id="104" name="直線矢印コネクタ 103">
            <a:extLst>
              <a:ext uri="{FF2B5EF4-FFF2-40B4-BE49-F238E27FC236}">
                <a16:creationId xmlns:a16="http://schemas.microsoft.com/office/drawing/2014/main" id="{B2BEB3B0-AB21-E350-31D0-2459E72A227A}"/>
              </a:ext>
            </a:extLst>
          </p:cNvPr>
          <p:cNvCxnSpPr>
            <a:cxnSpLocks/>
          </p:cNvCxnSpPr>
          <p:nvPr/>
        </p:nvCxnSpPr>
        <p:spPr>
          <a:xfrm rot="16200000">
            <a:off x="4316154" y="3825356"/>
            <a:ext cx="2628196" cy="2483"/>
          </a:xfrm>
          <a:prstGeom prst="straightConnector1">
            <a:avLst/>
          </a:prstGeom>
          <a:ln w="57150">
            <a:solidFill>
              <a:srgbClr val="1F2A5C"/>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106" name="正方形/長方形 105">
            <a:extLst>
              <a:ext uri="{FF2B5EF4-FFF2-40B4-BE49-F238E27FC236}">
                <a16:creationId xmlns:a16="http://schemas.microsoft.com/office/drawing/2014/main" id="{294E5883-9E5C-CC39-B584-0348ED134790}"/>
              </a:ext>
            </a:extLst>
          </p:cNvPr>
          <p:cNvSpPr/>
          <p:nvPr/>
        </p:nvSpPr>
        <p:spPr>
          <a:xfrm>
            <a:off x="425513" y="1810959"/>
            <a:ext cx="697117" cy="4644153"/>
          </a:xfrm>
          <a:prstGeom prst="rect">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dirty="0">
                <a:solidFill>
                  <a:schemeClr val="tx1"/>
                </a:solidFill>
                <a:latin typeface="メイリオ" panose="020B0604030504040204" pitchFamily="50" charset="-128"/>
                <a:ea typeface="メイリオ" panose="020B0604030504040204" pitchFamily="50" charset="-128"/>
                <a:cs typeface="メイリオ"/>
              </a:rPr>
              <a:t>AD</a:t>
            </a:r>
          </a:p>
          <a:p>
            <a:pPr algn="ctr"/>
            <a:endParaRPr kumimoji="1" lang="en-US" altLang="ja-JP" sz="1000" dirty="0">
              <a:solidFill>
                <a:schemeClr val="tx1"/>
              </a:solidFill>
              <a:latin typeface="メイリオ" panose="020B0604030504040204" pitchFamily="50" charset="-128"/>
              <a:ea typeface="メイリオ" panose="020B0604030504040204" pitchFamily="50" charset="-128"/>
              <a:cs typeface="メイリオ"/>
            </a:endParaRPr>
          </a:p>
          <a:p>
            <a:pPr algn="ctr"/>
            <a:endParaRPr kumimoji="1" lang="en-US" altLang="ja-JP" sz="1000" dirty="0">
              <a:solidFill>
                <a:schemeClr val="tx1"/>
              </a:solidFill>
              <a:latin typeface="メイリオ" panose="020B0604030504040204" pitchFamily="50" charset="-128"/>
              <a:ea typeface="メイリオ" panose="020B0604030504040204" pitchFamily="50" charset="-128"/>
              <a:cs typeface="メイリオ"/>
            </a:endParaRPr>
          </a:p>
          <a:p>
            <a:pPr algn="ctr"/>
            <a:endParaRPr lang="en-US" altLang="ja-JP" sz="1000" dirty="0">
              <a:solidFill>
                <a:schemeClr val="tx1"/>
              </a:solidFill>
              <a:latin typeface="メイリオ" panose="020B0604030504040204" pitchFamily="50" charset="-128"/>
              <a:ea typeface="メイリオ" panose="020B0604030504040204" pitchFamily="50" charset="-128"/>
              <a:cs typeface="メイリオ"/>
            </a:endParaRPr>
          </a:p>
          <a:p>
            <a:pPr algn="ctr"/>
            <a:endParaRPr lang="en-US" altLang="ja-JP" sz="1000" dirty="0">
              <a:solidFill>
                <a:schemeClr val="tx1"/>
              </a:solidFill>
              <a:latin typeface="メイリオ" panose="020B0604030504040204" pitchFamily="50" charset="-128"/>
              <a:ea typeface="メイリオ" panose="020B0604030504040204" pitchFamily="50" charset="-128"/>
              <a:cs typeface="メイリオ"/>
            </a:endParaRPr>
          </a:p>
          <a:p>
            <a:pPr algn="ctr"/>
            <a:endParaRPr lang="en-US" altLang="ja-JP" sz="1000" dirty="0">
              <a:solidFill>
                <a:schemeClr val="tx1"/>
              </a:solidFill>
              <a:latin typeface="メイリオ" panose="020B0604030504040204" pitchFamily="50" charset="-128"/>
              <a:ea typeface="メイリオ" panose="020B0604030504040204" pitchFamily="50" charset="-128"/>
              <a:cs typeface="メイリオ"/>
            </a:endParaRPr>
          </a:p>
        </p:txBody>
      </p:sp>
      <p:sp>
        <p:nvSpPr>
          <p:cNvPr id="108" name="正方形/長方形 107">
            <a:extLst>
              <a:ext uri="{FF2B5EF4-FFF2-40B4-BE49-F238E27FC236}">
                <a16:creationId xmlns:a16="http://schemas.microsoft.com/office/drawing/2014/main" id="{BF61B903-1FDC-8BAE-D2B9-3470F4804967}"/>
              </a:ext>
            </a:extLst>
          </p:cNvPr>
          <p:cNvSpPr/>
          <p:nvPr/>
        </p:nvSpPr>
        <p:spPr>
          <a:xfrm>
            <a:off x="5088255" y="5754882"/>
            <a:ext cx="1135687" cy="490881"/>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indent="-171450" algn="ctr">
              <a:buFontTx/>
              <a:buChar char="-"/>
            </a:pPr>
            <a:r>
              <a:rPr lang="ja-JP" altLang="en-US" sz="1000" b="1" dirty="0">
                <a:solidFill>
                  <a:schemeClr val="tx1"/>
                </a:solidFill>
                <a:latin typeface="メイリオ" panose="020B0604030504040204" pitchFamily="50" charset="-128"/>
                <a:ea typeface="メイリオ" panose="020B0604030504040204" pitchFamily="50" charset="-128"/>
                <a:cs typeface="メイリオ"/>
              </a:rPr>
              <a:t>平常期の配信</a:t>
            </a:r>
            <a:endParaRPr lang="en-US" altLang="ja-JP" sz="1000" b="1" dirty="0">
              <a:solidFill>
                <a:schemeClr val="tx1"/>
              </a:solidFill>
              <a:latin typeface="メイリオ" panose="020B0604030504040204" pitchFamily="50" charset="-128"/>
              <a:ea typeface="メイリオ" panose="020B0604030504040204" pitchFamily="50" charset="-128"/>
              <a:cs typeface="メイリオ"/>
            </a:endParaRPr>
          </a:p>
        </p:txBody>
      </p:sp>
      <p:cxnSp>
        <p:nvCxnSpPr>
          <p:cNvPr id="2" name="直線矢印コネクタ 1">
            <a:extLst>
              <a:ext uri="{FF2B5EF4-FFF2-40B4-BE49-F238E27FC236}">
                <a16:creationId xmlns:a16="http://schemas.microsoft.com/office/drawing/2014/main" id="{BE373B3A-392A-272B-09F4-3EDF2F42A980}"/>
              </a:ext>
            </a:extLst>
          </p:cNvPr>
          <p:cNvCxnSpPr>
            <a:cxnSpLocks/>
          </p:cNvCxnSpPr>
          <p:nvPr/>
        </p:nvCxnSpPr>
        <p:spPr>
          <a:xfrm flipV="1">
            <a:off x="5137316" y="5576055"/>
            <a:ext cx="434566" cy="0"/>
          </a:xfrm>
          <a:prstGeom prst="straightConnector1">
            <a:avLst/>
          </a:prstGeom>
          <a:ln w="28575">
            <a:solidFill>
              <a:schemeClr val="bg1">
                <a:lumMod val="65000"/>
              </a:schemeClr>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7" name="テキスト ボックス 6">
            <a:extLst>
              <a:ext uri="{FF2B5EF4-FFF2-40B4-BE49-F238E27FC236}">
                <a16:creationId xmlns:a16="http://schemas.microsoft.com/office/drawing/2014/main" id="{DB9BD1D1-C76F-12F8-B85E-165B4A6C8BFD}"/>
              </a:ext>
            </a:extLst>
          </p:cNvPr>
          <p:cNvSpPr txBox="1"/>
          <p:nvPr/>
        </p:nvSpPr>
        <p:spPr>
          <a:xfrm>
            <a:off x="4985064" y="5360849"/>
            <a:ext cx="671035" cy="230832"/>
          </a:xfrm>
          <a:prstGeom prst="rect">
            <a:avLst/>
          </a:prstGeom>
          <a:noFill/>
        </p:spPr>
        <p:txBody>
          <a:bodyPr wrap="square">
            <a:spAutoFit/>
          </a:bodyPr>
          <a:lstStyle/>
          <a:p>
            <a:pPr algn="ctr"/>
            <a:r>
              <a:rPr kumimoji="1" lang="ja-JP" altLang="en-US" sz="900" dirty="0">
                <a:solidFill>
                  <a:srgbClr val="1F2A5C"/>
                </a:solidFill>
                <a:latin typeface="メイリオ" panose="020B0604030504040204" pitchFamily="50" charset="-128"/>
                <a:ea typeface="メイリオ" panose="020B0604030504040204" pitchFamily="50" charset="-128"/>
                <a:cs typeface="メイリオ"/>
              </a:rPr>
              <a:t>離脱</a:t>
            </a:r>
            <a:endParaRPr kumimoji="1" lang="en-US" altLang="ja-JP" sz="900" dirty="0">
              <a:solidFill>
                <a:srgbClr val="1F2A5C"/>
              </a:solidFill>
              <a:latin typeface="メイリオ" panose="020B0604030504040204" pitchFamily="50" charset="-128"/>
              <a:ea typeface="メイリオ" panose="020B0604030504040204" pitchFamily="50" charset="-128"/>
              <a:cs typeface="メイリオ"/>
            </a:endParaRPr>
          </a:p>
        </p:txBody>
      </p:sp>
      <p:sp>
        <p:nvSpPr>
          <p:cNvPr id="10" name="正方形/長方形 9">
            <a:extLst>
              <a:ext uri="{FF2B5EF4-FFF2-40B4-BE49-F238E27FC236}">
                <a16:creationId xmlns:a16="http://schemas.microsoft.com/office/drawing/2014/main" id="{452A1327-261D-FFA5-8AB0-FBC92A2407B8}"/>
              </a:ext>
            </a:extLst>
          </p:cNvPr>
          <p:cNvSpPr/>
          <p:nvPr/>
        </p:nvSpPr>
        <p:spPr>
          <a:xfrm>
            <a:off x="5995109" y="2633366"/>
            <a:ext cx="3273814" cy="1402451"/>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solidFill>
                <a:latin typeface="メイリオ" panose="020B0604030504040204" pitchFamily="50" charset="-128"/>
                <a:ea typeface="メイリオ" panose="020B0604030504040204" pitchFamily="50" charset="-128"/>
                <a:cs typeface="メイリオ"/>
              </a:rPr>
              <a:t>●イベント直後に、サロンの</a:t>
            </a:r>
            <a:endParaRPr kumimoji="1" lang="en-US" altLang="ja-JP" sz="1000" dirty="0">
              <a:solidFill>
                <a:schemeClr val="tx1"/>
              </a:solidFill>
              <a:latin typeface="メイリオ" panose="020B0604030504040204" pitchFamily="50" charset="-128"/>
              <a:ea typeface="メイリオ" panose="020B0604030504040204" pitchFamily="50" charset="-128"/>
              <a:cs typeface="メイリオ"/>
            </a:endParaRPr>
          </a:p>
          <a:p>
            <a:pPr algn="ctr"/>
            <a:r>
              <a:rPr kumimoji="1" lang="ja-JP" altLang="en-US" sz="1000" dirty="0">
                <a:solidFill>
                  <a:schemeClr val="tx1"/>
                </a:solidFill>
                <a:latin typeface="メイリオ" panose="020B0604030504040204" pitchFamily="50" charset="-128"/>
                <a:ea typeface="メイリオ" panose="020B0604030504040204" pitchFamily="50" charset="-128"/>
                <a:cs typeface="メイリオ"/>
              </a:rPr>
              <a:t>申込みフォームを案内</a:t>
            </a:r>
            <a:endParaRPr lang="en-US" altLang="ja-JP" sz="1000" dirty="0">
              <a:solidFill>
                <a:schemeClr val="tx1"/>
              </a:solidFill>
              <a:latin typeface="メイリオ" panose="020B0604030504040204" pitchFamily="50" charset="-128"/>
              <a:ea typeface="メイリオ" panose="020B0604030504040204" pitchFamily="50" charset="-128"/>
              <a:cs typeface="メイリオ"/>
            </a:endParaRPr>
          </a:p>
          <a:p>
            <a:pPr algn="ctr"/>
            <a:r>
              <a:rPr kumimoji="1" lang="ja-JP" altLang="en-US" sz="1000" dirty="0">
                <a:solidFill>
                  <a:schemeClr val="tx1"/>
                </a:solidFill>
                <a:latin typeface="メイリオ" panose="020B0604030504040204" pitchFamily="50" charset="-128"/>
                <a:ea typeface="メイリオ" panose="020B0604030504040204" pitchFamily="50" charset="-128"/>
                <a:cs typeface="メイリオ"/>
              </a:rPr>
              <a:t>（申込みはいつでも可能）</a:t>
            </a:r>
            <a:endParaRPr lang="en-US" altLang="ja-JP" sz="1000" dirty="0">
              <a:solidFill>
                <a:schemeClr val="tx1"/>
              </a:solidFill>
              <a:latin typeface="メイリオ" panose="020B0604030504040204" pitchFamily="50" charset="-128"/>
              <a:ea typeface="メイリオ" panose="020B0604030504040204" pitchFamily="50" charset="-128"/>
              <a:cs typeface="メイリオ"/>
            </a:endParaRPr>
          </a:p>
          <a:p>
            <a:pPr algn="ctr"/>
            <a:endParaRPr lang="en-US" altLang="ja-JP" sz="1000" dirty="0">
              <a:solidFill>
                <a:schemeClr val="tx1"/>
              </a:solidFill>
              <a:latin typeface="メイリオ" panose="020B0604030504040204" pitchFamily="50" charset="-128"/>
              <a:ea typeface="メイリオ" panose="020B0604030504040204" pitchFamily="50" charset="-128"/>
              <a:cs typeface="メイリオ"/>
            </a:endParaRPr>
          </a:p>
          <a:p>
            <a:pPr algn="ctr"/>
            <a:r>
              <a:rPr lang="en-US" altLang="ja-JP" sz="1000" dirty="0">
                <a:solidFill>
                  <a:srgbClr val="1F2A5C"/>
                </a:solidFill>
                <a:latin typeface="メイリオ" panose="020B0604030504040204" pitchFamily="50" charset="-128"/>
                <a:ea typeface="メイリオ" panose="020B0604030504040204" pitchFamily="50" charset="-128"/>
                <a:cs typeface="メイリオ"/>
              </a:rPr>
              <a:t>※</a:t>
            </a:r>
            <a:r>
              <a:rPr lang="en-US" altLang="ja-JP" sz="1000" dirty="0" err="1">
                <a:solidFill>
                  <a:srgbClr val="1F2A5C"/>
                </a:solidFill>
                <a:latin typeface="メイリオ" panose="020B0604030504040204" pitchFamily="50" charset="-128"/>
                <a:ea typeface="メイリオ" panose="020B0604030504040204" pitchFamily="50" charset="-128"/>
                <a:cs typeface="メイリオ"/>
              </a:rPr>
              <a:t>個別チャットは貴社で対応</a:t>
            </a:r>
            <a:endParaRPr lang="en-US" altLang="ja-JP" sz="1000" dirty="0">
              <a:solidFill>
                <a:srgbClr val="1F2A5C"/>
              </a:solidFill>
              <a:latin typeface="メイリオ" panose="020B0604030504040204" pitchFamily="50" charset="-128"/>
              <a:ea typeface="メイリオ" panose="020B0604030504040204" pitchFamily="50" charset="-128"/>
              <a:cs typeface="メイリオ"/>
            </a:endParaRPr>
          </a:p>
          <a:p>
            <a:pPr algn="ctr"/>
            <a:r>
              <a:rPr lang="en-US" altLang="ja-JP" sz="1000" dirty="0">
                <a:solidFill>
                  <a:srgbClr val="1F2A5C"/>
                </a:solidFill>
                <a:latin typeface="メイリオ" panose="020B0604030504040204" pitchFamily="50" charset="-128"/>
                <a:ea typeface="メイリオ" panose="020B0604030504040204" pitchFamily="50" charset="-128"/>
                <a:cs typeface="メイリオ"/>
              </a:rPr>
              <a:t>（自動応答などの効率化は弊社で設定）</a:t>
            </a:r>
          </a:p>
        </p:txBody>
      </p:sp>
      <p:sp>
        <p:nvSpPr>
          <p:cNvPr id="109" name="予約後の友だち追加の注記"/>
          <p:cNvSpPr/>
          <p:nvPr/>
        </p:nvSpPr>
        <p:spPr>
          <a:xfrm>
            <a:off x="6309360" y="4160520"/>
            <a:ext cx="2962656" cy="548640"/>
          </a:xfrm>
          <a:prstGeom prst="rect">
            <a:avLst/>
          </a:prstGeom>
          <a:noFill/>
          <a:ln>
            <a:noFill/>
          </a:ln>
        </p:spPr>
        <p:txBody>
          <a:bodyPr wrap="square" lIns="45720" tIns="0" rIns="0" bIns="0" rtlCol="0" anchor="t">
            <a:noAutofit/>
          </a:bodyPr>
          <a:lstStyle/>
          <a:p>
            <a:pPr algn="l">
              <a:buNone/>
            </a:pPr>
            <a:r>
              <a:rPr lang="ja-JP" altLang="en-US" sz="1000" b="0" dirty="0">
                <a:solidFill>
                  <a:srgbClr val="7F7F7F"/>
                </a:solidFill>
                <a:latin typeface="メイリオ" panose="020B0604030504040204" pitchFamily="50" charset="-128"/>
                <a:ea typeface="メイリオ" panose="020B0604030504040204" pitchFamily="50" charset="-128"/>
                <a:cs typeface="メイリオ"/>
              </a:rPr>
              <a:t>※予約完了後の友だち追加は、サンクスLINE誘導（追加オプション）または通常の友だち追加のご案内で実施</a:t>
            </a:r>
            <a:endParaRPr lang="ja-JP" altLang="en-US" sz="1200" dirty="0">
              <a:latin typeface="メイリオ"/>
              <a:ea typeface="メイリオ"/>
              <a:cs typeface="メイリオ"/>
            </a:endParaRPr>
          </a:p>
        </p:txBody>
      </p:sp>
    </p:spTree>
    <p:extLst>
      <p:ext uri="{BB962C8B-B14F-4D97-AF65-F5344CB8AC3E}">
        <p14:creationId xmlns:p14="http://schemas.microsoft.com/office/powerpoint/2010/main" val="394748725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F0D4D3-02EA-A5F1-D13F-557CC4270B13}"/>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4CE82040-EC6A-3624-AB86-12AD7F91F318}"/>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資料アジェンダ</a:t>
            </a:r>
          </a:p>
        </p:txBody>
      </p:sp>
      <p:sp>
        <p:nvSpPr>
          <p:cNvPr id="2" name="正方形/長方形 1">
            <a:extLst>
              <a:ext uri="{FF2B5EF4-FFF2-40B4-BE49-F238E27FC236}">
                <a16:creationId xmlns:a16="http://schemas.microsoft.com/office/drawing/2014/main" id="{AB48BF19-1E81-18F2-64BE-979545FAE824}"/>
              </a:ext>
            </a:extLst>
          </p:cNvPr>
          <p:cNvSpPr/>
          <p:nvPr/>
        </p:nvSpPr>
        <p:spPr>
          <a:xfrm>
            <a:off x="841248" y="3038203"/>
            <a:ext cx="8229600" cy="584775"/>
          </a:xfrm>
          <a:prstGeom prst="rect">
            <a:avLst/>
          </a:prstGeom>
        </p:spPr>
        <p:txBody>
          <a:bodyPr wrap="none">
            <a:spAutoFit/>
          </a:bodyPr>
          <a:lstStyle/>
          <a:p>
            <a:pPr algn="ct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期待成果・費用</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261937549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 name="正方形/長方形 2"/>
          <p:cNvSpPr/>
          <p:nvPr/>
        </p:nvSpPr>
        <p:spPr>
          <a:xfrm>
            <a:off x="0" y="577800"/>
            <a:ext cx="9905760" cy="812520"/>
          </a:xfrm>
          <a:prstGeom prst="rect">
            <a:avLst/>
          </a:prstGeom>
          <a:no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メイリオ"/>
              <a:ea typeface="メイリオ"/>
              <a:cs typeface="メイリオ"/>
            </a:endParaRPr>
          </a:p>
        </p:txBody>
      </p:sp>
      <p:sp>
        <p:nvSpPr>
          <p:cNvPr id="338" name="正方形/長方形 3"/>
          <p:cNvSpPr/>
          <p:nvPr/>
        </p:nvSpPr>
        <p:spPr>
          <a:xfrm>
            <a:off x="379800" y="635040"/>
            <a:ext cx="9160560" cy="6980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tIns="90000" rIns="90000" bIns="45000" anchor="ctr">
            <a:noAutofit/>
          </a:bodyPr>
          <a:lstStyle/>
          <a:p>
            <a:pPr algn="ctr" defTabSz="914400">
              <a:lnSpc>
                <a:spcPts val="2455"/>
              </a:lnSpc>
            </a:pPr>
            <a:endParaRPr lang="en-US" sz="1400" b="0" u="none" strike="noStrike">
              <a:solidFill>
                <a:srgbClr val="343434"/>
              </a:solidFill>
              <a:effectLst/>
              <a:uFillTx/>
              <a:latin typeface="メイリオ"/>
              <a:ea typeface="メイリオ"/>
              <a:cs typeface="メイリオ"/>
            </a:endParaRPr>
          </a:p>
        </p:txBody>
      </p:sp>
      <p:sp>
        <p:nvSpPr>
          <p:cNvPr id="339" name="Google Shape;156;p7"/>
          <p:cNvSpPr/>
          <p:nvPr/>
        </p:nvSpPr>
        <p:spPr>
          <a:xfrm>
            <a:off x="549000" y="137983"/>
            <a:ext cx="7680960" cy="338554"/>
          </a:xfrm>
          <a:prstGeom prst="rect">
            <a:avLst/>
          </a:prstGeom>
          <a:noFill/>
          <a:ln w="19050">
            <a:noFill/>
          </a:ln>
        </p:spPr>
        <p:style>
          <a:lnRef idx="0">
            <a:scrgbClr r="0" g="0" b="0"/>
          </a:lnRef>
          <a:fillRef idx="0">
            <a:scrgbClr r="0" g="0" b="0"/>
          </a:fillRef>
          <a:effectRef idx="0">
            <a:scrgbClr r="0" g="0" b="0"/>
          </a:effectRef>
          <a:fontRef idx="minor"/>
        </p:style>
        <p:txBody>
          <a:bodyPr anchor="ctr">
            <a:spAutoFit/>
          </a:bodyPr>
          <a:lstStyle/>
          <a:p>
            <a:pPr>
              <a:tabLst>
                <a:tab pos="0" algn="l"/>
              </a:tabLst>
            </a:pPr>
            <a:r>
              <a:rPr lang="ja-JP" sz="1600" b="1" u="none" strike="noStrike" dirty="0">
                <a:solidFill>
                  <a:srgbClr val="002060"/>
                </a:solidFill>
                <a:effectLst/>
                <a:uFillTx/>
                <a:latin typeface="メイリオ"/>
                <a:ea typeface="メイリオ"/>
                <a:cs typeface="メイリオ"/>
              </a:rPr>
              <a:t>概算お見積り：推奨構成（ポップアップあり）での6か月の運用</a:t>
            </a:r>
          </a:p>
        </p:txBody>
      </p:sp>
      <p:cxnSp>
        <p:nvCxnSpPr>
          <p:cNvPr id="340" name="直線コネクタ 1"/>
          <p:cNvCxnSpPr/>
          <p:nvPr/>
        </p:nvCxnSpPr>
        <p:spPr>
          <a:xfrm>
            <a:off x="0" y="1390320"/>
            <a:ext cx="9906120" cy="360"/>
          </a:xfrm>
          <a:prstGeom prst="straightConnector1">
            <a:avLst/>
          </a:prstGeom>
          <a:ln w="19050">
            <a:solidFill>
              <a:schemeClr val="lt1">
                <a:lumMod val="85000"/>
                <a:alpha val="60000"/>
              </a:schemeClr>
            </a:solidFill>
            <a:round/>
          </a:ln>
        </p:spPr>
      </p:cxnSp>
      <p:sp>
        <p:nvSpPr>
          <p:cNvPr id="341" name="正方形/長方形 4"/>
          <p:cNvSpPr/>
          <p:nvPr/>
        </p:nvSpPr>
        <p:spPr>
          <a:xfrm>
            <a:off x="261360" y="1517760"/>
            <a:ext cx="2899440" cy="38376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400" b="0" u="none" strike="noStrike">
                <a:solidFill>
                  <a:schemeClr val="lt1"/>
                </a:solidFill>
                <a:effectLst/>
                <a:uFillTx/>
                <a:latin typeface="メイリオ"/>
                <a:ea typeface="メイリオ"/>
                <a:cs typeface="メイリオ"/>
              </a:rPr>
              <a:t>初期</a:t>
            </a:r>
            <a:endParaRPr lang="en-US" sz="1400" b="0" u="none" strike="noStrike">
              <a:solidFill>
                <a:srgbClr val="FFFFFF"/>
              </a:solidFill>
              <a:effectLst/>
              <a:uFillTx/>
              <a:latin typeface="メイリオ"/>
              <a:ea typeface="メイリオ"/>
              <a:cs typeface="メイリオ"/>
            </a:endParaRPr>
          </a:p>
        </p:txBody>
      </p:sp>
      <p:sp>
        <p:nvSpPr>
          <p:cNvPr id="342" name="正方形/長方形 6"/>
          <p:cNvSpPr/>
          <p:nvPr/>
        </p:nvSpPr>
        <p:spPr>
          <a:xfrm>
            <a:off x="3337560" y="1517760"/>
            <a:ext cx="2899440" cy="38376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400" b="0" u="none" strike="noStrike">
                <a:solidFill>
                  <a:schemeClr val="lt1"/>
                </a:solidFill>
                <a:effectLst/>
                <a:uFillTx/>
                <a:latin typeface="メイリオ"/>
                <a:ea typeface="メイリオ"/>
                <a:cs typeface="メイリオ"/>
              </a:rPr>
              <a:t>月次</a:t>
            </a:r>
            <a:endParaRPr lang="en-US" sz="1400" b="0" u="none" strike="noStrike">
              <a:solidFill>
                <a:srgbClr val="FFFFFF"/>
              </a:solidFill>
              <a:effectLst/>
              <a:uFillTx/>
              <a:latin typeface="メイリオ"/>
              <a:ea typeface="メイリオ"/>
              <a:cs typeface="メイリオ"/>
            </a:endParaRPr>
          </a:p>
        </p:txBody>
      </p:sp>
      <p:sp>
        <p:nvSpPr>
          <p:cNvPr id="343" name="正方形/長方形 7"/>
          <p:cNvSpPr/>
          <p:nvPr/>
        </p:nvSpPr>
        <p:spPr>
          <a:xfrm>
            <a:off x="261360" y="1956960"/>
            <a:ext cx="2899440" cy="676440"/>
          </a:xfrm>
          <a:prstGeom prst="rect">
            <a:avLst/>
          </a:prstGeom>
          <a:noFill/>
          <a:ln>
            <a:solidFill>
              <a:srgbClr val="223852"/>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600" b="1" u="none" strike="noStrike">
                <a:solidFill>
                  <a:schemeClr val="dk1"/>
                </a:solidFill>
                <a:effectLst/>
                <a:uFillTx/>
                <a:latin typeface="メイリオ"/>
                <a:ea typeface="メイリオ"/>
                <a:cs typeface="メイリオ"/>
              </a:rPr>
              <a:t>¥145,000〜</a:t>
            </a:r>
            <a:endParaRPr lang="en-US" sz="1600" b="0" u="none" strike="noStrike">
              <a:solidFill>
                <a:srgbClr val="000000"/>
              </a:solidFill>
              <a:effectLst/>
              <a:uFillTx/>
              <a:latin typeface="メイリオ"/>
              <a:ea typeface="メイリオ"/>
              <a:cs typeface="メイリオ"/>
            </a:endParaRPr>
          </a:p>
        </p:txBody>
      </p:sp>
      <p:sp>
        <p:nvSpPr>
          <p:cNvPr id="344" name="正方形/長方形 9"/>
          <p:cNvSpPr/>
          <p:nvPr/>
        </p:nvSpPr>
        <p:spPr>
          <a:xfrm>
            <a:off x="3337560" y="1956960"/>
            <a:ext cx="2899440" cy="676440"/>
          </a:xfrm>
          <a:prstGeom prst="rect">
            <a:avLst/>
          </a:prstGeom>
          <a:noFill/>
          <a:ln>
            <a:solidFill>
              <a:srgbClr val="223852"/>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600" b="1" u="none" strike="noStrike">
                <a:solidFill>
                  <a:schemeClr val="dk1"/>
                </a:solidFill>
                <a:effectLst/>
                <a:uFillTx/>
                <a:latin typeface="メイリオ"/>
                <a:ea typeface="メイリオ"/>
                <a:cs typeface="メイリオ"/>
              </a:rPr>
              <a:t>開催月 ¥335,000程度</a:t>
            </a:r>
            <a:endParaRPr lang="en-US" sz="1600" b="0" u="none" strike="noStrike">
              <a:solidFill>
                <a:srgbClr val="000000"/>
              </a:solidFill>
              <a:effectLst/>
              <a:uFillTx/>
              <a:latin typeface="メイリオ"/>
              <a:ea typeface="メイリオ"/>
              <a:cs typeface="メイリオ"/>
            </a:endParaRPr>
          </a:p>
          <a:p>
            <a:pPr algn="ctr" defTabSz="914400">
              <a:lnSpc>
                <a:spcPct val="100000"/>
              </a:lnSpc>
            </a:pPr>
            <a:r>
              <a:rPr lang="en-US" sz="1600" b="1" u="none" strike="noStrike">
                <a:solidFill>
                  <a:schemeClr val="dk1"/>
                </a:solidFill>
                <a:effectLst/>
                <a:uFillTx/>
                <a:latin typeface="メイリオ"/>
                <a:ea typeface="メイリオ"/>
                <a:cs typeface="メイリオ"/>
              </a:rPr>
              <a:t>平常期 ¥135,000〜</a:t>
            </a:r>
            <a:endParaRPr lang="en-US" sz="1600" b="0" u="none" strike="noStrike">
              <a:solidFill>
                <a:srgbClr val="000000"/>
              </a:solidFill>
              <a:effectLst/>
              <a:uFillTx/>
              <a:latin typeface="メイリオ"/>
              <a:ea typeface="メイリオ"/>
              <a:cs typeface="メイリオ"/>
            </a:endParaRPr>
          </a:p>
        </p:txBody>
      </p:sp>
      <p:sp>
        <p:nvSpPr>
          <p:cNvPr id="345" name="矢印: 右 14"/>
          <p:cNvSpPr/>
          <p:nvPr/>
        </p:nvSpPr>
        <p:spPr>
          <a:xfrm>
            <a:off x="6379200" y="1956960"/>
            <a:ext cx="365400" cy="2797560"/>
          </a:xfrm>
          <a:prstGeom prst="rightArrow">
            <a:avLst>
              <a:gd name="adj1" fmla="val 50000"/>
              <a:gd name="adj2" fmla="val 50000"/>
            </a:avLst>
          </a:prstGeom>
          <a:solidFill>
            <a:schemeClr val="tx1"/>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メイリオ"/>
              <a:ea typeface="メイリオ"/>
              <a:cs typeface="メイリオ"/>
            </a:endParaRPr>
          </a:p>
        </p:txBody>
      </p:sp>
      <p:sp>
        <p:nvSpPr>
          <p:cNvPr id="346" name="正方形/長方形 16"/>
          <p:cNvSpPr/>
          <p:nvPr/>
        </p:nvSpPr>
        <p:spPr>
          <a:xfrm>
            <a:off x="6744960" y="1517760"/>
            <a:ext cx="2899440" cy="38376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200" b="0" u="none" strike="noStrike">
                <a:solidFill>
                  <a:schemeClr val="lt1"/>
                </a:solidFill>
                <a:effectLst/>
                <a:uFillTx/>
                <a:latin typeface="メイリオ"/>
                <a:ea typeface="メイリオ"/>
                <a:cs typeface="メイリオ"/>
              </a:rPr>
              <a:t>6か月後（サンクスLINE誘導あり）</a:t>
            </a:r>
            <a:endParaRPr lang="en-US" sz="1400" b="0" u="none" strike="noStrike">
              <a:solidFill>
                <a:srgbClr val="FFFFFF"/>
              </a:solidFill>
              <a:effectLst/>
              <a:uFillTx/>
              <a:latin typeface="メイリオ"/>
              <a:ea typeface="メイリオ"/>
              <a:cs typeface="メイリオ"/>
            </a:endParaRPr>
          </a:p>
        </p:txBody>
      </p:sp>
      <p:sp>
        <p:nvSpPr>
          <p:cNvPr id="347" name="テキスト ボックス 18"/>
          <p:cNvSpPr/>
          <p:nvPr/>
        </p:nvSpPr>
        <p:spPr>
          <a:xfrm>
            <a:off x="261360" y="2688480"/>
            <a:ext cx="2899080" cy="3470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en-US" sz="1400" b="0" u="none" strike="noStrike">
                <a:solidFill>
                  <a:schemeClr val="dk1"/>
                </a:solidFill>
                <a:effectLst/>
                <a:uFillTx/>
                <a:latin typeface="メイリオ"/>
                <a:ea typeface="メイリオ"/>
                <a:cs typeface="メイリオ"/>
              </a:rPr>
              <a:t>&lt;</a:t>
            </a:r>
            <a:r>
              <a:rPr lang="ja-JP" sz="1400" b="0" u="none" strike="noStrike">
                <a:solidFill>
                  <a:schemeClr val="dk1"/>
                </a:solidFill>
                <a:effectLst/>
                <a:uFillTx/>
                <a:latin typeface="メイリオ"/>
                <a:ea typeface="メイリオ"/>
                <a:cs typeface="メイリオ"/>
              </a:rPr>
              <a:t>実施内容</a:t>
            </a:r>
            <a:r>
              <a:rPr lang="en-US" sz="1400" b="0" u="none" strike="noStrike">
                <a:solidFill>
                  <a:schemeClr val="dk1"/>
                </a:solidFill>
                <a:effectLst/>
                <a:uFillTx/>
                <a:latin typeface="メイリオ"/>
                <a:ea typeface="メイリオ"/>
                <a:cs typeface="メイリオ"/>
              </a:rPr>
              <a:t>&gt;</a:t>
            </a:r>
            <a:endParaRPr lang="en-US" sz="1400" b="0" u="none" strike="noStrike">
              <a:solidFill>
                <a:srgbClr val="000000"/>
              </a:solidFill>
              <a:effectLst/>
              <a:uFillTx/>
              <a:latin typeface="メイリオ"/>
              <a:ea typeface="メイリオ"/>
              <a:cs typeface="メイリオ"/>
            </a:endParaRPr>
          </a:p>
        </p:txBody>
      </p:sp>
      <p:sp>
        <p:nvSpPr>
          <p:cNvPr id="348" name="テキスト ボックス 20"/>
          <p:cNvSpPr/>
          <p:nvPr/>
        </p:nvSpPr>
        <p:spPr>
          <a:xfrm>
            <a:off x="3337560" y="2688480"/>
            <a:ext cx="2899080" cy="3470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en-US" sz="1400" b="0" u="none" strike="noStrike">
                <a:solidFill>
                  <a:schemeClr val="dk1"/>
                </a:solidFill>
                <a:effectLst/>
                <a:uFillTx/>
                <a:latin typeface="メイリオ"/>
                <a:ea typeface="メイリオ"/>
                <a:cs typeface="メイリオ"/>
              </a:rPr>
              <a:t>&lt;</a:t>
            </a:r>
            <a:r>
              <a:rPr lang="ja-JP" sz="1400" b="0" u="none" strike="noStrike">
                <a:solidFill>
                  <a:schemeClr val="dk1"/>
                </a:solidFill>
                <a:effectLst/>
                <a:uFillTx/>
                <a:latin typeface="メイリオ"/>
                <a:ea typeface="メイリオ"/>
                <a:cs typeface="メイリオ"/>
              </a:rPr>
              <a:t>実施内容</a:t>
            </a:r>
            <a:r>
              <a:rPr lang="en-US" sz="1400" b="0" u="none" strike="noStrike">
                <a:solidFill>
                  <a:schemeClr val="dk1"/>
                </a:solidFill>
                <a:effectLst/>
                <a:uFillTx/>
                <a:latin typeface="メイリオ"/>
                <a:ea typeface="メイリオ"/>
                <a:cs typeface="メイリオ"/>
              </a:rPr>
              <a:t>&gt;</a:t>
            </a:r>
            <a:endParaRPr lang="en-US" sz="1400" b="0" u="none" strike="noStrike">
              <a:solidFill>
                <a:srgbClr val="000000"/>
              </a:solidFill>
              <a:effectLst/>
              <a:uFillTx/>
              <a:latin typeface="メイリオ"/>
              <a:ea typeface="メイリオ"/>
              <a:cs typeface="メイリオ"/>
            </a:endParaRPr>
          </a:p>
        </p:txBody>
      </p:sp>
      <p:sp>
        <p:nvSpPr>
          <p:cNvPr id="349" name="正方形/長方形 24"/>
          <p:cNvSpPr/>
          <p:nvPr/>
        </p:nvSpPr>
        <p:spPr>
          <a:xfrm>
            <a:off x="3383280" y="309060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cs typeface="メイリオ"/>
              </a:rPr>
              <a:t>企画配信</a:t>
            </a:r>
            <a:endParaRPr lang="en-US" sz="1300" b="0" u="none" strike="noStrike">
              <a:solidFill>
                <a:srgbClr val="FFFFFF"/>
              </a:solidFill>
              <a:effectLst/>
              <a:uFillTx/>
              <a:latin typeface="メイリオ"/>
              <a:ea typeface="メイリオ"/>
              <a:cs typeface="メイリオ"/>
            </a:endParaRPr>
          </a:p>
        </p:txBody>
      </p:sp>
      <p:sp>
        <p:nvSpPr>
          <p:cNvPr id="350" name="正方形/長方形 28"/>
          <p:cNvSpPr/>
          <p:nvPr/>
        </p:nvSpPr>
        <p:spPr>
          <a:xfrm>
            <a:off x="4846320" y="309060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zh-CN" sz="1200" b="0" u="none" strike="noStrike">
                <a:solidFill>
                  <a:schemeClr val="dk1"/>
                </a:solidFill>
                <a:effectLst/>
                <a:uFillTx/>
                <a:latin typeface="メイリオ"/>
                <a:ea typeface="メイリオ"/>
                <a:cs typeface="メイリオ"/>
              </a:rPr>
              <a:t>開催月 4〜5回</a:t>
            </a:r>
            <a:endParaRPr lang="en-US" sz="1300" b="0" u="none" strike="noStrike">
              <a:solidFill>
                <a:srgbClr val="000000"/>
              </a:solidFill>
              <a:effectLst/>
              <a:uFillTx/>
              <a:latin typeface="メイリオ"/>
              <a:ea typeface="メイリオ"/>
              <a:cs typeface="メイリオ"/>
            </a:endParaRPr>
          </a:p>
          <a:p>
            <a:pPr algn="ctr" defTabSz="914400">
              <a:lnSpc>
                <a:spcPct val="100000"/>
              </a:lnSpc>
            </a:pPr>
            <a:r>
              <a:rPr lang="zh-CN" sz="1200" b="0" u="none" strike="noStrike">
                <a:solidFill>
                  <a:schemeClr val="dk1"/>
                </a:solidFill>
                <a:effectLst/>
                <a:uFillTx/>
                <a:latin typeface="メイリオ"/>
                <a:ea typeface="メイリオ"/>
                <a:cs typeface="メイリオ"/>
              </a:rPr>
              <a:t>平常期 1〜2回</a:t>
            </a:r>
            <a:endParaRPr lang="en-US" sz="1300" b="0" u="none" strike="noStrike">
              <a:solidFill>
                <a:srgbClr val="000000"/>
              </a:solidFill>
              <a:effectLst/>
              <a:uFillTx/>
              <a:latin typeface="メイリオ"/>
              <a:ea typeface="メイリオ"/>
              <a:cs typeface="メイリオ"/>
            </a:endParaRPr>
          </a:p>
        </p:txBody>
      </p:sp>
      <p:sp>
        <p:nvSpPr>
          <p:cNvPr id="351" name="正方形/長方形 32"/>
          <p:cNvSpPr/>
          <p:nvPr/>
        </p:nvSpPr>
        <p:spPr>
          <a:xfrm>
            <a:off x="3383280" y="357984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36576" tIns="0" rIns="36576" bIns="0" anchor="ctr">
            <a:noAutofit/>
          </a:bodyPr>
          <a:lstStyle/>
          <a:p>
            <a:pPr algn="ctr" defTabSz="914400">
              <a:lnSpc>
                <a:spcPct val="90000"/>
              </a:lnSpc>
            </a:pPr>
            <a:r>
              <a:rPr lang="ja-JP" sz="1200" b="0" u="none" strike="noStrike" dirty="0">
                <a:solidFill>
                  <a:schemeClr val="lt1"/>
                </a:solidFill>
                <a:effectLst/>
                <a:uFillTx/>
                <a:latin typeface="メイリオ"/>
                <a:ea typeface="メイリオ"/>
                <a:cs typeface="メイリオ"/>
              </a:rPr>
              <a:t>前日・当日の</a:t>
            </a:r>
            <a:endParaRPr lang="en-US" sz="1200" b="0" u="none" strike="noStrike" dirty="0">
              <a:solidFill>
                <a:srgbClr val="FFFFFF"/>
              </a:solidFill>
              <a:effectLst/>
              <a:uFillTx/>
              <a:latin typeface="メイリオ"/>
              <a:ea typeface="メイリオ"/>
              <a:cs typeface="メイリオ"/>
            </a:endParaRPr>
          </a:p>
          <a:p>
            <a:pPr algn="ctr" defTabSz="914400">
              <a:lnSpc>
                <a:spcPct val="90000"/>
              </a:lnSpc>
            </a:pPr>
            <a:r>
              <a:rPr lang="ja-JP" sz="1200" b="0" u="none" strike="noStrike" dirty="0">
                <a:solidFill>
                  <a:schemeClr val="lt1"/>
                </a:solidFill>
                <a:effectLst/>
                <a:uFillTx/>
                <a:latin typeface="メイリオ"/>
                <a:ea typeface="メイリオ"/>
                <a:cs typeface="メイリオ"/>
              </a:rPr>
              <a:t>リマインド</a:t>
            </a:r>
            <a:endParaRPr lang="en-US" sz="1200" b="0" u="none" strike="noStrike" dirty="0">
              <a:solidFill>
                <a:srgbClr val="FFFFFF"/>
              </a:solidFill>
              <a:effectLst/>
              <a:uFillTx/>
              <a:latin typeface="メイリオ"/>
              <a:ea typeface="メイリオ"/>
              <a:cs typeface="メイリオ"/>
            </a:endParaRPr>
          </a:p>
        </p:txBody>
      </p:sp>
      <p:sp>
        <p:nvSpPr>
          <p:cNvPr id="352" name="正方形/長方形 36"/>
          <p:cNvSpPr/>
          <p:nvPr/>
        </p:nvSpPr>
        <p:spPr>
          <a:xfrm>
            <a:off x="4846320" y="357984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36576" tIns="0" rIns="36576" bIns="0" anchor="ctr">
            <a:noAutofit/>
          </a:bodyPr>
          <a:lstStyle/>
          <a:p>
            <a:pPr algn="ctr" defTabSz="914400">
              <a:lnSpc>
                <a:spcPct val="100000"/>
              </a:lnSpc>
            </a:pPr>
            <a:r>
              <a:rPr lang="ja-JP" sz="1200" b="0" u="none" strike="noStrike">
                <a:solidFill>
                  <a:schemeClr val="dk1"/>
                </a:solidFill>
                <a:effectLst/>
                <a:uFillTx/>
                <a:latin typeface="メイリオ"/>
                <a:ea typeface="メイリオ"/>
                <a:cs typeface="メイリオ"/>
              </a:rPr>
              <a:t>予約ごとに配信</a:t>
            </a:r>
            <a:endParaRPr lang="en-US" sz="1200" b="0" u="none" strike="noStrike">
              <a:solidFill>
                <a:srgbClr val="000000"/>
              </a:solidFill>
              <a:effectLst/>
              <a:uFillTx/>
              <a:latin typeface="メイリオ"/>
              <a:ea typeface="メイリオ"/>
              <a:cs typeface="メイリオ"/>
            </a:endParaRPr>
          </a:p>
        </p:txBody>
      </p:sp>
      <p:sp>
        <p:nvSpPr>
          <p:cNvPr id="353" name="正方形/長方形 40"/>
          <p:cNvSpPr/>
          <p:nvPr/>
        </p:nvSpPr>
        <p:spPr>
          <a:xfrm>
            <a:off x="3383280" y="406908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dirty="0">
                <a:solidFill>
                  <a:schemeClr val="lt1"/>
                </a:solidFill>
                <a:effectLst/>
                <a:uFillTx/>
                <a:latin typeface="メイリオ"/>
                <a:ea typeface="メイリオ"/>
                <a:cs typeface="メイリオ"/>
              </a:rPr>
              <a:t>ステップ配信</a:t>
            </a:r>
            <a:endParaRPr lang="en-US" sz="1300" b="0" u="none" strike="noStrike" dirty="0">
              <a:solidFill>
                <a:srgbClr val="FFFFFF"/>
              </a:solidFill>
              <a:effectLst/>
              <a:uFillTx/>
              <a:latin typeface="メイリオ"/>
              <a:ea typeface="メイリオ"/>
              <a:cs typeface="メイリオ"/>
            </a:endParaRPr>
          </a:p>
        </p:txBody>
      </p:sp>
      <p:sp>
        <p:nvSpPr>
          <p:cNvPr id="354" name="正方形/長方形 45"/>
          <p:cNvSpPr/>
          <p:nvPr/>
        </p:nvSpPr>
        <p:spPr>
          <a:xfrm>
            <a:off x="4846320" y="406908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en-US" sz="1300" b="0" u="none" strike="noStrike">
                <a:solidFill>
                  <a:schemeClr val="dk1"/>
                </a:solidFill>
                <a:effectLst/>
                <a:uFillTx/>
                <a:latin typeface="メイリオ"/>
                <a:ea typeface="メイリオ"/>
                <a:cs typeface="メイリオ"/>
              </a:rPr>
              <a:t>5通の改善</a:t>
            </a:r>
            <a:endParaRPr lang="en-US" sz="1300" b="0" u="none" strike="noStrike">
              <a:solidFill>
                <a:srgbClr val="000000"/>
              </a:solidFill>
              <a:effectLst/>
              <a:uFillTx/>
              <a:latin typeface="メイリオ"/>
              <a:ea typeface="メイリオ"/>
              <a:cs typeface="メイリオ"/>
            </a:endParaRPr>
          </a:p>
        </p:txBody>
      </p:sp>
      <p:sp>
        <p:nvSpPr>
          <p:cNvPr id="355" name="正方形/長方形 49"/>
          <p:cNvSpPr/>
          <p:nvPr/>
        </p:nvSpPr>
        <p:spPr>
          <a:xfrm>
            <a:off x="3383280" y="455832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cs typeface="メイリオ"/>
              </a:rPr>
              <a:t>友だちの入口</a:t>
            </a:r>
            <a:endParaRPr lang="en-US" sz="1300" b="0" u="none" strike="noStrike">
              <a:solidFill>
                <a:srgbClr val="FFFFFF"/>
              </a:solidFill>
              <a:effectLst/>
              <a:uFillTx/>
              <a:latin typeface="メイリオ"/>
              <a:ea typeface="メイリオ"/>
              <a:cs typeface="メイリオ"/>
            </a:endParaRPr>
          </a:p>
        </p:txBody>
      </p:sp>
      <p:sp>
        <p:nvSpPr>
          <p:cNvPr id="356" name="正方形/長方形 53"/>
          <p:cNvSpPr/>
          <p:nvPr/>
        </p:nvSpPr>
        <p:spPr>
          <a:xfrm>
            <a:off x="4846320" y="455832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en-US" sz="1300" b="0" u="none" strike="noStrike">
                <a:solidFill>
                  <a:schemeClr val="dk1"/>
                </a:solidFill>
                <a:effectLst/>
                <a:uFillTx/>
                <a:latin typeface="メイリオ"/>
                <a:ea typeface="メイリオ"/>
                <a:cs typeface="メイリオ"/>
              </a:rPr>
              <a:t>運用</a:t>
            </a:r>
            <a:endParaRPr lang="en-US" sz="1300" b="0" u="none" strike="noStrike">
              <a:solidFill>
                <a:srgbClr val="000000"/>
              </a:solidFill>
              <a:effectLst/>
              <a:uFillTx/>
              <a:latin typeface="メイリオ"/>
              <a:ea typeface="メイリオ"/>
              <a:cs typeface="メイリオ"/>
            </a:endParaRPr>
          </a:p>
        </p:txBody>
      </p:sp>
      <p:sp>
        <p:nvSpPr>
          <p:cNvPr id="357" name="正方形/長方形 57"/>
          <p:cNvSpPr/>
          <p:nvPr/>
        </p:nvSpPr>
        <p:spPr>
          <a:xfrm>
            <a:off x="3383280" y="504756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dirty="0">
                <a:solidFill>
                  <a:schemeClr val="lt1"/>
                </a:solidFill>
                <a:effectLst/>
                <a:uFillTx/>
                <a:latin typeface="メイリオ"/>
                <a:ea typeface="メイリオ"/>
                <a:cs typeface="メイリオ"/>
              </a:rPr>
              <a:t>個別チャット</a:t>
            </a:r>
            <a:endParaRPr lang="en-US" sz="1300" b="0" u="none" strike="noStrike" dirty="0">
              <a:solidFill>
                <a:srgbClr val="FFFFFF"/>
              </a:solidFill>
              <a:effectLst/>
              <a:uFillTx/>
              <a:latin typeface="メイリオ"/>
              <a:ea typeface="メイリオ"/>
              <a:cs typeface="メイリオ"/>
            </a:endParaRPr>
          </a:p>
        </p:txBody>
      </p:sp>
      <p:sp>
        <p:nvSpPr>
          <p:cNvPr id="358" name="正方形/長方形 61"/>
          <p:cNvSpPr/>
          <p:nvPr/>
        </p:nvSpPr>
        <p:spPr>
          <a:xfrm>
            <a:off x="4846320" y="504756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dk1"/>
                </a:solidFill>
                <a:effectLst/>
                <a:uFillTx/>
                <a:latin typeface="メイリオ"/>
                <a:ea typeface="メイリオ"/>
                <a:cs typeface="メイリオ"/>
              </a:rPr>
              <a:t>貴社で対応</a:t>
            </a:r>
            <a:endParaRPr lang="en-US" sz="1300" b="0" u="none" strike="noStrike">
              <a:solidFill>
                <a:srgbClr val="000000"/>
              </a:solidFill>
              <a:effectLst/>
              <a:uFillTx/>
              <a:latin typeface="メイリオ"/>
              <a:ea typeface="メイリオ"/>
              <a:cs typeface="メイリオ"/>
            </a:endParaRPr>
          </a:p>
        </p:txBody>
      </p:sp>
      <p:sp>
        <p:nvSpPr>
          <p:cNvPr id="361" name="正方形/長方形 79"/>
          <p:cNvSpPr/>
          <p:nvPr/>
        </p:nvSpPr>
        <p:spPr>
          <a:xfrm>
            <a:off x="6812280" y="1956960"/>
            <a:ext cx="1425960" cy="402120"/>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p:style>
        <p:txBody>
          <a:bodyPr lIns="45720" tIns="45000" rIns="45720" bIns="45000" anchor="ctr">
            <a:noAutofit/>
          </a:bodyPr>
          <a:lstStyle/>
          <a:p>
            <a:pPr algn="ctr" defTabSz="914400">
              <a:lnSpc>
                <a:spcPct val="100000"/>
              </a:lnSpc>
            </a:pPr>
            <a:r>
              <a:rPr lang="ja-JP" sz="1400" b="1" u="none" strike="noStrike">
                <a:solidFill>
                  <a:schemeClr val="lt1"/>
                </a:solidFill>
                <a:effectLst/>
                <a:uFillTx/>
                <a:latin typeface="メイリオ"/>
                <a:ea typeface="メイリオ"/>
                <a:cs typeface="メイリオ"/>
              </a:rPr>
              <a:t>友だち数</a:t>
            </a:r>
            <a:endParaRPr lang="en-US" sz="1400" b="0" u="none" strike="noStrike">
              <a:solidFill>
                <a:srgbClr val="000000"/>
              </a:solidFill>
              <a:effectLst/>
              <a:uFillTx/>
              <a:latin typeface="メイリオ"/>
              <a:ea typeface="メイリオ"/>
              <a:cs typeface="メイリオ"/>
            </a:endParaRPr>
          </a:p>
        </p:txBody>
      </p:sp>
      <p:sp>
        <p:nvSpPr>
          <p:cNvPr id="362" name="正方形/長方形 81"/>
          <p:cNvSpPr/>
          <p:nvPr/>
        </p:nvSpPr>
        <p:spPr>
          <a:xfrm>
            <a:off x="6812280" y="2432160"/>
            <a:ext cx="1425960" cy="402120"/>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p:style>
        <p:txBody>
          <a:bodyPr lIns="45720" tIns="45000" rIns="45720" bIns="45000" anchor="ctr">
            <a:noAutofit/>
          </a:bodyPr>
          <a:lstStyle/>
          <a:p>
            <a:pPr algn="ctr" defTabSz="914400">
              <a:lnSpc>
                <a:spcPct val="100000"/>
              </a:lnSpc>
            </a:pPr>
            <a:r>
              <a:rPr lang="ja-JP" sz="1400" b="1" u="none" strike="noStrike">
                <a:solidFill>
                  <a:schemeClr val="lt1"/>
                </a:solidFill>
                <a:effectLst/>
                <a:uFillTx/>
                <a:latin typeface="メイリオ"/>
                <a:ea typeface="メイリオ"/>
                <a:cs typeface="メイリオ"/>
              </a:rPr>
              <a:t>配信可能な人数</a:t>
            </a:r>
            <a:endParaRPr lang="en-US" sz="1400" b="0" u="none" strike="noStrike">
              <a:solidFill>
                <a:srgbClr val="000000"/>
              </a:solidFill>
              <a:effectLst/>
              <a:uFillTx/>
              <a:latin typeface="メイリオ"/>
              <a:ea typeface="メイリオ"/>
              <a:cs typeface="メイリオ"/>
            </a:endParaRPr>
          </a:p>
        </p:txBody>
      </p:sp>
      <p:sp>
        <p:nvSpPr>
          <p:cNvPr id="364" name="正方形/長方形 85"/>
          <p:cNvSpPr/>
          <p:nvPr/>
        </p:nvSpPr>
        <p:spPr>
          <a:xfrm>
            <a:off x="6812280" y="2907792"/>
            <a:ext cx="1425960" cy="402120"/>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p:style>
        <p:txBody>
          <a:bodyPr lIns="45720" tIns="45000" rIns="45720" bIns="45000" anchor="ctr">
            <a:noAutofit/>
          </a:bodyPr>
          <a:lstStyle/>
          <a:p>
            <a:pPr algn="ctr" defTabSz="914400">
              <a:lnSpc>
                <a:spcPct val="100000"/>
              </a:lnSpc>
            </a:pPr>
            <a:r>
              <a:rPr lang="zh-CN" sz="1400" b="1" u="none" strike="noStrike">
                <a:solidFill>
                  <a:schemeClr val="lt1"/>
                </a:solidFill>
                <a:effectLst/>
                <a:uFillTx/>
                <a:latin typeface="メイリオ"/>
                <a:ea typeface="メイリオ"/>
                <a:cs typeface="メイリオ"/>
              </a:rPr>
              <a:t>セミナー予約</a:t>
            </a:r>
            <a:endParaRPr lang="en-US" sz="1400" b="0" u="none" strike="noStrike">
              <a:solidFill>
                <a:srgbClr val="000000"/>
              </a:solidFill>
              <a:effectLst/>
              <a:uFillTx/>
              <a:latin typeface="メイリオ"/>
              <a:ea typeface="メイリオ"/>
              <a:cs typeface="メイリオ"/>
            </a:endParaRPr>
          </a:p>
        </p:txBody>
      </p:sp>
      <p:sp>
        <p:nvSpPr>
          <p:cNvPr id="365" name="正方形/長方形 11"/>
          <p:cNvSpPr/>
          <p:nvPr/>
        </p:nvSpPr>
        <p:spPr>
          <a:xfrm>
            <a:off x="307080" y="309060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cs typeface="メイリオ"/>
              </a:rPr>
              <a:t>ポップアップ</a:t>
            </a:r>
            <a:endParaRPr lang="en-US" sz="1300" b="0" u="none" strike="noStrike">
              <a:solidFill>
                <a:srgbClr val="FFFFFF"/>
              </a:solidFill>
              <a:effectLst/>
              <a:uFillTx/>
              <a:latin typeface="メイリオ"/>
              <a:ea typeface="メイリオ"/>
              <a:cs typeface="メイリオ"/>
            </a:endParaRPr>
          </a:p>
          <a:p>
            <a:pPr algn="ctr" defTabSz="914400">
              <a:lnSpc>
                <a:spcPct val="100000"/>
              </a:lnSpc>
            </a:pPr>
            <a:r>
              <a:rPr lang="ja-JP" sz="1300" b="0" u="none" strike="noStrike">
                <a:solidFill>
                  <a:schemeClr val="lt1"/>
                </a:solidFill>
                <a:effectLst/>
                <a:uFillTx/>
                <a:latin typeface="メイリオ"/>
                <a:ea typeface="メイリオ"/>
                <a:cs typeface="メイリオ"/>
              </a:rPr>
              <a:t>ツール</a:t>
            </a:r>
            <a:endParaRPr lang="en-US" sz="1300" b="0" u="none" strike="noStrike">
              <a:solidFill>
                <a:srgbClr val="FFFFFF"/>
              </a:solidFill>
              <a:effectLst/>
              <a:uFillTx/>
              <a:latin typeface="メイリオ"/>
              <a:ea typeface="メイリオ"/>
              <a:cs typeface="メイリオ"/>
            </a:endParaRPr>
          </a:p>
        </p:txBody>
      </p:sp>
      <p:sp>
        <p:nvSpPr>
          <p:cNvPr id="366" name="正方形/長方形 13"/>
          <p:cNvSpPr/>
          <p:nvPr/>
        </p:nvSpPr>
        <p:spPr>
          <a:xfrm>
            <a:off x="1770120" y="309060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zh-CN" sz="1300" b="0" u="none" strike="noStrike">
                <a:solidFill>
                  <a:schemeClr val="dk1"/>
                </a:solidFill>
                <a:effectLst/>
                <a:uFillTx/>
                <a:latin typeface="メイリオ"/>
                <a:ea typeface="メイリオ"/>
                <a:cs typeface="メイリオ"/>
              </a:rPr>
              <a:t>導入（推奨）</a:t>
            </a:r>
            <a:endParaRPr lang="en-US" sz="1300" b="0" u="none" strike="noStrike">
              <a:solidFill>
                <a:srgbClr val="000000"/>
              </a:solidFill>
              <a:effectLst/>
              <a:uFillTx/>
              <a:latin typeface="メイリオ"/>
              <a:ea typeface="メイリオ"/>
              <a:cs typeface="メイリオ"/>
            </a:endParaRPr>
          </a:p>
        </p:txBody>
      </p:sp>
      <p:sp>
        <p:nvSpPr>
          <p:cNvPr id="367" name="正方形/長方形 17"/>
          <p:cNvSpPr/>
          <p:nvPr/>
        </p:nvSpPr>
        <p:spPr>
          <a:xfrm>
            <a:off x="307080" y="357984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cs typeface="メイリオ"/>
              </a:rPr>
              <a:t>サンクス</a:t>
            </a:r>
            <a:endParaRPr lang="en-US" sz="1300" b="0" u="none" strike="noStrike">
              <a:solidFill>
                <a:srgbClr val="FFFFFF"/>
              </a:solidFill>
              <a:effectLst/>
              <a:uFillTx/>
              <a:latin typeface="メイリオ"/>
              <a:ea typeface="メイリオ"/>
              <a:cs typeface="メイリオ"/>
            </a:endParaRPr>
          </a:p>
          <a:p>
            <a:pPr algn="ctr" defTabSz="914400">
              <a:lnSpc>
                <a:spcPct val="100000"/>
              </a:lnSpc>
            </a:pPr>
            <a:r>
              <a:rPr lang="ja-JP" sz="1300" b="0" u="none" strike="noStrike">
                <a:solidFill>
                  <a:schemeClr val="lt1"/>
                </a:solidFill>
                <a:effectLst/>
                <a:uFillTx/>
                <a:latin typeface="メイリオ"/>
                <a:ea typeface="メイリオ"/>
                <a:cs typeface="メイリオ"/>
              </a:rPr>
              <a:t>LINE誘導</a:t>
            </a:r>
            <a:endParaRPr lang="en-US" sz="1300" b="0" u="none" strike="noStrike">
              <a:solidFill>
                <a:srgbClr val="FFFFFF"/>
              </a:solidFill>
              <a:effectLst/>
              <a:uFillTx/>
              <a:latin typeface="メイリオ"/>
              <a:ea typeface="メイリオ"/>
              <a:cs typeface="メイリオ"/>
            </a:endParaRPr>
          </a:p>
        </p:txBody>
      </p:sp>
      <p:sp>
        <p:nvSpPr>
          <p:cNvPr id="368" name="正方形/長方形 21"/>
          <p:cNvSpPr/>
          <p:nvPr/>
        </p:nvSpPr>
        <p:spPr>
          <a:xfrm>
            <a:off x="1770120" y="357984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dk1"/>
                </a:solidFill>
                <a:effectLst/>
                <a:uFillTx/>
                <a:latin typeface="メイリオ"/>
                <a:ea typeface="メイリオ"/>
                <a:cs typeface="メイリオ"/>
              </a:rPr>
              <a:t>追加オプション</a:t>
            </a:r>
            <a:endParaRPr lang="en-US" sz="1300" b="0" u="none" strike="noStrike">
              <a:solidFill>
                <a:srgbClr val="000000"/>
              </a:solidFill>
              <a:effectLst/>
              <a:uFillTx/>
              <a:latin typeface="メイリオ"/>
              <a:ea typeface="メイリオ"/>
              <a:cs typeface="メイリオ"/>
            </a:endParaRPr>
          </a:p>
        </p:txBody>
      </p:sp>
      <p:sp>
        <p:nvSpPr>
          <p:cNvPr id="369" name="正方形/長方形 25"/>
          <p:cNvSpPr/>
          <p:nvPr/>
        </p:nvSpPr>
        <p:spPr>
          <a:xfrm>
            <a:off x="307080" y="406908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cs typeface="メイリオ"/>
              </a:rPr>
              <a:t>LINE公式</a:t>
            </a:r>
            <a:endParaRPr lang="en-US" sz="1300" b="0" u="none" strike="noStrike">
              <a:solidFill>
                <a:srgbClr val="FFFFFF"/>
              </a:solidFill>
              <a:effectLst/>
              <a:uFillTx/>
              <a:latin typeface="メイリオ"/>
              <a:ea typeface="メイリオ"/>
              <a:cs typeface="メイリオ"/>
            </a:endParaRPr>
          </a:p>
          <a:p>
            <a:pPr algn="ctr" defTabSz="914400">
              <a:lnSpc>
                <a:spcPct val="100000"/>
              </a:lnSpc>
            </a:pPr>
            <a:r>
              <a:rPr lang="ja-JP" sz="1300" b="0" u="none" strike="noStrike">
                <a:solidFill>
                  <a:schemeClr val="lt1"/>
                </a:solidFill>
                <a:effectLst/>
                <a:uFillTx/>
                <a:latin typeface="メイリオ"/>
                <a:ea typeface="メイリオ"/>
                <a:cs typeface="メイリオ"/>
              </a:rPr>
              <a:t>アカウント開設</a:t>
            </a:r>
            <a:endParaRPr lang="en-US" sz="1300" b="0" u="none" strike="noStrike">
              <a:solidFill>
                <a:srgbClr val="FFFFFF"/>
              </a:solidFill>
              <a:effectLst/>
              <a:uFillTx/>
              <a:latin typeface="メイリオ"/>
              <a:ea typeface="メイリオ"/>
              <a:cs typeface="メイリオ"/>
            </a:endParaRPr>
          </a:p>
        </p:txBody>
      </p:sp>
      <p:sp>
        <p:nvSpPr>
          <p:cNvPr id="370" name="正方形/長方形 29"/>
          <p:cNvSpPr/>
          <p:nvPr/>
        </p:nvSpPr>
        <p:spPr>
          <a:xfrm>
            <a:off x="1770120" y="406908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en-US" sz="1300" b="0" u="none" strike="noStrike">
                <a:solidFill>
                  <a:schemeClr val="dk1"/>
                </a:solidFill>
                <a:effectLst/>
                <a:uFillTx/>
                <a:latin typeface="メイリオ"/>
                <a:ea typeface="メイリオ"/>
                <a:cs typeface="メイリオ"/>
              </a:rPr>
              <a:t>対応</a:t>
            </a:r>
            <a:endParaRPr lang="en-US" sz="1300" b="0" u="none" strike="noStrike">
              <a:solidFill>
                <a:srgbClr val="000000"/>
              </a:solidFill>
              <a:effectLst/>
              <a:uFillTx/>
              <a:latin typeface="メイリオ"/>
              <a:ea typeface="メイリオ"/>
              <a:cs typeface="メイリオ"/>
            </a:endParaRPr>
          </a:p>
        </p:txBody>
      </p:sp>
      <p:sp>
        <p:nvSpPr>
          <p:cNvPr id="371" name="正方形/長方形 33"/>
          <p:cNvSpPr/>
          <p:nvPr/>
        </p:nvSpPr>
        <p:spPr>
          <a:xfrm>
            <a:off x="307080" y="455832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cs typeface="メイリオ"/>
              </a:rPr>
              <a:t>ステップ配信</a:t>
            </a:r>
            <a:endParaRPr lang="en-US" sz="1300" b="0" u="none" strike="noStrike">
              <a:solidFill>
                <a:srgbClr val="FFFFFF"/>
              </a:solidFill>
              <a:effectLst/>
              <a:uFillTx/>
              <a:latin typeface="メイリオ"/>
              <a:ea typeface="メイリオ"/>
              <a:cs typeface="メイリオ"/>
            </a:endParaRPr>
          </a:p>
        </p:txBody>
      </p:sp>
      <p:sp>
        <p:nvSpPr>
          <p:cNvPr id="372" name="正方形/長方形 37"/>
          <p:cNvSpPr/>
          <p:nvPr/>
        </p:nvSpPr>
        <p:spPr>
          <a:xfrm>
            <a:off x="1770120" y="455832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dk1"/>
                </a:solidFill>
                <a:effectLst/>
                <a:uFillTx/>
                <a:latin typeface="メイリオ"/>
                <a:ea typeface="メイリオ"/>
                <a:cs typeface="メイリオ"/>
              </a:rPr>
              <a:t>5通を構築</a:t>
            </a:r>
            <a:endParaRPr lang="en-US" sz="1300" b="0" u="none" strike="noStrike">
              <a:solidFill>
                <a:srgbClr val="000000"/>
              </a:solidFill>
              <a:effectLst/>
              <a:uFillTx/>
              <a:latin typeface="メイリオ"/>
              <a:ea typeface="メイリオ"/>
              <a:cs typeface="メイリオ"/>
            </a:endParaRPr>
          </a:p>
        </p:txBody>
      </p:sp>
      <p:sp>
        <p:nvSpPr>
          <p:cNvPr id="373" name="正方形/長方形 41"/>
          <p:cNvSpPr/>
          <p:nvPr/>
        </p:nvSpPr>
        <p:spPr>
          <a:xfrm>
            <a:off x="307080" y="504756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cs typeface="メイリオ"/>
              </a:rPr>
              <a:t>配信の設計</a:t>
            </a:r>
            <a:endParaRPr lang="en-US" sz="1300" b="0" u="none" strike="noStrike">
              <a:solidFill>
                <a:srgbClr val="FFFFFF"/>
              </a:solidFill>
              <a:effectLst/>
              <a:uFillTx/>
              <a:latin typeface="メイリオ"/>
              <a:ea typeface="メイリオ"/>
              <a:cs typeface="メイリオ"/>
            </a:endParaRPr>
          </a:p>
        </p:txBody>
      </p:sp>
      <p:sp>
        <p:nvSpPr>
          <p:cNvPr id="374" name="正方形/長方形 46"/>
          <p:cNvSpPr/>
          <p:nvPr/>
        </p:nvSpPr>
        <p:spPr>
          <a:xfrm>
            <a:off x="1770120" y="504756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200" b="0" u="none" strike="noStrike">
                <a:solidFill>
                  <a:schemeClr val="dk1"/>
                </a:solidFill>
                <a:effectLst/>
                <a:uFillTx/>
                <a:latin typeface="メイリオ"/>
                <a:ea typeface="メイリオ"/>
                <a:cs typeface="メイリオ"/>
              </a:rPr>
              <a:t>8フェーズで設計</a:t>
            </a:r>
            <a:endParaRPr lang="en-US" sz="1300" b="0" u="none" strike="noStrike">
              <a:solidFill>
                <a:srgbClr val="000000"/>
              </a:solidFill>
              <a:effectLst/>
              <a:uFillTx/>
              <a:latin typeface="メイリオ"/>
              <a:ea typeface="メイリオ"/>
              <a:cs typeface="メイリオ"/>
            </a:endParaRPr>
          </a:p>
        </p:txBody>
      </p:sp>
      <p:sp>
        <p:nvSpPr>
          <p:cNvPr id="375" name="テキスト ボックス 10"/>
          <p:cNvSpPr/>
          <p:nvPr/>
        </p:nvSpPr>
        <p:spPr>
          <a:xfrm>
            <a:off x="8256960" y="1956960"/>
            <a:ext cx="1325520" cy="4021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zh-CN" sz="1400" b="1" u="none" strike="noStrike">
                <a:solidFill>
                  <a:srgbClr val="1F285A"/>
                </a:solidFill>
                <a:effectLst/>
                <a:uFillTx/>
                <a:latin typeface="メイリオ"/>
                <a:ea typeface="メイリオ"/>
                <a:cs typeface="メイリオ"/>
              </a:rPr>
              <a:t>131人</a:t>
            </a:r>
            <a:endParaRPr lang="en-US" sz="1400" b="0" u="none" strike="noStrike">
              <a:solidFill>
                <a:srgbClr val="000000"/>
              </a:solidFill>
              <a:effectLst/>
              <a:uFillTx/>
              <a:latin typeface="メイリオ"/>
              <a:ea typeface="メイリオ"/>
              <a:cs typeface="メイリオ"/>
            </a:endParaRPr>
          </a:p>
        </p:txBody>
      </p:sp>
      <p:sp>
        <p:nvSpPr>
          <p:cNvPr id="376" name="テキスト ボックス 15"/>
          <p:cNvSpPr/>
          <p:nvPr/>
        </p:nvSpPr>
        <p:spPr>
          <a:xfrm>
            <a:off x="8256960" y="2432160"/>
            <a:ext cx="1325520" cy="4021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en-US" sz="1400" b="1" u="none" strike="noStrike">
                <a:solidFill>
                  <a:srgbClr val="1F285A"/>
                </a:solidFill>
                <a:effectLst/>
                <a:uFillTx/>
                <a:latin typeface="メイリオ"/>
                <a:ea typeface="メイリオ"/>
                <a:cs typeface="メイリオ"/>
              </a:rPr>
              <a:t>90人</a:t>
            </a:r>
            <a:endParaRPr lang="en-US" sz="1400" b="0" u="none" strike="noStrike">
              <a:solidFill>
                <a:srgbClr val="000000"/>
              </a:solidFill>
              <a:effectLst/>
              <a:uFillTx/>
              <a:latin typeface="メイリオ"/>
              <a:ea typeface="メイリオ"/>
              <a:cs typeface="メイリオ"/>
            </a:endParaRPr>
          </a:p>
        </p:txBody>
      </p:sp>
      <p:sp>
        <p:nvSpPr>
          <p:cNvPr id="378" name="テキスト ボックス 26"/>
          <p:cNvSpPr/>
          <p:nvPr/>
        </p:nvSpPr>
        <p:spPr>
          <a:xfrm>
            <a:off x="8256960" y="2907792"/>
            <a:ext cx="1325520" cy="4021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en-US" sz="1400" b="1" u="none" strike="noStrike">
                <a:solidFill>
                  <a:srgbClr val="1F285A"/>
                </a:solidFill>
                <a:effectLst/>
                <a:uFillTx/>
                <a:latin typeface="メイリオ"/>
                <a:ea typeface="メイリオ"/>
                <a:cs typeface="メイリオ"/>
              </a:rPr>
              <a:t>11件/6か月</a:t>
            </a:r>
            <a:endParaRPr lang="en-US" sz="1400" b="0" u="none" strike="noStrike">
              <a:solidFill>
                <a:srgbClr val="000000"/>
              </a:solidFill>
              <a:effectLst/>
              <a:uFillTx/>
              <a:latin typeface="メイリオ"/>
              <a:ea typeface="メイリオ"/>
              <a:cs typeface="メイリオ"/>
            </a:endParaRPr>
          </a:p>
        </p:txBody>
      </p:sp>
      <p:sp>
        <p:nvSpPr>
          <p:cNvPr id="381" name="テキスト ボックス 30"/>
          <p:cNvSpPr/>
          <p:nvPr/>
        </p:nvSpPr>
        <p:spPr>
          <a:xfrm>
            <a:off x="426240" y="635400"/>
            <a:ext cx="9068760" cy="698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ja-JP" sz="1400" b="0" u="none" strike="noStrike">
                <a:solidFill>
                  <a:schemeClr val="dk1">
                    <a:lumMod val="65000"/>
                    <a:lumOff val="35000"/>
                  </a:schemeClr>
                </a:solidFill>
                <a:effectLst/>
                <a:uFillTx/>
                <a:latin typeface="メイリオ"/>
                <a:ea typeface="メイリオ"/>
                <a:cs typeface="メイリオ"/>
              </a:rPr>
              <a:t>プラン②｜イベントに合わせた運用で、集めた方を友だちにし、次のセミナー予約・入会へつなげる</a:t>
            </a:r>
            <a:endParaRPr lang="en-US" sz="1400" b="0" u="none" strike="noStrike">
              <a:solidFill>
                <a:srgbClr val="000000"/>
              </a:solidFill>
              <a:effectLst/>
              <a:uFillTx/>
              <a:latin typeface="メイリオ"/>
              <a:ea typeface="メイリオ"/>
              <a:cs typeface="メイリオ"/>
            </a:endParaRPr>
          </a:p>
        </p:txBody>
      </p:sp>
      <p:sp>
        <p:nvSpPr>
          <p:cNvPr id="382" name="正方形/長方形 85"/>
          <p:cNvSpPr/>
          <p:nvPr/>
        </p:nvSpPr>
        <p:spPr>
          <a:xfrm>
            <a:off x="6812280" y="3383424"/>
            <a:ext cx="1425960" cy="402120"/>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p:style>
        <p:txBody>
          <a:bodyPr lIns="45720" tIns="45000" rIns="45720" bIns="45000" anchor="ctr">
            <a:noAutofit/>
          </a:bodyPr>
          <a:lstStyle/>
          <a:p>
            <a:pPr algn="ctr" defTabSz="914400">
              <a:lnSpc>
                <a:spcPct val="100000"/>
              </a:lnSpc>
            </a:pPr>
            <a:r>
              <a:rPr lang="zh-CN" sz="1400" b="1" u="none" strike="noStrike">
                <a:solidFill>
                  <a:schemeClr val="lt1"/>
                </a:solidFill>
                <a:effectLst/>
                <a:uFillTx/>
                <a:latin typeface="メイリオ"/>
                <a:ea typeface="メイリオ"/>
                <a:cs typeface="メイリオ"/>
              </a:rPr>
              <a:t>サロン入会</a:t>
            </a:r>
            <a:endParaRPr lang="en-US" sz="1400" b="0" u="none" strike="noStrike">
              <a:solidFill>
                <a:srgbClr val="000000"/>
              </a:solidFill>
              <a:effectLst/>
              <a:uFillTx/>
              <a:latin typeface="メイリオ"/>
              <a:ea typeface="メイリオ"/>
              <a:cs typeface="メイリオ"/>
            </a:endParaRPr>
          </a:p>
        </p:txBody>
      </p:sp>
      <p:sp>
        <p:nvSpPr>
          <p:cNvPr id="383" name="テキスト ボックス 26"/>
          <p:cNvSpPr/>
          <p:nvPr/>
        </p:nvSpPr>
        <p:spPr>
          <a:xfrm>
            <a:off x="8256960" y="3383424"/>
            <a:ext cx="1325520" cy="4021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en-US" sz="1400" b="1" u="none" strike="noStrike">
                <a:solidFill>
                  <a:srgbClr val="1F285A"/>
                </a:solidFill>
                <a:effectLst/>
                <a:uFillTx/>
                <a:latin typeface="メイリオ"/>
                <a:ea typeface="メイリオ"/>
                <a:cs typeface="メイリオ"/>
              </a:rPr>
              <a:t>4件/6か月</a:t>
            </a:r>
            <a:endParaRPr lang="en-US" sz="1400" b="0" u="none" strike="noStrike">
              <a:solidFill>
                <a:srgbClr val="000000"/>
              </a:solidFill>
              <a:effectLst/>
              <a:uFillTx/>
              <a:latin typeface="メイリオ"/>
              <a:ea typeface="メイリオ"/>
              <a:cs typeface="メイリオ"/>
            </a:endParaRPr>
          </a:p>
        </p:txBody>
      </p:sp>
      <p:sp>
        <p:nvSpPr>
          <p:cNvPr id="3" name="正方形/長方形 57">
            <a:extLst>
              <a:ext uri="{FF2B5EF4-FFF2-40B4-BE49-F238E27FC236}">
                <a16:creationId xmlns:a16="http://schemas.microsoft.com/office/drawing/2014/main" id="{F866D691-36CB-2858-C7C4-274E9BD31295}"/>
              </a:ext>
            </a:extLst>
          </p:cNvPr>
          <p:cNvSpPr/>
          <p:nvPr/>
        </p:nvSpPr>
        <p:spPr>
          <a:xfrm>
            <a:off x="3383280" y="553680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altLang="en-US" sz="1300" b="0" u="none" strike="noStrike" dirty="0">
                <a:solidFill>
                  <a:schemeClr val="lt1"/>
                </a:solidFill>
                <a:effectLst/>
                <a:uFillTx/>
                <a:latin typeface="メイリオ"/>
                <a:ea typeface="メイリオ"/>
                <a:cs typeface="メイリオ"/>
              </a:rPr>
              <a:t>月次レポート</a:t>
            </a:r>
            <a:r>
              <a:rPr lang="ja-JP" altLang="en-US" sz="1300" dirty="0">
                <a:solidFill>
                  <a:srgbClr val="FFFFFF"/>
                </a:solidFill>
                <a:latin typeface="メイリオ"/>
                <a:ea typeface="メイリオ"/>
                <a:cs typeface="メイリオ"/>
              </a:rPr>
              <a:t>・</a:t>
            </a:r>
            <a:endParaRPr lang="en-US" altLang="ja-JP" sz="1300" dirty="0">
              <a:solidFill>
                <a:srgbClr val="FFFFFF"/>
              </a:solidFill>
              <a:latin typeface="メイリオ"/>
              <a:ea typeface="メイリオ"/>
              <a:cs typeface="メイリオ"/>
            </a:endParaRPr>
          </a:p>
          <a:p>
            <a:pPr algn="ctr" defTabSz="914400">
              <a:lnSpc>
                <a:spcPct val="100000"/>
              </a:lnSpc>
            </a:pPr>
            <a:r>
              <a:rPr lang="ja-JP" altLang="en-US" sz="1300" b="0" u="none" strike="noStrike" dirty="0">
                <a:solidFill>
                  <a:srgbClr val="FFFFFF"/>
                </a:solidFill>
                <a:effectLst/>
                <a:uFillTx/>
                <a:latin typeface="メイリオ"/>
                <a:ea typeface="メイリオ"/>
                <a:cs typeface="メイリオ"/>
              </a:rPr>
              <a:t>定例会</a:t>
            </a:r>
            <a:endParaRPr lang="en-US" altLang="ja-JP" sz="1300" b="0" u="none" strike="noStrike" dirty="0">
              <a:solidFill>
                <a:schemeClr val="lt1"/>
              </a:solidFill>
              <a:effectLst/>
              <a:uFillTx/>
              <a:latin typeface="メイリオ"/>
              <a:ea typeface="メイリオ"/>
              <a:cs typeface="メイリオ"/>
            </a:endParaRPr>
          </a:p>
        </p:txBody>
      </p:sp>
      <p:sp>
        <p:nvSpPr>
          <p:cNvPr id="5" name="正方形/長方形 61">
            <a:extLst>
              <a:ext uri="{FF2B5EF4-FFF2-40B4-BE49-F238E27FC236}">
                <a16:creationId xmlns:a16="http://schemas.microsoft.com/office/drawing/2014/main" id="{916B9146-7BB6-4276-D5B6-30DF19D48AA1}"/>
              </a:ext>
            </a:extLst>
          </p:cNvPr>
          <p:cNvSpPr/>
          <p:nvPr/>
        </p:nvSpPr>
        <p:spPr>
          <a:xfrm>
            <a:off x="4846320" y="553680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altLang="en-US" sz="1300" dirty="0">
                <a:solidFill>
                  <a:schemeClr val="dk1"/>
                </a:solidFill>
                <a:latin typeface="メイリオ"/>
                <a:ea typeface="メイリオ"/>
                <a:cs typeface="メイリオ"/>
              </a:rPr>
              <a:t>月１回</a:t>
            </a:r>
            <a:endParaRPr lang="en-US" sz="1300" b="0" u="none" strike="noStrike" dirty="0">
              <a:solidFill>
                <a:srgbClr val="000000"/>
              </a:solidFill>
              <a:effectLst/>
              <a:uFillTx/>
              <a:latin typeface="メイリオ"/>
              <a:ea typeface="メイリオ"/>
              <a:cs typeface="メイリオ"/>
            </a:endParaRPr>
          </a:p>
        </p:txBody>
      </p:sp>
      <p:sp>
        <p:nvSpPr>
          <p:cNvPr id="384" name="想定の注記"/>
          <p:cNvSpPr/>
          <p:nvPr/>
        </p:nvSpPr>
        <p:spPr>
          <a:xfrm>
            <a:off x="6748272" y="3931920"/>
            <a:ext cx="2898648" cy="2286000"/>
          </a:xfrm>
          <a:prstGeom prst="rect">
            <a:avLst/>
          </a:prstGeom>
          <a:noFill/>
          <a:ln>
            <a:noFill/>
          </a:ln>
        </p:spPr>
        <p:txBody>
          <a:bodyPr wrap="square" lIns="45720" tIns="0" rIns="0" bIns="0" rtlCol="0" anchor="t">
            <a:noAutofit/>
          </a:bodyPr>
          <a:lstStyle/>
          <a:p>
            <a:pPr algn="l">
              <a:lnSpc>
                <a:spcPct val="110000"/>
              </a:lnSpc>
              <a:buNone/>
            </a:pPr>
            <a:r>
              <a:rPr lang="ja-JP" altLang="en-US" sz="1000" b="0" dirty="0">
                <a:solidFill>
                  <a:srgbClr val="7F7F7F"/>
                </a:solidFill>
                <a:latin typeface="メイリオ" panose="020B0604030504040204" pitchFamily="50" charset="-128"/>
                <a:ea typeface="メイリオ" panose="020B0604030504040204" pitchFamily="50" charset="-128"/>
                <a:cs typeface="メイリオ"/>
              </a:rPr>
              <a:t>※SIMによる想定値（実績ではない）。ポップアップ＋サンクスLINE誘導の場合</a:t>
            </a:r>
            <a:endParaRPr lang="ja-JP" altLang="en-US" sz="1200" dirty="0">
              <a:latin typeface="メイリオ"/>
              <a:ea typeface="メイリオ"/>
              <a:cs typeface="メイリオ"/>
            </a:endParaRPr>
          </a:p>
          <a:p>
            <a:pPr algn="l">
              <a:lnSpc>
                <a:spcPct val="110000"/>
              </a:lnSpc>
              <a:buNone/>
            </a:pPr>
            <a:r>
              <a:rPr lang="ja-JP" altLang="en-US" sz="1000" b="0" dirty="0">
                <a:solidFill>
                  <a:srgbClr val="7F7F7F"/>
                </a:solidFill>
                <a:latin typeface="メイリオ" panose="020B0604030504040204" pitchFamily="50" charset="-128"/>
                <a:ea typeface="メイリオ" panose="020B0604030504040204" pitchFamily="50" charset="-128"/>
                <a:cs typeface="メイリオ"/>
              </a:rPr>
              <a:t>※推奨構成（ポップアップのみ）では、予約完了後の友だち追加が減るため、友だち数・配信可能な人数は少なくなる想定</a:t>
            </a:r>
            <a:endParaRPr lang="ja-JP" altLang="en-US" sz="1200" dirty="0">
              <a:latin typeface="メイリオ"/>
              <a:ea typeface="メイリオ"/>
              <a:cs typeface="メイリオ"/>
            </a:endParaRPr>
          </a:p>
          <a:p>
            <a:pPr algn="l">
              <a:lnSpc>
                <a:spcPct val="110000"/>
              </a:lnSpc>
              <a:buNone/>
            </a:pPr>
            <a:r>
              <a:rPr lang="ja-JP" altLang="en-US" sz="1000" b="0" dirty="0">
                <a:solidFill>
                  <a:srgbClr val="7F7F7F"/>
                </a:solidFill>
                <a:latin typeface="メイリオ" panose="020B0604030504040204" pitchFamily="50" charset="-128"/>
                <a:ea typeface="メイリオ" panose="020B0604030504040204" pitchFamily="50" charset="-128"/>
                <a:cs typeface="メイリオ"/>
              </a:rPr>
              <a:t>※セミナー予約・サロン入会は、LINEの配信・リンクからの件数。友だち数ほどの差は見込まないが、同数とは限らない</a:t>
            </a:r>
            <a:endParaRPr lang="ja-JP" altLang="en-US" sz="1200" dirty="0">
              <a:latin typeface="メイリオ"/>
              <a:ea typeface="メイリオ"/>
              <a:cs typeface="メイリオ"/>
            </a:endParaRPr>
          </a:p>
          <a:p>
            <a:pPr algn="l">
              <a:lnSpc>
                <a:spcPct val="110000"/>
              </a:lnSpc>
              <a:buNone/>
            </a:pPr>
            <a:r>
              <a:rPr lang="ja-JP" altLang="en-US" sz="1000" b="0" dirty="0">
                <a:solidFill>
                  <a:srgbClr val="7F7F7F"/>
                </a:solidFill>
                <a:latin typeface="メイリオ" panose="020B0604030504040204" pitchFamily="50" charset="-128"/>
                <a:ea typeface="メイリオ" panose="020B0604030504040204" pitchFamily="50" charset="-128"/>
                <a:cs typeface="メイリオ"/>
              </a:rPr>
              <a:t>※配信可能な人数＝ブロックされずに届く友だちの数</a:t>
            </a:r>
            <a:endParaRPr lang="ja-JP" altLang="en-US" sz="1200" dirty="0">
              <a:latin typeface="メイリオ"/>
              <a:ea typeface="メイリオ"/>
              <a:cs typeface="メイリオ"/>
            </a:endParaRPr>
          </a:p>
        </p:txBody>
      </p:sp>
      <p:sp>
        <p:nvSpPr>
          <p:cNvPr id="385" name="追加オプション"/>
          <p:cNvSpPr/>
          <p:nvPr/>
        </p:nvSpPr>
        <p:spPr>
          <a:xfrm>
            <a:off x="265176" y="6053328"/>
            <a:ext cx="5971032" cy="411480"/>
          </a:xfrm>
          <a:prstGeom prst="rect">
            <a:avLst/>
          </a:prstGeom>
          <a:solidFill>
            <a:srgbClr val="F5F7FA"/>
          </a:solidFill>
          <a:ln w="9525">
            <a:solidFill>
              <a:srgbClr val="1F2A5C"/>
            </a:solidFill>
          </a:ln>
        </p:spPr>
        <p:txBody>
          <a:bodyPr wrap="square" lIns="91440" tIns="18288" rIns="91440" bIns="18288" rtlCol="0" anchor="ctr">
            <a:noAutofit/>
          </a:bodyPr>
          <a:lstStyle/>
          <a:p>
            <a:pPr algn="l">
              <a:buNone/>
            </a:pPr>
            <a:r>
              <a:rPr lang="ja-JP" altLang="en-US" sz="1100" b="1" dirty="0">
                <a:solidFill>
                  <a:srgbClr val="1F2A5C"/>
                </a:solidFill>
                <a:latin typeface="メイリオ" panose="020B0604030504040204" pitchFamily="50" charset="-128"/>
                <a:ea typeface="メイリオ" panose="020B0604030504040204" pitchFamily="50" charset="-128"/>
                <a:cs typeface="メイリオ"/>
              </a:rPr>
              <a:t>追加オプション｜サンクスLINE誘導：初期＋¥150,000・月額＋¥30,000〜</a:t>
            </a:r>
            <a:endParaRPr lang="ja-JP" altLang="en-US" sz="1200" dirty="0">
              <a:latin typeface="メイリオ"/>
              <a:ea typeface="メイリオ"/>
              <a:cs typeface="メイリオ"/>
            </a:endParaRPr>
          </a:p>
          <a:p>
            <a:pPr algn="l">
              <a:buNone/>
            </a:pPr>
            <a:r>
              <a:rPr lang="ja-JP" altLang="en-US" sz="1000" b="0" dirty="0">
                <a:solidFill>
                  <a:srgbClr val="333333"/>
                </a:solidFill>
                <a:latin typeface="メイリオ" panose="020B0604030504040204" pitchFamily="50" charset="-128"/>
                <a:ea typeface="メイリオ" panose="020B0604030504040204" pitchFamily="50" charset="-128"/>
                <a:cs typeface="メイリオ"/>
              </a:rPr>
              <a:t>（追加した場合の合計：初期 ¥295,000〜／開催月 ¥365,000程度／平常期 ¥165,000〜）</a:t>
            </a:r>
            <a:endParaRPr lang="ja-JP" altLang="en-US" sz="1200" dirty="0">
              <a:latin typeface="メイリオ"/>
              <a:ea typeface="メイリオ"/>
              <a:cs typeface="メイリオ"/>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5" name="Google Shape;752;p28"/>
          <p:cNvSpPr/>
          <p:nvPr/>
        </p:nvSpPr>
        <p:spPr>
          <a:xfrm>
            <a:off x="549000" y="138240"/>
            <a:ext cx="62758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cs typeface="メイリオ"/>
              </a:rPr>
              <a:t>費用の比較：推奨構成と、サンクスLINE誘導を追加する場合</a:t>
            </a:r>
            <a:endParaRPr lang="en-US" sz="1600" b="0" u="none" strike="noStrike">
              <a:solidFill>
                <a:srgbClr val="000000"/>
              </a:solidFill>
              <a:effectLst/>
              <a:uFillTx/>
              <a:latin typeface="メイリオ"/>
              <a:ea typeface="メイリオ"/>
              <a:cs typeface="メイリオ"/>
            </a:endParaRPr>
          </a:p>
        </p:txBody>
      </p:sp>
      <p:sp>
        <p:nvSpPr>
          <p:cNvPr id="636" name="正方形/長方形 8"/>
          <p:cNvSpPr/>
          <p:nvPr/>
        </p:nvSpPr>
        <p:spPr>
          <a:xfrm>
            <a:off x="0" y="681480"/>
            <a:ext cx="2914200" cy="50256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400" b="0" u="none" strike="noStrike" dirty="0">
                <a:solidFill>
                  <a:schemeClr val="lt1"/>
                </a:solidFill>
                <a:effectLst/>
                <a:uFillTx/>
                <a:latin typeface="メイリオ"/>
                <a:ea typeface="メイリオ"/>
                <a:cs typeface="メイリオ"/>
              </a:rPr>
              <a:t>費用の比較</a:t>
            </a:r>
            <a:endParaRPr lang="en-US" sz="1400" b="0" u="none" strike="noStrike" dirty="0">
              <a:solidFill>
                <a:srgbClr val="FFFFFF"/>
              </a:solidFill>
              <a:effectLst/>
              <a:uFillTx/>
              <a:latin typeface="メイリオ"/>
              <a:ea typeface="メイリオ"/>
              <a:cs typeface="メイリオ"/>
            </a:endParaRPr>
          </a:p>
        </p:txBody>
      </p:sp>
      <p:sp>
        <p:nvSpPr>
          <p:cNvPr id="637" name="Google Shape;752;p28"/>
          <p:cNvSpPr/>
          <p:nvPr/>
        </p:nvSpPr>
        <p:spPr>
          <a:xfrm>
            <a:off x="2983680" y="783000"/>
            <a:ext cx="66196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dirty="0">
                <a:solidFill>
                  <a:schemeClr val="dk1"/>
                </a:solidFill>
                <a:effectLst/>
                <a:uFillTx/>
                <a:latin typeface="メイリオ"/>
                <a:ea typeface="メイリオ"/>
                <a:cs typeface="メイリオ"/>
              </a:rPr>
              <a:t>ポップアップの導入を推奨。サンクスLINE誘導は追加の選択肢</a:t>
            </a:r>
            <a:endParaRPr lang="en-US" sz="1600" b="0" u="none" strike="noStrike" dirty="0">
              <a:solidFill>
                <a:srgbClr val="000000"/>
              </a:solidFill>
              <a:effectLst/>
              <a:uFillTx/>
              <a:latin typeface="メイリオ"/>
              <a:ea typeface="メイリオ"/>
              <a:cs typeface="メイリオ"/>
            </a:endParaRPr>
          </a:p>
        </p:txBody>
      </p:sp>
      <p:graphicFrame>
        <p:nvGraphicFramePr>
          <p:cNvPr id="638" name="費用の比較 637"/>
          <p:cNvGraphicFramePr>
            <a:graphicFrameLocks noGrp="1"/>
          </p:cNvGraphicFramePr>
          <p:nvPr/>
        </p:nvGraphicFramePr>
        <p:xfrm>
          <a:off x="384048" y="1353312"/>
          <a:ext cx="9144000" cy="3264408"/>
        </p:xfrm>
        <a:graphic>
          <a:graphicData uri="http://schemas.openxmlformats.org/drawingml/2006/table">
            <a:tbl>
              <a:tblPr/>
              <a:tblGrid>
                <a:gridCol w="2514600">
                  <a:extLst>
                    <a:ext uri="{9D8B030D-6E8A-4147-A177-3AD203B41FA5}">
                      <a16:colId xmlns:a16="http://schemas.microsoft.com/office/drawing/2014/main" val="20000"/>
                    </a:ext>
                  </a:extLst>
                </a:gridCol>
                <a:gridCol w="3200400">
                  <a:extLst>
                    <a:ext uri="{9D8B030D-6E8A-4147-A177-3AD203B41FA5}">
                      <a16:colId xmlns:a16="http://schemas.microsoft.com/office/drawing/2014/main" val="20001"/>
                    </a:ext>
                  </a:extLst>
                </a:gridCol>
                <a:gridCol w="3429000">
                  <a:extLst>
                    <a:ext uri="{9D8B030D-6E8A-4147-A177-3AD203B41FA5}">
                      <a16:colId xmlns:a16="http://schemas.microsoft.com/office/drawing/2014/main" val="20002"/>
                    </a:ext>
                  </a:extLst>
                </a:gridCol>
              </a:tblGrid>
              <a:tr h="384048">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項目</a:t>
                      </a:r>
                      <a:endParaRPr lang="ja-JP" altLang="en-US" sz="1300" dirty="0">
                        <a:latin typeface="メイリオ"/>
                        <a:ea typeface="メイリオ"/>
                        <a:cs typeface="メイリオ"/>
                      </a:endParaRPr>
                    </a:p>
                  </a:txBody>
                  <a:tcPr marL="109728"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推奨構成：ポップアップあり</a:t>
                      </a:r>
                      <a:endParaRPr lang="ja-JP" altLang="en-US" sz="1300" dirty="0">
                        <a:latin typeface="メイリオ"/>
                        <a:ea typeface="メイリオ"/>
                        <a:cs typeface="メイリオ"/>
                      </a:endParaRPr>
                    </a:p>
                  </a:txBody>
                  <a:tcPr marL="109728"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追加構成：＋サンクスLINE誘導</a:t>
                      </a:r>
                      <a:endParaRPr lang="ja-JP" altLang="en-US" sz="1300" dirty="0">
                        <a:latin typeface="メイリオ"/>
                        <a:ea typeface="メイリオ"/>
                        <a:cs typeface="メイリオ"/>
                      </a:endParaRPr>
                    </a:p>
                  </a:txBody>
                  <a:tcPr marL="109728"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extLst>
                  <a:ext uri="{0D108BD9-81ED-4DB2-BD59-A6C34878D82A}">
                    <a16:rowId xmlns:a16="http://schemas.microsoft.com/office/drawing/2014/main" val="10000"/>
                  </a:ext>
                </a:extLst>
              </a:tr>
              <a:tr h="457200">
                <a:tc>
                  <a:txBody>
                    <a:bodyPr/>
                    <a:lstStyle/>
                    <a:p>
                      <a:pPr algn="ctr">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初期費用</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a:buNone/>
                      </a:pPr>
                      <a:r>
                        <a:rPr lang="ja-JP" altLang="en-US" sz="1500" b="1" dirty="0">
                          <a:solidFill>
                            <a:srgbClr val="1F2A5C"/>
                          </a:solidFill>
                          <a:latin typeface="メイリオ" panose="020B0604030504040204" pitchFamily="50" charset="-128"/>
                          <a:ea typeface="メイリオ" panose="020B0604030504040204" pitchFamily="50" charset="-128"/>
                          <a:cs typeface="メイリオ"/>
                        </a:rPr>
                        <a:t>145,000円〜</a:t>
                      </a:r>
                      <a:endParaRPr lang="ja-JP" altLang="en-US" sz="15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a:buNone/>
                      </a:pPr>
                      <a:r>
                        <a:rPr lang="ja-JP" altLang="en-US" sz="1500" b="1" dirty="0">
                          <a:solidFill>
                            <a:srgbClr val="1F2A5C"/>
                          </a:solidFill>
                          <a:latin typeface="メイリオ" panose="020B0604030504040204" pitchFamily="50" charset="-128"/>
                          <a:ea typeface="メイリオ" panose="020B0604030504040204" pitchFamily="50" charset="-128"/>
                          <a:cs typeface="メイリオ"/>
                        </a:rPr>
                        <a:t>295,000円〜（＋150,000円）</a:t>
                      </a:r>
                      <a:endParaRPr lang="ja-JP" altLang="en-US" sz="15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57200">
                <a:tc>
                  <a:txBody>
                    <a:bodyPr/>
                    <a:lstStyle/>
                    <a:p>
                      <a:pPr algn="ctr">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月額費用（平常期）</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ctr">
                        <a:buNone/>
                      </a:pPr>
                      <a:r>
                        <a:rPr lang="ja-JP" altLang="en-US" sz="1500" b="1" dirty="0">
                          <a:solidFill>
                            <a:srgbClr val="1F2A5C"/>
                          </a:solidFill>
                          <a:latin typeface="メイリオ" panose="020B0604030504040204" pitchFamily="50" charset="-128"/>
                          <a:ea typeface="メイリオ" panose="020B0604030504040204" pitchFamily="50" charset="-128"/>
                          <a:cs typeface="メイリオ"/>
                        </a:rPr>
                        <a:t>135,000円〜</a:t>
                      </a:r>
                      <a:endParaRPr lang="ja-JP" altLang="en-US" sz="15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ctr">
                        <a:buNone/>
                      </a:pPr>
                      <a:r>
                        <a:rPr lang="ja-JP" altLang="en-US" sz="1500" b="1" dirty="0">
                          <a:solidFill>
                            <a:srgbClr val="1F2A5C"/>
                          </a:solidFill>
                          <a:latin typeface="メイリオ" panose="020B0604030504040204" pitchFamily="50" charset="-128"/>
                          <a:ea typeface="メイリオ" panose="020B0604030504040204" pitchFamily="50" charset="-128"/>
                          <a:cs typeface="メイリオ"/>
                        </a:rPr>
                        <a:t>165,000円〜（＋30,000円〜）</a:t>
                      </a:r>
                      <a:endParaRPr lang="ja-JP" altLang="en-US" sz="15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extLst>
                  <a:ext uri="{0D108BD9-81ED-4DB2-BD59-A6C34878D82A}">
                    <a16:rowId xmlns:a16="http://schemas.microsoft.com/office/drawing/2014/main" val="10002"/>
                  </a:ext>
                </a:extLst>
              </a:tr>
              <a:tr h="457200">
                <a:tc>
                  <a:txBody>
                    <a:bodyPr/>
                    <a:lstStyle/>
                    <a:p>
                      <a:pPr algn="ctr">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月額費用（セミナー開催月）</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a:buNone/>
                      </a:pPr>
                      <a:r>
                        <a:rPr lang="ja-JP" altLang="en-US" sz="1500" b="1" dirty="0">
                          <a:solidFill>
                            <a:srgbClr val="1F2A5C"/>
                          </a:solidFill>
                          <a:latin typeface="メイリオ" panose="020B0604030504040204" pitchFamily="50" charset="-128"/>
                          <a:ea typeface="メイリオ" panose="020B0604030504040204" pitchFamily="50" charset="-128"/>
                          <a:cs typeface="メイリオ"/>
                        </a:rPr>
                        <a:t>335,000円程度</a:t>
                      </a:r>
                      <a:endParaRPr lang="ja-JP" altLang="en-US" sz="15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a:buNone/>
                      </a:pPr>
                      <a:r>
                        <a:rPr lang="ja-JP" altLang="en-US" sz="1500" b="1" dirty="0">
                          <a:solidFill>
                            <a:srgbClr val="1F2A5C"/>
                          </a:solidFill>
                          <a:latin typeface="メイリオ" panose="020B0604030504040204" pitchFamily="50" charset="-128"/>
                          <a:ea typeface="メイリオ" panose="020B0604030504040204" pitchFamily="50" charset="-128"/>
                          <a:cs typeface="メイリオ"/>
                        </a:rPr>
                        <a:t>365,000円程度（＋30,000円〜）</a:t>
                      </a:r>
                      <a:endParaRPr lang="ja-JP" altLang="en-US" sz="15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868680">
                <a:tc>
                  <a:txBody>
                    <a:bodyPr/>
                    <a:lstStyle/>
                    <a:p>
                      <a:pPr algn="ctr">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友だちの入口</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離脱防止ポップアップで、LPを離れる方を友だちに。予約完了ページには通常の友だち追加ボタン等を設置（費用・実装条件は仕様確認のうえ）</a:t>
                      </a:r>
                      <a:endParaRPr lang="ja-JP" altLang="en-US" sz="12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上記に加え、予約完了後にLINEへ自動遷移（フォームの入力内容の引き継ぎも可能）</a:t>
                      </a:r>
                      <a:endParaRPr lang="ja-JP" altLang="en-US" sz="12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extLst>
                  <a:ext uri="{0D108BD9-81ED-4DB2-BD59-A6C34878D82A}">
                    <a16:rowId xmlns:a16="http://schemas.microsoft.com/office/drawing/2014/main" val="10004"/>
                  </a:ext>
                </a:extLst>
              </a:tr>
              <a:tr h="640080">
                <a:tc>
                  <a:txBody>
                    <a:bodyPr/>
                    <a:lstStyle/>
                    <a:p>
                      <a:pPr algn="ctr">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追加するメリット</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a:t>
                      </a:r>
                      <a:endParaRPr lang="ja-JP" altLang="en-US" sz="12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予約した方を友だちにしやすくなり、特にセミナー開催時期の友だち追加数の上積みが期待できる</a:t>
                      </a:r>
                      <a:endParaRPr lang="ja-JP" altLang="en-US" sz="12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639" name="注記"/>
          <p:cNvSpPr/>
          <p:nvPr/>
        </p:nvSpPr>
        <p:spPr>
          <a:xfrm>
            <a:off x="420624" y="4754880"/>
            <a:ext cx="9052560" cy="960120"/>
          </a:xfrm>
          <a:prstGeom prst="rect">
            <a:avLst/>
          </a:prstGeom>
          <a:noFill/>
          <a:ln>
            <a:noFill/>
          </a:ln>
        </p:spPr>
        <p:txBody>
          <a:bodyPr wrap="square" lIns="0" tIns="0" rIns="0" bIns="0" rtlCol="0" anchor="t">
            <a:noAutofit/>
          </a:bodyPr>
          <a:lstStyle/>
          <a:p>
            <a:pPr algn="l">
              <a:buNone/>
            </a:pPr>
            <a:r>
              <a:rPr lang="ja-JP" altLang="en-US" sz="900" b="0" dirty="0">
                <a:solidFill>
                  <a:srgbClr val="7F7F7F"/>
                </a:solidFill>
                <a:latin typeface="メイリオ" panose="020B0604030504040204" pitchFamily="50" charset="-128"/>
                <a:ea typeface="メイリオ" panose="020B0604030504040204" pitchFamily="50" charset="-128"/>
                <a:cs typeface="メイリオ"/>
              </a:rPr>
              <a:t>※月額費用＝コンサルティング費（平常期 100,000円／セミナー開催月 300,000円程度）＋ツール・LINE関連費（推奨構成 35,000円〜＝ポップアップ 30,000円＋LINE公式アカウント利用料 5,000円〜）</a:t>
            </a:r>
            <a:endParaRPr lang="ja-JP" altLang="en-US" sz="1200" dirty="0">
              <a:latin typeface="メイリオ"/>
              <a:ea typeface="メイリオ"/>
              <a:cs typeface="メイリオ"/>
            </a:endParaRPr>
          </a:p>
          <a:p>
            <a:pPr algn="l">
              <a:buNone/>
            </a:pPr>
            <a:r>
              <a:rPr lang="ja-JP" altLang="en-US" sz="900" b="0" dirty="0">
                <a:solidFill>
                  <a:srgbClr val="7F7F7F"/>
                </a:solidFill>
                <a:latin typeface="メイリオ" panose="020B0604030504040204" pitchFamily="50" charset="-128"/>
                <a:ea typeface="メイリオ" panose="020B0604030504040204" pitchFamily="50" charset="-128"/>
                <a:cs typeface="メイリオ"/>
              </a:rPr>
              <a:t>※初期費用（推奨構成）＝運用設計・構築 100,000円〜＋ポップアップ 15,000円＋LINE公式アカウント開設 30,000円</a:t>
            </a:r>
            <a:endParaRPr lang="ja-JP" altLang="en-US" sz="1200" dirty="0">
              <a:latin typeface="メイリオ"/>
              <a:ea typeface="メイリオ"/>
              <a:cs typeface="メイリオ"/>
            </a:endParaRPr>
          </a:p>
          <a:p>
            <a:pPr algn="l">
              <a:buNone/>
            </a:pPr>
            <a:r>
              <a:rPr lang="ja-JP" altLang="en-US" sz="900" b="0" dirty="0">
                <a:solidFill>
                  <a:srgbClr val="7F7F7F"/>
                </a:solidFill>
                <a:latin typeface="メイリオ" panose="020B0604030504040204" pitchFamily="50" charset="-128"/>
                <a:ea typeface="メイリオ" panose="020B0604030504040204" pitchFamily="50" charset="-128"/>
                <a:cs typeface="メイリオ"/>
              </a:rPr>
              <a:t>※ポップアップ・サンクスLINE誘導はどちらも選択制。ポップアップも導入しない場合の参考：初期 130,000円〜／平常期 105,000円〜／開催月 305,000円程度（別途の実装・制作費等は含まない）</a:t>
            </a:r>
            <a:endParaRPr lang="ja-JP" altLang="en-US" sz="1200" dirty="0">
              <a:latin typeface="メイリオ"/>
              <a:ea typeface="メイリオ"/>
              <a:cs typeface="メイリオ"/>
            </a:endParaRPr>
          </a:p>
          <a:p>
            <a:pPr algn="l">
              <a:buNone/>
            </a:pPr>
            <a:r>
              <a:rPr lang="ja-JP" altLang="en-US" sz="900" b="0" dirty="0">
                <a:solidFill>
                  <a:srgbClr val="7F7F7F"/>
                </a:solidFill>
                <a:latin typeface="メイリオ" panose="020B0604030504040204" pitchFamily="50" charset="-128"/>
                <a:ea typeface="メイリオ" panose="020B0604030504040204" pitchFamily="50" charset="-128"/>
                <a:cs typeface="メイリオ"/>
              </a:rPr>
              <a:t>※サンクスLINE誘導の最低利用期間・停止条件（セミナー開催月だけの利用可否）は、確認のうえご案内</a:t>
            </a:r>
            <a:endParaRPr lang="ja-JP" altLang="en-US" sz="1200" dirty="0">
              <a:latin typeface="メイリオ"/>
              <a:ea typeface="メイリオ"/>
              <a:cs typeface="メイリオ"/>
            </a:endParaRPr>
          </a:p>
          <a:p>
            <a:pPr algn="l">
              <a:buNone/>
            </a:pPr>
            <a:r>
              <a:rPr lang="ja-JP" altLang="en-US" sz="900" b="0" dirty="0">
                <a:solidFill>
                  <a:srgbClr val="7F7F7F"/>
                </a:solidFill>
                <a:latin typeface="メイリオ" panose="020B0604030504040204" pitchFamily="50" charset="-128"/>
                <a:ea typeface="メイリオ" panose="020B0604030504040204" pitchFamily="50" charset="-128"/>
                <a:cs typeface="メイリオ"/>
              </a:rPr>
              <a:t>※契約期間は6か月。広告費は含まない。施策内容・配信本数・連携範囲等により、費用は個別にお見積もりいたします。</a:t>
            </a:r>
            <a:endParaRPr lang="ja-JP" altLang="en-US" sz="1200" dirty="0">
              <a:latin typeface="メイリオ"/>
              <a:ea typeface="メイリオ"/>
              <a:cs typeface="メイリオ"/>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5" name="Google Shape;752;p28"/>
          <p:cNvSpPr/>
          <p:nvPr/>
        </p:nvSpPr>
        <p:spPr>
          <a:xfrm>
            <a:off x="549000" y="138240"/>
            <a:ext cx="62758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cs typeface="メイリオ"/>
              </a:rPr>
              <a:t>料金プラン：3つのプランの費用</a:t>
            </a:r>
            <a:endParaRPr lang="en-US" sz="1600" b="0" u="none" strike="noStrike">
              <a:solidFill>
                <a:srgbClr val="000000"/>
              </a:solidFill>
              <a:effectLst/>
              <a:uFillTx/>
              <a:latin typeface="メイリオ"/>
              <a:ea typeface="メイリオ"/>
              <a:cs typeface="メイリオ"/>
            </a:endParaRPr>
          </a:p>
        </p:txBody>
      </p:sp>
      <p:sp>
        <p:nvSpPr>
          <p:cNvPr id="636" name="正方形/長方形 8"/>
          <p:cNvSpPr/>
          <p:nvPr/>
        </p:nvSpPr>
        <p:spPr>
          <a:xfrm>
            <a:off x="0" y="681480"/>
            <a:ext cx="2914200" cy="50256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400" b="0" u="none" strike="noStrike" dirty="0">
                <a:solidFill>
                  <a:schemeClr val="lt1"/>
                </a:solidFill>
                <a:effectLst/>
                <a:uFillTx/>
                <a:latin typeface="メイリオ"/>
                <a:ea typeface="メイリオ"/>
                <a:cs typeface="メイリオ"/>
              </a:rPr>
              <a:t>料金プランの比較</a:t>
            </a:r>
            <a:endParaRPr lang="en-US" sz="1400" b="0" u="none" strike="noStrike" dirty="0">
              <a:solidFill>
                <a:srgbClr val="FFFFFF"/>
              </a:solidFill>
              <a:effectLst/>
              <a:uFillTx/>
              <a:latin typeface="メイリオ"/>
              <a:ea typeface="メイリオ"/>
              <a:cs typeface="メイリオ"/>
            </a:endParaRPr>
          </a:p>
        </p:txBody>
      </p:sp>
      <p:sp>
        <p:nvSpPr>
          <p:cNvPr id="637" name="Google Shape;752;p28"/>
          <p:cNvSpPr/>
          <p:nvPr/>
        </p:nvSpPr>
        <p:spPr>
          <a:xfrm>
            <a:off x="2983680" y="783000"/>
            <a:ext cx="66196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dirty="0">
                <a:solidFill>
                  <a:schemeClr val="dk1"/>
                </a:solidFill>
                <a:effectLst/>
                <a:uFillTx/>
                <a:latin typeface="メイリオ"/>
                <a:ea typeface="メイリオ"/>
                <a:cs typeface="メイリオ"/>
              </a:rPr>
              <a:t>ご予算と運用の体制に合わせて、3つのプランをご用意</a:t>
            </a:r>
            <a:endParaRPr lang="en-US" sz="1600" b="0" u="none" strike="noStrike" dirty="0">
              <a:solidFill>
                <a:srgbClr val="000000"/>
              </a:solidFill>
              <a:effectLst/>
              <a:uFillTx/>
              <a:latin typeface="メイリオ"/>
              <a:ea typeface="メイリオ"/>
              <a:cs typeface="メイリオ"/>
            </a:endParaRPr>
          </a:p>
        </p:txBody>
      </p:sp>
      <p:graphicFrame>
        <p:nvGraphicFramePr>
          <p:cNvPr id="639" name="料金プラン比較表 638"/>
          <p:cNvGraphicFramePr>
            <a:graphicFrameLocks noGrp="1"/>
          </p:cNvGraphicFramePr>
          <p:nvPr>
            <p:extLst>
              <p:ext uri="{D42A27DB-BD31-4B8C-83A1-F6EECF244321}">
                <p14:modId xmlns:p14="http://schemas.microsoft.com/office/powerpoint/2010/main" val="2012307853"/>
              </p:ext>
            </p:extLst>
          </p:nvPr>
        </p:nvGraphicFramePr>
        <p:xfrm>
          <a:off x="384048" y="1353312"/>
          <a:ext cx="9144000" cy="3889248"/>
        </p:xfrm>
        <a:graphic>
          <a:graphicData uri="http://schemas.openxmlformats.org/drawingml/2006/table">
            <a:tbl>
              <a:tblPr/>
              <a:tblGrid>
                <a:gridCol w="228600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gridCol w="2286000">
                  <a:extLst>
                    <a:ext uri="{9D8B030D-6E8A-4147-A177-3AD203B41FA5}">
                      <a16:colId xmlns:a16="http://schemas.microsoft.com/office/drawing/2014/main" val="20002"/>
                    </a:ext>
                  </a:extLst>
                </a:gridCol>
                <a:gridCol w="2286000">
                  <a:extLst>
                    <a:ext uri="{9D8B030D-6E8A-4147-A177-3AD203B41FA5}">
                      <a16:colId xmlns:a16="http://schemas.microsoft.com/office/drawing/2014/main" val="20003"/>
                    </a:ext>
                  </a:extLst>
                </a:gridCol>
              </a:tblGrid>
              <a:tr h="640080">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項目</a:t>
                      </a:r>
                      <a:endParaRPr lang="ja-JP" altLang="en-US" sz="1400" dirty="0">
                        <a:latin typeface="メイリオ"/>
                        <a:ea typeface="メイリオ"/>
                        <a:cs typeface="メイリオ"/>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プラン①</a:t>
                      </a:r>
                      <a:endParaRPr lang="ja-JP" altLang="en-US" sz="1300" dirty="0">
                        <a:latin typeface="メイリオ"/>
                        <a:ea typeface="メイリオ"/>
                        <a:cs typeface="メイリオ"/>
                      </a:endParaRPr>
                    </a:p>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初期設計のみ</a:t>
                      </a:r>
                      <a:endParaRPr lang="ja-JP" altLang="en-US" sz="1300" dirty="0">
                        <a:latin typeface="メイリオ"/>
                        <a:ea typeface="メイリオ"/>
                        <a:cs typeface="メイリオ"/>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プラン②</a:t>
                      </a:r>
                      <a:endParaRPr lang="ja-JP" altLang="en-US" sz="1300" dirty="0">
                        <a:latin typeface="メイリオ"/>
                        <a:ea typeface="メイリオ"/>
                        <a:cs typeface="メイリオ"/>
                      </a:endParaRPr>
                    </a:p>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イベントに合わせた運用</a:t>
                      </a:r>
                      <a:endParaRPr lang="ja-JP" altLang="en-US" sz="1300" dirty="0">
                        <a:latin typeface="メイリオ"/>
                        <a:ea typeface="メイリオ"/>
                        <a:cs typeface="メイリオ"/>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プラン③</a:t>
                      </a:r>
                      <a:endParaRPr lang="ja-JP" altLang="en-US" sz="1300" dirty="0">
                        <a:latin typeface="メイリオ"/>
                        <a:ea typeface="メイリオ"/>
                        <a:cs typeface="メイリオ"/>
                      </a:endParaRPr>
                    </a:p>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継続的な運用・改善</a:t>
                      </a:r>
                      <a:endParaRPr lang="ja-JP" altLang="en-US" sz="1300" dirty="0">
                        <a:latin typeface="メイリオ"/>
                        <a:ea typeface="メイリオ"/>
                        <a:cs typeface="メイリオ"/>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extLst>
                  <a:ext uri="{0D108BD9-81ED-4DB2-BD59-A6C34878D82A}">
                    <a16:rowId xmlns:a16="http://schemas.microsoft.com/office/drawing/2014/main" val="10000"/>
                  </a:ext>
                </a:extLst>
              </a:tr>
              <a:tr h="457200">
                <a:tc>
                  <a:txBody>
                    <a:bodyPr/>
                    <a:lstStyle/>
                    <a:p>
                      <a:pPr algn="ctr">
                        <a:buNone/>
                      </a:pPr>
                      <a:r>
                        <a:rPr lang="ja-JP" altLang="en-US" sz="1400" b="1" dirty="0">
                          <a:solidFill>
                            <a:srgbClr val="1F285A"/>
                          </a:solidFill>
                          <a:latin typeface="メイリオ" panose="020B0604030504040204" pitchFamily="50" charset="-128"/>
                          <a:ea typeface="メイリオ" panose="020B0604030504040204" pitchFamily="50" charset="-128"/>
                          <a:cs typeface="メイリオ"/>
                        </a:rPr>
                        <a:t>初期費用</a:t>
                      </a:r>
                      <a:endParaRPr lang="ja-JP" altLang="en-US" sz="1400" dirty="0">
                        <a:latin typeface="メイリオ"/>
                        <a:ea typeface="メイリオ"/>
                        <a:cs typeface="メイリオ"/>
                      </a:endParaRPr>
                    </a:p>
                    <a:p>
                      <a:pPr algn="ctr">
                        <a:buNone/>
                      </a:pPr>
                      <a:r>
                        <a:rPr lang="ja-JP" altLang="en-US" sz="1400" b="1" dirty="0">
                          <a:solidFill>
                            <a:srgbClr val="1F285A"/>
                          </a:solidFill>
                          <a:latin typeface="メイリオ" panose="020B0604030504040204" pitchFamily="50" charset="-128"/>
                          <a:ea typeface="メイリオ" panose="020B0604030504040204" pitchFamily="50" charset="-128"/>
                          <a:cs typeface="メイリオ"/>
                        </a:rPr>
                        <a:t>（ポップアップあり）</a:t>
                      </a:r>
                      <a:endParaRPr lang="ja-JP" altLang="en-US" sz="14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cs typeface="メイリオ"/>
                        </a:rPr>
                        <a:t>145,000円〜</a:t>
                      </a:r>
                      <a:endParaRPr lang="ja-JP" altLang="en-US" sz="15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cs typeface="メイリオ"/>
                        </a:rPr>
                        <a:t>145,000円〜</a:t>
                      </a:r>
                      <a:endParaRPr lang="ja-JP" altLang="en-US" sz="15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cs typeface="メイリオ"/>
                        </a:rPr>
                        <a:t>145,000円〜</a:t>
                      </a:r>
                      <a:endParaRPr lang="ja-JP" altLang="en-US" sz="15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48640">
                <a:tc>
                  <a:txBody>
                    <a:bodyPr/>
                    <a:lstStyle/>
                    <a:p>
                      <a:pPr algn="ctr">
                        <a:buNone/>
                      </a:pPr>
                      <a:r>
                        <a:rPr lang="ja-JP" altLang="en-US" sz="1400" b="1" dirty="0">
                          <a:solidFill>
                            <a:srgbClr val="1F285A"/>
                          </a:solidFill>
                          <a:latin typeface="メイリオ" panose="020B0604030504040204" pitchFamily="50" charset="-128"/>
                          <a:ea typeface="メイリオ" panose="020B0604030504040204" pitchFamily="50" charset="-128"/>
                          <a:cs typeface="メイリオ"/>
                        </a:rPr>
                        <a:t>月額コンサルティング費</a:t>
                      </a:r>
                      <a:endParaRPr lang="ja-JP" altLang="en-US" sz="1400" dirty="0">
                        <a:latin typeface="メイリオ"/>
                        <a:ea typeface="メイリオ"/>
                        <a:cs typeface="メイリオ"/>
                      </a:endParaRPr>
                    </a:p>
                    <a:p>
                      <a:pPr algn="ctr">
                        <a:buNone/>
                      </a:pPr>
                      <a:r>
                        <a:rPr lang="ja-JP" altLang="en-US" sz="1400" b="1" dirty="0">
                          <a:solidFill>
                            <a:srgbClr val="1F285A"/>
                          </a:solidFill>
                          <a:latin typeface="メイリオ" panose="020B0604030504040204" pitchFamily="50" charset="-128"/>
                          <a:ea typeface="メイリオ" panose="020B0604030504040204" pitchFamily="50" charset="-128"/>
                          <a:cs typeface="メイリオ"/>
                        </a:rPr>
                        <a:t>（平常期）</a:t>
                      </a:r>
                      <a:endParaRPr lang="ja-JP" altLang="en-US" sz="14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cs typeface="メイリオ"/>
                        </a:rPr>
                        <a:t>なし</a:t>
                      </a:r>
                      <a:endParaRPr lang="ja-JP" altLang="en-US" sz="15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cs typeface="メイリオ"/>
                        </a:rPr>
                        <a:t>100,000円</a:t>
                      </a:r>
                      <a:endParaRPr lang="ja-JP" altLang="en-US" sz="15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cs typeface="メイリオ"/>
                        </a:rPr>
                        <a:t>200,000円〜</a:t>
                      </a:r>
                      <a:endParaRPr lang="ja-JP" altLang="en-US" sz="15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48640">
                <a:tc>
                  <a:txBody>
                    <a:bodyPr/>
                    <a:lstStyle/>
                    <a:p>
                      <a:pPr algn="ctr">
                        <a:buNone/>
                      </a:pPr>
                      <a:r>
                        <a:rPr lang="ja-JP" altLang="en-US" sz="1400" b="1" dirty="0">
                          <a:solidFill>
                            <a:srgbClr val="1F285A"/>
                          </a:solidFill>
                          <a:latin typeface="メイリオ" panose="020B0604030504040204" pitchFamily="50" charset="-128"/>
                          <a:ea typeface="メイリオ" panose="020B0604030504040204" pitchFamily="50" charset="-128"/>
                          <a:cs typeface="メイリオ"/>
                        </a:rPr>
                        <a:t>月額コンサルティング費</a:t>
                      </a:r>
                      <a:endParaRPr lang="ja-JP" altLang="en-US" sz="1400" dirty="0">
                        <a:latin typeface="メイリオ"/>
                        <a:ea typeface="メイリオ"/>
                        <a:cs typeface="メイリオ"/>
                      </a:endParaRPr>
                    </a:p>
                    <a:p>
                      <a:pPr algn="ctr">
                        <a:buNone/>
                      </a:pPr>
                      <a:r>
                        <a:rPr lang="ja-JP" altLang="en-US" sz="1400" b="1" dirty="0">
                          <a:solidFill>
                            <a:srgbClr val="1F285A"/>
                          </a:solidFill>
                          <a:latin typeface="メイリオ" panose="020B0604030504040204" pitchFamily="50" charset="-128"/>
                          <a:ea typeface="メイリオ" panose="020B0604030504040204" pitchFamily="50" charset="-128"/>
                          <a:cs typeface="メイリオ"/>
                        </a:rPr>
                        <a:t>（セミナー開催月）</a:t>
                      </a:r>
                      <a:endParaRPr lang="ja-JP" altLang="en-US" sz="14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cs typeface="メイリオ"/>
                        </a:rPr>
                        <a:t>なし</a:t>
                      </a:r>
                      <a:endParaRPr lang="ja-JP" altLang="en-US" sz="15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cs typeface="メイリオ"/>
                        </a:rPr>
                        <a:t>300,000円程度</a:t>
                      </a:r>
                      <a:endParaRPr lang="ja-JP" altLang="en-US" sz="15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cs typeface="メイリオ"/>
                        </a:rPr>
                        <a:t>300,000円〜</a:t>
                      </a:r>
                      <a:endParaRPr lang="ja-JP" altLang="en-US" sz="15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57200">
                <a:tc>
                  <a:txBody>
                    <a:bodyPr/>
                    <a:lstStyle/>
                    <a:p>
                      <a:pPr algn="ctr">
                        <a:buNone/>
                      </a:pPr>
                      <a:r>
                        <a:rPr lang="ja-JP" altLang="en-US" sz="1400" b="1" dirty="0">
                          <a:solidFill>
                            <a:srgbClr val="1F285A"/>
                          </a:solidFill>
                          <a:latin typeface="メイリオ" panose="020B0604030504040204" pitchFamily="50" charset="-128"/>
                          <a:ea typeface="メイリオ" panose="020B0604030504040204" pitchFamily="50" charset="-128"/>
                          <a:cs typeface="メイリオ"/>
                        </a:rPr>
                        <a:t>月額ツール・LINE関連費</a:t>
                      </a:r>
                      <a:endParaRPr lang="ja-JP" altLang="en-US" sz="1400" dirty="0">
                        <a:latin typeface="メイリオ"/>
                        <a:ea typeface="メイリオ"/>
                        <a:cs typeface="メイリオ"/>
                      </a:endParaRPr>
                    </a:p>
                    <a:p>
                      <a:pPr algn="ctr">
                        <a:buNone/>
                      </a:pPr>
                      <a:r>
                        <a:rPr lang="ja-JP" altLang="en-US" sz="1400" b="1" dirty="0">
                          <a:solidFill>
                            <a:srgbClr val="1F285A"/>
                          </a:solidFill>
                          <a:latin typeface="メイリオ" panose="020B0604030504040204" pitchFamily="50" charset="-128"/>
                          <a:ea typeface="メイリオ" panose="020B0604030504040204" pitchFamily="50" charset="-128"/>
                          <a:cs typeface="メイリオ"/>
                        </a:rPr>
                        <a:t>（ポップアップあり）</a:t>
                      </a:r>
                      <a:endParaRPr lang="ja-JP" altLang="en-US" sz="1400" dirty="0">
                        <a:latin typeface="メイリオ"/>
                        <a:ea typeface="メイリオ"/>
                        <a:cs typeface="メイリオ"/>
                      </a:endParaRPr>
                    </a:p>
                  </a:txBody>
                  <a:tcPr marL="27432" marR="2743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cs typeface="メイリオ"/>
                        </a:rPr>
                        <a:t>35,000円〜</a:t>
                      </a:r>
                      <a:endParaRPr lang="ja-JP" altLang="en-US" sz="15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cs typeface="メイリオ"/>
                        </a:rPr>
                        <a:t>35,000円〜</a:t>
                      </a:r>
                      <a:endParaRPr lang="ja-JP" altLang="en-US" sz="15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cs typeface="メイリオ"/>
                        </a:rPr>
                        <a:t>35,000円〜</a:t>
                      </a:r>
                      <a:endParaRPr lang="ja-JP" altLang="en-US" sz="15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94360">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月額費用</a:t>
                      </a:r>
                      <a:endParaRPr lang="ja-JP" altLang="en-US" sz="1400" dirty="0">
                        <a:latin typeface="メイリオ"/>
                        <a:ea typeface="メイリオ"/>
                        <a:cs typeface="メイリオ"/>
                      </a:endParaRPr>
                    </a:p>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（平常期）</a:t>
                      </a:r>
                      <a:endParaRPr lang="ja-JP" altLang="en-US" sz="14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1F285A"/>
                    </a:solidFill>
                  </a:tcPr>
                </a:tc>
                <a:tc>
                  <a:txBody>
                    <a:bodyPr/>
                    <a:lstStyle/>
                    <a:p>
                      <a:pPr algn="ctr">
                        <a:buNone/>
                      </a:pPr>
                      <a:r>
                        <a:rPr lang="ja-JP" altLang="en-US" sz="1600" b="1" dirty="0">
                          <a:solidFill>
                            <a:srgbClr val="1F285A"/>
                          </a:solidFill>
                          <a:latin typeface="メイリオ" panose="020B0604030504040204" pitchFamily="50" charset="-128"/>
                          <a:ea typeface="メイリオ" panose="020B0604030504040204" pitchFamily="50" charset="-128"/>
                          <a:cs typeface="メイリオ"/>
                        </a:rPr>
                        <a:t>35,000円〜</a:t>
                      </a:r>
                      <a:endParaRPr lang="ja-JP" altLang="en-US" sz="16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400" b="1" dirty="0">
                          <a:solidFill>
                            <a:srgbClr val="1F285A"/>
                          </a:solidFill>
                          <a:latin typeface="メイリオ" panose="020B0604030504040204" pitchFamily="50" charset="-128"/>
                          <a:ea typeface="メイリオ" panose="020B0604030504040204" pitchFamily="50" charset="-128"/>
                          <a:cs typeface="メイリオ"/>
                        </a:rPr>
                        <a:t>135,000円〜</a:t>
                      </a:r>
                      <a:endParaRPr lang="ja-JP" altLang="en-US" sz="14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600" b="1" dirty="0">
                          <a:solidFill>
                            <a:srgbClr val="1F285A"/>
                          </a:solidFill>
                          <a:latin typeface="メイリオ" panose="020B0604030504040204" pitchFamily="50" charset="-128"/>
                          <a:ea typeface="メイリオ" panose="020B0604030504040204" pitchFamily="50" charset="-128"/>
                          <a:cs typeface="メイリオ"/>
                        </a:rPr>
                        <a:t>235,000円〜</a:t>
                      </a:r>
                      <a:endParaRPr lang="ja-JP" altLang="en-US" sz="16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extLst>
                  <a:ext uri="{0D108BD9-81ED-4DB2-BD59-A6C34878D82A}">
                    <a16:rowId xmlns:a16="http://schemas.microsoft.com/office/drawing/2014/main" val="10005"/>
                  </a:ext>
                </a:extLst>
              </a:tr>
              <a:tr h="594360">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月額費用</a:t>
                      </a:r>
                      <a:endParaRPr lang="ja-JP" altLang="en-US" sz="1400" dirty="0">
                        <a:latin typeface="メイリオ"/>
                        <a:ea typeface="メイリオ"/>
                        <a:cs typeface="メイリオ"/>
                      </a:endParaRPr>
                    </a:p>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（セミナー開催月）</a:t>
                      </a:r>
                      <a:endParaRPr lang="ja-JP" altLang="en-US" sz="14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1F285A"/>
                    </a:solidFill>
                  </a:tcPr>
                </a:tc>
                <a:tc>
                  <a:txBody>
                    <a:bodyPr/>
                    <a:lstStyle/>
                    <a:p>
                      <a:pPr algn="ctr">
                        <a:buNone/>
                      </a:pPr>
                      <a:r>
                        <a:rPr lang="ja-JP" altLang="en-US" sz="1600" b="1" dirty="0">
                          <a:solidFill>
                            <a:srgbClr val="1F285A"/>
                          </a:solidFill>
                          <a:latin typeface="メイリオ" panose="020B0604030504040204" pitchFamily="50" charset="-128"/>
                          <a:ea typeface="メイリオ" panose="020B0604030504040204" pitchFamily="50" charset="-128"/>
                          <a:cs typeface="メイリオ"/>
                        </a:rPr>
                        <a:t>35,000円〜</a:t>
                      </a:r>
                      <a:endParaRPr lang="ja-JP" altLang="en-US" sz="16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600" b="1" dirty="0">
                          <a:solidFill>
                            <a:srgbClr val="1F285A"/>
                          </a:solidFill>
                          <a:latin typeface="メイリオ" panose="020B0604030504040204" pitchFamily="50" charset="-128"/>
                          <a:ea typeface="メイリオ" panose="020B0604030504040204" pitchFamily="50" charset="-128"/>
                          <a:cs typeface="メイリオ"/>
                        </a:rPr>
                        <a:t>335,000円程度</a:t>
                      </a:r>
                      <a:endParaRPr lang="ja-JP" altLang="en-US" sz="16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600" b="1" dirty="0">
                          <a:solidFill>
                            <a:srgbClr val="1F285A"/>
                          </a:solidFill>
                          <a:latin typeface="メイリオ" panose="020B0604030504040204" pitchFamily="50" charset="-128"/>
                          <a:ea typeface="メイリオ" panose="020B0604030504040204" pitchFamily="50" charset="-128"/>
                          <a:cs typeface="メイリオ"/>
                        </a:rPr>
                        <a:t>335,000円〜</a:t>
                      </a:r>
                      <a:endParaRPr lang="ja-JP" altLang="en-US" sz="16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extLst>
                  <a:ext uri="{0D108BD9-81ED-4DB2-BD59-A6C34878D82A}">
                    <a16:rowId xmlns:a16="http://schemas.microsoft.com/office/drawing/2014/main" val="10006"/>
                  </a:ext>
                </a:extLst>
              </a:tr>
            </a:tbl>
          </a:graphicData>
        </a:graphic>
      </p:graphicFrame>
      <p:sp>
        <p:nvSpPr>
          <p:cNvPr id="640" name="注記"/>
          <p:cNvSpPr/>
          <p:nvPr/>
        </p:nvSpPr>
        <p:spPr>
          <a:xfrm>
            <a:off x="384048" y="5303520"/>
            <a:ext cx="9144000" cy="246888"/>
          </a:xfrm>
          <a:prstGeom prst="rect">
            <a:avLst/>
          </a:prstGeom>
          <a:noFill/>
          <a:ln>
            <a:noFill/>
          </a:ln>
        </p:spPr>
        <p:txBody>
          <a:bodyPr wrap="square" lIns="0" tIns="0" rIns="0" bIns="0" rtlCol="0" anchor="t">
            <a:noAutofit/>
          </a:bodyPr>
          <a:lstStyle/>
          <a:p>
            <a:pPr algn="l">
              <a:buNone/>
            </a:pPr>
            <a:r>
              <a:rPr lang="ja-JP" altLang="en-US" sz="900" b="0" dirty="0">
                <a:solidFill>
                  <a:srgbClr val="7F7F7F"/>
                </a:solidFill>
                <a:latin typeface="メイリオ" panose="020B0604030504040204" pitchFamily="50" charset="-128"/>
                <a:ea typeface="メイリオ" panose="020B0604030504040204" pitchFamily="50" charset="-128"/>
                <a:cs typeface="メイリオ"/>
              </a:rPr>
              <a:t>※初期費用＝運用設計・構築 100,000円〜＋ポップアップ 15,000円＋LINE公式アカウント開設 30,000円</a:t>
            </a:r>
            <a:endParaRPr lang="ja-JP" altLang="en-US" sz="1200" dirty="0">
              <a:latin typeface="メイリオ"/>
              <a:ea typeface="メイリオ"/>
              <a:cs typeface="メイリオ"/>
            </a:endParaRPr>
          </a:p>
        </p:txBody>
      </p:sp>
      <p:sp>
        <p:nvSpPr>
          <p:cNvPr id="641" name="注記"/>
          <p:cNvSpPr/>
          <p:nvPr/>
        </p:nvSpPr>
        <p:spPr>
          <a:xfrm>
            <a:off x="384048" y="5532120"/>
            <a:ext cx="9144000" cy="246888"/>
          </a:xfrm>
          <a:prstGeom prst="rect">
            <a:avLst/>
          </a:prstGeom>
          <a:noFill/>
          <a:ln>
            <a:noFill/>
          </a:ln>
        </p:spPr>
        <p:txBody>
          <a:bodyPr wrap="square" lIns="0" tIns="0" rIns="0" bIns="0" rtlCol="0" anchor="t">
            <a:noAutofit/>
          </a:bodyPr>
          <a:lstStyle/>
          <a:p>
            <a:pPr algn="l">
              <a:buNone/>
            </a:pPr>
            <a:r>
              <a:rPr lang="ja-JP" altLang="en-US" sz="900" b="0" dirty="0">
                <a:solidFill>
                  <a:srgbClr val="7F7F7F"/>
                </a:solidFill>
                <a:latin typeface="メイリオ" panose="020B0604030504040204" pitchFamily="50" charset="-128"/>
                <a:ea typeface="メイリオ" panose="020B0604030504040204" pitchFamily="50" charset="-128"/>
                <a:cs typeface="メイリオ"/>
              </a:rPr>
              <a:t>※月額ツール・LINE関連費＝ポップアップ 30,000円＋LINE公式アカウント利用料 5,000円〜</a:t>
            </a:r>
            <a:endParaRPr lang="ja-JP" altLang="en-US" sz="1200" dirty="0">
              <a:latin typeface="メイリオ"/>
              <a:ea typeface="メイリオ"/>
              <a:cs typeface="メイリオ"/>
            </a:endParaRPr>
          </a:p>
        </p:txBody>
      </p:sp>
      <p:sp>
        <p:nvSpPr>
          <p:cNvPr id="642" name="注記"/>
          <p:cNvSpPr/>
          <p:nvPr/>
        </p:nvSpPr>
        <p:spPr>
          <a:xfrm>
            <a:off x="384048" y="5760720"/>
            <a:ext cx="9144000" cy="246888"/>
          </a:xfrm>
          <a:prstGeom prst="rect">
            <a:avLst/>
          </a:prstGeom>
          <a:noFill/>
          <a:ln>
            <a:noFill/>
          </a:ln>
        </p:spPr>
        <p:txBody>
          <a:bodyPr wrap="square" lIns="0" tIns="0" rIns="0" bIns="0" rtlCol="0" anchor="t">
            <a:noAutofit/>
          </a:bodyPr>
          <a:lstStyle/>
          <a:p>
            <a:pPr algn="l">
              <a:buNone/>
            </a:pPr>
            <a:r>
              <a:rPr lang="ja-JP" altLang="en-US" sz="900" b="0" dirty="0">
                <a:solidFill>
                  <a:srgbClr val="7F7F7F"/>
                </a:solidFill>
                <a:latin typeface="メイリオ" panose="020B0604030504040204" pitchFamily="50" charset="-128"/>
                <a:ea typeface="メイリオ" panose="020B0604030504040204" pitchFamily="50" charset="-128"/>
                <a:cs typeface="メイリオ"/>
              </a:rPr>
              <a:t>※ツールは選択制。サンクスLINE誘導を追加する場合は、初期＋150,000円・月額＋30,000円〜（ポップアップを導入しない場合は、初期−15,000円・月額−30,000円）</a:t>
            </a:r>
            <a:endParaRPr lang="ja-JP" altLang="en-US" sz="1200" dirty="0">
              <a:latin typeface="メイリオ"/>
              <a:ea typeface="メイリオ"/>
              <a:cs typeface="メイリオ"/>
            </a:endParaRPr>
          </a:p>
        </p:txBody>
      </p:sp>
      <p:sp>
        <p:nvSpPr>
          <p:cNvPr id="643" name="注記"/>
          <p:cNvSpPr/>
          <p:nvPr/>
        </p:nvSpPr>
        <p:spPr>
          <a:xfrm>
            <a:off x="384048" y="5989320"/>
            <a:ext cx="9144000" cy="246888"/>
          </a:xfrm>
          <a:prstGeom prst="rect">
            <a:avLst/>
          </a:prstGeom>
          <a:noFill/>
          <a:ln>
            <a:noFill/>
          </a:ln>
        </p:spPr>
        <p:txBody>
          <a:bodyPr wrap="square" lIns="0" tIns="0" rIns="0" bIns="0" rtlCol="0" anchor="t">
            <a:noAutofit/>
          </a:bodyPr>
          <a:lstStyle/>
          <a:p>
            <a:pPr algn="l">
              <a:buNone/>
            </a:pPr>
            <a:r>
              <a:rPr lang="ja-JP" altLang="en-US" sz="900" b="0" dirty="0">
                <a:solidFill>
                  <a:srgbClr val="7F7F7F"/>
                </a:solidFill>
                <a:latin typeface="メイリオ" panose="020B0604030504040204" pitchFamily="50" charset="-128"/>
                <a:ea typeface="メイリオ" panose="020B0604030504040204" pitchFamily="50" charset="-128"/>
                <a:cs typeface="メイリオ"/>
              </a:rPr>
              <a:t>※成果報酬型プラン：初期 145,000円〜／月額 35,000円〜＋成果報酬（セミナー予約 12,000円／件）。ツールの追加は上記と同じ</a:t>
            </a:r>
            <a:endParaRPr lang="ja-JP" altLang="en-US" sz="1200" dirty="0">
              <a:latin typeface="メイリオ"/>
              <a:ea typeface="メイリオ"/>
              <a:cs typeface="メイリオ"/>
            </a:endParaRPr>
          </a:p>
        </p:txBody>
      </p:sp>
      <p:sp>
        <p:nvSpPr>
          <p:cNvPr id="644" name="注記"/>
          <p:cNvSpPr/>
          <p:nvPr/>
        </p:nvSpPr>
        <p:spPr>
          <a:xfrm>
            <a:off x="384048" y="6217920"/>
            <a:ext cx="9144000" cy="246888"/>
          </a:xfrm>
          <a:prstGeom prst="rect">
            <a:avLst/>
          </a:prstGeom>
          <a:noFill/>
          <a:ln>
            <a:noFill/>
          </a:ln>
        </p:spPr>
        <p:txBody>
          <a:bodyPr wrap="square" lIns="0" tIns="0" rIns="0" bIns="0" rtlCol="0" anchor="t">
            <a:noAutofit/>
          </a:bodyPr>
          <a:lstStyle/>
          <a:p>
            <a:pPr algn="l">
              <a:buNone/>
            </a:pPr>
            <a:r>
              <a:rPr lang="ja-JP" altLang="en-US" sz="900" b="0" dirty="0">
                <a:solidFill>
                  <a:srgbClr val="7F7F7F"/>
                </a:solidFill>
                <a:latin typeface="メイリオ" panose="020B0604030504040204" pitchFamily="50" charset="-128"/>
                <a:ea typeface="メイリオ" panose="020B0604030504040204" pitchFamily="50" charset="-128"/>
                <a:cs typeface="メイリオ"/>
              </a:rPr>
              <a:t>※契約期間は6か月。広告費は含まない。施策内容・配信本数・連携範囲等により、費用は個別にお見積もりいたします。</a:t>
            </a:r>
            <a:endParaRPr lang="ja-JP" altLang="en-US" sz="1200" dirty="0">
              <a:latin typeface="メイリオ"/>
              <a:ea typeface="メイリオ"/>
              <a:cs typeface="メイリオ"/>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752;p28"/>
          <p:cNvSpPr/>
          <p:nvPr/>
        </p:nvSpPr>
        <p:spPr>
          <a:xfrm>
            <a:off x="549000" y="138240"/>
            <a:ext cx="62758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cs typeface="メイリオ"/>
              </a:rPr>
              <a:t>運用内容：プランごとの対応範囲</a:t>
            </a:r>
            <a:endParaRPr lang="en-US" sz="1600" b="0" u="none" strike="noStrike">
              <a:solidFill>
                <a:srgbClr val="000000"/>
              </a:solidFill>
              <a:effectLst/>
              <a:uFillTx/>
              <a:latin typeface="メイリオ"/>
              <a:ea typeface="メイリオ"/>
              <a:cs typeface="メイリオ"/>
            </a:endParaRPr>
          </a:p>
        </p:txBody>
      </p:sp>
      <p:sp>
        <p:nvSpPr>
          <p:cNvPr id="4" name="正方形/長方形 8"/>
          <p:cNvSpPr/>
          <p:nvPr/>
        </p:nvSpPr>
        <p:spPr>
          <a:xfrm>
            <a:off x="0" y="681480"/>
            <a:ext cx="2914200" cy="50256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400" b="0" u="none" strike="noStrike">
                <a:solidFill>
                  <a:schemeClr val="lt1"/>
                </a:solidFill>
                <a:effectLst/>
                <a:uFillTx/>
                <a:latin typeface="メイリオ"/>
                <a:ea typeface="メイリオ"/>
                <a:cs typeface="メイリオ"/>
              </a:rPr>
              <a:t>運用内容の比較</a:t>
            </a:r>
            <a:endParaRPr lang="en-US" sz="1400" b="0" u="none" strike="noStrike">
              <a:solidFill>
                <a:srgbClr val="FFFFFF"/>
              </a:solidFill>
              <a:effectLst/>
              <a:uFillTx/>
              <a:latin typeface="メイリオ"/>
              <a:ea typeface="メイリオ"/>
              <a:cs typeface="メイリオ"/>
            </a:endParaRPr>
          </a:p>
        </p:txBody>
      </p:sp>
      <p:sp>
        <p:nvSpPr>
          <p:cNvPr id="5" name="Google Shape;752;p28"/>
          <p:cNvSpPr/>
          <p:nvPr/>
        </p:nvSpPr>
        <p:spPr>
          <a:xfrm>
            <a:off x="2983680" y="783000"/>
            <a:ext cx="66196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dirty="0">
                <a:solidFill>
                  <a:schemeClr val="dk1"/>
                </a:solidFill>
                <a:effectLst/>
                <a:uFillTx/>
                <a:latin typeface="メイリオ"/>
                <a:ea typeface="メイリオ"/>
                <a:cs typeface="メイリオ"/>
              </a:rPr>
              <a:t>3つのプランの運用内容の比較</a:t>
            </a:r>
            <a:endParaRPr lang="en-US" sz="1600" b="0" u="none" strike="noStrike" dirty="0">
              <a:solidFill>
                <a:srgbClr val="000000"/>
              </a:solidFill>
              <a:effectLst/>
              <a:uFillTx/>
              <a:latin typeface="メイリオ"/>
              <a:ea typeface="メイリオ"/>
              <a:cs typeface="メイリオ"/>
            </a:endParaRPr>
          </a:p>
        </p:txBody>
      </p:sp>
      <p:graphicFrame>
        <p:nvGraphicFramePr>
          <p:cNvPr id="6" name="運用内容比較表 5"/>
          <p:cNvGraphicFramePr>
            <a:graphicFrameLocks noGrp="1"/>
          </p:cNvGraphicFramePr>
          <p:nvPr>
            <p:extLst>
              <p:ext uri="{D42A27DB-BD31-4B8C-83A1-F6EECF244321}">
                <p14:modId xmlns:p14="http://schemas.microsoft.com/office/powerpoint/2010/main" val="2955272464"/>
              </p:ext>
            </p:extLst>
          </p:nvPr>
        </p:nvGraphicFramePr>
        <p:xfrm>
          <a:off x="384048" y="1353312"/>
          <a:ext cx="9144000" cy="3642969"/>
        </p:xfrm>
        <a:graphic>
          <a:graphicData uri="http://schemas.openxmlformats.org/drawingml/2006/table">
            <a:tbl>
              <a:tblPr/>
              <a:tblGrid>
                <a:gridCol w="228600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gridCol w="2286000">
                  <a:extLst>
                    <a:ext uri="{9D8B030D-6E8A-4147-A177-3AD203B41FA5}">
                      <a16:colId xmlns:a16="http://schemas.microsoft.com/office/drawing/2014/main" val="20002"/>
                    </a:ext>
                  </a:extLst>
                </a:gridCol>
                <a:gridCol w="2286000">
                  <a:extLst>
                    <a:ext uri="{9D8B030D-6E8A-4147-A177-3AD203B41FA5}">
                      <a16:colId xmlns:a16="http://schemas.microsoft.com/office/drawing/2014/main" val="20003"/>
                    </a:ext>
                  </a:extLst>
                </a:gridCol>
              </a:tblGrid>
              <a:tr h="680313">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項目</a:t>
                      </a:r>
                      <a:endParaRPr lang="ja-JP" altLang="en-US" sz="1400" dirty="0">
                        <a:latin typeface="メイリオ"/>
                        <a:ea typeface="メイリオ"/>
                        <a:cs typeface="メイリオ"/>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プラン①</a:t>
                      </a:r>
                      <a:endParaRPr lang="ja-JP" altLang="en-US" sz="1300" dirty="0">
                        <a:latin typeface="メイリオ"/>
                        <a:ea typeface="メイリオ"/>
                        <a:cs typeface="メイリオ"/>
                      </a:endParaRPr>
                    </a:p>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初期設計のみ</a:t>
                      </a:r>
                      <a:endParaRPr lang="ja-JP" altLang="en-US" sz="1300" dirty="0">
                        <a:latin typeface="メイリオ"/>
                        <a:ea typeface="メイリオ"/>
                        <a:cs typeface="メイリオ"/>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プラン②</a:t>
                      </a:r>
                      <a:endParaRPr lang="ja-JP" altLang="en-US" sz="1300" dirty="0">
                        <a:latin typeface="メイリオ"/>
                        <a:ea typeface="メイリオ"/>
                        <a:cs typeface="メイリオ"/>
                      </a:endParaRPr>
                    </a:p>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イベントに合わせた運用</a:t>
                      </a:r>
                      <a:endParaRPr lang="ja-JP" altLang="en-US" sz="1300" dirty="0">
                        <a:latin typeface="メイリオ"/>
                        <a:ea typeface="メイリオ"/>
                        <a:cs typeface="メイリオ"/>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プラン③</a:t>
                      </a:r>
                      <a:endParaRPr lang="ja-JP" altLang="en-US" sz="1300" dirty="0">
                        <a:latin typeface="メイリオ"/>
                        <a:ea typeface="メイリオ"/>
                        <a:cs typeface="メイリオ"/>
                      </a:endParaRPr>
                    </a:p>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継続的な運用・改善</a:t>
                      </a:r>
                      <a:endParaRPr lang="ja-JP" altLang="en-US" sz="1300" dirty="0">
                        <a:latin typeface="メイリオ"/>
                        <a:ea typeface="メイリオ"/>
                        <a:cs typeface="メイリオ"/>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extLst>
                  <a:ext uri="{0D108BD9-81ED-4DB2-BD59-A6C34878D82A}">
                    <a16:rowId xmlns:a16="http://schemas.microsoft.com/office/drawing/2014/main" val="10000"/>
                  </a:ext>
                </a:extLst>
              </a:tr>
              <a:tr h="493776">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cs typeface="メイリオ"/>
                        </a:rPr>
                        <a:t>ポップアップ（推奨）・</a:t>
                      </a:r>
                      <a:endParaRPr lang="ja-JP" altLang="en-US" sz="1300" dirty="0">
                        <a:latin typeface="メイリオ"/>
                        <a:ea typeface="メイリオ"/>
                        <a:cs typeface="メイリオ"/>
                      </a:endParaRPr>
                    </a:p>
                    <a:p>
                      <a:pPr algn="ctr">
                        <a:buNone/>
                      </a:pPr>
                      <a:r>
                        <a:rPr lang="ja-JP" altLang="en-US" sz="1300" b="1" dirty="0">
                          <a:solidFill>
                            <a:srgbClr val="1F285A"/>
                          </a:solidFill>
                          <a:latin typeface="メイリオ" panose="020B0604030504040204" pitchFamily="50" charset="-128"/>
                          <a:ea typeface="メイリオ" panose="020B0604030504040204" pitchFamily="50" charset="-128"/>
                          <a:cs typeface="メイリオ"/>
                        </a:rPr>
                        <a:t>サンクスLINE誘導（追加）</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選択制・導入内容に</a:t>
                      </a:r>
                      <a:endParaRPr lang="ja-JP" altLang="en-US" sz="1300" dirty="0">
                        <a:latin typeface="メイリオ"/>
                        <a:ea typeface="メイリオ"/>
                        <a:cs typeface="メイリオ"/>
                      </a:endParaRPr>
                    </a:p>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応じて対応</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選択制・導入内容に</a:t>
                      </a:r>
                      <a:endParaRPr lang="ja-JP" altLang="en-US" sz="1300" dirty="0">
                        <a:latin typeface="メイリオ"/>
                        <a:ea typeface="メイリオ"/>
                        <a:cs typeface="メイリオ"/>
                      </a:endParaRPr>
                    </a:p>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応じて対応</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選択制・導入内容に</a:t>
                      </a:r>
                      <a:endParaRPr lang="ja-JP" altLang="en-US" sz="1300" dirty="0">
                        <a:latin typeface="メイリオ"/>
                        <a:ea typeface="メイリオ"/>
                        <a:cs typeface="メイリオ"/>
                      </a:endParaRPr>
                    </a:p>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応じて対応</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93776">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cs typeface="メイリオ"/>
                        </a:rPr>
                        <a:t>ステップ配信</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5通</a:t>
                      </a:r>
                      <a:endParaRPr lang="ja-JP" altLang="en-US" sz="1300" dirty="0">
                        <a:latin typeface="メイリオ"/>
                        <a:ea typeface="メイリオ"/>
                        <a:cs typeface="メイリオ"/>
                      </a:endParaRPr>
                    </a:p>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（構築のみ）</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5通</a:t>
                      </a:r>
                      <a:endParaRPr lang="ja-JP" altLang="en-US" sz="1300" dirty="0">
                        <a:latin typeface="メイリオ"/>
                        <a:ea typeface="メイリオ"/>
                        <a:cs typeface="メイリオ"/>
                      </a:endParaRPr>
                    </a:p>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（構築・改善）</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5通</a:t>
                      </a:r>
                      <a:endParaRPr lang="ja-JP" altLang="en-US" sz="1300" dirty="0">
                        <a:latin typeface="メイリオ"/>
                        <a:ea typeface="メイリオ"/>
                        <a:cs typeface="メイリオ"/>
                      </a:endParaRPr>
                    </a:p>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（構築・改善）</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93776">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cs typeface="メイリオ"/>
                        </a:rPr>
                        <a:t>企画配信</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なし（貴社で運用）</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開催月 月4〜5回</a:t>
                      </a:r>
                      <a:endParaRPr lang="ja-JP" altLang="en-US" sz="1300" dirty="0">
                        <a:latin typeface="メイリオ"/>
                        <a:ea typeface="メイリオ"/>
                        <a:cs typeface="メイリオ"/>
                      </a:endParaRPr>
                    </a:p>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平常期 月1〜2回</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開催月 月5回</a:t>
                      </a:r>
                      <a:endParaRPr lang="ja-JP" altLang="en-US" sz="1300" dirty="0">
                        <a:latin typeface="メイリオ"/>
                        <a:ea typeface="メイリオ"/>
                        <a:cs typeface="メイリオ"/>
                      </a:endParaRPr>
                    </a:p>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平常期 月3回</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93776">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cs typeface="メイリオ"/>
                        </a:rPr>
                        <a:t>セミナー前日・当日のリマインド</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設定のみ</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設定・改善</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設定・改善</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93776">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cs typeface="メイリオ"/>
                        </a:rPr>
                        <a:t>結果の分析・改善</a:t>
                      </a:r>
                      <a:endParaRPr lang="ja-JP" altLang="en-US" sz="1300" dirty="0">
                        <a:latin typeface="メイリオ"/>
                        <a:ea typeface="メイリオ"/>
                        <a:cs typeface="メイリオ"/>
                      </a:endParaRPr>
                    </a:p>
                    <a:p>
                      <a:pPr algn="ctr">
                        <a:buNone/>
                      </a:pPr>
                      <a:r>
                        <a:rPr lang="ja-JP" altLang="en-US" sz="1300" b="1" dirty="0">
                          <a:solidFill>
                            <a:srgbClr val="1F285A"/>
                          </a:solidFill>
                          <a:latin typeface="メイリオ" panose="020B0604030504040204" pitchFamily="50" charset="-128"/>
                          <a:ea typeface="メイリオ" panose="020B0604030504040204" pitchFamily="50" charset="-128"/>
                          <a:cs typeface="メイリオ"/>
                        </a:rPr>
                        <a:t>（月次レポート・定例会）</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なし</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dirty="0">
                          <a:latin typeface="メイリオ"/>
                          <a:ea typeface="メイリオ"/>
                          <a:cs typeface="メイリオ"/>
                        </a:rPr>
                        <a:t>対応</a:t>
                      </a:r>
                      <a:endParaRPr lang="en-US" altLang="ja-JP"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対応</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93776">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cs typeface="メイリオ"/>
                        </a:rPr>
                        <a:t>個別チャット</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貴社で対応</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貴社で対応</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貴社で対応</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7" name="注記"/>
          <p:cNvSpPr/>
          <p:nvPr/>
        </p:nvSpPr>
        <p:spPr>
          <a:xfrm>
            <a:off x="420624" y="5120640"/>
            <a:ext cx="9052560" cy="594360"/>
          </a:xfrm>
          <a:prstGeom prst="rect">
            <a:avLst/>
          </a:prstGeom>
          <a:noFill/>
          <a:ln>
            <a:noFill/>
          </a:ln>
        </p:spPr>
        <p:txBody>
          <a:bodyPr wrap="square" lIns="0" tIns="0" rIns="0" bIns="0" rtlCol="0" anchor="t">
            <a:noAutofit/>
          </a:bodyPr>
          <a:lstStyle/>
          <a:p>
            <a:pPr algn="l">
              <a:buNone/>
            </a:pPr>
            <a:r>
              <a:rPr lang="ja-JP" altLang="en-US" sz="900" b="0" dirty="0">
                <a:solidFill>
                  <a:srgbClr val="7F7F7F"/>
                </a:solidFill>
                <a:latin typeface="メイリオ" panose="020B0604030504040204" pitchFamily="50" charset="-128"/>
                <a:ea typeface="メイリオ" panose="020B0604030504040204" pitchFamily="50" charset="-128"/>
                <a:cs typeface="メイリオ"/>
              </a:rPr>
              <a:t>※月額のコンサルティング費には、企画配信の制作に加え、LINEアカウントの運用・導線の管理・ステップ配信の改善・配信結果の分析・次回施策への改善提案を含む</a:t>
            </a:r>
            <a:endParaRPr lang="ja-JP" altLang="en-US" sz="1200" dirty="0">
              <a:latin typeface="メイリオ"/>
              <a:ea typeface="メイリオ"/>
              <a:cs typeface="メイリオ"/>
            </a:endParaRPr>
          </a:p>
          <a:p>
            <a:pPr algn="l">
              <a:buNone/>
            </a:pPr>
            <a:r>
              <a:rPr lang="ja-JP" altLang="en-US" sz="900" b="0" dirty="0">
                <a:solidFill>
                  <a:srgbClr val="7F7F7F"/>
                </a:solidFill>
                <a:latin typeface="メイリオ" panose="020B0604030504040204" pitchFamily="50" charset="-128"/>
                <a:ea typeface="メイリオ" panose="020B0604030504040204" pitchFamily="50" charset="-128"/>
                <a:cs typeface="メイリオ"/>
              </a:rPr>
              <a:t>※平常期の配信は、次のイベントまで関係を保つためのもの（配信の回数を増やすこと自体は目的にしない）</a:t>
            </a:r>
            <a:endParaRPr lang="ja-JP" altLang="en-US" sz="1200" dirty="0">
              <a:latin typeface="メイリオ"/>
              <a:ea typeface="メイリオ"/>
              <a:cs typeface="メイリオ"/>
            </a:endParaRPr>
          </a:p>
          <a:p>
            <a:pPr algn="l">
              <a:buNone/>
            </a:pPr>
            <a:r>
              <a:rPr lang="ja-JP" altLang="en-US" sz="900" b="0" dirty="0">
                <a:solidFill>
                  <a:srgbClr val="7F7F7F"/>
                </a:solidFill>
                <a:latin typeface="メイリオ" panose="020B0604030504040204" pitchFamily="50" charset="-128"/>
                <a:ea typeface="メイリオ" panose="020B0604030504040204" pitchFamily="50" charset="-128"/>
                <a:cs typeface="メイリオ"/>
              </a:rPr>
              <a:t>※前日・当日のリマインドは、企画配信とは別に、予約ごとに配信。契約期間は6か月</a:t>
            </a:r>
            <a:endParaRPr lang="ja-JP" altLang="en-US" sz="1200" dirty="0">
              <a:latin typeface="メイリオ"/>
              <a:ea typeface="メイリオ"/>
              <a:cs typeface="メイリオ"/>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752;p28">
            <a:extLst>
              <a:ext uri="{FF2B5EF4-FFF2-40B4-BE49-F238E27FC236}">
                <a16:creationId xmlns:a16="http://schemas.microsoft.com/office/drawing/2014/main" id="{A67513FB-FEEF-76F5-5394-A1A2495F0489}"/>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弊社からご提供できる運用プラン</a:t>
            </a:r>
          </a:p>
        </p:txBody>
      </p:sp>
      <p:sp>
        <p:nvSpPr>
          <p:cNvPr id="9" name="正方形/長方形 8">
            <a:extLst>
              <a:ext uri="{FF2B5EF4-FFF2-40B4-BE49-F238E27FC236}">
                <a16:creationId xmlns:a16="http://schemas.microsoft.com/office/drawing/2014/main" id="{5CF6CD71-4C48-796A-BD54-E778269A9308}"/>
              </a:ext>
            </a:extLst>
          </p:cNvPr>
          <p:cNvSpPr/>
          <p:nvPr/>
        </p:nvSpPr>
        <p:spPr>
          <a:xfrm>
            <a:off x="0" y="777240"/>
            <a:ext cx="2103120"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400" dirty="0">
                <a:latin typeface="メイリオ" panose="020B0604030504040204" pitchFamily="50" charset="-128"/>
                <a:ea typeface="メイリオ" panose="020B0604030504040204" pitchFamily="50" charset="-128"/>
                <a:cs typeface="メイリオ"/>
              </a:rPr>
              <a:t>成果報酬型プラン</a:t>
            </a:r>
            <a:endParaRPr kumimoji="1" lang="ja-JP" altLang="en-US" sz="1400" dirty="0">
              <a:latin typeface="メイリオ" panose="020B0604030504040204" pitchFamily="50" charset="-128"/>
              <a:ea typeface="メイリオ" panose="020B0604030504040204" pitchFamily="50" charset="-128"/>
              <a:cs typeface="メイリオ"/>
            </a:endParaRPr>
          </a:p>
        </p:txBody>
      </p:sp>
      <p:sp>
        <p:nvSpPr>
          <p:cNvPr id="5" name="Google Shape;752;p28">
            <a:extLst>
              <a:ext uri="{FF2B5EF4-FFF2-40B4-BE49-F238E27FC236}">
                <a16:creationId xmlns:a16="http://schemas.microsoft.com/office/drawing/2014/main" id="{6C35AEF3-D15B-5805-4919-629E6F4207CC}"/>
              </a:ext>
            </a:extLst>
          </p:cNvPr>
          <p:cNvSpPr txBox="1"/>
          <p:nvPr/>
        </p:nvSpPr>
        <p:spPr>
          <a:xfrm>
            <a:off x="2286000" y="859443"/>
            <a:ext cx="7406640" cy="338514"/>
          </a:xfrm>
          <a:prstGeom prst="rect">
            <a:avLst/>
          </a:prstGeom>
          <a:noFill/>
          <a:ln>
            <a:noFill/>
          </a:ln>
        </p:spPr>
        <p:txBody>
          <a:bodyPr spcFirstLastPara="1" wrap="square" lIns="91425" tIns="45700" rIns="91425" bIns="45700" anchor="ctr" anchorCtr="0">
            <a:spAutoFit/>
          </a:bodyPr>
          <a:lstStyle/>
          <a:p>
            <a:r>
              <a:rPr lang="ja-JP" altLang="en-US" sz="1600" b="1" dirty="0">
                <a:latin typeface="メイリオ" panose="020B0604030504040204" pitchFamily="50" charset="-128"/>
                <a:ea typeface="メイリオ" panose="020B0604030504040204" pitchFamily="50" charset="-128"/>
                <a:cs typeface="メイリオ"/>
                <a:sym typeface="Meiryo"/>
              </a:rPr>
              <a:t>別案：成果件数に応じた費用で、リスクを抑えて運用を始められる</a:t>
            </a:r>
          </a:p>
        </p:txBody>
      </p:sp>
      <p:sp>
        <p:nvSpPr>
          <p:cNvPr id="21" name="正方形/長方形 20">
            <a:extLst>
              <a:ext uri="{FF2B5EF4-FFF2-40B4-BE49-F238E27FC236}">
                <a16:creationId xmlns:a16="http://schemas.microsoft.com/office/drawing/2014/main" id="{EEA02B17-0DA2-A3FE-A6E5-243C1724301E}"/>
              </a:ext>
            </a:extLst>
          </p:cNvPr>
          <p:cNvSpPr/>
          <p:nvPr/>
        </p:nvSpPr>
        <p:spPr>
          <a:xfrm>
            <a:off x="548881" y="1405687"/>
            <a:ext cx="4404119" cy="2061098"/>
          </a:xfrm>
          <a:prstGeom prst="rect">
            <a:avLst/>
          </a:prstGeom>
          <a:noFill/>
          <a:ln w="952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050" dirty="0">
              <a:solidFill>
                <a:schemeClr val="tx1">
                  <a:lumMod val="65000"/>
                  <a:lumOff val="35000"/>
                </a:schemeClr>
              </a:solidFill>
              <a:latin typeface="メイリオ" panose="020B0604030504040204" pitchFamily="50" charset="-128"/>
              <a:ea typeface="メイリオ" panose="020B0604030504040204" pitchFamily="50" charset="-128"/>
              <a:cs typeface="メイリオ"/>
            </a:endParaRPr>
          </a:p>
        </p:txBody>
      </p:sp>
      <p:sp>
        <p:nvSpPr>
          <p:cNvPr id="2" name="正方形/長方形 1">
            <a:extLst>
              <a:ext uri="{FF2B5EF4-FFF2-40B4-BE49-F238E27FC236}">
                <a16:creationId xmlns:a16="http://schemas.microsoft.com/office/drawing/2014/main" id="{CA8AA691-8D48-57D0-BF47-34182D3A6DAC}"/>
              </a:ext>
            </a:extLst>
          </p:cNvPr>
          <p:cNvSpPr/>
          <p:nvPr/>
        </p:nvSpPr>
        <p:spPr>
          <a:xfrm>
            <a:off x="748333" y="1594972"/>
            <a:ext cx="2322527" cy="502920"/>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600" b="1" dirty="0">
                <a:solidFill>
                  <a:schemeClr val="tx1"/>
                </a:solidFill>
                <a:latin typeface="メイリオ" panose="020B0604030504040204" pitchFamily="50" charset="-128"/>
                <a:ea typeface="メイリオ" panose="020B0604030504040204" pitchFamily="50" charset="-128"/>
                <a:cs typeface="メイリオ"/>
              </a:rPr>
              <a:t>成果報酬費用</a:t>
            </a:r>
            <a:endParaRPr kumimoji="1" lang="ja-JP" altLang="en-US" sz="105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6" name="正方形/長方形 5">
            <a:extLst>
              <a:ext uri="{FF2B5EF4-FFF2-40B4-BE49-F238E27FC236}">
                <a16:creationId xmlns:a16="http://schemas.microsoft.com/office/drawing/2014/main" id="{264193FC-5A1A-667F-A9D5-30C2155A72EB}"/>
              </a:ext>
            </a:extLst>
          </p:cNvPr>
          <p:cNvSpPr/>
          <p:nvPr/>
        </p:nvSpPr>
        <p:spPr>
          <a:xfrm>
            <a:off x="3230275" y="1588966"/>
            <a:ext cx="1494125" cy="502920"/>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b="1" dirty="0">
                <a:solidFill>
                  <a:schemeClr val="tx1"/>
                </a:solidFill>
                <a:latin typeface="メイリオ" panose="020B0604030504040204" pitchFamily="50" charset="-128"/>
                <a:ea typeface="メイリオ" panose="020B0604030504040204" pitchFamily="50" charset="-128"/>
                <a:cs typeface="メイリオ"/>
              </a:rPr>
              <a:t>固定費用</a:t>
            </a:r>
            <a:endParaRPr kumimoji="1" lang="ja-JP" altLang="en-US" sz="100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7" name="正方形/長方形 6">
            <a:extLst>
              <a:ext uri="{FF2B5EF4-FFF2-40B4-BE49-F238E27FC236}">
                <a16:creationId xmlns:a16="http://schemas.microsoft.com/office/drawing/2014/main" id="{692E0C40-273C-2C77-21FF-EC7A2A1C8F8F}"/>
              </a:ext>
            </a:extLst>
          </p:cNvPr>
          <p:cNvSpPr/>
          <p:nvPr/>
        </p:nvSpPr>
        <p:spPr>
          <a:xfrm>
            <a:off x="748333" y="2116483"/>
            <a:ext cx="2322527" cy="687677"/>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400" b="1" dirty="0">
                <a:solidFill>
                  <a:schemeClr val="tx1"/>
                </a:solidFill>
                <a:latin typeface="メイリオ" panose="020B0604030504040204" pitchFamily="50" charset="-128"/>
                <a:ea typeface="メイリオ" panose="020B0604030504040204" pitchFamily="50" charset="-128"/>
                <a:cs typeface="メイリオ"/>
              </a:rPr>
              <a:t>成果件数 </a:t>
            </a:r>
            <a:r>
              <a:rPr lang="en-US" altLang="ja-JP" sz="1400" b="1" dirty="0">
                <a:solidFill>
                  <a:schemeClr val="tx1"/>
                </a:solidFill>
                <a:latin typeface="メイリオ" panose="020B0604030504040204" pitchFamily="50" charset="-128"/>
                <a:ea typeface="メイリオ" panose="020B0604030504040204" pitchFamily="50" charset="-128"/>
                <a:cs typeface="メイリオ"/>
              </a:rPr>
              <a:t>× </a:t>
            </a:r>
            <a:r>
              <a:rPr lang="ja-JP" altLang="en-US" sz="1400" b="1" dirty="0">
                <a:solidFill>
                  <a:schemeClr val="tx1"/>
                </a:solidFill>
                <a:latin typeface="メイリオ" panose="020B0604030504040204" pitchFamily="50" charset="-128"/>
                <a:ea typeface="メイリオ" panose="020B0604030504040204" pitchFamily="50" charset="-128"/>
                <a:cs typeface="メイリオ"/>
              </a:rPr>
              <a:t>成果報酬単価</a:t>
            </a:r>
            <a:endParaRPr lang="en-US" altLang="ja-JP" sz="140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15" name="正方形/長方形 14">
            <a:extLst>
              <a:ext uri="{FF2B5EF4-FFF2-40B4-BE49-F238E27FC236}">
                <a16:creationId xmlns:a16="http://schemas.microsoft.com/office/drawing/2014/main" id="{BAC2B063-6DAA-B7D0-0B1D-E5CC879D23FD}"/>
              </a:ext>
            </a:extLst>
          </p:cNvPr>
          <p:cNvSpPr/>
          <p:nvPr/>
        </p:nvSpPr>
        <p:spPr>
          <a:xfrm>
            <a:off x="3230275" y="2116483"/>
            <a:ext cx="1494125" cy="687677"/>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latin typeface="メイリオ" panose="020B0604030504040204" pitchFamily="50" charset="-128"/>
                <a:ea typeface="メイリオ" panose="020B0604030504040204" pitchFamily="50" charset="-128"/>
                <a:cs typeface="メイリオ"/>
              </a:rPr>
              <a:t>アカウント費</a:t>
            </a:r>
            <a:endParaRPr lang="en-US" altLang="ja-JP" sz="1200" dirty="0">
              <a:solidFill>
                <a:schemeClr val="tx1"/>
              </a:solidFill>
              <a:latin typeface="メイリオ" panose="020B0604030504040204" pitchFamily="50" charset="-128"/>
              <a:ea typeface="メイリオ" panose="020B0604030504040204" pitchFamily="50" charset="-128"/>
              <a:cs typeface="メイリオ"/>
            </a:endParaRPr>
          </a:p>
          <a:p>
            <a:pPr algn="ctr"/>
            <a:r>
              <a:rPr lang="ja-JP" altLang="en-US" sz="1200" dirty="0">
                <a:solidFill>
                  <a:schemeClr val="tx1"/>
                </a:solidFill>
                <a:latin typeface="メイリオ" panose="020B0604030504040204" pitchFamily="50" charset="-128"/>
                <a:ea typeface="メイリオ" panose="020B0604030504040204" pitchFamily="50" charset="-128"/>
                <a:cs typeface="メイリオ"/>
              </a:rPr>
              <a:t>＋</a:t>
            </a:r>
            <a:endParaRPr lang="en-US" altLang="ja-JP" sz="1200" dirty="0">
              <a:solidFill>
                <a:schemeClr val="tx1"/>
              </a:solidFill>
              <a:latin typeface="メイリオ" panose="020B0604030504040204" pitchFamily="50" charset="-128"/>
              <a:ea typeface="メイリオ" panose="020B0604030504040204" pitchFamily="50" charset="-128"/>
              <a:cs typeface="メイリオ"/>
            </a:endParaRPr>
          </a:p>
          <a:p>
            <a:pPr algn="ctr"/>
            <a:r>
              <a:rPr lang="ja-JP" altLang="en-US" sz="1200" dirty="0">
                <a:solidFill>
                  <a:schemeClr val="tx1"/>
                </a:solidFill>
                <a:latin typeface="メイリオ" panose="020B0604030504040204" pitchFamily="50" charset="-128"/>
                <a:ea typeface="メイリオ" panose="020B0604030504040204" pitchFamily="50" charset="-128"/>
                <a:cs typeface="メイリオ"/>
              </a:rPr>
              <a:t>ツール費</a:t>
            </a:r>
            <a:endParaRPr lang="en-US" altLang="ja-JP" sz="1200" dirty="0">
              <a:solidFill>
                <a:schemeClr val="tx1"/>
              </a:solidFill>
              <a:latin typeface="メイリオ" panose="020B0604030504040204" pitchFamily="50" charset="-128"/>
              <a:ea typeface="メイリオ" panose="020B0604030504040204" pitchFamily="50" charset="-128"/>
              <a:cs typeface="メイリオ"/>
            </a:endParaRPr>
          </a:p>
        </p:txBody>
      </p:sp>
      <p:sp>
        <p:nvSpPr>
          <p:cNvPr id="18" name="テキスト ボックス 17">
            <a:extLst>
              <a:ext uri="{FF2B5EF4-FFF2-40B4-BE49-F238E27FC236}">
                <a16:creationId xmlns:a16="http://schemas.microsoft.com/office/drawing/2014/main" id="{0036B929-196A-854E-1925-1967B52BEB27}"/>
              </a:ext>
            </a:extLst>
          </p:cNvPr>
          <p:cNvSpPr txBox="1"/>
          <p:nvPr/>
        </p:nvSpPr>
        <p:spPr>
          <a:xfrm>
            <a:off x="668626" y="1585328"/>
            <a:ext cx="4960620" cy="523220"/>
          </a:xfrm>
          <a:prstGeom prst="rect">
            <a:avLst/>
          </a:prstGeom>
          <a:noFill/>
        </p:spPr>
        <p:txBody>
          <a:bodyPr wrap="square">
            <a:spAutoFit/>
          </a:bodyPr>
          <a:lstStyle/>
          <a:p>
            <a:pPr algn="ctr"/>
            <a:r>
              <a:rPr lang="ja-JP" altLang="en-US" sz="2800" b="1" dirty="0">
                <a:solidFill>
                  <a:schemeClr val="tx1"/>
                </a:solidFill>
                <a:latin typeface="メイリオ" panose="020B0604030504040204" pitchFamily="50" charset="-128"/>
                <a:ea typeface="メイリオ" panose="020B0604030504040204" pitchFamily="50" charset="-128"/>
                <a:cs typeface="メイリオ"/>
              </a:rPr>
              <a:t>＋</a:t>
            </a:r>
            <a:endParaRPr lang="en-US" altLang="ja-JP" sz="280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19" name="正方形/長方形 18">
            <a:extLst>
              <a:ext uri="{FF2B5EF4-FFF2-40B4-BE49-F238E27FC236}">
                <a16:creationId xmlns:a16="http://schemas.microsoft.com/office/drawing/2014/main" id="{C94A4AE5-885C-B98E-00A8-77C51FC7BFE1}"/>
              </a:ext>
            </a:extLst>
          </p:cNvPr>
          <p:cNvSpPr/>
          <p:nvPr/>
        </p:nvSpPr>
        <p:spPr>
          <a:xfrm>
            <a:off x="5080364" y="1405605"/>
            <a:ext cx="4328131" cy="232354"/>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ja-JP" altLang="en-US" sz="1100" dirty="0">
                <a:solidFill>
                  <a:schemeClr val="tx1"/>
                </a:solidFill>
                <a:latin typeface="メイリオ" panose="020B0604030504040204" pitchFamily="50" charset="-128"/>
                <a:ea typeface="メイリオ" panose="020B0604030504040204" pitchFamily="50" charset="-128"/>
                <a:cs typeface="メイリオ"/>
              </a:rPr>
              <a:t> ☑ 流入経路ごとにステップ配信を構築し、CV数の増加を図る。 </a:t>
            </a:r>
            <a:endParaRPr lang="en-US" altLang="ja-JP" sz="1100" dirty="0">
              <a:solidFill>
                <a:schemeClr val="tx1"/>
              </a:solidFill>
              <a:latin typeface="メイリオ" panose="020B0604030504040204" pitchFamily="50" charset="-128"/>
              <a:ea typeface="メイリオ" panose="020B0604030504040204" pitchFamily="50" charset="-128"/>
              <a:cs typeface="メイリオ"/>
            </a:endParaRPr>
          </a:p>
        </p:txBody>
      </p:sp>
      <p:sp>
        <p:nvSpPr>
          <p:cNvPr id="24" name="正方形/長方形 23">
            <a:extLst>
              <a:ext uri="{FF2B5EF4-FFF2-40B4-BE49-F238E27FC236}">
                <a16:creationId xmlns:a16="http://schemas.microsoft.com/office/drawing/2014/main" id="{4A2D4AF3-1CC4-4934-0B96-59B465612A8D}"/>
              </a:ext>
            </a:extLst>
          </p:cNvPr>
          <p:cNvSpPr/>
          <p:nvPr/>
        </p:nvSpPr>
        <p:spPr>
          <a:xfrm>
            <a:off x="5080363" y="1783080"/>
            <a:ext cx="4328131" cy="232354"/>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ja-JP" altLang="en-US" sz="1100" dirty="0">
                <a:solidFill>
                  <a:schemeClr val="tx1"/>
                </a:solidFill>
                <a:latin typeface="メイリオ" panose="020B0604030504040204" pitchFamily="50" charset="-128"/>
                <a:ea typeface="メイリオ" panose="020B0604030504040204" pitchFamily="50" charset="-128"/>
                <a:cs typeface="メイリオ"/>
              </a:rPr>
              <a:t> ☑ 現状導入しているツール、計測環境に応じて設計が可能。 </a:t>
            </a:r>
            <a:endParaRPr lang="en-US" altLang="ja-JP" sz="1100" dirty="0">
              <a:solidFill>
                <a:schemeClr val="tx1"/>
              </a:solidFill>
              <a:latin typeface="メイリオ" panose="020B0604030504040204" pitchFamily="50" charset="-128"/>
              <a:ea typeface="メイリオ" panose="020B0604030504040204" pitchFamily="50" charset="-128"/>
              <a:cs typeface="メイリオ"/>
            </a:endParaRPr>
          </a:p>
        </p:txBody>
      </p:sp>
      <p:sp>
        <p:nvSpPr>
          <p:cNvPr id="26" name="テキスト ボックス 25">
            <a:extLst>
              <a:ext uri="{FF2B5EF4-FFF2-40B4-BE49-F238E27FC236}">
                <a16:creationId xmlns:a16="http://schemas.microsoft.com/office/drawing/2014/main" id="{1981C36B-B3F0-8036-014B-17B1A065A490}"/>
              </a:ext>
            </a:extLst>
          </p:cNvPr>
          <p:cNvSpPr txBox="1"/>
          <p:nvPr/>
        </p:nvSpPr>
        <p:spPr>
          <a:xfrm>
            <a:off x="3230275" y="2856669"/>
            <a:ext cx="1715105" cy="215444"/>
          </a:xfrm>
          <a:prstGeom prst="rect">
            <a:avLst/>
          </a:prstGeom>
          <a:noFill/>
        </p:spPr>
        <p:txBody>
          <a:bodyPr wrap="square">
            <a:spAutoFit/>
          </a:bodyPr>
          <a:lstStyle/>
          <a:p>
            <a:r>
              <a:rPr lang="en-US" altLang="ja-JP" sz="800" dirty="0">
                <a:solidFill>
                  <a:srgbClr val="1F2A5C"/>
                </a:solidFill>
                <a:latin typeface="メイリオ" panose="020B0604030504040204" pitchFamily="50" charset="-128"/>
                <a:ea typeface="メイリオ" panose="020B0604030504040204" pitchFamily="50" charset="-128"/>
                <a:cs typeface="メイリオ"/>
              </a:rPr>
              <a:t>※ </a:t>
            </a:r>
            <a:r>
              <a:rPr lang="ja-JP" altLang="en-US" sz="800" dirty="0">
                <a:solidFill>
                  <a:srgbClr val="1F2A5C"/>
                </a:solidFill>
                <a:latin typeface="メイリオ" panose="020B0604030504040204" pitchFamily="50" charset="-128"/>
                <a:ea typeface="メイリオ" panose="020B0604030504040204" pitchFamily="50" charset="-128"/>
                <a:cs typeface="メイリオ"/>
              </a:rPr>
              <a:t>導入ツールに応じて費用発生</a:t>
            </a:r>
            <a:endParaRPr lang="en-US" altLang="ja-JP" sz="800" dirty="0">
              <a:solidFill>
                <a:srgbClr val="1F2A5C"/>
              </a:solidFill>
              <a:latin typeface="メイリオ" panose="020B0604030504040204" pitchFamily="50" charset="-128"/>
              <a:ea typeface="メイリオ" panose="020B0604030504040204" pitchFamily="50" charset="-128"/>
              <a:cs typeface="メイリオ"/>
            </a:endParaRPr>
          </a:p>
        </p:txBody>
      </p:sp>
      <p:sp>
        <p:nvSpPr>
          <p:cNvPr id="27" name="テキスト ボックス 26">
            <a:extLst>
              <a:ext uri="{FF2B5EF4-FFF2-40B4-BE49-F238E27FC236}">
                <a16:creationId xmlns:a16="http://schemas.microsoft.com/office/drawing/2014/main" id="{0F171EE4-EBC4-0A03-9342-8E33CDF25A68}"/>
              </a:ext>
            </a:extLst>
          </p:cNvPr>
          <p:cNvSpPr txBox="1"/>
          <p:nvPr/>
        </p:nvSpPr>
        <p:spPr>
          <a:xfrm>
            <a:off x="3230274" y="3083982"/>
            <a:ext cx="1715105" cy="215444"/>
          </a:xfrm>
          <a:prstGeom prst="rect">
            <a:avLst/>
          </a:prstGeom>
          <a:noFill/>
        </p:spPr>
        <p:txBody>
          <a:bodyPr wrap="square">
            <a:spAutoFit/>
          </a:bodyPr>
          <a:lstStyle/>
          <a:p>
            <a:r>
              <a:rPr lang="en-US" altLang="ja-JP" sz="800" dirty="0">
                <a:solidFill>
                  <a:srgbClr val="1F2A5C"/>
                </a:solidFill>
                <a:latin typeface="メイリオ" panose="020B0604030504040204" pitchFamily="50" charset="-128"/>
                <a:ea typeface="メイリオ" panose="020B0604030504040204" pitchFamily="50" charset="-128"/>
                <a:cs typeface="メイリオ"/>
              </a:rPr>
              <a:t>※ </a:t>
            </a:r>
            <a:r>
              <a:rPr lang="ja-JP" altLang="en-US" sz="800" dirty="0">
                <a:solidFill>
                  <a:srgbClr val="1F2A5C"/>
                </a:solidFill>
                <a:latin typeface="メイリオ" panose="020B0604030504040204" pitchFamily="50" charset="-128"/>
                <a:ea typeface="メイリオ" panose="020B0604030504040204" pitchFamily="50" charset="-128"/>
                <a:cs typeface="メイリオ"/>
              </a:rPr>
              <a:t>上限通数を設定して運営可能</a:t>
            </a:r>
            <a:endParaRPr lang="en-US" altLang="ja-JP" sz="800" dirty="0">
              <a:solidFill>
                <a:srgbClr val="1F2A5C"/>
              </a:solidFill>
              <a:latin typeface="メイリオ" panose="020B0604030504040204" pitchFamily="50" charset="-128"/>
              <a:ea typeface="メイリオ" panose="020B0604030504040204" pitchFamily="50" charset="-128"/>
              <a:cs typeface="メイリオ"/>
            </a:endParaRPr>
          </a:p>
        </p:txBody>
      </p:sp>
      <p:sp>
        <p:nvSpPr>
          <p:cNvPr id="28" name="テキスト ボックス 27">
            <a:extLst>
              <a:ext uri="{FF2B5EF4-FFF2-40B4-BE49-F238E27FC236}">
                <a16:creationId xmlns:a16="http://schemas.microsoft.com/office/drawing/2014/main" id="{C6B5A64D-6B62-2D6A-1AF5-5EFCEC948063}"/>
              </a:ext>
            </a:extLst>
          </p:cNvPr>
          <p:cNvSpPr txBox="1"/>
          <p:nvPr/>
        </p:nvSpPr>
        <p:spPr>
          <a:xfrm>
            <a:off x="748334" y="2856669"/>
            <a:ext cx="2101546" cy="215444"/>
          </a:xfrm>
          <a:prstGeom prst="rect">
            <a:avLst/>
          </a:prstGeom>
          <a:noFill/>
        </p:spPr>
        <p:txBody>
          <a:bodyPr wrap="square">
            <a:spAutoFit/>
          </a:bodyPr>
          <a:lstStyle/>
          <a:p>
            <a:r>
              <a:rPr lang="en-US" altLang="ja-JP" sz="800" dirty="0">
                <a:solidFill>
                  <a:srgbClr val="1F2A5C"/>
                </a:solidFill>
                <a:latin typeface="メイリオ" panose="020B0604030504040204" pitchFamily="50" charset="-128"/>
                <a:ea typeface="メイリオ" panose="020B0604030504040204" pitchFamily="50" charset="-128"/>
                <a:cs typeface="メイリオ"/>
              </a:rPr>
              <a:t>※ </a:t>
            </a:r>
            <a:r>
              <a:rPr lang="ja-JP" altLang="en-US" sz="800" dirty="0">
                <a:solidFill>
                  <a:srgbClr val="1F2A5C"/>
                </a:solidFill>
                <a:latin typeface="メイリオ" panose="020B0604030504040204" pitchFamily="50" charset="-128"/>
                <a:ea typeface="メイリオ" panose="020B0604030504040204" pitchFamily="50" charset="-128"/>
                <a:cs typeface="メイリオ"/>
              </a:rPr>
              <a:t>成果件数は</a:t>
            </a:r>
            <a:r>
              <a:rPr lang="en-US" altLang="ja-JP" sz="800" dirty="0">
                <a:solidFill>
                  <a:srgbClr val="1F2A5C"/>
                </a:solidFill>
                <a:latin typeface="メイリオ" panose="020B0604030504040204" pitchFamily="50" charset="-128"/>
                <a:ea typeface="メイリオ" panose="020B0604030504040204" pitchFamily="50" charset="-128"/>
                <a:cs typeface="メイリオ"/>
              </a:rPr>
              <a:t>GA</a:t>
            </a:r>
            <a:r>
              <a:rPr lang="ja-JP" altLang="en-US" sz="800" dirty="0">
                <a:solidFill>
                  <a:srgbClr val="1F2A5C"/>
                </a:solidFill>
                <a:latin typeface="メイリオ" panose="020B0604030504040204" pitchFamily="50" charset="-128"/>
                <a:ea typeface="メイリオ" panose="020B0604030504040204" pitchFamily="50" charset="-128"/>
                <a:cs typeface="メイリオ"/>
              </a:rPr>
              <a:t>、他ツールでの計測</a:t>
            </a:r>
            <a:endParaRPr lang="en-US" altLang="ja-JP" sz="800" dirty="0">
              <a:solidFill>
                <a:srgbClr val="1F2A5C"/>
              </a:solidFill>
              <a:latin typeface="メイリオ" panose="020B0604030504040204" pitchFamily="50" charset="-128"/>
              <a:ea typeface="メイリオ" panose="020B0604030504040204" pitchFamily="50" charset="-128"/>
              <a:cs typeface="メイリオ"/>
            </a:endParaRPr>
          </a:p>
        </p:txBody>
      </p:sp>
      <p:sp>
        <p:nvSpPr>
          <p:cNvPr id="29" name="テキスト ボックス 28">
            <a:extLst>
              <a:ext uri="{FF2B5EF4-FFF2-40B4-BE49-F238E27FC236}">
                <a16:creationId xmlns:a16="http://schemas.microsoft.com/office/drawing/2014/main" id="{555B5E5B-7EFA-B5FA-0284-3CD0D3947983}"/>
              </a:ext>
            </a:extLst>
          </p:cNvPr>
          <p:cNvSpPr txBox="1"/>
          <p:nvPr/>
        </p:nvSpPr>
        <p:spPr>
          <a:xfrm>
            <a:off x="748333" y="3083982"/>
            <a:ext cx="2322527" cy="215444"/>
          </a:xfrm>
          <a:prstGeom prst="rect">
            <a:avLst/>
          </a:prstGeom>
          <a:noFill/>
        </p:spPr>
        <p:txBody>
          <a:bodyPr wrap="square">
            <a:spAutoFit/>
          </a:bodyPr>
          <a:lstStyle/>
          <a:p>
            <a:r>
              <a:rPr lang="en-US" altLang="ja-JP" sz="800" dirty="0">
                <a:solidFill>
                  <a:srgbClr val="1F2A5C"/>
                </a:solidFill>
                <a:latin typeface="メイリオ" panose="020B0604030504040204" pitchFamily="50" charset="-128"/>
                <a:ea typeface="メイリオ" panose="020B0604030504040204" pitchFamily="50" charset="-128"/>
                <a:cs typeface="メイリオ"/>
              </a:rPr>
              <a:t>※ </a:t>
            </a:r>
            <a:r>
              <a:rPr lang="ja-JP" altLang="en-US" sz="800" dirty="0">
                <a:solidFill>
                  <a:srgbClr val="1F2A5C"/>
                </a:solidFill>
                <a:latin typeface="メイリオ" panose="020B0604030504040204" pitchFamily="50" charset="-128"/>
                <a:ea typeface="メイリオ" panose="020B0604030504040204" pitchFamily="50" charset="-128"/>
                <a:cs typeface="メイリオ"/>
              </a:rPr>
              <a:t>成果報酬単価は広告</a:t>
            </a:r>
            <a:r>
              <a:rPr lang="en-US" altLang="ja-JP" sz="800" dirty="0">
                <a:solidFill>
                  <a:srgbClr val="1F2A5C"/>
                </a:solidFill>
                <a:latin typeface="メイリオ" panose="020B0604030504040204" pitchFamily="50" charset="-128"/>
                <a:ea typeface="メイリオ" panose="020B0604030504040204" pitchFamily="50" charset="-128"/>
                <a:cs typeface="メイリオ"/>
              </a:rPr>
              <a:t>CPA</a:t>
            </a:r>
            <a:r>
              <a:rPr lang="ja-JP" altLang="en-US" sz="800" dirty="0">
                <a:solidFill>
                  <a:srgbClr val="1F2A5C"/>
                </a:solidFill>
                <a:latin typeface="メイリオ" panose="020B0604030504040204" pitchFamily="50" charset="-128"/>
                <a:ea typeface="メイリオ" panose="020B0604030504040204" pitchFamily="50" charset="-128"/>
                <a:cs typeface="メイリオ"/>
              </a:rPr>
              <a:t>に基づき設定</a:t>
            </a:r>
            <a:endParaRPr lang="en-US" altLang="ja-JP" sz="800" dirty="0">
              <a:solidFill>
                <a:srgbClr val="1F2A5C"/>
              </a:solidFill>
              <a:latin typeface="メイリオ" panose="020B0604030504040204" pitchFamily="50" charset="-128"/>
              <a:ea typeface="メイリオ" panose="020B0604030504040204" pitchFamily="50" charset="-128"/>
              <a:cs typeface="メイリオ"/>
            </a:endParaRPr>
          </a:p>
        </p:txBody>
      </p:sp>
      <p:sp>
        <p:nvSpPr>
          <p:cNvPr id="23" name="テキスト ボックス 22">
            <a:extLst>
              <a:ext uri="{FF2B5EF4-FFF2-40B4-BE49-F238E27FC236}">
                <a16:creationId xmlns:a16="http://schemas.microsoft.com/office/drawing/2014/main" id="{4C08CE37-3C30-0822-0EDA-FEB4C5F762A4}"/>
              </a:ext>
            </a:extLst>
          </p:cNvPr>
          <p:cNvSpPr txBox="1"/>
          <p:nvPr/>
        </p:nvSpPr>
        <p:spPr>
          <a:xfrm>
            <a:off x="5084483" y="2103120"/>
            <a:ext cx="4324011" cy="415498"/>
          </a:xfrm>
          <a:prstGeom prst="rect">
            <a:avLst/>
          </a:prstGeom>
          <a:noFill/>
        </p:spPr>
        <p:txBody>
          <a:bodyPr wrap="square">
            <a:spAutoFit/>
          </a:bodyPr>
          <a:lstStyle/>
          <a:p>
            <a:r>
              <a:rPr lang="en-US" altLang="ja-JP" sz="105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 </a:t>
            </a:r>
            <a:r>
              <a:rPr lang="ja-JP" altLang="en-US" sz="105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 </a:t>
            </a:r>
            <a:r>
              <a:rPr lang="en-US" altLang="ja-JP" sz="105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API</a:t>
            </a:r>
            <a:r>
              <a:rPr lang="ja-JP" altLang="en-US" sz="105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ツール ✓複数の成果地点とそれに伴う成果単価</a:t>
            </a:r>
            <a:endParaRPr lang="en-US" altLang="ja-JP" sz="1050"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a:p>
            <a:r>
              <a:rPr lang="ja-JP" altLang="en-US" sz="105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 に基づいて、契約における条件の調整が可能。</a:t>
            </a:r>
            <a:endParaRPr lang="en-US" altLang="ja-JP" sz="1050"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p:txBody>
      </p:sp>
      <p:sp>
        <p:nvSpPr>
          <p:cNvPr id="17" name="正方形/長方形 16">
            <a:extLst>
              <a:ext uri="{FF2B5EF4-FFF2-40B4-BE49-F238E27FC236}">
                <a16:creationId xmlns:a16="http://schemas.microsoft.com/office/drawing/2014/main" id="{5D385AB6-97DE-E2AB-6E27-3BFD5D3B3C5D}"/>
              </a:ext>
            </a:extLst>
          </p:cNvPr>
          <p:cNvSpPr/>
          <p:nvPr/>
        </p:nvSpPr>
        <p:spPr>
          <a:xfrm>
            <a:off x="3996942" y="122215"/>
            <a:ext cx="2083719" cy="320757"/>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latin typeface="メイリオ" panose="020B0604030504040204" pitchFamily="50" charset="-128"/>
                <a:ea typeface="メイリオ" panose="020B0604030504040204" pitchFamily="50" charset="-128"/>
                <a:cs typeface="メイリオ"/>
              </a:rPr>
              <a:t>DYM</a:t>
            </a:r>
            <a:r>
              <a:rPr kumimoji="1" lang="ja-JP" altLang="en-US" sz="1400" dirty="0">
                <a:latin typeface="メイリオ" panose="020B0604030504040204" pitchFamily="50" charset="-128"/>
                <a:ea typeface="メイリオ" panose="020B0604030504040204" pitchFamily="50" charset="-128"/>
                <a:cs typeface="メイリオ"/>
              </a:rPr>
              <a:t>プラン</a:t>
            </a:r>
          </a:p>
        </p:txBody>
      </p:sp>
      <p:sp>
        <p:nvSpPr>
          <p:cNvPr id="30" name="小見出し"/>
          <p:cNvSpPr/>
          <p:nvPr/>
        </p:nvSpPr>
        <p:spPr>
          <a:xfrm>
            <a:off x="548640" y="3749039"/>
            <a:ext cx="8860536" cy="320040"/>
          </a:xfrm>
          <a:prstGeom prst="rect">
            <a:avLst/>
          </a:prstGeom>
          <a:noFill/>
          <a:ln>
            <a:noFill/>
          </a:ln>
        </p:spPr>
        <p:txBody>
          <a:bodyPr wrap="square" lIns="0" tIns="0" rIns="0" bIns="0" rtlCol="0" anchor="ctr">
            <a:noAutofit/>
          </a:bodyPr>
          <a:lstStyle/>
          <a:p>
            <a:pPr algn="l">
              <a:buNone/>
            </a:pPr>
            <a:r>
              <a:rPr lang="ja-JP" altLang="en-US" sz="1300" b="1" dirty="0">
                <a:solidFill>
                  <a:srgbClr val="002060"/>
                </a:solidFill>
                <a:latin typeface="メイリオ" panose="020B0604030504040204" pitchFamily="50" charset="-128"/>
                <a:ea typeface="メイリオ" panose="020B0604030504040204" pitchFamily="50" charset="-128"/>
                <a:cs typeface="メイリオ"/>
              </a:rPr>
              <a:t>今回の成果単価の費用感</a:t>
            </a:r>
            <a:endParaRPr lang="ja-JP" altLang="en-US" sz="1200" dirty="0">
              <a:latin typeface="メイリオ"/>
              <a:ea typeface="メイリオ"/>
              <a:cs typeface="メイリオ"/>
            </a:endParaRPr>
          </a:p>
        </p:txBody>
      </p:sp>
      <p:graphicFrame>
        <p:nvGraphicFramePr>
          <p:cNvPr id="31" name="成果報酬単価 30"/>
          <p:cNvGraphicFramePr>
            <a:graphicFrameLocks noGrp="1"/>
          </p:cNvGraphicFramePr>
          <p:nvPr/>
        </p:nvGraphicFramePr>
        <p:xfrm>
          <a:off x="548640" y="4114800"/>
          <a:ext cx="8860536" cy="1325880"/>
        </p:xfrm>
        <a:graphic>
          <a:graphicData uri="http://schemas.openxmlformats.org/drawingml/2006/table">
            <a:tbl>
              <a:tblPr/>
              <a:tblGrid>
                <a:gridCol w="2377440">
                  <a:extLst>
                    <a:ext uri="{9D8B030D-6E8A-4147-A177-3AD203B41FA5}">
                      <a16:colId xmlns:a16="http://schemas.microsoft.com/office/drawing/2014/main" val="20000"/>
                    </a:ext>
                  </a:extLst>
                </a:gridCol>
                <a:gridCol w="2377440">
                  <a:extLst>
                    <a:ext uri="{9D8B030D-6E8A-4147-A177-3AD203B41FA5}">
                      <a16:colId xmlns:a16="http://schemas.microsoft.com/office/drawing/2014/main" val="20001"/>
                    </a:ext>
                  </a:extLst>
                </a:gridCol>
                <a:gridCol w="4105656">
                  <a:extLst>
                    <a:ext uri="{9D8B030D-6E8A-4147-A177-3AD203B41FA5}">
                      <a16:colId xmlns:a16="http://schemas.microsoft.com/office/drawing/2014/main" val="20002"/>
                    </a:ext>
                  </a:extLst>
                </a:gridCol>
              </a:tblGrid>
              <a:tr h="411480">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成果の地点</a:t>
                      </a:r>
                      <a:endParaRPr lang="ja-JP" altLang="en-US" sz="1400" dirty="0">
                        <a:latin typeface="メイリオ"/>
                        <a:ea typeface="メイリオ"/>
                        <a:cs typeface="メイリオ"/>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002060"/>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成果報酬単価</a:t>
                      </a:r>
                      <a:endParaRPr lang="ja-JP" altLang="en-US" sz="1400" dirty="0">
                        <a:latin typeface="メイリオ"/>
                        <a:ea typeface="メイリオ"/>
                        <a:cs typeface="メイリオ"/>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002060"/>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成果件数の数え方</a:t>
                      </a:r>
                      <a:endParaRPr lang="ja-JP" altLang="en-US" sz="1400" dirty="0">
                        <a:latin typeface="メイリオ"/>
                        <a:ea typeface="メイリオ"/>
                        <a:cs typeface="メイリオ"/>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002060"/>
                    </a:solidFill>
                  </a:tcPr>
                </a:tc>
                <a:extLst>
                  <a:ext uri="{0D108BD9-81ED-4DB2-BD59-A6C34878D82A}">
                    <a16:rowId xmlns:a16="http://schemas.microsoft.com/office/drawing/2014/main" val="10000"/>
                  </a:ext>
                </a:extLst>
              </a:tr>
              <a:tr h="457200">
                <a:tc>
                  <a:txBody>
                    <a:bodyPr/>
                    <a:lstStyle/>
                    <a:p>
                      <a:pPr algn="ctr">
                        <a:buNone/>
                      </a:pPr>
                      <a:r>
                        <a:rPr lang="ja-JP" altLang="en-US" sz="1400" b="1" dirty="0">
                          <a:solidFill>
                            <a:srgbClr val="002060"/>
                          </a:solidFill>
                          <a:latin typeface="メイリオ" panose="020B0604030504040204" pitchFamily="50" charset="-128"/>
                          <a:ea typeface="メイリオ" panose="020B0604030504040204" pitchFamily="50" charset="-128"/>
                          <a:cs typeface="メイリオ"/>
                        </a:rPr>
                        <a:t>セミナー予約</a:t>
                      </a:r>
                      <a:endParaRPr lang="ja-JP" altLang="en-US" sz="14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DCE6F2"/>
                    </a:solidFill>
                  </a:tcPr>
                </a:tc>
                <a:tc>
                  <a:txBody>
                    <a:bodyPr/>
                    <a:lstStyle/>
                    <a:p>
                      <a:pPr algn="ctr">
                        <a:buNone/>
                      </a:pPr>
                      <a:r>
                        <a:rPr lang="ja-JP" altLang="en-US" sz="1600" b="1" dirty="0">
                          <a:solidFill>
                            <a:srgbClr val="002060"/>
                          </a:solidFill>
                          <a:latin typeface="メイリオ" panose="020B0604030504040204" pitchFamily="50" charset="-128"/>
                          <a:ea typeface="メイリオ" panose="020B0604030504040204" pitchFamily="50" charset="-128"/>
                          <a:cs typeface="メイリオ"/>
                        </a:rPr>
                        <a:t>12,000円／件</a:t>
                      </a:r>
                      <a:endParaRPr lang="ja-JP" altLang="en-US" sz="16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a:buNone/>
                      </a:pPr>
                      <a:r>
                        <a:rPr lang="ja-JP" altLang="en-US" sz="1400" b="0" dirty="0">
                          <a:solidFill>
                            <a:srgbClr val="333333"/>
                          </a:solidFill>
                          <a:latin typeface="メイリオ" panose="020B0604030504040204" pitchFamily="50" charset="-128"/>
                          <a:ea typeface="メイリオ" panose="020B0604030504040204" pitchFamily="50" charset="-128"/>
                          <a:cs typeface="メイリオ"/>
                        </a:rPr>
                        <a:t>LINEのリンクからのセミナー予約</a:t>
                      </a:r>
                      <a:endParaRPr lang="ja-JP" altLang="en-US" sz="14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57200">
                <a:tc>
                  <a:txBody>
                    <a:bodyPr/>
                    <a:lstStyle/>
                    <a:p>
                      <a:pPr algn="ctr">
                        <a:buNone/>
                      </a:pPr>
                      <a:r>
                        <a:rPr lang="ja-JP" altLang="en-US" sz="1400" b="1" dirty="0">
                          <a:solidFill>
                            <a:srgbClr val="002060"/>
                          </a:solidFill>
                          <a:latin typeface="メイリオ" panose="020B0604030504040204" pitchFamily="50" charset="-128"/>
                          <a:ea typeface="メイリオ" panose="020B0604030504040204" pitchFamily="50" charset="-128"/>
                          <a:cs typeface="メイリオ"/>
                        </a:rPr>
                        <a:t>リピート予約</a:t>
                      </a:r>
                      <a:endParaRPr lang="ja-JP" altLang="en-US" sz="14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DCE6F2"/>
                    </a:solidFill>
                  </a:tcPr>
                </a:tc>
                <a:tc>
                  <a:txBody>
                    <a:bodyPr/>
                    <a:lstStyle/>
                    <a:p>
                      <a:pPr algn="ctr">
                        <a:buNone/>
                      </a:pPr>
                      <a:r>
                        <a:rPr lang="ja-JP" altLang="en-US" sz="1600" b="1" dirty="0">
                          <a:solidFill>
                            <a:srgbClr val="002060"/>
                          </a:solidFill>
                          <a:latin typeface="メイリオ" panose="020B0604030504040204" pitchFamily="50" charset="-128"/>
                          <a:ea typeface="メイリオ" panose="020B0604030504040204" pitchFamily="50" charset="-128"/>
                          <a:cs typeface="メイリオ"/>
                        </a:rPr>
                        <a:t>12,000円／件</a:t>
                      </a:r>
                      <a:endParaRPr lang="ja-JP" altLang="en-US" sz="16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a:buNone/>
                      </a:pPr>
                      <a:r>
                        <a:rPr lang="ja-JP" altLang="en-US" sz="1400" b="0" dirty="0">
                          <a:solidFill>
                            <a:srgbClr val="333333"/>
                          </a:solidFill>
                          <a:latin typeface="メイリオ" panose="020B0604030504040204" pitchFamily="50" charset="-128"/>
                          <a:ea typeface="メイリオ" panose="020B0604030504040204" pitchFamily="50" charset="-128"/>
                          <a:cs typeface="メイリオ"/>
                        </a:rPr>
                        <a:t>LINEのリンクからの2回目以降の予約</a:t>
                      </a:r>
                      <a:endParaRPr lang="ja-JP" altLang="en-US" sz="14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bl>
          </a:graphicData>
        </a:graphic>
      </p:graphicFrame>
      <p:sp>
        <p:nvSpPr>
          <p:cNvPr id="32" name="注記"/>
          <p:cNvSpPr/>
          <p:nvPr/>
        </p:nvSpPr>
        <p:spPr>
          <a:xfrm>
            <a:off x="420624" y="5532120"/>
            <a:ext cx="9052560" cy="228600"/>
          </a:xfrm>
          <a:prstGeom prst="rect">
            <a:avLst/>
          </a:prstGeom>
          <a:noFill/>
          <a:ln>
            <a:noFill/>
          </a:ln>
        </p:spPr>
        <p:txBody>
          <a:bodyPr wrap="square" lIns="0" tIns="0" rIns="0" bIns="0" rtlCol="0" anchor="t">
            <a:noAutofit/>
          </a:bodyPr>
          <a:lstStyle/>
          <a:p>
            <a:pPr algn="l">
              <a:buNone/>
            </a:pPr>
            <a:r>
              <a:rPr lang="ja-JP" altLang="en-US" sz="900" b="0" dirty="0">
                <a:solidFill>
                  <a:srgbClr val="7F7F7F"/>
                </a:solidFill>
                <a:latin typeface="メイリオ" panose="020B0604030504040204" pitchFamily="50" charset="-128"/>
                <a:ea typeface="メイリオ" panose="020B0604030504040204" pitchFamily="50" charset="-128"/>
                <a:cs typeface="メイリオ"/>
              </a:rPr>
              <a:t>※成果地点の定義・重複計上の有無・計測方法は、ご契約前に確認のうえ決定</a:t>
            </a:r>
            <a:endParaRPr lang="ja-JP" altLang="en-US" sz="1200" dirty="0">
              <a:latin typeface="メイリオ"/>
              <a:ea typeface="メイリオ"/>
              <a:cs typeface="メイリオ"/>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752;p28">
            <a:extLst>
              <a:ext uri="{FF2B5EF4-FFF2-40B4-BE49-F238E27FC236}">
                <a16:creationId xmlns:a16="http://schemas.microsoft.com/office/drawing/2014/main" id="{1ADD4630-B4FB-1ED5-AA03-7B456BE4B713}"/>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資料アジェンダ</a:t>
            </a:r>
          </a:p>
        </p:txBody>
      </p:sp>
      <p:sp>
        <p:nvSpPr>
          <p:cNvPr id="2" name="正方形/長方形 1">
            <a:extLst>
              <a:ext uri="{FF2B5EF4-FFF2-40B4-BE49-F238E27FC236}">
                <a16:creationId xmlns:a16="http://schemas.microsoft.com/office/drawing/2014/main" id="{2930638E-A234-B57F-602E-9D9732D57A7B}"/>
              </a:ext>
            </a:extLst>
          </p:cNvPr>
          <p:cNvSpPr/>
          <p:nvPr/>
        </p:nvSpPr>
        <p:spPr>
          <a:xfrm>
            <a:off x="841248" y="3038203"/>
            <a:ext cx="8229600" cy="584775"/>
          </a:xfrm>
          <a:prstGeom prst="rect">
            <a:avLst/>
          </a:prstGeom>
        </p:spPr>
        <p:txBody>
          <a:bodyPr wrap="none">
            <a:spAutoFit/>
          </a:bodyPr>
          <a:lstStyle/>
          <a:p>
            <a:pPr algn="ct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施策の詳細</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Google Shape;156;p7">
            <a:extLst>
              <a:ext uri="{FF2B5EF4-FFF2-40B4-BE49-F238E27FC236}">
                <a16:creationId xmlns:a16="http://schemas.microsoft.com/office/drawing/2014/main" id="{73A3A993-1ECB-4CB5-EF51-73494E022DA2}"/>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LINE施策の全体像：6つの段階で、友だち獲得から入会まで案内</a:t>
            </a:r>
            <a:endParaRPr sz="1600" b="1" dirty="0">
              <a:solidFill>
                <a:srgbClr val="002060"/>
              </a:solidFill>
              <a:latin typeface="メイリオ"/>
              <a:ea typeface="メイリオ"/>
              <a:cs typeface="メイリオ"/>
              <a:sym typeface="Meiryo"/>
            </a:endParaRPr>
          </a:p>
        </p:txBody>
      </p:sp>
      <p:sp>
        <p:nvSpPr>
          <p:cNvPr id="46" name="正方形/長方形 2">
            <a:extLst>
              <a:ext uri="{FF2B5EF4-FFF2-40B4-BE49-F238E27FC236}">
                <a16:creationId xmlns:a16="http://schemas.microsoft.com/office/drawing/2014/main" id="{31AFE6AB-F1DA-C6B7-D87F-3695F50AA578}"/>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7" name="正方形/長方形 3">
            <a:extLst>
              <a:ext uri="{FF2B5EF4-FFF2-40B4-BE49-F238E27FC236}">
                <a16:creationId xmlns:a16="http://schemas.microsoft.com/office/drawing/2014/main" id="{F8C7209A-302D-E575-6893-8AB70FAE1F89}"/>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cxnSp>
        <p:nvCxnSpPr>
          <p:cNvPr id="48" name="直線コネクタ 1">
            <a:extLst>
              <a:ext uri="{FF2B5EF4-FFF2-40B4-BE49-F238E27FC236}">
                <a16:creationId xmlns:a16="http://schemas.microsoft.com/office/drawing/2014/main" id="{075811D5-D863-CFCC-F7C2-B17B78E050E7}"/>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9" name="テキスト ボックス 8">
            <a:extLst>
              <a:ext uri="{FF2B5EF4-FFF2-40B4-BE49-F238E27FC236}">
                <a16:creationId xmlns:a16="http://schemas.microsoft.com/office/drawing/2014/main" id="{4C3DC3D4-7D19-11E4-6F8B-21449E92FE21}"/>
              </a:ext>
            </a:extLst>
          </p:cNvPr>
          <p:cNvSpPr txBox="1"/>
          <p:nvPr/>
        </p:nvSpPr>
        <p:spPr>
          <a:xfrm>
            <a:off x="181151" y="707743"/>
            <a:ext cx="9476706" cy="625812"/>
          </a:xfrm>
          <a:prstGeom prst="rect">
            <a:avLst/>
          </a:prstGeom>
          <a:noFill/>
        </p:spPr>
        <p:txBody>
          <a:bodyPr wrap="square">
            <a:spAutoFit/>
          </a:bodyPr>
          <a:lstStyle/>
          <a:p>
            <a:pPr marL="228600">
              <a:spcAft>
                <a:spcPts val="800"/>
              </a:spcAft>
              <a:buNone/>
            </a:pPr>
            <a:r>
              <a:rPr lang="ja-JP" altLang="ja-JP" sz="1400" dirty="0">
                <a:effectLst/>
                <a:latin typeface="メイリオ" panose="02020603050405020304" pitchFamily="18" charset="0"/>
                <a:ea typeface="メイリオ" panose="020B0604030504040204" pitchFamily="50" charset="-128"/>
                <a:cs typeface="メイリオ" panose="020B0604030504040204" pitchFamily="50" charset="-128"/>
              </a:rPr>
              <a:t>友だち追加の時期と状況に合わせて、届ける内容を変える</a:t>
            </a:r>
            <a:endParaRPr lang="en-US" altLang="ja-JP" sz="1400" dirty="0">
              <a:effectLst/>
              <a:latin typeface="メイリオ" panose="02020603050405020304" pitchFamily="18" charset="0"/>
              <a:ea typeface="メイリオ" panose="020B0604030504040204" pitchFamily="50" charset="-128"/>
              <a:cs typeface="メイリオ" panose="020B0604030504040204" pitchFamily="50" charset="-128"/>
            </a:endParaRPr>
          </a:p>
        </p:txBody>
      </p:sp>
      <p:graphicFrame>
        <p:nvGraphicFramePr>
          <p:cNvPr id="50" name="LINE施策の全体像 49"/>
          <p:cNvGraphicFramePr>
            <a:graphicFrameLocks noGrp="1"/>
          </p:cNvGraphicFramePr>
          <p:nvPr>
            <p:extLst>
              <p:ext uri="{D42A27DB-BD31-4B8C-83A1-F6EECF244321}">
                <p14:modId xmlns:p14="http://schemas.microsoft.com/office/powerpoint/2010/main" val="101222327"/>
              </p:ext>
            </p:extLst>
          </p:nvPr>
        </p:nvGraphicFramePr>
        <p:xfrm>
          <a:off x="420624" y="1600200"/>
          <a:ext cx="9052560" cy="3931920"/>
        </p:xfrm>
        <a:graphic>
          <a:graphicData uri="http://schemas.openxmlformats.org/drawingml/2006/table">
            <a:tbl>
              <a:tblPr/>
              <a:tblGrid>
                <a:gridCol w="1700276">
                  <a:extLst>
                    <a:ext uri="{9D8B030D-6E8A-4147-A177-3AD203B41FA5}">
                      <a16:colId xmlns:a16="http://schemas.microsoft.com/office/drawing/2014/main" val="20000"/>
                    </a:ext>
                  </a:extLst>
                </a:gridCol>
                <a:gridCol w="4229100">
                  <a:extLst>
                    <a:ext uri="{9D8B030D-6E8A-4147-A177-3AD203B41FA5}">
                      <a16:colId xmlns:a16="http://schemas.microsoft.com/office/drawing/2014/main" val="20001"/>
                    </a:ext>
                  </a:extLst>
                </a:gridCol>
                <a:gridCol w="3123184">
                  <a:extLst>
                    <a:ext uri="{9D8B030D-6E8A-4147-A177-3AD203B41FA5}">
                      <a16:colId xmlns:a16="http://schemas.microsoft.com/office/drawing/2014/main" val="20002"/>
                    </a:ext>
                  </a:extLst>
                </a:gridCol>
              </a:tblGrid>
              <a:tr h="365760">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段階</a:t>
                      </a:r>
                      <a:endParaRPr lang="ja-JP" altLang="en-US" sz="1300" dirty="0">
                        <a:latin typeface="メイリオ"/>
                        <a:ea typeface="メイリオ"/>
                        <a:cs typeface="メイリオ"/>
                      </a:endParaRPr>
                    </a:p>
                  </a:txBody>
                  <a:tcPr marL="109728"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主な施策</a:t>
                      </a:r>
                      <a:endParaRPr lang="ja-JP" altLang="en-US" sz="1300" dirty="0">
                        <a:latin typeface="メイリオ"/>
                        <a:ea typeface="メイリオ"/>
                        <a:cs typeface="メイリオ"/>
                      </a:endParaRPr>
                    </a:p>
                  </a:txBody>
                  <a:tcPr marL="109728"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ねらい</a:t>
                      </a:r>
                      <a:endParaRPr lang="ja-JP" altLang="en-US" sz="1300" dirty="0">
                        <a:latin typeface="メイリオ"/>
                        <a:ea typeface="メイリオ"/>
                        <a:cs typeface="メイリオ"/>
                      </a:endParaRPr>
                    </a:p>
                  </a:txBody>
                  <a:tcPr marL="109728"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extLst>
                  <a:ext uri="{0D108BD9-81ED-4DB2-BD59-A6C34878D82A}">
                    <a16:rowId xmlns:a16="http://schemas.microsoft.com/office/drawing/2014/main" val="10000"/>
                  </a:ext>
                </a:extLst>
              </a:tr>
              <a:tr h="731520">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① 友だち獲得</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離脱防止ポップアップ（推奨）／予約完了後の友だち追加：サンクスLINE誘導（追加オプション）または通常の</a:t>
                      </a:r>
                      <a:endParaRPr lang="en-US" altLang="ja-JP" sz="1200" b="0" dirty="0">
                        <a:solidFill>
                          <a:srgbClr val="333333"/>
                        </a:solidFill>
                        <a:latin typeface="メイリオ" panose="020B0604030504040204" pitchFamily="50" charset="-128"/>
                        <a:ea typeface="メイリオ" panose="020B0604030504040204" pitchFamily="50" charset="-128"/>
                        <a:cs typeface="メイリオ"/>
                      </a:endParaRPr>
                    </a:p>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ご案内</a:t>
                      </a:r>
                      <a:endParaRPr lang="ja-JP" altLang="en-US" sz="12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LPを離れる方・予約した方とつながる</a:t>
                      </a:r>
                      <a:endParaRPr lang="ja-JP" altLang="en-US" sz="12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66928">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② 友だち追加直後</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あいさつメッセージ・見どころ動画・参加特典</a:t>
                      </a:r>
                      <a:endParaRPr lang="en-US" altLang="ja-JP" sz="1200" b="0" dirty="0">
                        <a:solidFill>
                          <a:srgbClr val="333333"/>
                        </a:solidFill>
                        <a:latin typeface="メイリオ" panose="020B0604030504040204" pitchFamily="50" charset="-128"/>
                        <a:ea typeface="メイリオ" panose="020B0604030504040204" pitchFamily="50" charset="-128"/>
                        <a:cs typeface="メイリオ"/>
                      </a:endParaRPr>
                    </a:p>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（必要に応じて、簡易的な興味分野の把握）</a:t>
                      </a:r>
                      <a:endParaRPr lang="ja-JP" altLang="en-US" sz="12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セミナーの中身を伝え、予約につなげる</a:t>
                      </a:r>
                      <a:endParaRPr lang="ja-JP" altLang="en-US" sz="12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extLst>
                  <a:ext uri="{0D108BD9-81ED-4DB2-BD59-A6C34878D82A}">
                    <a16:rowId xmlns:a16="http://schemas.microsoft.com/office/drawing/2014/main" val="10002"/>
                  </a:ext>
                </a:extLst>
              </a:tr>
              <a:tr h="566928">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③ 予約した方</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前日・当日のリマインド／開催情報・参加方法のご案内</a:t>
                      </a:r>
                      <a:endParaRPr lang="ja-JP" altLang="en-US" sz="12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当日の参加を後押しする</a:t>
                      </a:r>
                      <a:endParaRPr lang="ja-JP" altLang="en-US" sz="12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66928">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④ 参加後</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セミナー内容の振り返り／</a:t>
                      </a:r>
                      <a:endParaRPr lang="en-US" altLang="ja-JP" sz="1200" b="0" dirty="0">
                        <a:solidFill>
                          <a:srgbClr val="333333"/>
                        </a:solidFill>
                        <a:latin typeface="メイリオ" panose="020B0604030504040204" pitchFamily="50" charset="-128"/>
                        <a:ea typeface="メイリオ" panose="020B0604030504040204" pitchFamily="50" charset="-128"/>
                        <a:cs typeface="メイリオ"/>
                      </a:endParaRPr>
                    </a:p>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サロンの内容紹介・入会のご案内</a:t>
                      </a:r>
                      <a:endParaRPr lang="ja-JP" altLang="en-US" sz="12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関心が高いうちに、入会を案内する</a:t>
                      </a:r>
                      <a:endParaRPr lang="ja-JP" altLang="en-US" sz="12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extLst>
                  <a:ext uri="{0D108BD9-81ED-4DB2-BD59-A6C34878D82A}">
                    <a16:rowId xmlns:a16="http://schemas.microsoft.com/office/drawing/2014/main" val="10004"/>
                  </a:ext>
                </a:extLst>
              </a:tr>
              <a:tr h="566928">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⑤ 平常期</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月1〜2回の企画配信／次回イベントのご案内</a:t>
                      </a:r>
                      <a:endParaRPr lang="ja-JP" altLang="en-US" sz="12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イベントのない期間もつながりを保つ</a:t>
                      </a:r>
                      <a:endParaRPr lang="ja-JP" altLang="en-US" sz="12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566928">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⑥ セミナー開催月</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月4〜5回の企画配信</a:t>
                      </a:r>
                      <a:endParaRPr lang="ja-JP" altLang="en-US" sz="12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開催に合わせて、予約・参加を後押しする</a:t>
                      </a:r>
                      <a:endParaRPr lang="ja-JP" altLang="en-US" sz="12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extLst>
                  <a:ext uri="{0D108BD9-81ED-4DB2-BD59-A6C34878D82A}">
                    <a16:rowId xmlns:a16="http://schemas.microsoft.com/office/drawing/2014/main" val="10006"/>
                  </a:ext>
                </a:extLst>
              </a:tr>
            </a:tbl>
          </a:graphicData>
        </a:graphic>
      </p:graphicFrame>
      <p:sp>
        <p:nvSpPr>
          <p:cNvPr id="51" name="注記"/>
          <p:cNvSpPr/>
          <p:nvPr/>
        </p:nvSpPr>
        <p:spPr>
          <a:xfrm>
            <a:off x="420624" y="5623560"/>
            <a:ext cx="9052560" cy="411480"/>
          </a:xfrm>
          <a:prstGeom prst="rect">
            <a:avLst/>
          </a:prstGeom>
          <a:noFill/>
          <a:ln>
            <a:noFill/>
          </a:ln>
        </p:spPr>
        <p:txBody>
          <a:bodyPr wrap="square" lIns="0" tIns="0" rIns="0" bIns="0" rtlCol="0" anchor="t">
            <a:noAutofit/>
          </a:bodyPr>
          <a:lstStyle/>
          <a:p>
            <a:pPr algn="l">
              <a:buNone/>
            </a:pPr>
            <a:r>
              <a:rPr lang="ja-JP" altLang="en-US" sz="900" b="0" dirty="0">
                <a:solidFill>
                  <a:srgbClr val="7F7F7F"/>
                </a:solidFill>
                <a:latin typeface="メイリオ" panose="020B0604030504040204" pitchFamily="50" charset="-128"/>
                <a:ea typeface="メイリオ" panose="020B0604030504040204" pitchFamily="50" charset="-128"/>
                <a:cs typeface="メイリオ"/>
              </a:rPr>
              <a:t>※③のリマインドは、企画配信の回数とは別に、予約ごとに配信</a:t>
            </a:r>
            <a:endParaRPr lang="ja-JP" altLang="en-US" sz="1200" dirty="0">
              <a:latin typeface="メイリオ"/>
              <a:ea typeface="メイリオ"/>
              <a:cs typeface="メイリオ"/>
            </a:endParaRPr>
          </a:p>
          <a:p>
            <a:pPr algn="l">
              <a:buNone/>
            </a:pPr>
            <a:r>
              <a:rPr lang="ja-JP" altLang="en-US" sz="900" b="0" dirty="0">
                <a:solidFill>
                  <a:srgbClr val="7F7F7F"/>
                </a:solidFill>
                <a:latin typeface="メイリオ" panose="020B0604030504040204" pitchFamily="50" charset="-128"/>
                <a:ea typeface="メイリオ" panose="020B0604030504040204" pitchFamily="50" charset="-128"/>
                <a:cs typeface="メイリオ"/>
              </a:rPr>
              <a:t>※③④は、予約・参加した方を特定できる範囲で実施（予約完了後の友だち追加など）。予約システム等との連携は、可否を確認のうえ設計</a:t>
            </a:r>
            <a:endParaRPr lang="ja-JP" altLang="en-US" sz="1200" dirty="0">
              <a:latin typeface="メイリオ"/>
              <a:ea typeface="メイリオ"/>
              <a:cs typeface="メイリオ"/>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C61D1B-00B3-A324-FA45-8227BFE7C87E}"/>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A92EBA17-1F28-FC74-FD04-7BBA4028B4C8}"/>
              </a:ext>
            </a:extLst>
          </p:cNvPr>
          <p:cNvSpPr txBox="1"/>
          <p:nvPr/>
        </p:nvSpPr>
        <p:spPr>
          <a:xfrm>
            <a:off x="548883" y="138138"/>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002060"/>
                </a:solidFill>
                <a:latin typeface="メイリオ"/>
                <a:ea typeface="メイリオ"/>
                <a:cs typeface="メイリオ"/>
                <a:sym typeface="Meiryo"/>
              </a:rPr>
              <a:t>新規友だちの追加</a:t>
            </a:r>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（ポップアップ </a:t>
            </a:r>
            <a:r>
              <a:rPr lang="en-US" altLang="ja-JP" sz="1600" b="1" dirty="0">
                <a:solidFill>
                  <a:srgbClr val="323366"/>
                </a:solidFill>
                <a:latin typeface="メイリオ" panose="020B0604030504040204" pitchFamily="50" charset="-128"/>
                <a:ea typeface="メイリオ" panose="020B0604030504040204" pitchFamily="50" charset="-128"/>
                <a:cs typeface="メイリオ"/>
                <a:sym typeface="Meiryo"/>
              </a:rPr>
              <a:t>/ </a:t>
            </a:r>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離脱防止）</a:t>
            </a:r>
          </a:p>
        </p:txBody>
      </p:sp>
      <p:grpSp>
        <p:nvGrpSpPr>
          <p:cNvPr id="3" name="グループ化 2">
            <a:extLst>
              <a:ext uri="{FF2B5EF4-FFF2-40B4-BE49-F238E27FC236}">
                <a16:creationId xmlns:a16="http://schemas.microsoft.com/office/drawing/2014/main" id="{A495E905-6DD4-9945-098D-841CB438C3EE}"/>
              </a:ext>
            </a:extLst>
          </p:cNvPr>
          <p:cNvGrpSpPr/>
          <p:nvPr/>
        </p:nvGrpSpPr>
        <p:grpSpPr>
          <a:xfrm>
            <a:off x="543398" y="777681"/>
            <a:ext cx="3105325" cy="485102"/>
            <a:chOff x="507969" y="928495"/>
            <a:chExt cx="3105325" cy="485102"/>
          </a:xfrm>
          <a:solidFill>
            <a:schemeClr val="tx2"/>
          </a:solidFill>
        </p:grpSpPr>
        <p:sp>
          <p:nvSpPr>
            <p:cNvPr id="4" name="Google Shape;51;p19">
              <a:extLst>
                <a:ext uri="{FF2B5EF4-FFF2-40B4-BE49-F238E27FC236}">
                  <a16:creationId xmlns:a16="http://schemas.microsoft.com/office/drawing/2014/main" id="{460E3190-8E00-961F-6C91-89DE5F3546AF}"/>
                </a:ext>
              </a:extLst>
            </p:cNvPr>
            <p:cNvSpPr/>
            <p:nvPr/>
          </p:nvSpPr>
          <p:spPr>
            <a:xfrm>
              <a:off x="507969" y="928495"/>
              <a:ext cx="3105325" cy="485102"/>
            </a:xfrm>
            <a:prstGeom prst="roundRect">
              <a:avLst>
                <a:gd name="adj" fmla="val 16667"/>
              </a:avLst>
            </a:prstGeom>
            <a:grp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dirty="0">
                <a:solidFill>
                  <a:schemeClr val="lt1"/>
                </a:solidFill>
                <a:latin typeface="メイリオ"/>
                <a:ea typeface="メイリオ"/>
                <a:cs typeface="メイリオ"/>
                <a:sym typeface="Meiryo"/>
              </a:endParaRPr>
            </a:p>
          </p:txBody>
        </p:sp>
        <p:sp>
          <p:nvSpPr>
            <p:cNvPr id="5" name="テキスト ボックス 4">
              <a:extLst>
                <a:ext uri="{FF2B5EF4-FFF2-40B4-BE49-F238E27FC236}">
                  <a16:creationId xmlns:a16="http://schemas.microsoft.com/office/drawing/2014/main" id="{214929DF-C4CB-63FB-BAED-F6A1BE2438B2}"/>
                </a:ext>
              </a:extLst>
            </p:cNvPr>
            <p:cNvSpPr txBox="1"/>
            <p:nvPr/>
          </p:nvSpPr>
          <p:spPr>
            <a:xfrm>
              <a:off x="687498" y="938979"/>
              <a:ext cx="2746265" cy="357790"/>
            </a:xfrm>
            <a:prstGeom prst="rect">
              <a:avLst/>
            </a:prstGeom>
            <a:grp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a:lnSpc>
                  <a:spcPct val="120000"/>
                </a:lnSpc>
              </a:pPr>
              <a:r>
                <a:rPr kumimoji="1" lang="ja-JP" altLang="en-US" sz="1500" b="1" dirty="0">
                  <a:solidFill>
                    <a:schemeClr val="bg1"/>
                  </a:solidFill>
                  <a:latin typeface="メイリオ" panose="020B0604030504040204" pitchFamily="34" charset="-128"/>
                  <a:ea typeface="メイリオ" panose="020B0604030504040204" pitchFamily="34" charset="-128"/>
                  <a:cs typeface="メイリオ"/>
                </a:rPr>
                <a:t>ポップアップ</a:t>
              </a:r>
              <a:r>
                <a:rPr kumimoji="1" lang="en-US" altLang="ja-JP" sz="1500" b="1" dirty="0">
                  <a:solidFill>
                    <a:schemeClr val="bg1"/>
                  </a:solidFill>
                  <a:latin typeface="メイリオ" panose="020B0604030504040204" pitchFamily="34" charset="-128"/>
                  <a:ea typeface="メイリオ" panose="020B0604030504040204" pitchFamily="34" charset="-128"/>
                  <a:cs typeface="メイリオ"/>
                </a:rPr>
                <a:t>(</a:t>
              </a:r>
              <a:r>
                <a:rPr kumimoji="1" lang="ja-JP" altLang="en-US" sz="1500" b="1" dirty="0">
                  <a:solidFill>
                    <a:schemeClr val="bg1"/>
                  </a:solidFill>
                  <a:latin typeface="メイリオ" panose="020B0604030504040204" pitchFamily="34" charset="-128"/>
                  <a:ea typeface="メイリオ" panose="020B0604030504040204" pitchFamily="34" charset="-128"/>
                  <a:cs typeface="メイリオ"/>
                </a:rPr>
                <a:t>離脱防止 など</a:t>
              </a:r>
              <a:r>
                <a:rPr kumimoji="1" lang="en-US" altLang="ja-JP" sz="1500" b="1" dirty="0">
                  <a:solidFill>
                    <a:schemeClr val="bg1"/>
                  </a:solidFill>
                  <a:latin typeface="メイリオ" panose="020B0604030504040204" pitchFamily="34" charset="-128"/>
                  <a:ea typeface="メイリオ" panose="020B0604030504040204" pitchFamily="34" charset="-128"/>
                  <a:cs typeface="メイリオ"/>
                </a:rPr>
                <a:t>)</a:t>
              </a:r>
              <a:endParaRPr kumimoji="1" lang="ja-JP" altLang="en-US" sz="1500" b="1" dirty="0">
                <a:solidFill>
                  <a:schemeClr val="bg1"/>
                </a:solidFill>
                <a:latin typeface="メイリオ" panose="020B0604030504040204" pitchFamily="34" charset="-128"/>
                <a:ea typeface="メイリオ" panose="020B0604030504040204" pitchFamily="34" charset="-128"/>
                <a:cs typeface="メイリオ"/>
              </a:endParaRPr>
            </a:p>
          </p:txBody>
        </p:sp>
      </p:grpSp>
      <p:sp>
        <p:nvSpPr>
          <p:cNvPr id="8" name="正方形/長方形 7">
            <a:extLst>
              <a:ext uri="{FF2B5EF4-FFF2-40B4-BE49-F238E27FC236}">
                <a16:creationId xmlns:a16="http://schemas.microsoft.com/office/drawing/2014/main" id="{200A9277-1702-628D-6325-0D765E09FBE7}"/>
              </a:ext>
            </a:extLst>
          </p:cNvPr>
          <p:cNvSpPr/>
          <p:nvPr/>
        </p:nvSpPr>
        <p:spPr>
          <a:xfrm>
            <a:off x="3806311" y="788165"/>
            <a:ext cx="5880088" cy="584775"/>
          </a:xfrm>
          <a:prstGeom prst="rect">
            <a:avLst/>
          </a:prstGeom>
        </p:spPr>
        <p:txBody>
          <a:bodyPr wrap="square">
            <a:spAutoFit/>
          </a:bodyPr>
          <a:lstStyle/>
          <a:p>
            <a:pPr lvl="0" algn="ctr">
              <a:buClr>
                <a:schemeClr val="dk1"/>
              </a:buClr>
              <a:buSzPts val="1500"/>
            </a:pPr>
            <a:r>
              <a:rPr lang="en-US" altLang="ja-JP" sz="1600" dirty="0">
                <a:latin typeface="メイリオ"/>
                <a:ea typeface="メイリオ"/>
                <a:cs typeface="メイリオ"/>
                <a:sym typeface="Meiryo"/>
              </a:rPr>
              <a:t>WEB</a:t>
            </a:r>
            <a:r>
              <a:rPr lang="ja-JP" altLang="en-US" sz="1600" dirty="0">
                <a:latin typeface="メイリオ"/>
                <a:ea typeface="メイリオ"/>
                <a:cs typeface="メイリオ"/>
                <a:sym typeface="Meiryo"/>
              </a:rPr>
              <a:t>サイト上の特定アクションを起こしたユーザーに対して</a:t>
            </a:r>
            <a:endParaRPr lang="en-US" altLang="ja-JP" sz="1600" dirty="0">
              <a:latin typeface="メイリオ"/>
              <a:ea typeface="メイリオ"/>
              <a:cs typeface="メイリオ"/>
              <a:sym typeface="Meiryo"/>
            </a:endParaRPr>
          </a:p>
          <a:p>
            <a:pPr lvl="0" algn="ctr">
              <a:buClr>
                <a:schemeClr val="dk1"/>
              </a:buClr>
              <a:buSzPts val="1500"/>
            </a:pPr>
            <a:r>
              <a:rPr lang="ja-JP" altLang="en-US" sz="1600" dirty="0">
                <a:latin typeface="メイリオ"/>
                <a:ea typeface="メイリオ"/>
                <a:cs typeface="メイリオ"/>
                <a:sym typeface="Meiryo"/>
              </a:rPr>
              <a:t>ポップアップの形で</a:t>
            </a:r>
            <a:r>
              <a:rPr lang="en-US" altLang="ja-JP" sz="1600" dirty="0">
                <a:latin typeface="メイリオ"/>
                <a:ea typeface="メイリオ"/>
                <a:cs typeface="メイリオ"/>
                <a:sym typeface="Meiryo"/>
              </a:rPr>
              <a:t>LINE</a:t>
            </a:r>
            <a:r>
              <a:rPr lang="ja-JP" altLang="en-US" sz="1600" dirty="0">
                <a:latin typeface="メイリオ"/>
                <a:ea typeface="メイリオ"/>
                <a:cs typeface="メイリオ"/>
                <a:sym typeface="Meiryo"/>
              </a:rPr>
              <a:t>誘導の動線を提示。</a:t>
            </a:r>
          </a:p>
        </p:txBody>
      </p:sp>
      <p:sp>
        <p:nvSpPr>
          <p:cNvPr id="9" name="テキスト ボックス 8">
            <a:extLst>
              <a:ext uri="{FF2B5EF4-FFF2-40B4-BE49-F238E27FC236}">
                <a16:creationId xmlns:a16="http://schemas.microsoft.com/office/drawing/2014/main" id="{FC59C8DC-A3F5-6C82-BBB6-1DCA2E2FCA1E}"/>
              </a:ext>
            </a:extLst>
          </p:cNvPr>
          <p:cNvSpPr txBox="1"/>
          <p:nvPr/>
        </p:nvSpPr>
        <p:spPr>
          <a:xfrm>
            <a:off x="5214938" y="1372940"/>
            <a:ext cx="4148137" cy="261610"/>
          </a:xfrm>
          <a:prstGeom prst="rect">
            <a:avLst/>
          </a:prstGeom>
          <a:noFill/>
        </p:spPr>
        <p:txBody>
          <a:bodyPr wrap="square">
            <a:spAutoFit/>
          </a:bodyPr>
          <a:lstStyle/>
          <a:p>
            <a:r>
              <a:rPr lang="en-US" altLang="ja-JP" sz="1050" dirty="0">
                <a:solidFill>
                  <a:srgbClr val="1F2A5C"/>
                </a:solidFill>
                <a:latin typeface="メイリオ"/>
                <a:ea typeface="メイリオ"/>
                <a:cs typeface="メイリオ"/>
                <a:sym typeface="Meiryo"/>
              </a:rPr>
              <a:t>LINE以外の注力動線への誘導も同バナーから実施可能。</a:t>
            </a:r>
            <a:endParaRPr lang="ja-JP" altLang="en-US" sz="1050" dirty="0">
              <a:solidFill>
                <a:srgbClr val="1F2A5C"/>
              </a:solidFill>
              <a:latin typeface="メイリオ"/>
              <a:ea typeface="メイリオ"/>
              <a:cs typeface="メイリオ"/>
            </a:endParaRPr>
          </a:p>
        </p:txBody>
      </p:sp>
      <p:sp>
        <p:nvSpPr>
          <p:cNvPr id="15" name="Google Shape;51;p19">
            <a:extLst>
              <a:ext uri="{FF2B5EF4-FFF2-40B4-BE49-F238E27FC236}">
                <a16:creationId xmlns:a16="http://schemas.microsoft.com/office/drawing/2014/main" id="{ECC096EC-7A42-299D-ADFB-A11583AA36AB}"/>
              </a:ext>
            </a:extLst>
          </p:cNvPr>
          <p:cNvSpPr/>
          <p:nvPr/>
        </p:nvSpPr>
        <p:spPr>
          <a:xfrm>
            <a:off x="543399" y="1321261"/>
            <a:ext cx="1510826" cy="485102"/>
          </a:xfrm>
          <a:prstGeom prst="roundRect">
            <a:avLst>
              <a:gd name="adj" fmla="val 16667"/>
            </a:avLst>
          </a:prstGeom>
          <a:solidFill>
            <a:srgbClr val="1F2A5C"/>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メイリオ"/>
                <a:ea typeface="メイリオ"/>
                <a:cs typeface="メイリオ"/>
                <a:sym typeface="Meiryo"/>
              </a:rPr>
              <a:t>初期：</a:t>
            </a:r>
            <a:r>
              <a:rPr lang="en-US" altLang="ja-JP" sz="1400" b="1" i="0" u="none" strike="noStrike" cap="none" dirty="0">
                <a:solidFill>
                  <a:schemeClr val="lt1"/>
                </a:solidFill>
                <a:latin typeface="メイリオ"/>
                <a:ea typeface="メイリオ"/>
                <a:cs typeface="メイリオ"/>
                <a:sym typeface="Meiryo"/>
              </a:rPr>
              <a:t>1.5</a:t>
            </a:r>
            <a:r>
              <a:rPr lang="ja-JP" altLang="en-US" sz="1400" b="1" i="0" u="none" strike="noStrike" cap="none" dirty="0">
                <a:solidFill>
                  <a:schemeClr val="lt1"/>
                </a:solidFill>
                <a:latin typeface="メイリオ"/>
                <a:ea typeface="メイリオ"/>
                <a:cs typeface="メイリオ"/>
                <a:sym typeface="Meiryo"/>
              </a:rPr>
              <a:t>万円</a:t>
            </a:r>
            <a:endParaRPr sz="1400" b="1" i="0" u="none" strike="noStrike" cap="none" dirty="0">
              <a:solidFill>
                <a:schemeClr val="lt1"/>
              </a:solidFill>
              <a:latin typeface="メイリオ"/>
              <a:ea typeface="メイリオ"/>
              <a:cs typeface="メイリオ"/>
              <a:sym typeface="Meiryo"/>
            </a:endParaRPr>
          </a:p>
        </p:txBody>
      </p:sp>
      <p:sp>
        <p:nvSpPr>
          <p:cNvPr id="17" name="Google Shape;51;p19">
            <a:extLst>
              <a:ext uri="{FF2B5EF4-FFF2-40B4-BE49-F238E27FC236}">
                <a16:creationId xmlns:a16="http://schemas.microsoft.com/office/drawing/2014/main" id="{C52155A1-F32D-8503-456F-3138842AD308}"/>
              </a:ext>
            </a:extLst>
          </p:cNvPr>
          <p:cNvSpPr/>
          <p:nvPr/>
        </p:nvSpPr>
        <p:spPr>
          <a:xfrm>
            <a:off x="2137897" y="1321261"/>
            <a:ext cx="1510826" cy="485102"/>
          </a:xfrm>
          <a:prstGeom prst="roundRect">
            <a:avLst>
              <a:gd name="adj" fmla="val 16667"/>
            </a:avLst>
          </a:prstGeom>
          <a:solidFill>
            <a:srgbClr val="1F2A5C"/>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メイリオ"/>
                <a:ea typeface="メイリオ"/>
                <a:cs typeface="メイリオ"/>
                <a:sym typeface="Meiryo"/>
              </a:rPr>
              <a:t>月額</a:t>
            </a:r>
            <a:r>
              <a:rPr lang="en-US" altLang="ja-JP" sz="1400" b="1" i="0" u="none" strike="noStrike" cap="none" dirty="0">
                <a:solidFill>
                  <a:schemeClr val="lt1"/>
                </a:solidFill>
                <a:latin typeface="メイリオ"/>
                <a:ea typeface="メイリオ"/>
                <a:cs typeface="メイリオ"/>
                <a:sym typeface="Meiryo"/>
              </a:rPr>
              <a:t>3</a:t>
            </a:r>
            <a:r>
              <a:rPr lang="ja-JP" altLang="en-US" sz="1400" b="1" i="0" u="none" strike="noStrike" cap="none" dirty="0">
                <a:solidFill>
                  <a:schemeClr val="lt1"/>
                </a:solidFill>
                <a:latin typeface="メイリオ"/>
                <a:ea typeface="メイリオ"/>
                <a:cs typeface="メイリオ"/>
                <a:sym typeface="Meiryo"/>
              </a:rPr>
              <a:t>万円</a:t>
            </a:r>
            <a:endParaRPr sz="1400" b="1" i="0" u="none" strike="noStrike" cap="none" dirty="0">
              <a:solidFill>
                <a:schemeClr val="lt1"/>
              </a:solidFill>
              <a:latin typeface="メイリオ"/>
              <a:ea typeface="メイリオ"/>
              <a:cs typeface="メイリオ"/>
              <a:sym typeface="Meiryo"/>
            </a:endParaRPr>
          </a:p>
        </p:txBody>
      </p:sp>
      <p:pic>
        <p:nvPicPr>
          <p:cNvPr id="10" name="図 9">
            <a:extLst>
              <a:ext uri="{FF2B5EF4-FFF2-40B4-BE49-F238E27FC236}">
                <a16:creationId xmlns:a16="http://schemas.microsoft.com/office/drawing/2014/main" id="{3B15DB85-15F3-FF15-AB96-FDFE17717CDB}"/>
              </a:ext>
            </a:extLst>
          </p:cNvPr>
          <p:cNvPicPr>
            <a:picLocks noChangeAspect="1"/>
          </p:cNvPicPr>
          <p:nvPr/>
        </p:nvPicPr>
        <p:blipFill>
          <a:blip r:embed="rId2"/>
          <a:stretch>
            <a:fillRect/>
          </a:stretch>
        </p:blipFill>
        <p:spPr>
          <a:xfrm>
            <a:off x="1172081" y="1882008"/>
            <a:ext cx="7561838" cy="4661631"/>
          </a:xfrm>
          <a:prstGeom prst="rect">
            <a:avLst/>
          </a:prstGeom>
        </p:spPr>
      </p:pic>
    </p:spTree>
    <p:extLst>
      <p:ext uri="{BB962C8B-B14F-4D97-AF65-F5344CB8AC3E}">
        <p14:creationId xmlns:p14="http://schemas.microsoft.com/office/powerpoint/2010/main" val="427133484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975156-99A2-3647-6F9D-3BD80C596EF5}"/>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AB249BA1-EB38-DDA6-8221-FC109239C49F}"/>
              </a:ext>
            </a:extLst>
          </p:cNvPr>
          <p:cNvSpPr txBox="1"/>
          <p:nvPr/>
        </p:nvSpPr>
        <p:spPr>
          <a:xfrm>
            <a:off x="548883" y="138138"/>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002060"/>
                </a:solidFill>
                <a:latin typeface="メイリオ"/>
                <a:ea typeface="メイリオ"/>
                <a:cs typeface="メイリオ"/>
                <a:sym typeface="Meiryo"/>
              </a:rPr>
              <a:t>新規友だちの追加</a:t>
            </a:r>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（ポップアップ </a:t>
            </a:r>
            <a:r>
              <a:rPr lang="en-US" altLang="ja-JP" sz="1600" b="1" dirty="0">
                <a:solidFill>
                  <a:srgbClr val="323366"/>
                </a:solidFill>
                <a:latin typeface="メイリオ" panose="020B0604030504040204" pitchFamily="50" charset="-128"/>
                <a:ea typeface="メイリオ" panose="020B0604030504040204" pitchFamily="50" charset="-128"/>
                <a:cs typeface="メイリオ"/>
                <a:sym typeface="Meiryo"/>
              </a:rPr>
              <a:t>/ </a:t>
            </a:r>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離脱防止）</a:t>
            </a:r>
          </a:p>
        </p:txBody>
      </p:sp>
      <p:sp>
        <p:nvSpPr>
          <p:cNvPr id="8" name="正方形/長方形 7">
            <a:extLst>
              <a:ext uri="{FF2B5EF4-FFF2-40B4-BE49-F238E27FC236}">
                <a16:creationId xmlns:a16="http://schemas.microsoft.com/office/drawing/2014/main" id="{EB668975-CA29-64DD-88DF-17EAAC94AE34}"/>
              </a:ext>
            </a:extLst>
          </p:cNvPr>
          <p:cNvSpPr/>
          <p:nvPr/>
        </p:nvSpPr>
        <p:spPr>
          <a:xfrm>
            <a:off x="3806311" y="788165"/>
            <a:ext cx="5880088" cy="584775"/>
          </a:xfrm>
          <a:prstGeom prst="rect">
            <a:avLst/>
          </a:prstGeom>
        </p:spPr>
        <p:txBody>
          <a:bodyPr wrap="square">
            <a:spAutoFit/>
          </a:bodyPr>
          <a:lstStyle/>
          <a:p>
            <a:pPr lvl="0" algn="ctr">
              <a:buClr>
                <a:schemeClr val="dk1"/>
              </a:buClr>
              <a:buSzPts val="1500"/>
            </a:pPr>
            <a:r>
              <a:rPr lang="en-US" altLang="ja-JP" sz="1600" dirty="0">
                <a:latin typeface="メイリオ"/>
                <a:ea typeface="メイリオ"/>
                <a:cs typeface="メイリオ"/>
                <a:sym typeface="Meiryo"/>
              </a:rPr>
              <a:t>WEB</a:t>
            </a:r>
            <a:r>
              <a:rPr lang="ja-JP" altLang="en-US" sz="1600" dirty="0">
                <a:latin typeface="メイリオ"/>
                <a:ea typeface="メイリオ"/>
                <a:cs typeface="メイリオ"/>
                <a:sym typeface="Meiryo"/>
              </a:rPr>
              <a:t>サイト上の特定アクションを起こしたユーザーに対して</a:t>
            </a:r>
            <a:endParaRPr lang="en-US" altLang="ja-JP" sz="1600" dirty="0">
              <a:latin typeface="メイリオ"/>
              <a:ea typeface="メイリオ"/>
              <a:cs typeface="メイリオ"/>
              <a:sym typeface="Meiryo"/>
            </a:endParaRPr>
          </a:p>
          <a:p>
            <a:pPr lvl="0" algn="ctr">
              <a:buClr>
                <a:schemeClr val="dk1"/>
              </a:buClr>
              <a:buSzPts val="1500"/>
            </a:pPr>
            <a:r>
              <a:rPr lang="ja-JP" altLang="en-US" sz="1600" dirty="0">
                <a:latin typeface="メイリオ"/>
                <a:ea typeface="メイリオ"/>
                <a:cs typeface="メイリオ"/>
                <a:sym typeface="Meiryo"/>
              </a:rPr>
              <a:t>ポップアップの形で</a:t>
            </a:r>
            <a:r>
              <a:rPr lang="en-US" altLang="ja-JP" sz="1600" dirty="0">
                <a:latin typeface="メイリオ"/>
                <a:ea typeface="メイリオ"/>
                <a:cs typeface="メイリオ"/>
                <a:sym typeface="Meiryo"/>
              </a:rPr>
              <a:t>LINE</a:t>
            </a:r>
            <a:r>
              <a:rPr lang="ja-JP" altLang="en-US" sz="1600" dirty="0">
                <a:latin typeface="メイリオ"/>
                <a:ea typeface="メイリオ"/>
                <a:cs typeface="メイリオ"/>
                <a:sym typeface="Meiryo"/>
              </a:rPr>
              <a:t>誘導の動線を提示。</a:t>
            </a:r>
          </a:p>
        </p:txBody>
      </p:sp>
      <p:sp>
        <p:nvSpPr>
          <p:cNvPr id="9" name="テキスト ボックス 8">
            <a:extLst>
              <a:ext uri="{FF2B5EF4-FFF2-40B4-BE49-F238E27FC236}">
                <a16:creationId xmlns:a16="http://schemas.microsoft.com/office/drawing/2014/main" id="{10FACA28-BE3D-80E4-091C-39F6141694C7}"/>
              </a:ext>
            </a:extLst>
          </p:cNvPr>
          <p:cNvSpPr txBox="1"/>
          <p:nvPr/>
        </p:nvSpPr>
        <p:spPr>
          <a:xfrm>
            <a:off x="5214938" y="1372940"/>
            <a:ext cx="4148137" cy="261610"/>
          </a:xfrm>
          <a:prstGeom prst="rect">
            <a:avLst/>
          </a:prstGeom>
          <a:noFill/>
        </p:spPr>
        <p:txBody>
          <a:bodyPr wrap="square">
            <a:spAutoFit/>
          </a:bodyPr>
          <a:lstStyle/>
          <a:p>
            <a:r>
              <a:rPr lang="en-US" altLang="ja-JP" sz="1050" dirty="0">
                <a:solidFill>
                  <a:srgbClr val="1F2A5C"/>
                </a:solidFill>
                <a:latin typeface="メイリオ"/>
                <a:ea typeface="メイリオ"/>
                <a:cs typeface="メイリオ"/>
                <a:sym typeface="Meiryo"/>
              </a:rPr>
              <a:t>LINE以外の注力動線への誘導も同バナーから実施可能。</a:t>
            </a:r>
            <a:endParaRPr lang="ja-JP" altLang="en-US" sz="1050" dirty="0">
              <a:solidFill>
                <a:srgbClr val="1F2A5C"/>
              </a:solidFill>
              <a:latin typeface="メイリオ"/>
              <a:ea typeface="メイリオ"/>
              <a:cs typeface="メイリオ"/>
            </a:endParaRPr>
          </a:p>
        </p:txBody>
      </p:sp>
      <p:sp>
        <p:nvSpPr>
          <p:cNvPr id="24" name="正方形/長方形 23">
            <a:extLst>
              <a:ext uri="{FF2B5EF4-FFF2-40B4-BE49-F238E27FC236}">
                <a16:creationId xmlns:a16="http://schemas.microsoft.com/office/drawing/2014/main" id="{E4AE5F6C-0BA5-6768-64B9-9CD156133552}"/>
              </a:ext>
            </a:extLst>
          </p:cNvPr>
          <p:cNvSpPr/>
          <p:nvPr/>
        </p:nvSpPr>
        <p:spPr>
          <a:xfrm>
            <a:off x="5769326" y="1938056"/>
            <a:ext cx="3788228" cy="244151"/>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b="1" dirty="0">
                <a:solidFill>
                  <a:schemeClr val="bg1"/>
                </a:solidFill>
                <a:latin typeface="メイリオ" panose="020B0604030504040204" pitchFamily="50" charset="-128"/>
                <a:ea typeface="メイリオ" panose="020B0604030504040204" pitchFamily="50" charset="-128"/>
                <a:cs typeface="メイリオ"/>
              </a:rPr>
              <a:t>動作イメージ</a:t>
            </a:r>
            <a:endParaRPr kumimoji="1" lang="ja-JP" altLang="en-US" sz="1100" b="1" dirty="0">
              <a:solidFill>
                <a:schemeClr val="bg1"/>
              </a:solidFill>
              <a:latin typeface="メイリオ" panose="020B0604030504040204" pitchFamily="50" charset="-128"/>
              <a:ea typeface="メイリオ" panose="020B0604030504040204" pitchFamily="50" charset="-128"/>
              <a:cs typeface="メイリオ"/>
            </a:endParaRPr>
          </a:p>
        </p:txBody>
      </p:sp>
      <p:pic>
        <p:nvPicPr>
          <p:cNvPr id="7" name="図 6">
            <a:extLst>
              <a:ext uri="{FF2B5EF4-FFF2-40B4-BE49-F238E27FC236}">
                <a16:creationId xmlns:a16="http://schemas.microsoft.com/office/drawing/2014/main" id="{669C67AE-8870-AB99-9BB8-030F3AB8CB3B}"/>
              </a:ext>
            </a:extLst>
          </p:cNvPr>
          <p:cNvPicPr>
            <a:picLocks noChangeAspect="1"/>
          </p:cNvPicPr>
          <p:nvPr/>
        </p:nvPicPr>
        <p:blipFill>
          <a:blip r:embed="rId2"/>
          <a:stretch>
            <a:fillRect/>
          </a:stretch>
        </p:blipFill>
        <p:spPr>
          <a:xfrm>
            <a:off x="543398" y="4259719"/>
            <a:ext cx="5059180" cy="2191534"/>
          </a:xfrm>
          <a:prstGeom prst="rect">
            <a:avLst/>
          </a:prstGeom>
        </p:spPr>
      </p:pic>
      <p:pic>
        <p:nvPicPr>
          <p:cNvPr id="14" name="図 13">
            <a:extLst>
              <a:ext uri="{FF2B5EF4-FFF2-40B4-BE49-F238E27FC236}">
                <a16:creationId xmlns:a16="http://schemas.microsoft.com/office/drawing/2014/main" id="{CFFD213E-DE33-0075-6E07-F24DBD7A9441}"/>
              </a:ext>
            </a:extLst>
          </p:cNvPr>
          <p:cNvPicPr>
            <a:picLocks noChangeAspect="1"/>
          </p:cNvPicPr>
          <p:nvPr/>
        </p:nvPicPr>
        <p:blipFill>
          <a:blip r:embed="rId3"/>
          <a:stretch>
            <a:fillRect/>
          </a:stretch>
        </p:blipFill>
        <p:spPr>
          <a:xfrm>
            <a:off x="579513" y="1977951"/>
            <a:ext cx="5023065" cy="2231287"/>
          </a:xfrm>
          <a:prstGeom prst="rect">
            <a:avLst/>
          </a:prstGeom>
        </p:spPr>
      </p:pic>
      <p:grpSp>
        <p:nvGrpSpPr>
          <p:cNvPr id="2" name="グループ化 1">
            <a:extLst>
              <a:ext uri="{FF2B5EF4-FFF2-40B4-BE49-F238E27FC236}">
                <a16:creationId xmlns:a16="http://schemas.microsoft.com/office/drawing/2014/main" id="{B58110A5-3249-591F-F0D8-9733B5C19419}"/>
              </a:ext>
            </a:extLst>
          </p:cNvPr>
          <p:cNvGrpSpPr/>
          <p:nvPr/>
        </p:nvGrpSpPr>
        <p:grpSpPr>
          <a:xfrm>
            <a:off x="543398" y="777681"/>
            <a:ext cx="3105325" cy="485102"/>
            <a:chOff x="507969" y="928495"/>
            <a:chExt cx="3105325" cy="485102"/>
          </a:xfrm>
          <a:solidFill>
            <a:schemeClr val="tx2"/>
          </a:solidFill>
        </p:grpSpPr>
        <p:sp>
          <p:nvSpPr>
            <p:cNvPr id="10" name="Google Shape;51;p19">
              <a:extLst>
                <a:ext uri="{FF2B5EF4-FFF2-40B4-BE49-F238E27FC236}">
                  <a16:creationId xmlns:a16="http://schemas.microsoft.com/office/drawing/2014/main" id="{2624D4C3-8EE7-C79A-AD39-F7C125FED5C3}"/>
                </a:ext>
              </a:extLst>
            </p:cNvPr>
            <p:cNvSpPr/>
            <p:nvPr/>
          </p:nvSpPr>
          <p:spPr>
            <a:xfrm>
              <a:off x="507969" y="928495"/>
              <a:ext cx="3105325" cy="485102"/>
            </a:xfrm>
            <a:prstGeom prst="roundRect">
              <a:avLst>
                <a:gd name="adj" fmla="val 16667"/>
              </a:avLst>
            </a:prstGeom>
            <a:grp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dirty="0">
                <a:solidFill>
                  <a:schemeClr val="lt1"/>
                </a:solidFill>
                <a:latin typeface="メイリオ"/>
                <a:ea typeface="メイリオ"/>
                <a:cs typeface="メイリオ"/>
                <a:sym typeface="Meiryo"/>
              </a:endParaRPr>
            </a:p>
          </p:txBody>
        </p:sp>
        <p:sp>
          <p:nvSpPr>
            <p:cNvPr id="16" name="テキスト ボックス 15">
              <a:extLst>
                <a:ext uri="{FF2B5EF4-FFF2-40B4-BE49-F238E27FC236}">
                  <a16:creationId xmlns:a16="http://schemas.microsoft.com/office/drawing/2014/main" id="{8134CCE0-9B09-BEAB-56F6-583858DE4FFA}"/>
                </a:ext>
              </a:extLst>
            </p:cNvPr>
            <p:cNvSpPr txBox="1"/>
            <p:nvPr/>
          </p:nvSpPr>
          <p:spPr>
            <a:xfrm>
              <a:off x="687498" y="938979"/>
              <a:ext cx="2746265" cy="357790"/>
            </a:xfrm>
            <a:prstGeom prst="rect">
              <a:avLst/>
            </a:prstGeom>
            <a:grp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a:lnSpc>
                  <a:spcPct val="120000"/>
                </a:lnSpc>
              </a:pPr>
              <a:r>
                <a:rPr kumimoji="1" lang="ja-JP" altLang="en-US" sz="1500" b="1" dirty="0">
                  <a:solidFill>
                    <a:schemeClr val="bg1"/>
                  </a:solidFill>
                  <a:latin typeface="メイリオ" panose="020B0604030504040204" pitchFamily="34" charset="-128"/>
                  <a:ea typeface="メイリオ" panose="020B0604030504040204" pitchFamily="34" charset="-128"/>
                  <a:cs typeface="メイリオ"/>
                </a:rPr>
                <a:t>ポップアップ</a:t>
              </a:r>
              <a:r>
                <a:rPr kumimoji="1" lang="en-US" altLang="ja-JP" sz="1500" b="1" dirty="0">
                  <a:solidFill>
                    <a:schemeClr val="bg1"/>
                  </a:solidFill>
                  <a:latin typeface="メイリオ" panose="020B0604030504040204" pitchFamily="34" charset="-128"/>
                  <a:ea typeface="メイリオ" panose="020B0604030504040204" pitchFamily="34" charset="-128"/>
                  <a:cs typeface="メイリオ"/>
                </a:rPr>
                <a:t>(</a:t>
              </a:r>
              <a:r>
                <a:rPr kumimoji="1" lang="ja-JP" altLang="en-US" sz="1500" b="1" dirty="0">
                  <a:solidFill>
                    <a:schemeClr val="bg1"/>
                  </a:solidFill>
                  <a:latin typeface="メイリオ" panose="020B0604030504040204" pitchFamily="34" charset="-128"/>
                  <a:ea typeface="メイリオ" panose="020B0604030504040204" pitchFamily="34" charset="-128"/>
                  <a:cs typeface="メイリオ"/>
                </a:rPr>
                <a:t>離脱防止 など</a:t>
              </a:r>
              <a:r>
                <a:rPr kumimoji="1" lang="en-US" altLang="ja-JP" sz="1500" b="1" dirty="0">
                  <a:solidFill>
                    <a:schemeClr val="bg1"/>
                  </a:solidFill>
                  <a:latin typeface="メイリオ" panose="020B0604030504040204" pitchFamily="34" charset="-128"/>
                  <a:ea typeface="メイリオ" panose="020B0604030504040204" pitchFamily="34" charset="-128"/>
                  <a:cs typeface="メイリオ"/>
                </a:rPr>
                <a:t>)</a:t>
              </a:r>
              <a:endParaRPr kumimoji="1" lang="ja-JP" altLang="en-US" sz="1500" b="1" dirty="0">
                <a:solidFill>
                  <a:schemeClr val="bg1"/>
                </a:solidFill>
                <a:latin typeface="メイリオ" panose="020B0604030504040204" pitchFamily="34" charset="-128"/>
                <a:ea typeface="メイリオ" panose="020B0604030504040204" pitchFamily="34" charset="-128"/>
                <a:cs typeface="メイリオ"/>
              </a:endParaRPr>
            </a:p>
          </p:txBody>
        </p:sp>
      </p:grpSp>
      <p:sp>
        <p:nvSpPr>
          <p:cNvPr id="18" name="Google Shape;51;p19">
            <a:extLst>
              <a:ext uri="{FF2B5EF4-FFF2-40B4-BE49-F238E27FC236}">
                <a16:creationId xmlns:a16="http://schemas.microsoft.com/office/drawing/2014/main" id="{ABAC4CA8-0C86-B839-6335-8FB2EF8DA230}"/>
              </a:ext>
            </a:extLst>
          </p:cNvPr>
          <p:cNvSpPr/>
          <p:nvPr/>
        </p:nvSpPr>
        <p:spPr>
          <a:xfrm>
            <a:off x="543399" y="1321261"/>
            <a:ext cx="1510826" cy="485102"/>
          </a:xfrm>
          <a:prstGeom prst="roundRect">
            <a:avLst>
              <a:gd name="adj" fmla="val 16667"/>
            </a:avLst>
          </a:prstGeom>
          <a:solidFill>
            <a:srgbClr val="1F2A5C"/>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メイリオ"/>
                <a:ea typeface="メイリオ"/>
                <a:cs typeface="メイリオ"/>
                <a:sym typeface="Meiryo"/>
              </a:rPr>
              <a:t>初期：</a:t>
            </a:r>
            <a:r>
              <a:rPr lang="en-US" altLang="ja-JP" sz="1400" b="1" i="0" u="none" strike="noStrike" cap="none" dirty="0">
                <a:solidFill>
                  <a:schemeClr val="lt1"/>
                </a:solidFill>
                <a:latin typeface="メイリオ"/>
                <a:ea typeface="メイリオ"/>
                <a:cs typeface="メイリオ"/>
                <a:sym typeface="Meiryo"/>
              </a:rPr>
              <a:t>1.5</a:t>
            </a:r>
            <a:r>
              <a:rPr lang="ja-JP" altLang="en-US" sz="1400" b="1" i="0" u="none" strike="noStrike" cap="none" dirty="0">
                <a:solidFill>
                  <a:schemeClr val="lt1"/>
                </a:solidFill>
                <a:latin typeface="メイリオ"/>
                <a:ea typeface="メイリオ"/>
                <a:cs typeface="メイリオ"/>
                <a:sym typeface="Meiryo"/>
              </a:rPr>
              <a:t>万円</a:t>
            </a:r>
            <a:endParaRPr sz="1400" b="1" i="0" u="none" strike="noStrike" cap="none" dirty="0">
              <a:solidFill>
                <a:schemeClr val="lt1"/>
              </a:solidFill>
              <a:latin typeface="メイリオ"/>
              <a:ea typeface="メイリオ"/>
              <a:cs typeface="メイリオ"/>
              <a:sym typeface="Meiryo"/>
            </a:endParaRPr>
          </a:p>
        </p:txBody>
      </p:sp>
      <p:sp>
        <p:nvSpPr>
          <p:cNvPr id="20" name="Google Shape;51;p19">
            <a:extLst>
              <a:ext uri="{FF2B5EF4-FFF2-40B4-BE49-F238E27FC236}">
                <a16:creationId xmlns:a16="http://schemas.microsoft.com/office/drawing/2014/main" id="{54BADA25-EAD6-B857-B5DA-8E7366A2D4D6}"/>
              </a:ext>
            </a:extLst>
          </p:cNvPr>
          <p:cNvSpPr/>
          <p:nvPr/>
        </p:nvSpPr>
        <p:spPr>
          <a:xfrm>
            <a:off x="2137897" y="1321261"/>
            <a:ext cx="1510826" cy="485102"/>
          </a:xfrm>
          <a:prstGeom prst="roundRect">
            <a:avLst>
              <a:gd name="adj" fmla="val 16667"/>
            </a:avLst>
          </a:prstGeom>
          <a:solidFill>
            <a:srgbClr val="1F2A5C"/>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メイリオ"/>
                <a:ea typeface="メイリオ"/>
                <a:cs typeface="メイリオ"/>
                <a:sym typeface="Meiryo"/>
              </a:rPr>
              <a:t>月額</a:t>
            </a:r>
            <a:r>
              <a:rPr lang="en-US" altLang="ja-JP" sz="1400" b="1" i="0" u="none" strike="noStrike" cap="none" dirty="0">
                <a:solidFill>
                  <a:schemeClr val="lt1"/>
                </a:solidFill>
                <a:latin typeface="メイリオ"/>
                <a:ea typeface="メイリオ"/>
                <a:cs typeface="メイリオ"/>
                <a:sym typeface="Meiryo"/>
              </a:rPr>
              <a:t>3</a:t>
            </a:r>
            <a:r>
              <a:rPr lang="ja-JP" altLang="en-US" sz="1400" b="1" i="0" u="none" strike="noStrike" cap="none" dirty="0">
                <a:solidFill>
                  <a:schemeClr val="lt1"/>
                </a:solidFill>
                <a:latin typeface="メイリオ"/>
                <a:ea typeface="メイリオ"/>
                <a:cs typeface="メイリオ"/>
                <a:sym typeface="Meiryo"/>
              </a:rPr>
              <a:t>万円</a:t>
            </a:r>
            <a:endParaRPr sz="1400" b="1" i="0" u="none" strike="noStrike" cap="none" dirty="0">
              <a:solidFill>
                <a:schemeClr val="lt1"/>
              </a:solidFill>
              <a:latin typeface="メイリオ"/>
              <a:ea typeface="メイリオ"/>
              <a:cs typeface="メイリオ"/>
              <a:sym typeface="Meiryo"/>
            </a:endParaRPr>
          </a:p>
        </p:txBody>
      </p:sp>
      <p:pic>
        <p:nvPicPr>
          <p:cNvPr id="26" name="図 25">
            <a:extLst>
              <a:ext uri="{FF2B5EF4-FFF2-40B4-BE49-F238E27FC236}">
                <a16:creationId xmlns:a16="http://schemas.microsoft.com/office/drawing/2014/main" id="{EDC5B771-42F2-76B0-A6E7-50BC96175819}"/>
              </a:ext>
            </a:extLst>
          </p:cNvPr>
          <p:cNvPicPr>
            <a:picLocks noChangeAspect="1"/>
          </p:cNvPicPr>
          <p:nvPr/>
        </p:nvPicPr>
        <p:blipFill>
          <a:blip r:embed="rId4"/>
          <a:stretch>
            <a:fillRect/>
          </a:stretch>
        </p:blipFill>
        <p:spPr>
          <a:xfrm>
            <a:off x="5743237" y="2258734"/>
            <a:ext cx="1190032" cy="2417060"/>
          </a:xfrm>
          <a:prstGeom prst="rect">
            <a:avLst/>
          </a:prstGeom>
        </p:spPr>
      </p:pic>
      <p:pic>
        <p:nvPicPr>
          <p:cNvPr id="46" name="図 45">
            <a:extLst>
              <a:ext uri="{FF2B5EF4-FFF2-40B4-BE49-F238E27FC236}">
                <a16:creationId xmlns:a16="http://schemas.microsoft.com/office/drawing/2014/main" id="{CDFFD994-B78C-9580-A303-CCE3C06EF4D0}"/>
              </a:ext>
            </a:extLst>
          </p:cNvPr>
          <p:cNvPicPr>
            <a:picLocks noChangeAspect="1"/>
          </p:cNvPicPr>
          <p:nvPr/>
        </p:nvPicPr>
        <p:blipFill>
          <a:blip r:embed="rId4"/>
          <a:stretch>
            <a:fillRect/>
          </a:stretch>
        </p:blipFill>
        <p:spPr>
          <a:xfrm>
            <a:off x="7682503" y="2258734"/>
            <a:ext cx="1190032" cy="2417060"/>
          </a:xfrm>
          <a:prstGeom prst="rect">
            <a:avLst/>
          </a:prstGeom>
        </p:spPr>
      </p:pic>
      <p:pic>
        <p:nvPicPr>
          <p:cNvPr id="48" name="図 47">
            <a:extLst>
              <a:ext uri="{FF2B5EF4-FFF2-40B4-BE49-F238E27FC236}">
                <a16:creationId xmlns:a16="http://schemas.microsoft.com/office/drawing/2014/main" id="{2F2D6E3E-D262-6FC3-26DE-F7F8A36D53EB}"/>
              </a:ext>
            </a:extLst>
          </p:cNvPr>
          <p:cNvPicPr>
            <a:picLocks noChangeAspect="1"/>
          </p:cNvPicPr>
          <p:nvPr/>
        </p:nvPicPr>
        <p:blipFill>
          <a:blip r:embed="rId4"/>
          <a:stretch>
            <a:fillRect/>
          </a:stretch>
        </p:blipFill>
        <p:spPr>
          <a:xfrm>
            <a:off x="8367522" y="4081984"/>
            <a:ext cx="1190032" cy="2417060"/>
          </a:xfrm>
          <a:prstGeom prst="rect">
            <a:avLst/>
          </a:prstGeom>
        </p:spPr>
      </p:pic>
      <p:sp>
        <p:nvSpPr>
          <p:cNvPr id="50" name="正方形/長方形 49">
            <a:extLst>
              <a:ext uri="{FF2B5EF4-FFF2-40B4-BE49-F238E27FC236}">
                <a16:creationId xmlns:a16="http://schemas.microsoft.com/office/drawing/2014/main" id="{C15238B5-4395-F723-0A79-2790FCF7C350}"/>
              </a:ext>
            </a:extLst>
          </p:cNvPr>
          <p:cNvSpPr/>
          <p:nvPr/>
        </p:nvSpPr>
        <p:spPr>
          <a:xfrm>
            <a:off x="8404597" y="4259719"/>
            <a:ext cx="1126830" cy="1847856"/>
          </a:xfrm>
          <a:prstGeom prst="rect">
            <a:avLst/>
          </a:prstGeom>
          <a:solidFill>
            <a:schemeClr val="tx1">
              <a:lumMod val="75000"/>
              <a:lumOff val="25000"/>
              <a:alpha val="7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pic>
        <p:nvPicPr>
          <p:cNvPr id="56" name="図 55">
            <a:extLst>
              <a:ext uri="{FF2B5EF4-FFF2-40B4-BE49-F238E27FC236}">
                <a16:creationId xmlns:a16="http://schemas.microsoft.com/office/drawing/2014/main" id="{EF814CDE-D628-AA7F-3C9D-D1DAF2358FE4}"/>
              </a:ext>
            </a:extLst>
          </p:cNvPr>
          <p:cNvPicPr>
            <a:picLocks noChangeAspect="1"/>
          </p:cNvPicPr>
          <p:nvPr/>
        </p:nvPicPr>
        <p:blipFill>
          <a:blip r:embed="rId4"/>
          <a:stretch>
            <a:fillRect/>
          </a:stretch>
        </p:blipFill>
        <p:spPr>
          <a:xfrm>
            <a:off x="6278620" y="4081984"/>
            <a:ext cx="1190032" cy="2417060"/>
          </a:xfrm>
          <a:prstGeom prst="rect">
            <a:avLst/>
          </a:prstGeom>
        </p:spPr>
      </p:pic>
      <p:sp>
        <p:nvSpPr>
          <p:cNvPr id="58" name="正方形/長方形 57">
            <a:extLst>
              <a:ext uri="{FF2B5EF4-FFF2-40B4-BE49-F238E27FC236}">
                <a16:creationId xmlns:a16="http://schemas.microsoft.com/office/drawing/2014/main" id="{8EAB183B-DD91-4D27-96EA-958B1E359EDF}"/>
              </a:ext>
            </a:extLst>
          </p:cNvPr>
          <p:cNvSpPr/>
          <p:nvPr/>
        </p:nvSpPr>
        <p:spPr>
          <a:xfrm>
            <a:off x="6315695" y="4259719"/>
            <a:ext cx="1126830" cy="1847856"/>
          </a:xfrm>
          <a:prstGeom prst="rect">
            <a:avLst/>
          </a:prstGeom>
          <a:solidFill>
            <a:schemeClr val="tx1">
              <a:lumMod val="75000"/>
              <a:lumOff val="25000"/>
              <a:alpha val="7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pic>
        <p:nvPicPr>
          <p:cNvPr id="66" name="図 65">
            <a:extLst>
              <a:ext uri="{FF2B5EF4-FFF2-40B4-BE49-F238E27FC236}">
                <a16:creationId xmlns:a16="http://schemas.microsoft.com/office/drawing/2014/main" id="{C2855CFF-6E8D-0B73-876F-08A7CAF41199}"/>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364783" y="4682317"/>
            <a:ext cx="999311" cy="999311"/>
          </a:xfrm>
          <a:prstGeom prst="rect">
            <a:avLst/>
          </a:prstGeom>
        </p:spPr>
      </p:pic>
      <p:sp>
        <p:nvSpPr>
          <p:cNvPr id="68" name="テキスト ボックス 67">
            <a:extLst>
              <a:ext uri="{FF2B5EF4-FFF2-40B4-BE49-F238E27FC236}">
                <a16:creationId xmlns:a16="http://schemas.microsoft.com/office/drawing/2014/main" id="{A25E8A43-2530-9596-D092-B486168F2683}"/>
              </a:ext>
            </a:extLst>
          </p:cNvPr>
          <p:cNvSpPr txBox="1"/>
          <p:nvPr/>
        </p:nvSpPr>
        <p:spPr>
          <a:xfrm>
            <a:off x="6161730" y="5659308"/>
            <a:ext cx="1437861" cy="400110"/>
          </a:xfrm>
          <a:prstGeom prst="rect">
            <a:avLst/>
          </a:prstGeom>
          <a:noFill/>
        </p:spPr>
        <p:txBody>
          <a:bodyPr wrap="square">
            <a:spAutoFit/>
          </a:bodyPr>
          <a:lstStyle/>
          <a:p>
            <a:pPr algn="ctr"/>
            <a:r>
              <a:rPr lang="ja-JP" altLang="en-US" sz="1000" b="1" dirty="0">
                <a:solidFill>
                  <a:schemeClr val="bg1"/>
                </a:solidFill>
                <a:latin typeface="メイリオ"/>
                <a:ea typeface="メイリオ"/>
                <a:cs typeface="メイリオ"/>
                <a:sym typeface="Meiryo"/>
              </a:rPr>
              <a:t>↓</a:t>
            </a:r>
            <a:endParaRPr lang="en-US" altLang="ja-JP" sz="1000" b="1" dirty="0">
              <a:solidFill>
                <a:schemeClr val="bg1"/>
              </a:solidFill>
              <a:latin typeface="メイリオ"/>
              <a:ea typeface="メイリオ"/>
              <a:cs typeface="メイリオ"/>
              <a:sym typeface="Meiryo"/>
            </a:endParaRPr>
          </a:p>
          <a:p>
            <a:pPr algn="ctr"/>
            <a:r>
              <a:rPr lang="ja-JP" altLang="en-US" sz="1000" b="1" dirty="0">
                <a:solidFill>
                  <a:schemeClr val="bg1"/>
                </a:solidFill>
                <a:latin typeface="メイリオ"/>
                <a:ea typeface="メイリオ"/>
                <a:cs typeface="メイリオ"/>
                <a:sym typeface="Meiryo"/>
              </a:rPr>
              <a:t>セミナーLPへ</a:t>
            </a:r>
            <a:endParaRPr lang="ja-JP" altLang="en-US" sz="1050" b="1" dirty="0">
              <a:solidFill>
                <a:schemeClr val="bg1"/>
              </a:solidFill>
              <a:latin typeface="メイリオ"/>
              <a:ea typeface="メイリオ"/>
              <a:cs typeface="メイリオ"/>
            </a:endParaRPr>
          </a:p>
        </p:txBody>
      </p:sp>
      <p:sp>
        <p:nvSpPr>
          <p:cNvPr id="70" name="テキスト ボックス 69">
            <a:extLst>
              <a:ext uri="{FF2B5EF4-FFF2-40B4-BE49-F238E27FC236}">
                <a16:creationId xmlns:a16="http://schemas.microsoft.com/office/drawing/2014/main" id="{0728AAC8-ACED-DE14-79C2-5D2E1E568CE7}"/>
              </a:ext>
            </a:extLst>
          </p:cNvPr>
          <p:cNvSpPr txBox="1"/>
          <p:nvPr/>
        </p:nvSpPr>
        <p:spPr>
          <a:xfrm>
            <a:off x="8248538" y="5659308"/>
            <a:ext cx="1437861" cy="400110"/>
          </a:xfrm>
          <a:prstGeom prst="rect">
            <a:avLst/>
          </a:prstGeom>
          <a:noFill/>
        </p:spPr>
        <p:txBody>
          <a:bodyPr wrap="square">
            <a:spAutoFit/>
          </a:bodyPr>
          <a:lstStyle/>
          <a:p>
            <a:pPr algn="ctr"/>
            <a:r>
              <a:rPr lang="ja-JP" altLang="en-US" sz="1000" b="1" dirty="0">
                <a:solidFill>
                  <a:schemeClr val="bg1"/>
                </a:solidFill>
                <a:latin typeface="メイリオ"/>
                <a:ea typeface="メイリオ"/>
                <a:cs typeface="メイリオ"/>
                <a:sym typeface="Meiryo"/>
              </a:rPr>
              <a:t>↓</a:t>
            </a:r>
            <a:endParaRPr lang="en-US" altLang="ja-JP" sz="1000" b="1" dirty="0">
              <a:solidFill>
                <a:schemeClr val="bg1"/>
              </a:solidFill>
              <a:latin typeface="メイリオ"/>
              <a:ea typeface="メイリオ"/>
              <a:cs typeface="メイリオ"/>
              <a:sym typeface="Meiryo"/>
            </a:endParaRPr>
          </a:p>
          <a:p>
            <a:pPr algn="ctr"/>
            <a:r>
              <a:rPr lang="en-US" altLang="ja-JP" sz="1000" b="1" dirty="0">
                <a:solidFill>
                  <a:schemeClr val="bg1"/>
                </a:solidFill>
                <a:latin typeface="メイリオ"/>
                <a:ea typeface="メイリオ"/>
                <a:cs typeface="メイリオ"/>
                <a:sym typeface="Meiryo"/>
              </a:rPr>
              <a:t>LINE</a:t>
            </a:r>
            <a:r>
              <a:rPr lang="ja-JP" altLang="en-US" sz="1000" b="1" dirty="0">
                <a:solidFill>
                  <a:schemeClr val="bg1"/>
                </a:solidFill>
                <a:latin typeface="メイリオ"/>
                <a:ea typeface="メイリオ"/>
                <a:cs typeface="メイリオ"/>
                <a:sym typeface="Meiryo"/>
              </a:rPr>
              <a:t>追加へ</a:t>
            </a:r>
            <a:endParaRPr lang="ja-JP" altLang="en-US" sz="1050" b="1" dirty="0">
              <a:solidFill>
                <a:schemeClr val="bg1"/>
              </a:solidFill>
              <a:latin typeface="メイリオ"/>
              <a:ea typeface="メイリオ"/>
              <a:cs typeface="メイリオ"/>
            </a:endParaRPr>
          </a:p>
        </p:txBody>
      </p:sp>
      <p:pic>
        <p:nvPicPr>
          <p:cNvPr id="74" name="図 73">
            <a:extLst>
              <a:ext uri="{FF2B5EF4-FFF2-40B4-BE49-F238E27FC236}">
                <a16:creationId xmlns:a16="http://schemas.microsoft.com/office/drawing/2014/main" id="{4C49234A-BFF2-AECE-086F-27D9165ADB4C}"/>
              </a:ext>
            </a:extLst>
          </p:cNvPr>
          <p:cNvPicPr>
            <a:picLocks noChangeAspect="1"/>
          </p:cNvPicPr>
          <p:nvPr/>
        </p:nvPicPr>
        <p:blipFill>
          <a:blip r:embed="rId6"/>
          <a:stretch>
            <a:fillRect/>
          </a:stretch>
        </p:blipFill>
        <p:spPr>
          <a:xfrm>
            <a:off x="8471302" y="4682317"/>
            <a:ext cx="976991" cy="976991"/>
          </a:xfrm>
          <a:prstGeom prst="rect">
            <a:avLst/>
          </a:prstGeom>
        </p:spPr>
      </p:pic>
    </p:spTree>
    <p:extLst>
      <p:ext uri="{BB962C8B-B14F-4D97-AF65-F5344CB8AC3E}">
        <p14:creationId xmlns:p14="http://schemas.microsoft.com/office/powerpoint/2010/main" val="105893345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Google Shape;752;p28">
            <a:extLst>
              <a:ext uri="{FF2B5EF4-FFF2-40B4-BE49-F238E27FC236}">
                <a16:creationId xmlns:a16="http://schemas.microsoft.com/office/drawing/2014/main" id="{AA80CD04-9456-70DB-2E44-D3EDB1461933}"/>
              </a:ext>
            </a:extLst>
          </p:cNvPr>
          <p:cNvSpPr txBox="1"/>
          <p:nvPr/>
        </p:nvSpPr>
        <p:spPr>
          <a:xfrm>
            <a:off x="547200" y="136800"/>
            <a:ext cx="6516000" cy="338400"/>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002060"/>
                </a:solidFill>
                <a:latin typeface="メイリオ"/>
                <a:ea typeface="メイリオ"/>
                <a:cs typeface="メイリオ"/>
                <a:sym typeface="Meiryo"/>
              </a:rPr>
              <a:t>新規友だちの追加（サンクスLINE誘導）</a:t>
            </a:r>
            <a:endParaRPr lang="en-US" altLang="ja-JP" sz="1600" b="1" dirty="0">
              <a:solidFill>
                <a:srgbClr val="002060"/>
              </a:solidFill>
              <a:latin typeface="メイリオ"/>
              <a:ea typeface="メイリオ"/>
              <a:cs typeface="メイリオ"/>
              <a:sym typeface="Meiryo"/>
            </a:endParaRPr>
          </a:p>
        </p:txBody>
      </p:sp>
      <p:sp>
        <p:nvSpPr>
          <p:cNvPr id="16" name="正方形/長方形 15">
            <a:extLst>
              <a:ext uri="{FF2B5EF4-FFF2-40B4-BE49-F238E27FC236}">
                <a16:creationId xmlns:a16="http://schemas.microsoft.com/office/drawing/2014/main" id="{32BBF438-B1EF-A61A-EE3D-69CD39766C7E}"/>
              </a:ext>
            </a:extLst>
          </p:cNvPr>
          <p:cNvSpPr/>
          <p:nvPr/>
        </p:nvSpPr>
        <p:spPr>
          <a:xfrm>
            <a:off x="6123840" y="2144236"/>
            <a:ext cx="2487570" cy="1821208"/>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endParaRPr lang="ja-JP" altLang="en-US">
              <a:latin typeface="メイリオ"/>
              <a:ea typeface="メイリオ"/>
              <a:cs typeface="メイリオ"/>
            </a:endParaRPr>
          </a:p>
        </p:txBody>
      </p:sp>
      <p:sp>
        <p:nvSpPr>
          <p:cNvPr id="17" name="正方形/長方形 16">
            <a:extLst>
              <a:ext uri="{FF2B5EF4-FFF2-40B4-BE49-F238E27FC236}">
                <a16:creationId xmlns:a16="http://schemas.microsoft.com/office/drawing/2014/main" id="{1A1E4128-77DC-C871-EE20-5BD43326E078}"/>
              </a:ext>
            </a:extLst>
          </p:cNvPr>
          <p:cNvSpPr/>
          <p:nvPr/>
        </p:nvSpPr>
        <p:spPr>
          <a:xfrm>
            <a:off x="6123841" y="4317370"/>
            <a:ext cx="2487569" cy="1821208"/>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endParaRPr lang="ja-JP" altLang="en-US">
              <a:latin typeface="メイリオ"/>
              <a:ea typeface="メイリオ"/>
              <a:cs typeface="メイリオ"/>
            </a:endParaRPr>
          </a:p>
        </p:txBody>
      </p:sp>
      <p:sp>
        <p:nvSpPr>
          <p:cNvPr id="20" name="正方形/長方形 19">
            <a:extLst>
              <a:ext uri="{FF2B5EF4-FFF2-40B4-BE49-F238E27FC236}">
                <a16:creationId xmlns:a16="http://schemas.microsoft.com/office/drawing/2014/main" id="{F37BB268-660A-FEE4-BB39-0E338F1DDC23}"/>
              </a:ext>
            </a:extLst>
          </p:cNvPr>
          <p:cNvSpPr/>
          <p:nvPr/>
        </p:nvSpPr>
        <p:spPr>
          <a:xfrm>
            <a:off x="6161261" y="1989652"/>
            <a:ext cx="1315634" cy="244151"/>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en-US" altLang="ja-JP" sz="850" b="1" dirty="0">
                <a:solidFill>
                  <a:schemeClr val="tx1"/>
                </a:solidFill>
                <a:latin typeface="メイリオ" panose="020B0604030504040204" pitchFamily="50" charset="-128"/>
                <a:ea typeface="メイリオ" panose="020B0604030504040204" pitchFamily="50" charset="-128"/>
                <a:cs typeface="メイリオ"/>
              </a:rPr>
              <a:t>LINE</a:t>
            </a:r>
            <a:r>
              <a:rPr lang="ja-JP" altLang="en-US" sz="850" b="1" dirty="0">
                <a:solidFill>
                  <a:schemeClr val="tx1"/>
                </a:solidFill>
                <a:latin typeface="メイリオ" panose="020B0604030504040204" pitchFamily="50" charset="-128"/>
                <a:ea typeface="メイリオ" panose="020B0604030504040204" pitchFamily="50" charset="-128"/>
                <a:cs typeface="メイリオ"/>
              </a:rPr>
              <a:t>未追加の場合</a:t>
            </a:r>
          </a:p>
        </p:txBody>
      </p:sp>
      <p:sp>
        <p:nvSpPr>
          <p:cNvPr id="21" name="正方形/長方形 20">
            <a:extLst>
              <a:ext uri="{FF2B5EF4-FFF2-40B4-BE49-F238E27FC236}">
                <a16:creationId xmlns:a16="http://schemas.microsoft.com/office/drawing/2014/main" id="{C9FF4626-FD17-CA1C-8064-F46606D0BCCE}"/>
              </a:ext>
            </a:extLst>
          </p:cNvPr>
          <p:cNvSpPr/>
          <p:nvPr/>
        </p:nvSpPr>
        <p:spPr>
          <a:xfrm>
            <a:off x="6161261" y="4195296"/>
            <a:ext cx="1315634" cy="244151"/>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en-US" altLang="ja-JP" sz="850" b="1" dirty="0">
                <a:solidFill>
                  <a:schemeClr val="tx1"/>
                </a:solidFill>
                <a:latin typeface="メイリオ" panose="020B0604030504040204" pitchFamily="50" charset="-128"/>
                <a:ea typeface="メイリオ" panose="020B0604030504040204" pitchFamily="50" charset="-128"/>
                <a:cs typeface="メイリオ"/>
              </a:rPr>
              <a:t>LINE</a:t>
            </a:r>
            <a:r>
              <a:rPr lang="ja-JP" altLang="en-US" sz="850" b="1" dirty="0">
                <a:solidFill>
                  <a:schemeClr val="tx1"/>
                </a:solidFill>
                <a:latin typeface="メイリオ" panose="020B0604030504040204" pitchFamily="50" charset="-128"/>
                <a:ea typeface="メイリオ" panose="020B0604030504040204" pitchFamily="50" charset="-128"/>
                <a:cs typeface="メイリオ"/>
              </a:rPr>
              <a:t>追加済みの場合</a:t>
            </a:r>
          </a:p>
        </p:txBody>
      </p:sp>
      <p:cxnSp>
        <p:nvCxnSpPr>
          <p:cNvPr id="23" name="直線矢印コネクタ 22">
            <a:extLst>
              <a:ext uri="{FF2B5EF4-FFF2-40B4-BE49-F238E27FC236}">
                <a16:creationId xmlns:a16="http://schemas.microsoft.com/office/drawing/2014/main" id="{8F202453-7FF9-8AE7-D10D-66F74A74A2F4}"/>
              </a:ext>
            </a:extLst>
          </p:cNvPr>
          <p:cNvCxnSpPr>
            <a:cxnSpLocks/>
          </p:cNvCxnSpPr>
          <p:nvPr/>
        </p:nvCxnSpPr>
        <p:spPr>
          <a:xfrm flipV="1">
            <a:off x="5819550" y="2932418"/>
            <a:ext cx="318138" cy="421706"/>
          </a:xfrm>
          <a:prstGeom prst="straightConnector1">
            <a:avLst/>
          </a:prstGeom>
          <a:ln w="19050">
            <a:solidFill>
              <a:srgbClr val="00B050">
                <a:alpha val="80000"/>
              </a:srgbClr>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24" name="直線矢印コネクタ 23">
            <a:extLst>
              <a:ext uri="{FF2B5EF4-FFF2-40B4-BE49-F238E27FC236}">
                <a16:creationId xmlns:a16="http://schemas.microsoft.com/office/drawing/2014/main" id="{C92F6E28-BBFF-1A56-AC22-CA16D2F1B1EA}"/>
              </a:ext>
            </a:extLst>
          </p:cNvPr>
          <p:cNvCxnSpPr>
            <a:cxnSpLocks/>
          </p:cNvCxnSpPr>
          <p:nvPr/>
        </p:nvCxnSpPr>
        <p:spPr>
          <a:xfrm>
            <a:off x="5819550" y="3354124"/>
            <a:ext cx="280718" cy="1392760"/>
          </a:xfrm>
          <a:prstGeom prst="straightConnector1">
            <a:avLst/>
          </a:prstGeom>
          <a:ln w="19050">
            <a:solidFill>
              <a:srgbClr val="00B050">
                <a:alpha val="80000"/>
              </a:srgbClr>
            </a:solidFill>
            <a:prstDash val="sysDot"/>
            <a:tailEnd type="triangle"/>
          </a:ln>
        </p:spPr>
        <p:style>
          <a:lnRef idx="1">
            <a:schemeClr val="accent1"/>
          </a:lnRef>
          <a:fillRef idx="0">
            <a:schemeClr val="accent1"/>
          </a:fillRef>
          <a:effectRef idx="0">
            <a:schemeClr val="accent1"/>
          </a:effectRef>
          <a:fontRef idx="minor">
            <a:schemeClr val="tx1"/>
          </a:fontRef>
        </p:style>
      </p:cxnSp>
      <p:pic>
        <p:nvPicPr>
          <p:cNvPr id="45" name="図 44" descr="グラフィカル ユーザー インターフェイス, アプリケーション, Teams&#10;&#10;AI 生成コンテンツは誤りを含む可能性があります。">
            <a:extLst>
              <a:ext uri="{FF2B5EF4-FFF2-40B4-BE49-F238E27FC236}">
                <a16:creationId xmlns:a16="http://schemas.microsoft.com/office/drawing/2014/main" id="{E91CA7A5-62B3-F1F8-38C3-DDCE33E1CC3D}"/>
              </a:ext>
            </a:extLst>
          </p:cNvPr>
          <p:cNvPicPr>
            <a:picLocks noChangeAspect="1"/>
          </p:cNvPicPr>
          <p:nvPr/>
        </p:nvPicPr>
        <p:blipFill>
          <a:blip r:embed="rId2" cstate="print">
            <a:extLst>
              <a:ext uri="{28A0092B-C50C-407E-A947-70E740481C1C}">
                <a14:useLocalDpi xmlns:a14="http://schemas.microsoft.com/office/drawing/2010/main" val="0"/>
              </a:ext>
            </a:extLst>
          </a:blip>
          <a:srcRect t="4580"/>
          <a:stretch>
            <a:fillRect/>
          </a:stretch>
        </p:blipFill>
        <p:spPr>
          <a:xfrm>
            <a:off x="7518319" y="2173082"/>
            <a:ext cx="1000253" cy="1694141"/>
          </a:xfrm>
          <a:prstGeom prst="rect">
            <a:avLst/>
          </a:prstGeom>
        </p:spPr>
      </p:pic>
      <p:pic>
        <p:nvPicPr>
          <p:cNvPr id="46" name="図 45" descr="電卓の写真のスマートフォンのスクリーンショット&#10;&#10;AI 生成コンテンツは誤りを含む可能性があります。">
            <a:extLst>
              <a:ext uri="{FF2B5EF4-FFF2-40B4-BE49-F238E27FC236}">
                <a16:creationId xmlns:a16="http://schemas.microsoft.com/office/drawing/2014/main" id="{31EEAD2C-3BE8-0210-FD8E-46D52B30A0AE}"/>
              </a:ext>
            </a:extLst>
          </p:cNvPr>
          <p:cNvPicPr>
            <a:picLocks noChangeAspect="1"/>
          </p:cNvPicPr>
          <p:nvPr/>
        </p:nvPicPr>
        <p:blipFill>
          <a:blip r:embed="rId3" cstate="print">
            <a:extLst>
              <a:ext uri="{28A0092B-C50C-407E-A947-70E740481C1C}">
                <a14:useLocalDpi xmlns:a14="http://schemas.microsoft.com/office/drawing/2010/main" val="0"/>
              </a:ext>
            </a:extLst>
          </a:blip>
          <a:srcRect t="4580"/>
          <a:stretch>
            <a:fillRect/>
          </a:stretch>
        </p:blipFill>
        <p:spPr>
          <a:xfrm>
            <a:off x="7527889" y="4316771"/>
            <a:ext cx="1000253" cy="1694142"/>
          </a:xfrm>
          <a:prstGeom prst="rect">
            <a:avLst/>
          </a:prstGeom>
        </p:spPr>
      </p:pic>
      <p:sp>
        <p:nvSpPr>
          <p:cNvPr id="48" name="テキスト ボックス 47">
            <a:extLst>
              <a:ext uri="{FF2B5EF4-FFF2-40B4-BE49-F238E27FC236}">
                <a16:creationId xmlns:a16="http://schemas.microsoft.com/office/drawing/2014/main" id="{E989AEB3-EF0E-8885-B426-8B6A5E01F40A}"/>
              </a:ext>
            </a:extLst>
          </p:cNvPr>
          <p:cNvSpPr txBox="1"/>
          <p:nvPr/>
        </p:nvSpPr>
        <p:spPr>
          <a:xfrm>
            <a:off x="6161261" y="2335961"/>
            <a:ext cx="1227667" cy="400110"/>
          </a:xfrm>
          <a:prstGeom prst="rect">
            <a:avLst/>
          </a:prstGeom>
          <a:noFill/>
        </p:spPr>
        <p:txBody>
          <a:bodyPr wrap="square" lIns="74295" rIns="74295">
            <a:spAutoFit/>
          </a:bodyPr>
          <a:lstStyle/>
          <a:p>
            <a:r>
              <a:rPr lang="ja-JP" altLang="en-US" sz="1000" b="1" dirty="0">
                <a:latin typeface="メイリオ" panose="020B0604030504040204" pitchFamily="50" charset="-128"/>
                <a:ea typeface="メイリオ" panose="020B0604030504040204" pitchFamily="50" charset="-128"/>
                <a:cs typeface="メイリオ"/>
              </a:rPr>
              <a:t>友だち登録ページ</a:t>
            </a:r>
            <a:r>
              <a:rPr lang="ja-JP" altLang="en-US" sz="1000" dirty="0">
                <a:latin typeface="メイリオ" panose="020B0604030504040204" pitchFamily="50" charset="-128"/>
                <a:ea typeface="メイリオ" panose="020B0604030504040204" pitchFamily="50" charset="-128"/>
                <a:cs typeface="メイリオ"/>
              </a:rPr>
              <a:t>へ遷移する。</a:t>
            </a:r>
          </a:p>
        </p:txBody>
      </p:sp>
      <p:sp>
        <p:nvSpPr>
          <p:cNvPr id="49" name="テキスト ボックス 48">
            <a:extLst>
              <a:ext uri="{FF2B5EF4-FFF2-40B4-BE49-F238E27FC236}">
                <a16:creationId xmlns:a16="http://schemas.microsoft.com/office/drawing/2014/main" id="{4E6D08E3-E0B3-1DF4-0533-E4EE67240415}"/>
              </a:ext>
            </a:extLst>
          </p:cNvPr>
          <p:cNvSpPr txBox="1"/>
          <p:nvPr/>
        </p:nvSpPr>
        <p:spPr>
          <a:xfrm>
            <a:off x="6157879" y="4570201"/>
            <a:ext cx="1338278" cy="400110"/>
          </a:xfrm>
          <a:prstGeom prst="rect">
            <a:avLst/>
          </a:prstGeom>
          <a:noFill/>
        </p:spPr>
        <p:txBody>
          <a:bodyPr wrap="square" lIns="74295" rIns="74295">
            <a:spAutoFit/>
          </a:bodyPr>
          <a:lstStyle/>
          <a:p>
            <a:r>
              <a:rPr lang="ja-JP" altLang="en-US" sz="1000" b="1" dirty="0">
                <a:latin typeface="メイリオ" panose="020B0604030504040204" pitchFamily="50" charset="-128"/>
                <a:ea typeface="メイリオ" panose="020B0604030504040204" pitchFamily="50" charset="-128"/>
                <a:cs typeface="メイリオ"/>
              </a:rPr>
              <a:t>トーク画面</a:t>
            </a:r>
            <a:r>
              <a:rPr lang="ja-JP" altLang="en-US" sz="1000" dirty="0">
                <a:latin typeface="メイリオ" panose="020B0604030504040204" pitchFamily="50" charset="-128"/>
                <a:ea typeface="メイリオ" panose="020B0604030504040204" pitchFamily="50" charset="-128"/>
                <a:cs typeface="メイリオ"/>
              </a:rPr>
              <a:t>へ</a:t>
            </a:r>
            <a:endParaRPr lang="en-US" altLang="ja-JP" sz="1000" dirty="0">
              <a:latin typeface="メイリオ" panose="020B0604030504040204" pitchFamily="50" charset="-128"/>
              <a:ea typeface="メイリオ" panose="020B0604030504040204" pitchFamily="50" charset="-128"/>
              <a:cs typeface="メイリオ"/>
            </a:endParaRPr>
          </a:p>
          <a:p>
            <a:r>
              <a:rPr lang="ja-JP" altLang="en-US" sz="1000" dirty="0">
                <a:latin typeface="メイリオ" panose="020B0604030504040204" pitchFamily="50" charset="-128"/>
                <a:ea typeface="メイリオ" panose="020B0604030504040204" pitchFamily="50" charset="-128"/>
                <a:cs typeface="メイリオ"/>
              </a:rPr>
              <a:t>遷移する。</a:t>
            </a:r>
            <a:endParaRPr lang="en-US" altLang="ja-JP" sz="1000" dirty="0">
              <a:latin typeface="メイリオ" panose="020B0604030504040204" pitchFamily="50" charset="-128"/>
              <a:ea typeface="メイリオ" panose="020B0604030504040204" pitchFamily="50" charset="-128"/>
              <a:cs typeface="メイリオ"/>
            </a:endParaRPr>
          </a:p>
        </p:txBody>
      </p:sp>
      <p:pic>
        <p:nvPicPr>
          <p:cNvPr id="56" name="図 55">
            <a:extLst>
              <a:ext uri="{FF2B5EF4-FFF2-40B4-BE49-F238E27FC236}">
                <a16:creationId xmlns:a16="http://schemas.microsoft.com/office/drawing/2014/main" id="{0B7B313D-7D5F-4357-9B38-DFC3DBC5FCF6}"/>
              </a:ext>
            </a:extLst>
          </p:cNvPr>
          <p:cNvPicPr>
            <a:picLocks noChangeAspect="1"/>
          </p:cNvPicPr>
          <p:nvPr/>
        </p:nvPicPr>
        <p:blipFill>
          <a:blip r:embed="rId4"/>
          <a:stretch>
            <a:fillRect/>
          </a:stretch>
        </p:blipFill>
        <p:spPr>
          <a:xfrm>
            <a:off x="7557873" y="2950101"/>
            <a:ext cx="921141" cy="89556"/>
          </a:xfrm>
          <a:prstGeom prst="rect">
            <a:avLst/>
          </a:prstGeom>
        </p:spPr>
      </p:pic>
      <p:pic>
        <p:nvPicPr>
          <p:cNvPr id="57" name="図 56">
            <a:extLst>
              <a:ext uri="{FF2B5EF4-FFF2-40B4-BE49-F238E27FC236}">
                <a16:creationId xmlns:a16="http://schemas.microsoft.com/office/drawing/2014/main" id="{A8EA42C4-338F-850B-B276-B83DC2A73148}"/>
              </a:ext>
            </a:extLst>
          </p:cNvPr>
          <p:cNvPicPr>
            <a:picLocks noChangeAspect="1"/>
          </p:cNvPicPr>
          <p:nvPr/>
        </p:nvPicPr>
        <p:blipFill>
          <a:blip r:embed="rId5"/>
          <a:stretch>
            <a:fillRect/>
          </a:stretch>
        </p:blipFill>
        <p:spPr>
          <a:xfrm>
            <a:off x="7825776" y="2949394"/>
            <a:ext cx="389971" cy="86660"/>
          </a:xfrm>
          <a:prstGeom prst="rect">
            <a:avLst/>
          </a:prstGeom>
        </p:spPr>
      </p:pic>
      <p:pic>
        <p:nvPicPr>
          <p:cNvPr id="58" name="図 57">
            <a:extLst>
              <a:ext uri="{FF2B5EF4-FFF2-40B4-BE49-F238E27FC236}">
                <a16:creationId xmlns:a16="http://schemas.microsoft.com/office/drawing/2014/main" id="{CCB04072-A708-EEE7-1345-D4C9E9FA9C1D}"/>
              </a:ext>
            </a:extLst>
          </p:cNvPr>
          <p:cNvPicPr>
            <a:picLocks noChangeAspect="1"/>
          </p:cNvPicPr>
          <p:nvPr/>
        </p:nvPicPr>
        <p:blipFill>
          <a:blip r:embed="rId5"/>
          <a:stretch>
            <a:fillRect/>
          </a:stretch>
        </p:blipFill>
        <p:spPr>
          <a:xfrm>
            <a:off x="7849883" y="4314411"/>
            <a:ext cx="271710" cy="60381"/>
          </a:xfrm>
          <a:prstGeom prst="rect">
            <a:avLst/>
          </a:prstGeom>
        </p:spPr>
      </p:pic>
      <p:pic>
        <p:nvPicPr>
          <p:cNvPr id="59" name="図 58">
            <a:extLst>
              <a:ext uri="{FF2B5EF4-FFF2-40B4-BE49-F238E27FC236}">
                <a16:creationId xmlns:a16="http://schemas.microsoft.com/office/drawing/2014/main" id="{EDED354B-362F-AAF7-76A6-52D8547EDC91}"/>
              </a:ext>
            </a:extLst>
          </p:cNvPr>
          <p:cNvPicPr>
            <a:picLocks noChangeAspect="1"/>
          </p:cNvPicPr>
          <p:nvPr/>
        </p:nvPicPr>
        <p:blipFill>
          <a:blip r:embed="rId5"/>
          <a:stretch>
            <a:fillRect/>
          </a:stretch>
        </p:blipFill>
        <p:spPr>
          <a:xfrm>
            <a:off x="7973708" y="4438236"/>
            <a:ext cx="271710" cy="60381"/>
          </a:xfrm>
          <a:prstGeom prst="rect">
            <a:avLst/>
          </a:prstGeom>
        </p:spPr>
      </p:pic>
      <p:sp>
        <p:nvSpPr>
          <p:cNvPr id="1030" name="楕円 1029">
            <a:extLst>
              <a:ext uri="{FF2B5EF4-FFF2-40B4-BE49-F238E27FC236}">
                <a16:creationId xmlns:a16="http://schemas.microsoft.com/office/drawing/2014/main" id="{A0934BB8-8F8D-D4F0-8D59-8F32A6A6E03A}"/>
              </a:ext>
            </a:extLst>
          </p:cNvPr>
          <p:cNvSpPr/>
          <p:nvPr/>
        </p:nvSpPr>
        <p:spPr>
          <a:xfrm>
            <a:off x="7855110" y="2591706"/>
            <a:ext cx="321750" cy="321750"/>
          </a:xfrm>
          <a:prstGeom prst="ellipse">
            <a:avLst/>
          </a:prstGeom>
          <a:solidFill>
            <a:schemeClr val="bg1">
              <a:lumMod val="95000"/>
            </a:schemeClr>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ja-JP" altLang="en-US" sz="700" dirty="0">
                <a:solidFill>
                  <a:schemeClr val="tx1"/>
                </a:solidFill>
                <a:latin typeface="メイリオ" panose="020B0604030504040204" pitchFamily="50" charset="-128"/>
                <a:ea typeface="メイリオ" panose="020B0604030504040204" pitchFamily="50" charset="-128"/>
                <a:cs typeface="メイリオ"/>
              </a:rPr>
              <a:t>ロゴ</a:t>
            </a:r>
          </a:p>
        </p:txBody>
      </p:sp>
      <p:sp>
        <p:nvSpPr>
          <p:cNvPr id="34" name="正方形/長方形 33">
            <a:extLst>
              <a:ext uri="{FF2B5EF4-FFF2-40B4-BE49-F238E27FC236}">
                <a16:creationId xmlns:a16="http://schemas.microsoft.com/office/drawing/2014/main" id="{A593FC72-954C-48DC-E845-1A5FCE4C9E00}"/>
              </a:ext>
            </a:extLst>
          </p:cNvPr>
          <p:cNvSpPr/>
          <p:nvPr/>
        </p:nvSpPr>
        <p:spPr>
          <a:xfrm>
            <a:off x="693249" y="1644209"/>
            <a:ext cx="1142154" cy="2841034"/>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endParaRPr lang="ja-JP" altLang="en-US">
              <a:latin typeface="メイリオ"/>
              <a:ea typeface="メイリオ"/>
              <a:cs typeface="メイリオ"/>
            </a:endParaRPr>
          </a:p>
        </p:txBody>
      </p:sp>
      <p:sp>
        <p:nvSpPr>
          <p:cNvPr id="36" name="二等辺三角形 35">
            <a:extLst>
              <a:ext uri="{FF2B5EF4-FFF2-40B4-BE49-F238E27FC236}">
                <a16:creationId xmlns:a16="http://schemas.microsoft.com/office/drawing/2014/main" id="{626832A8-575E-5E2B-73F4-BE5567514E57}"/>
              </a:ext>
            </a:extLst>
          </p:cNvPr>
          <p:cNvSpPr/>
          <p:nvPr/>
        </p:nvSpPr>
        <p:spPr>
          <a:xfrm rot="5400000">
            <a:off x="1869100" y="2879016"/>
            <a:ext cx="205320" cy="182781"/>
          </a:xfrm>
          <a:prstGeom prst="triangl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endParaRPr lang="ja-JP" altLang="en-US">
              <a:latin typeface="メイリオ"/>
              <a:ea typeface="メイリオ"/>
              <a:cs typeface="メイリオ"/>
            </a:endParaRPr>
          </a:p>
        </p:txBody>
      </p:sp>
      <p:sp>
        <p:nvSpPr>
          <p:cNvPr id="38" name="正方形/長方形 37">
            <a:extLst>
              <a:ext uri="{FF2B5EF4-FFF2-40B4-BE49-F238E27FC236}">
                <a16:creationId xmlns:a16="http://schemas.microsoft.com/office/drawing/2014/main" id="{28671F13-F479-AFF6-9832-C7C00D2D05EE}"/>
              </a:ext>
            </a:extLst>
          </p:cNvPr>
          <p:cNvSpPr/>
          <p:nvPr/>
        </p:nvSpPr>
        <p:spPr>
          <a:xfrm>
            <a:off x="693249" y="4241092"/>
            <a:ext cx="1142154" cy="244151"/>
          </a:xfrm>
          <a:prstGeom prst="rect">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ja-JP" altLang="en-US" sz="850" b="1" dirty="0">
                <a:solidFill>
                  <a:schemeClr val="tx1"/>
                </a:solidFill>
                <a:latin typeface="メイリオ" panose="020B0604030504040204" pitchFamily="50" charset="-128"/>
                <a:ea typeface="メイリオ" panose="020B0604030504040204" pitchFamily="50" charset="-128"/>
                <a:cs typeface="メイリオ"/>
              </a:rPr>
              <a:t>フォーム入力</a:t>
            </a:r>
          </a:p>
        </p:txBody>
      </p:sp>
      <p:pic>
        <p:nvPicPr>
          <p:cNvPr id="55" name="図 54">
            <a:extLst>
              <a:ext uri="{FF2B5EF4-FFF2-40B4-BE49-F238E27FC236}">
                <a16:creationId xmlns:a16="http://schemas.microsoft.com/office/drawing/2014/main" id="{8AF12F67-4C9A-867F-4608-8FE9DA811630}"/>
              </a:ext>
            </a:extLst>
          </p:cNvPr>
          <p:cNvPicPr>
            <a:picLocks noChangeAspect="1"/>
          </p:cNvPicPr>
          <p:nvPr/>
        </p:nvPicPr>
        <p:blipFill>
          <a:blip r:embed="rId6"/>
          <a:stretch>
            <a:fillRect/>
          </a:stretch>
        </p:blipFill>
        <p:spPr>
          <a:xfrm>
            <a:off x="760471" y="2042343"/>
            <a:ext cx="1015294" cy="1834505"/>
          </a:xfrm>
          <a:prstGeom prst="rect">
            <a:avLst/>
          </a:prstGeom>
        </p:spPr>
      </p:pic>
      <p:sp>
        <p:nvSpPr>
          <p:cNvPr id="1032" name="正方形/長方形 1031">
            <a:extLst>
              <a:ext uri="{FF2B5EF4-FFF2-40B4-BE49-F238E27FC236}">
                <a16:creationId xmlns:a16="http://schemas.microsoft.com/office/drawing/2014/main" id="{D1D96D42-255C-636E-49E5-2CDA95DD6764}"/>
              </a:ext>
            </a:extLst>
          </p:cNvPr>
          <p:cNvSpPr/>
          <p:nvPr/>
        </p:nvSpPr>
        <p:spPr>
          <a:xfrm>
            <a:off x="2102458" y="1617265"/>
            <a:ext cx="1225682" cy="2841034"/>
          </a:xfrm>
          <a:prstGeom prst="rect">
            <a:avLst/>
          </a:prstGeom>
          <a:solidFill>
            <a:schemeClr val="bg1"/>
          </a:solid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endParaRPr lang="ja-JP" altLang="en-US">
              <a:latin typeface="メイリオ"/>
              <a:ea typeface="メイリオ"/>
              <a:cs typeface="メイリオ"/>
            </a:endParaRPr>
          </a:p>
        </p:txBody>
      </p:sp>
      <p:sp>
        <p:nvSpPr>
          <p:cNvPr id="1034" name="正方形/長方形 1033">
            <a:extLst>
              <a:ext uri="{FF2B5EF4-FFF2-40B4-BE49-F238E27FC236}">
                <a16:creationId xmlns:a16="http://schemas.microsoft.com/office/drawing/2014/main" id="{8693E451-BCB1-207B-6B73-131F2A8588BF}"/>
              </a:ext>
            </a:extLst>
          </p:cNvPr>
          <p:cNvSpPr/>
          <p:nvPr/>
        </p:nvSpPr>
        <p:spPr>
          <a:xfrm>
            <a:off x="2100228" y="4219785"/>
            <a:ext cx="1225683" cy="244151"/>
          </a:xfrm>
          <a:prstGeom prst="rect">
            <a:avLst/>
          </a:prstGeom>
          <a:solidFill>
            <a:schemeClr val="tx1">
              <a:lumMod val="65000"/>
              <a:lumOff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ja-JP" altLang="en-US" sz="850" b="1" dirty="0">
                <a:latin typeface="メイリオ" panose="020B0604030504040204" pitchFamily="50" charset="-128"/>
                <a:ea typeface="メイリオ" panose="020B0604030504040204" pitchFamily="50" charset="-128"/>
                <a:cs typeface="メイリオ"/>
              </a:rPr>
              <a:t>サンクス画面へ</a:t>
            </a:r>
            <a:endParaRPr lang="en-US" altLang="ja-JP" sz="850" b="1" dirty="0">
              <a:latin typeface="メイリオ" panose="020B0604030504040204" pitchFamily="50" charset="-128"/>
              <a:ea typeface="メイリオ" panose="020B0604030504040204" pitchFamily="50" charset="-128"/>
              <a:cs typeface="メイリオ"/>
            </a:endParaRPr>
          </a:p>
        </p:txBody>
      </p:sp>
      <p:pic>
        <p:nvPicPr>
          <p:cNvPr id="1038" name="図 1037" descr="テキスト, 手紙&#10;&#10;AI 生成コンテンツは誤りを含む可能性があります。">
            <a:extLst>
              <a:ext uri="{FF2B5EF4-FFF2-40B4-BE49-F238E27FC236}">
                <a16:creationId xmlns:a16="http://schemas.microsoft.com/office/drawing/2014/main" id="{85260668-6C66-A032-FFE0-0276021F9433}"/>
              </a:ext>
            </a:extLst>
          </p:cNvPr>
          <p:cNvPicPr>
            <a:picLocks noChangeAspect="1"/>
          </p:cNvPicPr>
          <p:nvPr/>
        </p:nvPicPr>
        <p:blipFill>
          <a:blip r:embed="rId7" cstate="print">
            <a:extLst>
              <a:ext uri="{28A0092B-C50C-407E-A947-70E740481C1C}">
                <a14:useLocalDpi xmlns:a14="http://schemas.microsoft.com/office/drawing/2010/main" val="0"/>
              </a:ext>
            </a:extLst>
          </a:blip>
          <a:srcRect t="4580"/>
          <a:stretch>
            <a:fillRect/>
          </a:stretch>
        </p:blipFill>
        <p:spPr>
          <a:xfrm>
            <a:off x="2195552" y="2083381"/>
            <a:ext cx="1066362" cy="1789421"/>
          </a:xfrm>
          <a:prstGeom prst="rect">
            <a:avLst/>
          </a:prstGeom>
        </p:spPr>
      </p:pic>
      <p:pic>
        <p:nvPicPr>
          <p:cNvPr id="1039" name="Picture 2" descr="買い物完了！イラスト｜無料イラスト・フリー素材なら「イラストAC」">
            <a:extLst>
              <a:ext uri="{FF2B5EF4-FFF2-40B4-BE49-F238E27FC236}">
                <a16:creationId xmlns:a16="http://schemas.microsoft.com/office/drawing/2014/main" id="{23D05307-D6FE-6284-27D3-3433EE0122E2}"/>
              </a:ext>
            </a:extLst>
          </p:cNvPr>
          <p:cNvPicPr>
            <a:picLocks noChangeAspect="1" noChangeArrowheads="1"/>
          </p:cNvPicPr>
          <p:nvPr/>
        </p:nvPicPr>
        <p:blipFill rotWithShape="1">
          <a:blip r:embed="rId8" cstate="print">
            <a:extLst>
              <a:ext uri="{28A0092B-C50C-407E-A947-70E740481C1C}">
                <a14:useLocalDpi xmlns:a14="http://schemas.microsoft.com/office/drawing/2010/main" val="0"/>
              </a:ext>
            </a:extLst>
          </a:blip>
          <a:srcRect l="20270" r="23682"/>
          <a:stretch>
            <a:fillRect/>
          </a:stretch>
        </p:blipFill>
        <p:spPr bwMode="auto">
          <a:xfrm>
            <a:off x="3292898" y="1459246"/>
            <a:ext cx="250223" cy="335086"/>
          </a:xfrm>
          <a:prstGeom prst="rect">
            <a:avLst/>
          </a:prstGeom>
          <a:noFill/>
          <a:extLst>
            <a:ext uri="{909E8E84-426E-40DD-AFC4-6F175D3DCCD1}">
              <a14:hiddenFill xmlns:a14="http://schemas.microsoft.com/office/drawing/2010/main">
                <a:solidFill>
                  <a:srgbClr val="FFFFFF"/>
                </a:solidFill>
              </a14:hiddenFill>
            </a:ext>
          </a:extLst>
        </p:spPr>
      </p:pic>
      <p:grpSp>
        <p:nvGrpSpPr>
          <p:cNvPr id="3" name="グループ化 2">
            <a:extLst>
              <a:ext uri="{FF2B5EF4-FFF2-40B4-BE49-F238E27FC236}">
                <a16:creationId xmlns:a16="http://schemas.microsoft.com/office/drawing/2014/main" id="{E76D8F54-2926-2D56-7238-F66ACCBC4F20}"/>
              </a:ext>
            </a:extLst>
          </p:cNvPr>
          <p:cNvGrpSpPr/>
          <p:nvPr/>
        </p:nvGrpSpPr>
        <p:grpSpPr>
          <a:xfrm>
            <a:off x="1261302" y="837894"/>
            <a:ext cx="2523077" cy="485102"/>
            <a:chOff x="507969" y="928495"/>
            <a:chExt cx="3105325" cy="485102"/>
          </a:xfrm>
        </p:grpSpPr>
        <p:sp>
          <p:nvSpPr>
            <p:cNvPr id="4" name="Google Shape;51;p19">
              <a:extLst>
                <a:ext uri="{FF2B5EF4-FFF2-40B4-BE49-F238E27FC236}">
                  <a16:creationId xmlns:a16="http://schemas.microsoft.com/office/drawing/2014/main" id="{98F6BB16-EFC6-9846-2A11-E624E876E64B}"/>
                </a:ext>
              </a:extLst>
            </p:cNvPr>
            <p:cNvSpPr/>
            <p:nvPr/>
          </p:nvSpPr>
          <p:spPr>
            <a:xfrm>
              <a:off x="507969" y="928495"/>
              <a:ext cx="3105325" cy="485102"/>
            </a:xfrm>
            <a:prstGeom prst="roundRect">
              <a:avLst>
                <a:gd name="adj" fmla="val 16667"/>
              </a:avLst>
            </a:prstGeom>
            <a:solidFill>
              <a:schemeClr val="dk1"/>
            </a:solidFill>
            <a:ln>
              <a:noFill/>
            </a:ln>
          </p:spPr>
          <p:txBody>
            <a:bodyPr spcFirstLastPara="1" wrap="square" lIns="74282" tIns="45700" rIns="74282"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9pPr>
            </a:lstStyle>
            <a:p>
              <a:pPr algn="ctr">
                <a:buSzPts val="1400"/>
              </a:pPr>
              <a:endParaRPr b="1" dirty="0">
                <a:solidFill>
                  <a:schemeClr val="lt1"/>
                </a:solidFill>
                <a:latin typeface="メイリオ"/>
                <a:ea typeface="メイリオ"/>
                <a:cs typeface="メイリオ"/>
                <a:sym typeface="Meiryo"/>
              </a:endParaRPr>
            </a:p>
          </p:txBody>
        </p:sp>
        <p:sp>
          <p:nvSpPr>
            <p:cNvPr id="5" name="テキスト ボックス 4">
              <a:extLst>
                <a:ext uri="{FF2B5EF4-FFF2-40B4-BE49-F238E27FC236}">
                  <a16:creationId xmlns:a16="http://schemas.microsoft.com/office/drawing/2014/main" id="{560EDF30-5F09-B70A-2993-8CD4F9E40EFA}"/>
                </a:ext>
              </a:extLst>
            </p:cNvPr>
            <p:cNvSpPr txBox="1"/>
            <p:nvPr/>
          </p:nvSpPr>
          <p:spPr>
            <a:xfrm>
              <a:off x="1140096" y="988192"/>
              <a:ext cx="1832553" cy="357790"/>
            </a:xfrm>
            <a:prstGeom prst="rect">
              <a:avLst/>
            </a:prstGeom>
            <a:noFill/>
          </p:spPr>
          <p:txBody>
            <a:bodyPr wrap="none" lIns="74295" rIns="74295"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9pPr>
            </a:lstStyle>
            <a:p>
              <a:pPr>
                <a:lnSpc>
                  <a:spcPct val="120000"/>
                </a:lnSpc>
              </a:pPr>
              <a:r>
                <a:rPr lang="ja-JP" altLang="en-US" sz="1200" b="1" dirty="0">
                  <a:solidFill>
                    <a:schemeClr val="bg1"/>
                  </a:solidFill>
                  <a:latin typeface="メイリオ" panose="020B0604030504040204" pitchFamily="34" charset="-128"/>
                  <a:ea typeface="メイリオ" panose="020B0604030504040204" pitchFamily="34" charset="-128"/>
                  <a:cs typeface="メイリオ"/>
                </a:rPr>
                <a:t>サンクス</a:t>
              </a:r>
              <a:r>
                <a:rPr lang="en-US" altLang="ja-JP" sz="1200" b="1" dirty="0">
                  <a:solidFill>
                    <a:schemeClr val="bg1"/>
                  </a:solidFill>
                  <a:latin typeface="メイリオ" panose="020B0604030504040204" pitchFamily="34" charset="-128"/>
                  <a:ea typeface="メイリオ" panose="020B0604030504040204" pitchFamily="34" charset="-128"/>
                  <a:cs typeface="メイリオ"/>
                </a:rPr>
                <a:t>LINE</a:t>
              </a:r>
              <a:r>
                <a:rPr lang="ja-JP" altLang="en-US" sz="1200" b="1" dirty="0">
                  <a:solidFill>
                    <a:schemeClr val="bg1"/>
                  </a:solidFill>
                  <a:latin typeface="メイリオ" panose="020B0604030504040204" pitchFamily="34" charset="-128"/>
                  <a:ea typeface="メイリオ" panose="020B0604030504040204" pitchFamily="34" charset="-128"/>
                  <a:cs typeface="メイリオ"/>
                </a:rPr>
                <a:t>誘導</a:t>
              </a:r>
            </a:p>
          </p:txBody>
        </p:sp>
      </p:grpSp>
      <p:sp>
        <p:nvSpPr>
          <p:cNvPr id="9" name="正方形/長方形 8">
            <a:extLst>
              <a:ext uri="{FF2B5EF4-FFF2-40B4-BE49-F238E27FC236}">
                <a16:creationId xmlns:a16="http://schemas.microsoft.com/office/drawing/2014/main" id="{DC4FF56C-47EE-47DB-92F1-3F0EF57613D9}"/>
              </a:ext>
            </a:extLst>
          </p:cNvPr>
          <p:cNvSpPr/>
          <p:nvPr/>
        </p:nvSpPr>
        <p:spPr>
          <a:xfrm>
            <a:off x="3931920" y="1371600"/>
            <a:ext cx="4754880" cy="274320"/>
          </a:xfrm>
          <a:prstGeom prst="rect">
            <a:avLst/>
          </a:prstGeom>
        </p:spPr>
        <p:txBody>
          <a:bodyPr wrap="square" lIns="74295" rIns="74295">
            <a:spAutoFit/>
          </a:bodyPr>
          <a:lstStyle/>
          <a:p>
            <a:pPr lvl="0">
              <a:buClr>
                <a:schemeClr val="dk1"/>
              </a:buClr>
              <a:buSzPts val="1500"/>
            </a:pPr>
            <a:r>
              <a:rPr lang="ja-JP" altLang="en-US" sz="1300" dirty="0">
                <a:latin typeface="メイリオ"/>
                <a:ea typeface="メイリオ"/>
                <a:cs typeface="メイリオ"/>
                <a:sym typeface="Meiryo"/>
              </a:rPr>
              <a:t>予約後のLINE誘導を自動化し、開催時期の友だち数を上積み</a:t>
            </a:r>
            <a:endParaRPr lang="en-US" altLang="ja-JP" sz="1400" dirty="0">
              <a:latin typeface="メイリオ"/>
              <a:ea typeface="メイリオ"/>
              <a:cs typeface="メイリオ"/>
              <a:sym typeface="Meiryo"/>
            </a:endParaRPr>
          </a:p>
        </p:txBody>
      </p:sp>
      <p:sp>
        <p:nvSpPr>
          <p:cNvPr id="14" name="テキスト ボックス 13">
            <a:extLst>
              <a:ext uri="{FF2B5EF4-FFF2-40B4-BE49-F238E27FC236}">
                <a16:creationId xmlns:a16="http://schemas.microsoft.com/office/drawing/2014/main" id="{5ED6F7D2-546D-BF9F-9805-58455D7E2831}"/>
              </a:ext>
            </a:extLst>
          </p:cNvPr>
          <p:cNvSpPr txBox="1"/>
          <p:nvPr/>
        </p:nvSpPr>
        <p:spPr>
          <a:xfrm>
            <a:off x="3931920" y="1645920"/>
            <a:ext cx="2148840" cy="201168"/>
          </a:xfrm>
          <a:prstGeom prst="rect">
            <a:avLst/>
          </a:prstGeom>
          <a:noFill/>
        </p:spPr>
        <p:txBody>
          <a:bodyPr wrap="square" lIns="74295" rIns="74295">
            <a:spAutoFit/>
          </a:bodyPr>
          <a:lstStyle/>
          <a:p>
            <a:r>
              <a:rPr lang="en-US" altLang="ja-JP" sz="900" dirty="0">
                <a:solidFill>
                  <a:srgbClr val="1F2A5C"/>
                </a:solidFill>
                <a:latin typeface="メイリオ" panose="020B0604030504040204" pitchFamily="50" charset="-128"/>
                <a:ea typeface="メイリオ" panose="020B0604030504040204" pitchFamily="50" charset="-128"/>
                <a:cs typeface="メイリオ"/>
                <a:sym typeface="Meiryo"/>
              </a:rPr>
              <a:t>※既存APIツールとの併用も可能</a:t>
            </a:r>
            <a:endParaRPr lang="ja-JP" altLang="en-US" sz="900" dirty="0">
              <a:solidFill>
                <a:srgbClr val="1F2A5C"/>
              </a:solidFill>
              <a:latin typeface="メイリオ"/>
              <a:ea typeface="メイリオ"/>
              <a:cs typeface="メイリオ"/>
            </a:endParaRPr>
          </a:p>
        </p:txBody>
      </p:sp>
      <p:sp>
        <p:nvSpPr>
          <p:cNvPr id="8" name="正方形/長方形 7">
            <a:extLst>
              <a:ext uri="{FF2B5EF4-FFF2-40B4-BE49-F238E27FC236}">
                <a16:creationId xmlns:a16="http://schemas.microsoft.com/office/drawing/2014/main" id="{F5B8C83A-7191-D772-EF88-AE268D007E63}"/>
              </a:ext>
            </a:extLst>
          </p:cNvPr>
          <p:cNvSpPr/>
          <p:nvPr/>
        </p:nvSpPr>
        <p:spPr>
          <a:xfrm>
            <a:off x="6097538" y="1666571"/>
            <a:ext cx="2513872" cy="284744"/>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ja-JP" altLang="en-US" sz="1100" b="1" dirty="0">
                <a:solidFill>
                  <a:schemeClr val="bg1"/>
                </a:solidFill>
                <a:latin typeface="メイリオ" panose="020B0604030504040204" pitchFamily="50" charset="-128"/>
                <a:ea typeface="メイリオ" panose="020B0604030504040204" pitchFamily="50" charset="-128"/>
                <a:cs typeface="メイリオ"/>
              </a:rPr>
              <a:t>動作イメージ</a:t>
            </a:r>
          </a:p>
        </p:txBody>
      </p:sp>
      <p:sp>
        <p:nvSpPr>
          <p:cNvPr id="11" name="正方形/長方形 10">
            <a:extLst>
              <a:ext uri="{FF2B5EF4-FFF2-40B4-BE49-F238E27FC236}">
                <a16:creationId xmlns:a16="http://schemas.microsoft.com/office/drawing/2014/main" id="{189A6A4C-E34E-E7CF-D6DD-C175E600A94D}"/>
              </a:ext>
            </a:extLst>
          </p:cNvPr>
          <p:cNvSpPr/>
          <p:nvPr/>
        </p:nvSpPr>
        <p:spPr>
          <a:xfrm>
            <a:off x="1209560" y="1525688"/>
            <a:ext cx="1510467" cy="244151"/>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en-US" altLang="ja-JP" sz="950" b="1"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WEB</a:t>
            </a:r>
            <a:r>
              <a:rPr lang="ja-JP" altLang="en-US" sz="950" b="1"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サイト</a:t>
            </a:r>
          </a:p>
        </p:txBody>
      </p:sp>
      <p:pic>
        <p:nvPicPr>
          <p:cNvPr id="18" name="図 17">
            <a:extLst>
              <a:ext uri="{FF2B5EF4-FFF2-40B4-BE49-F238E27FC236}">
                <a16:creationId xmlns:a16="http://schemas.microsoft.com/office/drawing/2014/main" id="{122BEACA-AA0E-EFF8-CDF2-B0A5B58840D0}"/>
              </a:ext>
            </a:extLst>
          </p:cNvPr>
          <p:cNvPicPr>
            <a:picLocks noChangeAspect="1"/>
          </p:cNvPicPr>
          <p:nvPr/>
        </p:nvPicPr>
        <p:blipFill>
          <a:blip r:embed="rId9"/>
          <a:stretch>
            <a:fillRect/>
          </a:stretch>
        </p:blipFill>
        <p:spPr>
          <a:xfrm>
            <a:off x="2412518" y="3590272"/>
            <a:ext cx="379108" cy="69986"/>
          </a:xfrm>
          <a:prstGeom prst="rect">
            <a:avLst/>
          </a:prstGeom>
        </p:spPr>
      </p:pic>
      <p:pic>
        <p:nvPicPr>
          <p:cNvPr id="27" name="図 26">
            <a:extLst>
              <a:ext uri="{FF2B5EF4-FFF2-40B4-BE49-F238E27FC236}">
                <a16:creationId xmlns:a16="http://schemas.microsoft.com/office/drawing/2014/main" id="{D971BE53-7CD8-C375-2A00-B224602AC25F}"/>
              </a:ext>
            </a:extLst>
          </p:cNvPr>
          <p:cNvPicPr>
            <a:picLocks noChangeAspect="1"/>
          </p:cNvPicPr>
          <p:nvPr/>
        </p:nvPicPr>
        <p:blipFill>
          <a:blip r:embed="rId9"/>
          <a:stretch>
            <a:fillRect/>
          </a:stretch>
        </p:blipFill>
        <p:spPr>
          <a:xfrm>
            <a:off x="2234699" y="2111288"/>
            <a:ext cx="379108" cy="69986"/>
          </a:xfrm>
          <a:prstGeom prst="rect">
            <a:avLst/>
          </a:prstGeom>
        </p:spPr>
      </p:pic>
      <p:sp>
        <p:nvSpPr>
          <p:cNvPr id="33" name="四角形: 角を丸くする 32">
            <a:extLst>
              <a:ext uri="{FF2B5EF4-FFF2-40B4-BE49-F238E27FC236}">
                <a16:creationId xmlns:a16="http://schemas.microsoft.com/office/drawing/2014/main" id="{B7D71D80-6086-B1B4-3E2C-EE891B12909E}"/>
              </a:ext>
            </a:extLst>
          </p:cNvPr>
          <p:cNvSpPr/>
          <p:nvPr/>
        </p:nvSpPr>
        <p:spPr>
          <a:xfrm>
            <a:off x="1511868" y="4640731"/>
            <a:ext cx="3960179" cy="659955"/>
          </a:xfrm>
          <a:prstGeom prst="roundRect">
            <a:avLst>
              <a:gd name="adj" fmla="val 25327"/>
            </a:avLst>
          </a:prstGeom>
          <a:solidFill>
            <a:srgbClr val="04FA0A">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ja-JP" altLang="en-US" sz="1300" dirty="0">
                <a:solidFill>
                  <a:schemeClr val="tx1"/>
                </a:solidFill>
                <a:latin typeface="メイリオ" panose="020B0604030504040204" pitchFamily="50" charset="-128"/>
                <a:ea typeface="メイリオ" panose="020B0604030504040204" pitchFamily="50" charset="-128"/>
                <a:cs typeface="メイリオ"/>
              </a:rPr>
              <a:t>フォーム入力内容を</a:t>
            </a:r>
            <a:br>
              <a:rPr lang="en-US" altLang="ja-JP" sz="1300" dirty="0">
                <a:solidFill>
                  <a:schemeClr val="tx1"/>
                </a:solidFill>
                <a:latin typeface="メイリオ" panose="020B0604030504040204" pitchFamily="50" charset="-128"/>
                <a:ea typeface="メイリオ" panose="020B0604030504040204" pitchFamily="50" charset="-128"/>
                <a:cs typeface="メイリオ"/>
              </a:rPr>
            </a:br>
            <a:r>
              <a:rPr lang="en-US" altLang="ja-JP" sz="1300" dirty="0">
                <a:solidFill>
                  <a:schemeClr val="tx1"/>
                </a:solidFill>
                <a:latin typeface="メイリオ" panose="020B0604030504040204" pitchFamily="50" charset="-128"/>
                <a:ea typeface="メイリオ" panose="020B0604030504040204" pitchFamily="50" charset="-128"/>
                <a:cs typeface="メイリオ"/>
              </a:rPr>
              <a:t>LINE</a:t>
            </a:r>
            <a:r>
              <a:rPr lang="ja-JP" altLang="en-US" sz="1300" dirty="0">
                <a:solidFill>
                  <a:schemeClr val="tx1"/>
                </a:solidFill>
                <a:latin typeface="メイリオ" panose="020B0604030504040204" pitchFamily="50" charset="-128"/>
                <a:ea typeface="メイリオ" panose="020B0604030504040204" pitchFamily="50" charset="-128"/>
                <a:cs typeface="メイリオ"/>
              </a:rPr>
              <a:t>トーク入力画面へ引き継ぎ可能</a:t>
            </a:r>
          </a:p>
        </p:txBody>
      </p:sp>
      <p:cxnSp>
        <p:nvCxnSpPr>
          <p:cNvPr id="44" name="直線矢印コネクタ 43">
            <a:extLst>
              <a:ext uri="{FF2B5EF4-FFF2-40B4-BE49-F238E27FC236}">
                <a16:creationId xmlns:a16="http://schemas.microsoft.com/office/drawing/2014/main" id="{666CF79B-D322-06BC-F342-DE710BE7473B}"/>
              </a:ext>
            </a:extLst>
          </p:cNvPr>
          <p:cNvCxnSpPr>
            <a:cxnSpLocks/>
          </p:cNvCxnSpPr>
          <p:nvPr/>
        </p:nvCxnSpPr>
        <p:spPr>
          <a:xfrm flipH="1" flipV="1">
            <a:off x="1145256" y="4485242"/>
            <a:ext cx="515326" cy="485466"/>
          </a:xfrm>
          <a:prstGeom prst="straightConnector1">
            <a:avLst/>
          </a:prstGeom>
          <a:ln w="19050">
            <a:solidFill>
              <a:srgbClr val="00B050">
                <a:alpha val="80000"/>
              </a:srgbClr>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29" name="正方形/長方形 28">
            <a:extLst>
              <a:ext uri="{FF2B5EF4-FFF2-40B4-BE49-F238E27FC236}">
                <a16:creationId xmlns:a16="http://schemas.microsoft.com/office/drawing/2014/main" id="{1D29A9C3-A3E8-0780-A758-0C8E7E376668}"/>
              </a:ext>
            </a:extLst>
          </p:cNvPr>
          <p:cNvSpPr/>
          <p:nvPr/>
        </p:nvSpPr>
        <p:spPr>
          <a:xfrm>
            <a:off x="5284944" y="2415812"/>
            <a:ext cx="530810" cy="1821208"/>
          </a:xfrm>
          <a:prstGeom prst="rect">
            <a:avLst/>
          </a:prstGeom>
          <a:solidFill>
            <a:srgbClr val="04FA0A">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en-US" altLang="ja-JP" sz="950" b="1" dirty="0">
                <a:solidFill>
                  <a:schemeClr val="tx1"/>
                </a:solidFill>
                <a:latin typeface="メイリオ" panose="020B0604030504040204" pitchFamily="50" charset="-128"/>
                <a:ea typeface="メイリオ" panose="020B0604030504040204" pitchFamily="50" charset="-128"/>
                <a:cs typeface="メイリオ"/>
              </a:rPr>
              <a:t>DYM</a:t>
            </a:r>
          </a:p>
          <a:p>
            <a:pPr algn="ctr"/>
            <a:r>
              <a:rPr lang="ja-JP" altLang="en-US" sz="950" b="1" dirty="0">
                <a:solidFill>
                  <a:schemeClr val="tx1"/>
                </a:solidFill>
                <a:latin typeface="メイリオ" panose="020B0604030504040204" pitchFamily="50" charset="-128"/>
                <a:ea typeface="メイリオ" panose="020B0604030504040204" pitchFamily="50" charset="-128"/>
                <a:cs typeface="メイリオ"/>
              </a:rPr>
              <a:t>開発</a:t>
            </a:r>
            <a:endParaRPr lang="en-US" altLang="ja-JP" sz="950" b="1" dirty="0">
              <a:solidFill>
                <a:schemeClr val="tx1"/>
              </a:solidFill>
              <a:latin typeface="メイリオ" panose="020B0604030504040204" pitchFamily="50" charset="-128"/>
              <a:ea typeface="メイリオ" panose="020B0604030504040204" pitchFamily="50" charset="-128"/>
              <a:cs typeface="メイリオ"/>
            </a:endParaRPr>
          </a:p>
          <a:p>
            <a:pPr algn="ctr"/>
            <a:r>
              <a:rPr lang="ja-JP" altLang="en-US" sz="950" b="1" dirty="0">
                <a:solidFill>
                  <a:schemeClr val="tx1"/>
                </a:solidFill>
                <a:latin typeface="メイリオ" panose="020B0604030504040204" pitchFamily="50" charset="-128"/>
                <a:ea typeface="メイリオ" panose="020B0604030504040204" pitchFamily="50" charset="-128"/>
                <a:cs typeface="メイリオ"/>
              </a:rPr>
              <a:t>ツール</a:t>
            </a:r>
            <a:endParaRPr lang="en-US" altLang="ja-JP" sz="95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1048" name="矢印: 右 1047">
            <a:extLst>
              <a:ext uri="{FF2B5EF4-FFF2-40B4-BE49-F238E27FC236}">
                <a16:creationId xmlns:a16="http://schemas.microsoft.com/office/drawing/2014/main" id="{6A5BBE8E-2B42-49E0-686B-A6584B59E72F}"/>
              </a:ext>
            </a:extLst>
          </p:cNvPr>
          <p:cNvSpPr/>
          <p:nvPr/>
        </p:nvSpPr>
        <p:spPr>
          <a:xfrm>
            <a:off x="3398999" y="3203047"/>
            <a:ext cx="1843892" cy="392774"/>
          </a:xfrm>
          <a:prstGeom prst="rightArrow">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endParaRPr lang="ja-JP" altLang="en-US">
              <a:latin typeface="メイリオ"/>
              <a:ea typeface="メイリオ"/>
              <a:cs typeface="メイリオ"/>
            </a:endParaRPr>
          </a:p>
        </p:txBody>
      </p:sp>
      <p:sp>
        <p:nvSpPr>
          <p:cNvPr id="1050" name="吹き出し: 角を丸めた四角形 1049">
            <a:extLst>
              <a:ext uri="{FF2B5EF4-FFF2-40B4-BE49-F238E27FC236}">
                <a16:creationId xmlns:a16="http://schemas.microsoft.com/office/drawing/2014/main" id="{0D7606B7-7AEE-445F-FB97-74913C4A4F60}"/>
              </a:ext>
            </a:extLst>
          </p:cNvPr>
          <p:cNvSpPr/>
          <p:nvPr/>
        </p:nvSpPr>
        <p:spPr>
          <a:xfrm>
            <a:off x="3492025" y="2641849"/>
            <a:ext cx="1624523" cy="476757"/>
          </a:xfrm>
          <a:prstGeom prst="wedgeRoundRectCallout">
            <a:avLst/>
          </a:prstGeom>
          <a:solidFill>
            <a:srgbClr val="FDFDFD"/>
          </a:solidFill>
          <a:ln w="19050">
            <a:solidFill>
              <a:schemeClr val="tx2">
                <a:alpha val="40000"/>
              </a:schemeClr>
            </a:solid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r>
              <a:rPr lang="en-US" altLang="ja-JP" sz="1100" dirty="0">
                <a:solidFill>
                  <a:schemeClr val="tx1"/>
                </a:solidFill>
                <a:latin typeface="メイリオ" panose="020B0604030504040204" pitchFamily="50" charset="-128"/>
                <a:ea typeface="メイリオ" panose="020B0604030504040204" pitchFamily="50" charset="-128"/>
                <a:cs typeface="メイリオ"/>
              </a:rPr>
              <a:t>CV</a:t>
            </a:r>
            <a:r>
              <a:rPr lang="ja-JP" altLang="en-US" sz="1100" dirty="0">
                <a:solidFill>
                  <a:schemeClr val="tx1"/>
                </a:solidFill>
                <a:latin typeface="メイリオ" panose="020B0604030504040204" pitchFamily="50" charset="-128"/>
                <a:ea typeface="メイリオ" panose="020B0604030504040204" pitchFamily="50" charset="-128"/>
                <a:cs typeface="メイリオ"/>
              </a:rPr>
              <a:t>完了後約</a:t>
            </a:r>
            <a:r>
              <a:rPr lang="en-US" altLang="ja-JP" sz="1100" dirty="0">
                <a:solidFill>
                  <a:schemeClr val="tx1"/>
                </a:solidFill>
                <a:latin typeface="メイリオ" panose="020B0604030504040204" pitchFamily="50" charset="-128"/>
                <a:ea typeface="メイリオ" panose="020B0604030504040204" pitchFamily="50" charset="-128"/>
                <a:cs typeface="メイリオ"/>
              </a:rPr>
              <a:t>2~3</a:t>
            </a:r>
            <a:r>
              <a:rPr lang="ja-JP" altLang="en-US" sz="1100" dirty="0">
                <a:solidFill>
                  <a:schemeClr val="tx1"/>
                </a:solidFill>
                <a:latin typeface="メイリオ" panose="020B0604030504040204" pitchFamily="50" charset="-128"/>
                <a:ea typeface="メイリオ" panose="020B0604030504040204" pitchFamily="50" charset="-128"/>
                <a:cs typeface="メイリオ"/>
              </a:rPr>
              <a:t>秒で</a:t>
            </a:r>
            <a:br>
              <a:rPr lang="en-US" altLang="ja-JP" sz="1100" dirty="0">
                <a:solidFill>
                  <a:schemeClr val="tx1"/>
                </a:solidFill>
                <a:latin typeface="メイリオ" panose="020B0604030504040204" pitchFamily="50" charset="-128"/>
                <a:ea typeface="メイリオ" panose="020B0604030504040204" pitchFamily="50" charset="-128"/>
                <a:cs typeface="メイリオ"/>
              </a:rPr>
            </a:br>
            <a:r>
              <a:rPr lang="en-US" altLang="ja-JP" sz="1100" dirty="0">
                <a:solidFill>
                  <a:schemeClr val="tx1"/>
                </a:solidFill>
                <a:latin typeface="メイリオ" panose="020B0604030504040204" pitchFamily="50" charset="-128"/>
                <a:ea typeface="メイリオ" panose="020B0604030504040204" pitchFamily="50" charset="-128"/>
                <a:cs typeface="メイリオ"/>
              </a:rPr>
              <a:t>LINE</a:t>
            </a:r>
            <a:r>
              <a:rPr lang="ja-JP" altLang="en-US" sz="1100" dirty="0">
                <a:solidFill>
                  <a:schemeClr val="tx1"/>
                </a:solidFill>
                <a:latin typeface="メイリオ" panose="020B0604030504040204" pitchFamily="50" charset="-128"/>
                <a:ea typeface="メイリオ" panose="020B0604030504040204" pitchFamily="50" charset="-128"/>
                <a:cs typeface="メイリオ"/>
              </a:rPr>
              <a:t>へ自動遷移</a:t>
            </a:r>
            <a:endParaRPr lang="en-US" altLang="ja-JP" sz="1100" dirty="0">
              <a:solidFill>
                <a:schemeClr val="tx1"/>
              </a:solidFill>
              <a:latin typeface="メイリオ" panose="020B0604030504040204" pitchFamily="50" charset="-128"/>
              <a:ea typeface="メイリオ" panose="020B0604030504040204" pitchFamily="50" charset="-128"/>
              <a:cs typeface="メイリオ"/>
            </a:endParaRPr>
          </a:p>
        </p:txBody>
      </p:sp>
      <p:cxnSp>
        <p:nvCxnSpPr>
          <p:cNvPr id="1052" name="直線矢印コネクタ 1051">
            <a:extLst>
              <a:ext uri="{FF2B5EF4-FFF2-40B4-BE49-F238E27FC236}">
                <a16:creationId xmlns:a16="http://schemas.microsoft.com/office/drawing/2014/main" id="{5B4E7079-E54A-2282-BDB8-487FFE5E8981}"/>
              </a:ext>
            </a:extLst>
          </p:cNvPr>
          <p:cNvCxnSpPr>
            <a:cxnSpLocks/>
          </p:cNvCxnSpPr>
          <p:nvPr/>
        </p:nvCxnSpPr>
        <p:spPr>
          <a:xfrm>
            <a:off x="5242891" y="4971540"/>
            <a:ext cx="2486278" cy="256434"/>
          </a:xfrm>
          <a:prstGeom prst="straightConnector1">
            <a:avLst/>
          </a:prstGeom>
          <a:ln w="19050">
            <a:solidFill>
              <a:srgbClr val="00B050">
                <a:alpha val="80000"/>
              </a:srgbClr>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7" name="矢印: 右 6">
            <a:extLst>
              <a:ext uri="{FF2B5EF4-FFF2-40B4-BE49-F238E27FC236}">
                <a16:creationId xmlns:a16="http://schemas.microsoft.com/office/drawing/2014/main" id="{9EC51A72-DCD0-B1E9-7CCE-6674E65DC641}"/>
              </a:ext>
            </a:extLst>
          </p:cNvPr>
          <p:cNvSpPr/>
          <p:nvPr/>
        </p:nvSpPr>
        <p:spPr>
          <a:xfrm rot="5400000">
            <a:off x="6436767" y="3831408"/>
            <a:ext cx="349205" cy="392774"/>
          </a:xfrm>
          <a:prstGeom prst="rightArrow">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endParaRPr lang="ja-JP" altLang="en-US">
              <a:latin typeface="メイリオ"/>
              <a:ea typeface="メイリオ"/>
              <a:cs typeface="メイリオ"/>
            </a:endParaRPr>
          </a:p>
        </p:txBody>
      </p:sp>
      <p:sp>
        <p:nvSpPr>
          <p:cNvPr id="41" name="四角形: 角を丸くする 40">
            <a:extLst>
              <a:ext uri="{FF2B5EF4-FFF2-40B4-BE49-F238E27FC236}">
                <a16:creationId xmlns:a16="http://schemas.microsoft.com/office/drawing/2014/main" id="{3DEB8AF5-27EB-F2A5-5738-9D4876D62932}"/>
              </a:ext>
            </a:extLst>
          </p:cNvPr>
          <p:cNvSpPr/>
          <p:nvPr/>
        </p:nvSpPr>
        <p:spPr>
          <a:xfrm>
            <a:off x="1331634" y="5386674"/>
            <a:ext cx="3965148" cy="1126724"/>
          </a:xfrm>
          <a:prstGeom prst="roundRect">
            <a:avLst>
              <a:gd name="adj" fmla="val 8129"/>
            </a:avLst>
          </a:prstGeom>
          <a:solidFill>
            <a:schemeClr val="bg1">
              <a:lumMod val="85000"/>
            </a:schemeClr>
          </a:solidFill>
          <a:ln w="1270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pic>
        <p:nvPicPr>
          <p:cNvPr id="43" name="図 42">
            <a:extLst>
              <a:ext uri="{FF2B5EF4-FFF2-40B4-BE49-F238E27FC236}">
                <a16:creationId xmlns:a16="http://schemas.microsoft.com/office/drawing/2014/main" id="{F4AEE4F6-B4F2-3B63-B340-970573C6BC9B}"/>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1407362" y="5422614"/>
            <a:ext cx="1068810" cy="1060107"/>
          </a:xfrm>
          <a:prstGeom prst="rect">
            <a:avLst/>
          </a:prstGeom>
        </p:spPr>
      </p:pic>
      <p:sp>
        <p:nvSpPr>
          <p:cNvPr id="50" name="テキスト ボックス 49">
            <a:extLst>
              <a:ext uri="{FF2B5EF4-FFF2-40B4-BE49-F238E27FC236}">
                <a16:creationId xmlns:a16="http://schemas.microsoft.com/office/drawing/2014/main" id="{9E529396-156F-55A0-24A1-E3F30C8D079F}"/>
              </a:ext>
            </a:extLst>
          </p:cNvPr>
          <p:cNvSpPr txBox="1"/>
          <p:nvPr/>
        </p:nvSpPr>
        <p:spPr>
          <a:xfrm>
            <a:off x="2607260" y="6011736"/>
            <a:ext cx="1740223" cy="430887"/>
          </a:xfrm>
          <a:prstGeom prst="rect">
            <a:avLst/>
          </a:prstGeom>
          <a:noFill/>
        </p:spPr>
        <p:txBody>
          <a:bodyPr wrap="square">
            <a:spAutoFit/>
          </a:bodyPr>
          <a:lstStyle/>
          <a:p>
            <a:r>
              <a:rPr lang="ja-JP" altLang="ja-JP" sz="1050" b="1" dirty="0">
                <a:latin typeface="メイリオ" panose="020B0604030504040204" pitchFamily="50" charset="-128"/>
                <a:ea typeface="メイリオ" panose="020B0604030504040204" pitchFamily="50" charset="-128"/>
                <a:cs typeface="メイリオ"/>
              </a:rPr>
              <a:t>QRコードを読み取って</a:t>
            </a:r>
            <a:endParaRPr lang="en-US" altLang="ja-JP" sz="1050" b="1" dirty="0">
              <a:latin typeface="メイリオ" panose="020B0604030504040204" pitchFamily="50" charset="-128"/>
              <a:ea typeface="メイリオ" panose="020B0604030504040204" pitchFamily="50" charset="-128"/>
              <a:cs typeface="メイリオ"/>
            </a:endParaRPr>
          </a:p>
          <a:p>
            <a:r>
              <a:rPr lang="ja-JP" altLang="ja-JP" sz="1050" b="1" dirty="0">
                <a:latin typeface="メイリオ" panose="020B0604030504040204" pitchFamily="50" charset="-128"/>
                <a:ea typeface="メイリオ" panose="020B0604030504040204" pitchFamily="50" charset="-128"/>
                <a:cs typeface="メイリオ"/>
              </a:rPr>
              <a:t>動画を見る（約22秒）</a:t>
            </a:r>
            <a:endParaRPr lang="en-US" altLang="ja-JP" sz="1050" b="1" dirty="0">
              <a:latin typeface="メイリオ" panose="020B0604030504040204" pitchFamily="50" charset="-128"/>
              <a:ea typeface="メイリオ" panose="020B0604030504040204" pitchFamily="50" charset="-128"/>
              <a:cs typeface="メイリオ"/>
            </a:endParaRPr>
          </a:p>
        </p:txBody>
      </p:sp>
      <p:sp>
        <p:nvSpPr>
          <p:cNvPr id="52" name="テキスト ボックス 51">
            <a:extLst>
              <a:ext uri="{FF2B5EF4-FFF2-40B4-BE49-F238E27FC236}">
                <a16:creationId xmlns:a16="http://schemas.microsoft.com/office/drawing/2014/main" id="{FA39FB9E-0354-C79E-71A4-67DB6A28B75A}"/>
              </a:ext>
            </a:extLst>
          </p:cNvPr>
          <p:cNvSpPr txBox="1"/>
          <p:nvPr/>
        </p:nvSpPr>
        <p:spPr>
          <a:xfrm>
            <a:off x="4032248" y="5546685"/>
            <a:ext cx="869321" cy="276999"/>
          </a:xfrm>
          <a:prstGeom prst="rect">
            <a:avLst/>
          </a:prstGeom>
          <a:solidFill>
            <a:schemeClr val="tx2"/>
          </a:solidFill>
        </p:spPr>
        <p:txBody>
          <a:bodyPr wrap="square">
            <a:spAutoFit/>
          </a:bodyPr>
          <a:lstStyle/>
          <a:p>
            <a:r>
              <a:rPr lang="ja-JP" altLang="en-US" sz="1200" dirty="0">
                <a:solidFill>
                  <a:schemeClr val="bg1"/>
                </a:solidFill>
                <a:latin typeface="メイリオ" panose="020B0604030504040204" pitchFamily="50" charset="-128"/>
                <a:ea typeface="メイリオ" panose="020B0604030504040204" pitchFamily="50" charset="-128"/>
                <a:cs typeface="メイリオ"/>
                <a:hlinkClick r:id="rId11">
                  <a:extLst>
                    <a:ext uri="{A12FA001-AC4F-418D-AE19-62706E023703}">
                      <ahyp:hlinkClr xmlns:ahyp="http://schemas.microsoft.com/office/drawing/2018/hyperlinkcolor" val="tx"/>
                    </a:ext>
                  </a:extLst>
                </a:hlinkClick>
              </a:rPr>
              <a:t>再生</a:t>
            </a:r>
            <a:r>
              <a:rPr lang="ja-JP" altLang="en-US" sz="1200" dirty="0">
                <a:solidFill>
                  <a:srgbClr val="0000FF"/>
                </a:solidFill>
                <a:latin typeface="メイリオ" panose="020B0604030504040204" pitchFamily="50" charset="-128"/>
                <a:ea typeface="メイリオ" panose="020B0604030504040204" pitchFamily="50" charset="-128"/>
                <a:cs typeface="メイリオ"/>
                <a:hlinkClick r:id="rId11">
                  <a:extLst>
                    <a:ext uri="{A12FA001-AC4F-418D-AE19-62706E023703}">
                      <ahyp:hlinkClr xmlns:ahyp="http://schemas.microsoft.com/office/drawing/2018/hyperlinkcolor" val="tx"/>
                    </a:ext>
                  </a:extLst>
                </a:hlinkClick>
              </a:rPr>
              <a:t> </a:t>
            </a:r>
            <a:r>
              <a:rPr lang="en-US" altLang="ja-JP" sz="1200" dirty="0">
                <a:solidFill>
                  <a:schemeClr val="bg1"/>
                </a:solidFill>
                <a:latin typeface="メイリオ" panose="020B0604030504040204" pitchFamily="50" charset="-128"/>
                <a:ea typeface="メイリオ" panose="020B0604030504040204" pitchFamily="50" charset="-128"/>
                <a:cs typeface="メイリオ"/>
                <a:hlinkClick r:id="rId11">
                  <a:extLst>
                    <a:ext uri="{A12FA001-AC4F-418D-AE19-62706E023703}">
                      <ahyp:hlinkClr xmlns:ahyp="http://schemas.microsoft.com/office/drawing/2018/hyperlinkcolor" val="tx"/>
                    </a:ext>
                  </a:extLst>
                </a:hlinkClick>
              </a:rPr>
              <a:t>[▷]</a:t>
            </a:r>
            <a:endParaRPr lang="ja-JP" altLang="en-US" sz="12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54" name="テキスト ボックス 53">
            <a:extLst>
              <a:ext uri="{FF2B5EF4-FFF2-40B4-BE49-F238E27FC236}">
                <a16:creationId xmlns:a16="http://schemas.microsoft.com/office/drawing/2014/main" id="{C2099EF7-D4DC-D52C-E0A5-F84C559A9E47}"/>
              </a:ext>
            </a:extLst>
          </p:cNvPr>
          <p:cNvSpPr txBox="1"/>
          <p:nvPr/>
        </p:nvSpPr>
        <p:spPr>
          <a:xfrm>
            <a:off x="2648894" y="5570417"/>
            <a:ext cx="1740223" cy="253916"/>
          </a:xfrm>
          <a:prstGeom prst="rect">
            <a:avLst/>
          </a:prstGeom>
          <a:noFill/>
        </p:spPr>
        <p:txBody>
          <a:bodyPr wrap="square">
            <a:spAutoFit/>
          </a:bodyPr>
          <a:lstStyle/>
          <a:p>
            <a:r>
              <a:rPr lang="ja-JP" altLang="en-US" sz="1050" b="1" dirty="0">
                <a:latin typeface="メイリオ" panose="020B0604030504040204" pitchFamily="50" charset="-128"/>
                <a:ea typeface="メイリオ" panose="020B0604030504040204" pitchFamily="50" charset="-128"/>
                <a:cs typeface="メイリオ"/>
              </a:rPr>
              <a:t>クリックして再生</a:t>
            </a:r>
            <a:endParaRPr lang="en-US" altLang="ja-JP" sz="1050" b="1" dirty="0">
              <a:latin typeface="メイリオ" panose="020B0604030504040204" pitchFamily="50" charset="-128"/>
              <a:ea typeface="メイリオ" panose="020B0604030504040204" pitchFamily="50" charset="-128"/>
              <a:cs typeface="メイリオ"/>
            </a:endParaRPr>
          </a:p>
        </p:txBody>
      </p:sp>
      <p:sp>
        <p:nvSpPr>
          <p:cNvPr id="1053" name="Google Shape;51;p19">
            <a:extLst>
              <a:ext uri="{FF2B5EF4-FFF2-40B4-BE49-F238E27FC236}">
                <a16:creationId xmlns:a16="http://schemas.microsoft.com/office/drawing/2014/main" id="{A4070FDA-7C99-27DE-6A9C-437C1D5DD3B3}"/>
              </a:ext>
            </a:extLst>
          </p:cNvPr>
          <p:cNvSpPr/>
          <p:nvPr/>
        </p:nvSpPr>
        <p:spPr>
          <a:xfrm>
            <a:off x="3931920" y="841248"/>
            <a:ext cx="1325880" cy="484632"/>
          </a:xfrm>
          <a:prstGeom prst="roundRect">
            <a:avLst>
              <a:gd name="adj" fmla="val 16667"/>
            </a:avLst>
          </a:prstGeom>
          <a:solidFill>
            <a:schemeClr val="tx2"/>
          </a:solidFill>
          <a:ln>
            <a:noFill/>
          </a:ln>
        </p:spPr>
        <p:txBody>
          <a:bodyPr spcFirstLastPara="1" wrap="square" lIns="74282" tIns="45700" rIns="74282"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9pPr>
          </a:lstStyle>
          <a:p>
            <a:pPr algn="ctr">
              <a:buSzPts val="1400"/>
            </a:pPr>
            <a:r>
              <a:rPr lang="ja-JP" altLang="en-US" b="1" dirty="0">
                <a:solidFill>
                  <a:schemeClr val="lt1"/>
                </a:solidFill>
                <a:latin typeface="メイリオ"/>
                <a:ea typeface="メイリオ"/>
                <a:cs typeface="メイリオ"/>
                <a:sym typeface="Meiryo"/>
              </a:rPr>
              <a:t>初期：</a:t>
            </a:r>
            <a:r>
              <a:rPr lang="en-US" altLang="ja-JP" b="1" dirty="0">
                <a:solidFill>
                  <a:schemeClr val="lt1"/>
                </a:solidFill>
                <a:latin typeface="メイリオ"/>
                <a:ea typeface="メイリオ"/>
                <a:cs typeface="メイリオ"/>
                <a:sym typeface="Meiryo"/>
              </a:rPr>
              <a:t>15</a:t>
            </a:r>
            <a:r>
              <a:rPr lang="ja-JP" altLang="en-US" b="1" dirty="0">
                <a:solidFill>
                  <a:schemeClr val="lt1"/>
                </a:solidFill>
                <a:latin typeface="メイリオ"/>
                <a:ea typeface="メイリオ"/>
                <a:cs typeface="メイリオ"/>
                <a:sym typeface="Meiryo"/>
              </a:rPr>
              <a:t>万円</a:t>
            </a:r>
            <a:endParaRPr b="1" dirty="0">
              <a:solidFill>
                <a:schemeClr val="lt1"/>
              </a:solidFill>
              <a:latin typeface="メイリオ"/>
              <a:ea typeface="メイリオ"/>
              <a:cs typeface="メイリオ"/>
              <a:sym typeface="Meiryo"/>
            </a:endParaRPr>
          </a:p>
        </p:txBody>
      </p:sp>
      <p:sp>
        <p:nvSpPr>
          <p:cNvPr id="1054" name="Google Shape;51;p19">
            <a:extLst>
              <a:ext uri="{FF2B5EF4-FFF2-40B4-BE49-F238E27FC236}">
                <a16:creationId xmlns:a16="http://schemas.microsoft.com/office/drawing/2014/main" id="{40C4675F-5DCC-DD57-BE14-B3A7697A02CD}"/>
              </a:ext>
            </a:extLst>
          </p:cNvPr>
          <p:cNvSpPr/>
          <p:nvPr/>
        </p:nvSpPr>
        <p:spPr>
          <a:xfrm>
            <a:off x="5349240" y="841248"/>
            <a:ext cx="1783080" cy="484632"/>
          </a:xfrm>
          <a:prstGeom prst="roundRect">
            <a:avLst>
              <a:gd name="adj" fmla="val 16667"/>
            </a:avLst>
          </a:prstGeom>
          <a:solidFill>
            <a:schemeClr val="tx2"/>
          </a:solidFill>
          <a:ln>
            <a:noFill/>
          </a:ln>
        </p:spPr>
        <p:txBody>
          <a:bodyPr spcFirstLastPara="1" wrap="square" lIns="74282" tIns="45700" rIns="74282"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9pPr>
          </a:lstStyle>
          <a:p>
            <a:pPr algn="ctr">
              <a:buSzPts val="1400"/>
            </a:pPr>
            <a:r>
              <a:rPr lang="ja-JP" altLang="en-US" b="1" dirty="0">
                <a:solidFill>
                  <a:schemeClr val="lt1"/>
                </a:solidFill>
                <a:latin typeface="メイリオ"/>
                <a:ea typeface="メイリオ"/>
                <a:cs typeface="メイリオ"/>
                <a:sym typeface="Meiryo"/>
              </a:rPr>
              <a:t>月額</a:t>
            </a:r>
            <a:r>
              <a:rPr lang="en-US" altLang="ja-JP" b="1" dirty="0">
                <a:solidFill>
                  <a:schemeClr val="lt1"/>
                </a:solidFill>
                <a:latin typeface="メイリオ"/>
                <a:ea typeface="メイリオ"/>
                <a:cs typeface="メイリオ"/>
                <a:sym typeface="Meiryo"/>
              </a:rPr>
              <a:t>3</a:t>
            </a:r>
            <a:r>
              <a:rPr lang="ja-JP" altLang="en-US" b="1" dirty="0">
                <a:solidFill>
                  <a:schemeClr val="lt1"/>
                </a:solidFill>
                <a:latin typeface="メイリオ"/>
                <a:ea typeface="メイリオ"/>
                <a:cs typeface="メイリオ"/>
                <a:sym typeface="Meiryo"/>
              </a:rPr>
              <a:t>万円～</a:t>
            </a:r>
            <a:endParaRPr lang="en-US" altLang="ja-JP" b="1" dirty="0">
              <a:solidFill>
                <a:schemeClr val="lt1"/>
              </a:solidFill>
              <a:latin typeface="メイリオ"/>
              <a:ea typeface="メイリオ"/>
              <a:cs typeface="メイリオ"/>
              <a:sym typeface="Meiryo"/>
            </a:endParaRPr>
          </a:p>
          <a:p>
            <a:pPr algn="ctr">
              <a:buSzPts val="1400"/>
            </a:pPr>
            <a:r>
              <a:rPr lang="en-US" altLang="ja-JP" sz="850" b="1" dirty="0">
                <a:solidFill>
                  <a:srgbClr val="FFFFFF"/>
                </a:solidFill>
                <a:latin typeface="メイリオ"/>
                <a:ea typeface="メイリオ"/>
                <a:cs typeface="メイリオ"/>
                <a:sym typeface="Meiryo"/>
              </a:rPr>
              <a:t>+</a:t>
            </a:r>
            <a:r>
              <a:rPr lang="ja-JP" altLang="en-US" sz="850" b="1" dirty="0">
                <a:solidFill>
                  <a:srgbClr val="FFFFFF"/>
                </a:solidFill>
                <a:latin typeface="メイリオ"/>
                <a:ea typeface="メイリオ"/>
                <a:cs typeface="メイリオ"/>
                <a:sym typeface="Meiryo"/>
              </a:rPr>
              <a:t>設定地点追加</a:t>
            </a:r>
            <a:endParaRPr sz="850" b="1" dirty="0">
              <a:solidFill>
                <a:srgbClr val="FFFFFF"/>
              </a:solidFill>
              <a:latin typeface="メイリオ"/>
              <a:ea typeface="メイリオ"/>
              <a:cs typeface="メイリオ"/>
              <a:sym typeface="Meiryo"/>
            </a:endParaRPr>
          </a:p>
        </p:txBody>
      </p:sp>
      <p:sp>
        <p:nvSpPr>
          <p:cNvPr id="1056" name="追加オプションの注記"/>
          <p:cNvSpPr/>
          <p:nvPr/>
        </p:nvSpPr>
        <p:spPr>
          <a:xfrm>
            <a:off x="5486400" y="6272784"/>
            <a:ext cx="4023360" cy="201168"/>
          </a:xfrm>
          <a:prstGeom prst="rect">
            <a:avLst/>
          </a:prstGeom>
          <a:noFill/>
          <a:ln>
            <a:noFill/>
          </a:ln>
        </p:spPr>
        <p:txBody>
          <a:bodyPr wrap="square" lIns="0" tIns="0" rIns="0" bIns="0" rtlCol="0" anchor="t">
            <a:noAutofit/>
          </a:bodyPr>
          <a:lstStyle/>
          <a:p>
            <a:pPr algn="l">
              <a:buNone/>
            </a:pPr>
            <a:r>
              <a:rPr lang="ja-JP" altLang="en-US" sz="1000" b="0" dirty="0">
                <a:solidFill>
                  <a:srgbClr val="7F7F7F"/>
                </a:solidFill>
                <a:latin typeface="メイリオ" panose="020B0604030504040204" pitchFamily="50" charset="-128"/>
                <a:ea typeface="メイリオ" panose="020B0604030504040204" pitchFamily="50" charset="-128"/>
                <a:cs typeface="メイリオ"/>
              </a:rPr>
              <a:t>※最低利用期間・停止条件は確認のうえご案内</a:t>
            </a:r>
            <a:endParaRPr lang="ja-JP" altLang="en-US" sz="1200" dirty="0">
              <a:latin typeface="メイリオ"/>
              <a:ea typeface="メイリオ"/>
              <a:cs typeface="メイリオ"/>
            </a:endParaRP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Google Shape;752;p28">
            <a:extLst>
              <a:ext uri="{FF2B5EF4-FFF2-40B4-BE49-F238E27FC236}">
                <a16:creationId xmlns:a16="http://schemas.microsoft.com/office/drawing/2014/main" id="{1ADD4630-B4FB-1ED5-AA03-7B456BE4B713}"/>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資料アジェンダ</a:t>
            </a:r>
          </a:p>
        </p:txBody>
      </p:sp>
      <p:sp>
        <p:nvSpPr>
          <p:cNvPr id="2" name="正方形/長方形 1">
            <a:extLst>
              <a:ext uri="{FF2B5EF4-FFF2-40B4-BE49-F238E27FC236}">
                <a16:creationId xmlns:a16="http://schemas.microsoft.com/office/drawing/2014/main" id="{2930638E-A234-B57F-602E-9D9732D57A7B}"/>
              </a:ext>
            </a:extLst>
          </p:cNvPr>
          <p:cNvSpPr/>
          <p:nvPr/>
        </p:nvSpPr>
        <p:spPr>
          <a:xfrm>
            <a:off x="841248" y="3038203"/>
            <a:ext cx="8229600" cy="584775"/>
          </a:xfrm>
          <a:prstGeom prst="rect">
            <a:avLst/>
          </a:prstGeom>
        </p:spPr>
        <p:txBody>
          <a:bodyPr wrap="none">
            <a:spAutoFit/>
          </a:bodyPr>
          <a:lstStyle/>
          <a:p>
            <a:pPr algn="ct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配信の内容</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567DEB-0D7B-8670-6390-E396B1D536B5}"/>
            </a:ext>
          </a:extLst>
        </p:cNvPr>
        <p:cNvGrpSpPr/>
        <p:nvPr/>
      </p:nvGrpSpPr>
      <p:grpSpPr>
        <a:xfrm>
          <a:off x="0" y="0"/>
          <a:ext cx="0" cy="0"/>
          <a:chOff x="0" y="0"/>
          <a:chExt cx="0" cy="0"/>
        </a:xfrm>
      </p:grpSpPr>
      <p:sp>
        <p:nvSpPr>
          <p:cNvPr id="9" name="正方形/長方形 8">
            <a:extLst>
              <a:ext uri="{FF2B5EF4-FFF2-40B4-BE49-F238E27FC236}">
                <a16:creationId xmlns:a16="http://schemas.microsoft.com/office/drawing/2014/main" id="{E9062440-B6A0-85EE-461D-E9A5F53310B0}"/>
              </a:ext>
            </a:extLst>
          </p:cNvPr>
          <p:cNvSpPr/>
          <p:nvPr/>
        </p:nvSpPr>
        <p:spPr>
          <a:xfrm>
            <a:off x="0" y="777240"/>
            <a:ext cx="1802674"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latin typeface="メイリオ" panose="020B0604030504040204" pitchFamily="50" charset="-128"/>
                <a:ea typeface="メイリオ" panose="020B0604030504040204" pitchFamily="50" charset="-128"/>
                <a:cs typeface="メイリオ"/>
              </a:rPr>
              <a:t>LINEOA</a:t>
            </a:r>
            <a:r>
              <a:rPr kumimoji="1" lang="ja-JP" altLang="en-US" sz="1400" dirty="0">
                <a:latin typeface="メイリオ" panose="020B0604030504040204" pitchFamily="50" charset="-128"/>
                <a:ea typeface="メイリオ" panose="020B0604030504040204" pitchFamily="50" charset="-128"/>
                <a:cs typeface="メイリオ"/>
              </a:rPr>
              <a:t>施策</a:t>
            </a:r>
          </a:p>
        </p:txBody>
      </p:sp>
      <p:sp>
        <p:nvSpPr>
          <p:cNvPr id="3" name="Google Shape;752;p28">
            <a:extLst>
              <a:ext uri="{FF2B5EF4-FFF2-40B4-BE49-F238E27FC236}">
                <a16:creationId xmlns:a16="http://schemas.microsoft.com/office/drawing/2014/main" id="{CCEADF0C-2806-160C-2545-0CBF2DE16851}"/>
              </a:ext>
            </a:extLst>
          </p:cNvPr>
          <p:cNvSpPr txBox="1"/>
          <p:nvPr/>
        </p:nvSpPr>
        <p:spPr>
          <a:xfrm>
            <a:off x="1988819" y="736332"/>
            <a:ext cx="7917181" cy="584735"/>
          </a:xfrm>
          <a:prstGeom prst="rect">
            <a:avLst/>
          </a:prstGeom>
          <a:noFill/>
          <a:ln>
            <a:noFill/>
          </a:ln>
        </p:spPr>
        <p:txBody>
          <a:bodyPr spcFirstLastPara="1" wrap="square" lIns="91425" tIns="45700" rIns="91425" bIns="45700" anchor="ctr" anchorCtr="0">
            <a:spAutoFit/>
          </a:bodyPr>
          <a:lstStyle/>
          <a:p>
            <a:r>
              <a:rPr lang="en-US" altLang="ja-JP" sz="1600" b="1" dirty="0">
                <a:latin typeface="メイリオ" panose="020B0604030504040204" pitchFamily="50" charset="-128"/>
                <a:ea typeface="メイリオ" panose="020B0604030504040204" pitchFamily="50" charset="-128"/>
                <a:cs typeface="メイリオ"/>
                <a:sym typeface="Meiryo"/>
              </a:rPr>
              <a:t>友だち追加から15日ほどで反応が下がり、ブロックも増えやすい。</a:t>
            </a:r>
          </a:p>
          <a:p>
            <a:r>
              <a:rPr lang="ja-JP" altLang="en-US" sz="1600" b="1" dirty="0">
                <a:latin typeface="メイリオ" panose="020B0604030504040204" pitchFamily="50" charset="-128"/>
                <a:ea typeface="メイリオ" panose="020B0604030504040204" pitchFamily="50" charset="-128"/>
                <a:cs typeface="メイリオ"/>
                <a:sym typeface="Meiryo"/>
              </a:rPr>
              <a:t>そのため、段階に合わせて配信を変え、イベントのない時期は回数を絞る。</a:t>
            </a:r>
            <a:endParaRPr lang="en-US" altLang="ja-JP" sz="1600" b="1" dirty="0">
              <a:latin typeface="メイリオ" panose="020B0604030504040204" pitchFamily="50" charset="-128"/>
              <a:ea typeface="メイリオ" panose="020B0604030504040204" pitchFamily="50" charset="-128"/>
              <a:cs typeface="メイリオ"/>
              <a:sym typeface="Meiryo"/>
            </a:endParaRPr>
          </a:p>
        </p:txBody>
      </p:sp>
      <p:pic>
        <p:nvPicPr>
          <p:cNvPr id="5" name="図 4">
            <a:extLst>
              <a:ext uri="{FF2B5EF4-FFF2-40B4-BE49-F238E27FC236}">
                <a16:creationId xmlns:a16="http://schemas.microsoft.com/office/drawing/2014/main" id="{599FD372-1931-8AF9-6FBE-007F188CE892}"/>
              </a:ext>
            </a:extLst>
          </p:cNvPr>
          <p:cNvPicPr>
            <a:picLocks noChangeAspect="1"/>
          </p:cNvPicPr>
          <p:nvPr/>
        </p:nvPicPr>
        <p:blipFill>
          <a:blip r:embed="rId2"/>
          <a:stretch>
            <a:fillRect/>
          </a:stretch>
        </p:blipFill>
        <p:spPr>
          <a:xfrm>
            <a:off x="1394710" y="1746287"/>
            <a:ext cx="582602" cy="543237"/>
          </a:xfrm>
          <a:prstGeom prst="rect">
            <a:avLst/>
          </a:prstGeom>
        </p:spPr>
      </p:pic>
      <p:sp>
        <p:nvSpPr>
          <p:cNvPr id="6" name="正方形/長方形 5">
            <a:extLst>
              <a:ext uri="{FF2B5EF4-FFF2-40B4-BE49-F238E27FC236}">
                <a16:creationId xmlns:a16="http://schemas.microsoft.com/office/drawing/2014/main" id="{70DDBD12-962F-75E1-F777-2A8CB1A1A43C}"/>
              </a:ext>
            </a:extLst>
          </p:cNvPr>
          <p:cNvSpPr/>
          <p:nvPr/>
        </p:nvSpPr>
        <p:spPr>
          <a:xfrm>
            <a:off x="2232491" y="1817608"/>
            <a:ext cx="5694068" cy="400594"/>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b="1" dirty="0">
                <a:solidFill>
                  <a:schemeClr val="bg1"/>
                </a:solidFill>
                <a:latin typeface="メイリオ" panose="020B0604030504040204" pitchFamily="50" charset="-128"/>
                <a:ea typeface="メイリオ" panose="020B0604030504040204" pitchFamily="50" charset="-128"/>
                <a:cs typeface="メイリオ"/>
              </a:rPr>
              <a:t>公式アカウントを友だち追加！</a:t>
            </a:r>
          </a:p>
        </p:txBody>
      </p:sp>
      <p:sp>
        <p:nvSpPr>
          <p:cNvPr id="16" name="矢印: 下 15">
            <a:extLst>
              <a:ext uri="{FF2B5EF4-FFF2-40B4-BE49-F238E27FC236}">
                <a16:creationId xmlns:a16="http://schemas.microsoft.com/office/drawing/2014/main" id="{96A68A56-39E1-8BAC-2C49-CC19FBEC68F7}"/>
              </a:ext>
            </a:extLst>
          </p:cNvPr>
          <p:cNvSpPr/>
          <p:nvPr/>
        </p:nvSpPr>
        <p:spPr>
          <a:xfrm>
            <a:off x="6666282" y="2317059"/>
            <a:ext cx="470263" cy="1837509"/>
          </a:xfrm>
          <a:prstGeom prst="downArrow">
            <a:avLst>
              <a:gd name="adj1" fmla="val 50000"/>
              <a:gd name="adj2" fmla="val 110764"/>
            </a:avLst>
          </a:prstGeom>
          <a:gradFill>
            <a:gsLst>
              <a:gs pos="0">
                <a:srgbClr val="04FA0A"/>
              </a:gs>
              <a:gs pos="100000">
                <a:schemeClr val="bg1"/>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cxnSp>
        <p:nvCxnSpPr>
          <p:cNvPr id="19" name="直線コネクタ 18">
            <a:extLst>
              <a:ext uri="{FF2B5EF4-FFF2-40B4-BE49-F238E27FC236}">
                <a16:creationId xmlns:a16="http://schemas.microsoft.com/office/drawing/2014/main" id="{499B7760-FDC6-B260-9507-F94BFB256854}"/>
              </a:ext>
            </a:extLst>
          </p:cNvPr>
          <p:cNvCxnSpPr>
            <a:cxnSpLocks/>
          </p:cNvCxnSpPr>
          <p:nvPr/>
        </p:nvCxnSpPr>
        <p:spPr>
          <a:xfrm>
            <a:off x="1603884" y="4293068"/>
            <a:ext cx="6889823" cy="0"/>
          </a:xfrm>
          <a:prstGeom prst="line">
            <a:avLst/>
          </a:prstGeom>
          <a:ln w="6350">
            <a:solidFill>
              <a:srgbClr val="1F2A5C"/>
            </a:solidFill>
            <a:prstDash val="sysDash"/>
          </a:ln>
        </p:spPr>
        <p:style>
          <a:lnRef idx="1">
            <a:schemeClr val="accent1"/>
          </a:lnRef>
          <a:fillRef idx="0">
            <a:schemeClr val="accent1"/>
          </a:fillRef>
          <a:effectRef idx="0">
            <a:schemeClr val="accent1"/>
          </a:effectRef>
          <a:fontRef idx="minor">
            <a:schemeClr val="tx1"/>
          </a:fontRef>
        </p:style>
      </p:cxnSp>
      <p:sp>
        <p:nvSpPr>
          <p:cNvPr id="22" name="矢印: 下 21">
            <a:extLst>
              <a:ext uri="{FF2B5EF4-FFF2-40B4-BE49-F238E27FC236}">
                <a16:creationId xmlns:a16="http://schemas.microsoft.com/office/drawing/2014/main" id="{57EAA642-99EB-D59A-CA2D-CF128F520650}"/>
              </a:ext>
            </a:extLst>
          </p:cNvPr>
          <p:cNvSpPr/>
          <p:nvPr/>
        </p:nvSpPr>
        <p:spPr>
          <a:xfrm>
            <a:off x="6666281" y="4376126"/>
            <a:ext cx="470263" cy="880030"/>
          </a:xfrm>
          <a:prstGeom prst="downArrow">
            <a:avLst>
              <a:gd name="adj1" fmla="val 50000"/>
              <a:gd name="adj2" fmla="val 110764"/>
            </a:avLst>
          </a:prstGeom>
          <a:gradFill>
            <a:gsLst>
              <a:gs pos="0">
                <a:srgbClr val="04FA0A"/>
              </a:gs>
              <a:gs pos="100000">
                <a:schemeClr val="bg1"/>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cxnSp>
        <p:nvCxnSpPr>
          <p:cNvPr id="23" name="直線コネクタ 22">
            <a:extLst>
              <a:ext uri="{FF2B5EF4-FFF2-40B4-BE49-F238E27FC236}">
                <a16:creationId xmlns:a16="http://schemas.microsoft.com/office/drawing/2014/main" id="{FC84D888-2F3B-56B2-6D8B-43495766B724}"/>
              </a:ext>
            </a:extLst>
          </p:cNvPr>
          <p:cNvCxnSpPr>
            <a:cxnSpLocks/>
          </p:cNvCxnSpPr>
          <p:nvPr/>
        </p:nvCxnSpPr>
        <p:spPr>
          <a:xfrm>
            <a:off x="1603884" y="5394656"/>
            <a:ext cx="6889823" cy="0"/>
          </a:xfrm>
          <a:prstGeom prst="line">
            <a:avLst/>
          </a:prstGeom>
          <a:ln w="6350">
            <a:solidFill>
              <a:schemeClr val="tx1"/>
            </a:solidFill>
            <a:prstDash val="sysDash"/>
          </a:ln>
        </p:spPr>
        <p:style>
          <a:lnRef idx="1">
            <a:schemeClr val="accent1"/>
          </a:lnRef>
          <a:fillRef idx="0">
            <a:schemeClr val="accent1"/>
          </a:fillRef>
          <a:effectRef idx="0">
            <a:schemeClr val="accent1"/>
          </a:effectRef>
          <a:fontRef idx="minor">
            <a:schemeClr val="tx1"/>
          </a:fontRef>
        </p:style>
      </p:cxnSp>
      <p:sp>
        <p:nvSpPr>
          <p:cNvPr id="26" name="テキスト ボックス 25">
            <a:extLst>
              <a:ext uri="{FF2B5EF4-FFF2-40B4-BE49-F238E27FC236}">
                <a16:creationId xmlns:a16="http://schemas.microsoft.com/office/drawing/2014/main" id="{2DDEE958-B9A4-B3B7-0AB5-40E083E922F6}"/>
              </a:ext>
            </a:extLst>
          </p:cNvPr>
          <p:cNvSpPr txBox="1"/>
          <p:nvPr/>
        </p:nvSpPr>
        <p:spPr>
          <a:xfrm>
            <a:off x="887729" y="4154568"/>
            <a:ext cx="4963884" cy="276999"/>
          </a:xfrm>
          <a:prstGeom prst="rect">
            <a:avLst/>
          </a:prstGeom>
          <a:noFill/>
        </p:spPr>
        <p:txBody>
          <a:bodyPr wrap="square">
            <a:spAutoFit/>
          </a:bodyPr>
          <a:lstStyle/>
          <a:p>
            <a:r>
              <a:rPr lang="en-US" altLang="ja-JP" sz="1200" b="1" dirty="0">
                <a:solidFill>
                  <a:srgbClr val="1F2A5C"/>
                </a:solidFill>
                <a:latin typeface="メイリオ" panose="020B0604030504040204" pitchFamily="50" charset="-128"/>
                <a:ea typeface="メイリオ" panose="020B0604030504040204" pitchFamily="50" charset="-128"/>
                <a:cs typeface="メイリオ"/>
                <a:sym typeface="Meiryo"/>
              </a:rPr>
              <a:t>15</a:t>
            </a:r>
            <a:r>
              <a:rPr lang="ja-JP" altLang="en-US" sz="1200" b="1" dirty="0">
                <a:solidFill>
                  <a:srgbClr val="1F2A5C"/>
                </a:solidFill>
                <a:latin typeface="メイリオ" panose="020B0604030504040204" pitchFamily="50" charset="-128"/>
                <a:ea typeface="メイリオ" panose="020B0604030504040204" pitchFamily="50" charset="-128"/>
                <a:cs typeface="メイリオ"/>
                <a:sym typeface="Meiryo"/>
              </a:rPr>
              <a:t>日後</a:t>
            </a:r>
            <a:endParaRPr lang="ja-JP" altLang="en-US" sz="1200" dirty="0">
              <a:solidFill>
                <a:srgbClr val="1F2A5C"/>
              </a:solidFill>
              <a:latin typeface="メイリオ"/>
              <a:ea typeface="メイリオ"/>
              <a:cs typeface="メイリオ"/>
            </a:endParaRPr>
          </a:p>
        </p:txBody>
      </p:sp>
      <p:sp>
        <p:nvSpPr>
          <p:cNvPr id="29" name="テキスト ボックス 28">
            <a:extLst>
              <a:ext uri="{FF2B5EF4-FFF2-40B4-BE49-F238E27FC236}">
                <a16:creationId xmlns:a16="http://schemas.microsoft.com/office/drawing/2014/main" id="{99B2BE93-6AC1-B592-319F-2D44EB64DCDF}"/>
              </a:ext>
            </a:extLst>
          </p:cNvPr>
          <p:cNvSpPr txBox="1"/>
          <p:nvPr/>
        </p:nvSpPr>
        <p:spPr>
          <a:xfrm>
            <a:off x="887729" y="5258075"/>
            <a:ext cx="4963884" cy="276999"/>
          </a:xfrm>
          <a:prstGeom prst="rect">
            <a:avLst/>
          </a:prstGeom>
          <a:noFill/>
        </p:spPr>
        <p:txBody>
          <a:bodyPr wrap="square">
            <a:spAutoFit/>
          </a:bodyPr>
          <a:lstStyle/>
          <a:p>
            <a:r>
              <a:rPr lang="en-US" altLang="ja-JP" sz="1200" b="1" dirty="0">
                <a:latin typeface="メイリオ" panose="020B0604030504040204" pitchFamily="50" charset="-128"/>
                <a:ea typeface="メイリオ" panose="020B0604030504040204" pitchFamily="50" charset="-128"/>
                <a:cs typeface="メイリオ"/>
                <a:sym typeface="Meiryo"/>
              </a:rPr>
              <a:t>30</a:t>
            </a:r>
            <a:r>
              <a:rPr lang="ja-JP" altLang="en-US" sz="1200" b="1" dirty="0">
                <a:latin typeface="メイリオ" panose="020B0604030504040204" pitchFamily="50" charset="-128"/>
                <a:ea typeface="メイリオ" panose="020B0604030504040204" pitchFamily="50" charset="-128"/>
                <a:cs typeface="メイリオ"/>
                <a:sym typeface="Meiryo"/>
              </a:rPr>
              <a:t>日後</a:t>
            </a:r>
            <a:endParaRPr lang="ja-JP" altLang="en-US" sz="1200" dirty="0">
              <a:latin typeface="メイリオ"/>
              <a:ea typeface="メイリオ"/>
              <a:cs typeface="メイリオ"/>
            </a:endParaRPr>
          </a:p>
        </p:txBody>
      </p:sp>
      <p:sp>
        <p:nvSpPr>
          <p:cNvPr id="32" name="矢印: 下 31">
            <a:extLst>
              <a:ext uri="{FF2B5EF4-FFF2-40B4-BE49-F238E27FC236}">
                <a16:creationId xmlns:a16="http://schemas.microsoft.com/office/drawing/2014/main" id="{F0BAD90B-19DF-C716-880C-57948735A10E}"/>
              </a:ext>
            </a:extLst>
          </p:cNvPr>
          <p:cNvSpPr/>
          <p:nvPr/>
        </p:nvSpPr>
        <p:spPr>
          <a:xfrm>
            <a:off x="6666281" y="5477713"/>
            <a:ext cx="470263" cy="880030"/>
          </a:xfrm>
          <a:prstGeom prst="downArrow">
            <a:avLst>
              <a:gd name="adj1" fmla="val 50000"/>
              <a:gd name="adj2" fmla="val 110764"/>
            </a:avLst>
          </a:prstGeom>
          <a:gradFill>
            <a:gsLst>
              <a:gs pos="0">
                <a:srgbClr val="04FA0A"/>
              </a:gs>
              <a:gs pos="100000">
                <a:schemeClr val="bg1"/>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33" name="直角三角形 32">
            <a:extLst>
              <a:ext uri="{FF2B5EF4-FFF2-40B4-BE49-F238E27FC236}">
                <a16:creationId xmlns:a16="http://schemas.microsoft.com/office/drawing/2014/main" id="{21D9755D-523C-2A6A-B045-29C102846ABF}"/>
              </a:ext>
            </a:extLst>
          </p:cNvPr>
          <p:cNvSpPr/>
          <p:nvPr/>
        </p:nvSpPr>
        <p:spPr>
          <a:xfrm flipV="1">
            <a:off x="7837714" y="2289524"/>
            <a:ext cx="1244098" cy="3105132"/>
          </a:xfrm>
          <a:prstGeom prst="rtTriangle">
            <a:avLst/>
          </a:prstGeom>
          <a:solidFill>
            <a:srgbClr val="1F2A5C">
              <a:alpha val="1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dirty="0">
              <a:solidFill>
                <a:srgbClr val="1F2A5C"/>
              </a:solidFill>
              <a:latin typeface="メイリオ"/>
              <a:ea typeface="メイリオ"/>
              <a:cs typeface="メイリオ"/>
            </a:endParaRPr>
          </a:p>
        </p:txBody>
      </p:sp>
      <p:sp>
        <p:nvSpPr>
          <p:cNvPr id="38" name="テキスト ボックス 37">
            <a:extLst>
              <a:ext uri="{FF2B5EF4-FFF2-40B4-BE49-F238E27FC236}">
                <a16:creationId xmlns:a16="http://schemas.microsoft.com/office/drawing/2014/main" id="{D6796F30-9C92-1751-9461-7D96ED3FD472}"/>
              </a:ext>
            </a:extLst>
          </p:cNvPr>
          <p:cNvSpPr txBox="1"/>
          <p:nvPr/>
        </p:nvSpPr>
        <p:spPr>
          <a:xfrm>
            <a:off x="7376370" y="2507385"/>
            <a:ext cx="2104595" cy="261610"/>
          </a:xfrm>
          <a:prstGeom prst="rect">
            <a:avLst/>
          </a:prstGeom>
          <a:noFill/>
        </p:spPr>
        <p:txBody>
          <a:bodyPr wrap="square">
            <a:spAutoFit/>
          </a:bodyPr>
          <a:lstStyle/>
          <a:p>
            <a:pPr algn="ctr"/>
            <a:r>
              <a:rPr lang="ja-JP" altLang="en-US" sz="1050" b="1" dirty="0">
                <a:solidFill>
                  <a:srgbClr val="1F2A5C"/>
                </a:solidFill>
                <a:latin typeface="メイリオ" panose="020B0604030504040204" pitchFamily="50" charset="-128"/>
                <a:ea typeface="メイリオ" panose="020B0604030504040204" pitchFamily="50" charset="-128"/>
                <a:cs typeface="メイリオ"/>
              </a:rPr>
              <a:t>アクティブ率：高</a:t>
            </a:r>
          </a:p>
        </p:txBody>
      </p:sp>
      <p:sp>
        <p:nvSpPr>
          <p:cNvPr id="45" name="直角三角形 44">
            <a:extLst>
              <a:ext uri="{FF2B5EF4-FFF2-40B4-BE49-F238E27FC236}">
                <a16:creationId xmlns:a16="http://schemas.microsoft.com/office/drawing/2014/main" id="{70153691-BF19-7E23-69C7-A1735ED95D0B}"/>
              </a:ext>
            </a:extLst>
          </p:cNvPr>
          <p:cNvSpPr/>
          <p:nvPr/>
        </p:nvSpPr>
        <p:spPr>
          <a:xfrm flipV="1">
            <a:off x="7837713" y="5403361"/>
            <a:ext cx="399367" cy="946289"/>
          </a:xfrm>
          <a:prstGeom prst="rtTriangle">
            <a:avLst/>
          </a:prstGeom>
          <a:solidFill>
            <a:srgbClr val="1F2A5C">
              <a:alpha val="1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dirty="0">
              <a:solidFill>
                <a:srgbClr val="1F2A5C"/>
              </a:solidFill>
              <a:latin typeface="メイリオ"/>
              <a:ea typeface="メイリオ"/>
              <a:cs typeface="メイリオ"/>
            </a:endParaRPr>
          </a:p>
        </p:txBody>
      </p:sp>
      <p:sp>
        <p:nvSpPr>
          <p:cNvPr id="49" name="テキスト ボックス 48">
            <a:extLst>
              <a:ext uri="{FF2B5EF4-FFF2-40B4-BE49-F238E27FC236}">
                <a16:creationId xmlns:a16="http://schemas.microsoft.com/office/drawing/2014/main" id="{39E95A0F-F089-7BBE-05C6-60749997D8B5}"/>
              </a:ext>
            </a:extLst>
          </p:cNvPr>
          <p:cNvSpPr txBox="1"/>
          <p:nvPr/>
        </p:nvSpPr>
        <p:spPr>
          <a:xfrm>
            <a:off x="7376370" y="4777647"/>
            <a:ext cx="2104595" cy="261610"/>
          </a:xfrm>
          <a:prstGeom prst="rect">
            <a:avLst/>
          </a:prstGeom>
          <a:noFill/>
        </p:spPr>
        <p:txBody>
          <a:bodyPr wrap="square">
            <a:spAutoFit/>
          </a:bodyPr>
          <a:lstStyle/>
          <a:p>
            <a:pPr algn="ctr"/>
            <a:r>
              <a:rPr lang="ja-JP" altLang="en-US" sz="1050" dirty="0">
                <a:solidFill>
                  <a:srgbClr val="1F2A5C"/>
                </a:solidFill>
                <a:latin typeface="メイリオ" panose="020B0604030504040204" pitchFamily="50" charset="-128"/>
                <a:ea typeface="メイリオ" panose="020B0604030504040204" pitchFamily="50" charset="-128"/>
                <a:cs typeface="メイリオ"/>
              </a:rPr>
              <a:t>アクティブ率：低</a:t>
            </a:r>
          </a:p>
        </p:txBody>
      </p:sp>
      <p:sp>
        <p:nvSpPr>
          <p:cNvPr id="51" name="正方形/長方形 50">
            <a:extLst>
              <a:ext uri="{FF2B5EF4-FFF2-40B4-BE49-F238E27FC236}">
                <a16:creationId xmlns:a16="http://schemas.microsoft.com/office/drawing/2014/main" id="{6E8EECEE-A26C-FE65-851C-D89DA2943DDA}"/>
              </a:ext>
            </a:extLst>
          </p:cNvPr>
          <p:cNvSpPr/>
          <p:nvPr/>
        </p:nvSpPr>
        <p:spPr>
          <a:xfrm>
            <a:off x="4822207" y="3086837"/>
            <a:ext cx="1653346" cy="2173142"/>
          </a:xfrm>
          <a:prstGeom prst="rect">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solidFill>
                  <a:srgbClr val="1F2A5C"/>
                </a:solidFill>
                <a:latin typeface="メイリオ" panose="020B0604030504040204" pitchFamily="50" charset="-128"/>
                <a:ea typeface="メイリオ" panose="020B0604030504040204" pitchFamily="50" charset="-128"/>
                <a:cs typeface="メイリオ"/>
              </a:rPr>
              <a:t>ステップ配信</a:t>
            </a:r>
          </a:p>
        </p:txBody>
      </p:sp>
      <p:sp>
        <p:nvSpPr>
          <p:cNvPr id="53" name="正方形/長方形 52">
            <a:extLst>
              <a:ext uri="{FF2B5EF4-FFF2-40B4-BE49-F238E27FC236}">
                <a16:creationId xmlns:a16="http://schemas.microsoft.com/office/drawing/2014/main" id="{81454DD3-4503-BFE5-0C14-038581D067FE}"/>
              </a:ext>
            </a:extLst>
          </p:cNvPr>
          <p:cNvSpPr/>
          <p:nvPr/>
        </p:nvSpPr>
        <p:spPr>
          <a:xfrm>
            <a:off x="2232491" y="2685169"/>
            <a:ext cx="4334226" cy="334529"/>
          </a:xfrm>
          <a:prstGeom prst="rect">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solidFill>
                  <a:srgbClr val="1F2A5C"/>
                </a:solidFill>
                <a:latin typeface="メイリオ" panose="020B0604030504040204" pitchFamily="50" charset="-128"/>
                <a:ea typeface="メイリオ" panose="020B0604030504040204" pitchFamily="50" charset="-128"/>
                <a:cs typeface="メイリオ"/>
              </a:rPr>
              <a:t>アンケート</a:t>
            </a:r>
          </a:p>
        </p:txBody>
      </p:sp>
      <p:sp>
        <p:nvSpPr>
          <p:cNvPr id="55" name="正方形/長方形 54">
            <a:extLst>
              <a:ext uri="{FF2B5EF4-FFF2-40B4-BE49-F238E27FC236}">
                <a16:creationId xmlns:a16="http://schemas.microsoft.com/office/drawing/2014/main" id="{50620861-661B-61FD-CF03-A1B419A375AE}"/>
              </a:ext>
            </a:extLst>
          </p:cNvPr>
          <p:cNvSpPr/>
          <p:nvPr/>
        </p:nvSpPr>
        <p:spPr>
          <a:xfrm>
            <a:off x="2326221" y="3086838"/>
            <a:ext cx="2411242" cy="2173142"/>
          </a:xfrm>
          <a:prstGeom prst="rect">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solidFill>
                  <a:schemeClr val="tx1"/>
                </a:solidFill>
                <a:latin typeface="メイリオ" panose="020B0604030504040204" pitchFamily="50" charset="-128"/>
                <a:ea typeface="メイリオ" panose="020B0604030504040204" pitchFamily="50" charset="-128"/>
                <a:cs typeface="メイリオ"/>
              </a:rPr>
              <a:t>企画配信</a:t>
            </a:r>
          </a:p>
        </p:txBody>
      </p:sp>
      <p:sp>
        <p:nvSpPr>
          <p:cNvPr id="57" name="正方形/長方形 56">
            <a:extLst>
              <a:ext uri="{FF2B5EF4-FFF2-40B4-BE49-F238E27FC236}">
                <a16:creationId xmlns:a16="http://schemas.microsoft.com/office/drawing/2014/main" id="{4459A76C-C890-8CC0-17D9-2EF08525C001}"/>
              </a:ext>
            </a:extLst>
          </p:cNvPr>
          <p:cNvSpPr/>
          <p:nvPr/>
        </p:nvSpPr>
        <p:spPr>
          <a:xfrm>
            <a:off x="2232491" y="5442735"/>
            <a:ext cx="4334226" cy="334529"/>
          </a:xfrm>
          <a:prstGeom prst="rect">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b="1" dirty="0">
                <a:solidFill>
                  <a:schemeClr val="tx1"/>
                </a:solidFill>
                <a:latin typeface="メイリオ" panose="020B0604030504040204" pitchFamily="50" charset="-128"/>
                <a:ea typeface="メイリオ" panose="020B0604030504040204" pitchFamily="50" charset="-128"/>
                <a:cs typeface="メイリオ"/>
              </a:rPr>
              <a:t>モーメント配信</a:t>
            </a:r>
          </a:p>
        </p:txBody>
      </p:sp>
      <p:sp>
        <p:nvSpPr>
          <p:cNvPr id="65" name="正方形/長方形 64">
            <a:extLst>
              <a:ext uri="{FF2B5EF4-FFF2-40B4-BE49-F238E27FC236}">
                <a16:creationId xmlns:a16="http://schemas.microsoft.com/office/drawing/2014/main" id="{A8F1D398-BD32-DDD8-1642-E52C2B235BA4}"/>
              </a:ext>
            </a:extLst>
          </p:cNvPr>
          <p:cNvSpPr/>
          <p:nvPr/>
        </p:nvSpPr>
        <p:spPr>
          <a:xfrm>
            <a:off x="2232491" y="2302562"/>
            <a:ext cx="4334226" cy="334529"/>
          </a:xfrm>
          <a:prstGeom prst="rect">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solidFill>
                  <a:srgbClr val="1F2A5C"/>
                </a:solidFill>
                <a:latin typeface="メイリオ" panose="020B0604030504040204" pitchFamily="50" charset="-128"/>
                <a:ea typeface="メイリオ" panose="020B0604030504040204" pitchFamily="50" charset="-128"/>
                <a:cs typeface="メイリオ"/>
              </a:rPr>
              <a:t>挨拶メッセージ・リッチメニュー</a:t>
            </a:r>
          </a:p>
        </p:txBody>
      </p:sp>
      <p:sp>
        <p:nvSpPr>
          <p:cNvPr id="67" name="正方形/長方形 66">
            <a:extLst>
              <a:ext uri="{FF2B5EF4-FFF2-40B4-BE49-F238E27FC236}">
                <a16:creationId xmlns:a16="http://schemas.microsoft.com/office/drawing/2014/main" id="{F991B595-167D-EE44-3530-4DCE8C7B208F}"/>
              </a:ext>
            </a:extLst>
          </p:cNvPr>
          <p:cNvSpPr/>
          <p:nvPr/>
        </p:nvSpPr>
        <p:spPr>
          <a:xfrm>
            <a:off x="4822207" y="5838470"/>
            <a:ext cx="1653346" cy="489785"/>
          </a:xfrm>
          <a:prstGeom prst="rect">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75" name="正方形/長方形 74">
            <a:extLst>
              <a:ext uri="{FF2B5EF4-FFF2-40B4-BE49-F238E27FC236}">
                <a16:creationId xmlns:a16="http://schemas.microsoft.com/office/drawing/2014/main" id="{16B28472-CB01-9D89-509B-26D59B4BA089}"/>
              </a:ext>
            </a:extLst>
          </p:cNvPr>
          <p:cNvSpPr/>
          <p:nvPr/>
        </p:nvSpPr>
        <p:spPr>
          <a:xfrm>
            <a:off x="2326221" y="5838471"/>
            <a:ext cx="2411242" cy="489785"/>
          </a:xfrm>
          <a:prstGeom prst="rect">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81" name="正方形/長方形 80">
            <a:extLst>
              <a:ext uri="{FF2B5EF4-FFF2-40B4-BE49-F238E27FC236}">
                <a16:creationId xmlns:a16="http://schemas.microsoft.com/office/drawing/2014/main" id="{A5ED7B27-E5A3-1AD6-2F12-1265E4591B60}"/>
              </a:ext>
            </a:extLst>
          </p:cNvPr>
          <p:cNvSpPr/>
          <p:nvPr/>
        </p:nvSpPr>
        <p:spPr>
          <a:xfrm>
            <a:off x="115726" y="6285606"/>
            <a:ext cx="7578805" cy="9993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4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7" name="Google Shape;752;p28">
            <a:extLst>
              <a:ext uri="{FF2B5EF4-FFF2-40B4-BE49-F238E27FC236}">
                <a16:creationId xmlns:a16="http://schemas.microsoft.com/office/drawing/2014/main" id="{A711D9CD-A0E9-90A0-722C-36249BABF896}"/>
              </a:ext>
            </a:extLst>
          </p:cNvPr>
          <p:cNvSpPr txBox="1"/>
          <p:nvPr/>
        </p:nvSpPr>
        <p:spPr>
          <a:xfrm>
            <a:off x="548883" y="138137"/>
            <a:ext cx="7027574" cy="338514"/>
          </a:xfrm>
          <a:prstGeom prst="rect">
            <a:avLst/>
          </a:prstGeom>
          <a:noFill/>
          <a:ln>
            <a:noFill/>
          </a:ln>
        </p:spPr>
        <p:txBody>
          <a:bodyPr spcFirstLastPara="1" wrap="square" lIns="91425" tIns="45700" rIns="91425" bIns="45700" anchor="ctr" anchorCtr="0">
            <a:spAutoFit/>
          </a:bodyPr>
          <a:lstStyle/>
          <a:p>
            <a:pPr lvl="0"/>
            <a:r>
              <a:rPr lang="en-US" altLang="ja-JP" sz="1600" b="1" dirty="0">
                <a:solidFill>
                  <a:schemeClr val="tx1">
                    <a:lumMod val="50000"/>
                    <a:lumOff val="50000"/>
                  </a:schemeClr>
                </a:solidFill>
                <a:latin typeface="メイリオ"/>
                <a:ea typeface="メイリオ"/>
                <a:cs typeface="メイリオ"/>
                <a:sym typeface="Meiryo"/>
              </a:rPr>
              <a:t>LINE</a:t>
            </a:r>
            <a:r>
              <a:rPr lang="ja-JP" altLang="en-US" sz="1600" b="1" dirty="0">
                <a:solidFill>
                  <a:schemeClr val="tx1">
                    <a:lumMod val="50000"/>
                    <a:lumOff val="50000"/>
                  </a:schemeClr>
                </a:solidFill>
                <a:latin typeface="メイリオ"/>
                <a:ea typeface="メイリオ"/>
                <a:cs typeface="メイリオ"/>
                <a:sym typeface="Meiryo"/>
              </a:rPr>
              <a:t>施策における重要な考え方</a:t>
            </a:r>
            <a:endParaRPr lang="en-US" altLang="ja-JP" sz="1600" b="1" dirty="0">
              <a:solidFill>
                <a:schemeClr val="tx1">
                  <a:lumMod val="50000"/>
                  <a:lumOff val="50000"/>
                </a:schemeClr>
              </a:solidFill>
              <a:latin typeface="メイリオ"/>
              <a:ea typeface="メイリオ"/>
              <a:cs typeface="メイリオ"/>
              <a:sym typeface="Meiryo"/>
            </a:endParaRPr>
          </a:p>
        </p:txBody>
      </p:sp>
    </p:spTree>
    <p:extLst>
      <p:ext uri="{BB962C8B-B14F-4D97-AF65-F5344CB8AC3E}">
        <p14:creationId xmlns:p14="http://schemas.microsoft.com/office/powerpoint/2010/main" val="10655606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8A337D-17CA-E6E5-D505-2573F42DF1AE}"/>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764D8A5C-7B4A-390C-FB5B-FB3131C930AD}"/>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 name="正方形/長方形 3">
            <a:extLst>
              <a:ext uri="{FF2B5EF4-FFF2-40B4-BE49-F238E27FC236}">
                <a16:creationId xmlns:a16="http://schemas.microsoft.com/office/drawing/2014/main" id="{EEFB8B0A-6EC5-1DE8-1B6D-A4065AE6AEA0}"/>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sp>
        <p:nvSpPr>
          <p:cNvPr id="45" name="Google Shape;156;p7">
            <a:extLst>
              <a:ext uri="{FF2B5EF4-FFF2-40B4-BE49-F238E27FC236}">
                <a16:creationId xmlns:a16="http://schemas.microsoft.com/office/drawing/2014/main" id="{414EC833-F0FA-AEDA-4F48-B979DDE04109}"/>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配信の出し分け：予約した方／予約していない方</a:t>
            </a:r>
            <a:endParaRPr sz="1600" b="1" dirty="0">
              <a:solidFill>
                <a:srgbClr val="002060"/>
              </a:solidFill>
              <a:latin typeface="メイリオ"/>
              <a:ea typeface="メイリオ"/>
              <a:cs typeface="メイリオ"/>
              <a:sym typeface="Meiryo"/>
            </a:endParaRPr>
          </a:p>
        </p:txBody>
      </p:sp>
      <p:sp>
        <p:nvSpPr>
          <p:cNvPr id="5" name="Heading">
            <a:extLst>
              <a:ext uri="{FF2B5EF4-FFF2-40B4-BE49-F238E27FC236}">
                <a16:creationId xmlns:a16="http://schemas.microsoft.com/office/drawing/2014/main" id="{C7E6A42B-1136-E29F-50E6-B072A610CB01}"/>
              </a:ext>
            </a:extLst>
          </p:cNvPr>
          <p:cNvSpPr txBox="1"/>
          <p:nvPr/>
        </p:nvSpPr>
        <p:spPr>
          <a:xfrm>
            <a:off x="381000" y="1181608"/>
            <a:ext cx="9144000" cy="279400"/>
          </a:xfrm>
          <a:prstGeom prst="rect">
            <a:avLst/>
          </a:prstGeom>
          <a:noFill/>
          <a:ln>
            <a:noFill/>
          </a:ln>
        </p:spPr>
        <p:txBody>
          <a:bodyPr wrap="square" lIns="101600" tIns="76200" rIns="101600" bIns="76200" anchor="t"/>
          <a:lstStyle/>
          <a:p>
            <a:pPr>
              <a:buClr>
                <a:srgbClr val="000000"/>
              </a:buClr>
              <a:buFont typeface="Arial"/>
              <a:buNone/>
            </a:pPr>
            <a:r>
              <a:rPr kumimoji="0" lang="ja-JP" altLang="en-US" sz="1400" b="1" kern="0" dirty="0">
                <a:solidFill>
                  <a:srgbClr val="1F2A5C"/>
                </a:solidFill>
                <a:latin typeface="メイリオ" panose="020B0604030504040204" pitchFamily="50" charset="-128"/>
                <a:ea typeface="メイリオ" panose="020B0604030504040204" pitchFamily="50" charset="-128"/>
                <a:cs typeface="メイリオ"/>
                <a:sym typeface="Arial"/>
              </a:rPr>
              <a:t>出し分けの考え方</a:t>
            </a:r>
          </a:p>
        </p:txBody>
      </p:sp>
      <p:sp>
        <p:nvSpPr>
          <p:cNvPr id="6" name="LeftHeader">
            <a:extLst>
              <a:ext uri="{FF2B5EF4-FFF2-40B4-BE49-F238E27FC236}">
                <a16:creationId xmlns:a16="http://schemas.microsoft.com/office/drawing/2014/main" id="{88B8ADE6-2320-90DE-4B5D-0E825050A440}"/>
              </a:ext>
            </a:extLst>
          </p:cNvPr>
          <p:cNvSpPr txBox="1"/>
          <p:nvPr/>
        </p:nvSpPr>
        <p:spPr>
          <a:xfrm>
            <a:off x="381000" y="1562607"/>
            <a:ext cx="4445000" cy="380999"/>
          </a:xfrm>
          <a:prstGeom prst="rect">
            <a:avLst/>
          </a:prstGeom>
          <a:solidFill>
            <a:srgbClr val="1F2A5C"/>
          </a:solidFill>
          <a:ln>
            <a:noFill/>
          </a:ln>
        </p:spPr>
        <p:txBody>
          <a:bodyPr wrap="square" lIns="152400" tIns="76200" rIns="152400" bIns="76200" anchor="ctr"/>
          <a:lstStyle/>
          <a:p>
            <a:pPr algn="ctr">
              <a:buClr>
                <a:srgbClr val="000000"/>
              </a:buClr>
              <a:buFont typeface="Arial"/>
              <a:buNone/>
            </a:pPr>
            <a:r>
              <a:rPr kumimoji="0" lang="ja-JP" altLang="en-US" sz="1400" b="1" kern="0" dirty="0">
                <a:solidFill>
                  <a:srgbClr val="FFFFFF"/>
                </a:solidFill>
                <a:latin typeface="メイリオ" panose="020B0604030504040204" pitchFamily="50" charset="-128"/>
                <a:ea typeface="メイリオ" panose="020B0604030504040204" pitchFamily="50" charset="-128"/>
                <a:cs typeface="メイリオ"/>
                <a:sym typeface="Arial"/>
              </a:rPr>
              <a:t>イベント期の層（予約した方）</a:t>
            </a:r>
          </a:p>
        </p:txBody>
      </p:sp>
      <p:sp>
        <p:nvSpPr>
          <p:cNvPr id="7" name="LeftBody">
            <a:extLst>
              <a:ext uri="{FF2B5EF4-FFF2-40B4-BE49-F238E27FC236}">
                <a16:creationId xmlns:a16="http://schemas.microsoft.com/office/drawing/2014/main" id="{04B17781-2CE9-1794-B996-D203F2127177}"/>
              </a:ext>
            </a:extLst>
          </p:cNvPr>
          <p:cNvSpPr txBox="1"/>
          <p:nvPr/>
        </p:nvSpPr>
        <p:spPr>
          <a:xfrm>
            <a:off x="381000" y="1943607"/>
            <a:ext cx="4445000" cy="2423763"/>
          </a:xfrm>
          <a:prstGeom prst="rect">
            <a:avLst/>
          </a:prstGeom>
          <a:solidFill>
            <a:srgbClr val="F5F7FA"/>
          </a:solidFill>
          <a:ln w="6350">
            <a:solidFill>
              <a:srgbClr val="D1D8E0"/>
            </a:solidFill>
          </a:ln>
        </p:spPr>
        <p:txBody>
          <a:bodyPr wrap="square" lIns="177800" tIns="152400" rIns="177800" bIns="152400" anchor="t"/>
          <a:lstStyle/>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特徴</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セミナーを予約済み・参加の意思がある</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当日までに日が空く</a:t>
            </a:r>
          </a:p>
          <a:p>
            <a:pPr>
              <a:spcBef>
                <a:spcPts val="600"/>
              </a:spcBef>
              <a:buClr>
                <a:srgbClr val="000000"/>
              </a:buClr>
              <a:buFont typeface="Arial"/>
              <a:buNone/>
            </a:pPr>
            <a:endParaRPr kumimoji="0" lang="en-US" altLang="ja-JP" sz="1200" b="1" kern="0" dirty="0">
              <a:solidFill>
                <a:srgbClr val="1F2A5C"/>
              </a:solidFill>
              <a:latin typeface="メイリオ" panose="020B0604030504040204" pitchFamily="50" charset="-128"/>
              <a:ea typeface="メイリオ" panose="020B0604030504040204" pitchFamily="50" charset="-128"/>
              <a:cs typeface="メイリオ"/>
              <a:sym typeface="Arial"/>
            </a:endParaRPr>
          </a:p>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メリット</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日程ごとの前日・当日のお知らせで、当日の参加につなげられる</a:t>
            </a:r>
          </a:p>
          <a:p>
            <a:pPr>
              <a:spcBef>
                <a:spcPts val="600"/>
              </a:spcBef>
              <a:buClr>
                <a:srgbClr val="000000"/>
              </a:buClr>
              <a:buFont typeface="Arial"/>
              <a:buNone/>
            </a:pPr>
            <a:endParaRPr kumimoji="0" lang="en-US" altLang="ja-JP" sz="1200" b="1" kern="0" dirty="0">
              <a:solidFill>
                <a:srgbClr val="1F2A5C"/>
              </a:solidFill>
              <a:latin typeface="メイリオ" panose="020B0604030504040204" pitchFamily="50" charset="-128"/>
              <a:ea typeface="メイリオ" panose="020B0604030504040204" pitchFamily="50" charset="-128"/>
              <a:cs typeface="メイリオ"/>
              <a:sym typeface="Arial"/>
            </a:endParaRPr>
          </a:p>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デメリット</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当日に参加しないと、そのまま離れやすい</a:t>
            </a:r>
          </a:p>
        </p:txBody>
      </p:sp>
      <p:sp>
        <p:nvSpPr>
          <p:cNvPr id="9" name="RightHeader">
            <a:extLst>
              <a:ext uri="{FF2B5EF4-FFF2-40B4-BE49-F238E27FC236}">
                <a16:creationId xmlns:a16="http://schemas.microsoft.com/office/drawing/2014/main" id="{83D7B48F-F108-1D28-80D9-9B07405A3AF3}"/>
              </a:ext>
            </a:extLst>
          </p:cNvPr>
          <p:cNvSpPr txBox="1"/>
          <p:nvPr/>
        </p:nvSpPr>
        <p:spPr>
          <a:xfrm>
            <a:off x="5080000" y="1562607"/>
            <a:ext cx="4445000" cy="380999"/>
          </a:xfrm>
          <a:prstGeom prst="rect">
            <a:avLst/>
          </a:prstGeom>
          <a:solidFill>
            <a:srgbClr val="1F2A5C"/>
          </a:solidFill>
          <a:ln>
            <a:noFill/>
          </a:ln>
        </p:spPr>
        <p:txBody>
          <a:bodyPr wrap="square" lIns="152400" tIns="76200" rIns="152400" bIns="76200" anchor="ctr"/>
          <a:lstStyle/>
          <a:p>
            <a:pPr algn="ctr">
              <a:buClr>
                <a:srgbClr val="000000"/>
              </a:buClr>
              <a:buFont typeface="Arial"/>
              <a:buNone/>
            </a:pPr>
            <a:r>
              <a:rPr kumimoji="0" lang="ja-JP" altLang="en-US" sz="1400" b="1" kern="0" dirty="0">
                <a:solidFill>
                  <a:srgbClr val="FFFFFF"/>
                </a:solidFill>
                <a:latin typeface="メイリオ" panose="020B0604030504040204" pitchFamily="50" charset="-128"/>
                <a:ea typeface="メイリオ" panose="020B0604030504040204" pitchFamily="50" charset="-128"/>
                <a:cs typeface="メイリオ"/>
                <a:sym typeface="Arial"/>
              </a:rPr>
              <a:t>平常期の層（予約していない方）</a:t>
            </a:r>
          </a:p>
        </p:txBody>
      </p:sp>
      <p:sp>
        <p:nvSpPr>
          <p:cNvPr id="11" name="RightBody">
            <a:extLst>
              <a:ext uri="{FF2B5EF4-FFF2-40B4-BE49-F238E27FC236}">
                <a16:creationId xmlns:a16="http://schemas.microsoft.com/office/drawing/2014/main" id="{854968D2-9B97-28FB-49F7-CCBD26E2F10D}"/>
              </a:ext>
            </a:extLst>
          </p:cNvPr>
          <p:cNvSpPr txBox="1"/>
          <p:nvPr/>
        </p:nvSpPr>
        <p:spPr>
          <a:xfrm>
            <a:off x="5080000" y="1943607"/>
            <a:ext cx="4445000" cy="2423763"/>
          </a:xfrm>
          <a:prstGeom prst="rect">
            <a:avLst/>
          </a:prstGeom>
          <a:solidFill>
            <a:srgbClr val="FFFFFF"/>
          </a:solidFill>
          <a:ln w="12700">
            <a:solidFill>
              <a:srgbClr val="1F2A5C"/>
            </a:solidFill>
          </a:ln>
        </p:spPr>
        <p:txBody>
          <a:bodyPr wrap="square" lIns="177800" tIns="152400" rIns="177800" bIns="152400" anchor="t"/>
          <a:lstStyle/>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特徴</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LPを見たが、今回は申し込んでいない</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次のイベントまで間がある</a:t>
            </a:r>
          </a:p>
          <a:p>
            <a:pPr>
              <a:spcBef>
                <a:spcPts val="600"/>
              </a:spcBef>
              <a:buClr>
                <a:srgbClr val="000000"/>
              </a:buClr>
              <a:buFont typeface="Arial"/>
              <a:buNone/>
            </a:pPr>
            <a:endParaRPr kumimoji="0" lang="en-US" altLang="ja-JP" sz="1200" b="1" kern="0" dirty="0">
              <a:solidFill>
                <a:srgbClr val="1F2A5C"/>
              </a:solidFill>
              <a:latin typeface="メイリオ" panose="020B0604030504040204" pitchFamily="50" charset="-128"/>
              <a:ea typeface="メイリオ" panose="020B0604030504040204" pitchFamily="50" charset="-128"/>
              <a:cs typeface="メイリオ"/>
              <a:sym typeface="Arial"/>
            </a:endParaRPr>
          </a:p>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メリット</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平常期の配信で、次のイベントまでつながりを保てる</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次のイベントの案内を、開催が決まり次第届けられる</a:t>
            </a:r>
          </a:p>
          <a:p>
            <a:pPr>
              <a:spcBef>
                <a:spcPts val="600"/>
              </a:spcBef>
              <a:buClr>
                <a:srgbClr val="000000"/>
              </a:buClr>
              <a:buFont typeface="Arial"/>
              <a:buNone/>
            </a:pPr>
            <a:endParaRPr kumimoji="0" lang="en-US" altLang="ja-JP" sz="1200" b="1" kern="0" dirty="0">
              <a:solidFill>
                <a:srgbClr val="1F2A5C"/>
              </a:solidFill>
              <a:latin typeface="メイリオ" panose="020B0604030504040204" pitchFamily="50" charset="-128"/>
              <a:ea typeface="メイリオ" panose="020B0604030504040204" pitchFamily="50" charset="-128"/>
              <a:cs typeface="メイリオ"/>
              <a:sym typeface="Arial"/>
            </a:endParaRPr>
          </a:p>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デメリット</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予約・入会まで時間がかかる</a:t>
            </a:r>
          </a:p>
        </p:txBody>
      </p:sp>
      <p:sp>
        <p:nvSpPr>
          <p:cNvPr id="13" name="Conclusion">
            <a:extLst>
              <a:ext uri="{FF2B5EF4-FFF2-40B4-BE49-F238E27FC236}">
                <a16:creationId xmlns:a16="http://schemas.microsoft.com/office/drawing/2014/main" id="{C13E0556-1137-A003-99B5-1CC8EE085C44}"/>
              </a:ext>
            </a:extLst>
          </p:cNvPr>
          <p:cNvSpPr txBox="1"/>
          <p:nvPr/>
        </p:nvSpPr>
        <p:spPr>
          <a:xfrm>
            <a:off x="381000" y="4554727"/>
            <a:ext cx="9144000" cy="1234440"/>
          </a:xfrm>
          <a:prstGeom prst="rect">
            <a:avLst/>
          </a:prstGeom>
          <a:solidFill>
            <a:srgbClr val="F0F2F7"/>
          </a:solidFill>
          <a:ln>
            <a:noFill/>
          </a:ln>
        </p:spPr>
        <p:txBody>
          <a:bodyPr wrap="square" lIns="177800" tIns="127000" rIns="177800" bIns="127000" anchor="t"/>
          <a:lstStyle/>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結論・推奨</a:t>
            </a:r>
          </a:p>
          <a:p>
            <a:pPr>
              <a:spcBef>
                <a:spcPts val="200"/>
              </a:spcBef>
              <a:buClr>
                <a:srgbClr val="000000"/>
              </a:buClr>
              <a:buFont typeface="Arial"/>
              <a:buNone/>
            </a:pPr>
            <a:r>
              <a:rPr kumimoji="0" lang="en-US" altLang="ja-JP" sz="1200" kern="0" dirty="0">
                <a:solidFill>
                  <a:srgbClr val="333333"/>
                </a:solidFill>
                <a:latin typeface="メイリオ" panose="020B0604030504040204" pitchFamily="50" charset="-128"/>
                <a:ea typeface="メイリオ" panose="020B0604030504040204" pitchFamily="50" charset="-128"/>
                <a:cs typeface="メイリオ"/>
                <a:sym typeface="Arial"/>
              </a:rPr>
              <a:t>友だち追加の流入経路（離脱防止ポップアップ／予約完了後のご案内）で分け、予約した方は当日の参加へ、</a:t>
            </a:r>
          </a:p>
          <a:p>
            <a:pPr>
              <a:spcBef>
                <a:spcPts val="200"/>
              </a:spcBef>
              <a:buClr>
                <a:srgbClr val="000000"/>
              </a:buClr>
              <a:buFont typeface="Arial"/>
              <a:buNone/>
            </a:pPr>
            <a:r>
              <a:rPr kumimoji="0" lang="en-US" altLang="ja-JP" sz="1200" kern="0" dirty="0">
                <a:solidFill>
                  <a:srgbClr val="333333"/>
                </a:solidFill>
                <a:latin typeface="メイリオ" panose="020B0604030504040204" pitchFamily="50" charset="-128"/>
                <a:ea typeface="メイリオ" panose="020B0604030504040204" pitchFamily="50" charset="-128"/>
                <a:cs typeface="メイリオ"/>
                <a:sym typeface="Arial"/>
              </a:rPr>
              <a:t>予約していない方は平常期の配信で次のイベントへつなげる。流入経路だけでは予約・参加・入会の状況をすべて把握できないため、状況に応じた出し分けは、連携の仕様を確認のうえ設計。</a:t>
            </a:r>
          </a:p>
        </p:txBody>
      </p:sp>
    </p:spTree>
    <p:extLst>
      <p:ext uri="{BB962C8B-B14F-4D97-AF65-F5344CB8AC3E}">
        <p14:creationId xmlns:p14="http://schemas.microsoft.com/office/powerpoint/2010/main" val="32036484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Google Shape;156;p7">
            <a:extLst>
              <a:ext uri="{FF2B5EF4-FFF2-40B4-BE49-F238E27FC236}">
                <a16:creationId xmlns:a16="http://schemas.microsoft.com/office/drawing/2014/main" id="{73A3A993-1ECB-4CB5-EF51-73494E022DA2}"/>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友だち追加直後のステップ配信（5通・案）</a:t>
            </a:r>
            <a:endParaRPr sz="1600" b="1" dirty="0">
              <a:solidFill>
                <a:srgbClr val="002060"/>
              </a:solidFill>
              <a:latin typeface="メイリオ"/>
              <a:ea typeface="メイリオ"/>
              <a:cs typeface="メイリオ"/>
              <a:sym typeface="Meiryo"/>
            </a:endParaRPr>
          </a:p>
        </p:txBody>
      </p:sp>
      <p:sp>
        <p:nvSpPr>
          <p:cNvPr id="46" name="正方形/長方形 2">
            <a:extLst>
              <a:ext uri="{FF2B5EF4-FFF2-40B4-BE49-F238E27FC236}">
                <a16:creationId xmlns:a16="http://schemas.microsoft.com/office/drawing/2014/main" id="{31AFE6AB-F1DA-C6B7-D87F-3695F50AA578}"/>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7" name="正方形/長方形 3">
            <a:extLst>
              <a:ext uri="{FF2B5EF4-FFF2-40B4-BE49-F238E27FC236}">
                <a16:creationId xmlns:a16="http://schemas.microsoft.com/office/drawing/2014/main" id="{F8C7209A-302D-E575-6893-8AB70FAE1F89}"/>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cxnSp>
        <p:nvCxnSpPr>
          <p:cNvPr id="48" name="直線コネクタ 1">
            <a:extLst>
              <a:ext uri="{FF2B5EF4-FFF2-40B4-BE49-F238E27FC236}">
                <a16:creationId xmlns:a16="http://schemas.microsoft.com/office/drawing/2014/main" id="{075811D5-D863-CFCC-F7C2-B17B78E050E7}"/>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9" name="テキスト ボックス 8">
            <a:extLst>
              <a:ext uri="{FF2B5EF4-FFF2-40B4-BE49-F238E27FC236}">
                <a16:creationId xmlns:a16="http://schemas.microsoft.com/office/drawing/2014/main" id="{4C3DC3D4-7D19-11E4-6F8B-21449E92FE21}"/>
              </a:ext>
            </a:extLst>
          </p:cNvPr>
          <p:cNvSpPr txBox="1"/>
          <p:nvPr/>
        </p:nvSpPr>
        <p:spPr>
          <a:xfrm>
            <a:off x="181151" y="707743"/>
            <a:ext cx="9476706" cy="625812"/>
          </a:xfrm>
          <a:prstGeom prst="rect">
            <a:avLst/>
          </a:prstGeom>
          <a:noFill/>
        </p:spPr>
        <p:txBody>
          <a:bodyPr wrap="square">
            <a:spAutoFit/>
          </a:bodyPr>
          <a:lstStyle/>
          <a:p>
            <a:pPr marL="228600">
              <a:spcAft>
                <a:spcPts val="800"/>
              </a:spcAft>
              <a:buNone/>
            </a:pPr>
            <a:r>
              <a:rPr lang="ja-JP" altLang="ja-JP" sz="1400" dirty="0">
                <a:effectLst/>
                <a:latin typeface="メイリオ" panose="02020603050405020304" pitchFamily="18" charset="0"/>
                <a:ea typeface="メイリオ" panose="020B0604030504040204" pitchFamily="50" charset="-128"/>
                <a:cs typeface="メイリオ" panose="020B0604030504040204" pitchFamily="50" charset="-128"/>
              </a:rPr>
              <a:t>追加直後の関心が高いうちに、セミナーの中身と参加の判断材料を届ける</a:t>
            </a:r>
            <a:endParaRPr lang="en-US" altLang="ja-JP" sz="1400" dirty="0">
              <a:effectLst/>
              <a:latin typeface="メイリオ" panose="02020603050405020304" pitchFamily="18" charset="0"/>
              <a:ea typeface="メイリオ" panose="020B0604030504040204" pitchFamily="50" charset="-128"/>
              <a:cs typeface="メイリオ" panose="020B0604030504040204" pitchFamily="50" charset="-128"/>
            </a:endParaRPr>
          </a:p>
        </p:txBody>
      </p:sp>
      <p:sp>
        <p:nvSpPr>
          <p:cNvPr id="50" name="ステップ 追加直後"/>
          <p:cNvSpPr/>
          <p:nvPr/>
        </p:nvSpPr>
        <p:spPr>
          <a:xfrm>
            <a:off x="420624" y="1783080"/>
            <a:ext cx="1700784" cy="384048"/>
          </a:xfrm>
          <a:prstGeom prst="rect">
            <a:avLst/>
          </a:prstGeom>
          <a:solidFill>
            <a:srgbClr val="1F2A5C"/>
          </a:solidFill>
          <a:ln>
            <a:noFill/>
          </a:ln>
        </p:spPr>
        <p:txBody>
          <a:bodyPr wrap="square" lIns="73152" tIns="36576" rIns="73152" bIns="36576" rtlCol="0" anchor="ctr">
            <a:noAutofit/>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追加直後</a:t>
            </a:r>
            <a:endParaRPr lang="ja-JP" altLang="en-US" sz="1200" dirty="0">
              <a:latin typeface="メイリオ"/>
              <a:ea typeface="メイリオ"/>
              <a:cs typeface="メイリオ"/>
            </a:endParaRPr>
          </a:p>
        </p:txBody>
      </p:sp>
      <p:sp>
        <p:nvSpPr>
          <p:cNvPr id="51" name="配信 追加直後"/>
          <p:cNvSpPr/>
          <p:nvPr/>
        </p:nvSpPr>
        <p:spPr>
          <a:xfrm>
            <a:off x="420624" y="2240280"/>
            <a:ext cx="1700784" cy="457200"/>
          </a:xfrm>
          <a:prstGeom prst="rect">
            <a:avLst/>
          </a:prstGeom>
          <a:solidFill>
            <a:srgbClr val="EEF1F8"/>
          </a:solidFill>
          <a:ln>
            <a:noFill/>
          </a:ln>
        </p:spPr>
        <p:txBody>
          <a:bodyPr wrap="square" lIns="36576" tIns="18288" rIns="36576" bIns="18288" rtlCol="0" anchor="ctr">
            <a:noAutofit/>
          </a:bodyPr>
          <a:lstStyle/>
          <a:p>
            <a:pPr algn="ctr">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あいさつ・参加特典</a:t>
            </a:r>
            <a:endParaRPr lang="ja-JP" altLang="en-US" sz="1200" dirty="0">
              <a:latin typeface="メイリオ"/>
              <a:ea typeface="メイリオ"/>
              <a:cs typeface="メイリオ"/>
            </a:endParaRPr>
          </a:p>
        </p:txBody>
      </p:sp>
      <p:sp>
        <p:nvSpPr>
          <p:cNvPr id="52" name="内容 追加直後"/>
          <p:cNvSpPr/>
          <p:nvPr/>
        </p:nvSpPr>
        <p:spPr>
          <a:xfrm>
            <a:off x="420624" y="2770632"/>
            <a:ext cx="1700784" cy="1600200"/>
          </a:xfrm>
          <a:prstGeom prst="rect">
            <a:avLst/>
          </a:prstGeom>
          <a:solidFill>
            <a:srgbClr val="F5F7FA"/>
          </a:solidFill>
          <a:ln>
            <a:noFill/>
          </a:ln>
        </p:spPr>
        <p:txBody>
          <a:bodyPr wrap="square" lIns="73152" tIns="73152" rIns="73152" bIns="54864" rtlCol="0" anchor="t">
            <a:noAutofit/>
          </a:bodyPr>
          <a:lstStyle/>
          <a:p>
            <a:pPr algn="l">
              <a:lnSpc>
                <a:spcPct val="115000"/>
              </a:lnSpc>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参加特典をご案内。必要に応じて、興味分野を1問で確認（保険営業の方向け／一般の方向け）</a:t>
            </a:r>
            <a:endParaRPr lang="ja-JP" altLang="en-US" sz="1200" dirty="0">
              <a:latin typeface="メイリオ"/>
              <a:ea typeface="メイリオ"/>
              <a:cs typeface="メイリオ"/>
            </a:endParaRPr>
          </a:p>
        </p:txBody>
      </p:sp>
      <p:sp>
        <p:nvSpPr>
          <p:cNvPr id="53" name="ステップ 1〜2日後"/>
          <p:cNvSpPr/>
          <p:nvPr/>
        </p:nvSpPr>
        <p:spPr>
          <a:xfrm>
            <a:off x="2258568" y="1783080"/>
            <a:ext cx="1700784" cy="384048"/>
          </a:xfrm>
          <a:prstGeom prst="rect">
            <a:avLst/>
          </a:prstGeom>
          <a:solidFill>
            <a:srgbClr val="1F2A5C"/>
          </a:solidFill>
          <a:ln>
            <a:noFill/>
          </a:ln>
        </p:spPr>
        <p:txBody>
          <a:bodyPr wrap="square" lIns="73152" tIns="36576" rIns="73152" bIns="36576" rtlCol="0" anchor="ctr">
            <a:noAutofit/>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1〜2日後</a:t>
            </a:r>
            <a:endParaRPr lang="ja-JP" altLang="en-US" sz="1200" dirty="0">
              <a:latin typeface="メイリオ"/>
              <a:ea typeface="メイリオ"/>
              <a:cs typeface="メイリオ"/>
            </a:endParaRPr>
          </a:p>
        </p:txBody>
      </p:sp>
      <p:sp>
        <p:nvSpPr>
          <p:cNvPr id="54" name="配信 1〜2日後"/>
          <p:cNvSpPr/>
          <p:nvPr/>
        </p:nvSpPr>
        <p:spPr>
          <a:xfrm>
            <a:off x="2258568" y="2240280"/>
            <a:ext cx="1700784" cy="457200"/>
          </a:xfrm>
          <a:prstGeom prst="rect">
            <a:avLst/>
          </a:prstGeom>
          <a:solidFill>
            <a:srgbClr val="EEF1F8"/>
          </a:solidFill>
          <a:ln>
            <a:noFill/>
          </a:ln>
        </p:spPr>
        <p:txBody>
          <a:bodyPr wrap="square" lIns="36576" tIns="18288" rIns="36576" bIns="18288" rtlCol="0" anchor="ctr">
            <a:noAutofit/>
          </a:bodyPr>
          <a:lstStyle/>
          <a:p>
            <a:pPr algn="ctr">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見どころ動画</a:t>
            </a:r>
            <a:endParaRPr lang="ja-JP" altLang="en-US" sz="1200" dirty="0">
              <a:latin typeface="メイリオ"/>
              <a:ea typeface="メイリオ"/>
              <a:cs typeface="メイリオ"/>
            </a:endParaRPr>
          </a:p>
        </p:txBody>
      </p:sp>
      <p:sp>
        <p:nvSpPr>
          <p:cNvPr id="55" name="内容 1〜2日後"/>
          <p:cNvSpPr/>
          <p:nvPr/>
        </p:nvSpPr>
        <p:spPr>
          <a:xfrm>
            <a:off x="2258568" y="2770632"/>
            <a:ext cx="1700784" cy="1600200"/>
          </a:xfrm>
          <a:prstGeom prst="rect">
            <a:avLst/>
          </a:prstGeom>
          <a:solidFill>
            <a:srgbClr val="F5F7FA"/>
          </a:solidFill>
          <a:ln>
            <a:noFill/>
          </a:ln>
        </p:spPr>
        <p:txBody>
          <a:bodyPr wrap="square" lIns="73152" tIns="73152" rIns="73152" bIns="54864" rtlCol="0" anchor="t">
            <a:noAutofit/>
          </a:bodyPr>
          <a:lstStyle/>
          <a:p>
            <a:pPr algn="l">
              <a:lnSpc>
                <a:spcPct val="115000"/>
              </a:lnSpc>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両想い営業・ライフプランブロックなど、セミナーの見どころを動画で紹介</a:t>
            </a:r>
            <a:endParaRPr lang="ja-JP" altLang="en-US" sz="1200" dirty="0">
              <a:latin typeface="メイリオ"/>
              <a:ea typeface="メイリオ"/>
              <a:cs typeface="メイリオ"/>
            </a:endParaRPr>
          </a:p>
        </p:txBody>
      </p:sp>
      <p:sp>
        <p:nvSpPr>
          <p:cNvPr id="56" name="ステップ 4〜5日後"/>
          <p:cNvSpPr/>
          <p:nvPr/>
        </p:nvSpPr>
        <p:spPr>
          <a:xfrm>
            <a:off x="4096512" y="1783080"/>
            <a:ext cx="1700784" cy="384048"/>
          </a:xfrm>
          <a:prstGeom prst="rect">
            <a:avLst/>
          </a:prstGeom>
          <a:solidFill>
            <a:srgbClr val="1F2A5C"/>
          </a:solidFill>
          <a:ln>
            <a:noFill/>
          </a:ln>
        </p:spPr>
        <p:txBody>
          <a:bodyPr wrap="square" lIns="73152" tIns="36576" rIns="73152" bIns="36576" rtlCol="0" anchor="ctr">
            <a:noAutofit/>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4〜5日後</a:t>
            </a:r>
            <a:endParaRPr lang="ja-JP" altLang="en-US" sz="1200" dirty="0">
              <a:latin typeface="メイリオ"/>
              <a:ea typeface="メイリオ"/>
              <a:cs typeface="メイリオ"/>
            </a:endParaRPr>
          </a:p>
        </p:txBody>
      </p:sp>
      <p:sp>
        <p:nvSpPr>
          <p:cNvPr id="57" name="配信 4〜5日後"/>
          <p:cNvSpPr/>
          <p:nvPr/>
        </p:nvSpPr>
        <p:spPr>
          <a:xfrm>
            <a:off x="4096512" y="2240280"/>
            <a:ext cx="1700784" cy="457200"/>
          </a:xfrm>
          <a:prstGeom prst="rect">
            <a:avLst/>
          </a:prstGeom>
          <a:solidFill>
            <a:srgbClr val="EEF1F8"/>
          </a:solidFill>
          <a:ln>
            <a:noFill/>
          </a:ln>
        </p:spPr>
        <p:txBody>
          <a:bodyPr wrap="square" lIns="36576" tIns="18288" rIns="36576" bIns="18288" rtlCol="0" anchor="ctr">
            <a:noAutofit/>
          </a:bodyPr>
          <a:lstStyle/>
          <a:p>
            <a:pPr algn="ctr">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受講生の声</a:t>
            </a:r>
            <a:endParaRPr lang="ja-JP" altLang="en-US" sz="1200" dirty="0">
              <a:latin typeface="メイリオ"/>
              <a:ea typeface="メイリオ"/>
              <a:cs typeface="メイリオ"/>
            </a:endParaRPr>
          </a:p>
        </p:txBody>
      </p:sp>
      <p:sp>
        <p:nvSpPr>
          <p:cNvPr id="58" name="内容 4〜5日後"/>
          <p:cNvSpPr/>
          <p:nvPr/>
        </p:nvSpPr>
        <p:spPr>
          <a:xfrm>
            <a:off x="4096512" y="2770632"/>
            <a:ext cx="1700784" cy="1600200"/>
          </a:xfrm>
          <a:prstGeom prst="rect">
            <a:avLst/>
          </a:prstGeom>
          <a:solidFill>
            <a:srgbClr val="F5F7FA"/>
          </a:solidFill>
          <a:ln>
            <a:noFill/>
          </a:ln>
        </p:spPr>
        <p:txBody>
          <a:bodyPr wrap="square" lIns="73152" tIns="73152" rIns="73152" bIns="54864" rtlCol="0" anchor="t">
            <a:noAutofit/>
          </a:bodyPr>
          <a:lstStyle/>
          <a:p>
            <a:pPr algn="l">
              <a:lnSpc>
                <a:spcPct val="115000"/>
              </a:lnSpc>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面談の進め方が変わった受講生の声を紹介</a:t>
            </a:r>
            <a:endParaRPr lang="ja-JP" altLang="en-US" sz="1200" dirty="0">
              <a:latin typeface="メイリオ"/>
              <a:ea typeface="メイリオ"/>
              <a:cs typeface="メイリオ"/>
            </a:endParaRPr>
          </a:p>
        </p:txBody>
      </p:sp>
      <p:sp>
        <p:nvSpPr>
          <p:cNvPr id="59" name="ステップ 8〜9日後"/>
          <p:cNvSpPr/>
          <p:nvPr/>
        </p:nvSpPr>
        <p:spPr>
          <a:xfrm>
            <a:off x="5934456" y="1783080"/>
            <a:ext cx="1700784" cy="384048"/>
          </a:xfrm>
          <a:prstGeom prst="rect">
            <a:avLst/>
          </a:prstGeom>
          <a:solidFill>
            <a:srgbClr val="1F2A5C"/>
          </a:solidFill>
          <a:ln>
            <a:noFill/>
          </a:ln>
        </p:spPr>
        <p:txBody>
          <a:bodyPr wrap="square" lIns="73152" tIns="36576" rIns="73152" bIns="36576" rtlCol="0" anchor="ctr">
            <a:noAutofit/>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8〜9日後</a:t>
            </a:r>
            <a:endParaRPr lang="ja-JP" altLang="en-US" sz="1200" dirty="0">
              <a:latin typeface="メイリオ"/>
              <a:ea typeface="メイリオ"/>
              <a:cs typeface="メイリオ"/>
            </a:endParaRPr>
          </a:p>
        </p:txBody>
      </p:sp>
      <p:sp>
        <p:nvSpPr>
          <p:cNvPr id="60" name="配信 8〜9日後"/>
          <p:cNvSpPr/>
          <p:nvPr/>
        </p:nvSpPr>
        <p:spPr>
          <a:xfrm>
            <a:off x="5934456" y="2240280"/>
            <a:ext cx="1700784" cy="457200"/>
          </a:xfrm>
          <a:prstGeom prst="rect">
            <a:avLst/>
          </a:prstGeom>
          <a:solidFill>
            <a:srgbClr val="EEF1F8"/>
          </a:solidFill>
          <a:ln>
            <a:noFill/>
          </a:ln>
        </p:spPr>
        <p:txBody>
          <a:bodyPr wrap="square" lIns="36576" tIns="18288" rIns="36576" bIns="18288" rtlCol="0" anchor="ctr">
            <a:noAutofit/>
          </a:bodyPr>
          <a:lstStyle/>
          <a:p>
            <a:pPr algn="ctr">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よくある質問</a:t>
            </a:r>
            <a:endParaRPr lang="ja-JP" altLang="en-US" sz="1200" dirty="0">
              <a:latin typeface="メイリオ"/>
              <a:ea typeface="メイリオ"/>
              <a:cs typeface="メイリオ"/>
            </a:endParaRPr>
          </a:p>
        </p:txBody>
      </p:sp>
      <p:sp>
        <p:nvSpPr>
          <p:cNvPr id="61" name="内容 8〜9日後"/>
          <p:cNvSpPr/>
          <p:nvPr/>
        </p:nvSpPr>
        <p:spPr>
          <a:xfrm>
            <a:off x="5934456" y="2770632"/>
            <a:ext cx="1700784" cy="1600200"/>
          </a:xfrm>
          <a:prstGeom prst="rect">
            <a:avLst/>
          </a:prstGeom>
          <a:solidFill>
            <a:srgbClr val="F5F7FA"/>
          </a:solidFill>
          <a:ln>
            <a:noFill/>
          </a:ln>
        </p:spPr>
        <p:txBody>
          <a:bodyPr wrap="square" lIns="73152" tIns="73152" rIns="73152" bIns="54864" rtlCol="0" anchor="t">
            <a:noAutofit/>
          </a:bodyPr>
          <a:lstStyle/>
          <a:p>
            <a:pPr algn="l">
              <a:lnSpc>
                <a:spcPct val="115000"/>
              </a:lnSpc>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地方からも参加できる・録画はない・初心者でも分かる・参加は無料</a:t>
            </a:r>
            <a:endParaRPr lang="ja-JP" altLang="en-US" sz="1200" dirty="0">
              <a:latin typeface="メイリオ"/>
              <a:ea typeface="メイリオ"/>
              <a:cs typeface="メイリオ"/>
            </a:endParaRPr>
          </a:p>
        </p:txBody>
      </p:sp>
      <p:sp>
        <p:nvSpPr>
          <p:cNvPr id="62" name="ステップ 12〜15日後"/>
          <p:cNvSpPr/>
          <p:nvPr/>
        </p:nvSpPr>
        <p:spPr>
          <a:xfrm>
            <a:off x="7772400" y="1783080"/>
            <a:ext cx="1700784" cy="384048"/>
          </a:xfrm>
          <a:prstGeom prst="rect">
            <a:avLst/>
          </a:prstGeom>
          <a:solidFill>
            <a:srgbClr val="1F2A5C"/>
          </a:solidFill>
          <a:ln>
            <a:noFill/>
          </a:ln>
        </p:spPr>
        <p:txBody>
          <a:bodyPr wrap="square" lIns="73152" tIns="36576" rIns="73152" bIns="36576" rtlCol="0" anchor="ctr">
            <a:noAutofit/>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12〜15日後</a:t>
            </a:r>
            <a:endParaRPr lang="ja-JP" altLang="en-US" sz="1200" dirty="0">
              <a:latin typeface="メイリオ"/>
              <a:ea typeface="メイリオ"/>
              <a:cs typeface="メイリオ"/>
            </a:endParaRPr>
          </a:p>
        </p:txBody>
      </p:sp>
      <p:sp>
        <p:nvSpPr>
          <p:cNvPr id="63" name="配信 12〜15日後"/>
          <p:cNvSpPr/>
          <p:nvPr/>
        </p:nvSpPr>
        <p:spPr>
          <a:xfrm>
            <a:off x="7772400" y="2240280"/>
            <a:ext cx="1700784" cy="457200"/>
          </a:xfrm>
          <a:prstGeom prst="rect">
            <a:avLst/>
          </a:prstGeom>
          <a:solidFill>
            <a:srgbClr val="EEF1F8"/>
          </a:solidFill>
          <a:ln>
            <a:noFill/>
          </a:ln>
        </p:spPr>
        <p:txBody>
          <a:bodyPr wrap="square" lIns="36576" tIns="18288" rIns="36576" bIns="18288" rtlCol="0" anchor="ctr">
            <a:noAutofit/>
          </a:bodyPr>
          <a:lstStyle/>
          <a:p>
            <a:pPr algn="ctr">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次回セミナーの</a:t>
            </a:r>
            <a:endParaRPr lang="en-US" altLang="ja-JP" sz="1300" b="1" dirty="0">
              <a:solidFill>
                <a:srgbClr val="1F2A5C"/>
              </a:solidFill>
              <a:latin typeface="メイリオ" panose="020B0604030504040204" pitchFamily="50" charset="-128"/>
              <a:ea typeface="メイリオ" panose="020B0604030504040204" pitchFamily="50" charset="-128"/>
              <a:cs typeface="メイリオ"/>
            </a:endParaRPr>
          </a:p>
          <a:p>
            <a:pPr algn="ctr">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ご案内</a:t>
            </a:r>
            <a:endParaRPr lang="ja-JP" altLang="en-US" sz="1200" dirty="0">
              <a:latin typeface="メイリオ"/>
              <a:ea typeface="メイリオ"/>
              <a:cs typeface="メイリオ"/>
            </a:endParaRPr>
          </a:p>
        </p:txBody>
      </p:sp>
      <p:sp>
        <p:nvSpPr>
          <p:cNvPr id="64" name="内容 12〜15日後"/>
          <p:cNvSpPr/>
          <p:nvPr/>
        </p:nvSpPr>
        <p:spPr>
          <a:xfrm>
            <a:off x="7772400" y="2770632"/>
            <a:ext cx="1700784" cy="1600200"/>
          </a:xfrm>
          <a:prstGeom prst="rect">
            <a:avLst/>
          </a:prstGeom>
          <a:solidFill>
            <a:srgbClr val="F5F7FA"/>
          </a:solidFill>
          <a:ln>
            <a:noFill/>
          </a:ln>
        </p:spPr>
        <p:txBody>
          <a:bodyPr wrap="square" lIns="73152" tIns="73152" rIns="73152" bIns="54864" rtlCol="0" anchor="t">
            <a:noAutofit/>
          </a:bodyPr>
          <a:lstStyle/>
          <a:p>
            <a:pPr algn="l">
              <a:lnSpc>
                <a:spcPct val="115000"/>
              </a:lnSpc>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開催日程と予約ページをご案内（募集期間外は、案内開始時にお届け）</a:t>
            </a:r>
            <a:endParaRPr lang="ja-JP" altLang="en-US" sz="1200" dirty="0">
              <a:latin typeface="メイリオ"/>
              <a:ea typeface="メイリオ"/>
              <a:cs typeface="メイリオ"/>
            </a:endParaRPr>
          </a:p>
        </p:txBody>
      </p:sp>
      <p:sp>
        <p:nvSpPr>
          <p:cNvPr id="65" name="注記"/>
          <p:cNvSpPr/>
          <p:nvPr/>
        </p:nvSpPr>
        <p:spPr>
          <a:xfrm>
            <a:off x="420624" y="4617720"/>
            <a:ext cx="9052560" cy="594360"/>
          </a:xfrm>
          <a:prstGeom prst="rect">
            <a:avLst/>
          </a:prstGeom>
          <a:noFill/>
          <a:ln>
            <a:noFill/>
          </a:ln>
        </p:spPr>
        <p:txBody>
          <a:bodyPr wrap="square" lIns="0" tIns="0" rIns="0" bIns="0" rtlCol="0" anchor="t">
            <a:noAutofit/>
          </a:bodyPr>
          <a:lstStyle/>
          <a:p>
            <a:pPr algn="l">
              <a:buNone/>
            </a:pPr>
            <a:r>
              <a:rPr lang="ja-JP" altLang="en-US" sz="900" b="0" dirty="0">
                <a:solidFill>
                  <a:srgbClr val="7F7F7F"/>
                </a:solidFill>
                <a:latin typeface="メイリオ" panose="020B0604030504040204" pitchFamily="50" charset="-128"/>
                <a:ea typeface="メイリオ" panose="020B0604030504040204" pitchFamily="50" charset="-128"/>
                <a:cs typeface="メイリオ"/>
              </a:rPr>
              <a:t>※配信内容は、貴社LPの「生産性4倍セミナーの特徴」「受講生の声」「よくある質問」をもとにした例</a:t>
            </a:r>
            <a:endParaRPr lang="ja-JP" altLang="en-US" sz="1200" dirty="0">
              <a:latin typeface="メイリオ"/>
              <a:ea typeface="メイリオ"/>
              <a:cs typeface="メイリオ"/>
            </a:endParaRPr>
          </a:p>
          <a:p>
            <a:pPr algn="l">
              <a:buNone/>
            </a:pPr>
            <a:r>
              <a:rPr lang="ja-JP" altLang="en-US" sz="900" b="0" dirty="0">
                <a:solidFill>
                  <a:srgbClr val="7F7F7F"/>
                </a:solidFill>
                <a:latin typeface="メイリオ" panose="020B0604030504040204" pitchFamily="50" charset="-128"/>
                <a:ea typeface="メイリオ" panose="020B0604030504040204" pitchFamily="50" charset="-128"/>
                <a:cs typeface="メイリオ"/>
              </a:rPr>
              <a:t>※一般の方向けを選んだ方には、一般の方向けの案内を中心に配信</a:t>
            </a:r>
            <a:endParaRPr lang="ja-JP" altLang="en-US" sz="1200" dirty="0">
              <a:latin typeface="メイリオ"/>
              <a:ea typeface="メイリオ"/>
              <a:cs typeface="メイリオ"/>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E6D1CC-B1BA-828E-295F-EADD0CDEFAB4}"/>
            </a:ext>
          </a:extLst>
        </p:cNvPr>
        <p:cNvGrpSpPr/>
        <p:nvPr/>
      </p:nvGrpSpPr>
      <p:grpSpPr>
        <a:xfrm>
          <a:off x="0" y="0"/>
          <a:ext cx="0" cy="0"/>
          <a:chOff x="0" y="0"/>
          <a:chExt cx="0" cy="0"/>
        </a:xfrm>
      </p:grpSpPr>
      <p:sp>
        <p:nvSpPr>
          <p:cNvPr id="3" name="テキスト ボックス 47">
            <a:extLst>
              <a:ext uri="{FF2B5EF4-FFF2-40B4-BE49-F238E27FC236}">
                <a16:creationId xmlns:a16="http://schemas.microsoft.com/office/drawing/2014/main" id="{417026AF-4DDE-BCC5-590F-D8DDBF5664B1}"/>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メイリオ" charset="0"/>
                <a:ea typeface="メイリオ" charset="0"/>
                <a:cs typeface="メイリオ" charset="0"/>
              </a:defRPr>
            </a:lvl1pPr>
            <a:lvl2pPr>
              <a:defRPr kumimoji="1" sz="2800">
                <a:solidFill>
                  <a:schemeClr val="tx1"/>
                </a:solidFill>
                <a:latin typeface="メイリオ" charset="0"/>
                <a:ea typeface="メイリオ" charset="0"/>
                <a:cs typeface="メイリオ"/>
              </a:defRPr>
            </a:lvl2pPr>
            <a:lvl3pPr>
              <a:defRPr kumimoji="1" sz="2400">
                <a:solidFill>
                  <a:schemeClr val="tx1"/>
                </a:solidFill>
                <a:latin typeface="メイリオ" charset="0"/>
                <a:ea typeface="メイリオ" charset="0"/>
                <a:cs typeface="メイリオ"/>
              </a:defRPr>
            </a:lvl3pPr>
            <a:lvl4pPr>
              <a:defRPr kumimoji="1" sz="2000">
                <a:solidFill>
                  <a:schemeClr val="tx1"/>
                </a:solidFill>
                <a:latin typeface="メイリオ" charset="0"/>
                <a:ea typeface="メイリオ" charset="0"/>
                <a:cs typeface="メイリオ"/>
              </a:defRPr>
            </a:lvl4pPr>
            <a:lvl5pPr>
              <a:defRPr kumimoji="1" sz="2000">
                <a:solidFill>
                  <a:schemeClr val="tx1"/>
                </a:solidFill>
                <a:latin typeface="メイリオ" charset="0"/>
                <a:ea typeface="メイリオ" charset="0"/>
                <a:cs typeface="メイリオ"/>
              </a:defRPr>
            </a:lvl5pPr>
            <a:lvl6pPr eaLnBrk="0" fontAlgn="base" hangingPunct="0">
              <a:spcAft>
                <a:spcPct val="0"/>
              </a:spcAft>
              <a:buFont typeface="Arial" charset="0"/>
              <a:buChar char="»"/>
              <a:defRPr kumimoji="1" sz="2000">
                <a:solidFill>
                  <a:schemeClr val="tx1"/>
                </a:solidFill>
                <a:latin typeface="メイリオ" charset="0"/>
                <a:ea typeface="メイリオ" charset="0"/>
                <a:cs typeface="メイリオ"/>
              </a:defRPr>
            </a:lvl6pPr>
            <a:lvl7pPr eaLnBrk="0" fontAlgn="base" hangingPunct="0">
              <a:spcAft>
                <a:spcPct val="0"/>
              </a:spcAft>
              <a:buFont typeface="Arial" charset="0"/>
              <a:buChar char="»"/>
              <a:defRPr kumimoji="1" sz="2000">
                <a:solidFill>
                  <a:schemeClr val="tx1"/>
                </a:solidFill>
                <a:latin typeface="メイリオ" charset="0"/>
                <a:ea typeface="メイリオ" charset="0"/>
                <a:cs typeface="メイリオ"/>
              </a:defRPr>
            </a:lvl7pPr>
            <a:lvl8pPr eaLnBrk="0" fontAlgn="base" hangingPunct="0">
              <a:spcAft>
                <a:spcPct val="0"/>
              </a:spcAft>
              <a:buFont typeface="Arial" charset="0"/>
              <a:buChar char="»"/>
              <a:defRPr kumimoji="1" sz="2000">
                <a:solidFill>
                  <a:schemeClr val="tx1"/>
                </a:solidFill>
                <a:latin typeface="メイリオ" charset="0"/>
                <a:ea typeface="メイリオ" charset="0"/>
                <a:cs typeface="メイリオ"/>
              </a:defRPr>
            </a:lvl8pPr>
            <a:lvl9pPr eaLnBrk="0" fontAlgn="base" hangingPunct="0">
              <a:spcAft>
                <a:spcPct val="0"/>
              </a:spcAft>
              <a:buFont typeface="Arial" charset="0"/>
              <a:buChar char="»"/>
              <a:defRPr kumimoji="1" sz="2000">
                <a:solidFill>
                  <a:schemeClr val="tx1"/>
                </a:solidFill>
                <a:latin typeface="メイリオ" charset="0"/>
                <a:ea typeface="メイリオ" charset="0"/>
                <a:cs typeface="メイリオ"/>
              </a:defRPr>
            </a:lvl9pPr>
          </a:lstStyle>
          <a:p>
            <a:pPr>
              <a:spcBef>
                <a:spcPct val="20000"/>
              </a:spcBef>
              <a:buFont typeface="Arial" charset="0"/>
              <a:buNone/>
            </a:pPr>
            <a:r>
              <a:rPr lang="ja-JP" altLang="en-US" sz="1600" b="1" dirty="0">
                <a:solidFill>
                  <a:srgbClr val="1F2A5C"/>
                </a:solidFill>
                <a:latin typeface="メイリオ" panose="020B0604030504040204" pitchFamily="50" charset="-128"/>
                <a:ea typeface="メイリオ" panose="020B0604030504040204" pitchFamily="50" charset="-128"/>
                <a:cs typeface="メイリオ"/>
              </a:rPr>
              <a:t>参加後のフォローアップ：関心が高いうちに、入会の判断材料を届ける</a:t>
            </a:r>
          </a:p>
        </p:txBody>
      </p:sp>
      <p:sp>
        <p:nvSpPr>
          <p:cNvPr id="5" name="Lead">
            <a:extLst>
              <a:ext uri="{FF2B5EF4-FFF2-40B4-BE49-F238E27FC236}">
                <a16:creationId xmlns:a16="http://schemas.microsoft.com/office/drawing/2014/main" id="{392B90DB-59D9-CA69-BB23-380EC53A1799}"/>
              </a:ext>
            </a:extLst>
          </p:cNvPr>
          <p:cNvSpPr txBox="1"/>
          <p:nvPr/>
        </p:nvSpPr>
        <p:spPr>
          <a:xfrm>
            <a:off x="342900" y="711200"/>
            <a:ext cx="6667500" cy="285750"/>
          </a:xfrm>
          <a:prstGeom prst="rect">
            <a:avLst/>
          </a:prstGeom>
          <a:noFill/>
        </p:spPr>
        <p:txBody>
          <a:bodyPr wrap="square" lIns="0" tIns="0" rIns="0" bIns="0" anchor="t"/>
          <a:lstStyle/>
          <a:p>
            <a:pPr>
              <a:buNone/>
            </a:pPr>
            <a:r>
              <a:rPr lang="ja-JP" altLang="en-US" sz="1400" dirty="0">
                <a:solidFill>
                  <a:srgbClr val="5A6378"/>
                </a:solidFill>
                <a:latin typeface="メイリオ"/>
                <a:ea typeface="メイリオ"/>
                <a:cs typeface="メイリオ"/>
              </a:rPr>
              <a:t>参加直後と参加後30〜60日に、サロンの内容と入会方法をお届けする</a:t>
            </a:r>
          </a:p>
        </p:txBody>
      </p:sp>
      <p:sp>
        <p:nvSpPr>
          <p:cNvPr id="7" name="Body">
            <a:extLst>
              <a:ext uri="{FF2B5EF4-FFF2-40B4-BE49-F238E27FC236}">
                <a16:creationId xmlns:a16="http://schemas.microsoft.com/office/drawing/2014/main" id="{BE3C0D2E-9E33-CCCB-465C-36479CC64146}"/>
              </a:ext>
            </a:extLst>
          </p:cNvPr>
          <p:cNvSpPr txBox="1"/>
          <p:nvPr/>
        </p:nvSpPr>
        <p:spPr>
          <a:xfrm>
            <a:off x="342900" y="3164840"/>
            <a:ext cx="6743700" cy="3810000"/>
          </a:xfrm>
          <a:prstGeom prst="rect">
            <a:avLst/>
          </a:prstGeom>
          <a:noFill/>
        </p:spPr>
        <p:txBody>
          <a:bodyPr wrap="square" lIns="0" tIns="0" rIns="0" bIns="0" anchor="t"/>
          <a:lstStyle/>
          <a:p>
            <a:endParaRPr>
              <a:latin typeface="メイリオ"/>
              <a:ea typeface="メイリオ"/>
              <a:cs typeface="メイリオ"/>
            </a:endParaRPr>
          </a:p>
        </p:txBody>
      </p:sp>
      <p:sp>
        <p:nvSpPr>
          <p:cNvPr id="4" name="TextBox 2006">
            <a:extLst>
              <a:ext uri="{FF2B5EF4-FFF2-40B4-BE49-F238E27FC236}">
                <a16:creationId xmlns:a16="http://schemas.microsoft.com/office/drawing/2014/main" id="{D2F2FC8A-1E7E-57E2-6839-B8D5EF164194}"/>
              </a:ext>
            </a:extLst>
          </p:cNvPr>
          <p:cNvSpPr txBox="1"/>
          <p:nvPr/>
        </p:nvSpPr>
        <p:spPr>
          <a:xfrm>
            <a:off x="456501" y="1091185"/>
            <a:ext cx="9052560" cy="320040"/>
          </a:xfrm>
          <a:prstGeom prst="rect">
            <a:avLst/>
          </a:prstGeom>
          <a:noFill/>
        </p:spPr>
        <p:txBody>
          <a:bodyPr wrap="square">
            <a:spAutoFit/>
          </a:bodyPr>
          <a:lstStyle/>
          <a:p>
            <a:pPr algn="l"/>
            <a:r>
              <a:rPr sz="1400" b="1">
                <a:solidFill>
                  <a:srgbClr val="1F2A5C"/>
                </a:solidFill>
                <a:latin typeface="メイリオ"/>
                <a:ea typeface="メイリオ"/>
                <a:cs typeface="メイリオ"/>
              </a:rPr>
              <a:t>配信内容（例）</a:t>
            </a:r>
          </a:p>
        </p:txBody>
      </p:sp>
      <p:sp>
        <p:nvSpPr>
          <p:cNvPr id="8" name="Chevron 2007">
            <a:extLst>
              <a:ext uri="{FF2B5EF4-FFF2-40B4-BE49-F238E27FC236}">
                <a16:creationId xmlns:a16="http://schemas.microsoft.com/office/drawing/2014/main" id="{10212EE1-F4B4-8DDA-CF71-F80F8F6403F8}"/>
              </a:ext>
            </a:extLst>
          </p:cNvPr>
          <p:cNvSpPr/>
          <p:nvPr/>
        </p:nvSpPr>
        <p:spPr>
          <a:xfrm>
            <a:off x="456501" y="1456944"/>
            <a:ext cx="4471416" cy="685800"/>
          </a:xfrm>
          <a:prstGeom prst="chevron">
            <a:avLst/>
          </a:prstGeom>
          <a:solidFill>
            <a:srgbClr val="1F2A5C"/>
          </a:solidFill>
          <a:ln>
            <a:noFill/>
          </a:ln>
        </p:spPr>
        <p:style>
          <a:lnRef idx="1">
            <a:schemeClr val="accent1"/>
          </a:lnRef>
          <a:fillRef idx="3">
            <a:schemeClr val="accent1"/>
          </a:fillRef>
          <a:effectRef idx="2">
            <a:schemeClr val="accent1"/>
          </a:effectRef>
          <a:fontRef idx="minor">
            <a:schemeClr val="lt1"/>
          </a:fontRef>
        </p:style>
        <p:txBody>
          <a:bodyPr wrap="square" lIns="25400" rIns="25400" rtlCol="0" anchor="ctr"/>
          <a:lstStyle/>
          <a:p>
            <a:pPr algn="ctr"/>
            <a:r>
              <a:rPr sz="1300" b="1">
                <a:solidFill>
                  <a:srgbClr val="FFFFFF"/>
                </a:solidFill>
                <a:latin typeface="メイリオ"/>
                <a:ea typeface="メイリオ"/>
                <a:cs typeface="メイリオ"/>
              </a:rPr>
              <a:t>参加直後</a:t>
            </a:r>
          </a:p>
          <a:p>
            <a:pPr algn="ctr"/>
            <a:r>
              <a:rPr sz="1200">
                <a:solidFill>
                  <a:srgbClr val="FFFFFF"/>
                </a:solidFill>
                <a:latin typeface="メイリオ"/>
                <a:ea typeface="メイリオ"/>
                <a:cs typeface="メイリオ"/>
              </a:rPr>
              <a:t>関心が高いうちに、サロンをご案内</a:t>
            </a:r>
          </a:p>
        </p:txBody>
      </p:sp>
      <p:sp>
        <p:nvSpPr>
          <p:cNvPr id="11" name="Chevron 2008">
            <a:extLst>
              <a:ext uri="{FF2B5EF4-FFF2-40B4-BE49-F238E27FC236}">
                <a16:creationId xmlns:a16="http://schemas.microsoft.com/office/drawing/2014/main" id="{785204DB-5C6A-DF80-2A53-F86C50DB8BFE}"/>
              </a:ext>
            </a:extLst>
          </p:cNvPr>
          <p:cNvSpPr/>
          <p:nvPr/>
        </p:nvSpPr>
        <p:spPr>
          <a:xfrm>
            <a:off x="5037645" y="1456944"/>
            <a:ext cx="4471416" cy="685800"/>
          </a:xfrm>
          <a:prstGeom prst="chevron">
            <a:avLst/>
          </a:prstGeom>
          <a:solidFill>
            <a:srgbClr val="1F2A5C"/>
          </a:solidFill>
          <a:ln>
            <a:noFill/>
          </a:ln>
        </p:spPr>
        <p:style>
          <a:lnRef idx="1">
            <a:schemeClr val="accent1"/>
          </a:lnRef>
          <a:fillRef idx="3">
            <a:schemeClr val="accent1"/>
          </a:fillRef>
          <a:effectRef idx="2">
            <a:schemeClr val="accent1"/>
          </a:effectRef>
          <a:fontRef idx="minor">
            <a:schemeClr val="lt1"/>
          </a:fontRef>
        </p:style>
        <p:txBody>
          <a:bodyPr wrap="square" lIns="25400" rIns="25400" rtlCol="0" anchor="ctr"/>
          <a:lstStyle/>
          <a:p>
            <a:pPr algn="ctr"/>
            <a:r>
              <a:rPr sz="1300" b="1">
                <a:solidFill>
                  <a:srgbClr val="FFFFFF"/>
                </a:solidFill>
                <a:latin typeface="メイリオ"/>
                <a:ea typeface="メイリオ"/>
                <a:cs typeface="メイリオ"/>
              </a:rPr>
              <a:t>参加後30〜60日</a:t>
            </a:r>
          </a:p>
          <a:p>
            <a:pPr algn="ctr"/>
            <a:r>
              <a:rPr sz="1200">
                <a:solidFill>
                  <a:srgbClr val="FFFFFF"/>
                </a:solidFill>
                <a:latin typeface="メイリオ"/>
                <a:ea typeface="メイリオ"/>
                <a:cs typeface="メイリオ"/>
              </a:rPr>
              <a:t>迷っている方へ、成果と続け方を届ける</a:t>
            </a:r>
          </a:p>
        </p:txBody>
      </p:sp>
      <p:sp>
        <p:nvSpPr>
          <p:cNvPr id="12" name="配信内容"/>
          <p:cNvSpPr/>
          <p:nvPr/>
        </p:nvSpPr>
        <p:spPr>
          <a:xfrm>
            <a:off x="548640" y="2371345"/>
            <a:ext cx="4288536" cy="566928"/>
          </a:xfrm>
          <a:prstGeom prst="rect">
            <a:avLst/>
          </a:prstGeom>
          <a:noFill/>
          <a:ln>
            <a:noFill/>
          </a:ln>
        </p:spPr>
        <p:txBody>
          <a:bodyPr wrap="square" lIns="45720" tIns="18288" rIns="45720" bIns="18288" rtlCol="0" anchor="ctr">
            <a:noAutofit/>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セミナーの振り返り</a:t>
            </a:r>
            <a:endParaRPr lang="ja-JP" altLang="en-US" sz="1200" dirty="0">
              <a:latin typeface="メイリオ"/>
              <a:ea typeface="メイリオ"/>
              <a:cs typeface="メイリオ"/>
            </a:endParaRPr>
          </a:p>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両想い営業・ライフプランブロックの要点をおさらい</a:t>
            </a:r>
            <a:endParaRPr lang="ja-JP" altLang="en-US" sz="1200" dirty="0">
              <a:latin typeface="メイリオ"/>
              <a:ea typeface="メイリオ"/>
              <a:cs typeface="メイリオ"/>
            </a:endParaRPr>
          </a:p>
        </p:txBody>
      </p:sp>
      <p:cxnSp>
        <p:nvCxnSpPr>
          <p:cNvPr id="13" name="Connector 12"/>
          <p:cNvCxnSpPr/>
          <p:nvPr/>
        </p:nvCxnSpPr>
        <p:spPr>
          <a:xfrm>
            <a:off x="548640" y="2993136"/>
            <a:ext cx="4288535" cy="0"/>
          </a:xfrm>
          <a:prstGeom prst="line">
            <a:avLst/>
          </a:prstGeom>
          <a:ln w="9525">
            <a:solidFill>
              <a:srgbClr val="D9D9D9"/>
            </a:solidFill>
          </a:ln>
        </p:spPr>
        <p:style>
          <a:lnRef idx="2">
            <a:schemeClr val="accent1"/>
          </a:lnRef>
          <a:fillRef idx="0">
            <a:schemeClr val="accent1"/>
          </a:fillRef>
          <a:effectRef idx="1">
            <a:schemeClr val="accent1"/>
          </a:effectRef>
          <a:fontRef idx="minor">
            <a:schemeClr val="tx1"/>
          </a:fontRef>
        </p:style>
      </p:cxnSp>
      <p:sp>
        <p:nvSpPr>
          <p:cNvPr id="14" name="配信内容"/>
          <p:cNvSpPr/>
          <p:nvPr/>
        </p:nvSpPr>
        <p:spPr>
          <a:xfrm>
            <a:off x="548640" y="3048000"/>
            <a:ext cx="4288536" cy="566928"/>
          </a:xfrm>
          <a:prstGeom prst="rect">
            <a:avLst/>
          </a:prstGeom>
          <a:noFill/>
          <a:ln>
            <a:noFill/>
          </a:ln>
        </p:spPr>
        <p:txBody>
          <a:bodyPr wrap="square" lIns="45720" tIns="18288" rIns="45720" bIns="18288" rtlCol="0" anchor="ctr">
            <a:noAutofit/>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受講生の声</a:t>
            </a:r>
            <a:endParaRPr lang="ja-JP" altLang="en-US" sz="1200" dirty="0">
              <a:latin typeface="メイリオ"/>
              <a:ea typeface="メイリオ"/>
              <a:cs typeface="メイリオ"/>
            </a:endParaRPr>
          </a:p>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「契約で頭がいっぱい」だった方が、個人保険でTOT</a:t>
            </a:r>
            <a:endParaRPr lang="ja-JP" altLang="en-US" sz="1200" dirty="0">
              <a:latin typeface="メイリオ"/>
              <a:ea typeface="メイリオ"/>
              <a:cs typeface="メイリオ"/>
            </a:endParaRPr>
          </a:p>
        </p:txBody>
      </p:sp>
      <p:cxnSp>
        <p:nvCxnSpPr>
          <p:cNvPr id="15" name="Connector 14"/>
          <p:cNvCxnSpPr/>
          <p:nvPr/>
        </p:nvCxnSpPr>
        <p:spPr>
          <a:xfrm>
            <a:off x="548640" y="3669793"/>
            <a:ext cx="4288535" cy="0"/>
          </a:xfrm>
          <a:prstGeom prst="line">
            <a:avLst/>
          </a:prstGeom>
          <a:ln w="9525">
            <a:solidFill>
              <a:srgbClr val="D9D9D9"/>
            </a:solidFill>
          </a:ln>
        </p:spPr>
        <p:style>
          <a:lnRef idx="2">
            <a:schemeClr val="accent1"/>
          </a:lnRef>
          <a:fillRef idx="0">
            <a:schemeClr val="accent1"/>
          </a:fillRef>
          <a:effectRef idx="1">
            <a:schemeClr val="accent1"/>
          </a:effectRef>
          <a:fontRef idx="minor">
            <a:schemeClr val="tx1"/>
          </a:fontRef>
        </p:style>
      </p:cxnSp>
      <p:sp>
        <p:nvSpPr>
          <p:cNvPr id="16" name="配信内容"/>
          <p:cNvSpPr/>
          <p:nvPr/>
        </p:nvSpPr>
        <p:spPr>
          <a:xfrm>
            <a:off x="548640" y="3724657"/>
            <a:ext cx="4288536" cy="566928"/>
          </a:xfrm>
          <a:prstGeom prst="rect">
            <a:avLst/>
          </a:prstGeom>
          <a:noFill/>
          <a:ln>
            <a:noFill/>
          </a:ln>
        </p:spPr>
        <p:txBody>
          <a:bodyPr wrap="square" lIns="45720" tIns="18288" rIns="45720" bIns="18288" rtlCol="0" anchor="ctr">
            <a:noAutofit/>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サロンのご案内</a:t>
            </a:r>
            <a:endParaRPr lang="ja-JP" altLang="en-US" sz="1200" dirty="0">
              <a:latin typeface="メイリオ"/>
              <a:ea typeface="メイリオ"/>
              <a:cs typeface="メイリオ"/>
            </a:endParaRPr>
          </a:p>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ライフプランブロックは、サロンの方だけが使える</a:t>
            </a:r>
            <a:endParaRPr lang="ja-JP" altLang="en-US" sz="1200" dirty="0">
              <a:latin typeface="メイリオ"/>
              <a:ea typeface="メイリオ"/>
              <a:cs typeface="メイリオ"/>
            </a:endParaRPr>
          </a:p>
        </p:txBody>
      </p:sp>
      <p:sp>
        <p:nvSpPr>
          <p:cNvPr id="17" name="配信内容"/>
          <p:cNvSpPr/>
          <p:nvPr/>
        </p:nvSpPr>
        <p:spPr>
          <a:xfrm>
            <a:off x="5129783" y="2371345"/>
            <a:ext cx="4288536" cy="566928"/>
          </a:xfrm>
          <a:prstGeom prst="rect">
            <a:avLst/>
          </a:prstGeom>
          <a:noFill/>
          <a:ln>
            <a:noFill/>
          </a:ln>
        </p:spPr>
        <p:txBody>
          <a:bodyPr wrap="square" lIns="45720" tIns="18288" rIns="45720" bIns="18288" rtlCol="0" anchor="ctr">
            <a:noAutofit/>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受講生の声</a:t>
            </a:r>
            <a:endParaRPr lang="ja-JP" altLang="en-US" sz="1200" dirty="0">
              <a:latin typeface="メイリオ"/>
              <a:ea typeface="メイリオ"/>
              <a:cs typeface="メイリオ"/>
            </a:endParaRPr>
          </a:p>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ロープレ動画で面談を振り返り、TOTを達成</a:t>
            </a:r>
            <a:endParaRPr lang="ja-JP" altLang="en-US" sz="1200" dirty="0">
              <a:latin typeface="メイリオ"/>
              <a:ea typeface="メイリオ"/>
              <a:cs typeface="メイリオ"/>
            </a:endParaRPr>
          </a:p>
        </p:txBody>
      </p:sp>
      <p:cxnSp>
        <p:nvCxnSpPr>
          <p:cNvPr id="18" name="Connector 17"/>
          <p:cNvCxnSpPr/>
          <p:nvPr/>
        </p:nvCxnSpPr>
        <p:spPr>
          <a:xfrm>
            <a:off x="5129783" y="2993136"/>
            <a:ext cx="4288536" cy="0"/>
          </a:xfrm>
          <a:prstGeom prst="line">
            <a:avLst/>
          </a:prstGeom>
          <a:ln w="9525">
            <a:solidFill>
              <a:srgbClr val="D9D9D9"/>
            </a:solidFill>
          </a:ln>
        </p:spPr>
        <p:style>
          <a:lnRef idx="2">
            <a:schemeClr val="accent1"/>
          </a:lnRef>
          <a:fillRef idx="0">
            <a:schemeClr val="accent1"/>
          </a:fillRef>
          <a:effectRef idx="1">
            <a:schemeClr val="accent1"/>
          </a:effectRef>
          <a:fontRef idx="minor">
            <a:schemeClr val="tx1"/>
          </a:fontRef>
        </p:style>
      </p:cxnSp>
      <p:sp>
        <p:nvSpPr>
          <p:cNvPr id="19" name="配信内容"/>
          <p:cNvSpPr/>
          <p:nvPr/>
        </p:nvSpPr>
        <p:spPr>
          <a:xfrm>
            <a:off x="5129783" y="3048000"/>
            <a:ext cx="4288536" cy="566928"/>
          </a:xfrm>
          <a:prstGeom prst="rect">
            <a:avLst/>
          </a:prstGeom>
          <a:noFill/>
          <a:ln>
            <a:noFill/>
          </a:ln>
        </p:spPr>
        <p:txBody>
          <a:bodyPr wrap="square" lIns="45720" tIns="18288" rIns="45720" bIns="18288" rtlCol="0" anchor="ctr">
            <a:noAutofit/>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講師メッセージ</a:t>
            </a:r>
            <a:endParaRPr lang="ja-JP" altLang="en-US" sz="1200" dirty="0">
              <a:latin typeface="メイリオ"/>
              <a:ea typeface="メイリオ"/>
              <a:cs typeface="メイリオ"/>
            </a:endParaRPr>
          </a:p>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毎日遅くまで働いた頃から、働く時間を半分以下に</a:t>
            </a:r>
            <a:endParaRPr lang="ja-JP" altLang="en-US" sz="1200" dirty="0">
              <a:latin typeface="メイリオ"/>
              <a:ea typeface="メイリオ"/>
              <a:cs typeface="メイリオ"/>
            </a:endParaRPr>
          </a:p>
        </p:txBody>
      </p:sp>
      <p:cxnSp>
        <p:nvCxnSpPr>
          <p:cNvPr id="20" name="Connector 19"/>
          <p:cNvCxnSpPr/>
          <p:nvPr/>
        </p:nvCxnSpPr>
        <p:spPr>
          <a:xfrm>
            <a:off x="5129783" y="3669793"/>
            <a:ext cx="4288536" cy="0"/>
          </a:xfrm>
          <a:prstGeom prst="line">
            <a:avLst/>
          </a:prstGeom>
          <a:ln w="9525">
            <a:solidFill>
              <a:srgbClr val="D9D9D9"/>
            </a:solidFill>
          </a:ln>
        </p:spPr>
        <p:style>
          <a:lnRef idx="2">
            <a:schemeClr val="accent1"/>
          </a:lnRef>
          <a:fillRef idx="0">
            <a:schemeClr val="accent1"/>
          </a:fillRef>
          <a:effectRef idx="1">
            <a:schemeClr val="accent1"/>
          </a:effectRef>
          <a:fontRef idx="minor">
            <a:schemeClr val="tx1"/>
          </a:fontRef>
        </p:style>
      </p:cxnSp>
      <p:sp>
        <p:nvSpPr>
          <p:cNvPr id="21" name="配信内容"/>
          <p:cNvSpPr/>
          <p:nvPr/>
        </p:nvSpPr>
        <p:spPr>
          <a:xfrm>
            <a:off x="5129783" y="3724657"/>
            <a:ext cx="4288536" cy="566928"/>
          </a:xfrm>
          <a:prstGeom prst="rect">
            <a:avLst/>
          </a:prstGeom>
          <a:noFill/>
          <a:ln>
            <a:noFill/>
          </a:ln>
        </p:spPr>
        <p:txBody>
          <a:bodyPr wrap="square" lIns="45720" tIns="18288" rIns="45720" bIns="18288" rtlCol="0" anchor="ctr">
            <a:noAutofit/>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次のセミナーのご案内</a:t>
            </a:r>
            <a:endParaRPr lang="ja-JP" altLang="en-US" sz="1200" dirty="0">
              <a:latin typeface="メイリオ"/>
              <a:ea typeface="メイリオ"/>
              <a:cs typeface="メイリオ"/>
            </a:endParaRPr>
          </a:p>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次回の日程と、サロン入会のお申込み方法</a:t>
            </a:r>
            <a:endParaRPr lang="ja-JP" altLang="en-US" sz="1200" dirty="0">
              <a:latin typeface="メイリオ"/>
              <a:ea typeface="メイリオ"/>
              <a:cs typeface="メイリオ"/>
            </a:endParaRPr>
          </a:p>
        </p:txBody>
      </p:sp>
      <p:sp>
        <p:nvSpPr>
          <p:cNvPr id="22" name="注記"/>
          <p:cNvSpPr/>
          <p:nvPr/>
        </p:nvSpPr>
        <p:spPr>
          <a:xfrm>
            <a:off x="457200" y="5916168"/>
            <a:ext cx="9052560" cy="411480"/>
          </a:xfrm>
          <a:prstGeom prst="rect">
            <a:avLst/>
          </a:prstGeom>
          <a:noFill/>
          <a:ln>
            <a:noFill/>
          </a:ln>
        </p:spPr>
        <p:txBody>
          <a:bodyPr wrap="square" lIns="0" tIns="0" rIns="0" bIns="0" rtlCol="0" anchor="t">
            <a:noAutofit/>
          </a:bodyPr>
          <a:lstStyle/>
          <a:p>
            <a:pPr algn="l">
              <a:buNone/>
            </a:pPr>
            <a:r>
              <a:rPr lang="ja-JP" altLang="en-US" sz="900" b="0" dirty="0">
                <a:solidFill>
                  <a:srgbClr val="7F7F7F"/>
                </a:solidFill>
                <a:latin typeface="メイリオ" panose="020B0604030504040204" pitchFamily="50" charset="-128"/>
                <a:ea typeface="メイリオ" panose="020B0604030504040204" pitchFamily="50" charset="-128"/>
                <a:cs typeface="メイリオ"/>
              </a:rPr>
              <a:t>※参加した方を判別できる場合に、その情報を活用して配信（自動で判別できるかは、予約システム等との連携の可否による）</a:t>
            </a:r>
            <a:endParaRPr lang="ja-JP" altLang="en-US" sz="1200" dirty="0">
              <a:latin typeface="メイリオ"/>
              <a:ea typeface="メイリオ"/>
              <a:cs typeface="メイリオ"/>
            </a:endParaRPr>
          </a:p>
          <a:p>
            <a:pPr algn="l">
              <a:buNone/>
            </a:pPr>
            <a:r>
              <a:rPr lang="ja-JP" altLang="en-US" sz="900" b="0" dirty="0">
                <a:solidFill>
                  <a:srgbClr val="7F7F7F"/>
                </a:solidFill>
                <a:latin typeface="メイリオ" panose="020B0604030504040204" pitchFamily="50" charset="-128"/>
                <a:ea typeface="メイリオ" panose="020B0604030504040204" pitchFamily="50" charset="-128"/>
                <a:cs typeface="メイリオ"/>
              </a:rPr>
              <a:t>※配信内容は、貴社LPの「受講生の声」「講師メッセージ」「よくある質問」「講師紹介」をもとにした例</a:t>
            </a:r>
            <a:endParaRPr lang="ja-JP" altLang="en-US" sz="1200" dirty="0">
              <a:latin typeface="メイリオ"/>
              <a:ea typeface="メイリオ"/>
              <a:cs typeface="メイリオ"/>
            </a:endParaRPr>
          </a:p>
        </p:txBody>
      </p:sp>
      <p:sp>
        <p:nvSpPr>
          <p:cNvPr id="23" name="ほかの配信案"/>
          <p:cNvSpPr/>
          <p:nvPr/>
        </p:nvSpPr>
        <p:spPr>
          <a:xfrm>
            <a:off x="457200" y="4474463"/>
            <a:ext cx="9052560" cy="292608"/>
          </a:xfrm>
          <a:prstGeom prst="rect">
            <a:avLst/>
          </a:prstGeom>
          <a:noFill/>
          <a:ln>
            <a:noFill/>
          </a:ln>
        </p:spPr>
        <p:txBody>
          <a:bodyPr wrap="square" lIns="91440" tIns="0" rIns="0" bIns="0" rtlCol="0" anchor="ctr">
            <a:noAutofit/>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他の案</a:t>
            </a:r>
            <a:endParaRPr lang="ja-JP" altLang="en-US" sz="1200" dirty="0">
              <a:latin typeface="メイリオ"/>
              <a:ea typeface="メイリオ"/>
              <a:cs typeface="メイリオ"/>
            </a:endParaRPr>
          </a:p>
        </p:txBody>
      </p:sp>
      <p:sp>
        <p:nvSpPr>
          <p:cNvPr id="24" name="ほかの配信案 項目"/>
          <p:cNvSpPr/>
          <p:nvPr/>
        </p:nvSpPr>
        <p:spPr>
          <a:xfrm>
            <a:off x="457200" y="4767071"/>
            <a:ext cx="1920240" cy="512064"/>
          </a:xfrm>
          <a:prstGeom prst="rect">
            <a:avLst/>
          </a:prstGeom>
          <a:solidFill>
            <a:srgbClr val="F5F7FA"/>
          </a:solidFill>
          <a:ln>
            <a:noFill/>
          </a:ln>
        </p:spPr>
        <p:txBody>
          <a:bodyPr wrap="square" lIns="182880" tIns="18288" rIns="45720" bIns="18288" rtlCol="0" anchor="ctr">
            <a:noAutofit/>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よくある質問</a:t>
            </a:r>
            <a:endParaRPr lang="ja-JP" altLang="en-US" sz="1200" dirty="0">
              <a:latin typeface="メイリオ"/>
              <a:ea typeface="メイリオ"/>
              <a:cs typeface="メイリオ"/>
            </a:endParaRPr>
          </a:p>
        </p:txBody>
      </p:sp>
      <p:sp>
        <p:nvSpPr>
          <p:cNvPr id="25" name="ほかの配信案 内容"/>
          <p:cNvSpPr/>
          <p:nvPr/>
        </p:nvSpPr>
        <p:spPr>
          <a:xfrm>
            <a:off x="2377440" y="4767071"/>
            <a:ext cx="7132320" cy="512064"/>
          </a:xfrm>
          <a:prstGeom prst="rect">
            <a:avLst/>
          </a:prstGeom>
          <a:solidFill>
            <a:srgbClr val="F5F7FA"/>
          </a:solidFill>
          <a:ln>
            <a:noFill/>
          </a:ln>
        </p:spPr>
        <p:txBody>
          <a:bodyPr wrap="square" lIns="45720" tIns="18288" rIns="91440" bIns="18288" rtlCol="0" anchor="ctr">
            <a:noAutofit/>
          </a:bodyPr>
          <a:lstStyle/>
          <a:p>
            <a:pPr algn="l">
              <a:buNone/>
            </a:pPr>
            <a:r>
              <a:rPr lang="ja-JP" altLang="en-US" sz="1200" b="1" dirty="0">
                <a:solidFill>
                  <a:srgbClr val="333333"/>
                </a:solidFill>
                <a:latin typeface="メイリオ" panose="020B0604030504040204" pitchFamily="50" charset="-128"/>
                <a:ea typeface="メイリオ" panose="020B0604030504040204" pitchFamily="50" charset="-128"/>
                <a:cs typeface="メイリオ"/>
              </a:rPr>
              <a:t>次のセミナーの案内に添える</a:t>
            </a:r>
            <a:endParaRPr lang="ja-JP" altLang="en-US" sz="1200" dirty="0">
              <a:latin typeface="メイリオ"/>
              <a:ea typeface="メイリオ"/>
              <a:cs typeface="メイリオ"/>
            </a:endParaRPr>
          </a:p>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地方からも参加できる・録画はない・初心者でも分かる・参加は無料</a:t>
            </a:r>
            <a:endParaRPr lang="ja-JP" altLang="en-US" sz="1200" dirty="0">
              <a:latin typeface="メイリオ"/>
              <a:ea typeface="メイリオ"/>
              <a:cs typeface="メイリオ"/>
            </a:endParaRPr>
          </a:p>
        </p:txBody>
      </p:sp>
      <p:sp>
        <p:nvSpPr>
          <p:cNvPr id="26" name="ほかの配信案 項目"/>
          <p:cNvSpPr/>
          <p:nvPr/>
        </p:nvSpPr>
        <p:spPr>
          <a:xfrm>
            <a:off x="457200" y="5352287"/>
            <a:ext cx="1920240" cy="512064"/>
          </a:xfrm>
          <a:prstGeom prst="rect">
            <a:avLst/>
          </a:prstGeom>
          <a:solidFill>
            <a:srgbClr val="F5F7FA"/>
          </a:solidFill>
          <a:ln>
            <a:noFill/>
          </a:ln>
        </p:spPr>
        <p:txBody>
          <a:bodyPr wrap="square" lIns="182880" tIns="18288" rIns="45720" bIns="18288" rtlCol="0" anchor="ctr">
            <a:noAutofit/>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講師紹介</a:t>
            </a:r>
            <a:endParaRPr lang="ja-JP" altLang="en-US" sz="1200" dirty="0">
              <a:latin typeface="メイリオ"/>
              <a:ea typeface="メイリオ"/>
              <a:cs typeface="メイリオ"/>
            </a:endParaRPr>
          </a:p>
        </p:txBody>
      </p:sp>
      <p:sp>
        <p:nvSpPr>
          <p:cNvPr id="27" name="ほかの配信案 内容"/>
          <p:cNvSpPr/>
          <p:nvPr/>
        </p:nvSpPr>
        <p:spPr>
          <a:xfrm>
            <a:off x="2377440" y="5352287"/>
            <a:ext cx="7132320" cy="512064"/>
          </a:xfrm>
          <a:prstGeom prst="rect">
            <a:avLst/>
          </a:prstGeom>
          <a:solidFill>
            <a:srgbClr val="F5F7FA"/>
          </a:solidFill>
          <a:ln>
            <a:noFill/>
          </a:ln>
        </p:spPr>
        <p:txBody>
          <a:bodyPr wrap="square" lIns="45720" tIns="18288" rIns="91440" bIns="18288" rtlCol="0" anchor="ctr">
            <a:noAutofit/>
          </a:bodyPr>
          <a:lstStyle/>
          <a:p>
            <a:pPr algn="l">
              <a:buNone/>
            </a:pPr>
            <a:r>
              <a:rPr lang="ja-JP" altLang="en-US" sz="1200" b="1" dirty="0">
                <a:solidFill>
                  <a:srgbClr val="333333"/>
                </a:solidFill>
                <a:latin typeface="メイリオ" panose="020B0604030504040204" pitchFamily="50" charset="-128"/>
                <a:ea typeface="メイリオ" panose="020B0604030504040204" pitchFamily="50" charset="-128"/>
                <a:cs typeface="メイリオ"/>
              </a:rPr>
              <a:t>入会を迷っている方へ</a:t>
            </a:r>
            <a:endParaRPr lang="ja-JP" altLang="en-US" sz="1200" dirty="0">
              <a:latin typeface="メイリオ"/>
              <a:ea typeface="メイリオ"/>
              <a:cs typeface="メイリオ"/>
            </a:endParaRPr>
          </a:p>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谷岡様の経歴：契約件数全国1位で表彰・週2日の営業で毎年TOT</a:t>
            </a:r>
            <a:endParaRPr lang="ja-JP" altLang="en-US" sz="1200" dirty="0">
              <a:latin typeface="メイリオ"/>
              <a:ea typeface="メイリオ"/>
              <a:cs typeface="メイリオ"/>
            </a:endParaRPr>
          </a:p>
        </p:txBody>
      </p:sp>
    </p:spTree>
    <p:extLst>
      <p:ext uri="{BB962C8B-B14F-4D97-AF65-F5344CB8AC3E}">
        <p14:creationId xmlns:p14="http://schemas.microsoft.com/office/powerpoint/2010/main" val="43968007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D17A57-A342-CB38-A7F8-9DB9EF160348}"/>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282D28B4-A2E3-FBF5-60E3-CBDCF57DCEEB}"/>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資料アジェンダ</a:t>
            </a:r>
          </a:p>
        </p:txBody>
      </p:sp>
      <p:sp>
        <p:nvSpPr>
          <p:cNvPr id="2" name="正方形/長方形 1">
            <a:extLst>
              <a:ext uri="{FF2B5EF4-FFF2-40B4-BE49-F238E27FC236}">
                <a16:creationId xmlns:a16="http://schemas.microsoft.com/office/drawing/2014/main" id="{8262C21F-1F4A-FEF6-A8ED-48C7EC229555}"/>
              </a:ext>
            </a:extLst>
          </p:cNvPr>
          <p:cNvSpPr/>
          <p:nvPr/>
        </p:nvSpPr>
        <p:spPr>
          <a:xfrm>
            <a:off x="841248" y="3038203"/>
            <a:ext cx="8229600" cy="584775"/>
          </a:xfrm>
          <a:prstGeom prst="rect">
            <a:avLst/>
          </a:prstGeom>
        </p:spPr>
        <p:txBody>
          <a:bodyPr wrap="none">
            <a:spAutoFit/>
          </a:bodyPr>
          <a:lstStyle/>
          <a:p>
            <a:pPr algn="ct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運用体制・スケジュール</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309213406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正方形/長方形 5"/>
          <p:cNvSpPr/>
          <p:nvPr/>
        </p:nvSpPr>
        <p:spPr>
          <a:xfrm>
            <a:off x="300312" y="832762"/>
            <a:ext cx="9355994" cy="867143"/>
          </a:xfrm>
          <a:prstGeom prst="rect">
            <a:avLst/>
          </a:prstGeom>
          <a:solidFill>
            <a:schemeClr val="tx2"/>
          </a:solidFill>
          <a:ln w="2222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2400" dirty="0">
                <a:solidFill>
                  <a:schemeClr val="bg1"/>
                </a:solidFill>
                <a:latin typeface="メイリオ" panose="020B0604030504040204" pitchFamily="50" charset="-128"/>
                <a:ea typeface="メイリオ" panose="020B0604030504040204" pitchFamily="50" charset="-128"/>
                <a:cs typeface="メイリオ"/>
              </a:rPr>
              <a:t>WEB</a:t>
            </a:r>
            <a:r>
              <a:rPr lang="ja-JP" altLang="en-US" sz="2400" dirty="0">
                <a:solidFill>
                  <a:schemeClr val="bg1"/>
                </a:solidFill>
                <a:latin typeface="メイリオ" panose="020B0604030504040204" pitchFamily="50" charset="-128"/>
                <a:ea typeface="メイリオ" panose="020B0604030504040204" pitchFamily="50" charset="-128"/>
                <a:cs typeface="メイリオ"/>
              </a:rPr>
              <a:t>サイト上情報と連携させ、配信効果を数値化する</a:t>
            </a:r>
          </a:p>
        </p:txBody>
      </p:sp>
      <p:pic>
        <p:nvPicPr>
          <p:cNvPr id="7" name="図 6"/>
          <p:cNvPicPr>
            <a:picLocks noChangeAspect="1"/>
          </p:cNvPicPr>
          <p:nvPr/>
        </p:nvPicPr>
        <p:blipFill>
          <a:blip r:embed="rId3"/>
          <a:stretch>
            <a:fillRect/>
          </a:stretch>
        </p:blipFill>
        <p:spPr>
          <a:xfrm>
            <a:off x="1183616" y="2131090"/>
            <a:ext cx="2498573" cy="1744287"/>
          </a:xfrm>
          <a:prstGeom prst="rect">
            <a:avLst/>
          </a:prstGeom>
        </p:spPr>
      </p:pic>
      <p:pic>
        <p:nvPicPr>
          <p:cNvPr id="8" name="図 7"/>
          <p:cNvPicPr>
            <a:picLocks noChangeAspect="1"/>
          </p:cNvPicPr>
          <p:nvPr/>
        </p:nvPicPr>
        <p:blipFill>
          <a:blip r:embed="rId4"/>
          <a:stretch>
            <a:fillRect/>
          </a:stretch>
        </p:blipFill>
        <p:spPr>
          <a:xfrm>
            <a:off x="3456146" y="2402524"/>
            <a:ext cx="2393091" cy="1668595"/>
          </a:xfrm>
          <a:prstGeom prst="rect">
            <a:avLst/>
          </a:prstGeom>
        </p:spPr>
      </p:pic>
      <p:pic>
        <p:nvPicPr>
          <p:cNvPr id="10" name="図 9"/>
          <p:cNvPicPr>
            <a:picLocks noChangeAspect="1"/>
          </p:cNvPicPr>
          <p:nvPr/>
        </p:nvPicPr>
        <p:blipFill>
          <a:blip r:embed="rId5"/>
          <a:stretch>
            <a:fillRect/>
          </a:stretch>
        </p:blipFill>
        <p:spPr>
          <a:xfrm>
            <a:off x="5697714" y="2676687"/>
            <a:ext cx="2432174" cy="1698131"/>
          </a:xfrm>
          <a:prstGeom prst="rect">
            <a:avLst/>
          </a:prstGeom>
        </p:spPr>
      </p:pic>
      <p:pic>
        <p:nvPicPr>
          <p:cNvPr id="14" name="図 13"/>
          <p:cNvPicPr>
            <a:picLocks noChangeAspect="1"/>
          </p:cNvPicPr>
          <p:nvPr/>
        </p:nvPicPr>
        <p:blipFill>
          <a:blip r:embed="rId6"/>
          <a:stretch>
            <a:fillRect/>
          </a:stretch>
        </p:blipFill>
        <p:spPr>
          <a:xfrm>
            <a:off x="1158180" y="4165451"/>
            <a:ext cx="2417022" cy="1682579"/>
          </a:xfrm>
          <a:prstGeom prst="rect">
            <a:avLst/>
          </a:prstGeom>
        </p:spPr>
      </p:pic>
      <p:pic>
        <p:nvPicPr>
          <p:cNvPr id="15" name="図 14"/>
          <p:cNvPicPr>
            <a:picLocks noChangeAspect="1"/>
          </p:cNvPicPr>
          <p:nvPr/>
        </p:nvPicPr>
        <p:blipFill>
          <a:blip r:embed="rId7"/>
          <a:stretch>
            <a:fillRect/>
          </a:stretch>
        </p:blipFill>
        <p:spPr>
          <a:xfrm>
            <a:off x="3434655" y="4410829"/>
            <a:ext cx="2417022" cy="1683209"/>
          </a:xfrm>
          <a:prstGeom prst="rect">
            <a:avLst/>
          </a:prstGeom>
        </p:spPr>
      </p:pic>
      <p:pic>
        <p:nvPicPr>
          <p:cNvPr id="24" name="図 23"/>
          <p:cNvPicPr>
            <a:picLocks noChangeAspect="1"/>
          </p:cNvPicPr>
          <p:nvPr/>
        </p:nvPicPr>
        <p:blipFill>
          <a:blip r:embed="rId8"/>
          <a:stretch>
            <a:fillRect/>
          </a:stretch>
        </p:blipFill>
        <p:spPr>
          <a:xfrm>
            <a:off x="5697714" y="4687135"/>
            <a:ext cx="2427146" cy="1691079"/>
          </a:xfrm>
          <a:prstGeom prst="rect">
            <a:avLst/>
          </a:prstGeom>
        </p:spPr>
      </p:pic>
      <p:pic>
        <p:nvPicPr>
          <p:cNvPr id="26" name="図 25"/>
          <p:cNvPicPr>
            <a:picLocks noChangeAspect="1"/>
          </p:cNvPicPr>
          <p:nvPr/>
        </p:nvPicPr>
        <p:blipFill>
          <a:blip r:embed="rId9"/>
          <a:stretch>
            <a:fillRect/>
          </a:stretch>
        </p:blipFill>
        <p:spPr>
          <a:xfrm>
            <a:off x="8022243" y="1995292"/>
            <a:ext cx="1068645" cy="454221"/>
          </a:xfrm>
          <a:prstGeom prst="rect">
            <a:avLst/>
          </a:prstGeom>
        </p:spPr>
      </p:pic>
      <p:sp>
        <p:nvSpPr>
          <p:cNvPr id="2" name="テキスト ボックス 1">
            <a:extLst>
              <a:ext uri="{FF2B5EF4-FFF2-40B4-BE49-F238E27FC236}">
                <a16:creationId xmlns:a16="http://schemas.microsoft.com/office/drawing/2014/main" id="{D651C636-9CF1-15AA-68DF-A90526709D47}"/>
              </a:ext>
            </a:extLst>
          </p:cNvPr>
          <p:cNvSpPr txBox="1"/>
          <p:nvPr/>
        </p:nvSpPr>
        <p:spPr>
          <a:xfrm>
            <a:off x="482693" y="989115"/>
            <a:ext cx="933809" cy="646331"/>
          </a:xfrm>
          <a:prstGeom prst="rect">
            <a:avLst/>
          </a:prstGeom>
          <a:noFill/>
        </p:spPr>
        <p:txBody>
          <a:bodyPr wrap="square">
            <a:spAutoFit/>
          </a:bodyPr>
          <a:lstStyle/>
          <a:p>
            <a:r>
              <a:rPr lang="ja-JP" altLang="en-US" sz="3600" dirty="0">
                <a:solidFill>
                  <a:schemeClr val="bg1"/>
                </a:solidFill>
                <a:latin typeface="メイリオ" panose="020B0604030504040204" pitchFamily="50" charset="-128"/>
                <a:ea typeface="メイリオ" panose="020B0604030504040204" pitchFamily="50" charset="-128"/>
                <a:cs typeface="メイリオ"/>
              </a:rPr>
              <a:t>☑</a:t>
            </a:r>
            <a:endParaRPr lang="ja-JP" altLang="en-US" sz="3600" dirty="0">
              <a:latin typeface="メイリオ"/>
              <a:ea typeface="メイリオ"/>
              <a:cs typeface="メイリオ"/>
            </a:endParaRPr>
          </a:p>
        </p:txBody>
      </p:sp>
      <p:pic>
        <p:nvPicPr>
          <p:cNvPr id="3" name="Picture 2" descr="ロゴガイドライン｜LINEヤフー for Business">
            <a:extLst>
              <a:ext uri="{FF2B5EF4-FFF2-40B4-BE49-F238E27FC236}">
                <a16:creationId xmlns:a16="http://schemas.microsoft.com/office/drawing/2014/main" id="{4B935F7B-C5E5-F09A-504B-9182D06611BF}"/>
              </a:ext>
            </a:extLst>
          </p:cNvPr>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6485508" y="1787991"/>
            <a:ext cx="2447955" cy="888696"/>
          </a:xfrm>
          <a:prstGeom prst="rect">
            <a:avLst/>
          </a:prstGeom>
          <a:noFill/>
          <a:extLst>
            <a:ext uri="{909E8E84-426E-40DD-AFC4-6F175D3DCCD1}">
              <a14:hiddenFill xmlns:a14="http://schemas.microsoft.com/office/drawing/2010/main">
                <a:solidFill>
                  <a:srgbClr val="FFFFFF"/>
                </a:solidFill>
              </a14:hiddenFill>
            </a:ext>
          </a:extLst>
        </p:spPr>
      </p:pic>
      <p:sp>
        <p:nvSpPr>
          <p:cNvPr id="4" name="Google Shape;156;p7">
            <a:extLst>
              <a:ext uri="{FF2B5EF4-FFF2-40B4-BE49-F238E27FC236}">
                <a16:creationId xmlns:a16="http://schemas.microsoft.com/office/drawing/2014/main" id="{C235E2E0-8EAB-29DE-40C2-6596465C1F0D}"/>
              </a:ext>
            </a:extLst>
          </p:cNvPr>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サポート体制（報告</a:t>
            </a:r>
            <a:r>
              <a:rPr lang="en-US" altLang="ja-JP" sz="1600" b="1" dirty="0">
                <a:solidFill>
                  <a:srgbClr val="002060"/>
                </a:solidFill>
                <a:latin typeface="メイリオ"/>
                <a:ea typeface="メイリオ"/>
                <a:cs typeface="メイリオ"/>
                <a:sym typeface="Meiryo"/>
              </a:rPr>
              <a:t>FMT</a:t>
            </a:r>
            <a:r>
              <a:rPr lang="ja-JP" altLang="en-US" sz="1600" b="1" dirty="0">
                <a:solidFill>
                  <a:srgbClr val="002060"/>
                </a:solidFill>
                <a:latin typeface="メイリオ"/>
                <a:ea typeface="メイリオ"/>
                <a:cs typeface="メイリオ"/>
                <a:sym typeface="Meiryo"/>
              </a:rPr>
              <a:t>）</a:t>
            </a:r>
            <a:endParaRPr sz="1600" b="1" dirty="0">
              <a:solidFill>
                <a:srgbClr val="002060"/>
              </a:solidFill>
              <a:latin typeface="メイリオ"/>
              <a:ea typeface="メイリオ"/>
              <a:cs typeface="メイリオ"/>
              <a:sym typeface="Meiryo"/>
            </a:endParaRPr>
          </a:p>
        </p:txBody>
      </p:sp>
      <p:sp>
        <p:nvSpPr>
          <p:cNvPr id="5" name="正方形/長方形 4">
            <a:extLst>
              <a:ext uri="{FF2B5EF4-FFF2-40B4-BE49-F238E27FC236}">
                <a16:creationId xmlns:a16="http://schemas.microsoft.com/office/drawing/2014/main" id="{301FEA49-75A4-DB83-1235-8CE72DDD1DB5}"/>
              </a:ext>
            </a:extLst>
          </p:cNvPr>
          <p:cNvSpPr/>
          <p:nvPr/>
        </p:nvSpPr>
        <p:spPr>
          <a:xfrm>
            <a:off x="166962" y="3583894"/>
            <a:ext cx="9594258" cy="867143"/>
          </a:xfrm>
          <a:prstGeom prst="rect">
            <a:avLst/>
          </a:prstGeom>
          <a:solidFill>
            <a:schemeClr val="tx1">
              <a:lumMod val="65000"/>
              <a:lumOff val="35000"/>
              <a:alpha val="50000"/>
            </a:schemeClr>
          </a:solidFill>
          <a:ln w="222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2400" b="1" dirty="0">
                <a:solidFill>
                  <a:schemeClr val="bg1"/>
                </a:solidFill>
                <a:latin typeface="メイリオ" panose="020B0604030504040204" pitchFamily="50" charset="-128"/>
                <a:ea typeface="メイリオ" panose="020B0604030504040204" pitchFamily="50" charset="-128"/>
                <a:cs typeface="メイリオ"/>
              </a:rPr>
              <a:t>レポートサンプル</a:t>
            </a:r>
            <a:endParaRPr lang="en-US" altLang="ja-JP" sz="2400" b="1" dirty="0">
              <a:solidFill>
                <a:schemeClr val="bg1"/>
              </a:solidFill>
              <a:latin typeface="メイリオ" panose="020B0604030504040204" pitchFamily="50" charset="-128"/>
              <a:ea typeface="メイリオ" panose="020B0604030504040204" pitchFamily="50" charset="-128"/>
              <a:cs typeface="メイリオ"/>
            </a:endParaRPr>
          </a:p>
          <a:p>
            <a:pPr algn="ctr"/>
            <a:r>
              <a:rPr lang="ja-JP" altLang="en-US" sz="1400" dirty="0">
                <a:solidFill>
                  <a:schemeClr val="bg1"/>
                </a:solidFill>
                <a:latin typeface="メイリオ" panose="020B0604030504040204" pitchFamily="50" charset="-128"/>
                <a:ea typeface="メイリオ" panose="020B0604030504040204" pitchFamily="50" charset="-128"/>
                <a:cs typeface="メイリオ"/>
              </a:rPr>
              <a:t>（貴社要望によりカスタマイズ予定）</a:t>
            </a:r>
          </a:p>
        </p:txBody>
      </p:sp>
    </p:spTree>
    <p:extLst>
      <p:ext uri="{BB962C8B-B14F-4D97-AF65-F5344CB8AC3E}">
        <p14:creationId xmlns:p14="http://schemas.microsoft.com/office/powerpoint/2010/main" val="20268183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正方形/長方形 1"/>
          <p:cNvSpPr/>
          <p:nvPr/>
        </p:nvSpPr>
        <p:spPr>
          <a:xfrm>
            <a:off x="6757851" y="93594"/>
            <a:ext cx="1320961" cy="344039"/>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100" dirty="0">
                <a:latin typeface="メイリオ" panose="020B0604030504040204" pitchFamily="50" charset="-128"/>
                <a:ea typeface="メイリオ" panose="020B0604030504040204" pitchFamily="50" charset="-128"/>
                <a:cs typeface="メイリオ"/>
              </a:rPr>
              <a:t>効果計測</a:t>
            </a:r>
            <a:endParaRPr kumimoji="1" lang="ja-JP" altLang="en-US" sz="1100" dirty="0">
              <a:latin typeface="メイリオ" panose="020B0604030504040204" pitchFamily="50" charset="-128"/>
              <a:ea typeface="メイリオ" panose="020B0604030504040204" pitchFamily="50" charset="-128"/>
              <a:cs typeface="メイリオ"/>
            </a:endParaRPr>
          </a:p>
        </p:txBody>
      </p:sp>
      <p:sp>
        <p:nvSpPr>
          <p:cNvPr id="14" name="正方形/長方形 13"/>
          <p:cNvSpPr/>
          <p:nvPr/>
        </p:nvSpPr>
        <p:spPr>
          <a:xfrm>
            <a:off x="258794" y="1486023"/>
            <a:ext cx="9230264" cy="170575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a:latin typeface="メイリオ"/>
              <a:ea typeface="メイリオ"/>
              <a:cs typeface="メイリオ"/>
            </a:endParaRPr>
          </a:p>
        </p:txBody>
      </p:sp>
      <p:pic>
        <p:nvPicPr>
          <p:cNvPr id="15" name="図 14"/>
          <p:cNvPicPr>
            <a:picLocks noChangeAspect="1"/>
          </p:cNvPicPr>
          <p:nvPr/>
        </p:nvPicPr>
        <p:blipFill>
          <a:blip r:embed="rId3"/>
          <a:stretch>
            <a:fillRect/>
          </a:stretch>
        </p:blipFill>
        <p:spPr>
          <a:xfrm>
            <a:off x="445640" y="4515592"/>
            <a:ext cx="4393508" cy="1886055"/>
          </a:xfrm>
          <a:prstGeom prst="rect">
            <a:avLst/>
          </a:prstGeom>
        </p:spPr>
      </p:pic>
      <p:sp>
        <p:nvSpPr>
          <p:cNvPr id="16" name="正方形/長方形 15"/>
          <p:cNvSpPr/>
          <p:nvPr/>
        </p:nvSpPr>
        <p:spPr>
          <a:xfrm>
            <a:off x="1728755" y="1724210"/>
            <a:ext cx="1984767" cy="48577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latin typeface="メイリオ" panose="020B0604030504040204" pitchFamily="50" charset="-128"/>
                <a:ea typeface="メイリオ" panose="020B0604030504040204" pitchFamily="50" charset="-128"/>
                <a:cs typeface="メイリオ"/>
              </a:rPr>
              <a:t>API</a:t>
            </a:r>
            <a:r>
              <a:rPr lang="ja-JP" altLang="en-US" sz="1200" b="1" dirty="0">
                <a:latin typeface="メイリオ" panose="020B0604030504040204" pitchFamily="50" charset="-128"/>
                <a:ea typeface="メイリオ" panose="020B0604030504040204" pitchFamily="50" charset="-128"/>
                <a:cs typeface="メイリオ"/>
              </a:rPr>
              <a:t>ツールなし</a:t>
            </a:r>
            <a:endParaRPr kumimoji="1" lang="ja-JP" altLang="en-US" sz="1200" b="1" dirty="0">
              <a:latin typeface="メイリオ" panose="020B0604030504040204" pitchFamily="50" charset="-128"/>
              <a:ea typeface="メイリオ" panose="020B0604030504040204" pitchFamily="50" charset="-128"/>
              <a:cs typeface="メイリオ"/>
            </a:endParaRPr>
          </a:p>
        </p:txBody>
      </p:sp>
      <p:sp>
        <p:nvSpPr>
          <p:cNvPr id="17" name="正方形/長方形 16"/>
          <p:cNvSpPr/>
          <p:nvPr/>
        </p:nvSpPr>
        <p:spPr>
          <a:xfrm>
            <a:off x="1728754" y="2464827"/>
            <a:ext cx="1984767" cy="48577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latin typeface="メイリオ" panose="020B0604030504040204" pitchFamily="50" charset="-128"/>
                <a:ea typeface="メイリオ" panose="020B0604030504040204" pitchFamily="50" charset="-128"/>
                <a:cs typeface="メイリオ"/>
              </a:rPr>
              <a:t>API</a:t>
            </a:r>
            <a:r>
              <a:rPr kumimoji="1" lang="ja-JP" altLang="en-US" sz="1200" b="1" dirty="0">
                <a:latin typeface="メイリオ" panose="020B0604030504040204" pitchFamily="50" charset="-128"/>
                <a:ea typeface="メイリオ" panose="020B0604030504040204" pitchFamily="50" charset="-128"/>
                <a:cs typeface="メイリオ"/>
              </a:rPr>
              <a:t>ツールあり</a:t>
            </a:r>
          </a:p>
        </p:txBody>
      </p:sp>
      <p:sp>
        <p:nvSpPr>
          <p:cNvPr id="18" name="正方形/長方形 17"/>
          <p:cNvSpPr/>
          <p:nvPr/>
        </p:nvSpPr>
        <p:spPr>
          <a:xfrm>
            <a:off x="3939661" y="2445682"/>
            <a:ext cx="3312125" cy="523220"/>
          </a:xfrm>
          <a:prstGeom prst="rect">
            <a:avLst/>
          </a:prstGeom>
        </p:spPr>
        <p:txBody>
          <a:bodyPr wrap="none" anchor="ctr">
            <a:spAutoFit/>
          </a:bodyPr>
          <a:lstStyle/>
          <a:p>
            <a:r>
              <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API</a:t>
            </a:r>
            <a:r>
              <a:rPr lang="ja-JP" altLang="en-US"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ツール管理画面上にて</a:t>
            </a:r>
            <a:endPar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a:p>
            <a:r>
              <a:rPr lang="ja-JP" altLang="en-US"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「特定期間に対する</a:t>
            </a:r>
            <a:r>
              <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CV</a:t>
            </a:r>
            <a:r>
              <a:rPr lang="ja-JP" altLang="en-US"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数算出」が可能</a:t>
            </a:r>
          </a:p>
        </p:txBody>
      </p:sp>
      <p:sp>
        <p:nvSpPr>
          <p:cNvPr id="19" name="正方形/長方形 18"/>
          <p:cNvSpPr/>
          <p:nvPr/>
        </p:nvSpPr>
        <p:spPr>
          <a:xfrm>
            <a:off x="3939661" y="1705487"/>
            <a:ext cx="4273927" cy="523220"/>
          </a:xfrm>
          <a:prstGeom prst="rect">
            <a:avLst/>
          </a:prstGeom>
        </p:spPr>
        <p:txBody>
          <a:bodyPr wrap="none" anchor="ctr">
            <a:spAutoFit/>
          </a:bodyPr>
          <a:lstStyle/>
          <a:p>
            <a:r>
              <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CV</a:t>
            </a:r>
            <a:r>
              <a:rPr lang="ja-JP" altLang="en-US"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タグの設定に伴い、計測自体は可能だが</a:t>
            </a:r>
            <a:endPar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a:p>
            <a:r>
              <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CV</a:t>
            </a:r>
            <a:r>
              <a:rPr lang="ja-JP" altLang="en-US"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数</a:t>
            </a:r>
            <a:r>
              <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50</a:t>
            </a:r>
            <a:r>
              <a:rPr lang="ja-JP" altLang="en-US"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件以上での数値計測となる（管理画面上）</a:t>
            </a:r>
          </a:p>
        </p:txBody>
      </p:sp>
      <p:sp>
        <p:nvSpPr>
          <p:cNvPr id="20" name="正方形/長方形 19"/>
          <p:cNvSpPr/>
          <p:nvPr/>
        </p:nvSpPr>
        <p:spPr>
          <a:xfrm>
            <a:off x="625827" y="2120216"/>
            <a:ext cx="646331" cy="369332"/>
          </a:xfrm>
          <a:prstGeom prst="rect">
            <a:avLst/>
          </a:prstGeom>
        </p:spPr>
        <p:txBody>
          <a:bodyPr wrap="none">
            <a:spAutoFit/>
          </a:bodyPr>
          <a:lstStyle/>
          <a:p>
            <a:pPr algn="ctr"/>
            <a:r>
              <a:rPr lang="ja-JP" altLang="en-US" dirty="0">
                <a:latin typeface="メイリオ" panose="020B0604030504040204" pitchFamily="50" charset="-128"/>
                <a:ea typeface="メイリオ" panose="020B0604030504040204" pitchFamily="50" charset="-128"/>
                <a:cs typeface="メイリオ"/>
              </a:rPr>
              <a:t>通常</a:t>
            </a:r>
          </a:p>
        </p:txBody>
      </p:sp>
      <p:sp>
        <p:nvSpPr>
          <p:cNvPr id="21" name="正方形/長方形 20"/>
          <p:cNvSpPr/>
          <p:nvPr/>
        </p:nvSpPr>
        <p:spPr>
          <a:xfrm>
            <a:off x="258794" y="3337953"/>
            <a:ext cx="9230264" cy="1053074"/>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a:latin typeface="メイリオ"/>
              <a:ea typeface="メイリオ"/>
              <a:cs typeface="メイリオ"/>
            </a:endParaRPr>
          </a:p>
        </p:txBody>
      </p:sp>
      <p:sp>
        <p:nvSpPr>
          <p:cNvPr id="22" name="正方形/長方形 21"/>
          <p:cNvSpPr/>
          <p:nvPr/>
        </p:nvSpPr>
        <p:spPr>
          <a:xfrm>
            <a:off x="1728754" y="3527788"/>
            <a:ext cx="1984767" cy="704850"/>
          </a:xfrm>
          <a:prstGeom prst="rect">
            <a:avLst/>
          </a:prstGeom>
          <a:solidFill>
            <a:srgbClr val="191F5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latin typeface="メイリオ" panose="020B0604030504040204" pitchFamily="50" charset="-128"/>
                <a:ea typeface="メイリオ" panose="020B0604030504040204" pitchFamily="50" charset="-128"/>
                <a:cs typeface="メイリオ"/>
              </a:rPr>
              <a:t>API</a:t>
            </a:r>
            <a:r>
              <a:rPr lang="ja-JP" altLang="en-US" sz="1200" b="1" dirty="0">
                <a:latin typeface="メイリオ" panose="020B0604030504040204" pitchFamily="50" charset="-128"/>
                <a:ea typeface="メイリオ" panose="020B0604030504040204" pitchFamily="50" charset="-128"/>
                <a:cs typeface="メイリオ"/>
              </a:rPr>
              <a:t>ツール有無</a:t>
            </a:r>
            <a:endParaRPr lang="en-US" altLang="ja-JP" sz="1200" b="1" dirty="0">
              <a:latin typeface="メイリオ" panose="020B0604030504040204" pitchFamily="50" charset="-128"/>
              <a:ea typeface="メイリオ" panose="020B0604030504040204" pitchFamily="50" charset="-128"/>
              <a:cs typeface="メイリオ"/>
            </a:endParaRPr>
          </a:p>
          <a:p>
            <a:pPr algn="ctr"/>
            <a:r>
              <a:rPr kumimoji="1" lang="ja-JP" altLang="en-US" sz="1200" b="1" dirty="0">
                <a:latin typeface="メイリオ" panose="020B0604030504040204" pitchFamily="50" charset="-128"/>
                <a:ea typeface="メイリオ" panose="020B0604030504040204" pitchFamily="50" charset="-128"/>
                <a:cs typeface="メイリオ"/>
              </a:rPr>
              <a:t>に関わらず</a:t>
            </a:r>
          </a:p>
        </p:txBody>
      </p:sp>
      <p:sp>
        <p:nvSpPr>
          <p:cNvPr id="23" name="正方形/長方形 22"/>
          <p:cNvSpPr/>
          <p:nvPr/>
        </p:nvSpPr>
        <p:spPr>
          <a:xfrm>
            <a:off x="3939660" y="3618602"/>
            <a:ext cx="4164923" cy="523220"/>
          </a:xfrm>
          <a:prstGeom prst="rect">
            <a:avLst/>
          </a:prstGeom>
        </p:spPr>
        <p:txBody>
          <a:bodyPr wrap="none" anchor="ctr">
            <a:spAutoFit/>
          </a:bodyPr>
          <a:lstStyle/>
          <a:p>
            <a:r>
              <a:rPr lang="ja-JP" altLang="en-US" sz="1400" dirty="0">
                <a:latin typeface="メイリオ" panose="020B0604030504040204" pitchFamily="50" charset="-128"/>
                <a:ea typeface="メイリオ" panose="020B0604030504040204" pitchFamily="50" charset="-128"/>
                <a:cs typeface="メイリオ"/>
              </a:rPr>
              <a:t>定期投稿、シナリオ、リッチメニュー等に設定の</a:t>
            </a:r>
            <a:endParaRPr lang="en-US" altLang="ja-JP" sz="1400" dirty="0">
              <a:latin typeface="メイリオ" panose="020B0604030504040204" pitchFamily="50" charset="-128"/>
              <a:ea typeface="メイリオ" panose="020B0604030504040204" pitchFamily="50" charset="-128"/>
              <a:cs typeface="メイリオ"/>
            </a:endParaRPr>
          </a:p>
          <a:p>
            <a:r>
              <a:rPr lang="ja-JP" altLang="en-US" sz="1400" dirty="0">
                <a:latin typeface="メイリオ" panose="020B0604030504040204" pitchFamily="50" charset="-128"/>
                <a:ea typeface="メイリオ" panose="020B0604030504040204" pitchFamily="50" charset="-128"/>
                <a:cs typeface="メイリオ"/>
              </a:rPr>
              <a:t>リンクについて、</a:t>
            </a:r>
            <a:r>
              <a:rPr lang="en-US" altLang="ja-JP" sz="1400" dirty="0">
                <a:solidFill>
                  <a:srgbClr val="1F2A5C"/>
                </a:solidFill>
                <a:latin typeface="メイリオ" panose="020B0604030504040204" pitchFamily="50" charset="-128"/>
                <a:ea typeface="メイリオ" panose="020B0604030504040204" pitchFamily="50" charset="-128"/>
                <a:cs typeface="メイリオ"/>
              </a:rPr>
              <a:t>GA</a:t>
            </a:r>
            <a:r>
              <a:rPr lang="ja-JP" altLang="en-US" sz="1400" dirty="0" err="1">
                <a:solidFill>
                  <a:srgbClr val="1F2A5C"/>
                </a:solidFill>
                <a:latin typeface="メイリオ" panose="020B0604030504040204" pitchFamily="50" charset="-128"/>
                <a:ea typeface="メイリオ" panose="020B0604030504040204" pitchFamily="50" charset="-128"/>
                <a:cs typeface="メイリオ"/>
              </a:rPr>
              <a:t>、</a:t>
            </a:r>
            <a:r>
              <a:rPr lang="en-US" altLang="ja-JP" sz="1400" dirty="0">
                <a:solidFill>
                  <a:srgbClr val="1F2A5C"/>
                </a:solidFill>
                <a:latin typeface="メイリオ" panose="020B0604030504040204" pitchFamily="50" charset="-128"/>
                <a:ea typeface="メイリオ" panose="020B0604030504040204" pitchFamily="50" charset="-128"/>
                <a:cs typeface="メイリオ"/>
              </a:rPr>
              <a:t>MA</a:t>
            </a:r>
            <a:r>
              <a:rPr lang="ja-JP" altLang="en-US" sz="1400" dirty="0">
                <a:solidFill>
                  <a:srgbClr val="1F2A5C"/>
                </a:solidFill>
                <a:latin typeface="メイリオ" panose="020B0604030504040204" pitchFamily="50" charset="-128"/>
                <a:ea typeface="メイリオ" panose="020B0604030504040204" pitchFamily="50" charset="-128"/>
                <a:cs typeface="メイリオ"/>
              </a:rPr>
              <a:t>ツールでの計測可能</a:t>
            </a:r>
            <a:r>
              <a:rPr lang="ja-JP" altLang="en-US" sz="1400" dirty="0">
                <a:latin typeface="メイリオ" panose="020B0604030504040204" pitchFamily="50" charset="-128"/>
                <a:ea typeface="メイリオ" panose="020B0604030504040204" pitchFamily="50" charset="-128"/>
                <a:cs typeface="メイリオ"/>
              </a:rPr>
              <a:t>に</a:t>
            </a:r>
          </a:p>
        </p:txBody>
      </p:sp>
      <p:sp>
        <p:nvSpPr>
          <p:cNvPr id="24" name="正方形/長方形 23"/>
          <p:cNvSpPr/>
          <p:nvPr/>
        </p:nvSpPr>
        <p:spPr>
          <a:xfrm>
            <a:off x="571292" y="3649379"/>
            <a:ext cx="693973" cy="369332"/>
          </a:xfrm>
          <a:prstGeom prst="rect">
            <a:avLst/>
          </a:prstGeom>
        </p:spPr>
        <p:txBody>
          <a:bodyPr wrap="none">
            <a:spAutoFit/>
          </a:bodyPr>
          <a:lstStyle/>
          <a:p>
            <a:pPr algn="ctr"/>
            <a:r>
              <a:rPr lang="en-US" altLang="ja-JP" dirty="0">
                <a:latin typeface="メイリオ" panose="020B0604030504040204" pitchFamily="50" charset="-128"/>
                <a:ea typeface="メイリオ" panose="020B0604030504040204" pitchFamily="50" charset="-128"/>
                <a:cs typeface="メイリオ"/>
              </a:rPr>
              <a:t>DYM</a:t>
            </a:r>
            <a:endParaRPr lang="ja-JP" altLang="en-US" dirty="0">
              <a:latin typeface="メイリオ" panose="020B0604030504040204" pitchFamily="50" charset="-128"/>
              <a:ea typeface="メイリオ" panose="020B0604030504040204" pitchFamily="50" charset="-128"/>
              <a:cs typeface="メイリオ"/>
            </a:endParaRPr>
          </a:p>
        </p:txBody>
      </p:sp>
      <p:pic>
        <p:nvPicPr>
          <p:cNvPr id="27" name="図 26"/>
          <p:cNvPicPr>
            <a:picLocks noChangeAspect="1"/>
          </p:cNvPicPr>
          <p:nvPr/>
        </p:nvPicPr>
        <p:blipFill>
          <a:blip r:embed="rId4"/>
          <a:stretch>
            <a:fillRect/>
          </a:stretch>
        </p:blipFill>
        <p:spPr>
          <a:xfrm>
            <a:off x="5173537" y="4510754"/>
            <a:ext cx="4219164" cy="1912981"/>
          </a:xfrm>
          <a:prstGeom prst="rect">
            <a:avLst/>
          </a:prstGeom>
        </p:spPr>
      </p:pic>
      <p:sp>
        <p:nvSpPr>
          <p:cNvPr id="29" name="正方形/長方形 28"/>
          <p:cNvSpPr/>
          <p:nvPr/>
        </p:nvSpPr>
        <p:spPr>
          <a:xfrm>
            <a:off x="372964" y="4445247"/>
            <a:ext cx="4546440" cy="2023013"/>
          </a:xfrm>
          <a:prstGeom prst="rect">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30" name="正方形/長方形 29"/>
          <p:cNvSpPr/>
          <p:nvPr/>
        </p:nvSpPr>
        <p:spPr>
          <a:xfrm>
            <a:off x="5141643" y="4445246"/>
            <a:ext cx="4282952" cy="2023013"/>
          </a:xfrm>
          <a:prstGeom prst="rect">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31" name="正方形/長方形 30"/>
          <p:cNvSpPr/>
          <p:nvPr/>
        </p:nvSpPr>
        <p:spPr>
          <a:xfrm>
            <a:off x="788187" y="6081911"/>
            <a:ext cx="3659825" cy="322628"/>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400" b="1" dirty="0">
                <a:latin typeface="メイリオ" panose="020B0604030504040204" pitchFamily="50" charset="-128"/>
                <a:ea typeface="メイリオ" panose="020B0604030504040204" pitchFamily="50" charset="-128"/>
                <a:cs typeface="メイリオ"/>
              </a:rPr>
              <a:t>GA</a:t>
            </a:r>
            <a:r>
              <a:rPr kumimoji="1" lang="ja-JP" altLang="en-US" sz="1400" b="1" dirty="0">
                <a:latin typeface="メイリオ" panose="020B0604030504040204" pitchFamily="50" charset="-128"/>
                <a:ea typeface="メイリオ" panose="020B0604030504040204" pitchFamily="50" charset="-128"/>
                <a:cs typeface="メイリオ"/>
              </a:rPr>
              <a:t>レポート（日次）</a:t>
            </a:r>
            <a:r>
              <a:rPr kumimoji="1" lang="ja-JP" altLang="en-US" sz="1100" b="1" dirty="0">
                <a:latin typeface="メイリオ" panose="020B0604030504040204" pitchFamily="50" charset="-128"/>
                <a:ea typeface="メイリオ" panose="020B0604030504040204" pitchFamily="50" charset="-128"/>
                <a:cs typeface="メイリオ"/>
              </a:rPr>
              <a:t> </a:t>
            </a:r>
            <a:r>
              <a:rPr kumimoji="1" lang="en-US" altLang="ja-JP" sz="1100" b="1" dirty="0">
                <a:latin typeface="メイリオ" panose="020B0604030504040204" pitchFamily="50" charset="-128"/>
                <a:ea typeface="メイリオ" panose="020B0604030504040204" pitchFamily="50" charset="-128"/>
                <a:cs typeface="メイリオ"/>
              </a:rPr>
              <a:t>※</a:t>
            </a:r>
            <a:r>
              <a:rPr kumimoji="1" lang="ja-JP" altLang="en-US" sz="1100" b="1" dirty="0">
                <a:latin typeface="メイリオ" panose="020B0604030504040204" pitchFamily="50" charset="-128"/>
                <a:ea typeface="メイリオ" panose="020B0604030504040204" pitchFamily="50" charset="-128"/>
                <a:cs typeface="メイリオ"/>
              </a:rPr>
              <a:t>サンプル</a:t>
            </a:r>
            <a:endParaRPr kumimoji="1" lang="ja-JP" altLang="en-US" sz="1400" b="1" dirty="0">
              <a:latin typeface="メイリオ" panose="020B0604030504040204" pitchFamily="50" charset="-128"/>
              <a:ea typeface="メイリオ" panose="020B0604030504040204" pitchFamily="50" charset="-128"/>
              <a:cs typeface="メイリオ"/>
            </a:endParaRPr>
          </a:p>
        </p:txBody>
      </p:sp>
      <p:sp>
        <p:nvSpPr>
          <p:cNvPr id="32" name="正方形/長方形 31"/>
          <p:cNvSpPr/>
          <p:nvPr/>
        </p:nvSpPr>
        <p:spPr>
          <a:xfrm>
            <a:off x="5453208" y="6081911"/>
            <a:ext cx="3659825" cy="322628"/>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400" b="1" dirty="0">
                <a:latin typeface="メイリオ" panose="020B0604030504040204" pitchFamily="50" charset="-128"/>
                <a:ea typeface="メイリオ" panose="020B0604030504040204" pitchFamily="50" charset="-128"/>
                <a:cs typeface="メイリオ"/>
              </a:rPr>
              <a:t>GA</a:t>
            </a:r>
            <a:r>
              <a:rPr kumimoji="1" lang="ja-JP" altLang="en-US" sz="1400" b="1" dirty="0">
                <a:latin typeface="メイリオ" panose="020B0604030504040204" pitchFamily="50" charset="-128"/>
                <a:ea typeface="メイリオ" panose="020B0604030504040204" pitchFamily="50" charset="-128"/>
                <a:cs typeface="メイリオ"/>
              </a:rPr>
              <a:t>レポート（月次）</a:t>
            </a:r>
            <a:r>
              <a:rPr kumimoji="1" lang="ja-JP" altLang="en-US" sz="1100" b="1" dirty="0">
                <a:latin typeface="メイリオ" panose="020B0604030504040204" pitchFamily="50" charset="-128"/>
                <a:ea typeface="メイリオ" panose="020B0604030504040204" pitchFamily="50" charset="-128"/>
                <a:cs typeface="メイリオ"/>
              </a:rPr>
              <a:t> </a:t>
            </a:r>
            <a:r>
              <a:rPr kumimoji="1" lang="en-US" altLang="ja-JP" sz="1100" b="1" dirty="0">
                <a:latin typeface="メイリオ" panose="020B0604030504040204" pitchFamily="50" charset="-128"/>
                <a:ea typeface="メイリオ" panose="020B0604030504040204" pitchFamily="50" charset="-128"/>
                <a:cs typeface="メイリオ"/>
              </a:rPr>
              <a:t>※</a:t>
            </a:r>
            <a:r>
              <a:rPr lang="ja-JP" altLang="en-US" sz="1100" b="1" dirty="0">
                <a:latin typeface="メイリオ" panose="020B0604030504040204" pitchFamily="50" charset="-128"/>
                <a:ea typeface="メイリオ" panose="020B0604030504040204" pitchFamily="50" charset="-128"/>
                <a:cs typeface="メイリオ"/>
              </a:rPr>
              <a:t>サンプル</a:t>
            </a:r>
            <a:endParaRPr kumimoji="1" lang="ja-JP" altLang="en-US" sz="1400" b="1" dirty="0">
              <a:latin typeface="メイリオ" panose="020B0604030504040204" pitchFamily="50" charset="-128"/>
              <a:ea typeface="メイリオ" panose="020B0604030504040204" pitchFamily="50" charset="-128"/>
              <a:cs typeface="メイリオ"/>
            </a:endParaRPr>
          </a:p>
        </p:txBody>
      </p:sp>
      <p:sp>
        <p:nvSpPr>
          <p:cNvPr id="33" name="正方形/長方形 32"/>
          <p:cNvSpPr/>
          <p:nvPr/>
        </p:nvSpPr>
        <p:spPr>
          <a:xfrm>
            <a:off x="258794" y="776172"/>
            <a:ext cx="9230264" cy="523220"/>
          </a:xfrm>
          <a:prstGeom prst="rect">
            <a:avLst/>
          </a:prstGeom>
        </p:spPr>
        <p:txBody>
          <a:bodyPr wrap="square" anchor="ctr">
            <a:spAutoFit/>
          </a:bodyPr>
          <a:lstStyle/>
          <a:p>
            <a:pPr algn="ctr"/>
            <a:r>
              <a:rPr lang="ja-JP" altLang="en-US" sz="1400" dirty="0">
                <a:latin typeface="メイリオ" panose="020B0604030504040204" pitchFamily="50" charset="-128"/>
                <a:ea typeface="メイリオ" panose="020B0604030504040204" pitchFamily="50" charset="-128"/>
                <a:cs typeface="メイリオ"/>
              </a:rPr>
              <a:t>コンサル費用＋アカウント費用に対する効果を可視化し、課題点を都度確認できる体制に。</a:t>
            </a:r>
            <a:endParaRPr lang="en-US" altLang="ja-JP" sz="1400" dirty="0">
              <a:latin typeface="メイリオ" panose="020B0604030504040204" pitchFamily="50" charset="-128"/>
              <a:ea typeface="メイリオ" panose="020B0604030504040204" pitchFamily="50" charset="-128"/>
              <a:cs typeface="メイリオ"/>
            </a:endParaRPr>
          </a:p>
          <a:p>
            <a:pPr algn="ctr"/>
            <a:r>
              <a:rPr lang="ja-JP" altLang="en-US" sz="1400" dirty="0">
                <a:latin typeface="メイリオ" panose="020B0604030504040204" pitchFamily="50" charset="-128"/>
                <a:ea typeface="メイリオ" panose="020B0604030504040204" pitchFamily="50" charset="-128"/>
                <a:cs typeface="メイリオ"/>
              </a:rPr>
              <a:t>投稿別</a:t>
            </a:r>
            <a:r>
              <a:rPr lang="en-US" altLang="ja-JP" sz="1400" dirty="0">
                <a:latin typeface="メイリオ" panose="020B0604030504040204" pitchFamily="50" charset="-128"/>
                <a:ea typeface="メイリオ" panose="020B0604030504040204" pitchFamily="50" charset="-128"/>
                <a:cs typeface="メイリオ"/>
              </a:rPr>
              <a:t>×</a:t>
            </a:r>
            <a:r>
              <a:rPr lang="ja-JP" altLang="en-US" sz="1400" dirty="0">
                <a:latin typeface="メイリオ" panose="020B0604030504040204" pitchFamily="50" charset="-128"/>
                <a:ea typeface="メイリオ" panose="020B0604030504040204" pitchFamily="50" charset="-128"/>
                <a:cs typeface="メイリオ"/>
              </a:rPr>
              <a:t>セグメント別でデータ化でき、</a:t>
            </a:r>
            <a:r>
              <a:rPr lang="en-US" altLang="ja-JP" sz="1400" dirty="0">
                <a:latin typeface="メイリオ" panose="020B0604030504040204" pitchFamily="50" charset="-128"/>
                <a:ea typeface="メイリオ" panose="020B0604030504040204" pitchFamily="50" charset="-128"/>
                <a:cs typeface="メイリオ"/>
              </a:rPr>
              <a:t>AB</a:t>
            </a:r>
            <a:r>
              <a:rPr lang="ja-JP" altLang="en-US" sz="1400" dirty="0">
                <a:latin typeface="メイリオ" panose="020B0604030504040204" pitchFamily="50" charset="-128"/>
                <a:ea typeface="メイリオ" panose="020B0604030504040204" pitchFamily="50" charset="-128"/>
                <a:cs typeface="メイリオ"/>
              </a:rPr>
              <a:t>テストとクリエイティブ検証を細かく実施。</a:t>
            </a:r>
          </a:p>
        </p:txBody>
      </p:sp>
      <p:sp>
        <p:nvSpPr>
          <p:cNvPr id="4" name="Google Shape;156;p7">
            <a:extLst>
              <a:ext uri="{FF2B5EF4-FFF2-40B4-BE49-F238E27FC236}">
                <a16:creationId xmlns:a16="http://schemas.microsoft.com/office/drawing/2014/main" id="{260430EB-E69F-64B3-39EC-6A753FA8A5B0}"/>
              </a:ext>
            </a:extLst>
          </p:cNvPr>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サポート体制（報告</a:t>
            </a:r>
            <a:r>
              <a:rPr lang="en-US" altLang="ja-JP" sz="1600" b="1" dirty="0">
                <a:solidFill>
                  <a:srgbClr val="002060"/>
                </a:solidFill>
                <a:latin typeface="メイリオ"/>
                <a:ea typeface="メイリオ"/>
                <a:cs typeface="メイリオ"/>
                <a:sym typeface="Meiryo"/>
              </a:rPr>
              <a:t>FMT</a:t>
            </a:r>
            <a:r>
              <a:rPr lang="ja-JP" altLang="en-US" sz="1600" b="1" dirty="0">
                <a:solidFill>
                  <a:srgbClr val="002060"/>
                </a:solidFill>
                <a:latin typeface="メイリオ"/>
                <a:ea typeface="メイリオ"/>
                <a:cs typeface="メイリオ"/>
                <a:sym typeface="Meiryo"/>
              </a:rPr>
              <a:t>）</a:t>
            </a:r>
            <a:endParaRPr sz="1600" b="1" dirty="0">
              <a:solidFill>
                <a:srgbClr val="002060"/>
              </a:solidFill>
              <a:latin typeface="メイリオ"/>
              <a:ea typeface="メイリオ"/>
              <a:cs typeface="メイリオ"/>
              <a:sym typeface="Meiryo"/>
            </a:endParaRPr>
          </a:p>
        </p:txBody>
      </p:sp>
    </p:spTree>
    <p:extLst>
      <p:ext uri="{BB962C8B-B14F-4D97-AF65-F5344CB8AC3E}">
        <p14:creationId xmlns:p14="http://schemas.microsoft.com/office/powerpoint/2010/main" val="378692469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72F862-6825-0A25-E527-0C644CE20321}"/>
            </a:ext>
          </a:extLst>
        </p:cNvPr>
        <p:cNvGrpSpPr/>
        <p:nvPr/>
      </p:nvGrpSpPr>
      <p:grpSpPr>
        <a:xfrm>
          <a:off x="0" y="0"/>
          <a:ext cx="0" cy="0"/>
          <a:chOff x="0" y="0"/>
          <a:chExt cx="0" cy="0"/>
        </a:xfrm>
      </p:grpSpPr>
      <p:sp>
        <p:nvSpPr>
          <p:cNvPr id="4" name="正方形/長方形 3">
            <a:extLst>
              <a:ext uri="{FF2B5EF4-FFF2-40B4-BE49-F238E27FC236}">
                <a16:creationId xmlns:a16="http://schemas.microsoft.com/office/drawing/2014/main" id="{1B95EDD6-658F-4CEF-BC87-63AE1294A97D}"/>
              </a:ext>
            </a:extLst>
          </p:cNvPr>
          <p:cNvSpPr/>
          <p:nvPr/>
        </p:nvSpPr>
        <p:spPr>
          <a:xfrm>
            <a:off x="253638" y="835690"/>
            <a:ext cx="2541320" cy="48577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600" b="1" dirty="0">
                <a:latin typeface="メイリオ" panose="020B0604030504040204" pitchFamily="50" charset="-128"/>
                <a:ea typeface="メイリオ" panose="020B0604030504040204" pitchFamily="50" charset="-128"/>
                <a:cs typeface="メイリオ"/>
              </a:rPr>
              <a:t>弊社体制図</a:t>
            </a:r>
            <a:endParaRPr kumimoji="1" lang="ja-JP" altLang="en-US" sz="1600" b="1" dirty="0">
              <a:latin typeface="メイリオ" panose="020B0604030504040204" pitchFamily="50" charset="-128"/>
              <a:ea typeface="メイリオ" panose="020B0604030504040204" pitchFamily="50" charset="-128"/>
              <a:cs typeface="メイリオ"/>
            </a:endParaRPr>
          </a:p>
        </p:txBody>
      </p:sp>
      <p:sp>
        <p:nvSpPr>
          <p:cNvPr id="6" name="Google Shape;156;p7">
            <a:extLst>
              <a:ext uri="{FF2B5EF4-FFF2-40B4-BE49-F238E27FC236}">
                <a16:creationId xmlns:a16="http://schemas.microsoft.com/office/drawing/2014/main" id="{3BA0E9AE-61D3-01E9-521B-2E5746D00D89}"/>
              </a:ext>
            </a:extLst>
          </p:cNvPr>
          <p:cNvSpPr txBox="1"/>
          <p:nvPr/>
        </p:nvSpPr>
        <p:spPr>
          <a:xfrm>
            <a:off x="2857804" y="786210"/>
            <a:ext cx="7217767" cy="584735"/>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en-US" altLang="ja-JP" sz="1600" b="1" dirty="0">
                <a:solidFill>
                  <a:schemeClr val="tx1">
                    <a:lumMod val="65000"/>
                    <a:lumOff val="35000"/>
                  </a:schemeClr>
                </a:solidFill>
                <a:latin typeface="メイリオ"/>
                <a:ea typeface="メイリオ"/>
                <a:cs typeface="メイリオ"/>
                <a:sym typeface="Meiryo"/>
              </a:rPr>
              <a:t>GA</a:t>
            </a:r>
            <a:r>
              <a:rPr lang="ja-JP" altLang="en-US" sz="1600" b="1" dirty="0">
                <a:solidFill>
                  <a:schemeClr val="tx1">
                    <a:lumMod val="65000"/>
                    <a:lumOff val="35000"/>
                  </a:schemeClr>
                </a:solidFill>
                <a:latin typeface="メイリオ"/>
                <a:ea typeface="メイリオ"/>
                <a:cs typeface="メイリオ"/>
                <a:sym typeface="Meiryo"/>
              </a:rPr>
              <a:t>及び</a:t>
            </a:r>
            <a:r>
              <a:rPr lang="en-US" altLang="ja-JP" sz="1600" b="1" dirty="0">
                <a:solidFill>
                  <a:schemeClr val="tx1">
                    <a:lumMod val="65000"/>
                    <a:lumOff val="35000"/>
                  </a:schemeClr>
                </a:solidFill>
                <a:latin typeface="メイリオ"/>
                <a:ea typeface="メイリオ"/>
                <a:cs typeface="メイリオ"/>
                <a:sym typeface="Meiryo"/>
              </a:rPr>
              <a:t>MA</a:t>
            </a:r>
            <a:r>
              <a:rPr lang="ja-JP" altLang="en-US" sz="1600" b="1" dirty="0">
                <a:solidFill>
                  <a:schemeClr val="tx1">
                    <a:lumMod val="65000"/>
                    <a:lumOff val="35000"/>
                  </a:schemeClr>
                </a:solidFill>
                <a:latin typeface="メイリオ"/>
                <a:ea typeface="メイリオ"/>
                <a:cs typeface="メイリオ"/>
                <a:sym typeface="Meiryo"/>
              </a:rPr>
              <a:t>ツール両面での計測ができるようパラメータ管理。</a:t>
            </a:r>
            <a:endParaRPr lang="en-US" altLang="ja-JP" sz="1600" b="1" dirty="0">
              <a:solidFill>
                <a:schemeClr val="tx1">
                  <a:lumMod val="65000"/>
                  <a:lumOff val="35000"/>
                </a:schemeClr>
              </a:solidFill>
              <a:latin typeface="メイリオ"/>
              <a:ea typeface="メイリオ"/>
              <a:cs typeface="メイリオ"/>
              <a:sym typeface="Meiryo"/>
            </a:endParaRPr>
          </a:p>
          <a:p>
            <a:pPr lvl="0">
              <a:buClr>
                <a:srgbClr val="002060"/>
              </a:buClr>
              <a:buSzPts val="1600"/>
            </a:pPr>
            <a:r>
              <a:rPr lang="en-US" altLang="ja-JP" sz="1600" b="1" dirty="0">
                <a:solidFill>
                  <a:schemeClr val="tx1">
                    <a:lumMod val="65000"/>
                    <a:lumOff val="35000"/>
                  </a:schemeClr>
                </a:solidFill>
                <a:latin typeface="メイリオ"/>
                <a:ea typeface="メイリオ"/>
                <a:cs typeface="メイリオ"/>
                <a:sym typeface="Meiryo"/>
              </a:rPr>
              <a:t>LINE</a:t>
            </a:r>
            <a:r>
              <a:rPr lang="ja-JP" altLang="en-US" sz="1600" b="1" dirty="0">
                <a:solidFill>
                  <a:schemeClr val="tx1">
                    <a:lumMod val="65000"/>
                    <a:lumOff val="35000"/>
                  </a:schemeClr>
                </a:solidFill>
                <a:latin typeface="メイリオ"/>
                <a:ea typeface="メイリオ"/>
                <a:cs typeface="メイリオ"/>
                <a:sym typeface="Meiryo"/>
              </a:rPr>
              <a:t>公式アカウントの管理画面には出ない、サイト上の結果を紐づけ。</a:t>
            </a:r>
            <a:endParaRPr sz="1600" b="1" dirty="0">
              <a:solidFill>
                <a:schemeClr val="tx1">
                  <a:lumMod val="65000"/>
                  <a:lumOff val="35000"/>
                </a:schemeClr>
              </a:solidFill>
              <a:latin typeface="メイリオ"/>
              <a:ea typeface="メイリオ"/>
              <a:cs typeface="メイリオ"/>
              <a:sym typeface="Meiryo"/>
            </a:endParaRPr>
          </a:p>
        </p:txBody>
      </p:sp>
      <p:sp>
        <p:nvSpPr>
          <p:cNvPr id="12" name="Google Shape;156;p7">
            <a:extLst>
              <a:ext uri="{FF2B5EF4-FFF2-40B4-BE49-F238E27FC236}">
                <a16:creationId xmlns:a16="http://schemas.microsoft.com/office/drawing/2014/main" id="{C5C4EFC6-EAB9-6A05-AE92-8FF390EDDDE3}"/>
              </a:ext>
            </a:extLst>
          </p:cNvPr>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体制図（イメージ）</a:t>
            </a:r>
            <a:endParaRPr sz="1600" b="1" dirty="0">
              <a:solidFill>
                <a:srgbClr val="002060"/>
              </a:solidFill>
              <a:latin typeface="メイリオ"/>
              <a:ea typeface="メイリオ"/>
              <a:cs typeface="メイリオ"/>
              <a:sym typeface="Meiryo"/>
            </a:endParaRPr>
          </a:p>
        </p:txBody>
      </p:sp>
      <p:sp>
        <p:nvSpPr>
          <p:cNvPr id="8" name="Shape 6"/>
          <p:cNvSpPr/>
          <p:nvPr/>
        </p:nvSpPr>
        <p:spPr>
          <a:xfrm>
            <a:off x="621091" y="3084378"/>
            <a:ext cx="4674326" cy="738321"/>
          </a:xfrm>
          <a:prstGeom prst="rect">
            <a:avLst/>
          </a:prstGeom>
          <a:solidFill>
            <a:srgbClr val="FFFFFF"/>
          </a:solidFill>
          <a:ln w="12700">
            <a:solidFill>
              <a:srgbClr val="C0CEDE"/>
            </a:solidFill>
            <a:prstDash val="solid"/>
          </a:ln>
        </p:spPr>
        <p:txBody>
          <a:bodyPr anchor="ctr"/>
          <a:lstStyle/>
          <a:p>
            <a:r>
              <a:rPr lang="ja-JP" altLang="en-US" sz="1200" dirty="0">
                <a:solidFill>
                  <a:srgbClr val="1A1A1A"/>
                </a:solidFill>
                <a:latin typeface="メイリオ" panose="020B0604030504040204" pitchFamily="50" charset="-128"/>
                <a:ea typeface="メイリオ" panose="020B0604030504040204" pitchFamily="50" charset="-128"/>
                <a:cs typeface="メイリオ" pitchFamily="34" charset="-120"/>
              </a:rPr>
              <a:t>　</a:t>
            </a:r>
            <a:r>
              <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rPr>
              <a:t>・</a:t>
            </a:r>
            <a:r>
              <a:rPr lang="en-US" altLang="ja-JP" sz="1200" dirty="0" err="1">
                <a:solidFill>
                  <a:srgbClr val="1A1A1A"/>
                </a:solidFill>
                <a:latin typeface="メイリオ" panose="020B0604030504040204" pitchFamily="50" charset="-128"/>
                <a:ea typeface="メイリオ" panose="020B0604030504040204" pitchFamily="50" charset="-128"/>
                <a:cs typeface="メイリオ" pitchFamily="34" charset="-120"/>
              </a:rPr>
              <a:t>本プロモーションの戦略立案</a:t>
            </a:r>
            <a:r>
              <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rPr>
              <a:t> / </a:t>
            </a:r>
            <a:r>
              <a:rPr lang="en-US" altLang="ja-JP" sz="1200" dirty="0" err="1">
                <a:solidFill>
                  <a:srgbClr val="1A1A1A"/>
                </a:solidFill>
                <a:latin typeface="メイリオ" panose="020B0604030504040204" pitchFamily="50" charset="-128"/>
                <a:ea typeface="メイリオ" panose="020B0604030504040204" pitchFamily="50" charset="-128"/>
                <a:cs typeface="メイリオ" pitchFamily="34" charset="-120"/>
              </a:rPr>
              <a:t>方針決定</a:t>
            </a:r>
            <a:endParaRPr lang="en-US" altLang="ja-JP" sz="1200" dirty="0">
              <a:latin typeface="メイリオ" panose="020B0604030504040204" pitchFamily="50" charset="-128"/>
              <a:ea typeface="メイリオ" panose="020B0604030504040204" pitchFamily="50" charset="-128"/>
              <a:cs typeface="メイリオ"/>
            </a:endParaRPr>
          </a:p>
        </p:txBody>
      </p:sp>
      <p:sp>
        <p:nvSpPr>
          <p:cNvPr id="3" name="Shape 15"/>
          <p:cNvSpPr/>
          <p:nvPr/>
        </p:nvSpPr>
        <p:spPr>
          <a:xfrm>
            <a:off x="660472" y="4383083"/>
            <a:ext cx="2148840" cy="578878"/>
          </a:xfrm>
          <a:prstGeom prst="rect">
            <a:avLst/>
          </a:prstGeom>
          <a:solidFill>
            <a:srgbClr val="FFFFFF"/>
          </a:solidFill>
          <a:ln w="12700">
            <a:solidFill>
              <a:srgbClr val="C0CEDE"/>
            </a:solidFill>
            <a:prstDash val="solid"/>
          </a:ln>
        </p:spPr>
        <p:txBody>
          <a:bodyPr anchor="ctr"/>
          <a:lstStyle/>
          <a:p>
            <a:endParaRPr lang="en-US" altLang="ja-JP" sz="300" dirty="0">
              <a:solidFill>
                <a:srgbClr val="1A1A1A"/>
              </a:solidFill>
              <a:latin typeface="メイリオ" panose="020B0604030504040204" pitchFamily="50" charset="-128"/>
              <a:ea typeface="メイリオ" panose="020B0604030504040204" pitchFamily="50" charset="-128"/>
              <a:cs typeface="メイリオ" pitchFamily="34" charset="-120"/>
            </a:endParaRPr>
          </a:p>
          <a:p>
            <a:r>
              <a:rPr lang="en-US" altLang="ja-JP" sz="1100" dirty="0">
                <a:solidFill>
                  <a:srgbClr val="1A1A1A"/>
                </a:solidFill>
                <a:latin typeface="メイリオ" panose="020B0604030504040204" pitchFamily="50" charset="-128"/>
                <a:ea typeface="メイリオ" panose="020B0604030504040204" pitchFamily="50" charset="-128"/>
                <a:cs typeface="メイリオ" pitchFamily="34" charset="-120"/>
              </a:rPr>
              <a:t>・</a:t>
            </a:r>
            <a:r>
              <a:rPr lang="en-US" altLang="ja-JP" sz="1100" dirty="0" err="1">
                <a:solidFill>
                  <a:srgbClr val="1A1A1A"/>
                </a:solidFill>
                <a:latin typeface="メイリオ" panose="020B0604030504040204" pitchFamily="50" charset="-128"/>
                <a:ea typeface="メイリオ" panose="020B0604030504040204" pitchFamily="50" charset="-128"/>
                <a:cs typeface="メイリオ" pitchFamily="34" charset="-120"/>
              </a:rPr>
              <a:t>アカウント設計</a:t>
            </a:r>
            <a:endParaRPr lang="en-US" altLang="ja-JP" sz="1100" dirty="0">
              <a:solidFill>
                <a:srgbClr val="1A1A1A"/>
              </a:solidFill>
              <a:latin typeface="メイリオ" panose="020B0604030504040204" pitchFamily="50" charset="-128"/>
              <a:ea typeface="メイリオ" panose="020B0604030504040204" pitchFamily="50" charset="-128"/>
              <a:cs typeface="メイリオ" pitchFamily="34" charset="-120"/>
            </a:endParaRPr>
          </a:p>
          <a:p>
            <a:r>
              <a:rPr lang="en-US" altLang="ja-JP" sz="1100" dirty="0">
                <a:solidFill>
                  <a:srgbClr val="1A1A1A"/>
                </a:solidFill>
                <a:latin typeface="メイリオ" panose="020B0604030504040204" pitchFamily="50" charset="-128"/>
                <a:ea typeface="メイリオ" panose="020B0604030504040204" pitchFamily="50" charset="-128"/>
                <a:cs typeface="メイリオ" pitchFamily="34" charset="-120"/>
              </a:rPr>
              <a:t>・</a:t>
            </a:r>
            <a:r>
              <a:rPr lang="en-US" altLang="ja-JP" sz="1100" dirty="0" err="1">
                <a:solidFill>
                  <a:srgbClr val="1A1A1A"/>
                </a:solidFill>
                <a:latin typeface="メイリオ" panose="020B0604030504040204" pitchFamily="50" charset="-128"/>
                <a:ea typeface="メイリオ" panose="020B0604030504040204" pitchFamily="50" charset="-128"/>
                <a:cs typeface="メイリオ" pitchFamily="34" charset="-120"/>
              </a:rPr>
              <a:t>運用調整</a:t>
            </a:r>
            <a:endParaRPr lang="en-US" altLang="ja-JP" sz="1100" dirty="0">
              <a:latin typeface="メイリオ" panose="020B0604030504040204" pitchFamily="50" charset="-128"/>
              <a:ea typeface="メイリオ" panose="020B0604030504040204" pitchFamily="50" charset="-128"/>
              <a:cs typeface="メイリオ"/>
            </a:endParaRPr>
          </a:p>
        </p:txBody>
      </p:sp>
      <p:sp>
        <p:nvSpPr>
          <p:cNvPr id="18" name="Shape 16"/>
          <p:cNvSpPr/>
          <p:nvPr/>
        </p:nvSpPr>
        <p:spPr>
          <a:xfrm>
            <a:off x="645163" y="4065900"/>
            <a:ext cx="2148840" cy="347472"/>
          </a:xfrm>
          <a:prstGeom prst="rect">
            <a:avLst/>
          </a:prstGeom>
          <a:solidFill>
            <a:srgbClr val="1F3864"/>
          </a:solidFill>
          <a:ln w="12700">
            <a:solidFill>
              <a:srgbClr val="1F3864"/>
            </a:solidFill>
            <a:prstDash val="solid"/>
          </a:ln>
        </p:spPr>
        <p:txBody>
          <a:bodyPr anchor="ctr"/>
          <a:lstStyle/>
          <a:p>
            <a:pPr algn="ctr"/>
            <a:r>
              <a:rPr lang="ja-JP" altLang="en-US" sz="1350" b="1" dirty="0">
                <a:solidFill>
                  <a:srgbClr val="FFFFFF"/>
                </a:solidFill>
                <a:latin typeface="メイリオ" panose="020B0604030504040204" pitchFamily="50" charset="-128"/>
                <a:ea typeface="メイリオ" panose="020B0604030504040204" pitchFamily="50" charset="-128"/>
                <a:cs typeface="メイリオ" pitchFamily="34" charset="-120"/>
              </a:rPr>
              <a:t>広告・SNS運用</a:t>
            </a:r>
            <a:endParaRPr lang="en-US" altLang="ja-JP" sz="1350" dirty="0">
              <a:latin typeface="メイリオ" panose="020B0604030504040204" pitchFamily="50" charset="-128"/>
              <a:ea typeface="メイリオ" panose="020B0604030504040204" pitchFamily="50" charset="-128"/>
              <a:cs typeface="メイリオ"/>
            </a:endParaRPr>
          </a:p>
        </p:txBody>
      </p:sp>
      <p:sp>
        <p:nvSpPr>
          <p:cNvPr id="28" name="Shape 26"/>
          <p:cNvSpPr/>
          <p:nvPr/>
        </p:nvSpPr>
        <p:spPr>
          <a:xfrm>
            <a:off x="633127" y="5566878"/>
            <a:ext cx="2140131" cy="626818"/>
          </a:xfrm>
          <a:prstGeom prst="rect">
            <a:avLst/>
          </a:prstGeom>
          <a:solidFill>
            <a:srgbClr val="FFFFFF"/>
          </a:solidFill>
          <a:ln w="12700">
            <a:solidFill>
              <a:srgbClr val="C0CEDE"/>
            </a:solidFill>
            <a:prstDash val="solid"/>
          </a:ln>
        </p:spPr>
        <p:txBody>
          <a:bodyPr anchor="ctr"/>
          <a:lstStyle/>
          <a:p>
            <a:r>
              <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rPr>
              <a:t>  ・</a:t>
            </a:r>
            <a:r>
              <a:rPr lang="en-US" altLang="ja-JP" sz="1200" dirty="0" err="1">
                <a:solidFill>
                  <a:srgbClr val="1A1A1A"/>
                </a:solidFill>
                <a:latin typeface="メイリオ" panose="020B0604030504040204" pitchFamily="50" charset="-128"/>
                <a:ea typeface="メイリオ" panose="020B0604030504040204" pitchFamily="50" charset="-128"/>
                <a:cs typeface="メイリオ" pitchFamily="34" charset="-120"/>
              </a:rPr>
              <a:t>運用調整</a:t>
            </a:r>
            <a:endPar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endParaRPr>
          </a:p>
          <a:p>
            <a:r>
              <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rPr>
              <a:t> ・</a:t>
            </a:r>
            <a:r>
              <a:rPr lang="en-US" altLang="ja-JP" sz="1200" dirty="0" err="1">
                <a:solidFill>
                  <a:srgbClr val="1A1A1A"/>
                </a:solidFill>
                <a:latin typeface="メイリオ" panose="020B0604030504040204" pitchFamily="50" charset="-128"/>
                <a:ea typeface="メイリオ" panose="020B0604030504040204" pitchFamily="50" charset="-128"/>
                <a:cs typeface="メイリオ" pitchFamily="34" charset="-120"/>
              </a:rPr>
              <a:t>入稿作業</a:t>
            </a:r>
            <a:endParaRPr lang="en-US" altLang="ja-JP" sz="1200" dirty="0">
              <a:latin typeface="メイリオ" panose="020B0604030504040204" pitchFamily="50" charset="-128"/>
              <a:ea typeface="メイリオ" panose="020B0604030504040204" pitchFamily="50" charset="-128"/>
              <a:cs typeface="メイリオ"/>
            </a:endParaRPr>
          </a:p>
        </p:txBody>
      </p:sp>
      <p:sp>
        <p:nvSpPr>
          <p:cNvPr id="29" name="Shape 27"/>
          <p:cNvSpPr/>
          <p:nvPr/>
        </p:nvSpPr>
        <p:spPr>
          <a:xfrm>
            <a:off x="633127" y="5231331"/>
            <a:ext cx="2140131" cy="347472"/>
          </a:xfrm>
          <a:prstGeom prst="rect">
            <a:avLst/>
          </a:prstGeom>
          <a:solidFill>
            <a:srgbClr val="1F3864"/>
          </a:solidFill>
          <a:ln w="12700">
            <a:solidFill>
              <a:srgbClr val="1F3864"/>
            </a:solidFill>
            <a:prstDash val="solid"/>
          </a:ln>
        </p:spPr>
        <p:txBody>
          <a:bodyPr anchor="ctr"/>
          <a:lstStyle/>
          <a:p>
            <a:pPr algn="ctr"/>
            <a:r>
              <a:rPr lang="en-US" altLang="ja-JP" sz="1200" b="1">
                <a:solidFill>
                  <a:srgbClr val="FFFFFF"/>
                </a:solidFill>
                <a:latin typeface="メイリオ" panose="020B0604030504040204" pitchFamily="50" charset="-128"/>
                <a:ea typeface="メイリオ" panose="020B0604030504040204" pitchFamily="50" charset="-128"/>
                <a:cs typeface="メイリオ" pitchFamily="34" charset="-120"/>
              </a:rPr>
              <a:t>運用サポート</a:t>
            </a:r>
            <a:endParaRPr lang="en-US" altLang="ja-JP" sz="1200" dirty="0">
              <a:latin typeface="メイリオ" panose="020B0604030504040204" pitchFamily="50" charset="-128"/>
              <a:ea typeface="メイリオ" panose="020B0604030504040204" pitchFamily="50" charset="-128"/>
              <a:cs typeface="メイリオ"/>
            </a:endParaRPr>
          </a:p>
        </p:txBody>
      </p:sp>
      <p:sp>
        <p:nvSpPr>
          <p:cNvPr id="30" name="Text 28"/>
          <p:cNvSpPr/>
          <p:nvPr/>
        </p:nvSpPr>
        <p:spPr>
          <a:xfrm>
            <a:off x="633128" y="5231331"/>
            <a:ext cx="2140131" cy="347472"/>
          </a:xfrm>
          <a:prstGeom prst="rect">
            <a:avLst/>
          </a:prstGeom>
          <a:noFill/>
          <a:ln/>
        </p:spPr>
        <p:txBody>
          <a:bodyPr wrap="square" lIns="0" tIns="0" rIns="0" bIns="0" rtlCol="0" anchor="ctr"/>
          <a:lstStyle/>
          <a:p>
            <a:pPr marL="0" indent="0" algn="ctr">
              <a:buNone/>
            </a:pPr>
            <a:endParaRPr lang="en-US" sz="1050" dirty="0">
              <a:latin typeface="メイリオ" panose="020B0604030504040204" pitchFamily="50" charset="-128"/>
              <a:ea typeface="メイリオ" panose="020B0604030504040204" pitchFamily="50" charset="-128"/>
              <a:cs typeface="メイリオ"/>
            </a:endParaRPr>
          </a:p>
        </p:txBody>
      </p:sp>
      <p:sp>
        <p:nvSpPr>
          <p:cNvPr id="33" name="Shape 31"/>
          <p:cNvSpPr/>
          <p:nvPr/>
        </p:nvSpPr>
        <p:spPr>
          <a:xfrm>
            <a:off x="2921304" y="5532054"/>
            <a:ext cx="2386149" cy="641636"/>
          </a:xfrm>
          <a:prstGeom prst="rect">
            <a:avLst/>
          </a:prstGeom>
          <a:solidFill>
            <a:srgbClr val="FFFFFF"/>
          </a:solidFill>
          <a:ln w="12700">
            <a:solidFill>
              <a:srgbClr val="C0CEDE"/>
            </a:solidFill>
            <a:prstDash val="solid"/>
          </a:ln>
        </p:spPr>
        <p:txBody>
          <a:bodyPr anchor="ctr"/>
          <a:lstStyle/>
          <a:p>
            <a:endPar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endParaRPr>
          </a:p>
          <a:p>
            <a:r>
              <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rPr>
              <a:t>・</a:t>
            </a:r>
            <a:r>
              <a:rPr lang="en-US" altLang="ja-JP" sz="1200" dirty="0" err="1">
                <a:solidFill>
                  <a:srgbClr val="1A1A1A"/>
                </a:solidFill>
                <a:latin typeface="メイリオ" panose="020B0604030504040204" pitchFamily="50" charset="-128"/>
                <a:ea typeface="メイリオ" panose="020B0604030504040204" pitchFamily="50" charset="-128"/>
                <a:cs typeface="メイリオ" pitchFamily="34" charset="-120"/>
              </a:rPr>
              <a:t>バナー制作</a:t>
            </a:r>
            <a:endPar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endParaRPr>
          </a:p>
          <a:p>
            <a:r>
              <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rPr>
              <a:t>・</a:t>
            </a:r>
            <a:r>
              <a:rPr lang="en-US" altLang="ja-JP" sz="1200" dirty="0" err="1">
                <a:solidFill>
                  <a:srgbClr val="1A1A1A"/>
                </a:solidFill>
                <a:latin typeface="メイリオ" panose="020B0604030504040204" pitchFamily="50" charset="-128"/>
                <a:ea typeface="メイリオ" panose="020B0604030504040204" pitchFamily="50" charset="-128"/>
                <a:cs typeface="メイリオ" pitchFamily="34" charset="-120"/>
              </a:rPr>
              <a:t>LP制作</a:t>
            </a:r>
            <a:endPar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endParaRPr>
          </a:p>
          <a:p>
            <a:r>
              <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rPr>
              <a:t>・</a:t>
            </a:r>
            <a:r>
              <a:rPr lang="en-US" altLang="ja-JP" sz="1200" dirty="0" err="1">
                <a:solidFill>
                  <a:srgbClr val="1A1A1A"/>
                </a:solidFill>
                <a:latin typeface="メイリオ" panose="020B0604030504040204" pitchFamily="50" charset="-128"/>
                <a:ea typeface="メイリオ" panose="020B0604030504040204" pitchFamily="50" charset="-128"/>
                <a:cs typeface="メイリオ" pitchFamily="34" charset="-120"/>
              </a:rPr>
              <a:t>動画制作</a:t>
            </a:r>
            <a:endPar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endParaRPr>
          </a:p>
        </p:txBody>
      </p:sp>
      <p:sp>
        <p:nvSpPr>
          <p:cNvPr id="34" name="Shape 32"/>
          <p:cNvSpPr/>
          <p:nvPr/>
        </p:nvSpPr>
        <p:spPr>
          <a:xfrm>
            <a:off x="2921304" y="5221392"/>
            <a:ext cx="2386149" cy="347472"/>
          </a:xfrm>
          <a:prstGeom prst="rect">
            <a:avLst/>
          </a:prstGeom>
          <a:solidFill>
            <a:schemeClr val="bg1">
              <a:lumMod val="65000"/>
            </a:schemeClr>
          </a:solidFill>
          <a:ln w="12700">
            <a:solidFill>
              <a:srgbClr val="1F3864"/>
            </a:solidFill>
            <a:prstDash val="solid"/>
          </a:ln>
        </p:spPr>
        <p:txBody>
          <a:bodyPr anchor="ctr"/>
          <a:lstStyle/>
          <a:p>
            <a:pPr algn="ctr"/>
            <a:r>
              <a:rPr lang="en-US" altLang="ja-JP" sz="1200" b="1">
                <a:solidFill>
                  <a:srgbClr val="FFFFFF"/>
                </a:solidFill>
                <a:latin typeface="メイリオ" panose="020B0604030504040204" pitchFamily="50" charset="-128"/>
                <a:ea typeface="メイリオ" panose="020B0604030504040204" pitchFamily="50" charset="-128"/>
                <a:cs typeface="メイリオ" pitchFamily="34" charset="-120"/>
              </a:rPr>
              <a:t>制作</a:t>
            </a:r>
            <a:endParaRPr lang="en-US" altLang="ja-JP" sz="1200" dirty="0">
              <a:latin typeface="メイリオ" panose="020B0604030504040204" pitchFamily="50" charset="-128"/>
              <a:ea typeface="メイリオ" panose="020B0604030504040204" pitchFamily="50" charset="-128"/>
              <a:cs typeface="メイリオ"/>
            </a:endParaRPr>
          </a:p>
        </p:txBody>
      </p:sp>
      <p:sp>
        <p:nvSpPr>
          <p:cNvPr id="40" name="Shape 38"/>
          <p:cNvSpPr/>
          <p:nvPr/>
        </p:nvSpPr>
        <p:spPr>
          <a:xfrm>
            <a:off x="5740699" y="4097070"/>
            <a:ext cx="3293358" cy="347472"/>
          </a:xfrm>
          <a:prstGeom prst="rect">
            <a:avLst/>
          </a:prstGeom>
          <a:solidFill>
            <a:srgbClr val="8496B8"/>
          </a:solidFill>
          <a:ln w="12700">
            <a:solidFill>
              <a:srgbClr val="8496B8"/>
            </a:solidFill>
            <a:prstDash val="solid"/>
          </a:ln>
        </p:spPr>
        <p:txBody>
          <a:bodyPr anchor="ctr"/>
          <a:lstStyle/>
          <a:p>
            <a:pPr algn="ctr"/>
            <a:r>
              <a:rPr lang="ja-JP" altLang="en-US" sz="1200" dirty="0">
                <a:solidFill>
                  <a:schemeClr val="bg1"/>
                </a:solidFill>
                <a:latin typeface="メイリオ" panose="020B0604030504040204" pitchFamily="50" charset="-128"/>
                <a:ea typeface="メイリオ" panose="020B0604030504040204" pitchFamily="50" charset="-128"/>
                <a:cs typeface="メイリオ"/>
              </a:rPr>
              <a:t>媒体担当</a:t>
            </a:r>
          </a:p>
        </p:txBody>
      </p:sp>
      <p:sp>
        <p:nvSpPr>
          <p:cNvPr id="75" name="Shape 20">
            <a:extLst>
              <a:ext uri="{FF2B5EF4-FFF2-40B4-BE49-F238E27FC236}">
                <a16:creationId xmlns:a16="http://schemas.microsoft.com/office/drawing/2014/main" id="{9B35F62E-D565-EC7D-5BED-9E3AD8414C54}"/>
              </a:ext>
            </a:extLst>
          </p:cNvPr>
          <p:cNvSpPr/>
          <p:nvPr/>
        </p:nvSpPr>
        <p:spPr>
          <a:xfrm>
            <a:off x="2930013" y="4391542"/>
            <a:ext cx="2377440" cy="578878"/>
          </a:xfrm>
          <a:prstGeom prst="rect">
            <a:avLst/>
          </a:prstGeom>
          <a:solidFill>
            <a:srgbClr val="FFFFFF"/>
          </a:solidFill>
          <a:ln w="12700">
            <a:solidFill>
              <a:srgbClr val="C0CEDE"/>
            </a:solidFill>
            <a:prstDash val="solid"/>
          </a:ln>
        </p:spPr>
        <p:txBody>
          <a:bodyPr anchor="ctr"/>
          <a:lstStyle/>
          <a:p>
            <a:endParaRPr lang="en-US" altLang="ja-JP" sz="1100" dirty="0">
              <a:solidFill>
                <a:srgbClr val="1A1A1A"/>
              </a:solidFill>
              <a:latin typeface="メイリオ" panose="020B0604030504040204" pitchFamily="50" charset="-128"/>
              <a:ea typeface="メイリオ" panose="020B0604030504040204" pitchFamily="50" charset="-128"/>
              <a:cs typeface="メイリオ" pitchFamily="34" charset="-120"/>
            </a:endParaRPr>
          </a:p>
          <a:p>
            <a:endParaRPr lang="en-US" altLang="ja-JP" sz="1100" dirty="0">
              <a:solidFill>
                <a:srgbClr val="1A1A1A"/>
              </a:solidFill>
              <a:latin typeface="メイリオ" panose="020B0604030504040204" pitchFamily="50" charset="-128"/>
              <a:ea typeface="メイリオ" panose="020B0604030504040204" pitchFamily="50" charset="-128"/>
              <a:cs typeface="メイリオ" pitchFamily="34" charset="-120"/>
            </a:endParaRPr>
          </a:p>
          <a:p>
            <a:r>
              <a:rPr lang="en-US" altLang="ja-JP" sz="1100" dirty="0">
                <a:solidFill>
                  <a:srgbClr val="1A1A1A"/>
                </a:solidFill>
                <a:latin typeface="メイリオ" panose="020B0604030504040204" pitchFamily="50" charset="-128"/>
                <a:ea typeface="メイリオ" panose="020B0604030504040204" pitchFamily="50" charset="-128"/>
                <a:cs typeface="メイリオ" pitchFamily="34" charset="-120"/>
              </a:rPr>
              <a:t>・</a:t>
            </a:r>
            <a:r>
              <a:rPr lang="en-US" altLang="ja-JP" sz="1100" dirty="0" err="1">
                <a:solidFill>
                  <a:srgbClr val="1A1A1A"/>
                </a:solidFill>
                <a:latin typeface="メイリオ" panose="020B0604030504040204" pitchFamily="50" charset="-128"/>
                <a:ea typeface="メイリオ" panose="020B0604030504040204" pitchFamily="50" charset="-128"/>
                <a:cs typeface="メイリオ" pitchFamily="34" charset="-120"/>
              </a:rPr>
              <a:t>アカウント設計</a:t>
            </a:r>
            <a:r>
              <a:rPr lang="ja-JP" altLang="en-US" sz="1100" dirty="0">
                <a:solidFill>
                  <a:srgbClr val="1A1A1A"/>
                </a:solidFill>
                <a:latin typeface="メイリオ" panose="020B0604030504040204" pitchFamily="50" charset="-128"/>
                <a:ea typeface="メイリオ" panose="020B0604030504040204" pitchFamily="50" charset="-128"/>
                <a:cs typeface="メイリオ" pitchFamily="34" charset="-120"/>
              </a:rPr>
              <a:t>・</a:t>
            </a:r>
            <a:r>
              <a:rPr lang="en-US" altLang="ja-JP" sz="1100" dirty="0" err="1">
                <a:solidFill>
                  <a:srgbClr val="1A1A1A"/>
                </a:solidFill>
                <a:latin typeface="メイリオ" panose="020B0604030504040204" pitchFamily="50" charset="-128"/>
                <a:ea typeface="メイリオ" panose="020B0604030504040204" pitchFamily="50" charset="-128"/>
                <a:cs typeface="メイリオ" pitchFamily="34" charset="-120"/>
              </a:rPr>
              <a:t>運用調整</a:t>
            </a:r>
            <a:endParaRPr lang="en-US" altLang="ja-JP" sz="1100" dirty="0">
              <a:solidFill>
                <a:srgbClr val="1A1A1A"/>
              </a:solidFill>
              <a:latin typeface="メイリオ" panose="020B0604030504040204" pitchFamily="50" charset="-128"/>
              <a:ea typeface="メイリオ" panose="020B0604030504040204" pitchFamily="50" charset="-128"/>
              <a:cs typeface="メイリオ" pitchFamily="34" charset="-120"/>
            </a:endParaRPr>
          </a:p>
          <a:p>
            <a:r>
              <a:rPr lang="en-US" altLang="ja-JP" sz="1100" dirty="0">
                <a:solidFill>
                  <a:srgbClr val="1A1A1A"/>
                </a:solidFill>
                <a:latin typeface="メイリオ" panose="020B0604030504040204" pitchFamily="50" charset="-128"/>
                <a:ea typeface="メイリオ" panose="020B0604030504040204" pitchFamily="50" charset="-128"/>
                <a:cs typeface="メイリオ" pitchFamily="34" charset="-120"/>
              </a:rPr>
              <a:t>・</a:t>
            </a:r>
            <a:r>
              <a:rPr lang="en-US" altLang="ja-JP" sz="1100" dirty="0" err="1">
                <a:solidFill>
                  <a:srgbClr val="1A1A1A"/>
                </a:solidFill>
                <a:latin typeface="メイリオ" panose="020B0604030504040204" pitchFamily="50" charset="-128"/>
                <a:ea typeface="メイリオ" panose="020B0604030504040204" pitchFamily="50" charset="-128"/>
                <a:cs typeface="メイリオ" pitchFamily="34" charset="-120"/>
              </a:rPr>
              <a:t>クリエイティブディレクション</a:t>
            </a:r>
            <a:endParaRPr lang="en-US" altLang="ja-JP" sz="1100" dirty="0">
              <a:latin typeface="メイリオ" panose="020B0604030504040204" pitchFamily="50" charset="-128"/>
              <a:ea typeface="メイリオ" panose="020B0604030504040204" pitchFamily="50" charset="-128"/>
              <a:cs typeface="メイリオ"/>
            </a:endParaRPr>
          </a:p>
          <a:p>
            <a:endParaRPr lang="en-US" altLang="ja-JP" sz="1100" dirty="0">
              <a:latin typeface="メイリオ" panose="020B0604030504040204" pitchFamily="50" charset="-128"/>
              <a:ea typeface="メイリオ" panose="020B0604030504040204" pitchFamily="50" charset="-128"/>
              <a:cs typeface="メイリオ"/>
            </a:endParaRPr>
          </a:p>
          <a:p>
            <a:endParaRPr lang="en-US" altLang="ja-JP" sz="1100" dirty="0">
              <a:latin typeface="メイリオ" panose="020B0604030504040204" pitchFamily="50" charset="-128"/>
              <a:ea typeface="メイリオ" panose="020B0604030504040204" pitchFamily="50" charset="-128"/>
              <a:cs typeface="メイリオ"/>
            </a:endParaRPr>
          </a:p>
        </p:txBody>
      </p:sp>
      <p:sp>
        <p:nvSpPr>
          <p:cNvPr id="76" name="Shape 21">
            <a:extLst>
              <a:ext uri="{FF2B5EF4-FFF2-40B4-BE49-F238E27FC236}">
                <a16:creationId xmlns:a16="http://schemas.microsoft.com/office/drawing/2014/main" id="{0A9AF3DD-64DC-1BF0-8119-2924ECA0B69F}"/>
              </a:ext>
            </a:extLst>
          </p:cNvPr>
          <p:cNvSpPr/>
          <p:nvPr/>
        </p:nvSpPr>
        <p:spPr>
          <a:xfrm>
            <a:off x="2930013" y="4059656"/>
            <a:ext cx="2377440" cy="347472"/>
          </a:xfrm>
          <a:prstGeom prst="rect">
            <a:avLst/>
          </a:prstGeom>
          <a:solidFill>
            <a:srgbClr val="1F2A5C"/>
          </a:solidFill>
          <a:ln w="12700">
            <a:solidFill>
              <a:srgbClr val="1F3864"/>
            </a:solidFill>
            <a:prstDash val="solid"/>
          </a:ln>
        </p:spPr>
        <p:txBody>
          <a:bodyPr anchor="ctr"/>
          <a:lstStyle/>
          <a:p>
            <a:pPr algn="ctr"/>
            <a:r>
              <a:rPr lang="en-US" altLang="ja-JP" sz="1350" b="1" dirty="0" err="1">
                <a:solidFill>
                  <a:srgbClr val="FFFFFF"/>
                </a:solidFill>
                <a:latin typeface="メイリオ" panose="020B0604030504040204" pitchFamily="50" charset="-128"/>
                <a:ea typeface="メイリオ" panose="020B0604030504040204" pitchFamily="50" charset="-128"/>
                <a:cs typeface="メイリオ" pitchFamily="34" charset="-120"/>
              </a:rPr>
              <a:t>LINEOA運用</a:t>
            </a:r>
            <a:endParaRPr lang="en-US" altLang="ja-JP" sz="1350" dirty="0">
              <a:latin typeface="メイリオ" panose="020B0604030504040204" pitchFamily="50" charset="-128"/>
              <a:ea typeface="メイリオ" panose="020B0604030504040204" pitchFamily="50" charset="-128"/>
              <a:cs typeface="メイリオ"/>
            </a:endParaRPr>
          </a:p>
        </p:txBody>
      </p:sp>
      <p:sp>
        <p:nvSpPr>
          <p:cNvPr id="5" name="Shape 6">
            <a:extLst>
              <a:ext uri="{FF2B5EF4-FFF2-40B4-BE49-F238E27FC236}">
                <a16:creationId xmlns:a16="http://schemas.microsoft.com/office/drawing/2014/main" id="{85CDFD14-B545-2394-79CD-B4BB79EC6A1B}"/>
              </a:ext>
            </a:extLst>
          </p:cNvPr>
          <p:cNvSpPr/>
          <p:nvPr/>
        </p:nvSpPr>
        <p:spPr>
          <a:xfrm>
            <a:off x="5425961" y="3084378"/>
            <a:ext cx="3557928" cy="738321"/>
          </a:xfrm>
          <a:prstGeom prst="rect">
            <a:avLst/>
          </a:prstGeom>
          <a:solidFill>
            <a:srgbClr val="FFFFFF"/>
          </a:solidFill>
          <a:ln w="12700">
            <a:solidFill>
              <a:srgbClr val="C0CEDE"/>
            </a:solidFill>
            <a:prstDash val="solid"/>
          </a:ln>
        </p:spPr>
        <p:txBody>
          <a:bodyPr/>
          <a:lstStyle/>
          <a:p>
            <a:endPar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endParaRPr>
          </a:p>
          <a:p>
            <a:r>
              <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rPr>
              <a:t>・</a:t>
            </a:r>
            <a:r>
              <a:rPr lang="en-US" altLang="ja-JP" sz="1200" dirty="0" err="1">
                <a:solidFill>
                  <a:srgbClr val="1A1A1A"/>
                </a:solidFill>
                <a:latin typeface="メイリオ" panose="020B0604030504040204" pitchFamily="50" charset="-128"/>
                <a:ea typeface="メイリオ" panose="020B0604030504040204" pitchFamily="50" charset="-128"/>
                <a:cs typeface="メイリオ" pitchFamily="34" charset="-120"/>
              </a:rPr>
              <a:t>貴社担当との連絡やり取り全般</a:t>
            </a:r>
            <a:endPar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endParaRPr>
          </a:p>
          <a:p>
            <a:r>
              <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rPr>
              <a:t>・書</a:t>
            </a:r>
            <a:r>
              <a:rPr lang="ja-JP" altLang="en-US" sz="1200" dirty="0">
                <a:solidFill>
                  <a:srgbClr val="1A1A1A"/>
                </a:solidFill>
                <a:latin typeface="メイリオ" panose="020B0604030504040204" pitchFamily="50" charset="-128"/>
                <a:ea typeface="メイリオ" panose="020B0604030504040204" pitchFamily="50" charset="-128"/>
                <a:cs typeface="メイリオ" pitchFamily="34" charset="-120"/>
              </a:rPr>
              <a:t>類</a:t>
            </a:r>
            <a:r>
              <a:rPr lang="en-US" altLang="ja-JP" sz="1200" dirty="0" err="1">
                <a:solidFill>
                  <a:srgbClr val="1A1A1A"/>
                </a:solidFill>
                <a:latin typeface="メイリオ" panose="020B0604030504040204" pitchFamily="50" charset="-128"/>
                <a:ea typeface="メイリオ" panose="020B0604030504040204" pitchFamily="50" charset="-128"/>
                <a:cs typeface="メイリオ" pitchFamily="34" charset="-120"/>
              </a:rPr>
              <a:t>の作成等、事務面までサポート</a:t>
            </a:r>
            <a:endParaRPr lang="en-US" altLang="ja-JP" sz="1200" dirty="0">
              <a:latin typeface="メイリオ" panose="020B0604030504040204" pitchFamily="50" charset="-128"/>
              <a:ea typeface="メイリオ" panose="020B0604030504040204" pitchFamily="50" charset="-128"/>
              <a:cs typeface="メイリオ"/>
            </a:endParaRPr>
          </a:p>
        </p:txBody>
      </p:sp>
      <p:sp>
        <p:nvSpPr>
          <p:cNvPr id="7" name="Shape 7">
            <a:extLst>
              <a:ext uri="{FF2B5EF4-FFF2-40B4-BE49-F238E27FC236}">
                <a16:creationId xmlns:a16="http://schemas.microsoft.com/office/drawing/2014/main" id="{DE68CBB6-5454-1932-8D24-8CA86C03FDAF}"/>
              </a:ext>
            </a:extLst>
          </p:cNvPr>
          <p:cNvSpPr/>
          <p:nvPr/>
        </p:nvSpPr>
        <p:spPr>
          <a:xfrm>
            <a:off x="5425961" y="2849521"/>
            <a:ext cx="3557928" cy="347472"/>
          </a:xfrm>
          <a:prstGeom prst="rect">
            <a:avLst/>
          </a:prstGeom>
          <a:solidFill>
            <a:schemeClr val="accent1">
              <a:lumMod val="75000"/>
            </a:schemeClr>
          </a:solidFill>
          <a:ln w="12700">
            <a:solidFill>
              <a:srgbClr val="1F3864"/>
            </a:solidFill>
            <a:prstDash val="solid"/>
          </a:ln>
        </p:spPr>
        <p:txBody>
          <a:bodyPr anchor="ctr"/>
          <a:lstStyle/>
          <a:p>
            <a:pPr algn="ctr"/>
            <a:r>
              <a:rPr lang="en-US" altLang="ja-JP" sz="1350" b="1" dirty="0" err="1">
                <a:solidFill>
                  <a:srgbClr val="FFFFFF"/>
                </a:solidFill>
                <a:latin typeface="メイリオ" panose="020B0604030504040204" pitchFamily="50" charset="-128"/>
                <a:ea typeface="メイリオ" panose="020B0604030504040204" pitchFamily="50" charset="-128"/>
                <a:cs typeface="メイリオ" pitchFamily="34" charset="-120"/>
              </a:rPr>
              <a:t>営業</a:t>
            </a:r>
            <a:r>
              <a:rPr lang="en-US" altLang="ja-JP" sz="1350" b="1" dirty="0">
                <a:solidFill>
                  <a:srgbClr val="FFFFFF"/>
                </a:solidFill>
                <a:latin typeface="メイリオ" panose="020B0604030504040204" pitchFamily="50" charset="-128"/>
                <a:ea typeface="メイリオ" panose="020B0604030504040204" pitchFamily="50" charset="-128"/>
                <a:cs typeface="メイリオ" pitchFamily="34" charset="-120"/>
              </a:rPr>
              <a:t> / </a:t>
            </a:r>
            <a:r>
              <a:rPr lang="en-US" altLang="ja-JP" sz="1350" b="1" dirty="0" err="1">
                <a:solidFill>
                  <a:srgbClr val="FFFFFF"/>
                </a:solidFill>
                <a:latin typeface="メイリオ" panose="020B0604030504040204" pitchFamily="50" charset="-128"/>
                <a:ea typeface="メイリオ" panose="020B0604030504040204" pitchFamily="50" charset="-128"/>
                <a:cs typeface="メイリオ" pitchFamily="34" charset="-120"/>
              </a:rPr>
              <a:t>フロント対応（サブ</a:t>
            </a:r>
            <a:r>
              <a:rPr lang="en-US" altLang="ja-JP" sz="1350" b="1" dirty="0">
                <a:solidFill>
                  <a:srgbClr val="FFFFFF"/>
                </a:solidFill>
                <a:latin typeface="メイリオ" panose="020B0604030504040204" pitchFamily="50" charset="-128"/>
                <a:ea typeface="メイリオ" panose="020B0604030504040204" pitchFamily="50" charset="-128"/>
                <a:cs typeface="メイリオ" pitchFamily="34" charset="-120"/>
              </a:rPr>
              <a:t>）</a:t>
            </a:r>
            <a:endParaRPr lang="en-US" altLang="ja-JP" sz="1350" dirty="0">
              <a:latin typeface="メイリオ" panose="020B0604030504040204" pitchFamily="50" charset="-128"/>
              <a:ea typeface="メイリオ" panose="020B0604030504040204" pitchFamily="50" charset="-128"/>
              <a:cs typeface="メイリオ"/>
            </a:endParaRPr>
          </a:p>
        </p:txBody>
      </p:sp>
      <p:sp>
        <p:nvSpPr>
          <p:cNvPr id="20" name="Shape 7"/>
          <p:cNvSpPr/>
          <p:nvPr/>
        </p:nvSpPr>
        <p:spPr>
          <a:xfrm>
            <a:off x="612383" y="2849521"/>
            <a:ext cx="4683034" cy="347472"/>
          </a:xfrm>
          <a:prstGeom prst="rect">
            <a:avLst/>
          </a:prstGeom>
          <a:solidFill>
            <a:schemeClr val="accent1">
              <a:lumMod val="75000"/>
            </a:schemeClr>
          </a:solidFill>
          <a:ln w="12700">
            <a:solidFill>
              <a:srgbClr val="1F3864"/>
            </a:solidFill>
            <a:prstDash val="solid"/>
          </a:ln>
        </p:spPr>
        <p:txBody>
          <a:bodyPr anchor="ctr"/>
          <a:lstStyle/>
          <a:p>
            <a:pPr algn="ctr"/>
            <a:r>
              <a:rPr lang="ja-JP" altLang="en-US" sz="1350" b="1" dirty="0">
                <a:solidFill>
                  <a:srgbClr val="FFFFFF"/>
                </a:solidFill>
                <a:latin typeface="メイリオ" panose="020B0604030504040204" pitchFamily="50" charset="-128"/>
                <a:ea typeface="メイリオ" panose="020B0604030504040204" pitchFamily="50" charset="-128"/>
                <a:cs typeface="メイリオ" pitchFamily="34" charset="-120"/>
              </a:rPr>
              <a:t>広告運用統括・コンサル</a:t>
            </a:r>
            <a:endParaRPr lang="en-US" altLang="ja-JP" sz="1350" dirty="0">
              <a:latin typeface="メイリオ" panose="020B0604030504040204" pitchFamily="50" charset="-128"/>
              <a:ea typeface="メイリオ" panose="020B0604030504040204" pitchFamily="50" charset="-128"/>
              <a:cs typeface="メイリオ"/>
            </a:endParaRPr>
          </a:p>
        </p:txBody>
      </p:sp>
      <p:sp>
        <p:nvSpPr>
          <p:cNvPr id="31" name="Shape 6">
            <a:extLst>
              <a:ext uri="{FF2B5EF4-FFF2-40B4-BE49-F238E27FC236}">
                <a16:creationId xmlns:a16="http://schemas.microsoft.com/office/drawing/2014/main" id="{40835ECB-DBED-5389-F67F-16368EB09190}"/>
              </a:ext>
            </a:extLst>
          </p:cNvPr>
          <p:cNvSpPr/>
          <p:nvPr/>
        </p:nvSpPr>
        <p:spPr>
          <a:xfrm>
            <a:off x="548883" y="1995744"/>
            <a:ext cx="8545959" cy="615505"/>
          </a:xfrm>
          <a:prstGeom prst="rect">
            <a:avLst/>
          </a:prstGeom>
          <a:solidFill>
            <a:srgbClr val="FFFFFF"/>
          </a:solidFill>
          <a:ln w="12700">
            <a:solidFill>
              <a:srgbClr val="C0CEDE"/>
            </a:solidFill>
            <a:prstDash val="solid"/>
          </a:ln>
        </p:spPr>
        <p:txBody>
          <a:bodyPr/>
          <a:lstStyle/>
          <a:p>
            <a:endPar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endParaRPr>
          </a:p>
          <a:p>
            <a:r>
              <a:rPr lang="ja-JP" altLang="en-US" sz="1200" dirty="0">
                <a:solidFill>
                  <a:srgbClr val="1A1A1A"/>
                </a:solidFill>
                <a:latin typeface="メイリオ" panose="020B0604030504040204" pitchFamily="50" charset="-128"/>
                <a:ea typeface="メイリオ" panose="020B0604030504040204" pitchFamily="50" charset="-128"/>
                <a:cs typeface="メイリオ" pitchFamily="34" charset="-120"/>
              </a:rPr>
              <a:t>　</a:t>
            </a:r>
            <a:r>
              <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rPr>
              <a:t>・</a:t>
            </a:r>
            <a:r>
              <a:rPr lang="en-US" altLang="ja-JP" sz="1200" dirty="0" err="1">
                <a:solidFill>
                  <a:srgbClr val="1A1A1A"/>
                </a:solidFill>
                <a:latin typeface="メイリオ" panose="020B0604030504040204" pitchFamily="50" charset="-128"/>
                <a:ea typeface="メイリオ" panose="020B0604030504040204" pitchFamily="50" charset="-128"/>
                <a:cs typeface="メイリオ" pitchFamily="34" charset="-120"/>
              </a:rPr>
              <a:t>本プロモーションの戦略立案</a:t>
            </a:r>
            <a:r>
              <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rPr>
              <a:t> / </a:t>
            </a:r>
            <a:r>
              <a:rPr lang="en-US" altLang="ja-JP" sz="1200" dirty="0" err="1">
                <a:solidFill>
                  <a:srgbClr val="1A1A1A"/>
                </a:solidFill>
                <a:latin typeface="メイリオ" panose="020B0604030504040204" pitchFamily="50" charset="-128"/>
                <a:ea typeface="メイリオ" panose="020B0604030504040204" pitchFamily="50" charset="-128"/>
                <a:cs typeface="メイリオ" pitchFamily="34" charset="-120"/>
              </a:rPr>
              <a:t>方針決定</a:t>
            </a:r>
            <a:r>
              <a:rPr lang="ja-JP" altLang="en-US" sz="1200" dirty="0">
                <a:solidFill>
                  <a:srgbClr val="1A1A1A"/>
                </a:solidFill>
                <a:latin typeface="メイリオ" panose="020B0604030504040204" pitchFamily="50" charset="-128"/>
                <a:ea typeface="メイリオ" panose="020B0604030504040204" pitchFamily="50" charset="-128"/>
                <a:cs typeface="メイリオ" pitchFamily="34" charset="-120"/>
              </a:rPr>
              <a:t>　　　　・貴社ご担当者様との連絡やり取り全般</a:t>
            </a:r>
            <a:endParaRPr lang="en-US" altLang="ja-JP" sz="1200" dirty="0">
              <a:latin typeface="メイリオ" panose="020B0604030504040204" pitchFamily="50" charset="-128"/>
              <a:ea typeface="メイリオ" panose="020B0604030504040204" pitchFamily="50" charset="-128"/>
              <a:cs typeface="メイリオ"/>
            </a:endParaRPr>
          </a:p>
        </p:txBody>
      </p:sp>
      <p:sp>
        <p:nvSpPr>
          <p:cNvPr id="32" name="Shape 7">
            <a:extLst>
              <a:ext uri="{FF2B5EF4-FFF2-40B4-BE49-F238E27FC236}">
                <a16:creationId xmlns:a16="http://schemas.microsoft.com/office/drawing/2014/main" id="{67B490AF-C245-DAC8-B203-E07692B565EF}"/>
              </a:ext>
            </a:extLst>
          </p:cNvPr>
          <p:cNvSpPr/>
          <p:nvPr/>
        </p:nvSpPr>
        <p:spPr>
          <a:xfrm>
            <a:off x="548883" y="1729963"/>
            <a:ext cx="4073917" cy="347472"/>
          </a:xfrm>
          <a:prstGeom prst="rect">
            <a:avLst/>
          </a:prstGeom>
          <a:solidFill>
            <a:schemeClr val="accent1">
              <a:lumMod val="75000"/>
            </a:schemeClr>
          </a:solidFill>
          <a:ln w="12700">
            <a:solidFill>
              <a:srgbClr val="1F3864"/>
            </a:solidFill>
            <a:prstDash val="solid"/>
          </a:ln>
        </p:spPr>
        <p:txBody>
          <a:bodyPr anchor="ctr"/>
          <a:lstStyle/>
          <a:p>
            <a:pPr algn="ctr"/>
            <a:r>
              <a:rPr lang="en-US" altLang="ja-JP" sz="1350" b="1" dirty="0" err="1">
                <a:solidFill>
                  <a:srgbClr val="FFFFFF"/>
                </a:solidFill>
                <a:latin typeface="メイリオ" panose="020B0604030504040204" pitchFamily="50" charset="-128"/>
                <a:ea typeface="メイリオ" panose="020B0604030504040204" pitchFamily="50" charset="-128"/>
                <a:cs typeface="メイリオ" pitchFamily="34" charset="-120"/>
              </a:rPr>
              <a:t>営業</a:t>
            </a:r>
            <a:r>
              <a:rPr lang="en-US" altLang="ja-JP" sz="1350" b="1" dirty="0">
                <a:solidFill>
                  <a:srgbClr val="FFFFFF"/>
                </a:solidFill>
                <a:latin typeface="メイリオ" panose="020B0604030504040204" pitchFamily="50" charset="-128"/>
                <a:ea typeface="メイリオ" panose="020B0604030504040204" pitchFamily="50" charset="-128"/>
                <a:cs typeface="メイリオ" pitchFamily="34" charset="-120"/>
              </a:rPr>
              <a:t> / </a:t>
            </a:r>
            <a:r>
              <a:rPr lang="en-US" altLang="ja-JP" sz="1350" b="1" dirty="0" err="1">
                <a:solidFill>
                  <a:srgbClr val="FFFFFF"/>
                </a:solidFill>
                <a:latin typeface="メイリオ" panose="020B0604030504040204" pitchFamily="50" charset="-128"/>
                <a:ea typeface="メイリオ" panose="020B0604030504040204" pitchFamily="50" charset="-128"/>
                <a:cs typeface="メイリオ" pitchFamily="34" charset="-120"/>
              </a:rPr>
              <a:t>フロント対応</a:t>
            </a:r>
            <a:r>
              <a:rPr lang="en-US" altLang="ja-JP" sz="1350" b="1" dirty="0">
                <a:solidFill>
                  <a:srgbClr val="FFFFFF"/>
                </a:solidFill>
                <a:latin typeface="メイリオ" panose="020B0604030504040204" pitchFamily="50" charset="-128"/>
                <a:ea typeface="メイリオ" panose="020B0604030504040204" pitchFamily="50" charset="-128"/>
                <a:cs typeface="メイリオ" pitchFamily="34" charset="-120"/>
              </a:rPr>
              <a:t>（</a:t>
            </a:r>
            <a:r>
              <a:rPr lang="ja-JP" altLang="en-US" sz="1350" b="1" dirty="0">
                <a:solidFill>
                  <a:srgbClr val="FFFFFF"/>
                </a:solidFill>
                <a:latin typeface="メイリオ" panose="020B0604030504040204" pitchFamily="50" charset="-128"/>
                <a:ea typeface="メイリオ" panose="020B0604030504040204" pitchFamily="50" charset="-128"/>
                <a:cs typeface="メイリオ" pitchFamily="34" charset="-120"/>
              </a:rPr>
              <a:t>全体統括</a:t>
            </a:r>
            <a:r>
              <a:rPr lang="en-US" altLang="ja-JP" sz="1350" b="1" dirty="0">
                <a:solidFill>
                  <a:srgbClr val="FFFFFF"/>
                </a:solidFill>
                <a:latin typeface="メイリオ" panose="020B0604030504040204" pitchFamily="50" charset="-128"/>
                <a:ea typeface="メイリオ" panose="020B0604030504040204" pitchFamily="50" charset="-128"/>
                <a:cs typeface="メイリオ" pitchFamily="34" charset="-120"/>
              </a:rPr>
              <a:t>）</a:t>
            </a:r>
            <a:r>
              <a:rPr lang="ja-JP" altLang="en-US" sz="1350" b="1" dirty="0">
                <a:solidFill>
                  <a:srgbClr val="FFFFFF"/>
                </a:solidFill>
                <a:latin typeface="メイリオ" panose="020B0604030504040204" pitchFamily="50" charset="-128"/>
                <a:ea typeface="メイリオ" panose="020B0604030504040204" pitchFamily="50" charset="-128"/>
                <a:cs typeface="メイリオ" pitchFamily="34" charset="-120"/>
              </a:rPr>
              <a:t>　</a:t>
            </a:r>
            <a:endParaRPr lang="en-US" altLang="ja-JP" sz="1350" dirty="0">
              <a:latin typeface="メイリオ" panose="020B0604030504040204" pitchFamily="50" charset="-128"/>
              <a:ea typeface="メイリオ" panose="020B0604030504040204" pitchFamily="50" charset="-128"/>
              <a:cs typeface="メイリオ"/>
            </a:endParaRPr>
          </a:p>
        </p:txBody>
      </p:sp>
      <p:sp>
        <p:nvSpPr>
          <p:cNvPr id="35" name="Shape 38">
            <a:extLst>
              <a:ext uri="{FF2B5EF4-FFF2-40B4-BE49-F238E27FC236}">
                <a16:creationId xmlns:a16="http://schemas.microsoft.com/office/drawing/2014/main" id="{0C1173B9-EECF-693B-9E7D-0C69C5B122BF}"/>
              </a:ext>
            </a:extLst>
          </p:cNvPr>
          <p:cNvSpPr/>
          <p:nvPr/>
        </p:nvSpPr>
        <p:spPr>
          <a:xfrm>
            <a:off x="5740699" y="4509077"/>
            <a:ext cx="3293358" cy="1146893"/>
          </a:xfrm>
          <a:prstGeom prst="rect">
            <a:avLst/>
          </a:prstGeom>
          <a:solidFill>
            <a:schemeClr val="accent1">
              <a:lumMod val="20000"/>
              <a:lumOff val="80000"/>
            </a:schemeClr>
          </a:solidFill>
          <a:ln w="12700">
            <a:solidFill>
              <a:srgbClr val="8496B8"/>
            </a:solidFill>
            <a:prstDash val="solid"/>
          </a:ln>
        </p:spPr>
        <p:txBody>
          <a:bodyPr anchor="ctr"/>
          <a:lstStyle/>
          <a:p>
            <a:pPr algn="ctr"/>
            <a:endParaRPr lang="ja-JP" altLang="en-US" sz="12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36" name="矢印: 下 35">
            <a:extLst>
              <a:ext uri="{FF2B5EF4-FFF2-40B4-BE49-F238E27FC236}">
                <a16:creationId xmlns:a16="http://schemas.microsoft.com/office/drawing/2014/main" id="{7CCB5C34-442B-3398-0780-2D0336E6D4ED}"/>
              </a:ext>
            </a:extLst>
          </p:cNvPr>
          <p:cNvSpPr/>
          <p:nvPr/>
        </p:nvSpPr>
        <p:spPr>
          <a:xfrm>
            <a:off x="1528292" y="3735148"/>
            <a:ext cx="254000" cy="306911"/>
          </a:xfrm>
          <a:prstGeom prst="downArrow">
            <a:avLst>
              <a:gd name="adj1" fmla="val 50000"/>
              <a:gd name="adj2" fmla="val 61250"/>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37" name="矢印: 下 36">
            <a:extLst>
              <a:ext uri="{FF2B5EF4-FFF2-40B4-BE49-F238E27FC236}">
                <a16:creationId xmlns:a16="http://schemas.microsoft.com/office/drawing/2014/main" id="{F4FC4967-B41B-4444-4ADE-4F30B9156CB8}"/>
              </a:ext>
            </a:extLst>
          </p:cNvPr>
          <p:cNvSpPr/>
          <p:nvPr/>
        </p:nvSpPr>
        <p:spPr>
          <a:xfrm>
            <a:off x="3987378" y="3740258"/>
            <a:ext cx="254000" cy="306911"/>
          </a:xfrm>
          <a:prstGeom prst="downArrow">
            <a:avLst>
              <a:gd name="adj1" fmla="val 50000"/>
              <a:gd name="adj2" fmla="val 61250"/>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pic>
        <p:nvPicPr>
          <p:cNvPr id="1026" name="Picture 2">
            <a:extLst>
              <a:ext uri="{FF2B5EF4-FFF2-40B4-BE49-F238E27FC236}">
                <a16:creationId xmlns:a16="http://schemas.microsoft.com/office/drawing/2014/main" id="{AC3EAB26-5599-F35D-4523-6C68BD69EF6E}"/>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49980" y="4692784"/>
            <a:ext cx="570053" cy="376235"/>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ロゴガイドライン｜LINEヤフー for Business">
            <a:extLst>
              <a:ext uri="{FF2B5EF4-FFF2-40B4-BE49-F238E27FC236}">
                <a16:creationId xmlns:a16="http://schemas.microsoft.com/office/drawing/2014/main" id="{CEFB2BC3-422C-45B1-E9EF-4EF91F4D9897}"/>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972902" y="4459743"/>
            <a:ext cx="2357368" cy="855810"/>
          </a:xfrm>
          <a:prstGeom prst="rect">
            <a:avLst/>
          </a:prstGeom>
          <a:noFill/>
          <a:extLst>
            <a:ext uri="{909E8E84-426E-40DD-AFC4-6F175D3DCCD1}">
              <a14:hiddenFill xmlns:a14="http://schemas.microsoft.com/office/drawing/2010/main">
                <a:solidFill>
                  <a:srgbClr val="FFFFFF"/>
                </a:solidFill>
              </a14:hiddenFill>
            </a:ext>
          </a:extLst>
        </p:spPr>
      </p:pic>
      <p:pic>
        <p:nvPicPr>
          <p:cNvPr id="49" name="図 48">
            <a:extLst>
              <a:ext uri="{FF2B5EF4-FFF2-40B4-BE49-F238E27FC236}">
                <a16:creationId xmlns:a16="http://schemas.microsoft.com/office/drawing/2014/main" id="{C827C962-E7C6-7341-785B-5CEA2F163BA9}"/>
              </a:ext>
            </a:extLst>
          </p:cNvPr>
          <p:cNvPicPr>
            <a:picLocks noChangeAspect="1"/>
          </p:cNvPicPr>
          <p:nvPr/>
        </p:nvPicPr>
        <p:blipFill>
          <a:blip r:embed="rId5" cstate="print">
            <a:extLst>
              <a:ext uri="{28A0092B-C50C-407E-A947-70E740481C1C}">
                <a14:useLocalDpi xmlns:a14="http://schemas.microsoft.com/office/drawing/2010/main" val="0"/>
              </a:ext>
            </a:extLst>
          </a:blip>
          <a:srcRect l="10032" t="9688" r="9713" b="9686"/>
          <a:stretch>
            <a:fillRect/>
          </a:stretch>
        </p:blipFill>
        <p:spPr>
          <a:xfrm>
            <a:off x="7294243" y="4673418"/>
            <a:ext cx="411545" cy="413459"/>
          </a:xfrm>
          <a:prstGeom prst="rect">
            <a:avLst/>
          </a:prstGeom>
        </p:spPr>
      </p:pic>
      <p:pic>
        <p:nvPicPr>
          <p:cNvPr id="1034" name="Picture 10" descr="Google ロゴ（グーグル） – ICONLAB（アイコンラボ）">
            <a:extLst>
              <a:ext uri="{FF2B5EF4-FFF2-40B4-BE49-F238E27FC236}">
                <a16:creationId xmlns:a16="http://schemas.microsoft.com/office/drawing/2014/main" id="{EF486F86-4362-411E-58E4-AF8FA89FFB1A}"/>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6916281" y="5170783"/>
            <a:ext cx="1167467" cy="383075"/>
          </a:xfrm>
          <a:prstGeom prst="rect">
            <a:avLst/>
          </a:prstGeom>
          <a:noFill/>
          <a:extLst>
            <a:ext uri="{909E8E84-426E-40DD-AFC4-6F175D3DCCD1}">
              <a14:hiddenFill xmlns:a14="http://schemas.microsoft.com/office/drawing/2010/main">
                <a:solidFill>
                  <a:srgbClr val="FFFFFF"/>
                </a:solidFill>
              </a14:hiddenFill>
            </a:ext>
          </a:extLst>
        </p:spPr>
      </p:pic>
      <p:sp>
        <p:nvSpPr>
          <p:cNvPr id="52" name="AutoShape 16" descr="TikTok Vector Logo - Download Free SVG Icon | Worldvectorlogo">
            <a:extLst>
              <a:ext uri="{FF2B5EF4-FFF2-40B4-BE49-F238E27FC236}">
                <a16:creationId xmlns:a16="http://schemas.microsoft.com/office/drawing/2014/main" id="{FC9F455A-4712-6D98-BB84-88AB6130694C}"/>
              </a:ext>
            </a:extLst>
          </p:cNvPr>
          <p:cNvSpPr>
            <a:spLocks noChangeAspect="1" noChangeArrowheads="1"/>
          </p:cNvSpPr>
          <p:nvPr/>
        </p:nvSpPr>
        <p:spPr bwMode="auto">
          <a:xfrm>
            <a:off x="4800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ja-JP" altLang="en-US">
              <a:latin typeface="メイリオ"/>
              <a:ea typeface="メイリオ"/>
              <a:cs typeface="メイリオ"/>
            </a:endParaRPr>
          </a:p>
        </p:txBody>
      </p:sp>
      <p:pic>
        <p:nvPicPr>
          <p:cNvPr id="55" name="グラフィックス 54">
            <a:extLst>
              <a:ext uri="{FF2B5EF4-FFF2-40B4-BE49-F238E27FC236}">
                <a16:creationId xmlns:a16="http://schemas.microsoft.com/office/drawing/2014/main" id="{236DDCA7-2D38-04D7-5FB4-240CFC7457DF}"/>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7915162" y="4592565"/>
            <a:ext cx="431326" cy="494866"/>
          </a:xfrm>
          <a:prstGeom prst="rect">
            <a:avLst/>
          </a:prstGeom>
        </p:spPr>
      </p:pic>
      <p:pic>
        <p:nvPicPr>
          <p:cNvPr id="1042" name="Picture 18" descr="スマートニュースはSNSでも情報を発信しています">
            <a:extLst>
              <a:ext uri="{FF2B5EF4-FFF2-40B4-BE49-F238E27FC236}">
                <a16:creationId xmlns:a16="http://schemas.microsoft.com/office/drawing/2014/main" id="{4F12F3EC-DFC2-4480-39CA-8C4C8AE3C056}"/>
              </a:ext>
            </a:extLst>
          </p:cNvPr>
          <p:cNvPicPr>
            <a:picLocks noChangeAspect="1" noChangeArrowheads="1"/>
          </p:cNvPicPr>
          <p:nvPr/>
        </p:nvPicPr>
        <p:blipFill rotWithShape="1">
          <a:blip r:embed="rId8" cstate="print">
            <a:extLst>
              <a:ext uri="{28A0092B-C50C-407E-A947-70E740481C1C}">
                <a14:useLocalDpi xmlns:a14="http://schemas.microsoft.com/office/drawing/2010/main" val="0"/>
              </a:ext>
            </a:extLst>
          </a:blip>
          <a:srcRect r="70053"/>
          <a:stretch>
            <a:fillRect/>
          </a:stretch>
        </p:blipFill>
        <p:spPr bwMode="auto">
          <a:xfrm>
            <a:off x="8334066" y="4584625"/>
            <a:ext cx="564335" cy="580417"/>
          </a:xfrm>
          <a:prstGeom prst="rect">
            <a:avLst/>
          </a:prstGeom>
          <a:noFill/>
          <a:extLst>
            <a:ext uri="{909E8E84-426E-40DD-AFC4-6F175D3DCCD1}">
              <a14:hiddenFill xmlns:a14="http://schemas.microsoft.com/office/drawing/2010/main">
                <a:solidFill>
                  <a:srgbClr val="FFFFFF"/>
                </a:solidFill>
              </a14:hiddenFill>
            </a:ext>
          </a:extLst>
        </p:spPr>
      </p:pic>
      <p:sp>
        <p:nvSpPr>
          <p:cNvPr id="56" name="矢印: 下 55">
            <a:extLst>
              <a:ext uri="{FF2B5EF4-FFF2-40B4-BE49-F238E27FC236}">
                <a16:creationId xmlns:a16="http://schemas.microsoft.com/office/drawing/2014/main" id="{E75D1A0F-AE27-48A1-23FB-0EB865F9868F}"/>
              </a:ext>
            </a:extLst>
          </p:cNvPr>
          <p:cNvSpPr/>
          <p:nvPr/>
        </p:nvSpPr>
        <p:spPr>
          <a:xfrm>
            <a:off x="2694214" y="2529121"/>
            <a:ext cx="254000" cy="306911"/>
          </a:xfrm>
          <a:prstGeom prst="downArrow">
            <a:avLst>
              <a:gd name="adj1" fmla="val 50000"/>
              <a:gd name="adj2" fmla="val 61250"/>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57" name="矢印: 下 56">
            <a:extLst>
              <a:ext uri="{FF2B5EF4-FFF2-40B4-BE49-F238E27FC236}">
                <a16:creationId xmlns:a16="http://schemas.microsoft.com/office/drawing/2014/main" id="{45EAB25F-C320-6516-2457-A8EC46BA5759}"/>
              </a:ext>
            </a:extLst>
          </p:cNvPr>
          <p:cNvSpPr/>
          <p:nvPr/>
        </p:nvSpPr>
        <p:spPr>
          <a:xfrm>
            <a:off x="7125416" y="2500315"/>
            <a:ext cx="254000" cy="306911"/>
          </a:xfrm>
          <a:prstGeom prst="downArrow">
            <a:avLst>
              <a:gd name="adj1" fmla="val 50000"/>
              <a:gd name="adj2" fmla="val 61250"/>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58" name="矢印: 下 57">
            <a:extLst>
              <a:ext uri="{FF2B5EF4-FFF2-40B4-BE49-F238E27FC236}">
                <a16:creationId xmlns:a16="http://schemas.microsoft.com/office/drawing/2014/main" id="{D4C3E4FB-FBBD-F807-4224-633D3437041D}"/>
              </a:ext>
            </a:extLst>
          </p:cNvPr>
          <p:cNvSpPr/>
          <p:nvPr/>
        </p:nvSpPr>
        <p:spPr>
          <a:xfrm>
            <a:off x="7077925" y="3692382"/>
            <a:ext cx="254000" cy="306911"/>
          </a:xfrm>
          <a:prstGeom prst="downArrow">
            <a:avLst>
              <a:gd name="adj1" fmla="val 50000"/>
              <a:gd name="adj2" fmla="val 61250"/>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59" name="矢印: 下 58">
            <a:extLst>
              <a:ext uri="{FF2B5EF4-FFF2-40B4-BE49-F238E27FC236}">
                <a16:creationId xmlns:a16="http://schemas.microsoft.com/office/drawing/2014/main" id="{101128B9-99D7-A912-7FA8-A54843D9D245}"/>
              </a:ext>
            </a:extLst>
          </p:cNvPr>
          <p:cNvSpPr/>
          <p:nvPr/>
        </p:nvSpPr>
        <p:spPr>
          <a:xfrm>
            <a:off x="1531548" y="4943191"/>
            <a:ext cx="254000" cy="306911"/>
          </a:xfrm>
          <a:prstGeom prst="downArrow">
            <a:avLst>
              <a:gd name="adj1" fmla="val 50000"/>
              <a:gd name="adj2" fmla="val 61250"/>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60" name="矢印: 下 59">
            <a:extLst>
              <a:ext uri="{FF2B5EF4-FFF2-40B4-BE49-F238E27FC236}">
                <a16:creationId xmlns:a16="http://schemas.microsoft.com/office/drawing/2014/main" id="{98D6B609-F1DC-B6C8-DC56-54C22972DE71}"/>
              </a:ext>
            </a:extLst>
          </p:cNvPr>
          <p:cNvSpPr/>
          <p:nvPr/>
        </p:nvSpPr>
        <p:spPr>
          <a:xfrm>
            <a:off x="3985192" y="4946879"/>
            <a:ext cx="254000" cy="306911"/>
          </a:xfrm>
          <a:prstGeom prst="downArrow">
            <a:avLst>
              <a:gd name="adj1" fmla="val 50000"/>
              <a:gd name="adj2" fmla="val 61250"/>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61" name="矢印: 下 60">
            <a:extLst>
              <a:ext uri="{FF2B5EF4-FFF2-40B4-BE49-F238E27FC236}">
                <a16:creationId xmlns:a16="http://schemas.microsoft.com/office/drawing/2014/main" id="{CBA9CA06-6F9A-2C27-90F1-49EDB667ED05}"/>
              </a:ext>
            </a:extLst>
          </p:cNvPr>
          <p:cNvSpPr/>
          <p:nvPr/>
        </p:nvSpPr>
        <p:spPr>
          <a:xfrm rot="17888006">
            <a:off x="5384120" y="4622183"/>
            <a:ext cx="254000" cy="306911"/>
          </a:xfrm>
          <a:prstGeom prst="downArrow">
            <a:avLst>
              <a:gd name="adj1" fmla="val 50000"/>
              <a:gd name="adj2" fmla="val 61250"/>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62" name="矢印: 下 61">
            <a:extLst>
              <a:ext uri="{FF2B5EF4-FFF2-40B4-BE49-F238E27FC236}">
                <a16:creationId xmlns:a16="http://schemas.microsoft.com/office/drawing/2014/main" id="{50FA0F8D-4B66-B543-827F-E62BB2D7A5C7}"/>
              </a:ext>
            </a:extLst>
          </p:cNvPr>
          <p:cNvSpPr/>
          <p:nvPr/>
        </p:nvSpPr>
        <p:spPr>
          <a:xfrm rot="7261747">
            <a:off x="5310324" y="4360130"/>
            <a:ext cx="254000" cy="306911"/>
          </a:xfrm>
          <a:prstGeom prst="downArrow">
            <a:avLst>
              <a:gd name="adj1" fmla="val 50000"/>
              <a:gd name="adj2" fmla="val 61250"/>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Tree>
    <p:extLst>
      <p:ext uri="{BB962C8B-B14F-4D97-AF65-F5344CB8AC3E}">
        <p14:creationId xmlns:p14="http://schemas.microsoft.com/office/powerpoint/2010/main" val="354400245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Google Shape;156;p7"/>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運用スケジュール</a:t>
            </a:r>
            <a:endParaRPr sz="1600" b="1" dirty="0">
              <a:solidFill>
                <a:srgbClr val="002060"/>
              </a:solidFill>
              <a:latin typeface="メイリオ"/>
              <a:ea typeface="メイリオ"/>
              <a:cs typeface="メイリオ"/>
              <a:sym typeface="Meiryo"/>
            </a:endParaRPr>
          </a:p>
        </p:txBody>
      </p:sp>
      <p:sp>
        <p:nvSpPr>
          <p:cNvPr id="28" name="角丸四角形 27"/>
          <p:cNvSpPr/>
          <p:nvPr/>
        </p:nvSpPr>
        <p:spPr>
          <a:xfrm>
            <a:off x="910833" y="1994083"/>
            <a:ext cx="2144546" cy="520517"/>
          </a:xfrm>
          <a:prstGeom prst="roundRect">
            <a:avLst>
              <a:gd name="adj" fmla="val 4701"/>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STEP1</a:t>
            </a:r>
            <a:endParaRPr kumimoji="1" lang="ja-JP" altLang="en-US"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p:txBody>
      </p:sp>
      <p:sp>
        <p:nvSpPr>
          <p:cNvPr id="29" name="角丸四角形 28"/>
          <p:cNvSpPr/>
          <p:nvPr/>
        </p:nvSpPr>
        <p:spPr>
          <a:xfrm>
            <a:off x="910833" y="3537133"/>
            <a:ext cx="2144546" cy="520517"/>
          </a:xfrm>
          <a:prstGeom prst="roundRect">
            <a:avLst>
              <a:gd name="adj" fmla="val 4701"/>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STEP3</a:t>
            </a:r>
            <a:endParaRPr kumimoji="1" lang="ja-JP" altLang="en-US"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p:txBody>
      </p:sp>
      <p:sp>
        <p:nvSpPr>
          <p:cNvPr id="31" name="角丸四角形 30"/>
          <p:cNvSpPr/>
          <p:nvPr/>
        </p:nvSpPr>
        <p:spPr>
          <a:xfrm>
            <a:off x="910833" y="2765608"/>
            <a:ext cx="2144546" cy="520517"/>
          </a:xfrm>
          <a:prstGeom prst="roundRect">
            <a:avLst>
              <a:gd name="adj" fmla="val 4701"/>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STEP2</a:t>
            </a:r>
            <a:endParaRPr kumimoji="1" lang="ja-JP" altLang="en-US"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p:txBody>
      </p:sp>
      <p:sp>
        <p:nvSpPr>
          <p:cNvPr id="32" name="角丸四角形 31"/>
          <p:cNvSpPr/>
          <p:nvPr/>
        </p:nvSpPr>
        <p:spPr>
          <a:xfrm>
            <a:off x="910833" y="4308658"/>
            <a:ext cx="2144546" cy="520517"/>
          </a:xfrm>
          <a:prstGeom prst="roundRect">
            <a:avLst>
              <a:gd name="adj" fmla="val 4701"/>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STEP4</a:t>
            </a:r>
            <a:endParaRPr kumimoji="1" lang="ja-JP" altLang="en-US"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p:txBody>
      </p:sp>
      <p:sp>
        <p:nvSpPr>
          <p:cNvPr id="33" name="角丸四角形 32"/>
          <p:cNvSpPr/>
          <p:nvPr/>
        </p:nvSpPr>
        <p:spPr>
          <a:xfrm>
            <a:off x="910833" y="5080183"/>
            <a:ext cx="2144546" cy="520517"/>
          </a:xfrm>
          <a:prstGeom prst="roundRect">
            <a:avLst>
              <a:gd name="adj" fmla="val 4701"/>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STEP5</a:t>
            </a:r>
            <a:endParaRPr kumimoji="1" lang="ja-JP" altLang="en-US"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p:txBody>
      </p:sp>
      <p:sp>
        <p:nvSpPr>
          <p:cNvPr id="2" name="正方形/長方形 1"/>
          <p:cNvSpPr/>
          <p:nvPr/>
        </p:nvSpPr>
        <p:spPr>
          <a:xfrm>
            <a:off x="4600923" y="2266950"/>
            <a:ext cx="1638300" cy="391649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40" name="角丸四角形 39"/>
          <p:cNvSpPr/>
          <p:nvPr/>
        </p:nvSpPr>
        <p:spPr>
          <a:xfrm>
            <a:off x="3133924" y="1994083"/>
            <a:ext cx="4749705" cy="520517"/>
          </a:xfrm>
          <a:prstGeom prst="roundRect">
            <a:avLst>
              <a:gd name="adj" fmla="val 4701"/>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bg1">
                    <a:lumMod val="50000"/>
                  </a:schemeClr>
                </a:solidFill>
                <a:latin typeface="メイリオ" panose="020B0604030504040204" pitchFamily="50" charset="-128"/>
                <a:ea typeface="メイリオ" panose="020B0604030504040204" pitchFamily="50" charset="-128"/>
                <a:cs typeface="メイリオ"/>
              </a:rPr>
              <a:t>お申込み（書類締結）</a:t>
            </a:r>
            <a:endParaRPr kumimoji="1" lang="ja-JP" altLang="en-US" dirty="0">
              <a:solidFill>
                <a:schemeClr val="bg1">
                  <a:lumMod val="50000"/>
                </a:schemeClr>
              </a:solidFill>
              <a:latin typeface="メイリオ" panose="020B0604030504040204" pitchFamily="50" charset="-128"/>
              <a:ea typeface="メイリオ" panose="020B0604030504040204" pitchFamily="50" charset="-128"/>
              <a:cs typeface="メイリオ"/>
            </a:endParaRPr>
          </a:p>
        </p:txBody>
      </p:sp>
      <p:sp>
        <p:nvSpPr>
          <p:cNvPr id="41" name="角丸四角形 40"/>
          <p:cNvSpPr/>
          <p:nvPr/>
        </p:nvSpPr>
        <p:spPr>
          <a:xfrm>
            <a:off x="3133924" y="3537133"/>
            <a:ext cx="4749705" cy="520517"/>
          </a:xfrm>
          <a:prstGeom prst="roundRect">
            <a:avLst>
              <a:gd name="adj" fmla="val 4701"/>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bg1">
                    <a:lumMod val="50000"/>
                  </a:schemeClr>
                </a:solidFill>
                <a:latin typeface="メイリオ" panose="020B0604030504040204" pitchFamily="50" charset="-128"/>
                <a:ea typeface="メイリオ" panose="020B0604030504040204" pitchFamily="50" charset="-128"/>
                <a:cs typeface="メイリオ"/>
              </a:rPr>
              <a:t>ツール導入・連携の設定 / タグ確認</a:t>
            </a:r>
          </a:p>
        </p:txBody>
      </p:sp>
      <p:sp>
        <p:nvSpPr>
          <p:cNvPr id="42" name="角丸四角形 41"/>
          <p:cNvSpPr/>
          <p:nvPr/>
        </p:nvSpPr>
        <p:spPr>
          <a:xfrm>
            <a:off x="3133924" y="2765608"/>
            <a:ext cx="4749705" cy="520517"/>
          </a:xfrm>
          <a:prstGeom prst="roundRect">
            <a:avLst>
              <a:gd name="adj" fmla="val 4701"/>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bg1">
                    <a:lumMod val="50000"/>
                  </a:schemeClr>
                </a:solidFill>
                <a:latin typeface="メイリオ" panose="020B0604030504040204" pitchFamily="50" charset="-128"/>
                <a:ea typeface="メイリオ" panose="020B0604030504040204" pitchFamily="50" charset="-128"/>
                <a:cs typeface="メイリオ"/>
              </a:rPr>
              <a:t>キックオフ</a:t>
            </a:r>
            <a:r>
              <a:rPr kumimoji="1" lang="en-US" altLang="ja-JP" dirty="0">
                <a:solidFill>
                  <a:schemeClr val="bg1">
                    <a:lumMod val="50000"/>
                  </a:schemeClr>
                </a:solidFill>
                <a:latin typeface="メイリオ" panose="020B0604030504040204" pitchFamily="50" charset="-128"/>
                <a:ea typeface="メイリオ" panose="020B0604030504040204" pitchFamily="50" charset="-128"/>
                <a:cs typeface="メイリオ"/>
              </a:rPr>
              <a:t>MTG</a:t>
            </a:r>
            <a:endParaRPr kumimoji="1" lang="ja-JP" altLang="en-US" dirty="0">
              <a:solidFill>
                <a:schemeClr val="bg1">
                  <a:lumMod val="50000"/>
                </a:schemeClr>
              </a:solidFill>
              <a:latin typeface="メイリオ" panose="020B0604030504040204" pitchFamily="50" charset="-128"/>
              <a:ea typeface="メイリオ" panose="020B0604030504040204" pitchFamily="50" charset="-128"/>
              <a:cs typeface="メイリオ"/>
            </a:endParaRPr>
          </a:p>
        </p:txBody>
      </p:sp>
      <p:sp>
        <p:nvSpPr>
          <p:cNvPr id="44" name="角丸四角形 43"/>
          <p:cNvSpPr/>
          <p:nvPr/>
        </p:nvSpPr>
        <p:spPr>
          <a:xfrm>
            <a:off x="3133924" y="4308658"/>
            <a:ext cx="4749705" cy="520517"/>
          </a:xfrm>
          <a:prstGeom prst="roundRect">
            <a:avLst>
              <a:gd name="adj" fmla="val 4701"/>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bg1">
                    <a:lumMod val="50000"/>
                  </a:schemeClr>
                </a:solidFill>
                <a:latin typeface="メイリオ" panose="020B0604030504040204" pitchFamily="50" charset="-128"/>
                <a:ea typeface="メイリオ" panose="020B0604030504040204" pitchFamily="50" charset="-128"/>
                <a:cs typeface="メイリオ"/>
              </a:rPr>
              <a:t>初期設計の構築</a:t>
            </a:r>
          </a:p>
        </p:txBody>
      </p:sp>
      <p:sp>
        <p:nvSpPr>
          <p:cNvPr id="45" name="角丸四角形 44"/>
          <p:cNvSpPr/>
          <p:nvPr/>
        </p:nvSpPr>
        <p:spPr>
          <a:xfrm>
            <a:off x="3133924" y="5080183"/>
            <a:ext cx="4749705" cy="520517"/>
          </a:xfrm>
          <a:prstGeom prst="roundRect">
            <a:avLst>
              <a:gd name="adj" fmla="val 4701"/>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bg1">
                    <a:lumMod val="50000"/>
                  </a:schemeClr>
                </a:solidFill>
                <a:latin typeface="メイリオ" panose="020B0604030504040204" pitchFamily="50" charset="-128"/>
                <a:ea typeface="メイリオ" panose="020B0604030504040204" pitchFamily="50" charset="-128"/>
                <a:cs typeface="メイリオ"/>
              </a:rPr>
              <a:t>運用開始</a:t>
            </a:r>
          </a:p>
        </p:txBody>
      </p:sp>
      <p:sp>
        <p:nvSpPr>
          <p:cNvPr id="19" name="正方形/長方形 18"/>
          <p:cNvSpPr/>
          <p:nvPr/>
        </p:nvSpPr>
        <p:spPr>
          <a:xfrm>
            <a:off x="548883" y="1033120"/>
            <a:ext cx="8921032" cy="461665"/>
          </a:xfrm>
          <a:prstGeom prst="rect">
            <a:avLst/>
          </a:prstGeom>
        </p:spPr>
        <p:txBody>
          <a:bodyPr wrap="none">
            <a:spAutoFit/>
          </a:bodyPr>
          <a:lstStyle/>
          <a:p>
            <a:r>
              <a:rPr lang="ja-JP" altLang="en-US" sz="2400" dirty="0">
                <a:latin typeface="メイリオ" panose="020B0604030504040204" pitchFamily="50" charset="-128"/>
                <a:ea typeface="メイリオ" panose="020B0604030504040204" pitchFamily="50" charset="-128"/>
                <a:cs typeface="メイリオ"/>
              </a:rPr>
              <a:t>サイト・LINEへの実装は、初期設計が整い次第、順次進行</a:t>
            </a:r>
            <a:endParaRPr lang="ja-JP" altLang="en-US" sz="2400" dirty="0">
              <a:latin typeface="メイリオ"/>
              <a:ea typeface="メイリオ"/>
              <a:cs typeface="メイリオ"/>
            </a:endParaRPr>
          </a:p>
        </p:txBody>
      </p:sp>
      <p:sp>
        <p:nvSpPr>
          <p:cNvPr id="20" name="正方形/長方形 19"/>
          <p:cNvSpPr/>
          <p:nvPr/>
        </p:nvSpPr>
        <p:spPr>
          <a:xfrm>
            <a:off x="3566160" y="5841409"/>
            <a:ext cx="5974713" cy="276999"/>
          </a:xfrm>
          <a:prstGeom prst="rect">
            <a:avLst/>
          </a:prstGeom>
        </p:spPr>
        <p:txBody>
          <a:bodyPr wrap="none">
            <a:spAutoFit/>
          </a:bodyPr>
          <a:lstStyle/>
          <a:p>
            <a:r>
              <a:rPr lang="en-US" altLang="ja-JP" sz="12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※契約期間は6か月。貴社作業・確認にかかる時間により前後する場合があ</a:t>
            </a:r>
            <a:r>
              <a:rPr lang="ja-JP" altLang="en-US" sz="12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ります</a:t>
            </a:r>
            <a:r>
              <a:rPr lang="en-US" altLang="ja-JP" sz="12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a:t>
            </a:r>
          </a:p>
        </p:txBody>
      </p:sp>
      <p:sp>
        <p:nvSpPr>
          <p:cNvPr id="3" name="正方形/長方形 2"/>
          <p:cNvSpPr/>
          <p:nvPr/>
        </p:nvSpPr>
        <p:spPr>
          <a:xfrm>
            <a:off x="7902506" y="3514209"/>
            <a:ext cx="1415772" cy="584775"/>
          </a:xfrm>
          <a:prstGeom prst="rect">
            <a:avLst/>
          </a:prstGeom>
        </p:spPr>
        <p:txBody>
          <a:bodyPr wrap="none">
            <a:spAutoFit/>
          </a:bodyPr>
          <a:lstStyle/>
          <a:p>
            <a:r>
              <a:rPr lang="ja-JP" altLang="en-US" sz="800" dirty="0">
                <a:solidFill>
                  <a:schemeClr val="bg1">
                    <a:lumMod val="50000"/>
                  </a:schemeClr>
                </a:solidFill>
                <a:latin typeface="メイリオ" panose="020B0604030504040204" pitchFamily="50" charset="-128"/>
                <a:ea typeface="メイリオ" panose="020B0604030504040204" pitchFamily="50" charset="-128"/>
                <a:cs typeface="メイリオ"/>
              </a:rPr>
              <a:t>オーディエンスリスト作成</a:t>
            </a:r>
            <a:endParaRPr lang="en-US" altLang="ja-JP" sz="800" dirty="0">
              <a:solidFill>
                <a:schemeClr val="bg1">
                  <a:lumMod val="50000"/>
                </a:schemeClr>
              </a:solidFill>
              <a:latin typeface="メイリオ" panose="020B0604030504040204" pitchFamily="50" charset="-128"/>
              <a:ea typeface="メイリオ" panose="020B0604030504040204" pitchFamily="50" charset="-128"/>
              <a:cs typeface="メイリオ"/>
            </a:endParaRPr>
          </a:p>
          <a:p>
            <a:r>
              <a:rPr lang="ja-JP" altLang="en-US" sz="800" dirty="0">
                <a:solidFill>
                  <a:schemeClr val="bg1">
                    <a:lumMod val="50000"/>
                  </a:schemeClr>
                </a:solidFill>
                <a:latin typeface="メイリオ" panose="020B0604030504040204" pitchFamily="50" charset="-128"/>
                <a:ea typeface="メイリオ" panose="020B0604030504040204" pitchFamily="50" charset="-128"/>
                <a:cs typeface="メイリオ"/>
              </a:rPr>
              <a:t>タグ設定</a:t>
            </a:r>
            <a:endParaRPr lang="en-US" altLang="ja-JP" sz="800" dirty="0">
              <a:solidFill>
                <a:schemeClr val="bg1">
                  <a:lumMod val="50000"/>
                </a:schemeClr>
              </a:solidFill>
              <a:latin typeface="メイリオ" panose="020B0604030504040204" pitchFamily="50" charset="-128"/>
              <a:ea typeface="メイリオ" panose="020B0604030504040204" pitchFamily="50" charset="-128"/>
              <a:cs typeface="メイリオ"/>
            </a:endParaRPr>
          </a:p>
          <a:p>
            <a:r>
              <a:rPr lang="en-US" altLang="ja-JP" sz="800" dirty="0">
                <a:solidFill>
                  <a:schemeClr val="bg1">
                    <a:lumMod val="50000"/>
                  </a:schemeClr>
                </a:solidFill>
                <a:latin typeface="メイリオ" panose="020B0604030504040204" pitchFamily="50" charset="-128"/>
                <a:ea typeface="メイリオ" panose="020B0604030504040204" pitchFamily="50" charset="-128"/>
                <a:cs typeface="メイリオ"/>
              </a:rPr>
              <a:t>GA</a:t>
            </a:r>
            <a:r>
              <a:rPr lang="ja-JP" altLang="en-US" sz="800" dirty="0">
                <a:solidFill>
                  <a:schemeClr val="bg1">
                    <a:lumMod val="50000"/>
                  </a:schemeClr>
                </a:solidFill>
                <a:latin typeface="メイリオ" panose="020B0604030504040204" pitchFamily="50" charset="-128"/>
                <a:ea typeface="メイリオ" panose="020B0604030504040204" pitchFamily="50" charset="-128"/>
                <a:cs typeface="メイリオ"/>
              </a:rPr>
              <a:t>設定</a:t>
            </a:r>
            <a:endParaRPr lang="en-US" altLang="ja-JP" sz="800" dirty="0">
              <a:solidFill>
                <a:schemeClr val="bg1">
                  <a:lumMod val="50000"/>
                </a:schemeClr>
              </a:solidFill>
              <a:latin typeface="メイリオ" panose="020B0604030504040204" pitchFamily="50" charset="-128"/>
              <a:ea typeface="メイリオ" panose="020B0604030504040204" pitchFamily="50" charset="-128"/>
              <a:cs typeface="メイリオ"/>
            </a:endParaRPr>
          </a:p>
          <a:p>
            <a:r>
              <a:rPr lang="en-US" altLang="ja-JP" sz="800" dirty="0">
                <a:solidFill>
                  <a:schemeClr val="bg1">
                    <a:lumMod val="50000"/>
                  </a:schemeClr>
                </a:solidFill>
                <a:latin typeface="メイリオ" panose="020B0604030504040204" pitchFamily="50" charset="-128"/>
                <a:ea typeface="メイリオ" panose="020B0604030504040204" pitchFamily="50" charset="-128"/>
                <a:cs typeface="メイリオ"/>
              </a:rPr>
              <a:t>etc...</a:t>
            </a:r>
          </a:p>
        </p:txBody>
      </p:sp>
      <p:sp>
        <p:nvSpPr>
          <p:cNvPr id="24" name="正方形/長方形 23"/>
          <p:cNvSpPr/>
          <p:nvPr/>
        </p:nvSpPr>
        <p:spPr>
          <a:xfrm>
            <a:off x="7897281" y="4276528"/>
            <a:ext cx="1107996" cy="584775"/>
          </a:xfrm>
          <a:prstGeom prst="rect">
            <a:avLst/>
          </a:prstGeom>
        </p:spPr>
        <p:txBody>
          <a:bodyPr wrap="none">
            <a:spAutoFit/>
          </a:bodyPr>
          <a:lstStyle/>
          <a:p>
            <a:r>
              <a:rPr lang="ja-JP" altLang="en-US" sz="800" dirty="0">
                <a:solidFill>
                  <a:schemeClr val="bg1">
                    <a:lumMod val="50000"/>
                  </a:schemeClr>
                </a:solidFill>
                <a:latin typeface="メイリオ" panose="020B0604030504040204" pitchFamily="50" charset="-128"/>
                <a:ea typeface="メイリオ" panose="020B0604030504040204" pitchFamily="50" charset="-128"/>
                <a:cs typeface="メイリオ"/>
              </a:rPr>
              <a:t>リッチメニュー作成</a:t>
            </a:r>
            <a:endParaRPr lang="en-US" altLang="ja-JP" sz="800" dirty="0">
              <a:solidFill>
                <a:schemeClr val="bg1">
                  <a:lumMod val="50000"/>
                </a:schemeClr>
              </a:solidFill>
              <a:latin typeface="メイリオ" panose="020B0604030504040204" pitchFamily="50" charset="-128"/>
              <a:ea typeface="メイリオ" panose="020B0604030504040204" pitchFamily="50" charset="-128"/>
              <a:cs typeface="メイリオ"/>
            </a:endParaRPr>
          </a:p>
          <a:p>
            <a:r>
              <a:rPr lang="ja-JP" altLang="en-US" sz="800" dirty="0">
                <a:solidFill>
                  <a:schemeClr val="bg1">
                    <a:lumMod val="50000"/>
                  </a:schemeClr>
                </a:solidFill>
                <a:latin typeface="メイリオ" panose="020B0604030504040204" pitchFamily="50" charset="-128"/>
                <a:ea typeface="メイリオ" panose="020B0604030504040204" pitchFamily="50" charset="-128"/>
                <a:cs typeface="メイリオ"/>
              </a:rPr>
              <a:t>アンケート設計</a:t>
            </a:r>
            <a:endParaRPr lang="en-US" altLang="ja-JP" sz="800" dirty="0">
              <a:solidFill>
                <a:schemeClr val="bg1">
                  <a:lumMod val="50000"/>
                </a:schemeClr>
              </a:solidFill>
              <a:latin typeface="メイリオ" panose="020B0604030504040204" pitchFamily="50" charset="-128"/>
              <a:ea typeface="メイリオ" panose="020B0604030504040204" pitchFamily="50" charset="-128"/>
              <a:cs typeface="メイリオ"/>
            </a:endParaRPr>
          </a:p>
          <a:p>
            <a:r>
              <a:rPr lang="ja-JP" altLang="en-US" sz="800" dirty="0">
                <a:solidFill>
                  <a:schemeClr val="bg1">
                    <a:lumMod val="50000"/>
                  </a:schemeClr>
                </a:solidFill>
                <a:latin typeface="メイリオ" panose="020B0604030504040204" pitchFamily="50" charset="-128"/>
                <a:ea typeface="メイリオ" panose="020B0604030504040204" pitchFamily="50" charset="-128"/>
                <a:cs typeface="メイリオ"/>
              </a:rPr>
              <a:t>シナリオ設計</a:t>
            </a:r>
            <a:endParaRPr lang="en-US" altLang="ja-JP" sz="800" dirty="0">
              <a:solidFill>
                <a:schemeClr val="bg1">
                  <a:lumMod val="50000"/>
                </a:schemeClr>
              </a:solidFill>
              <a:latin typeface="メイリオ" panose="020B0604030504040204" pitchFamily="50" charset="-128"/>
              <a:ea typeface="メイリオ" panose="020B0604030504040204" pitchFamily="50" charset="-128"/>
              <a:cs typeface="メイリオ"/>
            </a:endParaRPr>
          </a:p>
          <a:p>
            <a:r>
              <a:rPr lang="en-US" altLang="ja-JP" sz="800" dirty="0">
                <a:solidFill>
                  <a:schemeClr val="bg1">
                    <a:lumMod val="50000"/>
                  </a:schemeClr>
                </a:solidFill>
                <a:latin typeface="メイリオ" panose="020B0604030504040204" pitchFamily="50" charset="-128"/>
                <a:ea typeface="メイリオ" panose="020B0604030504040204" pitchFamily="50" charset="-128"/>
                <a:cs typeface="メイリオ"/>
              </a:rPr>
              <a:t>etc...</a:t>
            </a:r>
          </a:p>
        </p:txBody>
      </p:sp>
      <p:sp>
        <p:nvSpPr>
          <p:cNvPr id="46" name="正方形/長方形 2"/>
          <p:cNvSpPr/>
          <p:nvPr/>
        </p:nvSpPr>
        <p:spPr>
          <a:xfrm>
            <a:off x="7902506" y="2743200"/>
            <a:ext cx="1415772" cy="584775"/>
          </a:xfrm>
          <a:prstGeom prst="rect">
            <a:avLst/>
          </a:prstGeom>
        </p:spPr>
        <p:txBody>
          <a:bodyPr wrap="none">
            <a:spAutoFit/>
          </a:bodyPr>
          <a:lstStyle/>
          <a:p>
            <a:r>
              <a:rPr lang="ja-JP" altLang="en-US" sz="800" dirty="0">
                <a:solidFill>
                  <a:schemeClr val="bg1">
                    <a:lumMod val="50000"/>
                  </a:schemeClr>
                </a:solidFill>
                <a:latin typeface="メイリオ" panose="020B0604030504040204" pitchFamily="50" charset="-128"/>
                <a:ea typeface="メイリオ" panose="020B0604030504040204" pitchFamily="50" charset="-128"/>
                <a:cs typeface="メイリオ"/>
              </a:rPr>
              <a:t>ツールの選択</a:t>
            </a:r>
            <a:endParaRPr lang="en-US" altLang="ja-JP" sz="800" dirty="0">
              <a:solidFill>
                <a:schemeClr val="bg1">
                  <a:lumMod val="50000"/>
                </a:schemeClr>
              </a:solidFill>
              <a:latin typeface="メイリオ" panose="020B0604030504040204" pitchFamily="50" charset="-128"/>
              <a:ea typeface="メイリオ" panose="020B0604030504040204" pitchFamily="50" charset="-128"/>
              <a:cs typeface="メイリオ"/>
            </a:endParaRPr>
          </a:p>
          <a:p>
            <a:r>
              <a:rPr lang="ja-JP" altLang="en-US" sz="800" dirty="0">
                <a:solidFill>
                  <a:schemeClr val="bg1">
                    <a:lumMod val="50000"/>
                  </a:schemeClr>
                </a:solidFill>
                <a:latin typeface="メイリオ" panose="020B0604030504040204" pitchFamily="50" charset="-128"/>
                <a:ea typeface="メイリオ" panose="020B0604030504040204" pitchFamily="50" charset="-128"/>
                <a:cs typeface="メイリオ"/>
              </a:rPr>
              <a:t>実装条件の確認</a:t>
            </a:r>
            <a:endParaRPr lang="en-US" altLang="ja-JP" sz="800" dirty="0">
              <a:solidFill>
                <a:schemeClr val="bg1">
                  <a:lumMod val="50000"/>
                </a:schemeClr>
              </a:solidFill>
              <a:latin typeface="メイリオ" panose="020B0604030504040204" pitchFamily="50" charset="-128"/>
              <a:ea typeface="メイリオ" panose="020B0604030504040204" pitchFamily="50" charset="-128"/>
              <a:cs typeface="メイリオ"/>
            </a:endParaRPr>
          </a:p>
          <a:p>
            <a:r>
              <a:rPr lang="ja-JP" altLang="en-US" sz="800" dirty="0">
                <a:solidFill>
                  <a:schemeClr val="bg1">
                    <a:lumMod val="50000"/>
                  </a:schemeClr>
                </a:solidFill>
                <a:latin typeface="メイリオ" panose="020B0604030504040204" pitchFamily="50" charset="-128"/>
                <a:ea typeface="メイリオ" panose="020B0604030504040204" pitchFamily="50" charset="-128"/>
                <a:cs typeface="メイリオ"/>
              </a:rPr>
              <a:t>（サンクスLINE誘導の</a:t>
            </a:r>
            <a:endParaRPr lang="en-US" altLang="ja-JP" sz="800" dirty="0">
              <a:solidFill>
                <a:schemeClr val="bg1">
                  <a:lumMod val="50000"/>
                </a:schemeClr>
              </a:solidFill>
              <a:latin typeface="メイリオ" panose="020B0604030504040204" pitchFamily="50" charset="-128"/>
              <a:ea typeface="メイリオ" panose="020B0604030504040204" pitchFamily="50" charset="-128"/>
              <a:cs typeface="メイリオ"/>
            </a:endParaRPr>
          </a:p>
          <a:p>
            <a:r>
              <a:rPr lang="ja-JP" altLang="en-US" sz="800" dirty="0">
                <a:solidFill>
                  <a:schemeClr val="bg1">
                    <a:lumMod val="50000"/>
                  </a:schemeClr>
                </a:solidFill>
                <a:latin typeface="メイリオ" panose="020B0604030504040204" pitchFamily="50" charset="-128"/>
                <a:ea typeface="メイリオ" panose="020B0604030504040204" pitchFamily="50" charset="-128"/>
                <a:cs typeface="メイリオ"/>
              </a:rPr>
              <a:t>契約・停止条件）</a:t>
            </a:r>
            <a:endParaRPr lang="en-US" altLang="ja-JP" sz="800" dirty="0">
              <a:solidFill>
                <a:schemeClr val="bg1">
                  <a:lumMod val="50000"/>
                </a:schemeClr>
              </a:solidFill>
              <a:latin typeface="メイリオ" panose="020B0604030504040204" pitchFamily="50" charset="-128"/>
              <a:ea typeface="メイリオ" panose="020B0604030504040204" pitchFamily="50" charset="-128"/>
              <a:cs typeface="メイリオ"/>
            </a:endParaRPr>
          </a:p>
        </p:txBody>
      </p:sp>
    </p:spTree>
    <p:extLst>
      <p:ext uri="{BB962C8B-B14F-4D97-AF65-F5344CB8AC3E}">
        <p14:creationId xmlns:p14="http://schemas.microsoft.com/office/powerpoint/2010/main" val="212143481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正方形/長方形 18"/>
          <p:cNvSpPr>
            <a:spLocks noChangeArrowheads="1"/>
          </p:cNvSpPr>
          <p:nvPr/>
        </p:nvSpPr>
        <p:spPr bwMode="auto">
          <a:xfrm>
            <a:off x="1649030" y="5820984"/>
            <a:ext cx="6192837" cy="3736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marL="0" lvl="1" fontAlgn="base">
              <a:spcBef>
                <a:spcPct val="20000"/>
              </a:spcBef>
              <a:spcAft>
                <a:spcPct val="0"/>
              </a:spcAft>
              <a:defRPr>
                <a:latin typeface="メイリオ"/>
                <a:ea typeface="メイリオ"/>
                <a:cs typeface="メイリオ"/>
              </a:defRPr>
            </a:pPr>
            <a:r>
              <a:rPr lang="ja-JP" altLang="en-US" sz="831" b="1" dirty="0">
                <a:solidFill>
                  <a:prstClr val="black"/>
                </a:solidFill>
                <a:latin typeface="メイリオ"/>
                <a:ea typeface="メイリオ"/>
                <a:cs typeface="メイリオ"/>
              </a:rPr>
              <a:t>株式会社</a:t>
            </a:r>
            <a:r>
              <a:rPr lang="en-US" altLang="ja-JP" sz="831" b="1" dirty="0">
                <a:solidFill>
                  <a:prstClr val="black"/>
                </a:solidFill>
                <a:latin typeface="メイリオ"/>
                <a:ea typeface="メイリオ"/>
                <a:cs typeface="メイリオ"/>
              </a:rPr>
              <a:t>DYM</a:t>
            </a:r>
            <a:r>
              <a:rPr lang="ja-JP" altLang="en-US" sz="831" b="1" dirty="0">
                <a:solidFill>
                  <a:prstClr val="black"/>
                </a:solidFill>
                <a:latin typeface="メイリオ"/>
                <a:ea typeface="メイリオ"/>
                <a:cs typeface="メイリオ"/>
              </a:rPr>
              <a:t>　〒</a:t>
            </a:r>
            <a:r>
              <a:rPr lang="en-US" altLang="ja-JP" sz="831" b="1" dirty="0">
                <a:solidFill>
                  <a:prstClr val="black"/>
                </a:solidFill>
                <a:latin typeface="メイリオ"/>
                <a:ea typeface="メイリオ"/>
                <a:cs typeface="メイリオ"/>
              </a:rPr>
              <a:t>141-0032</a:t>
            </a:r>
            <a:r>
              <a:rPr lang="ja-JP" altLang="en-US" sz="831" b="1" dirty="0">
                <a:solidFill>
                  <a:prstClr val="black"/>
                </a:solidFill>
                <a:latin typeface="メイリオ"/>
                <a:ea typeface="メイリオ"/>
                <a:cs typeface="メイリオ"/>
              </a:rPr>
              <a:t>　東京都品川区大崎</a:t>
            </a:r>
            <a:r>
              <a:rPr lang="en-US" altLang="ja-JP" sz="831" b="1" dirty="0">
                <a:solidFill>
                  <a:prstClr val="black"/>
                </a:solidFill>
                <a:latin typeface="メイリオ"/>
                <a:ea typeface="メイリオ"/>
                <a:cs typeface="メイリオ"/>
              </a:rPr>
              <a:t>1-11-2</a:t>
            </a:r>
            <a:r>
              <a:rPr lang="ja-JP" altLang="en-US" sz="831" b="1" dirty="0">
                <a:solidFill>
                  <a:prstClr val="black"/>
                </a:solidFill>
                <a:latin typeface="メイリオ"/>
                <a:ea typeface="メイリオ"/>
                <a:cs typeface="メイリオ"/>
              </a:rPr>
              <a:t>　ゲートシティ大崎イーストタワー</a:t>
            </a:r>
            <a:r>
              <a:rPr lang="en-US" altLang="ja-JP" sz="831" b="1" dirty="0">
                <a:solidFill>
                  <a:prstClr val="black"/>
                </a:solidFill>
                <a:latin typeface="メイリオ"/>
                <a:ea typeface="メイリオ"/>
                <a:cs typeface="メイリオ"/>
              </a:rPr>
              <a:t>10</a:t>
            </a:r>
            <a:r>
              <a:rPr lang="ja-JP" altLang="en-US" sz="831" b="1" dirty="0">
                <a:solidFill>
                  <a:prstClr val="black"/>
                </a:solidFill>
                <a:latin typeface="メイリオ"/>
                <a:ea typeface="メイリオ"/>
                <a:cs typeface="メイリオ"/>
              </a:rPr>
              <a:t>階</a:t>
            </a:r>
            <a:endParaRPr lang="en-US" altLang="ja-JP" sz="831" b="1" dirty="0">
              <a:solidFill>
                <a:prstClr val="black"/>
              </a:solidFill>
              <a:latin typeface="メイリオ"/>
              <a:ea typeface="メイリオ"/>
              <a:cs typeface="メイリオ"/>
            </a:endParaRPr>
          </a:p>
          <a:p>
            <a:pPr marL="0" lvl="1" fontAlgn="base">
              <a:spcBef>
                <a:spcPct val="20000"/>
              </a:spcBef>
              <a:spcAft>
                <a:spcPct val="0"/>
              </a:spcAft>
              <a:defRPr>
                <a:latin typeface="メイリオ"/>
                <a:ea typeface="メイリオ"/>
                <a:cs typeface="メイリオ"/>
              </a:defRPr>
            </a:pPr>
            <a:r>
              <a:rPr lang="en-US" altLang="ja-JP" sz="831" b="1" dirty="0">
                <a:solidFill>
                  <a:prstClr val="black"/>
                </a:solidFill>
                <a:latin typeface="メイリオ"/>
                <a:ea typeface="メイリオ"/>
                <a:cs typeface="メイリオ"/>
              </a:rPr>
              <a:t>TEL: 03-5745-0200</a:t>
            </a:r>
            <a:r>
              <a:rPr lang="ja-JP" altLang="en-US" sz="831" b="1" dirty="0">
                <a:solidFill>
                  <a:prstClr val="black"/>
                </a:solidFill>
                <a:latin typeface="メイリオ"/>
                <a:ea typeface="メイリオ"/>
                <a:cs typeface="メイリオ"/>
              </a:rPr>
              <a:t>　</a:t>
            </a:r>
            <a:r>
              <a:rPr lang="en-US" altLang="ja-JP" sz="831" b="1" dirty="0">
                <a:solidFill>
                  <a:prstClr val="black"/>
                </a:solidFill>
                <a:latin typeface="メイリオ"/>
                <a:ea typeface="メイリオ"/>
                <a:cs typeface="メイリオ"/>
              </a:rPr>
              <a:t>FAX: 03-3779-8720 </a:t>
            </a:r>
            <a:r>
              <a:rPr lang="ja-JP" altLang="en-US" sz="831" b="1" dirty="0">
                <a:solidFill>
                  <a:prstClr val="black"/>
                </a:solidFill>
                <a:latin typeface="メイリオ"/>
                <a:ea typeface="メイリオ"/>
                <a:cs typeface="メイリオ"/>
              </a:rPr>
              <a:t>　</a:t>
            </a:r>
            <a:r>
              <a:rPr lang="en-US" altLang="ja-JP" sz="831" b="1" dirty="0">
                <a:solidFill>
                  <a:prstClr val="black"/>
                </a:solidFill>
                <a:latin typeface="メイリオ"/>
                <a:ea typeface="メイリオ"/>
                <a:cs typeface="メイリオ"/>
              </a:rPr>
              <a:t>http://dym.asia   </a:t>
            </a:r>
            <a:r>
              <a:rPr lang="ja-JP" altLang="en-US" sz="831" b="1" dirty="0">
                <a:solidFill>
                  <a:prstClr val="black"/>
                </a:solidFill>
                <a:latin typeface="メイリオ"/>
                <a:ea typeface="メイリオ"/>
                <a:cs typeface="メイリオ"/>
              </a:rPr>
              <a:t>代表取締役　水谷佑毅</a:t>
            </a:r>
          </a:p>
        </p:txBody>
      </p:sp>
      <p:pic>
        <p:nvPicPr>
          <p:cNvPr id="24" name="図 1"/>
          <p:cNvPicPr>
            <a:picLocks noChangeAspect="1"/>
          </p:cNvPicPr>
          <p:nvPr/>
        </p:nvPicPr>
        <p:blipFill rotWithShape="1">
          <a:blip r:embed="rId3" cstate="email">
            <a:extLst>
              <a:ext uri="{28A0092B-C50C-407E-A947-70E740481C1C}">
                <a14:useLocalDpi xmlns:a14="http://schemas.microsoft.com/office/drawing/2010/main"/>
              </a:ext>
            </a:extLst>
          </a:blip>
          <a:srcRect l="-1647" r="-11171"/>
          <a:stretch/>
        </p:blipFill>
        <p:spPr bwMode="auto">
          <a:xfrm>
            <a:off x="543897" y="5895365"/>
            <a:ext cx="1100981" cy="22486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テキスト ボックス 2"/>
          <p:cNvSpPr txBox="1"/>
          <p:nvPr/>
        </p:nvSpPr>
        <p:spPr>
          <a:xfrm>
            <a:off x="5070232" y="5597769"/>
            <a:ext cx="184731" cy="369332"/>
          </a:xfrm>
          <a:prstGeom prst="rect">
            <a:avLst/>
          </a:prstGeom>
          <a:noFill/>
        </p:spPr>
        <p:txBody>
          <a:bodyPr wrap="none" rtlCol="0">
            <a:spAutoFit/>
          </a:bodyPr>
          <a:lstStyle/>
          <a:p>
            <a:pPr fontAlgn="base">
              <a:spcBef>
                <a:spcPct val="0"/>
              </a:spcBef>
              <a:spcAft>
                <a:spcPct val="0"/>
              </a:spcAft>
              <a:defRPr>
                <a:latin typeface="メイリオ"/>
                <a:ea typeface="メイリオ"/>
                <a:cs typeface="メイリオ"/>
              </a:defRPr>
            </a:pPr>
            <a:endParaRPr lang="ja-JP" altLang="en-US">
              <a:solidFill>
                <a:prstClr val="black"/>
              </a:solidFill>
              <a:latin typeface="メイリオ" pitchFamily="34" charset="0"/>
              <a:ea typeface="メイリオ" pitchFamily="50" charset="-128"/>
              <a:cs typeface="メイリオ"/>
            </a:endParaRPr>
          </a:p>
        </p:txBody>
      </p:sp>
      <p:sp>
        <p:nvSpPr>
          <p:cNvPr id="18" name="正方形/長方形 17"/>
          <p:cNvSpPr/>
          <p:nvPr/>
        </p:nvSpPr>
        <p:spPr>
          <a:xfrm>
            <a:off x="2170038" y="989684"/>
            <a:ext cx="5565924" cy="369332"/>
          </a:xfrm>
          <a:prstGeom prst="rect">
            <a:avLst/>
          </a:prstGeom>
        </p:spPr>
        <p:txBody>
          <a:bodyPr wrap="square">
            <a:spAutoFit/>
          </a:bodyPr>
          <a:lstStyle/>
          <a:p>
            <a:pPr algn="ctr" fontAlgn="base">
              <a:spcBef>
                <a:spcPct val="20000"/>
              </a:spcBef>
              <a:spcAft>
                <a:spcPct val="0"/>
              </a:spcAft>
              <a:defRPr>
                <a:latin typeface="メイリオ"/>
                <a:ea typeface="メイリオ"/>
                <a:cs typeface="メイリオ"/>
              </a:defRPr>
            </a:pPr>
            <a:r>
              <a:rPr lang="ja-JP" altLang="en-US" b="1" dirty="0">
                <a:solidFill>
                  <a:prstClr val="black"/>
                </a:solidFill>
                <a:latin typeface="メイリオ" charset="0"/>
                <a:ea typeface="メイリオ" charset="0"/>
                <a:cs typeface="メイリオ" charset="0"/>
              </a:rPr>
              <a:t>貴社の明るい未来に必ず貢献致します。</a:t>
            </a:r>
          </a:p>
        </p:txBody>
      </p:sp>
      <p:sp>
        <p:nvSpPr>
          <p:cNvPr id="14" name="正方形/長方形 13"/>
          <p:cNvSpPr/>
          <p:nvPr/>
        </p:nvSpPr>
        <p:spPr>
          <a:xfrm>
            <a:off x="382695" y="2698377"/>
            <a:ext cx="598220" cy="205890"/>
          </a:xfrm>
          <a:prstGeom prst="rect">
            <a:avLst/>
          </a:prstGeom>
        </p:spPr>
        <p:txBody>
          <a:bodyPr wrap="square">
            <a:spAutoFit/>
          </a:bodyPr>
          <a:lstStyle/>
          <a:p>
            <a:pPr algn="ctr" fontAlgn="base">
              <a:spcBef>
                <a:spcPct val="20000"/>
              </a:spcBef>
              <a:spcAft>
                <a:spcPct val="0"/>
              </a:spcAft>
              <a:defRPr>
                <a:latin typeface="メイリオ"/>
                <a:ea typeface="メイリオ"/>
                <a:cs typeface="メイリオ"/>
              </a:defRPr>
            </a:pPr>
            <a:r>
              <a:rPr lang="ja-JP" altLang="en-US" sz="738">
                <a:solidFill>
                  <a:srgbClr val="FFFFFF"/>
                </a:solidFill>
                <a:latin typeface="メイリオ" charset="0"/>
                <a:ea typeface="メイリオ" charset="0"/>
                <a:cs typeface="メイリオ" charset="0"/>
              </a:rPr>
              <a:t>本社</a:t>
            </a:r>
          </a:p>
        </p:txBody>
      </p:sp>
      <p:sp>
        <p:nvSpPr>
          <p:cNvPr id="15" name="正方形/長方形 14"/>
          <p:cNvSpPr/>
          <p:nvPr/>
        </p:nvSpPr>
        <p:spPr>
          <a:xfrm>
            <a:off x="368300" y="2355213"/>
            <a:ext cx="756684" cy="215444"/>
          </a:xfrm>
          <a:prstGeom prst="rect">
            <a:avLst/>
          </a:prstGeom>
        </p:spPr>
        <p:txBody>
          <a:bodyPr wrap="square">
            <a:spAutoFit/>
          </a:bodyPr>
          <a:lstStyle/>
          <a:p>
            <a:pPr algn="ctr" fontAlgn="base">
              <a:spcBef>
                <a:spcPct val="20000"/>
              </a:spcBef>
              <a:spcAft>
                <a:spcPct val="0"/>
              </a:spcAft>
              <a:defRPr>
                <a:latin typeface="メイリオ"/>
                <a:ea typeface="メイリオ"/>
                <a:cs typeface="メイリオ"/>
              </a:defRPr>
            </a:pPr>
            <a:r>
              <a:rPr lang="ja-JP" altLang="en-US" sz="800" dirty="0">
                <a:solidFill>
                  <a:srgbClr val="FFFFFF"/>
                </a:solidFill>
                <a:latin typeface="メイリオ" charset="0"/>
                <a:ea typeface="メイリオ" charset="0"/>
                <a:cs typeface="メイリオ" charset="0"/>
              </a:rPr>
              <a:t>本社</a:t>
            </a:r>
          </a:p>
        </p:txBody>
      </p:sp>
      <p:grpSp>
        <p:nvGrpSpPr>
          <p:cNvPr id="22" name="グループ化 21">
            <a:extLst>
              <a:ext uri="{FF2B5EF4-FFF2-40B4-BE49-F238E27FC236}">
                <a16:creationId xmlns:a16="http://schemas.microsoft.com/office/drawing/2014/main" id="{05A1AABC-CDB8-5B83-4CFD-649967A361BF}"/>
              </a:ext>
            </a:extLst>
          </p:cNvPr>
          <p:cNvGrpSpPr/>
          <p:nvPr/>
        </p:nvGrpSpPr>
        <p:grpSpPr>
          <a:xfrm>
            <a:off x="381002" y="1772817"/>
            <a:ext cx="9143999" cy="3314853"/>
            <a:chOff x="1" y="1772816"/>
            <a:chExt cx="9143999" cy="3314853"/>
          </a:xfrm>
        </p:grpSpPr>
        <p:pic>
          <p:nvPicPr>
            <p:cNvPr id="21" name="図 20" descr="ポーズをとる男性グループ&#10;&#10;自動的に生成された説明">
              <a:extLst>
                <a:ext uri="{FF2B5EF4-FFF2-40B4-BE49-F238E27FC236}">
                  <a16:creationId xmlns:a16="http://schemas.microsoft.com/office/drawing/2014/main" id="{4927F40E-D146-C638-5583-C9DC2984722E}"/>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3642" r="4076"/>
            <a:stretch/>
          </p:blipFill>
          <p:spPr>
            <a:xfrm>
              <a:off x="6973793" y="3518745"/>
              <a:ext cx="2170207" cy="1567781"/>
            </a:xfrm>
            <a:prstGeom prst="rect">
              <a:avLst/>
            </a:prstGeom>
          </p:spPr>
        </p:pic>
        <p:pic>
          <p:nvPicPr>
            <p:cNvPr id="16" name="図 15" descr="白いシャツを着ている男性&#10;&#10;中程度の精度で自動的に生成された説明">
              <a:extLst>
                <a:ext uri="{FF2B5EF4-FFF2-40B4-BE49-F238E27FC236}">
                  <a16:creationId xmlns:a16="http://schemas.microsoft.com/office/drawing/2014/main" id="{2ECDFCA7-8611-D865-F999-FDCD0EC21269}"/>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983808" y="3519888"/>
              <a:ext cx="1989985" cy="1567781"/>
            </a:xfrm>
            <a:prstGeom prst="rect">
              <a:avLst/>
            </a:prstGeom>
          </p:spPr>
        </p:pic>
        <p:pic>
          <p:nvPicPr>
            <p:cNvPr id="10" name="図 9" descr="スーツを着た男性たち&#10;&#10;自動的に生成された説明">
              <a:extLst>
                <a:ext uri="{FF2B5EF4-FFF2-40B4-BE49-F238E27FC236}">
                  <a16:creationId xmlns:a16="http://schemas.microsoft.com/office/drawing/2014/main" id="{9D3AD52A-1514-4350-FFDD-09984B3666E2}"/>
                </a:ext>
              </a:extLst>
            </p:cNvPr>
            <p:cNvPicPr>
              <a:picLocks noChangeAspect="1"/>
            </p:cNvPicPr>
            <p:nvPr/>
          </p:nvPicPr>
          <p:blipFill rotWithShape="1">
            <a:blip r:embed="rId6" cstate="print">
              <a:extLst>
                <a:ext uri="{28A0092B-C50C-407E-A947-70E740481C1C}">
                  <a14:useLocalDpi xmlns:a14="http://schemas.microsoft.com/office/drawing/2010/main" val="0"/>
                </a:ext>
              </a:extLst>
            </a:blip>
            <a:srcRect l="10703" r="10363"/>
            <a:stretch/>
          </p:blipFill>
          <p:spPr>
            <a:xfrm>
              <a:off x="7299681" y="1773979"/>
              <a:ext cx="1842624" cy="1745909"/>
            </a:xfrm>
            <a:prstGeom prst="rect">
              <a:avLst/>
            </a:prstGeom>
          </p:spPr>
        </p:pic>
        <p:pic>
          <p:nvPicPr>
            <p:cNvPr id="7" name="図 6" descr="講堂にいる人たち&#10;&#10;中程度の精度で自動的に生成された説明">
              <a:extLst>
                <a:ext uri="{FF2B5EF4-FFF2-40B4-BE49-F238E27FC236}">
                  <a16:creationId xmlns:a16="http://schemas.microsoft.com/office/drawing/2014/main" id="{B1CA0DFF-0DAF-D5BD-8D9F-8AFB103E2698}"/>
                </a:ext>
              </a:extLst>
            </p:cNvPr>
            <p:cNvPicPr>
              <a:picLocks noChangeAspect="1"/>
            </p:cNvPicPr>
            <p:nvPr/>
          </p:nvPicPr>
          <p:blipFill rotWithShape="1">
            <a:blip r:embed="rId7" cstate="print">
              <a:extLst>
                <a:ext uri="{28A0092B-C50C-407E-A947-70E740481C1C}">
                  <a14:useLocalDpi xmlns:a14="http://schemas.microsoft.com/office/drawing/2010/main" val="0"/>
                </a:ext>
              </a:extLst>
            </a:blip>
            <a:srcRect l="2512" t="12879" r="2477"/>
            <a:stretch/>
          </p:blipFill>
          <p:spPr>
            <a:xfrm>
              <a:off x="1" y="1772816"/>
              <a:ext cx="5089778" cy="3314853"/>
            </a:xfrm>
            <a:prstGeom prst="rect">
              <a:avLst/>
            </a:prstGeom>
          </p:spPr>
        </p:pic>
        <p:pic>
          <p:nvPicPr>
            <p:cNvPr id="11" name="図 10" descr="スーツを着た男性グループの写真&#10;&#10;低い精度で自動的に生成された説明">
              <a:extLst>
                <a:ext uri="{FF2B5EF4-FFF2-40B4-BE49-F238E27FC236}">
                  <a16:creationId xmlns:a16="http://schemas.microsoft.com/office/drawing/2014/main" id="{FEFAFF33-EFBF-C67E-586A-08D93AF295F8}"/>
                </a:ext>
              </a:extLst>
            </p:cNvPr>
            <p:cNvPicPr>
              <a:picLocks noChangeAspect="1"/>
            </p:cNvPicPr>
            <p:nvPr/>
          </p:nvPicPr>
          <p:blipFill rotWithShape="1">
            <a:blip r:embed="rId8" cstate="print">
              <a:extLst>
                <a:ext uri="{28A0092B-C50C-407E-A947-70E740481C1C}">
                  <a14:useLocalDpi xmlns:a14="http://schemas.microsoft.com/office/drawing/2010/main" val="0"/>
                </a:ext>
              </a:extLst>
            </a:blip>
            <a:srcRect l="8595" r="6763"/>
            <a:stretch/>
          </p:blipFill>
          <p:spPr>
            <a:xfrm>
              <a:off x="5089779" y="1772836"/>
              <a:ext cx="2215315" cy="1745909"/>
            </a:xfrm>
            <a:prstGeom prst="rect">
              <a:avLst/>
            </a:prstGeom>
          </p:spPr>
        </p:pic>
      </p:grpSp>
      <p:sp>
        <p:nvSpPr>
          <p:cNvPr id="6" name="正方形/長方形 5">
            <a:extLst>
              <a:ext uri="{FF2B5EF4-FFF2-40B4-BE49-F238E27FC236}">
                <a16:creationId xmlns:a16="http://schemas.microsoft.com/office/drawing/2014/main" id="{238B92EF-519D-929F-4345-5BAC445EF234}"/>
              </a:ext>
            </a:extLst>
          </p:cNvPr>
          <p:cNvSpPr/>
          <p:nvPr/>
        </p:nvSpPr>
        <p:spPr>
          <a:xfrm>
            <a:off x="128016" y="6620256"/>
            <a:ext cx="2852928" cy="237744"/>
          </a:xfrm>
          <a:prstGeom prst="rect">
            <a:avLst/>
          </a:prstGeom>
          <a:solidFill>
            <a:srgbClr val="191F54"/>
          </a:solidFill>
          <a:ln>
            <a:solidFill>
              <a:srgbClr val="1025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2" name="正方形/長方形 1">
            <a:extLst>
              <a:ext uri="{FF2B5EF4-FFF2-40B4-BE49-F238E27FC236}">
                <a16:creationId xmlns:a16="http://schemas.microsoft.com/office/drawing/2014/main" id="{A949B271-D24D-666E-90F2-EA616E1EABC2}"/>
              </a:ext>
            </a:extLst>
          </p:cNvPr>
          <p:cNvSpPr/>
          <p:nvPr/>
        </p:nvSpPr>
        <p:spPr>
          <a:xfrm>
            <a:off x="368300" y="0"/>
            <a:ext cx="9537700" cy="514974"/>
          </a:xfrm>
          <a:prstGeom prst="rect">
            <a:avLst/>
          </a:prstGeom>
          <a:solidFill>
            <a:schemeClr val="bg1"/>
          </a:solidFill>
          <a:ln>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Tree>
    <p:extLst>
      <p:ext uri="{BB962C8B-B14F-4D97-AF65-F5344CB8AC3E}">
        <p14:creationId xmlns:p14="http://schemas.microsoft.com/office/powerpoint/2010/main" val="4185355464"/>
      </p:ext>
    </p:extLst>
  </p:cSld>
  <p:clrMapOvr>
    <a:masterClrMapping/>
  </p:clrMapOvr>
  <p:transition spd="slow"/>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7A8046-1654-094B-8F5D-E4DEE3745960}"/>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70E0618D-3216-35E4-D4C4-66DD232D8277}"/>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資料アジェンダ</a:t>
            </a:r>
          </a:p>
        </p:txBody>
      </p:sp>
      <p:sp>
        <p:nvSpPr>
          <p:cNvPr id="2" name="正方形/長方形 1">
            <a:extLst>
              <a:ext uri="{FF2B5EF4-FFF2-40B4-BE49-F238E27FC236}">
                <a16:creationId xmlns:a16="http://schemas.microsoft.com/office/drawing/2014/main" id="{87478A58-B30A-B13E-22E3-8D83CCAF592E}"/>
              </a:ext>
            </a:extLst>
          </p:cNvPr>
          <p:cNvSpPr/>
          <p:nvPr/>
        </p:nvSpPr>
        <p:spPr>
          <a:xfrm>
            <a:off x="841248" y="3038203"/>
            <a:ext cx="8229600" cy="584775"/>
          </a:xfrm>
          <a:prstGeom prst="rect">
            <a:avLst/>
          </a:prstGeom>
        </p:spPr>
        <p:txBody>
          <a:bodyPr wrap="none">
            <a:spAutoFit/>
          </a:bodyPr>
          <a:lstStyle/>
          <a:p>
            <a:pPr algn="ct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補足資料・その他サービス</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400066798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C5A5A4-75AD-516A-9D25-18F8EF002C9C}"/>
            </a:ext>
          </a:extLst>
        </p:cNvPr>
        <p:cNvGrpSpPr/>
        <p:nvPr/>
      </p:nvGrpSpPr>
      <p:grpSpPr>
        <a:xfrm>
          <a:off x="0" y="0"/>
          <a:ext cx="0" cy="0"/>
          <a:chOff x="0" y="0"/>
          <a:chExt cx="0" cy="0"/>
        </a:xfrm>
      </p:grpSpPr>
      <p:sp>
        <p:nvSpPr>
          <p:cNvPr id="6" name="Google Shape;752;p28">
            <a:extLst>
              <a:ext uri="{FF2B5EF4-FFF2-40B4-BE49-F238E27FC236}">
                <a16:creationId xmlns:a16="http://schemas.microsoft.com/office/drawing/2014/main" id="{0308A94D-067F-5D10-BF02-6777DD32E821}"/>
              </a:ext>
            </a:extLst>
          </p:cNvPr>
          <p:cNvSpPr txBox="1"/>
          <p:nvPr/>
        </p:nvSpPr>
        <p:spPr>
          <a:xfrm>
            <a:off x="548883" y="138137"/>
            <a:ext cx="7027574" cy="338514"/>
          </a:xfrm>
          <a:prstGeom prst="rect">
            <a:avLst/>
          </a:prstGeom>
          <a:noFill/>
          <a:ln>
            <a:noFill/>
          </a:ln>
        </p:spPr>
        <p:txBody>
          <a:bodyPr spcFirstLastPara="1" wrap="square" lIns="91425" tIns="45700" rIns="91425" bIns="45700" anchor="ctr" anchorCtr="0">
            <a:spAutoFit/>
          </a:bodyPr>
          <a:lstStyle/>
          <a:p>
            <a:pPr lvl="0"/>
            <a:r>
              <a:rPr lang="en-US" altLang="ja-JP" sz="1600" b="1" dirty="0">
                <a:solidFill>
                  <a:schemeClr val="tx1">
                    <a:lumMod val="50000"/>
                    <a:lumOff val="50000"/>
                  </a:schemeClr>
                </a:solidFill>
                <a:latin typeface="メイリオ"/>
                <a:ea typeface="メイリオ"/>
                <a:cs typeface="メイリオ"/>
                <a:sym typeface="Meiryo"/>
              </a:rPr>
              <a:t>LINE</a:t>
            </a:r>
            <a:r>
              <a:rPr lang="ja-JP" altLang="en-US" sz="1600" b="1" dirty="0">
                <a:solidFill>
                  <a:schemeClr val="tx1">
                    <a:lumMod val="50000"/>
                    <a:lumOff val="50000"/>
                  </a:schemeClr>
                </a:solidFill>
                <a:latin typeface="メイリオ"/>
                <a:ea typeface="メイリオ"/>
                <a:cs typeface="メイリオ"/>
                <a:sym typeface="Meiryo"/>
              </a:rPr>
              <a:t>施策における重要な考え方</a:t>
            </a:r>
            <a:endParaRPr lang="en-US" altLang="ja-JP" sz="1600" b="1" dirty="0">
              <a:solidFill>
                <a:schemeClr val="tx1">
                  <a:lumMod val="50000"/>
                  <a:lumOff val="50000"/>
                </a:schemeClr>
              </a:solidFill>
              <a:latin typeface="メイリオ"/>
              <a:ea typeface="メイリオ"/>
              <a:cs typeface="メイリオ"/>
              <a:sym typeface="Meiryo"/>
            </a:endParaRPr>
          </a:p>
        </p:txBody>
      </p:sp>
      <p:sp>
        <p:nvSpPr>
          <p:cNvPr id="7" name="正方形/長方形 6">
            <a:extLst>
              <a:ext uri="{FF2B5EF4-FFF2-40B4-BE49-F238E27FC236}">
                <a16:creationId xmlns:a16="http://schemas.microsoft.com/office/drawing/2014/main" id="{31489518-639C-6F8B-3CC2-E3A3D82066B2}"/>
              </a:ext>
            </a:extLst>
          </p:cNvPr>
          <p:cNvSpPr/>
          <p:nvPr/>
        </p:nvSpPr>
        <p:spPr>
          <a:xfrm>
            <a:off x="275003" y="1728082"/>
            <a:ext cx="9355994" cy="1391288"/>
          </a:xfrm>
          <a:prstGeom prst="rect">
            <a:avLst/>
          </a:prstGeom>
          <a:solidFill>
            <a:schemeClr val="accent1">
              <a:lumMod val="20000"/>
              <a:lumOff val="80000"/>
            </a:schemeClr>
          </a:solidFill>
          <a:ln w="2222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pPr algn="ctr"/>
            <a:r>
              <a:rPr lang="ja-JP" altLang="en-US" sz="2400" b="1"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既存友だち</a:t>
            </a: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のメッセージ配信を拡大＆検証し</a:t>
            </a:r>
            <a:endParaRPr lang="en-US" altLang="ja-JP" sz="2400"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a:p>
            <a:pPr algn="ct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課金対効果を向上する</a:t>
            </a:r>
          </a:p>
        </p:txBody>
      </p:sp>
      <p:sp>
        <p:nvSpPr>
          <p:cNvPr id="9" name="正方形/長方形 8">
            <a:extLst>
              <a:ext uri="{FF2B5EF4-FFF2-40B4-BE49-F238E27FC236}">
                <a16:creationId xmlns:a16="http://schemas.microsoft.com/office/drawing/2014/main" id="{DD339252-F691-EA9D-983C-6241C7AABA77}"/>
              </a:ext>
            </a:extLst>
          </p:cNvPr>
          <p:cNvSpPr/>
          <p:nvPr/>
        </p:nvSpPr>
        <p:spPr>
          <a:xfrm>
            <a:off x="275003" y="3221875"/>
            <a:ext cx="9355994" cy="1391288"/>
          </a:xfrm>
          <a:prstGeom prst="rect">
            <a:avLst/>
          </a:prstGeom>
          <a:solidFill>
            <a:schemeClr val="accent1">
              <a:lumMod val="20000"/>
              <a:lumOff val="80000"/>
            </a:schemeClr>
          </a:solidFill>
          <a:ln w="2222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pPr algn="ctr"/>
            <a:r>
              <a:rPr lang="ja-JP" altLang="en-US" sz="2400" b="1"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新規友だち</a:t>
            </a: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の追加動線を拡大</a:t>
            </a:r>
            <a:r>
              <a:rPr lang="en-US" altLang="ja-JP" sz="2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&amp;</a:t>
            </a: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整備し</a:t>
            </a:r>
            <a:endParaRPr lang="en-US" altLang="ja-JP" sz="2400"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a:p>
            <a:pPr algn="ct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見込みの高いユーザーのリードを獲得する</a:t>
            </a:r>
          </a:p>
        </p:txBody>
      </p:sp>
      <p:cxnSp>
        <p:nvCxnSpPr>
          <p:cNvPr id="10" name="直線コネクタ 9">
            <a:extLst>
              <a:ext uri="{FF2B5EF4-FFF2-40B4-BE49-F238E27FC236}">
                <a16:creationId xmlns:a16="http://schemas.microsoft.com/office/drawing/2014/main" id="{71A329C6-D6CA-D19E-C8A2-D6D234F2FA53}"/>
              </a:ext>
            </a:extLst>
          </p:cNvPr>
          <p:cNvCxnSpPr/>
          <p:nvPr/>
        </p:nvCxnSpPr>
        <p:spPr>
          <a:xfrm>
            <a:off x="1519747" y="1452035"/>
            <a:ext cx="6578990"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13" name="楕円 12">
            <a:extLst>
              <a:ext uri="{FF2B5EF4-FFF2-40B4-BE49-F238E27FC236}">
                <a16:creationId xmlns:a16="http://schemas.microsoft.com/office/drawing/2014/main" id="{718487F9-9129-0E91-A220-B2EF077840F3}"/>
              </a:ext>
            </a:extLst>
          </p:cNvPr>
          <p:cNvSpPr/>
          <p:nvPr/>
        </p:nvSpPr>
        <p:spPr>
          <a:xfrm>
            <a:off x="3756183" y="751045"/>
            <a:ext cx="2022158" cy="589765"/>
          </a:xfrm>
          <a:prstGeom prst="ellipse">
            <a:avLst/>
          </a:prstGeom>
          <a:solidFill>
            <a:schemeClr val="accent1">
              <a:lumMod val="40000"/>
              <a:lumOff val="60000"/>
              <a:alpha val="4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pPr algn="ctr"/>
            <a:endParaRPr kumimoji="1" lang="ja-JP" altLang="en-US">
              <a:solidFill>
                <a:schemeClr val="tx1">
                  <a:lumMod val="50000"/>
                  <a:lumOff val="50000"/>
                </a:schemeClr>
              </a:solidFill>
              <a:latin typeface="メイリオ"/>
              <a:ea typeface="メイリオ"/>
              <a:cs typeface="メイリオ"/>
            </a:endParaRPr>
          </a:p>
        </p:txBody>
      </p:sp>
      <p:sp>
        <p:nvSpPr>
          <p:cNvPr id="14" name="正方形/長方形 13">
            <a:extLst>
              <a:ext uri="{FF2B5EF4-FFF2-40B4-BE49-F238E27FC236}">
                <a16:creationId xmlns:a16="http://schemas.microsoft.com/office/drawing/2014/main" id="{D2F1E1CA-9D65-A02D-917C-CB72A01459A6}"/>
              </a:ext>
            </a:extLst>
          </p:cNvPr>
          <p:cNvSpPr/>
          <p:nvPr/>
        </p:nvSpPr>
        <p:spPr>
          <a:xfrm>
            <a:off x="1502508" y="842812"/>
            <a:ext cx="6647975" cy="461665"/>
          </a:xfrm>
          <a:prstGeom prst="rect">
            <a:avLst/>
          </a:prstGeom>
        </p:spPr>
        <p:txBody>
          <a:bodyPr wrap="none">
            <a:spAutoFit/>
          </a:bodyPr>
          <a:lstStyle>
            <a:defPPr>
              <a:defRPr lang="ja-JP">
                <a:latin typeface="メイリオ"/>
                <a:ea typeface="メイリオ"/>
                <a:cs typeface="メイリオ"/>
              </a:defRPr>
            </a:defPPr>
            <a:lvl1pPr marL="0" algn="l" defTabSz="914400" rtl="0" eaLnBrk="1" latinLnBrk="0" hangingPunct="1">
              <a:defRPr kumimoji="1" sz="1800" kern="1200">
                <a:solidFill>
                  <a:schemeClr val="tx1"/>
                </a:solidFill>
                <a:latin typeface="メイリオ"/>
                <a:ea typeface="メイリオ"/>
                <a:cs typeface="メイリオ"/>
              </a:defRPr>
            </a:lvl1pPr>
            <a:lvl2pPr marL="457200" algn="l" defTabSz="914400" rtl="0" eaLnBrk="1" latinLnBrk="0" hangingPunct="1">
              <a:defRPr kumimoji="1" sz="1800" kern="1200">
                <a:solidFill>
                  <a:schemeClr val="tx1"/>
                </a:solidFill>
                <a:latin typeface="メイリオ"/>
                <a:ea typeface="メイリオ"/>
                <a:cs typeface="メイリオ"/>
              </a:defRPr>
            </a:lvl2pPr>
            <a:lvl3pPr marL="914400" algn="l" defTabSz="914400" rtl="0" eaLnBrk="1" latinLnBrk="0" hangingPunct="1">
              <a:defRPr kumimoji="1" sz="1800" kern="1200">
                <a:solidFill>
                  <a:schemeClr val="tx1"/>
                </a:solidFill>
                <a:latin typeface="メイリオ"/>
                <a:ea typeface="メイリオ"/>
                <a:cs typeface="メイリオ"/>
              </a:defRPr>
            </a:lvl3pPr>
            <a:lvl4pPr marL="1371600" algn="l" defTabSz="914400" rtl="0" eaLnBrk="1" latinLnBrk="0" hangingPunct="1">
              <a:defRPr kumimoji="1" sz="1800" kern="1200">
                <a:solidFill>
                  <a:schemeClr val="tx1"/>
                </a:solidFill>
                <a:latin typeface="メイリオ"/>
                <a:ea typeface="メイリオ"/>
                <a:cs typeface="メイリオ"/>
              </a:defRPr>
            </a:lvl4pPr>
            <a:lvl5pPr marL="1828800" algn="l" defTabSz="914400" rtl="0" eaLnBrk="1" latinLnBrk="0" hangingPunct="1">
              <a:defRPr kumimoji="1" sz="1800" kern="1200">
                <a:solidFill>
                  <a:schemeClr val="tx1"/>
                </a:solidFill>
                <a:latin typeface="メイリオ"/>
                <a:ea typeface="メイリオ"/>
                <a:cs typeface="メイリオ"/>
              </a:defRPr>
            </a:lvl5pPr>
            <a:lvl6pPr marL="2286000" algn="l" defTabSz="914400" rtl="0" eaLnBrk="1" latinLnBrk="0" hangingPunct="1">
              <a:defRPr kumimoji="1" sz="1800" kern="1200">
                <a:solidFill>
                  <a:schemeClr val="tx1"/>
                </a:solidFill>
                <a:latin typeface="メイリオ"/>
                <a:ea typeface="メイリオ"/>
                <a:cs typeface="メイリオ"/>
              </a:defRPr>
            </a:lvl6pPr>
            <a:lvl7pPr marL="2743200" algn="l" defTabSz="914400" rtl="0" eaLnBrk="1" latinLnBrk="0" hangingPunct="1">
              <a:defRPr kumimoji="1" sz="1800" kern="1200">
                <a:solidFill>
                  <a:schemeClr val="tx1"/>
                </a:solidFill>
                <a:latin typeface="メイリオ"/>
                <a:ea typeface="メイリオ"/>
                <a:cs typeface="メイリオ"/>
              </a:defRPr>
            </a:lvl7pPr>
            <a:lvl8pPr marL="3200400" algn="l" defTabSz="914400" rtl="0" eaLnBrk="1" latinLnBrk="0" hangingPunct="1">
              <a:defRPr kumimoji="1" sz="1800" kern="1200">
                <a:solidFill>
                  <a:schemeClr val="tx1"/>
                </a:solidFill>
                <a:latin typeface="メイリオ"/>
                <a:ea typeface="メイリオ"/>
                <a:cs typeface="メイリオ"/>
              </a:defRPr>
            </a:lvl8pPr>
            <a:lvl9pPr marL="3657600" algn="l" defTabSz="914400" rtl="0" eaLnBrk="1" latinLnBrk="0" hangingPunct="1">
              <a:defRPr kumimoji="1" sz="1800" kern="1200">
                <a:solidFill>
                  <a:schemeClr val="tx1"/>
                </a:solidFill>
                <a:latin typeface="メイリオ"/>
                <a:ea typeface="メイリオ"/>
                <a:cs typeface="メイリオ"/>
              </a:defRPr>
            </a:lvl9pPr>
          </a:lstStyle>
          <a:p>
            <a:pPr algn="ctr"/>
            <a:r>
              <a:rPr lang="ja-JP" altLang="en-US" sz="2400" b="1"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アカウント効果を</a:t>
            </a:r>
            <a:r>
              <a:rPr lang="ja-JP" altLang="en-US" sz="2400" b="1" dirty="0">
                <a:latin typeface="メイリオ" panose="020B0604030504040204" pitchFamily="50" charset="-128"/>
                <a:ea typeface="メイリオ" panose="020B0604030504040204" pitchFamily="50" charset="-128"/>
                <a:cs typeface="メイリオ"/>
              </a:rPr>
              <a:t>最大化する</a:t>
            </a: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ためには・・・？</a:t>
            </a:r>
          </a:p>
        </p:txBody>
      </p:sp>
      <p:sp>
        <p:nvSpPr>
          <p:cNvPr id="15" name="下矢印 1">
            <a:extLst>
              <a:ext uri="{FF2B5EF4-FFF2-40B4-BE49-F238E27FC236}">
                <a16:creationId xmlns:a16="http://schemas.microsoft.com/office/drawing/2014/main" id="{453026E5-FC32-AC14-0437-B9F8A5DB717B}"/>
              </a:ext>
            </a:extLst>
          </p:cNvPr>
          <p:cNvSpPr/>
          <p:nvPr/>
        </p:nvSpPr>
        <p:spPr>
          <a:xfrm>
            <a:off x="3379742" y="4715668"/>
            <a:ext cx="3196046" cy="421640"/>
          </a:xfrm>
          <a:prstGeom prst="downArrow">
            <a:avLst>
              <a:gd name="adj1" fmla="val 50000"/>
              <a:gd name="adj2" fmla="val 52758"/>
            </a:avLst>
          </a:prstGeom>
          <a:solidFill>
            <a:schemeClr val="bg1">
              <a:lumMod val="9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pPr algn="ctr"/>
            <a:endParaRPr kumimoji="1" lang="ja-JP" altLang="en-US">
              <a:solidFill>
                <a:schemeClr val="tx1">
                  <a:lumMod val="50000"/>
                  <a:lumOff val="50000"/>
                </a:schemeClr>
              </a:solidFill>
              <a:latin typeface="メイリオ"/>
              <a:ea typeface="メイリオ"/>
              <a:cs typeface="メイリオ"/>
            </a:endParaRPr>
          </a:p>
        </p:txBody>
      </p:sp>
      <p:sp>
        <p:nvSpPr>
          <p:cNvPr id="19" name="正方形/長方形 18">
            <a:extLst>
              <a:ext uri="{FF2B5EF4-FFF2-40B4-BE49-F238E27FC236}">
                <a16:creationId xmlns:a16="http://schemas.microsoft.com/office/drawing/2014/main" id="{ED0D0284-90AC-92C0-335B-D83B919080B0}"/>
              </a:ext>
            </a:extLst>
          </p:cNvPr>
          <p:cNvSpPr/>
          <p:nvPr/>
        </p:nvSpPr>
        <p:spPr>
          <a:xfrm>
            <a:off x="275003" y="5239812"/>
            <a:ext cx="9355994" cy="867143"/>
          </a:xfrm>
          <a:prstGeom prst="rect">
            <a:avLst/>
          </a:prstGeom>
          <a:solidFill>
            <a:schemeClr val="accent1">
              <a:lumMod val="20000"/>
              <a:lumOff val="80000"/>
            </a:schemeClr>
          </a:solidFill>
          <a:ln w="2222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pPr algn="ctr"/>
            <a:r>
              <a:rPr lang="en-US" altLang="ja-JP" sz="2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WEB</a:t>
            </a: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サイト上情報と連携させ、配信効果を数値化する</a:t>
            </a:r>
          </a:p>
        </p:txBody>
      </p:sp>
    </p:spTree>
    <p:extLst>
      <p:ext uri="{BB962C8B-B14F-4D97-AF65-F5344CB8AC3E}">
        <p14:creationId xmlns:p14="http://schemas.microsoft.com/office/powerpoint/2010/main" val="97095852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B579F4-FB71-CB84-349D-670C2D29F6A3}"/>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4B1E45AF-D1E3-4DBA-4BB7-0857F699B7A8}"/>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 name="正方形/長方形 3">
            <a:extLst>
              <a:ext uri="{FF2B5EF4-FFF2-40B4-BE49-F238E27FC236}">
                <a16:creationId xmlns:a16="http://schemas.microsoft.com/office/drawing/2014/main" id="{C6D5128D-AC86-A618-019E-D9FA2B942550}"/>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cs typeface="メイリオ"/>
              </a:rPr>
              <a:t>ファン化・自社アプリ登録に対して、</a:t>
            </a:r>
            <a:r>
              <a:rPr lang="en-US" altLang="ja-JP" sz="1400" dirty="0">
                <a:solidFill>
                  <a:srgbClr val="343434"/>
                </a:solidFill>
                <a:latin typeface="メイリオ" panose="020B0604030504040204" pitchFamily="50" charset="-128"/>
                <a:ea typeface="メイリオ" panose="020B0604030504040204" pitchFamily="50" charset="-128"/>
                <a:cs typeface="メイリオ"/>
              </a:rPr>
              <a:t>”</a:t>
            </a:r>
            <a:r>
              <a:rPr lang="ja-JP" altLang="en-US" sz="1400" dirty="0">
                <a:solidFill>
                  <a:srgbClr val="343434"/>
                </a:solidFill>
                <a:latin typeface="メイリオ" panose="020B0604030504040204" pitchFamily="50" charset="-128"/>
                <a:ea typeface="メイリオ" panose="020B0604030504040204" pitchFamily="50" charset="-128"/>
                <a:cs typeface="メイリオ"/>
              </a:rPr>
              <a:t>ハードルが高く感じる</a:t>
            </a:r>
            <a:r>
              <a:rPr lang="en-US" altLang="ja-JP" sz="1400" dirty="0">
                <a:solidFill>
                  <a:srgbClr val="343434"/>
                </a:solidFill>
                <a:latin typeface="メイリオ" panose="020B0604030504040204" pitchFamily="50" charset="-128"/>
                <a:ea typeface="メイリオ" panose="020B0604030504040204" pitchFamily="50" charset="-128"/>
                <a:cs typeface="メイリオ"/>
              </a:rPr>
              <a:t>”</a:t>
            </a:r>
            <a:r>
              <a:rPr lang="ja-JP" altLang="en-US" sz="1400" dirty="0">
                <a:solidFill>
                  <a:srgbClr val="343434"/>
                </a:solidFill>
                <a:latin typeface="メイリオ" panose="020B0604030504040204" pitchFamily="50" charset="-128"/>
                <a:ea typeface="メイリオ" panose="020B0604030504040204" pitchFamily="50" charset="-128"/>
                <a:cs typeface="メイリオ"/>
              </a:rPr>
              <a:t>ユーザーが増えている状況。</a:t>
            </a: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cs typeface="メイリオ"/>
              </a:rPr>
              <a:t>離脱防止 </a:t>
            </a:r>
            <a:r>
              <a:rPr lang="en-US" altLang="ja-JP" sz="1400" dirty="0">
                <a:solidFill>
                  <a:srgbClr val="343434"/>
                </a:solidFill>
                <a:latin typeface="メイリオ" panose="020B0604030504040204" pitchFamily="50" charset="-128"/>
                <a:ea typeface="メイリオ" panose="020B0604030504040204" pitchFamily="50" charset="-128"/>
                <a:cs typeface="メイリオ"/>
              </a:rPr>
              <a:t>&gt;&gt; </a:t>
            </a:r>
            <a:r>
              <a:rPr lang="ja-JP" altLang="en-US" sz="1400" dirty="0">
                <a:solidFill>
                  <a:srgbClr val="343434"/>
                </a:solidFill>
                <a:latin typeface="メイリオ" panose="020B0604030504040204" pitchFamily="50" charset="-128"/>
                <a:ea typeface="メイリオ" panose="020B0604030504040204" pitchFamily="50" charset="-128"/>
                <a:cs typeface="メイリオ"/>
              </a:rPr>
              <a:t>友だち追加 </a:t>
            </a:r>
            <a:r>
              <a:rPr lang="en-US" altLang="ja-JP" sz="1400" dirty="0">
                <a:solidFill>
                  <a:srgbClr val="343434"/>
                </a:solidFill>
                <a:latin typeface="メイリオ" panose="020B0604030504040204" pitchFamily="50" charset="-128"/>
                <a:ea typeface="メイリオ" panose="020B0604030504040204" pitchFamily="50" charset="-128"/>
                <a:cs typeface="メイリオ"/>
              </a:rPr>
              <a:t>&gt;&gt; LINE</a:t>
            </a:r>
            <a:r>
              <a:rPr lang="ja-JP" altLang="en-US" sz="1400" dirty="0">
                <a:solidFill>
                  <a:srgbClr val="343434"/>
                </a:solidFill>
                <a:latin typeface="メイリオ" panose="020B0604030504040204" pitchFamily="50" charset="-128"/>
                <a:ea typeface="メイリオ" panose="020B0604030504040204" pitchFamily="50" charset="-128"/>
                <a:cs typeface="メイリオ"/>
              </a:rPr>
              <a:t>で学習 </a:t>
            </a:r>
            <a:r>
              <a:rPr lang="en-US" altLang="ja-JP" sz="1400" dirty="0">
                <a:solidFill>
                  <a:srgbClr val="343434"/>
                </a:solidFill>
                <a:latin typeface="メイリオ" panose="020B0604030504040204" pitchFamily="50" charset="-128"/>
                <a:ea typeface="メイリオ" panose="020B0604030504040204" pitchFamily="50" charset="-128"/>
                <a:cs typeface="メイリオ"/>
              </a:rPr>
              <a:t>&gt;&gt; </a:t>
            </a:r>
            <a:r>
              <a:rPr lang="ja-JP" altLang="en-US" sz="1400" dirty="0">
                <a:solidFill>
                  <a:srgbClr val="343434"/>
                </a:solidFill>
                <a:latin typeface="メイリオ" panose="020B0604030504040204" pitchFamily="50" charset="-128"/>
                <a:ea typeface="メイリオ" panose="020B0604030504040204" pitchFamily="50" charset="-128"/>
                <a:cs typeface="メイリオ"/>
              </a:rPr>
              <a:t>リード獲得・利用 の導線設計でハードル抑えつつ運営が可能。</a:t>
            </a: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cxnSp>
        <p:nvCxnSpPr>
          <p:cNvPr id="5" name="直線コネクタ 4">
            <a:extLst>
              <a:ext uri="{FF2B5EF4-FFF2-40B4-BE49-F238E27FC236}">
                <a16:creationId xmlns:a16="http://schemas.microsoft.com/office/drawing/2014/main" id="{5C1533E1-7172-D6F9-4659-AAF59CE221F1}"/>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5" name="Google Shape;156;p7">
            <a:extLst>
              <a:ext uri="{FF2B5EF4-FFF2-40B4-BE49-F238E27FC236}">
                <a16:creationId xmlns:a16="http://schemas.microsoft.com/office/drawing/2014/main" id="{5303208C-F2F3-3716-B706-B8EDA63E9750}"/>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en-US" altLang="ja-JP" sz="1600" b="1" dirty="0">
                <a:solidFill>
                  <a:srgbClr val="002060"/>
                </a:solidFill>
                <a:latin typeface="メイリオ"/>
                <a:ea typeface="メイリオ"/>
                <a:cs typeface="メイリオ"/>
                <a:sym typeface="Meiryo"/>
              </a:rPr>
              <a:t>LINE</a:t>
            </a:r>
            <a:r>
              <a:rPr lang="ja-JP" altLang="en-US" sz="1600" b="1" dirty="0">
                <a:solidFill>
                  <a:srgbClr val="002060"/>
                </a:solidFill>
                <a:latin typeface="メイリオ"/>
                <a:ea typeface="メイリオ"/>
                <a:cs typeface="メイリオ"/>
                <a:sym typeface="Meiryo"/>
              </a:rPr>
              <a:t>公式アカウントを検討する背景</a:t>
            </a:r>
            <a:endParaRPr sz="1600" b="1" dirty="0">
              <a:solidFill>
                <a:srgbClr val="002060"/>
              </a:solidFill>
              <a:latin typeface="メイリオ"/>
              <a:ea typeface="メイリオ"/>
              <a:cs typeface="メイリオ"/>
              <a:sym typeface="Meiryo"/>
            </a:endParaRPr>
          </a:p>
        </p:txBody>
      </p:sp>
      <p:sp>
        <p:nvSpPr>
          <p:cNvPr id="2" name="台形 1">
            <a:extLst>
              <a:ext uri="{FF2B5EF4-FFF2-40B4-BE49-F238E27FC236}">
                <a16:creationId xmlns:a16="http://schemas.microsoft.com/office/drawing/2014/main" id="{6CEEA445-8026-0C8A-48B1-72329CC0C762}"/>
              </a:ext>
            </a:extLst>
          </p:cNvPr>
          <p:cNvSpPr/>
          <p:nvPr/>
        </p:nvSpPr>
        <p:spPr>
          <a:xfrm rot="10800000">
            <a:off x="548883" y="1844173"/>
            <a:ext cx="3274466" cy="604240"/>
          </a:xfrm>
          <a:prstGeom prst="trapezoid">
            <a:avLst/>
          </a:prstGeom>
          <a:solidFill>
            <a:schemeClr val="tx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6" name="台形 5">
            <a:extLst>
              <a:ext uri="{FF2B5EF4-FFF2-40B4-BE49-F238E27FC236}">
                <a16:creationId xmlns:a16="http://schemas.microsoft.com/office/drawing/2014/main" id="{9F2F9E67-FA62-E2F6-550C-31986420B41E}"/>
              </a:ext>
            </a:extLst>
          </p:cNvPr>
          <p:cNvSpPr/>
          <p:nvPr/>
        </p:nvSpPr>
        <p:spPr>
          <a:xfrm rot="10800000">
            <a:off x="752147" y="2517920"/>
            <a:ext cx="2877705" cy="604240"/>
          </a:xfrm>
          <a:prstGeom prst="trapezoid">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7" name="台形 6">
            <a:extLst>
              <a:ext uri="{FF2B5EF4-FFF2-40B4-BE49-F238E27FC236}">
                <a16:creationId xmlns:a16="http://schemas.microsoft.com/office/drawing/2014/main" id="{B6E67C0E-450F-9501-7066-6FB44B603ACE}"/>
              </a:ext>
            </a:extLst>
          </p:cNvPr>
          <p:cNvSpPr/>
          <p:nvPr/>
        </p:nvSpPr>
        <p:spPr>
          <a:xfrm rot="10800000">
            <a:off x="963025" y="3191667"/>
            <a:ext cx="2430931" cy="604240"/>
          </a:xfrm>
          <a:prstGeom prst="trapezoid">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8" name="台形 7">
            <a:extLst>
              <a:ext uri="{FF2B5EF4-FFF2-40B4-BE49-F238E27FC236}">
                <a16:creationId xmlns:a16="http://schemas.microsoft.com/office/drawing/2014/main" id="{EC332CC3-1BFE-4336-94C4-337A6F76E30F}"/>
              </a:ext>
            </a:extLst>
          </p:cNvPr>
          <p:cNvSpPr/>
          <p:nvPr/>
        </p:nvSpPr>
        <p:spPr>
          <a:xfrm rot="10800000">
            <a:off x="1195275" y="3865414"/>
            <a:ext cx="1981682" cy="604240"/>
          </a:xfrm>
          <a:prstGeom prst="trapezoid">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9" name="台形 8">
            <a:extLst>
              <a:ext uri="{FF2B5EF4-FFF2-40B4-BE49-F238E27FC236}">
                <a16:creationId xmlns:a16="http://schemas.microsoft.com/office/drawing/2014/main" id="{9FA0DA39-CA3D-4A32-A88D-5F42671F47B8}"/>
              </a:ext>
            </a:extLst>
          </p:cNvPr>
          <p:cNvSpPr/>
          <p:nvPr/>
        </p:nvSpPr>
        <p:spPr>
          <a:xfrm rot="10800000">
            <a:off x="1422661" y="4539161"/>
            <a:ext cx="1536677" cy="604240"/>
          </a:xfrm>
          <a:prstGeom prst="trapezoid">
            <a:avLst/>
          </a:prstGeom>
          <a:solidFill>
            <a:schemeClr val="tx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10" name="台形 9">
            <a:extLst>
              <a:ext uri="{FF2B5EF4-FFF2-40B4-BE49-F238E27FC236}">
                <a16:creationId xmlns:a16="http://schemas.microsoft.com/office/drawing/2014/main" id="{1DAAE755-E19F-83A4-49AB-80FD2B8C6117}"/>
              </a:ext>
            </a:extLst>
          </p:cNvPr>
          <p:cNvSpPr/>
          <p:nvPr/>
        </p:nvSpPr>
        <p:spPr>
          <a:xfrm rot="10800000">
            <a:off x="1611466" y="5212908"/>
            <a:ext cx="1134047" cy="470263"/>
          </a:xfrm>
          <a:prstGeom prst="trapezoid">
            <a:avLst>
              <a:gd name="adj" fmla="val 0"/>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メイリオ"/>
              <a:ea typeface="メイリオ"/>
              <a:cs typeface="メイリオ"/>
            </a:endParaRPr>
          </a:p>
        </p:txBody>
      </p:sp>
      <p:sp>
        <p:nvSpPr>
          <p:cNvPr id="11" name="台形 10">
            <a:extLst>
              <a:ext uri="{FF2B5EF4-FFF2-40B4-BE49-F238E27FC236}">
                <a16:creationId xmlns:a16="http://schemas.microsoft.com/office/drawing/2014/main" id="{CE13A148-43A9-FACC-AA40-5B3C6364394E}"/>
              </a:ext>
            </a:extLst>
          </p:cNvPr>
          <p:cNvSpPr/>
          <p:nvPr/>
        </p:nvSpPr>
        <p:spPr>
          <a:xfrm rot="10800000">
            <a:off x="1611465" y="5752675"/>
            <a:ext cx="1134047" cy="470263"/>
          </a:xfrm>
          <a:prstGeom prst="trapezoid">
            <a:avLst>
              <a:gd name="adj" fmla="val 0"/>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メイリオ"/>
              <a:ea typeface="メイリオ"/>
              <a:cs typeface="メイリオ"/>
            </a:endParaRPr>
          </a:p>
        </p:txBody>
      </p:sp>
      <p:sp>
        <p:nvSpPr>
          <p:cNvPr id="13" name="テキスト ボックス 12">
            <a:extLst>
              <a:ext uri="{FF2B5EF4-FFF2-40B4-BE49-F238E27FC236}">
                <a16:creationId xmlns:a16="http://schemas.microsoft.com/office/drawing/2014/main" id="{927CB514-4619-59D1-450A-DDF1B29355E0}"/>
              </a:ext>
            </a:extLst>
          </p:cNvPr>
          <p:cNvSpPr txBox="1"/>
          <p:nvPr/>
        </p:nvSpPr>
        <p:spPr>
          <a:xfrm>
            <a:off x="1459558" y="5315094"/>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cs typeface="メイリオ"/>
              </a:rPr>
              <a:t>既存ユーザー</a:t>
            </a:r>
          </a:p>
        </p:txBody>
      </p:sp>
      <p:sp>
        <p:nvSpPr>
          <p:cNvPr id="14" name="テキスト ボックス 13">
            <a:extLst>
              <a:ext uri="{FF2B5EF4-FFF2-40B4-BE49-F238E27FC236}">
                <a16:creationId xmlns:a16="http://schemas.microsoft.com/office/drawing/2014/main" id="{CB3559A7-D98B-633E-360D-B9755713CB4A}"/>
              </a:ext>
            </a:extLst>
          </p:cNvPr>
          <p:cNvSpPr txBox="1"/>
          <p:nvPr/>
        </p:nvSpPr>
        <p:spPr>
          <a:xfrm>
            <a:off x="1458475" y="5884142"/>
            <a:ext cx="1437861" cy="230832"/>
          </a:xfrm>
          <a:prstGeom prst="rect">
            <a:avLst/>
          </a:prstGeom>
          <a:noFill/>
        </p:spPr>
        <p:txBody>
          <a:bodyPr wrap="square">
            <a:spAutoFit/>
          </a:bodyPr>
          <a:lstStyle/>
          <a:p>
            <a:pPr algn="ctr"/>
            <a:r>
              <a:rPr kumimoji="1" lang="ja-JP" altLang="en-US" sz="900" b="1" dirty="0">
                <a:solidFill>
                  <a:schemeClr val="bg1"/>
                </a:solidFill>
                <a:latin typeface="メイリオ" panose="020B0604030504040204" pitchFamily="50" charset="-128"/>
                <a:ea typeface="メイリオ" panose="020B0604030504040204" pitchFamily="50" charset="-128"/>
                <a:cs typeface="メイリオ"/>
              </a:rPr>
              <a:t>リピート・ファン化</a:t>
            </a:r>
          </a:p>
        </p:txBody>
      </p:sp>
      <p:sp>
        <p:nvSpPr>
          <p:cNvPr id="15" name="テキスト ボックス 14">
            <a:extLst>
              <a:ext uri="{FF2B5EF4-FFF2-40B4-BE49-F238E27FC236}">
                <a16:creationId xmlns:a16="http://schemas.microsoft.com/office/drawing/2014/main" id="{6BF621D8-B54B-3C3E-20B9-51565ADCB9C9}"/>
              </a:ext>
            </a:extLst>
          </p:cNvPr>
          <p:cNvSpPr txBox="1"/>
          <p:nvPr/>
        </p:nvSpPr>
        <p:spPr>
          <a:xfrm>
            <a:off x="1467184" y="4684107"/>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cs typeface="メイリオ"/>
              </a:rPr>
              <a:t>リード獲得層</a:t>
            </a:r>
          </a:p>
        </p:txBody>
      </p:sp>
      <p:sp>
        <p:nvSpPr>
          <p:cNvPr id="16" name="テキスト ボックス 15">
            <a:extLst>
              <a:ext uri="{FF2B5EF4-FFF2-40B4-BE49-F238E27FC236}">
                <a16:creationId xmlns:a16="http://schemas.microsoft.com/office/drawing/2014/main" id="{AE6EDBBE-DC2E-D1B4-D90F-A1213B9D8FB2}"/>
              </a:ext>
            </a:extLst>
          </p:cNvPr>
          <p:cNvSpPr txBox="1"/>
          <p:nvPr/>
        </p:nvSpPr>
        <p:spPr>
          <a:xfrm>
            <a:off x="1467184" y="4054155"/>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cs typeface="メイリオ"/>
              </a:rPr>
              <a:t>顕在層</a:t>
            </a:r>
          </a:p>
        </p:txBody>
      </p:sp>
      <p:sp>
        <p:nvSpPr>
          <p:cNvPr id="17" name="テキスト ボックス 16">
            <a:extLst>
              <a:ext uri="{FF2B5EF4-FFF2-40B4-BE49-F238E27FC236}">
                <a16:creationId xmlns:a16="http://schemas.microsoft.com/office/drawing/2014/main" id="{742EB2DA-CD05-53A4-819B-B3E66F91159A}"/>
              </a:ext>
            </a:extLst>
          </p:cNvPr>
          <p:cNvSpPr txBox="1"/>
          <p:nvPr/>
        </p:nvSpPr>
        <p:spPr>
          <a:xfrm>
            <a:off x="1459558" y="3372927"/>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cs typeface="メイリオ"/>
              </a:rPr>
              <a:t>準顕在層</a:t>
            </a:r>
          </a:p>
        </p:txBody>
      </p:sp>
      <p:sp>
        <p:nvSpPr>
          <p:cNvPr id="18" name="テキスト ボックス 17">
            <a:extLst>
              <a:ext uri="{FF2B5EF4-FFF2-40B4-BE49-F238E27FC236}">
                <a16:creationId xmlns:a16="http://schemas.microsoft.com/office/drawing/2014/main" id="{EFAB44CD-3FC2-FB15-3D61-30AD87D19366}"/>
              </a:ext>
            </a:extLst>
          </p:cNvPr>
          <p:cNvSpPr txBox="1"/>
          <p:nvPr/>
        </p:nvSpPr>
        <p:spPr>
          <a:xfrm>
            <a:off x="1467184" y="2700215"/>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cs typeface="メイリオ"/>
              </a:rPr>
              <a:t>潜在層</a:t>
            </a:r>
          </a:p>
        </p:txBody>
      </p:sp>
      <p:sp>
        <p:nvSpPr>
          <p:cNvPr id="19" name="テキスト ボックス 18">
            <a:extLst>
              <a:ext uri="{FF2B5EF4-FFF2-40B4-BE49-F238E27FC236}">
                <a16:creationId xmlns:a16="http://schemas.microsoft.com/office/drawing/2014/main" id="{1514C466-C0C4-5FB6-74AF-13B6F4947391}"/>
              </a:ext>
            </a:extLst>
          </p:cNvPr>
          <p:cNvSpPr txBox="1"/>
          <p:nvPr/>
        </p:nvSpPr>
        <p:spPr>
          <a:xfrm>
            <a:off x="1478205" y="2007789"/>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cs typeface="メイリオ"/>
              </a:rPr>
              <a:t>興味関心なし 層</a:t>
            </a:r>
          </a:p>
        </p:txBody>
      </p:sp>
      <p:sp>
        <p:nvSpPr>
          <p:cNvPr id="22" name="台形 21">
            <a:extLst>
              <a:ext uri="{FF2B5EF4-FFF2-40B4-BE49-F238E27FC236}">
                <a16:creationId xmlns:a16="http://schemas.microsoft.com/office/drawing/2014/main" id="{9BACDF3F-A4E5-35A7-B870-B83B08A9B3FF}"/>
              </a:ext>
            </a:extLst>
          </p:cNvPr>
          <p:cNvSpPr/>
          <p:nvPr/>
        </p:nvSpPr>
        <p:spPr>
          <a:xfrm rot="10800000">
            <a:off x="7611914" y="4021152"/>
            <a:ext cx="1826395" cy="470263"/>
          </a:xfrm>
          <a:prstGeom prst="trapezoid">
            <a:avLst>
              <a:gd name="adj" fmla="val 0"/>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メイリオ"/>
              <a:ea typeface="メイリオ"/>
              <a:cs typeface="メイリオ"/>
            </a:endParaRPr>
          </a:p>
        </p:txBody>
      </p:sp>
      <p:sp>
        <p:nvSpPr>
          <p:cNvPr id="23" name="テキスト ボックス 22">
            <a:extLst>
              <a:ext uri="{FF2B5EF4-FFF2-40B4-BE49-F238E27FC236}">
                <a16:creationId xmlns:a16="http://schemas.microsoft.com/office/drawing/2014/main" id="{35A77394-5E5F-8C4D-28B8-74F4583DF5D0}"/>
              </a:ext>
            </a:extLst>
          </p:cNvPr>
          <p:cNvSpPr txBox="1"/>
          <p:nvPr/>
        </p:nvSpPr>
        <p:spPr>
          <a:xfrm>
            <a:off x="7655205" y="4152765"/>
            <a:ext cx="1739812" cy="230832"/>
          </a:xfrm>
          <a:prstGeom prst="rect">
            <a:avLst/>
          </a:prstGeom>
          <a:noFill/>
        </p:spPr>
        <p:txBody>
          <a:bodyPr wrap="square">
            <a:spAutoFit/>
          </a:bodyPr>
          <a:lstStyle/>
          <a:p>
            <a:pPr algn="ctr"/>
            <a:r>
              <a:rPr kumimoji="1" lang="en-US" altLang="ja-JP" sz="900" b="1" dirty="0">
                <a:solidFill>
                  <a:schemeClr val="bg1"/>
                </a:solidFill>
                <a:latin typeface="メイリオ" panose="020B0604030504040204" pitchFamily="50" charset="-128"/>
                <a:ea typeface="メイリオ" panose="020B0604030504040204" pitchFamily="50" charset="-128"/>
                <a:cs typeface="メイリオ"/>
              </a:rPr>
              <a:t>※</a:t>
            </a:r>
            <a:r>
              <a:rPr kumimoji="1" lang="ja-JP" altLang="en-US" sz="900" b="1" dirty="0">
                <a:solidFill>
                  <a:schemeClr val="bg1"/>
                </a:solidFill>
                <a:latin typeface="メイリオ" panose="020B0604030504040204" pitchFamily="50" charset="-128"/>
                <a:ea typeface="メイリオ" panose="020B0604030504040204" pitchFamily="50" charset="-128"/>
                <a:cs typeface="メイリオ"/>
              </a:rPr>
              <a:t>過去の顧客データを活用</a:t>
            </a:r>
          </a:p>
        </p:txBody>
      </p:sp>
      <p:sp>
        <p:nvSpPr>
          <p:cNvPr id="24" name="台形 23">
            <a:extLst>
              <a:ext uri="{FF2B5EF4-FFF2-40B4-BE49-F238E27FC236}">
                <a16:creationId xmlns:a16="http://schemas.microsoft.com/office/drawing/2014/main" id="{3B9CC8D9-DD20-6C2F-3BDD-BE9F5B8FFC38}"/>
              </a:ext>
            </a:extLst>
          </p:cNvPr>
          <p:cNvSpPr/>
          <p:nvPr/>
        </p:nvSpPr>
        <p:spPr>
          <a:xfrm rot="10800000">
            <a:off x="7611914" y="3320317"/>
            <a:ext cx="1826395" cy="470263"/>
          </a:xfrm>
          <a:prstGeom prst="trapezoid">
            <a:avLst>
              <a:gd name="adj" fmla="val 0"/>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メイリオ"/>
              <a:ea typeface="メイリオ"/>
              <a:cs typeface="メイリオ"/>
            </a:endParaRPr>
          </a:p>
        </p:txBody>
      </p:sp>
      <p:sp>
        <p:nvSpPr>
          <p:cNvPr id="25" name="テキスト ボックス 24">
            <a:extLst>
              <a:ext uri="{FF2B5EF4-FFF2-40B4-BE49-F238E27FC236}">
                <a16:creationId xmlns:a16="http://schemas.microsoft.com/office/drawing/2014/main" id="{342DD099-7AA1-F285-5FF9-42B4945A3099}"/>
              </a:ext>
            </a:extLst>
          </p:cNvPr>
          <p:cNvSpPr txBox="1"/>
          <p:nvPr/>
        </p:nvSpPr>
        <p:spPr>
          <a:xfrm>
            <a:off x="7655205" y="3377041"/>
            <a:ext cx="1739812" cy="369332"/>
          </a:xfrm>
          <a:prstGeom prst="rect">
            <a:avLst/>
          </a:prstGeom>
          <a:noFill/>
        </p:spPr>
        <p:txBody>
          <a:bodyPr wrap="square">
            <a:spAutoFit/>
          </a:bodyPr>
          <a:lstStyle/>
          <a:p>
            <a:pPr algn="ctr"/>
            <a:r>
              <a:rPr kumimoji="1" lang="ja-JP" altLang="en-US" sz="900" b="1" dirty="0">
                <a:solidFill>
                  <a:schemeClr val="bg1"/>
                </a:solidFill>
                <a:latin typeface="メイリオ" panose="020B0604030504040204" pitchFamily="50" charset="-128"/>
                <a:ea typeface="メイリオ" panose="020B0604030504040204" pitchFamily="50" charset="-128"/>
                <a:cs typeface="メイリオ"/>
              </a:rPr>
              <a:t>離脱防止バナーにて</a:t>
            </a:r>
            <a:endParaRPr kumimoji="1" lang="en-US" altLang="ja-JP" sz="900" b="1" dirty="0">
              <a:solidFill>
                <a:schemeClr val="bg1"/>
              </a:solidFill>
              <a:latin typeface="メイリオ" panose="020B0604030504040204" pitchFamily="50" charset="-128"/>
              <a:ea typeface="メイリオ" panose="020B0604030504040204" pitchFamily="50" charset="-128"/>
              <a:cs typeface="メイリオ"/>
            </a:endParaRPr>
          </a:p>
          <a:p>
            <a:pPr algn="ctr"/>
            <a:r>
              <a:rPr lang="ja-JP" altLang="en-US" sz="900" b="1" dirty="0">
                <a:solidFill>
                  <a:schemeClr val="bg1"/>
                </a:solidFill>
                <a:latin typeface="メイリオ" panose="020B0604030504040204" pitchFamily="50" charset="-128"/>
                <a:ea typeface="メイリオ" panose="020B0604030504040204" pitchFamily="50" charset="-128"/>
                <a:cs typeface="メイリオ"/>
              </a:rPr>
              <a:t>検討段階ユーザーを</a:t>
            </a:r>
            <a:r>
              <a:rPr lang="en-US" altLang="ja-JP" sz="900" b="1" dirty="0">
                <a:solidFill>
                  <a:schemeClr val="bg1"/>
                </a:solidFill>
                <a:latin typeface="メイリオ" panose="020B0604030504040204" pitchFamily="50" charset="-128"/>
                <a:ea typeface="メイリオ" panose="020B0604030504040204" pitchFamily="50" charset="-128"/>
                <a:cs typeface="メイリオ"/>
              </a:rPr>
              <a:t>LINE</a:t>
            </a:r>
            <a:r>
              <a:rPr lang="ja-JP" altLang="en-US" sz="900" b="1" dirty="0">
                <a:solidFill>
                  <a:schemeClr val="bg1"/>
                </a:solidFill>
                <a:latin typeface="メイリオ" panose="020B0604030504040204" pitchFamily="50" charset="-128"/>
                <a:ea typeface="メイリオ" panose="020B0604030504040204" pitchFamily="50" charset="-128"/>
                <a:cs typeface="メイリオ"/>
              </a:rPr>
              <a:t>誘導</a:t>
            </a:r>
            <a:endParaRPr kumimoji="1" lang="ja-JP" altLang="en-US" sz="900" b="1" dirty="0">
              <a:solidFill>
                <a:schemeClr val="bg1"/>
              </a:solidFill>
              <a:latin typeface="メイリオ" panose="020B0604030504040204" pitchFamily="50" charset="-128"/>
              <a:ea typeface="メイリオ" panose="020B0604030504040204" pitchFamily="50" charset="-128"/>
              <a:cs typeface="メイリオ"/>
            </a:endParaRPr>
          </a:p>
        </p:txBody>
      </p:sp>
      <p:sp>
        <p:nvSpPr>
          <p:cNvPr id="27" name="台形 26">
            <a:extLst>
              <a:ext uri="{FF2B5EF4-FFF2-40B4-BE49-F238E27FC236}">
                <a16:creationId xmlns:a16="http://schemas.microsoft.com/office/drawing/2014/main" id="{D95457DF-AF4B-4B8E-D6F2-2A10C8E1A4A2}"/>
              </a:ext>
            </a:extLst>
          </p:cNvPr>
          <p:cNvSpPr/>
          <p:nvPr/>
        </p:nvSpPr>
        <p:spPr>
          <a:xfrm rot="10800000">
            <a:off x="7611914" y="2257037"/>
            <a:ext cx="1826395" cy="470263"/>
          </a:xfrm>
          <a:prstGeom prst="trapezoid">
            <a:avLst>
              <a:gd name="adj" fmla="val 0"/>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メイリオ"/>
              <a:ea typeface="メイリオ"/>
              <a:cs typeface="メイリオ"/>
            </a:endParaRPr>
          </a:p>
        </p:txBody>
      </p:sp>
      <p:sp>
        <p:nvSpPr>
          <p:cNvPr id="32" name="テキスト ボックス 31">
            <a:extLst>
              <a:ext uri="{FF2B5EF4-FFF2-40B4-BE49-F238E27FC236}">
                <a16:creationId xmlns:a16="http://schemas.microsoft.com/office/drawing/2014/main" id="{D94F1D70-CF6B-885E-B41C-C70125B75219}"/>
              </a:ext>
            </a:extLst>
          </p:cNvPr>
          <p:cNvSpPr txBox="1"/>
          <p:nvPr/>
        </p:nvSpPr>
        <p:spPr>
          <a:xfrm>
            <a:off x="7655205" y="2313761"/>
            <a:ext cx="1739812" cy="369332"/>
          </a:xfrm>
          <a:prstGeom prst="rect">
            <a:avLst/>
          </a:prstGeom>
          <a:noFill/>
        </p:spPr>
        <p:txBody>
          <a:bodyPr wrap="square">
            <a:spAutoFit/>
          </a:bodyPr>
          <a:lstStyle/>
          <a:p>
            <a:pPr algn="ctr"/>
            <a:r>
              <a:rPr kumimoji="1" lang="ja-JP" altLang="en-US" sz="900" b="1" dirty="0">
                <a:solidFill>
                  <a:schemeClr val="bg1"/>
                </a:solidFill>
                <a:latin typeface="メイリオ" panose="020B0604030504040204" pitchFamily="50" charset="-128"/>
                <a:ea typeface="メイリオ" panose="020B0604030504040204" pitchFamily="50" charset="-128"/>
                <a:cs typeface="メイリオ"/>
              </a:rPr>
              <a:t>接触、詳細ページ閲覧</a:t>
            </a:r>
            <a:endParaRPr kumimoji="1" lang="en-US" altLang="ja-JP" sz="900" b="1" dirty="0">
              <a:solidFill>
                <a:schemeClr val="bg1"/>
              </a:solidFill>
              <a:latin typeface="メイリオ" panose="020B0604030504040204" pitchFamily="50" charset="-128"/>
              <a:ea typeface="メイリオ" panose="020B0604030504040204" pitchFamily="50" charset="-128"/>
              <a:cs typeface="メイリオ"/>
            </a:endParaRPr>
          </a:p>
          <a:p>
            <a:pPr algn="ctr"/>
            <a:r>
              <a:rPr lang="ja-JP" altLang="en-US" sz="900" b="1" dirty="0">
                <a:solidFill>
                  <a:schemeClr val="bg1"/>
                </a:solidFill>
                <a:latin typeface="メイリオ" panose="020B0604030504040204" pitchFamily="50" charset="-128"/>
                <a:ea typeface="メイリオ" panose="020B0604030504040204" pitchFamily="50" charset="-128"/>
                <a:cs typeface="メイリオ"/>
              </a:rPr>
              <a:t>の動線での</a:t>
            </a:r>
            <a:r>
              <a:rPr lang="en-US" altLang="ja-JP" sz="900" b="1" dirty="0">
                <a:solidFill>
                  <a:schemeClr val="bg1"/>
                </a:solidFill>
                <a:latin typeface="メイリオ" panose="020B0604030504040204" pitchFamily="50" charset="-128"/>
                <a:ea typeface="メイリオ" panose="020B0604030504040204" pitchFamily="50" charset="-128"/>
                <a:cs typeface="メイリオ"/>
              </a:rPr>
              <a:t>LINE</a:t>
            </a:r>
            <a:r>
              <a:rPr lang="ja-JP" altLang="en-US" sz="900" b="1" dirty="0">
                <a:solidFill>
                  <a:schemeClr val="bg1"/>
                </a:solidFill>
                <a:latin typeface="メイリオ" panose="020B0604030504040204" pitchFamily="50" charset="-128"/>
                <a:ea typeface="メイリオ" panose="020B0604030504040204" pitchFamily="50" charset="-128"/>
                <a:cs typeface="メイリオ"/>
              </a:rPr>
              <a:t>誘導を整備</a:t>
            </a:r>
            <a:endParaRPr kumimoji="1" lang="ja-JP" altLang="en-US" sz="900" b="1" dirty="0">
              <a:solidFill>
                <a:schemeClr val="bg1"/>
              </a:solidFill>
              <a:latin typeface="メイリオ" panose="020B0604030504040204" pitchFamily="50" charset="-128"/>
              <a:ea typeface="メイリオ" panose="020B0604030504040204" pitchFamily="50" charset="-128"/>
              <a:cs typeface="メイリオ"/>
            </a:endParaRPr>
          </a:p>
        </p:txBody>
      </p:sp>
      <p:sp>
        <p:nvSpPr>
          <p:cNvPr id="41" name="テキスト ボックス 40">
            <a:extLst>
              <a:ext uri="{FF2B5EF4-FFF2-40B4-BE49-F238E27FC236}">
                <a16:creationId xmlns:a16="http://schemas.microsoft.com/office/drawing/2014/main" id="{4E163946-1549-509D-4F46-C667EBDCE5EE}"/>
              </a:ext>
            </a:extLst>
          </p:cNvPr>
          <p:cNvSpPr txBox="1"/>
          <p:nvPr/>
        </p:nvSpPr>
        <p:spPr>
          <a:xfrm>
            <a:off x="7462272" y="1725706"/>
            <a:ext cx="2125679" cy="276999"/>
          </a:xfrm>
          <a:prstGeom prst="rect">
            <a:avLst/>
          </a:prstGeom>
          <a:solidFill>
            <a:schemeClr val="tx2"/>
          </a:solidFill>
        </p:spPr>
        <p:txBody>
          <a:bodyPr wrap="square">
            <a:spAutoFit/>
          </a:bodyPr>
          <a:lstStyle/>
          <a:p>
            <a:pPr algn="ctr"/>
            <a:r>
              <a:rPr lang="en-US" altLang="ja-JP" sz="1200" dirty="0">
                <a:solidFill>
                  <a:schemeClr val="bg1"/>
                </a:solidFill>
                <a:latin typeface="メイリオ" panose="020B0604030504040204" pitchFamily="50" charset="-128"/>
                <a:ea typeface="メイリオ" panose="020B0604030504040204" pitchFamily="50" charset="-128"/>
                <a:cs typeface="メイリオ"/>
              </a:rPr>
              <a:t>DYM</a:t>
            </a:r>
            <a:r>
              <a:rPr lang="ja-JP" altLang="en-US" sz="1200" dirty="0">
                <a:solidFill>
                  <a:schemeClr val="bg1"/>
                </a:solidFill>
                <a:latin typeface="メイリオ" panose="020B0604030504040204" pitchFamily="50" charset="-128"/>
                <a:ea typeface="メイリオ" panose="020B0604030504040204" pitchFamily="50" charset="-128"/>
                <a:cs typeface="メイリオ"/>
              </a:rPr>
              <a:t>施策</a:t>
            </a:r>
            <a:endParaRPr lang="ja-JP" altLang="en-US" sz="1200" dirty="0">
              <a:solidFill>
                <a:schemeClr val="bg1"/>
              </a:solidFill>
              <a:latin typeface="メイリオ"/>
              <a:ea typeface="メイリオ"/>
              <a:cs typeface="メイリオ"/>
            </a:endParaRPr>
          </a:p>
        </p:txBody>
      </p:sp>
      <p:sp>
        <p:nvSpPr>
          <p:cNvPr id="44" name="テキスト ボックス 43">
            <a:extLst>
              <a:ext uri="{FF2B5EF4-FFF2-40B4-BE49-F238E27FC236}">
                <a16:creationId xmlns:a16="http://schemas.microsoft.com/office/drawing/2014/main" id="{CCE5C835-66DF-7ACC-2268-769AE89BC22D}"/>
              </a:ext>
            </a:extLst>
          </p:cNvPr>
          <p:cNvSpPr txBox="1"/>
          <p:nvPr/>
        </p:nvSpPr>
        <p:spPr>
          <a:xfrm>
            <a:off x="5273193" y="1735237"/>
            <a:ext cx="2125679" cy="276999"/>
          </a:xfrm>
          <a:prstGeom prst="rect">
            <a:avLst/>
          </a:prstGeom>
          <a:solidFill>
            <a:schemeClr val="tx1"/>
          </a:solidFill>
        </p:spPr>
        <p:txBody>
          <a:bodyPr wrap="square">
            <a:spAutoFit/>
          </a:bodyPr>
          <a:lstStyle/>
          <a:p>
            <a:pPr algn="ctr"/>
            <a:r>
              <a:rPr lang="ja-JP" altLang="en-US" sz="1200" dirty="0">
                <a:solidFill>
                  <a:schemeClr val="bg1"/>
                </a:solidFill>
                <a:latin typeface="メイリオ" panose="020B0604030504040204" pitchFamily="50" charset="-128"/>
                <a:ea typeface="メイリオ" panose="020B0604030504040204" pitchFamily="50" charset="-128"/>
                <a:cs typeface="メイリオ"/>
              </a:rPr>
              <a:t>現状施策</a:t>
            </a:r>
            <a:endParaRPr lang="ja-JP" altLang="en-US" sz="1200" dirty="0">
              <a:solidFill>
                <a:schemeClr val="bg1"/>
              </a:solidFill>
              <a:latin typeface="メイリオ"/>
              <a:ea typeface="メイリオ"/>
              <a:cs typeface="メイリオ"/>
            </a:endParaRPr>
          </a:p>
        </p:txBody>
      </p:sp>
      <p:sp>
        <p:nvSpPr>
          <p:cNvPr id="46" name="台形 45">
            <a:extLst>
              <a:ext uri="{FF2B5EF4-FFF2-40B4-BE49-F238E27FC236}">
                <a16:creationId xmlns:a16="http://schemas.microsoft.com/office/drawing/2014/main" id="{770C8367-24F5-979C-4481-908DE742DF1B}"/>
              </a:ext>
            </a:extLst>
          </p:cNvPr>
          <p:cNvSpPr/>
          <p:nvPr/>
        </p:nvSpPr>
        <p:spPr>
          <a:xfrm rot="10800000">
            <a:off x="7611914" y="5725077"/>
            <a:ext cx="1826395" cy="470263"/>
          </a:xfrm>
          <a:prstGeom prst="trapezoid">
            <a:avLst>
              <a:gd name="adj" fmla="val 0"/>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メイリオ"/>
              <a:ea typeface="メイリオ"/>
              <a:cs typeface="メイリオ"/>
            </a:endParaRPr>
          </a:p>
        </p:txBody>
      </p:sp>
      <p:sp>
        <p:nvSpPr>
          <p:cNvPr id="47" name="テキスト ボックス 46">
            <a:extLst>
              <a:ext uri="{FF2B5EF4-FFF2-40B4-BE49-F238E27FC236}">
                <a16:creationId xmlns:a16="http://schemas.microsoft.com/office/drawing/2014/main" id="{1353124E-927F-8496-8FC6-E6DD494A8DEA}"/>
              </a:ext>
            </a:extLst>
          </p:cNvPr>
          <p:cNvSpPr txBox="1"/>
          <p:nvPr/>
        </p:nvSpPr>
        <p:spPr>
          <a:xfrm>
            <a:off x="7655205" y="5785358"/>
            <a:ext cx="1739812" cy="369332"/>
          </a:xfrm>
          <a:prstGeom prst="rect">
            <a:avLst/>
          </a:prstGeom>
          <a:noFill/>
        </p:spPr>
        <p:txBody>
          <a:bodyPr wrap="square">
            <a:spAutoFit/>
          </a:bodyPr>
          <a:lstStyle/>
          <a:p>
            <a:pPr algn="ctr"/>
            <a:r>
              <a:rPr kumimoji="1" lang="ja-JP" altLang="en-US" sz="900" b="1" dirty="0">
                <a:solidFill>
                  <a:schemeClr val="bg1"/>
                </a:solidFill>
                <a:latin typeface="メイリオ" panose="020B0604030504040204" pitchFamily="50" charset="-128"/>
                <a:ea typeface="メイリオ" panose="020B0604030504040204" pitchFamily="50" charset="-128"/>
                <a:cs typeface="メイリオ"/>
              </a:rPr>
              <a:t>定期購入・クロスセル</a:t>
            </a:r>
            <a:endParaRPr kumimoji="1" lang="en-US" altLang="ja-JP" sz="900" b="1" dirty="0">
              <a:solidFill>
                <a:schemeClr val="bg1"/>
              </a:solidFill>
              <a:latin typeface="メイリオ" panose="020B0604030504040204" pitchFamily="50" charset="-128"/>
              <a:ea typeface="メイリオ" panose="020B0604030504040204" pitchFamily="50" charset="-128"/>
              <a:cs typeface="メイリオ"/>
            </a:endParaRPr>
          </a:p>
          <a:p>
            <a:pPr algn="ctr"/>
            <a:r>
              <a:rPr lang="ja-JP" altLang="en-US" sz="900" b="1" dirty="0">
                <a:solidFill>
                  <a:schemeClr val="bg1"/>
                </a:solidFill>
                <a:latin typeface="メイリオ" panose="020B0604030504040204" pitchFamily="50" charset="-128"/>
                <a:ea typeface="メイリオ" panose="020B0604030504040204" pitchFamily="50" charset="-128"/>
                <a:cs typeface="メイリオ"/>
              </a:rPr>
              <a:t>商材への動線設計</a:t>
            </a:r>
            <a:endParaRPr kumimoji="1" lang="ja-JP" altLang="en-US" sz="900" b="1" dirty="0">
              <a:solidFill>
                <a:schemeClr val="bg1"/>
              </a:solidFill>
              <a:latin typeface="メイリオ" panose="020B0604030504040204" pitchFamily="50" charset="-128"/>
              <a:ea typeface="メイリオ" panose="020B0604030504040204" pitchFamily="50" charset="-128"/>
              <a:cs typeface="メイリオ"/>
            </a:endParaRPr>
          </a:p>
        </p:txBody>
      </p:sp>
      <p:sp>
        <p:nvSpPr>
          <p:cNvPr id="48" name="台形 47">
            <a:extLst>
              <a:ext uri="{FF2B5EF4-FFF2-40B4-BE49-F238E27FC236}">
                <a16:creationId xmlns:a16="http://schemas.microsoft.com/office/drawing/2014/main" id="{BAFBCC32-B244-9AC5-0A18-C121D3B9BCDA}"/>
              </a:ext>
            </a:extLst>
          </p:cNvPr>
          <p:cNvSpPr/>
          <p:nvPr/>
        </p:nvSpPr>
        <p:spPr>
          <a:xfrm rot="10800000">
            <a:off x="7611914" y="5183481"/>
            <a:ext cx="1826395" cy="470263"/>
          </a:xfrm>
          <a:prstGeom prst="trapezoid">
            <a:avLst>
              <a:gd name="adj" fmla="val 0"/>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メイリオ"/>
              <a:ea typeface="メイリオ"/>
              <a:cs typeface="メイリオ"/>
            </a:endParaRPr>
          </a:p>
        </p:txBody>
      </p:sp>
      <p:sp>
        <p:nvSpPr>
          <p:cNvPr id="49" name="テキスト ボックス 48">
            <a:extLst>
              <a:ext uri="{FF2B5EF4-FFF2-40B4-BE49-F238E27FC236}">
                <a16:creationId xmlns:a16="http://schemas.microsoft.com/office/drawing/2014/main" id="{19BD53B7-C509-F64E-CB4B-C6D3341F3AD5}"/>
              </a:ext>
            </a:extLst>
          </p:cNvPr>
          <p:cNvSpPr txBox="1"/>
          <p:nvPr/>
        </p:nvSpPr>
        <p:spPr>
          <a:xfrm>
            <a:off x="7655205" y="5315094"/>
            <a:ext cx="1739812" cy="230832"/>
          </a:xfrm>
          <a:prstGeom prst="rect">
            <a:avLst/>
          </a:prstGeom>
          <a:noFill/>
        </p:spPr>
        <p:txBody>
          <a:bodyPr wrap="square">
            <a:spAutoFit/>
          </a:bodyPr>
          <a:lstStyle/>
          <a:p>
            <a:pPr algn="ctr"/>
            <a:r>
              <a:rPr kumimoji="1" lang="en-US" altLang="ja-JP" sz="900" b="1" dirty="0">
                <a:solidFill>
                  <a:schemeClr val="bg1"/>
                </a:solidFill>
                <a:latin typeface="メイリオ" panose="020B0604030504040204" pitchFamily="50" charset="-128"/>
                <a:ea typeface="メイリオ" panose="020B0604030504040204" pitchFamily="50" charset="-128"/>
                <a:cs typeface="メイリオ"/>
              </a:rPr>
              <a:t>※ID</a:t>
            </a:r>
            <a:r>
              <a:rPr kumimoji="1" lang="ja-JP" altLang="en-US" sz="900" b="1" dirty="0">
                <a:solidFill>
                  <a:schemeClr val="bg1"/>
                </a:solidFill>
                <a:latin typeface="メイリオ" panose="020B0604030504040204" pitchFamily="50" charset="-128"/>
                <a:ea typeface="メイリオ" panose="020B0604030504040204" pitchFamily="50" charset="-128"/>
                <a:cs typeface="メイリオ"/>
              </a:rPr>
              <a:t>連携特典等を表示</a:t>
            </a:r>
          </a:p>
        </p:txBody>
      </p:sp>
      <p:sp>
        <p:nvSpPr>
          <p:cNvPr id="50" name="台形 49">
            <a:extLst>
              <a:ext uri="{FF2B5EF4-FFF2-40B4-BE49-F238E27FC236}">
                <a16:creationId xmlns:a16="http://schemas.microsoft.com/office/drawing/2014/main" id="{3941D3AF-378C-FC85-0F44-DC7CE1041E69}"/>
              </a:ext>
            </a:extLst>
          </p:cNvPr>
          <p:cNvSpPr/>
          <p:nvPr/>
        </p:nvSpPr>
        <p:spPr>
          <a:xfrm rot="10800000">
            <a:off x="7611914" y="4683087"/>
            <a:ext cx="1826395" cy="470263"/>
          </a:xfrm>
          <a:prstGeom prst="trapezoid">
            <a:avLst>
              <a:gd name="adj" fmla="val 0"/>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メイリオ"/>
              <a:ea typeface="メイリオ"/>
              <a:cs typeface="メイリオ"/>
            </a:endParaRPr>
          </a:p>
        </p:txBody>
      </p:sp>
      <p:sp>
        <p:nvSpPr>
          <p:cNvPr id="51" name="テキスト ボックス 50">
            <a:extLst>
              <a:ext uri="{FF2B5EF4-FFF2-40B4-BE49-F238E27FC236}">
                <a16:creationId xmlns:a16="http://schemas.microsoft.com/office/drawing/2014/main" id="{04C3D2CB-85C1-FE9F-4777-E7D3AB629F25}"/>
              </a:ext>
            </a:extLst>
          </p:cNvPr>
          <p:cNvSpPr txBox="1"/>
          <p:nvPr/>
        </p:nvSpPr>
        <p:spPr>
          <a:xfrm>
            <a:off x="7655205" y="4814700"/>
            <a:ext cx="1739812" cy="230832"/>
          </a:xfrm>
          <a:prstGeom prst="rect">
            <a:avLst/>
          </a:prstGeom>
          <a:noFill/>
        </p:spPr>
        <p:txBody>
          <a:bodyPr wrap="square">
            <a:spAutoFit/>
          </a:bodyPr>
          <a:lstStyle/>
          <a:p>
            <a:pPr algn="ctr"/>
            <a:r>
              <a:rPr kumimoji="1" lang="en-US" altLang="ja-JP" sz="900" b="1" dirty="0">
                <a:solidFill>
                  <a:schemeClr val="bg1"/>
                </a:solidFill>
                <a:latin typeface="メイリオ" panose="020B0604030504040204" pitchFamily="50" charset="-128"/>
                <a:ea typeface="メイリオ" panose="020B0604030504040204" pitchFamily="50" charset="-128"/>
                <a:cs typeface="メイリオ"/>
              </a:rPr>
              <a:t>※</a:t>
            </a:r>
            <a:r>
              <a:rPr kumimoji="1" lang="ja-JP" altLang="en-US" sz="900" b="1" dirty="0">
                <a:solidFill>
                  <a:schemeClr val="bg1"/>
                </a:solidFill>
                <a:latin typeface="メイリオ" panose="020B0604030504040204" pitchFamily="50" charset="-128"/>
                <a:ea typeface="メイリオ" panose="020B0604030504040204" pitchFamily="50" charset="-128"/>
                <a:cs typeface="メイリオ"/>
              </a:rPr>
              <a:t>ミニアプリ・診断 →</a:t>
            </a:r>
            <a:r>
              <a:rPr lang="en-US" altLang="ja-JP" sz="900" b="1" dirty="0">
                <a:solidFill>
                  <a:schemeClr val="bg1"/>
                </a:solidFill>
                <a:latin typeface="メイリオ" panose="020B0604030504040204" pitchFamily="50" charset="-128"/>
                <a:ea typeface="メイリオ" panose="020B0604030504040204" pitchFamily="50" charset="-128"/>
                <a:cs typeface="メイリオ"/>
              </a:rPr>
              <a:t> </a:t>
            </a:r>
            <a:r>
              <a:rPr lang="ja-JP" altLang="en-US" sz="900" b="1" dirty="0">
                <a:solidFill>
                  <a:schemeClr val="bg1"/>
                </a:solidFill>
                <a:latin typeface="メイリオ" panose="020B0604030504040204" pitchFamily="50" charset="-128"/>
                <a:ea typeface="メイリオ" panose="020B0604030504040204" pitchFamily="50" charset="-128"/>
                <a:cs typeface="メイリオ"/>
              </a:rPr>
              <a:t>特典</a:t>
            </a:r>
            <a:endParaRPr kumimoji="1" lang="ja-JP" altLang="en-US" sz="900" b="1" dirty="0">
              <a:solidFill>
                <a:schemeClr val="bg1"/>
              </a:solidFill>
              <a:latin typeface="メイリオ" panose="020B0604030504040204" pitchFamily="50" charset="-128"/>
              <a:ea typeface="メイリオ" panose="020B0604030504040204" pitchFamily="50" charset="-128"/>
              <a:cs typeface="メイリオ"/>
            </a:endParaRPr>
          </a:p>
        </p:txBody>
      </p:sp>
      <p:sp>
        <p:nvSpPr>
          <p:cNvPr id="57" name="台形 56">
            <a:extLst>
              <a:ext uri="{FF2B5EF4-FFF2-40B4-BE49-F238E27FC236}">
                <a16:creationId xmlns:a16="http://schemas.microsoft.com/office/drawing/2014/main" id="{B65081E4-37AB-CFC9-6ADB-B4EEA7844473}"/>
              </a:ext>
            </a:extLst>
          </p:cNvPr>
          <p:cNvSpPr/>
          <p:nvPr/>
        </p:nvSpPr>
        <p:spPr>
          <a:xfrm rot="10800000">
            <a:off x="8075757" y="6244548"/>
            <a:ext cx="1826395" cy="265450"/>
          </a:xfrm>
          <a:prstGeom prst="trapezoid">
            <a:avLst>
              <a:gd name="adj" fmla="val 0"/>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メイリオ"/>
              <a:ea typeface="メイリオ"/>
              <a:cs typeface="メイリオ"/>
            </a:endParaRPr>
          </a:p>
        </p:txBody>
      </p:sp>
      <p:sp>
        <p:nvSpPr>
          <p:cNvPr id="58" name="テキスト ボックス 57">
            <a:extLst>
              <a:ext uri="{FF2B5EF4-FFF2-40B4-BE49-F238E27FC236}">
                <a16:creationId xmlns:a16="http://schemas.microsoft.com/office/drawing/2014/main" id="{84FBB3DE-B0A1-98BB-3108-365CAA2451B5}"/>
              </a:ext>
            </a:extLst>
          </p:cNvPr>
          <p:cNvSpPr txBox="1"/>
          <p:nvPr/>
        </p:nvSpPr>
        <p:spPr>
          <a:xfrm>
            <a:off x="8198333" y="6267085"/>
            <a:ext cx="1581242" cy="246221"/>
          </a:xfrm>
          <a:prstGeom prst="rect">
            <a:avLst/>
          </a:prstGeom>
          <a:noFill/>
        </p:spPr>
        <p:txBody>
          <a:bodyPr wrap="square">
            <a:spAutoFit/>
          </a:bodyPr>
          <a:lstStyle/>
          <a:p>
            <a:pPr algn="ctr"/>
            <a:r>
              <a:rPr kumimoji="1" lang="en-US" altLang="ja-JP" sz="1000" dirty="0">
                <a:solidFill>
                  <a:schemeClr val="bg1"/>
                </a:solidFill>
                <a:latin typeface="メイリオ" panose="020B0604030504040204" pitchFamily="50" charset="-128"/>
                <a:ea typeface="メイリオ" panose="020B0604030504040204" pitchFamily="50" charset="-128"/>
                <a:cs typeface="メイリオ"/>
              </a:rPr>
              <a:t>※</a:t>
            </a:r>
            <a:r>
              <a:rPr kumimoji="1" lang="ja-JP" altLang="en-US" sz="1000" dirty="0">
                <a:solidFill>
                  <a:schemeClr val="bg1"/>
                </a:solidFill>
                <a:latin typeface="メイリオ" panose="020B0604030504040204" pitchFamily="50" charset="-128"/>
                <a:ea typeface="メイリオ" panose="020B0604030504040204" pitchFamily="50" charset="-128"/>
                <a:cs typeface="メイリオ"/>
              </a:rPr>
              <a:t>長期施策として想定</a:t>
            </a:r>
          </a:p>
        </p:txBody>
      </p:sp>
      <p:sp>
        <p:nvSpPr>
          <p:cNvPr id="38" name="台形 37">
            <a:extLst>
              <a:ext uri="{FF2B5EF4-FFF2-40B4-BE49-F238E27FC236}">
                <a16:creationId xmlns:a16="http://schemas.microsoft.com/office/drawing/2014/main" id="{E53AF788-4E7A-2498-3387-439141AF8B85}"/>
              </a:ext>
            </a:extLst>
          </p:cNvPr>
          <p:cNvSpPr/>
          <p:nvPr/>
        </p:nvSpPr>
        <p:spPr>
          <a:xfrm rot="10800000" flipV="1">
            <a:off x="5413000" y="2265395"/>
            <a:ext cx="1826395" cy="3929946"/>
          </a:xfrm>
          <a:prstGeom prst="trapezoid">
            <a:avLst>
              <a:gd name="adj" fmla="val 0"/>
            </a:avLst>
          </a:prstGeom>
          <a:solidFill>
            <a:schemeClr val="bg1">
              <a:lumMod val="95000"/>
              <a:alpha val="67000"/>
            </a:schemeClr>
          </a:solidFill>
          <a:ln w="9525">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tx1"/>
                </a:solidFill>
                <a:latin typeface="メイリオ" panose="020B0604030504040204" pitchFamily="50" charset="-128"/>
                <a:ea typeface="メイリオ" panose="020B0604030504040204" pitchFamily="50" charset="-128"/>
                <a:cs typeface="メイリオ"/>
              </a:rPr>
              <a:t>ヒアリングの上</a:t>
            </a:r>
            <a:endParaRPr lang="en-US" altLang="ja-JP" sz="1050" b="1" dirty="0">
              <a:solidFill>
                <a:schemeClr val="tx1"/>
              </a:solidFill>
              <a:latin typeface="メイリオ" panose="020B0604030504040204" pitchFamily="50" charset="-128"/>
              <a:ea typeface="メイリオ" panose="020B0604030504040204" pitchFamily="50" charset="-128"/>
              <a:cs typeface="メイリオ"/>
            </a:endParaRPr>
          </a:p>
          <a:p>
            <a:pPr algn="ctr"/>
            <a:r>
              <a:rPr kumimoji="1" lang="ja-JP" altLang="en-US" sz="1050" b="1" dirty="0">
                <a:solidFill>
                  <a:schemeClr val="tx1"/>
                </a:solidFill>
                <a:latin typeface="メイリオ" panose="020B0604030504040204" pitchFamily="50" charset="-128"/>
                <a:ea typeface="メイリオ" panose="020B0604030504040204" pitchFamily="50" charset="-128"/>
                <a:cs typeface="メイリオ"/>
              </a:rPr>
              <a:t>確定</a:t>
            </a:r>
          </a:p>
        </p:txBody>
      </p:sp>
      <p:sp>
        <p:nvSpPr>
          <p:cNvPr id="12" name="矢印: 下 11">
            <a:extLst>
              <a:ext uri="{FF2B5EF4-FFF2-40B4-BE49-F238E27FC236}">
                <a16:creationId xmlns:a16="http://schemas.microsoft.com/office/drawing/2014/main" id="{06D6460A-91B3-70D3-5D14-11DFAD84B566}"/>
              </a:ext>
            </a:extLst>
          </p:cNvPr>
          <p:cNvSpPr/>
          <p:nvPr/>
        </p:nvSpPr>
        <p:spPr>
          <a:xfrm>
            <a:off x="4075746" y="1862186"/>
            <a:ext cx="1134047" cy="4292485"/>
          </a:xfrm>
          <a:prstGeom prst="downArrow">
            <a:avLst/>
          </a:prstGeom>
          <a:gradFill>
            <a:gsLst>
              <a:gs pos="0">
                <a:srgbClr val="FDFDFD"/>
              </a:gs>
              <a:gs pos="100000">
                <a:schemeClr val="accent3">
                  <a:lumMod val="20000"/>
                  <a:lumOff val="80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20" name="テキスト ボックス 19">
            <a:extLst>
              <a:ext uri="{FF2B5EF4-FFF2-40B4-BE49-F238E27FC236}">
                <a16:creationId xmlns:a16="http://schemas.microsoft.com/office/drawing/2014/main" id="{ED28F54A-7862-D06F-CFB5-B49F4F603D20}"/>
              </a:ext>
            </a:extLst>
          </p:cNvPr>
          <p:cNvSpPr txBox="1"/>
          <p:nvPr/>
        </p:nvSpPr>
        <p:spPr>
          <a:xfrm>
            <a:off x="3578823" y="5448078"/>
            <a:ext cx="2127892" cy="276999"/>
          </a:xfrm>
          <a:prstGeom prst="rect">
            <a:avLst/>
          </a:prstGeom>
          <a:noFill/>
        </p:spPr>
        <p:txBody>
          <a:bodyPr wrap="square">
            <a:spAutoFit/>
          </a:bodyPr>
          <a:lstStyle/>
          <a:p>
            <a:pPr algn="ctr"/>
            <a:r>
              <a:rPr kumimoji="1" lang="en-US" altLang="ja-JP" sz="1200" b="1" dirty="0">
                <a:latin typeface="メイリオ" panose="020B0604030504040204" pitchFamily="50" charset="-128"/>
                <a:ea typeface="メイリオ" panose="020B0604030504040204" pitchFamily="50" charset="-128"/>
                <a:cs typeface="メイリオ"/>
              </a:rPr>
              <a:t>LINE </a:t>
            </a:r>
            <a:r>
              <a:rPr kumimoji="1" lang="ja-JP" altLang="en-US" sz="1200" b="1" dirty="0">
                <a:latin typeface="メイリオ" panose="020B0604030504040204" pitchFamily="50" charset="-128"/>
                <a:ea typeface="メイリオ" panose="020B0604030504040204" pitchFamily="50" charset="-128"/>
                <a:cs typeface="メイリオ"/>
              </a:rPr>
              <a:t>ミニアプリ</a:t>
            </a:r>
          </a:p>
        </p:txBody>
      </p:sp>
      <p:sp>
        <p:nvSpPr>
          <p:cNvPr id="21" name="テキスト ボックス 20">
            <a:extLst>
              <a:ext uri="{FF2B5EF4-FFF2-40B4-BE49-F238E27FC236}">
                <a16:creationId xmlns:a16="http://schemas.microsoft.com/office/drawing/2014/main" id="{56067991-5512-33D9-BAFF-EBE3BE4E55D1}"/>
              </a:ext>
            </a:extLst>
          </p:cNvPr>
          <p:cNvSpPr txBox="1"/>
          <p:nvPr/>
        </p:nvSpPr>
        <p:spPr>
          <a:xfrm>
            <a:off x="3578823" y="3803604"/>
            <a:ext cx="2127892" cy="276999"/>
          </a:xfrm>
          <a:prstGeom prst="rect">
            <a:avLst/>
          </a:prstGeom>
          <a:noFill/>
        </p:spPr>
        <p:txBody>
          <a:bodyPr wrap="square">
            <a:spAutoFit/>
          </a:bodyPr>
          <a:lstStyle/>
          <a:p>
            <a:pPr algn="ctr"/>
            <a:r>
              <a:rPr kumimoji="1" lang="en-US" altLang="ja-JP" sz="1200" b="1" dirty="0">
                <a:latin typeface="メイリオ" panose="020B0604030504040204" pitchFamily="50" charset="-128"/>
                <a:ea typeface="メイリオ" panose="020B0604030504040204" pitchFamily="50" charset="-128"/>
                <a:cs typeface="メイリオ"/>
              </a:rPr>
              <a:t>LINE</a:t>
            </a:r>
            <a:r>
              <a:rPr kumimoji="1" lang="ja-JP" altLang="en-US" sz="1200" b="1" dirty="0">
                <a:latin typeface="メイリオ" panose="020B0604030504040204" pitchFamily="50" charset="-128"/>
                <a:ea typeface="メイリオ" panose="020B0604030504040204" pitchFamily="50" charset="-128"/>
                <a:cs typeface="メイリオ"/>
              </a:rPr>
              <a:t>友だち</a:t>
            </a:r>
          </a:p>
        </p:txBody>
      </p:sp>
      <p:sp>
        <p:nvSpPr>
          <p:cNvPr id="26" name="テキスト ボックス 25">
            <a:extLst>
              <a:ext uri="{FF2B5EF4-FFF2-40B4-BE49-F238E27FC236}">
                <a16:creationId xmlns:a16="http://schemas.microsoft.com/office/drawing/2014/main" id="{6182F190-E0A8-5EE1-D9A3-5B13AA74C67A}"/>
              </a:ext>
            </a:extLst>
          </p:cNvPr>
          <p:cNvSpPr txBox="1"/>
          <p:nvPr/>
        </p:nvSpPr>
        <p:spPr>
          <a:xfrm>
            <a:off x="3578823" y="3347800"/>
            <a:ext cx="2127892" cy="276999"/>
          </a:xfrm>
          <a:prstGeom prst="rect">
            <a:avLst/>
          </a:prstGeom>
          <a:noFill/>
        </p:spPr>
        <p:txBody>
          <a:bodyPr wrap="square">
            <a:spAutoFit/>
          </a:bodyPr>
          <a:lstStyle/>
          <a:p>
            <a:pPr algn="ctr"/>
            <a:r>
              <a:rPr kumimoji="1" lang="ja-JP" altLang="en-US" sz="1200" b="1" dirty="0">
                <a:latin typeface="メイリオ" panose="020B0604030504040204" pitchFamily="50" charset="-128"/>
                <a:ea typeface="メイリオ" panose="020B0604030504040204" pitchFamily="50" charset="-128"/>
                <a:cs typeface="メイリオ"/>
              </a:rPr>
              <a:t>離脱防止バナー</a:t>
            </a:r>
          </a:p>
        </p:txBody>
      </p:sp>
      <p:sp>
        <p:nvSpPr>
          <p:cNvPr id="36" name="テキスト ボックス 35">
            <a:extLst>
              <a:ext uri="{FF2B5EF4-FFF2-40B4-BE49-F238E27FC236}">
                <a16:creationId xmlns:a16="http://schemas.microsoft.com/office/drawing/2014/main" id="{D60AE015-CFAC-BAED-064E-14583E6CD31A}"/>
              </a:ext>
            </a:extLst>
          </p:cNvPr>
          <p:cNvSpPr txBox="1"/>
          <p:nvPr/>
        </p:nvSpPr>
        <p:spPr>
          <a:xfrm>
            <a:off x="3578823" y="1982662"/>
            <a:ext cx="2127892" cy="276999"/>
          </a:xfrm>
          <a:prstGeom prst="rect">
            <a:avLst/>
          </a:prstGeom>
          <a:noFill/>
        </p:spPr>
        <p:txBody>
          <a:bodyPr wrap="square">
            <a:spAutoFit/>
          </a:bodyPr>
          <a:lstStyle/>
          <a:p>
            <a:pPr algn="ctr"/>
            <a:r>
              <a:rPr kumimoji="1" lang="ja-JP" altLang="en-US" sz="1200" b="1" dirty="0">
                <a:solidFill>
                  <a:schemeClr val="bg1">
                    <a:lumMod val="65000"/>
                  </a:schemeClr>
                </a:solidFill>
                <a:latin typeface="メイリオ" panose="020B0604030504040204" pitchFamily="50" charset="-128"/>
                <a:ea typeface="メイリオ" panose="020B0604030504040204" pitchFamily="50" charset="-128"/>
                <a:cs typeface="メイリオ"/>
              </a:rPr>
              <a:t>接触</a:t>
            </a:r>
          </a:p>
        </p:txBody>
      </p:sp>
      <p:sp>
        <p:nvSpPr>
          <p:cNvPr id="39" name="テキスト ボックス 38">
            <a:extLst>
              <a:ext uri="{FF2B5EF4-FFF2-40B4-BE49-F238E27FC236}">
                <a16:creationId xmlns:a16="http://schemas.microsoft.com/office/drawing/2014/main" id="{BDD6B11B-082B-2EC1-7CA1-262D7193544D}"/>
              </a:ext>
            </a:extLst>
          </p:cNvPr>
          <p:cNvSpPr txBox="1"/>
          <p:nvPr/>
        </p:nvSpPr>
        <p:spPr>
          <a:xfrm>
            <a:off x="3685871" y="5900751"/>
            <a:ext cx="1913793" cy="461665"/>
          </a:xfrm>
          <a:prstGeom prst="rect">
            <a:avLst/>
          </a:prstGeom>
          <a:noFill/>
        </p:spPr>
        <p:txBody>
          <a:bodyPr wrap="square">
            <a:spAutoFit/>
          </a:bodyPr>
          <a:lstStyle/>
          <a:p>
            <a:pPr algn="ctr"/>
            <a:r>
              <a:rPr kumimoji="1" lang="ja-JP" altLang="en-US" sz="1200" b="1" dirty="0">
                <a:latin typeface="メイリオ" panose="020B0604030504040204" pitchFamily="50" charset="-128"/>
                <a:ea typeface="メイリオ" panose="020B0604030504040204" pitchFamily="50" charset="-128"/>
                <a:cs typeface="メイリオ"/>
              </a:rPr>
              <a:t>自社</a:t>
            </a:r>
            <a:r>
              <a:rPr kumimoji="1" lang="en-US" altLang="ja-JP" sz="1200" b="1" dirty="0">
                <a:latin typeface="メイリオ" panose="020B0604030504040204" pitchFamily="50" charset="-128"/>
                <a:ea typeface="メイリオ" panose="020B0604030504040204" pitchFamily="50" charset="-128"/>
                <a:cs typeface="メイリオ"/>
              </a:rPr>
              <a:t>App/</a:t>
            </a:r>
            <a:r>
              <a:rPr kumimoji="1" lang="ja-JP" altLang="en-US" sz="1200" b="1" dirty="0">
                <a:latin typeface="メイリオ" panose="020B0604030504040204" pitchFamily="50" charset="-128"/>
                <a:ea typeface="メイリオ" panose="020B0604030504040204" pitchFamily="50" charset="-128"/>
                <a:cs typeface="メイリオ"/>
              </a:rPr>
              <a:t>ネットワーク</a:t>
            </a:r>
            <a:endParaRPr kumimoji="1" lang="en-US" altLang="ja-JP" sz="1200" b="1" dirty="0">
              <a:latin typeface="メイリオ" panose="020B0604030504040204" pitchFamily="50" charset="-128"/>
              <a:ea typeface="メイリオ" panose="020B0604030504040204" pitchFamily="50" charset="-128"/>
              <a:cs typeface="メイリオ"/>
            </a:endParaRPr>
          </a:p>
          <a:p>
            <a:pPr algn="ctr"/>
            <a:r>
              <a:rPr lang="ja-JP" altLang="en-US" sz="1200" b="1" dirty="0">
                <a:latin typeface="メイリオ" panose="020B0604030504040204" pitchFamily="50" charset="-128"/>
                <a:ea typeface="メイリオ" panose="020B0604030504040204" pitchFamily="50" charset="-128"/>
                <a:cs typeface="メイリオ"/>
              </a:rPr>
              <a:t>（</a:t>
            </a:r>
            <a:r>
              <a:rPr lang="en-US" altLang="ja-JP" sz="1200" b="1" dirty="0">
                <a:latin typeface="メイリオ" panose="020B0604030504040204" pitchFamily="50" charset="-128"/>
                <a:ea typeface="メイリオ" panose="020B0604030504040204" pitchFamily="50" charset="-128"/>
                <a:cs typeface="メイリオ"/>
              </a:rPr>
              <a:t>ID</a:t>
            </a:r>
            <a:r>
              <a:rPr lang="ja-JP" altLang="en-US" sz="1200" b="1" dirty="0">
                <a:latin typeface="メイリオ" panose="020B0604030504040204" pitchFamily="50" charset="-128"/>
                <a:ea typeface="メイリオ" panose="020B0604030504040204" pitchFamily="50" charset="-128"/>
                <a:cs typeface="メイリオ"/>
              </a:rPr>
              <a:t>連携等の開発）</a:t>
            </a:r>
            <a:endParaRPr kumimoji="1" lang="ja-JP" altLang="en-US" sz="1200" b="1" dirty="0">
              <a:latin typeface="メイリオ" panose="020B0604030504040204" pitchFamily="50" charset="-128"/>
              <a:ea typeface="メイリオ" panose="020B0604030504040204" pitchFamily="50" charset="-128"/>
              <a:cs typeface="メイリオ"/>
            </a:endParaRPr>
          </a:p>
        </p:txBody>
      </p:sp>
      <p:sp>
        <p:nvSpPr>
          <p:cNvPr id="40" name="テキスト ボックス 39">
            <a:extLst>
              <a:ext uri="{FF2B5EF4-FFF2-40B4-BE49-F238E27FC236}">
                <a16:creationId xmlns:a16="http://schemas.microsoft.com/office/drawing/2014/main" id="{5842F9D0-B398-BB40-E6E0-1806610B3ABF}"/>
              </a:ext>
            </a:extLst>
          </p:cNvPr>
          <p:cNvSpPr txBox="1"/>
          <p:nvPr/>
        </p:nvSpPr>
        <p:spPr>
          <a:xfrm>
            <a:off x="3578823" y="2650866"/>
            <a:ext cx="2127892" cy="276999"/>
          </a:xfrm>
          <a:prstGeom prst="rect">
            <a:avLst/>
          </a:prstGeom>
          <a:noFill/>
        </p:spPr>
        <p:txBody>
          <a:bodyPr wrap="square">
            <a:spAutoFit/>
          </a:bodyPr>
          <a:lstStyle/>
          <a:p>
            <a:pPr algn="ctr"/>
            <a:r>
              <a:rPr kumimoji="1" lang="ja-JP" altLang="en-US" sz="1200" b="1" dirty="0">
                <a:solidFill>
                  <a:schemeClr val="bg1">
                    <a:lumMod val="65000"/>
                  </a:schemeClr>
                </a:solidFill>
                <a:latin typeface="メイリオ" panose="020B0604030504040204" pitchFamily="50" charset="-128"/>
                <a:ea typeface="メイリオ" panose="020B0604030504040204" pitchFamily="50" charset="-128"/>
                <a:cs typeface="メイリオ"/>
              </a:rPr>
              <a:t>離脱</a:t>
            </a:r>
          </a:p>
        </p:txBody>
      </p:sp>
      <p:sp>
        <p:nvSpPr>
          <p:cNvPr id="42" name="テキスト ボックス 41">
            <a:extLst>
              <a:ext uri="{FF2B5EF4-FFF2-40B4-BE49-F238E27FC236}">
                <a16:creationId xmlns:a16="http://schemas.microsoft.com/office/drawing/2014/main" id="{65925534-D40D-9B46-2A4B-52FA9BA609A2}"/>
              </a:ext>
            </a:extLst>
          </p:cNvPr>
          <p:cNvSpPr txBox="1"/>
          <p:nvPr/>
        </p:nvSpPr>
        <p:spPr>
          <a:xfrm>
            <a:off x="3578823" y="4271087"/>
            <a:ext cx="2127892" cy="276999"/>
          </a:xfrm>
          <a:prstGeom prst="rect">
            <a:avLst/>
          </a:prstGeom>
          <a:noFill/>
        </p:spPr>
        <p:txBody>
          <a:bodyPr wrap="square">
            <a:spAutoFit/>
          </a:bodyPr>
          <a:lstStyle/>
          <a:p>
            <a:pPr algn="ctr"/>
            <a:r>
              <a:rPr lang="en-US" altLang="ja-JP" sz="1200" b="1" dirty="0">
                <a:latin typeface="メイリオ" panose="020B0604030504040204" pitchFamily="50" charset="-128"/>
                <a:ea typeface="メイリオ" panose="020B0604030504040204" pitchFamily="50" charset="-128"/>
                <a:cs typeface="メイリオ"/>
              </a:rPr>
              <a:t>LINE</a:t>
            </a:r>
            <a:r>
              <a:rPr lang="ja-JP" altLang="en-US" sz="1200" b="1" dirty="0">
                <a:latin typeface="メイリオ" panose="020B0604030504040204" pitchFamily="50" charset="-128"/>
                <a:ea typeface="メイリオ" panose="020B0604030504040204" pitchFamily="50" charset="-128"/>
                <a:cs typeface="メイリオ"/>
              </a:rPr>
              <a:t>でログイン</a:t>
            </a:r>
          </a:p>
        </p:txBody>
      </p:sp>
    </p:spTree>
    <p:extLst>
      <p:ext uri="{BB962C8B-B14F-4D97-AF65-F5344CB8AC3E}">
        <p14:creationId xmlns:p14="http://schemas.microsoft.com/office/powerpoint/2010/main" val="426513679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正方形/長方形 7">
            <a:extLst>
              <a:ext uri="{FF2B5EF4-FFF2-40B4-BE49-F238E27FC236}">
                <a16:creationId xmlns:a16="http://schemas.microsoft.com/office/drawing/2014/main" id="{BCB9F207-E933-48A8-A62B-47A12C4BFADB}"/>
              </a:ext>
            </a:extLst>
          </p:cNvPr>
          <p:cNvSpPr/>
          <p:nvPr/>
        </p:nvSpPr>
        <p:spPr>
          <a:xfrm>
            <a:off x="788963" y="824934"/>
            <a:ext cx="8328074" cy="38171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cs typeface="メイリオ"/>
              </a:rPr>
              <a:t>ユーザーコミュニケーションに、</a:t>
            </a:r>
            <a:r>
              <a:rPr lang="en-US" altLang="ja-JP" sz="1400" dirty="0" err="1">
                <a:solidFill>
                  <a:srgbClr val="343434"/>
                </a:solidFill>
                <a:latin typeface="メイリオ" panose="020B0604030504040204" pitchFamily="50" charset="-128"/>
                <a:ea typeface="メイリオ" panose="020B0604030504040204" pitchFamily="50" charset="-128"/>
                <a:cs typeface="メイリオ"/>
              </a:rPr>
              <a:t>LINE公式アカウントを導入する</a:t>
            </a:r>
            <a:r>
              <a:rPr lang="ja-JP" altLang="en-US" sz="1400" dirty="0">
                <a:solidFill>
                  <a:srgbClr val="343434"/>
                </a:solidFill>
                <a:latin typeface="メイリオ" panose="020B0604030504040204" pitchFamily="50" charset="-128"/>
                <a:ea typeface="メイリオ" panose="020B0604030504040204" pitchFamily="50" charset="-128"/>
                <a:cs typeface="メイリオ"/>
              </a:rPr>
              <a:t>法人</a:t>
            </a:r>
            <a:r>
              <a:rPr lang="en-US" altLang="ja-JP" sz="1400" dirty="0">
                <a:solidFill>
                  <a:srgbClr val="343434"/>
                </a:solidFill>
                <a:latin typeface="メイリオ" panose="020B0604030504040204" pitchFamily="50" charset="-128"/>
                <a:ea typeface="メイリオ" panose="020B0604030504040204" pitchFamily="50" charset="-128"/>
                <a:cs typeface="メイリオ"/>
              </a:rPr>
              <a:t>が</a:t>
            </a:r>
            <a:r>
              <a:rPr lang="ja-JP" altLang="en-US" sz="1400" dirty="0">
                <a:solidFill>
                  <a:srgbClr val="343434"/>
                </a:solidFill>
                <a:latin typeface="メイリオ" panose="020B0604030504040204" pitchFamily="50" charset="-128"/>
                <a:ea typeface="メイリオ" panose="020B0604030504040204" pitchFamily="50" charset="-128"/>
                <a:cs typeface="メイリオ"/>
              </a:rPr>
              <a:t>増加傾向</a:t>
            </a:r>
            <a:r>
              <a:rPr lang="en-US" altLang="ja-JP" sz="1400" dirty="0">
                <a:solidFill>
                  <a:srgbClr val="343434"/>
                </a:solidFill>
                <a:latin typeface="メイリオ" panose="020B0604030504040204" pitchFamily="50" charset="-128"/>
                <a:ea typeface="メイリオ" panose="020B0604030504040204" pitchFamily="50" charset="-128"/>
                <a:cs typeface="メイリオ"/>
              </a:rPr>
              <a:t>。</a:t>
            </a:r>
          </a:p>
          <a:p>
            <a:pPr algn="ctr">
              <a:lnSpc>
                <a:spcPts val="2455"/>
              </a:lnSpc>
            </a:pPr>
            <a:r>
              <a:rPr lang="en-US" altLang="ja-JP" sz="1400" b="1" dirty="0">
                <a:solidFill>
                  <a:srgbClr val="343434"/>
                </a:solidFill>
                <a:latin typeface="メイリオ" panose="020B0604030504040204" pitchFamily="50" charset="-128"/>
                <a:ea typeface="メイリオ" panose="020B0604030504040204" pitchFamily="50" charset="-128"/>
                <a:cs typeface="メイリオ"/>
              </a:rPr>
              <a:t>開封率に関してはメールマガジンの6倍を誇る</a:t>
            </a:r>
            <a:r>
              <a:rPr lang="en-US" altLang="ja-JP" sz="1400" dirty="0">
                <a:solidFill>
                  <a:srgbClr val="343434"/>
                </a:solidFill>
                <a:latin typeface="メイリオ" panose="020B0604030504040204" pitchFamily="50" charset="-128"/>
                <a:ea typeface="メイリオ" panose="020B0604030504040204" pitchFamily="50" charset="-128"/>
                <a:cs typeface="メイリオ"/>
              </a:rPr>
              <a:t>と言われています。</a:t>
            </a:r>
          </a:p>
        </p:txBody>
      </p:sp>
      <p:cxnSp>
        <p:nvCxnSpPr>
          <p:cNvPr id="9" name="直線コネクタ 8">
            <a:extLst>
              <a:ext uri="{FF2B5EF4-FFF2-40B4-BE49-F238E27FC236}">
                <a16:creationId xmlns:a16="http://schemas.microsoft.com/office/drawing/2014/main" id="{CA93CA45-604C-4C3A-A630-6604E0B4FD4A}"/>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grpSp>
        <p:nvGrpSpPr>
          <p:cNvPr id="10" name="Group 2">
            <a:extLst>
              <a:ext uri="{FF2B5EF4-FFF2-40B4-BE49-F238E27FC236}">
                <a16:creationId xmlns:a16="http://schemas.microsoft.com/office/drawing/2014/main" id="{8411FB04-4378-9C1F-7198-DA25276CF8E2}"/>
              </a:ext>
            </a:extLst>
          </p:cNvPr>
          <p:cNvGrpSpPr/>
          <p:nvPr/>
        </p:nvGrpSpPr>
        <p:grpSpPr>
          <a:xfrm>
            <a:off x="788963" y="1653447"/>
            <a:ext cx="8366061" cy="731867"/>
            <a:chOff x="0" y="0"/>
            <a:chExt cx="3130995" cy="273901"/>
          </a:xfrm>
        </p:grpSpPr>
        <p:sp>
          <p:nvSpPr>
            <p:cNvPr id="11" name="Freeform 3">
              <a:extLst>
                <a:ext uri="{FF2B5EF4-FFF2-40B4-BE49-F238E27FC236}">
                  <a16:creationId xmlns:a16="http://schemas.microsoft.com/office/drawing/2014/main" id="{DA30BE06-7392-13FD-69EB-48890255A158}"/>
                </a:ext>
              </a:extLst>
            </p:cNvPr>
            <p:cNvSpPr/>
            <p:nvPr/>
          </p:nvSpPr>
          <p:spPr>
            <a:xfrm>
              <a:off x="0" y="0"/>
              <a:ext cx="3130995" cy="273901"/>
            </a:xfrm>
            <a:custGeom>
              <a:avLst/>
              <a:gdLst/>
              <a:ahLst/>
              <a:cxnLst/>
              <a:rect l="l" t="t" r="r" b="b"/>
              <a:pathLst>
                <a:path w="3130995" h="273901">
                  <a:moveTo>
                    <a:pt x="12956" y="0"/>
                  </a:moveTo>
                  <a:lnTo>
                    <a:pt x="3118039" y="0"/>
                  </a:lnTo>
                  <a:cubicBezTo>
                    <a:pt x="3121475" y="0"/>
                    <a:pt x="3124771" y="1365"/>
                    <a:pt x="3127200" y="3795"/>
                  </a:cubicBezTo>
                  <a:cubicBezTo>
                    <a:pt x="3129630" y="6224"/>
                    <a:pt x="3130995" y="9520"/>
                    <a:pt x="3130995" y="12956"/>
                  </a:cubicBezTo>
                  <a:lnTo>
                    <a:pt x="3130995" y="260946"/>
                  </a:lnTo>
                  <a:cubicBezTo>
                    <a:pt x="3130995" y="264382"/>
                    <a:pt x="3129630" y="267677"/>
                    <a:pt x="3127200" y="270106"/>
                  </a:cubicBezTo>
                  <a:cubicBezTo>
                    <a:pt x="3124771" y="272536"/>
                    <a:pt x="3121475" y="273901"/>
                    <a:pt x="3118039" y="273901"/>
                  </a:cubicBezTo>
                  <a:lnTo>
                    <a:pt x="12956" y="273901"/>
                  </a:lnTo>
                  <a:cubicBezTo>
                    <a:pt x="9520" y="273901"/>
                    <a:pt x="6224" y="272536"/>
                    <a:pt x="3795" y="270106"/>
                  </a:cubicBezTo>
                  <a:cubicBezTo>
                    <a:pt x="1365" y="267677"/>
                    <a:pt x="0" y="264382"/>
                    <a:pt x="0" y="260946"/>
                  </a:cubicBezTo>
                  <a:lnTo>
                    <a:pt x="0" y="12956"/>
                  </a:lnTo>
                  <a:cubicBezTo>
                    <a:pt x="0" y="9520"/>
                    <a:pt x="1365" y="6224"/>
                    <a:pt x="3795" y="3795"/>
                  </a:cubicBezTo>
                  <a:cubicBezTo>
                    <a:pt x="6224" y="1365"/>
                    <a:pt x="9520" y="0"/>
                    <a:pt x="12956" y="0"/>
                  </a:cubicBezTo>
                  <a:close/>
                </a:path>
              </a:pathLst>
            </a:custGeom>
            <a:solidFill>
              <a:srgbClr val="D9D9D9"/>
            </a:solidFill>
          </p:spPr>
          <p:txBody>
            <a:bodyPr/>
            <a:lstStyle/>
            <a:p>
              <a:endParaRPr lang="ja-JP" altLang="en-US" sz="1400">
                <a:latin typeface="メイリオ" panose="020B0604030504040204" pitchFamily="50" charset="-128"/>
                <a:ea typeface="メイリオ" panose="020B0604030504040204" pitchFamily="50" charset="-128"/>
                <a:cs typeface="メイリオ"/>
              </a:endParaRPr>
            </a:p>
          </p:txBody>
        </p:sp>
        <p:sp>
          <p:nvSpPr>
            <p:cNvPr id="12" name="TextBox 4">
              <a:extLst>
                <a:ext uri="{FF2B5EF4-FFF2-40B4-BE49-F238E27FC236}">
                  <a16:creationId xmlns:a16="http://schemas.microsoft.com/office/drawing/2014/main" id="{C283FFE9-487F-ECFB-11D7-47B424A23DE5}"/>
                </a:ext>
              </a:extLst>
            </p:cNvPr>
            <p:cNvSpPr txBox="1"/>
            <p:nvPr/>
          </p:nvSpPr>
          <p:spPr>
            <a:xfrm>
              <a:off x="0" y="-47625"/>
              <a:ext cx="3130995" cy="321526"/>
            </a:xfrm>
            <a:prstGeom prst="rect">
              <a:avLst/>
            </a:prstGeom>
          </p:spPr>
          <p:txBody>
            <a:bodyPr lIns="29700" tIns="29700" rIns="29700" bIns="29700" rtlCol="0" anchor="ctr"/>
            <a:lstStyle/>
            <a:p>
              <a:pPr algn="ctr">
                <a:lnSpc>
                  <a:spcPts val="2455"/>
                </a:lnSpc>
              </a:pPr>
              <a:r>
                <a:rPr lang="ja-JP" altLang="en-US" sz="1400" dirty="0">
                  <a:solidFill>
                    <a:srgbClr val="040606"/>
                  </a:solidFill>
                  <a:latin typeface="メイリオ" panose="020B0604030504040204" pitchFamily="50" charset="-128"/>
                  <a:ea typeface="メイリオ" panose="020B0604030504040204" pitchFamily="50" charset="-128"/>
                  <a:cs typeface="メイリオ"/>
                </a:rPr>
                <a:t>　　　　</a:t>
              </a:r>
              <a:r>
                <a:rPr lang="en-US" sz="1400" dirty="0" err="1">
                  <a:solidFill>
                    <a:srgbClr val="040606"/>
                  </a:solidFill>
                  <a:latin typeface="メイリオ" panose="020B0604030504040204" pitchFamily="50" charset="-128"/>
                  <a:ea typeface="メイリオ" panose="020B0604030504040204" pitchFamily="50" charset="-128"/>
                  <a:cs typeface="メイリオ"/>
                </a:rPr>
                <a:t>メールマガジン</a:t>
              </a:r>
              <a:r>
                <a:rPr lang="ja-JP" altLang="en-US" sz="1400" dirty="0" err="1">
                  <a:solidFill>
                    <a:srgbClr val="040606"/>
                  </a:solidFill>
                  <a:latin typeface="メイリオ" panose="020B0604030504040204" pitchFamily="50" charset="-128"/>
                  <a:ea typeface="メイリオ" panose="020B0604030504040204" pitchFamily="50" charset="-128"/>
                  <a:cs typeface="メイリオ"/>
                </a:rPr>
                <a:t>、</a:t>
              </a:r>
              <a:r>
                <a:rPr lang="ja-JP" altLang="en-US" sz="1400" dirty="0">
                  <a:solidFill>
                    <a:srgbClr val="040606"/>
                  </a:solidFill>
                  <a:latin typeface="メイリオ" panose="020B0604030504040204" pitchFamily="50" charset="-128"/>
                  <a:ea typeface="メイリオ" panose="020B0604030504040204" pitchFamily="50" charset="-128"/>
                  <a:cs typeface="メイリオ"/>
                </a:rPr>
                <a:t>テレマーケティング </a:t>
              </a:r>
              <a:r>
                <a:rPr lang="en-US" sz="1400" dirty="0" err="1">
                  <a:solidFill>
                    <a:srgbClr val="040606"/>
                  </a:solidFill>
                  <a:latin typeface="メイリオ" panose="020B0604030504040204" pitchFamily="50" charset="-128"/>
                  <a:ea typeface="メイリオ" panose="020B0604030504040204" pitchFamily="50" charset="-128"/>
                  <a:cs typeface="メイリオ"/>
                </a:rPr>
                <a:t>が主流</a:t>
              </a:r>
              <a:endParaRPr lang="en-US" sz="1400" dirty="0">
                <a:solidFill>
                  <a:srgbClr val="040606"/>
                </a:solidFill>
                <a:latin typeface="メイリオ" panose="020B0604030504040204" pitchFamily="50" charset="-128"/>
                <a:ea typeface="メイリオ" panose="020B0604030504040204" pitchFamily="50" charset="-128"/>
                <a:cs typeface="メイリオ"/>
              </a:endParaRPr>
            </a:p>
          </p:txBody>
        </p:sp>
      </p:grpSp>
      <p:sp>
        <p:nvSpPr>
          <p:cNvPr id="13" name="Freeform 5">
            <a:extLst>
              <a:ext uri="{FF2B5EF4-FFF2-40B4-BE49-F238E27FC236}">
                <a16:creationId xmlns:a16="http://schemas.microsoft.com/office/drawing/2014/main" id="{92B274FD-6C4B-BF09-92C7-B918BFE86EBE}"/>
              </a:ext>
            </a:extLst>
          </p:cNvPr>
          <p:cNvSpPr/>
          <p:nvPr/>
        </p:nvSpPr>
        <p:spPr>
          <a:xfrm>
            <a:off x="1044952" y="1864063"/>
            <a:ext cx="586512" cy="415690"/>
          </a:xfrm>
          <a:custGeom>
            <a:avLst/>
            <a:gdLst/>
            <a:ahLst/>
            <a:cxnLst/>
            <a:rect l="l" t="t" r="r" b="b"/>
            <a:pathLst>
              <a:path w="586512" h="415690">
                <a:moveTo>
                  <a:pt x="0" y="0"/>
                </a:moveTo>
                <a:lnTo>
                  <a:pt x="586512" y="0"/>
                </a:lnTo>
                <a:lnTo>
                  <a:pt x="586512" y="415691"/>
                </a:lnTo>
                <a:lnTo>
                  <a:pt x="0" y="415691"/>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14" name="Freeform 6">
            <a:extLst>
              <a:ext uri="{FF2B5EF4-FFF2-40B4-BE49-F238E27FC236}">
                <a16:creationId xmlns:a16="http://schemas.microsoft.com/office/drawing/2014/main" id="{BE4175CE-3408-B9E2-6CB8-BAD8904A8563}"/>
              </a:ext>
            </a:extLst>
          </p:cNvPr>
          <p:cNvSpPr/>
          <p:nvPr/>
        </p:nvSpPr>
        <p:spPr>
          <a:xfrm>
            <a:off x="1828420" y="1769085"/>
            <a:ext cx="385149" cy="302824"/>
          </a:xfrm>
          <a:custGeom>
            <a:avLst/>
            <a:gdLst/>
            <a:ahLst/>
            <a:cxnLst/>
            <a:rect l="l" t="t" r="r" b="b"/>
            <a:pathLst>
              <a:path w="385149" h="302824">
                <a:moveTo>
                  <a:pt x="0" y="0"/>
                </a:moveTo>
                <a:lnTo>
                  <a:pt x="385150" y="0"/>
                </a:lnTo>
                <a:lnTo>
                  <a:pt x="385150" y="302824"/>
                </a:lnTo>
                <a:lnTo>
                  <a:pt x="0" y="302824"/>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grpSp>
        <p:nvGrpSpPr>
          <p:cNvPr id="15" name="Group 7">
            <a:extLst>
              <a:ext uri="{FF2B5EF4-FFF2-40B4-BE49-F238E27FC236}">
                <a16:creationId xmlns:a16="http://schemas.microsoft.com/office/drawing/2014/main" id="{0D673740-D652-7CA2-D522-30AA6E6BB082}"/>
              </a:ext>
            </a:extLst>
          </p:cNvPr>
          <p:cNvGrpSpPr/>
          <p:nvPr/>
        </p:nvGrpSpPr>
        <p:grpSpPr>
          <a:xfrm>
            <a:off x="4762596" y="2450266"/>
            <a:ext cx="418793" cy="197815"/>
            <a:chOff x="0" y="0"/>
            <a:chExt cx="812800" cy="383922"/>
          </a:xfrm>
        </p:grpSpPr>
        <p:sp>
          <p:nvSpPr>
            <p:cNvPr id="16" name="Freeform 8">
              <a:extLst>
                <a:ext uri="{FF2B5EF4-FFF2-40B4-BE49-F238E27FC236}">
                  <a16:creationId xmlns:a16="http://schemas.microsoft.com/office/drawing/2014/main" id="{EC35FB35-F0A3-935B-D05E-B8D1AE53C824}"/>
                </a:ext>
              </a:extLst>
            </p:cNvPr>
            <p:cNvSpPr/>
            <p:nvPr/>
          </p:nvSpPr>
          <p:spPr>
            <a:xfrm>
              <a:off x="0" y="0"/>
              <a:ext cx="812800" cy="383922"/>
            </a:xfrm>
            <a:custGeom>
              <a:avLst/>
              <a:gdLst/>
              <a:ahLst/>
              <a:cxnLst/>
              <a:rect l="l" t="t" r="r" b="b"/>
              <a:pathLst>
                <a:path w="812800" h="383922">
                  <a:moveTo>
                    <a:pt x="406400" y="383922"/>
                  </a:moveTo>
                  <a:lnTo>
                    <a:pt x="812800" y="0"/>
                  </a:lnTo>
                  <a:lnTo>
                    <a:pt x="0" y="0"/>
                  </a:lnTo>
                  <a:lnTo>
                    <a:pt x="406400" y="383922"/>
                  </a:lnTo>
                  <a:close/>
                </a:path>
              </a:pathLst>
            </a:custGeom>
            <a:solidFill>
              <a:srgbClr val="00B449"/>
            </a:solid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17" name="TextBox 9">
              <a:extLst>
                <a:ext uri="{FF2B5EF4-FFF2-40B4-BE49-F238E27FC236}">
                  <a16:creationId xmlns:a16="http://schemas.microsoft.com/office/drawing/2014/main" id="{C69E28B5-A3A4-36F5-01DB-CB6A9BEF984F}"/>
                </a:ext>
              </a:extLst>
            </p:cNvPr>
            <p:cNvSpPr txBox="1"/>
            <p:nvPr/>
          </p:nvSpPr>
          <p:spPr>
            <a:xfrm>
              <a:off x="127000" y="-20202"/>
              <a:ext cx="558800" cy="225874"/>
            </a:xfrm>
            <a:prstGeom prst="rect">
              <a:avLst/>
            </a:prstGeom>
          </p:spPr>
          <p:txBody>
            <a:bodyPr lIns="29700" tIns="29700" rIns="29700" bIns="29700" rtlCol="0" anchor="ctr"/>
            <a:lstStyle/>
            <a:p>
              <a:pPr algn="ctr">
                <a:lnSpc>
                  <a:spcPts val="2046"/>
                </a:lnSpc>
              </a:pPr>
              <a:endParaRPr>
                <a:latin typeface="メイリオ" panose="020B0604030504040204" pitchFamily="50" charset="-128"/>
                <a:ea typeface="メイリオ" panose="020B0604030504040204" pitchFamily="50" charset="-128"/>
                <a:cs typeface="メイリオ"/>
              </a:endParaRPr>
            </a:p>
          </p:txBody>
        </p:sp>
      </p:grpSp>
      <p:grpSp>
        <p:nvGrpSpPr>
          <p:cNvPr id="18" name="Group 10">
            <a:extLst>
              <a:ext uri="{FF2B5EF4-FFF2-40B4-BE49-F238E27FC236}">
                <a16:creationId xmlns:a16="http://schemas.microsoft.com/office/drawing/2014/main" id="{2D0D8876-267F-8994-0640-F07758F8E631}"/>
              </a:ext>
            </a:extLst>
          </p:cNvPr>
          <p:cNvGrpSpPr/>
          <p:nvPr/>
        </p:nvGrpSpPr>
        <p:grpSpPr>
          <a:xfrm>
            <a:off x="788963" y="2722429"/>
            <a:ext cx="8366061" cy="731867"/>
            <a:chOff x="0" y="0"/>
            <a:chExt cx="3130995" cy="273901"/>
          </a:xfrm>
        </p:grpSpPr>
        <p:sp>
          <p:nvSpPr>
            <p:cNvPr id="19" name="Freeform 11">
              <a:extLst>
                <a:ext uri="{FF2B5EF4-FFF2-40B4-BE49-F238E27FC236}">
                  <a16:creationId xmlns:a16="http://schemas.microsoft.com/office/drawing/2014/main" id="{C5CB9F64-A605-7D94-6D58-E12CBE069A72}"/>
                </a:ext>
              </a:extLst>
            </p:cNvPr>
            <p:cNvSpPr/>
            <p:nvPr/>
          </p:nvSpPr>
          <p:spPr>
            <a:xfrm>
              <a:off x="0" y="0"/>
              <a:ext cx="3130995" cy="273901"/>
            </a:xfrm>
            <a:custGeom>
              <a:avLst/>
              <a:gdLst/>
              <a:ahLst/>
              <a:cxnLst/>
              <a:rect l="l" t="t" r="r" b="b"/>
              <a:pathLst>
                <a:path w="3130995" h="273901">
                  <a:moveTo>
                    <a:pt x="12956" y="0"/>
                  </a:moveTo>
                  <a:lnTo>
                    <a:pt x="3118039" y="0"/>
                  </a:lnTo>
                  <a:cubicBezTo>
                    <a:pt x="3121475" y="0"/>
                    <a:pt x="3124771" y="1365"/>
                    <a:pt x="3127200" y="3795"/>
                  </a:cubicBezTo>
                  <a:cubicBezTo>
                    <a:pt x="3129630" y="6224"/>
                    <a:pt x="3130995" y="9520"/>
                    <a:pt x="3130995" y="12956"/>
                  </a:cubicBezTo>
                  <a:lnTo>
                    <a:pt x="3130995" y="260946"/>
                  </a:lnTo>
                  <a:cubicBezTo>
                    <a:pt x="3130995" y="264382"/>
                    <a:pt x="3129630" y="267677"/>
                    <a:pt x="3127200" y="270106"/>
                  </a:cubicBezTo>
                  <a:cubicBezTo>
                    <a:pt x="3124771" y="272536"/>
                    <a:pt x="3121475" y="273901"/>
                    <a:pt x="3118039" y="273901"/>
                  </a:cubicBezTo>
                  <a:lnTo>
                    <a:pt x="12956" y="273901"/>
                  </a:lnTo>
                  <a:cubicBezTo>
                    <a:pt x="9520" y="273901"/>
                    <a:pt x="6224" y="272536"/>
                    <a:pt x="3795" y="270106"/>
                  </a:cubicBezTo>
                  <a:cubicBezTo>
                    <a:pt x="1365" y="267677"/>
                    <a:pt x="0" y="264382"/>
                    <a:pt x="0" y="260946"/>
                  </a:cubicBezTo>
                  <a:lnTo>
                    <a:pt x="0" y="12956"/>
                  </a:lnTo>
                  <a:cubicBezTo>
                    <a:pt x="0" y="9520"/>
                    <a:pt x="1365" y="6224"/>
                    <a:pt x="3795" y="3795"/>
                  </a:cubicBezTo>
                  <a:cubicBezTo>
                    <a:pt x="6224" y="1365"/>
                    <a:pt x="9520" y="0"/>
                    <a:pt x="12956" y="0"/>
                  </a:cubicBezTo>
                  <a:close/>
                </a:path>
              </a:pathLst>
            </a:custGeom>
            <a:solidFill>
              <a:srgbClr val="D4F4E1"/>
            </a:solidFill>
          </p:spPr>
          <p:txBody>
            <a:bodyPr/>
            <a:lstStyle/>
            <a:p>
              <a:endParaRPr lang="ja-JP" altLang="en-US" sz="1400">
                <a:latin typeface="メイリオ" panose="020B0604030504040204" pitchFamily="50" charset="-128"/>
                <a:ea typeface="メイリオ" panose="020B0604030504040204" pitchFamily="50" charset="-128"/>
                <a:cs typeface="メイリオ"/>
              </a:endParaRPr>
            </a:p>
          </p:txBody>
        </p:sp>
        <p:sp>
          <p:nvSpPr>
            <p:cNvPr id="20" name="TextBox 12">
              <a:extLst>
                <a:ext uri="{FF2B5EF4-FFF2-40B4-BE49-F238E27FC236}">
                  <a16:creationId xmlns:a16="http://schemas.microsoft.com/office/drawing/2014/main" id="{8175F01D-919F-5A71-EF4D-6A5F56166D72}"/>
                </a:ext>
              </a:extLst>
            </p:cNvPr>
            <p:cNvSpPr txBox="1"/>
            <p:nvPr/>
          </p:nvSpPr>
          <p:spPr>
            <a:xfrm>
              <a:off x="0" y="-47625"/>
              <a:ext cx="3130995" cy="321526"/>
            </a:xfrm>
            <a:prstGeom prst="rect">
              <a:avLst/>
            </a:prstGeom>
          </p:spPr>
          <p:txBody>
            <a:bodyPr lIns="29700" tIns="29700" rIns="29700" bIns="29700" rtlCol="0" anchor="ctr"/>
            <a:lstStyle/>
            <a:p>
              <a:pPr algn="ctr">
                <a:lnSpc>
                  <a:spcPts val="2455"/>
                </a:lnSpc>
              </a:pPr>
              <a:r>
                <a:rPr lang="ja-JP" altLang="en-US" sz="1400" b="1" dirty="0">
                  <a:solidFill>
                    <a:srgbClr val="00B900"/>
                  </a:solidFill>
                  <a:latin typeface="メイリオ" panose="020B0604030504040204" pitchFamily="50" charset="-128"/>
                  <a:ea typeface="メイリオ" panose="020B0604030504040204" pitchFamily="50" charset="-128"/>
                  <a:cs typeface="メイリオ"/>
                </a:rPr>
                <a:t>　　　　＋</a:t>
              </a:r>
              <a:r>
                <a:rPr lang="en-US" sz="1400" b="1" dirty="0">
                  <a:solidFill>
                    <a:srgbClr val="00B900"/>
                  </a:solidFill>
                  <a:latin typeface="メイリオ" panose="020B0604030504040204" pitchFamily="50" charset="-128"/>
                  <a:ea typeface="メイリオ" panose="020B0604030504040204" pitchFamily="50" charset="-128"/>
                  <a:cs typeface="メイリオ"/>
                </a:rPr>
                <a:t>LINE</a:t>
              </a:r>
              <a:r>
                <a:rPr lang="ja-JP" altLang="en-US" sz="1400" b="1" dirty="0">
                  <a:solidFill>
                    <a:srgbClr val="00B900"/>
                  </a:solidFill>
                  <a:latin typeface="メイリオ" panose="020B0604030504040204" pitchFamily="50" charset="-128"/>
                  <a:ea typeface="メイリオ" panose="020B0604030504040204" pitchFamily="50" charset="-128"/>
                  <a:cs typeface="メイリオ"/>
                </a:rPr>
                <a:t>公式アカウント</a:t>
              </a:r>
              <a:r>
                <a:rPr lang="en-US" sz="1400" b="1" dirty="0">
                  <a:solidFill>
                    <a:srgbClr val="00B900"/>
                  </a:solidFill>
                  <a:latin typeface="メイリオ" panose="020B0604030504040204" pitchFamily="50" charset="-128"/>
                  <a:ea typeface="メイリオ" panose="020B0604030504040204" pitchFamily="50" charset="-128"/>
                  <a:cs typeface="メイリオ"/>
                </a:rPr>
                <a:t> </a:t>
              </a:r>
              <a:r>
                <a:rPr lang="en-US" sz="1400" dirty="0" err="1">
                  <a:solidFill>
                    <a:srgbClr val="00B900"/>
                  </a:solidFill>
                  <a:latin typeface="メイリオ" panose="020B0604030504040204" pitchFamily="50" charset="-128"/>
                  <a:ea typeface="メイリオ" panose="020B0604030504040204" pitchFamily="50" charset="-128"/>
                  <a:cs typeface="メイリオ"/>
                </a:rPr>
                <a:t>が主流</a:t>
              </a:r>
              <a:endParaRPr lang="en-US" sz="1400" dirty="0">
                <a:solidFill>
                  <a:srgbClr val="00B900"/>
                </a:solidFill>
                <a:latin typeface="メイリオ" panose="020B0604030504040204" pitchFamily="50" charset="-128"/>
                <a:ea typeface="メイリオ" panose="020B0604030504040204" pitchFamily="50" charset="-128"/>
                <a:cs typeface="メイリオ"/>
              </a:endParaRPr>
            </a:p>
          </p:txBody>
        </p:sp>
      </p:grpSp>
      <p:sp>
        <p:nvSpPr>
          <p:cNvPr id="21" name="Freeform 13">
            <a:extLst>
              <a:ext uri="{FF2B5EF4-FFF2-40B4-BE49-F238E27FC236}">
                <a16:creationId xmlns:a16="http://schemas.microsoft.com/office/drawing/2014/main" id="{6FCF9A47-57C4-D983-7A09-62A1C2DDB6B4}"/>
              </a:ext>
            </a:extLst>
          </p:cNvPr>
          <p:cNvSpPr/>
          <p:nvPr/>
        </p:nvSpPr>
        <p:spPr>
          <a:xfrm>
            <a:off x="1184666" y="2810458"/>
            <a:ext cx="307084" cy="555808"/>
          </a:xfrm>
          <a:custGeom>
            <a:avLst/>
            <a:gdLst/>
            <a:ahLst/>
            <a:cxnLst/>
            <a:rect l="l" t="t" r="r" b="b"/>
            <a:pathLst>
              <a:path w="307084" h="555808">
                <a:moveTo>
                  <a:pt x="0" y="0"/>
                </a:moveTo>
                <a:lnTo>
                  <a:pt x="307084" y="0"/>
                </a:lnTo>
                <a:lnTo>
                  <a:pt x="307084" y="555808"/>
                </a:lnTo>
                <a:lnTo>
                  <a:pt x="0" y="555808"/>
                </a:lnTo>
                <a:lnTo>
                  <a:pt x="0" y="0"/>
                </a:lnTo>
                <a:close/>
              </a:path>
            </a:pathLst>
          </a:custGeom>
          <a:blipFill>
            <a:blip cstate="screen">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a:blip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22" name="Freeform 14">
            <a:extLst>
              <a:ext uri="{FF2B5EF4-FFF2-40B4-BE49-F238E27FC236}">
                <a16:creationId xmlns:a16="http://schemas.microsoft.com/office/drawing/2014/main" id="{EFB8EAC2-A5C6-6450-209B-316F851133C9}"/>
              </a:ext>
            </a:extLst>
          </p:cNvPr>
          <p:cNvSpPr/>
          <p:nvPr/>
        </p:nvSpPr>
        <p:spPr>
          <a:xfrm>
            <a:off x="1815677" y="2807175"/>
            <a:ext cx="397893" cy="397893"/>
          </a:xfrm>
          <a:custGeom>
            <a:avLst/>
            <a:gdLst/>
            <a:ahLst/>
            <a:cxnLst/>
            <a:rect l="l" t="t" r="r" b="b"/>
            <a:pathLst>
              <a:path w="397893" h="397893">
                <a:moveTo>
                  <a:pt x="0" y="0"/>
                </a:moveTo>
                <a:lnTo>
                  <a:pt x="397893" y="0"/>
                </a:lnTo>
                <a:lnTo>
                  <a:pt x="397893" y="397892"/>
                </a:lnTo>
                <a:lnTo>
                  <a:pt x="0" y="397892"/>
                </a:lnTo>
                <a:lnTo>
                  <a:pt x="0" y="0"/>
                </a:lnTo>
                <a:close/>
              </a:path>
            </a:pathLst>
          </a:custGeom>
          <a:blipFill>
            <a:blip cstate="screen">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a:blip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24" name="TextBox 16">
            <a:extLst>
              <a:ext uri="{FF2B5EF4-FFF2-40B4-BE49-F238E27FC236}">
                <a16:creationId xmlns:a16="http://schemas.microsoft.com/office/drawing/2014/main" id="{654B7271-F862-F3D1-E65A-6C75F2F9021C}"/>
              </a:ext>
            </a:extLst>
          </p:cNvPr>
          <p:cNvSpPr txBox="1"/>
          <p:nvPr/>
        </p:nvSpPr>
        <p:spPr>
          <a:xfrm>
            <a:off x="2903784" y="3579302"/>
            <a:ext cx="2520582" cy="302006"/>
          </a:xfrm>
          <a:prstGeom prst="rect">
            <a:avLst/>
          </a:prstGeom>
        </p:spPr>
        <p:txBody>
          <a:bodyPr lIns="0" tIns="0" rIns="0" bIns="0" rtlCol="0" anchor="t">
            <a:spAutoFit/>
          </a:bodyPr>
          <a:lstStyle/>
          <a:p>
            <a:pPr algn="ctr">
              <a:lnSpc>
                <a:spcPts val="2455"/>
              </a:lnSpc>
            </a:pPr>
            <a:r>
              <a:rPr lang="en-US" sz="1400">
                <a:solidFill>
                  <a:srgbClr val="040606"/>
                </a:solidFill>
                <a:latin typeface="メイリオ" panose="020B0604030504040204" pitchFamily="50" charset="-128"/>
                <a:ea typeface="メイリオ" panose="020B0604030504040204" pitchFamily="50" charset="-128"/>
                <a:cs typeface="メイリオ"/>
              </a:rPr>
              <a:t>メールマガジン</a:t>
            </a:r>
          </a:p>
        </p:txBody>
      </p:sp>
      <p:grpSp>
        <p:nvGrpSpPr>
          <p:cNvPr id="26" name="Group 18">
            <a:extLst>
              <a:ext uri="{FF2B5EF4-FFF2-40B4-BE49-F238E27FC236}">
                <a16:creationId xmlns:a16="http://schemas.microsoft.com/office/drawing/2014/main" id="{E238BF15-71F6-4126-96D0-3C58C8B7CB25}"/>
              </a:ext>
            </a:extLst>
          </p:cNvPr>
          <p:cNvGrpSpPr/>
          <p:nvPr/>
        </p:nvGrpSpPr>
        <p:grpSpPr>
          <a:xfrm>
            <a:off x="4026555" y="3972737"/>
            <a:ext cx="275039" cy="129913"/>
            <a:chOff x="0" y="0"/>
            <a:chExt cx="812800" cy="383922"/>
          </a:xfrm>
        </p:grpSpPr>
        <p:sp>
          <p:nvSpPr>
            <p:cNvPr id="27" name="Freeform 19">
              <a:extLst>
                <a:ext uri="{FF2B5EF4-FFF2-40B4-BE49-F238E27FC236}">
                  <a16:creationId xmlns:a16="http://schemas.microsoft.com/office/drawing/2014/main" id="{49FE6727-4EE8-5C24-6048-CAC6C3CB48D0}"/>
                </a:ext>
              </a:extLst>
            </p:cNvPr>
            <p:cNvSpPr/>
            <p:nvPr/>
          </p:nvSpPr>
          <p:spPr>
            <a:xfrm>
              <a:off x="0" y="0"/>
              <a:ext cx="812800" cy="383922"/>
            </a:xfrm>
            <a:custGeom>
              <a:avLst/>
              <a:gdLst/>
              <a:ahLst/>
              <a:cxnLst/>
              <a:rect l="l" t="t" r="r" b="b"/>
              <a:pathLst>
                <a:path w="812800" h="383922">
                  <a:moveTo>
                    <a:pt x="406400" y="383922"/>
                  </a:moveTo>
                  <a:lnTo>
                    <a:pt x="812800" y="0"/>
                  </a:lnTo>
                  <a:lnTo>
                    <a:pt x="0" y="0"/>
                  </a:lnTo>
                  <a:lnTo>
                    <a:pt x="406400" y="383922"/>
                  </a:lnTo>
                  <a:close/>
                </a:path>
              </a:pathLst>
            </a:custGeom>
            <a:solidFill>
              <a:srgbClr val="000000"/>
            </a:solidFill>
          </p:spPr>
          <p:txBody>
            <a:bodyPr/>
            <a:lstStyle/>
            <a:p>
              <a:endParaRPr lang="ja-JP" altLang="en-US" sz="1400">
                <a:latin typeface="メイリオ" panose="020B0604030504040204" pitchFamily="50" charset="-128"/>
                <a:ea typeface="メイリオ" panose="020B0604030504040204" pitchFamily="50" charset="-128"/>
                <a:cs typeface="メイリオ"/>
              </a:endParaRPr>
            </a:p>
          </p:txBody>
        </p:sp>
        <p:sp>
          <p:nvSpPr>
            <p:cNvPr id="28" name="TextBox 20">
              <a:extLst>
                <a:ext uri="{FF2B5EF4-FFF2-40B4-BE49-F238E27FC236}">
                  <a16:creationId xmlns:a16="http://schemas.microsoft.com/office/drawing/2014/main" id="{D00B2C25-C04A-579B-6514-18301F922DD2}"/>
                </a:ext>
              </a:extLst>
            </p:cNvPr>
            <p:cNvSpPr txBox="1"/>
            <p:nvPr/>
          </p:nvSpPr>
          <p:spPr>
            <a:xfrm>
              <a:off x="127000" y="-20202"/>
              <a:ext cx="558800" cy="225874"/>
            </a:xfrm>
            <a:prstGeom prst="rect">
              <a:avLst/>
            </a:prstGeom>
          </p:spPr>
          <p:txBody>
            <a:bodyPr lIns="29700" tIns="29700" rIns="29700" bIns="29700" rtlCol="0" anchor="ctr"/>
            <a:lstStyle/>
            <a:p>
              <a:pPr algn="ctr">
                <a:lnSpc>
                  <a:spcPts val="2046"/>
                </a:lnSpc>
              </a:pPr>
              <a:endParaRPr sz="1400">
                <a:latin typeface="メイリオ" panose="020B0604030504040204" pitchFamily="50" charset="-128"/>
                <a:ea typeface="メイリオ" panose="020B0604030504040204" pitchFamily="50" charset="-128"/>
                <a:cs typeface="メイリオ"/>
              </a:endParaRPr>
            </a:p>
          </p:txBody>
        </p:sp>
      </p:grpSp>
      <p:sp>
        <p:nvSpPr>
          <p:cNvPr id="32" name="AutoShape 24">
            <a:extLst>
              <a:ext uri="{FF2B5EF4-FFF2-40B4-BE49-F238E27FC236}">
                <a16:creationId xmlns:a16="http://schemas.microsoft.com/office/drawing/2014/main" id="{E12D8DCD-6939-B3D3-8747-7AB267084175}"/>
              </a:ext>
            </a:extLst>
          </p:cNvPr>
          <p:cNvSpPr/>
          <p:nvPr/>
        </p:nvSpPr>
        <p:spPr>
          <a:xfrm>
            <a:off x="1044962" y="4660284"/>
            <a:ext cx="7854082" cy="7039"/>
          </a:xfrm>
          <a:prstGeom prst="line">
            <a:avLst/>
          </a:prstGeom>
          <a:ln w="19050" cap="flat">
            <a:solidFill>
              <a:srgbClr val="000000"/>
            </a:solidFill>
            <a:prstDash val="sysDot"/>
            <a:headEnd type="none" w="sm" len="sm"/>
            <a:tailEnd type="none" w="sm" len="sm"/>
          </a:ln>
        </p:spPr>
        <p:txBody>
          <a:bodyPr/>
          <a:lstStyle/>
          <a:p>
            <a:endParaRPr lang="ja-JP" altLang="en-US" sz="1400">
              <a:latin typeface="メイリオ" panose="020B0604030504040204" pitchFamily="50" charset="-128"/>
              <a:ea typeface="メイリオ" panose="020B0604030504040204" pitchFamily="50" charset="-128"/>
              <a:cs typeface="メイリオ"/>
            </a:endParaRPr>
          </a:p>
        </p:txBody>
      </p:sp>
      <p:sp>
        <p:nvSpPr>
          <p:cNvPr id="33" name="TextBox 25">
            <a:extLst>
              <a:ext uri="{FF2B5EF4-FFF2-40B4-BE49-F238E27FC236}">
                <a16:creationId xmlns:a16="http://schemas.microsoft.com/office/drawing/2014/main" id="{27ACB4CE-9593-D530-6FC9-45474D0A87C8}"/>
              </a:ext>
            </a:extLst>
          </p:cNvPr>
          <p:cNvSpPr txBox="1"/>
          <p:nvPr/>
        </p:nvSpPr>
        <p:spPr>
          <a:xfrm>
            <a:off x="2752051" y="4197408"/>
            <a:ext cx="2937353" cy="302006"/>
          </a:xfrm>
          <a:prstGeom prst="rect">
            <a:avLst/>
          </a:prstGeom>
        </p:spPr>
        <p:txBody>
          <a:bodyPr lIns="0" tIns="0" rIns="0" bIns="0" rtlCol="0" anchor="t">
            <a:spAutoFit/>
          </a:bodyPr>
          <a:lstStyle/>
          <a:p>
            <a:pPr>
              <a:lnSpc>
                <a:spcPts val="2455"/>
              </a:lnSpc>
            </a:pPr>
            <a:r>
              <a:rPr lang="en-US" sz="1400">
                <a:solidFill>
                  <a:srgbClr val="040606"/>
                </a:solidFill>
                <a:latin typeface="メイリオ" panose="020B0604030504040204" pitchFamily="50" charset="-128"/>
                <a:ea typeface="メイリオ" panose="020B0604030504040204" pitchFamily="50" charset="-128"/>
                <a:cs typeface="メイリオ"/>
              </a:rPr>
              <a:t>入力が面倒・間違いが発生</a:t>
            </a:r>
          </a:p>
        </p:txBody>
      </p:sp>
      <p:sp>
        <p:nvSpPr>
          <p:cNvPr id="34" name="AutoShape 26">
            <a:extLst>
              <a:ext uri="{FF2B5EF4-FFF2-40B4-BE49-F238E27FC236}">
                <a16:creationId xmlns:a16="http://schemas.microsoft.com/office/drawing/2014/main" id="{9DFA3AA3-EC46-59A7-ACD8-CFBFB3E6AC42}"/>
              </a:ext>
            </a:extLst>
          </p:cNvPr>
          <p:cNvSpPr/>
          <p:nvPr/>
        </p:nvSpPr>
        <p:spPr>
          <a:xfrm>
            <a:off x="2752093" y="3967169"/>
            <a:ext cx="2952531" cy="11138"/>
          </a:xfrm>
          <a:prstGeom prst="line">
            <a:avLst/>
          </a:prstGeom>
          <a:ln w="19050" cap="flat">
            <a:solidFill>
              <a:srgbClr val="000000"/>
            </a:solidFill>
            <a:prstDash val="solid"/>
            <a:headEnd type="none" w="sm" len="sm"/>
            <a:tailEnd type="none" w="sm" len="sm"/>
          </a:ln>
        </p:spPr>
        <p:txBody>
          <a:bodyPr/>
          <a:lstStyle/>
          <a:p>
            <a:endParaRPr lang="ja-JP" altLang="en-US" sz="1400">
              <a:latin typeface="メイリオ" panose="020B0604030504040204" pitchFamily="50" charset="-128"/>
              <a:ea typeface="メイリオ" panose="020B0604030504040204" pitchFamily="50" charset="-128"/>
              <a:cs typeface="メイリオ"/>
            </a:endParaRPr>
          </a:p>
        </p:txBody>
      </p:sp>
      <p:sp>
        <p:nvSpPr>
          <p:cNvPr id="35" name="TextBox 27">
            <a:extLst>
              <a:ext uri="{FF2B5EF4-FFF2-40B4-BE49-F238E27FC236}">
                <a16:creationId xmlns:a16="http://schemas.microsoft.com/office/drawing/2014/main" id="{8CBB54AF-4E8A-1541-1FBC-0122997F4D92}"/>
              </a:ext>
            </a:extLst>
          </p:cNvPr>
          <p:cNvSpPr txBox="1"/>
          <p:nvPr/>
        </p:nvSpPr>
        <p:spPr>
          <a:xfrm>
            <a:off x="2752051" y="4775623"/>
            <a:ext cx="2937353" cy="294311"/>
          </a:xfrm>
          <a:prstGeom prst="rect">
            <a:avLst/>
          </a:prstGeom>
        </p:spPr>
        <p:txBody>
          <a:bodyPr lIns="0" tIns="0" rIns="0" bIns="0" rtlCol="0" anchor="t">
            <a:spAutoFit/>
          </a:bodyPr>
          <a:lstStyle/>
          <a:p>
            <a:pPr>
              <a:lnSpc>
                <a:spcPts val="2455"/>
              </a:lnSpc>
            </a:pPr>
            <a:r>
              <a:rPr lang="en-US" sz="1400">
                <a:solidFill>
                  <a:srgbClr val="040606"/>
                </a:solidFill>
                <a:latin typeface="メイリオ" panose="020B0604030504040204" pitchFamily="50" charset="-128"/>
                <a:ea typeface="メイリオ" panose="020B0604030504040204" pitchFamily="50" charset="-128"/>
                <a:cs typeface="メイリオ"/>
              </a:rPr>
              <a:t>迷惑メールなどに入る</a:t>
            </a:r>
          </a:p>
        </p:txBody>
      </p:sp>
      <p:sp>
        <p:nvSpPr>
          <p:cNvPr id="36" name="TextBox 28">
            <a:extLst>
              <a:ext uri="{FF2B5EF4-FFF2-40B4-BE49-F238E27FC236}">
                <a16:creationId xmlns:a16="http://schemas.microsoft.com/office/drawing/2014/main" id="{1890926C-AAF3-81C2-B57E-1FF89EF56E37}"/>
              </a:ext>
            </a:extLst>
          </p:cNvPr>
          <p:cNvSpPr txBox="1"/>
          <p:nvPr/>
        </p:nvSpPr>
        <p:spPr>
          <a:xfrm>
            <a:off x="2752051" y="5354773"/>
            <a:ext cx="2937353" cy="294311"/>
          </a:xfrm>
          <a:prstGeom prst="rect">
            <a:avLst/>
          </a:prstGeom>
        </p:spPr>
        <p:txBody>
          <a:bodyPr lIns="0" tIns="0" rIns="0" bIns="0" rtlCol="0" anchor="t">
            <a:spAutoFit/>
          </a:bodyPr>
          <a:lstStyle/>
          <a:p>
            <a:pPr>
              <a:lnSpc>
                <a:spcPts val="2455"/>
              </a:lnSpc>
            </a:pPr>
            <a:r>
              <a:rPr lang="en-US" sz="1400">
                <a:solidFill>
                  <a:srgbClr val="040606"/>
                </a:solidFill>
                <a:latin typeface="メイリオ" panose="020B0604030504040204" pitchFamily="50" charset="-128"/>
                <a:ea typeface="メイリオ" panose="020B0604030504040204" pitchFamily="50" charset="-128"/>
                <a:cs typeface="メイリオ"/>
              </a:rPr>
              <a:t>10％</a:t>
            </a:r>
          </a:p>
        </p:txBody>
      </p:sp>
      <p:sp>
        <p:nvSpPr>
          <p:cNvPr id="37" name="TextBox 29">
            <a:extLst>
              <a:ext uri="{FF2B5EF4-FFF2-40B4-BE49-F238E27FC236}">
                <a16:creationId xmlns:a16="http://schemas.microsoft.com/office/drawing/2014/main" id="{EBE70ABF-86A0-2A2F-6768-A1AE13D1152D}"/>
              </a:ext>
            </a:extLst>
          </p:cNvPr>
          <p:cNvSpPr txBox="1"/>
          <p:nvPr/>
        </p:nvSpPr>
        <p:spPr>
          <a:xfrm>
            <a:off x="2752051" y="5933924"/>
            <a:ext cx="2937353" cy="294311"/>
          </a:xfrm>
          <a:prstGeom prst="rect">
            <a:avLst/>
          </a:prstGeom>
        </p:spPr>
        <p:txBody>
          <a:bodyPr lIns="0" tIns="0" rIns="0" bIns="0" rtlCol="0" anchor="t">
            <a:spAutoFit/>
          </a:bodyPr>
          <a:lstStyle/>
          <a:p>
            <a:pPr>
              <a:lnSpc>
                <a:spcPts val="2455"/>
              </a:lnSpc>
            </a:pPr>
            <a:r>
              <a:rPr lang="en-US" sz="1400">
                <a:solidFill>
                  <a:srgbClr val="040606"/>
                </a:solidFill>
                <a:latin typeface="メイリオ" panose="020B0604030504040204" pitchFamily="50" charset="-128"/>
                <a:ea typeface="メイリオ" panose="020B0604030504040204" pitchFamily="50" charset="-128"/>
                <a:cs typeface="メイリオ"/>
              </a:rPr>
              <a:t>1時間</a:t>
            </a:r>
          </a:p>
        </p:txBody>
      </p:sp>
      <p:sp>
        <p:nvSpPr>
          <p:cNvPr id="38" name="AutoShape 30">
            <a:extLst>
              <a:ext uri="{FF2B5EF4-FFF2-40B4-BE49-F238E27FC236}">
                <a16:creationId xmlns:a16="http://schemas.microsoft.com/office/drawing/2014/main" id="{2AEB91F9-20AE-78E3-90FC-95BDACB17800}"/>
              </a:ext>
            </a:extLst>
          </p:cNvPr>
          <p:cNvSpPr/>
          <p:nvPr/>
        </p:nvSpPr>
        <p:spPr>
          <a:xfrm>
            <a:off x="1044994" y="5247985"/>
            <a:ext cx="7854082" cy="7039"/>
          </a:xfrm>
          <a:prstGeom prst="line">
            <a:avLst/>
          </a:prstGeom>
          <a:ln w="19050" cap="flat">
            <a:solidFill>
              <a:srgbClr val="000000"/>
            </a:solidFill>
            <a:prstDash val="sysDot"/>
            <a:headEnd type="none" w="sm" len="sm"/>
            <a:tailEnd type="none" w="sm" len="sm"/>
          </a:ln>
        </p:spPr>
        <p:txBody>
          <a:bodyPr/>
          <a:lstStyle/>
          <a:p>
            <a:endParaRPr lang="ja-JP" altLang="en-US" sz="1400">
              <a:latin typeface="メイリオ" panose="020B0604030504040204" pitchFamily="50" charset="-128"/>
              <a:ea typeface="メイリオ" panose="020B0604030504040204" pitchFamily="50" charset="-128"/>
              <a:cs typeface="メイリオ"/>
            </a:endParaRPr>
          </a:p>
        </p:txBody>
      </p:sp>
      <p:sp>
        <p:nvSpPr>
          <p:cNvPr id="39" name="AutoShape 31">
            <a:extLst>
              <a:ext uri="{FF2B5EF4-FFF2-40B4-BE49-F238E27FC236}">
                <a16:creationId xmlns:a16="http://schemas.microsoft.com/office/drawing/2014/main" id="{8CA9232F-EFCD-0685-4172-87FA8B803443}"/>
              </a:ext>
            </a:extLst>
          </p:cNvPr>
          <p:cNvSpPr/>
          <p:nvPr/>
        </p:nvSpPr>
        <p:spPr>
          <a:xfrm>
            <a:off x="1044952" y="5806130"/>
            <a:ext cx="7854082" cy="7039"/>
          </a:xfrm>
          <a:prstGeom prst="line">
            <a:avLst/>
          </a:prstGeom>
          <a:ln w="19050" cap="flat">
            <a:solidFill>
              <a:srgbClr val="000000"/>
            </a:solidFill>
            <a:prstDash val="sysDot"/>
            <a:headEnd type="none" w="sm" len="sm"/>
            <a:tailEnd type="none" w="sm" len="sm"/>
          </a:ln>
        </p:spPr>
        <p:txBody>
          <a:bodyPr/>
          <a:lstStyle/>
          <a:p>
            <a:endParaRPr lang="ja-JP" altLang="en-US" sz="1400">
              <a:latin typeface="メイリオ" panose="020B0604030504040204" pitchFamily="50" charset="-128"/>
              <a:ea typeface="メイリオ" panose="020B0604030504040204" pitchFamily="50" charset="-128"/>
              <a:cs typeface="メイリオ"/>
            </a:endParaRPr>
          </a:p>
        </p:txBody>
      </p:sp>
      <p:sp>
        <p:nvSpPr>
          <p:cNvPr id="40" name="TextBox 32">
            <a:extLst>
              <a:ext uri="{FF2B5EF4-FFF2-40B4-BE49-F238E27FC236}">
                <a16:creationId xmlns:a16="http://schemas.microsoft.com/office/drawing/2014/main" id="{0A70F695-8166-2256-5FDF-4F5178646823}"/>
              </a:ext>
            </a:extLst>
          </p:cNvPr>
          <p:cNvSpPr txBox="1"/>
          <p:nvPr/>
        </p:nvSpPr>
        <p:spPr>
          <a:xfrm>
            <a:off x="1184666" y="4779163"/>
            <a:ext cx="2937353" cy="294311"/>
          </a:xfrm>
          <a:prstGeom prst="rect">
            <a:avLst/>
          </a:prstGeom>
        </p:spPr>
        <p:txBody>
          <a:bodyPr lIns="0" tIns="0" rIns="0" bIns="0" rtlCol="0" anchor="t">
            <a:spAutoFit/>
          </a:bodyPr>
          <a:lstStyle/>
          <a:p>
            <a:pPr>
              <a:lnSpc>
                <a:spcPts val="2455"/>
              </a:lnSpc>
            </a:pPr>
            <a:r>
              <a:rPr lang="en-US" sz="1400">
                <a:solidFill>
                  <a:srgbClr val="040606"/>
                </a:solidFill>
                <a:latin typeface="メイリオ" panose="020B0604030504040204" pitchFamily="50" charset="-128"/>
                <a:ea typeface="メイリオ" panose="020B0604030504040204" pitchFamily="50" charset="-128"/>
                <a:cs typeface="メイリオ"/>
              </a:rPr>
              <a:t>到達</a:t>
            </a:r>
          </a:p>
        </p:txBody>
      </p:sp>
      <p:sp>
        <p:nvSpPr>
          <p:cNvPr id="41" name="TextBox 33">
            <a:extLst>
              <a:ext uri="{FF2B5EF4-FFF2-40B4-BE49-F238E27FC236}">
                <a16:creationId xmlns:a16="http://schemas.microsoft.com/office/drawing/2014/main" id="{85D3D6AF-3D79-C393-385D-3C63168F89A4}"/>
              </a:ext>
            </a:extLst>
          </p:cNvPr>
          <p:cNvSpPr txBox="1"/>
          <p:nvPr/>
        </p:nvSpPr>
        <p:spPr>
          <a:xfrm>
            <a:off x="1184666" y="5352087"/>
            <a:ext cx="2937353" cy="294311"/>
          </a:xfrm>
          <a:prstGeom prst="rect">
            <a:avLst/>
          </a:prstGeom>
        </p:spPr>
        <p:txBody>
          <a:bodyPr lIns="0" tIns="0" rIns="0" bIns="0" rtlCol="0" anchor="t">
            <a:spAutoFit/>
          </a:bodyPr>
          <a:lstStyle/>
          <a:p>
            <a:pPr>
              <a:lnSpc>
                <a:spcPts val="2455"/>
              </a:lnSpc>
            </a:pPr>
            <a:r>
              <a:rPr lang="en-US" sz="1400">
                <a:solidFill>
                  <a:srgbClr val="040606"/>
                </a:solidFill>
                <a:latin typeface="メイリオ" panose="020B0604030504040204" pitchFamily="50" charset="-128"/>
                <a:ea typeface="メイリオ" panose="020B0604030504040204" pitchFamily="50" charset="-128"/>
                <a:cs typeface="メイリオ"/>
              </a:rPr>
              <a:t>開封率</a:t>
            </a:r>
          </a:p>
        </p:txBody>
      </p:sp>
      <p:sp>
        <p:nvSpPr>
          <p:cNvPr id="42" name="TextBox 34">
            <a:extLst>
              <a:ext uri="{FF2B5EF4-FFF2-40B4-BE49-F238E27FC236}">
                <a16:creationId xmlns:a16="http://schemas.microsoft.com/office/drawing/2014/main" id="{C2F1559D-703E-EACC-8125-BCED5B42B895}"/>
              </a:ext>
            </a:extLst>
          </p:cNvPr>
          <p:cNvSpPr txBox="1"/>
          <p:nvPr/>
        </p:nvSpPr>
        <p:spPr>
          <a:xfrm>
            <a:off x="1184666" y="5933924"/>
            <a:ext cx="2937353" cy="294311"/>
          </a:xfrm>
          <a:prstGeom prst="rect">
            <a:avLst/>
          </a:prstGeom>
        </p:spPr>
        <p:txBody>
          <a:bodyPr lIns="0" tIns="0" rIns="0" bIns="0" rtlCol="0" anchor="t">
            <a:spAutoFit/>
          </a:bodyPr>
          <a:lstStyle/>
          <a:p>
            <a:pPr>
              <a:lnSpc>
                <a:spcPts val="2455"/>
              </a:lnSpc>
            </a:pPr>
            <a:r>
              <a:rPr lang="en-US" sz="1400">
                <a:solidFill>
                  <a:srgbClr val="040606"/>
                </a:solidFill>
                <a:latin typeface="メイリオ" panose="020B0604030504040204" pitchFamily="50" charset="-128"/>
                <a:ea typeface="メイリオ" panose="020B0604030504040204" pitchFamily="50" charset="-128"/>
                <a:cs typeface="メイリオ"/>
              </a:rPr>
              <a:t>開封まで</a:t>
            </a:r>
          </a:p>
        </p:txBody>
      </p:sp>
      <p:sp>
        <p:nvSpPr>
          <p:cNvPr id="47" name="Google Shape;156;p7"/>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en-US" altLang="ja-JP" sz="1600" b="1" dirty="0">
                <a:solidFill>
                  <a:srgbClr val="002060"/>
                </a:solidFill>
                <a:latin typeface="メイリオ"/>
                <a:ea typeface="メイリオ"/>
                <a:cs typeface="メイリオ"/>
                <a:sym typeface="Meiryo"/>
              </a:rPr>
              <a:t>LINE</a:t>
            </a:r>
            <a:r>
              <a:rPr lang="ja-JP" altLang="en-US" sz="1600" b="1" dirty="0">
                <a:solidFill>
                  <a:srgbClr val="002060"/>
                </a:solidFill>
                <a:latin typeface="メイリオ"/>
                <a:ea typeface="メイリオ"/>
                <a:cs typeface="メイリオ"/>
                <a:sym typeface="Meiryo"/>
              </a:rPr>
              <a:t>公式アカウントを検討する背景</a:t>
            </a:r>
            <a:endParaRPr sz="1600" b="1" dirty="0">
              <a:solidFill>
                <a:srgbClr val="002060"/>
              </a:solidFill>
              <a:latin typeface="メイリオ"/>
              <a:ea typeface="メイリオ"/>
              <a:cs typeface="メイリオ"/>
              <a:sym typeface="Meiryo"/>
            </a:endParaRPr>
          </a:p>
        </p:txBody>
      </p:sp>
      <p:sp>
        <p:nvSpPr>
          <p:cNvPr id="2" name="正方形/長方形 1">
            <a:extLst>
              <a:ext uri="{FF2B5EF4-FFF2-40B4-BE49-F238E27FC236}">
                <a16:creationId xmlns:a16="http://schemas.microsoft.com/office/drawing/2014/main" id="{89DE5776-5C26-CF86-01D7-D84844A782CF}"/>
              </a:ext>
            </a:extLst>
          </p:cNvPr>
          <p:cNvSpPr/>
          <p:nvPr/>
        </p:nvSpPr>
        <p:spPr>
          <a:xfrm>
            <a:off x="5783983" y="3545570"/>
            <a:ext cx="3333054" cy="2822520"/>
          </a:xfrm>
          <a:prstGeom prst="rect">
            <a:avLst/>
          </a:prstGeom>
          <a:solidFill>
            <a:srgbClr val="1F2A5C">
              <a:alpha val="1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600" b="1">
              <a:latin typeface="メイリオ"/>
              <a:ea typeface="メイリオ"/>
              <a:cs typeface="メイリオ"/>
            </a:endParaRPr>
          </a:p>
        </p:txBody>
      </p:sp>
      <p:sp>
        <p:nvSpPr>
          <p:cNvPr id="3" name="AutoShape 15">
            <a:extLst>
              <a:ext uri="{FF2B5EF4-FFF2-40B4-BE49-F238E27FC236}">
                <a16:creationId xmlns:a16="http://schemas.microsoft.com/office/drawing/2014/main" id="{0D44F6AF-095D-1CA0-2D98-25F7DB03466E}"/>
              </a:ext>
            </a:extLst>
          </p:cNvPr>
          <p:cNvSpPr/>
          <p:nvPr/>
        </p:nvSpPr>
        <p:spPr>
          <a:xfrm>
            <a:off x="5946513" y="3983875"/>
            <a:ext cx="2952531" cy="11137"/>
          </a:xfrm>
          <a:prstGeom prst="line">
            <a:avLst/>
          </a:prstGeom>
          <a:ln w="19050" cap="flat">
            <a:solidFill>
              <a:srgbClr val="00B900"/>
            </a:solidFill>
            <a:prstDash val="solid"/>
            <a:headEnd type="none" w="sm" len="sm"/>
            <a:tailEnd type="none" w="sm" len="sm"/>
          </a:ln>
        </p:spPr>
        <p:txBody>
          <a:bodyPr/>
          <a:lstStyle/>
          <a:p>
            <a:endParaRPr lang="ja-JP" altLang="en-US" sz="1400" b="1">
              <a:latin typeface="メイリオ" panose="020B0604030504040204" pitchFamily="50" charset="-128"/>
              <a:ea typeface="メイリオ" panose="020B0604030504040204" pitchFamily="50" charset="-128"/>
              <a:cs typeface="メイリオ"/>
            </a:endParaRPr>
          </a:p>
        </p:txBody>
      </p:sp>
      <p:sp>
        <p:nvSpPr>
          <p:cNvPr id="4" name="TextBox 17">
            <a:extLst>
              <a:ext uri="{FF2B5EF4-FFF2-40B4-BE49-F238E27FC236}">
                <a16:creationId xmlns:a16="http://schemas.microsoft.com/office/drawing/2014/main" id="{53BD49FD-8C06-FB39-06D6-3CC078F782FE}"/>
              </a:ext>
            </a:extLst>
          </p:cNvPr>
          <p:cNvSpPr txBox="1"/>
          <p:nvPr/>
        </p:nvSpPr>
        <p:spPr>
          <a:xfrm>
            <a:off x="6162487" y="3579302"/>
            <a:ext cx="2520582" cy="294311"/>
          </a:xfrm>
          <a:prstGeom prst="rect">
            <a:avLst/>
          </a:prstGeom>
        </p:spPr>
        <p:txBody>
          <a:bodyPr lIns="0" tIns="0" rIns="0" bIns="0" rtlCol="0" anchor="t">
            <a:spAutoFit/>
          </a:bodyPr>
          <a:lstStyle/>
          <a:p>
            <a:pPr algn="ctr">
              <a:lnSpc>
                <a:spcPts val="2455"/>
              </a:lnSpc>
            </a:pPr>
            <a:r>
              <a:rPr lang="en-US" sz="1400" b="1">
                <a:solidFill>
                  <a:srgbClr val="00B449"/>
                </a:solidFill>
                <a:latin typeface="メイリオ" panose="020B0604030504040204" pitchFamily="50" charset="-128"/>
                <a:ea typeface="メイリオ" panose="020B0604030504040204" pitchFamily="50" charset="-128"/>
                <a:cs typeface="メイリオ"/>
              </a:rPr>
              <a:t>LINE</a:t>
            </a:r>
          </a:p>
        </p:txBody>
      </p:sp>
      <p:grpSp>
        <p:nvGrpSpPr>
          <p:cNvPr id="5" name="Group 21">
            <a:extLst>
              <a:ext uri="{FF2B5EF4-FFF2-40B4-BE49-F238E27FC236}">
                <a16:creationId xmlns:a16="http://schemas.microsoft.com/office/drawing/2014/main" id="{365678CD-DBE8-11A0-DE97-1E3489051004}"/>
              </a:ext>
            </a:extLst>
          </p:cNvPr>
          <p:cNvGrpSpPr/>
          <p:nvPr/>
        </p:nvGrpSpPr>
        <p:grpSpPr>
          <a:xfrm>
            <a:off x="7261679" y="3983875"/>
            <a:ext cx="322198" cy="152188"/>
            <a:chOff x="0" y="0"/>
            <a:chExt cx="812800" cy="383922"/>
          </a:xfrm>
        </p:grpSpPr>
        <p:sp>
          <p:nvSpPr>
            <p:cNvPr id="6" name="Freeform 22">
              <a:extLst>
                <a:ext uri="{FF2B5EF4-FFF2-40B4-BE49-F238E27FC236}">
                  <a16:creationId xmlns:a16="http://schemas.microsoft.com/office/drawing/2014/main" id="{FF803387-EA72-D3D7-22AE-52C01E0790A8}"/>
                </a:ext>
              </a:extLst>
            </p:cNvPr>
            <p:cNvSpPr/>
            <p:nvPr/>
          </p:nvSpPr>
          <p:spPr>
            <a:xfrm>
              <a:off x="0" y="0"/>
              <a:ext cx="812800" cy="383922"/>
            </a:xfrm>
            <a:custGeom>
              <a:avLst/>
              <a:gdLst/>
              <a:ahLst/>
              <a:cxnLst/>
              <a:rect l="l" t="t" r="r" b="b"/>
              <a:pathLst>
                <a:path w="812800" h="383922">
                  <a:moveTo>
                    <a:pt x="406400" y="383922"/>
                  </a:moveTo>
                  <a:lnTo>
                    <a:pt x="812800" y="0"/>
                  </a:lnTo>
                  <a:lnTo>
                    <a:pt x="0" y="0"/>
                  </a:lnTo>
                  <a:lnTo>
                    <a:pt x="406400" y="383922"/>
                  </a:lnTo>
                  <a:close/>
                </a:path>
              </a:pathLst>
            </a:custGeom>
            <a:solidFill>
              <a:srgbClr val="00B449"/>
            </a:solidFill>
          </p:spPr>
          <p:txBody>
            <a:bodyPr/>
            <a:lstStyle/>
            <a:p>
              <a:endParaRPr lang="ja-JP" altLang="en-US" sz="1400" b="1">
                <a:latin typeface="メイリオ" panose="020B0604030504040204" pitchFamily="50" charset="-128"/>
                <a:ea typeface="メイリオ" panose="020B0604030504040204" pitchFamily="50" charset="-128"/>
                <a:cs typeface="メイリオ"/>
              </a:endParaRPr>
            </a:p>
          </p:txBody>
        </p:sp>
        <p:sp>
          <p:nvSpPr>
            <p:cNvPr id="7" name="TextBox 23">
              <a:extLst>
                <a:ext uri="{FF2B5EF4-FFF2-40B4-BE49-F238E27FC236}">
                  <a16:creationId xmlns:a16="http://schemas.microsoft.com/office/drawing/2014/main" id="{268D41FC-63F5-2C69-D721-47F5A47AB26E}"/>
                </a:ext>
              </a:extLst>
            </p:cNvPr>
            <p:cNvSpPr txBox="1"/>
            <p:nvPr/>
          </p:nvSpPr>
          <p:spPr>
            <a:xfrm>
              <a:off x="127000" y="-20202"/>
              <a:ext cx="558800" cy="225874"/>
            </a:xfrm>
            <a:prstGeom prst="rect">
              <a:avLst/>
            </a:prstGeom>
          </p:spPr>
          <p:txBody>
            <a:bodyPr lIns="29700" tIns="29700" rIns="29700" bIns="29700" rtlCol="0" anchor="ctr"/>
            <a:lstStyle/>
            <a:p>
              <a:pPr algn="ctr">
                <a:lnSpc>
                  <a:spcPts val="2046"/>
                </a:lnSpc>
              </a:pPr>
              <a:endParaRPr sz="1400" b="1">
                <a:latin typeface="メイリオ" panose="020B0604030504040204" pitchFamily="50" charset="-128"/>
                <a:ea typeface="メイリオ" panose="020B0604030504040204" pitchFamily="50" charset="-128"/>
                <a:cs typeface="メイリオ"/>
              </a:endParaRPr>
            </a:p>
          </p:txBody>
        </p:sp>
      </p:grpSp>
      <p:sp>
        <p:nvSpPr>
          <p:cNvPr id="48" name="TextBox 35">
            <a:extLst>
              <a:ext uri="{FF2B5EF4-FFF2-40B4-BE49-F238E27FC236}">
                <a16:creationId xmlns:a16="http://schemas.microsoft.com/office/drawing/2014/main" id="{EF42718D-116E-9F31-BBCC-5F9118C59FCF}"/>
              </a:ext>
            </a:extLst>
          </p:cNvPr>
          <p:cNvSpPr txBox="1"/>
          <p:nvPr/>
        </p:nvSpPr>
        <p:spPr>
          <a:xfrm>
            <a:off x="5961733" y="4772936"/>
            <a:ext cx="2937353" cy="294311"/>
          </a:xfrm>
          <a:prstGeom prst="rect">
            <a:avLst/>
          </a:prstGeom>
        </p:spPr>
        <p:txBody>
          <a:bodyPr lIns="0" tIns="0" rIns="0" bIns="0" rtlCol="0" anchor="t">
            <a:spAutoFit/>
          </a:bodyPr>
          <a:lstStyle/>
          <a:p>
            <a:pPr>
              <a:lnSpc>
                <a:spcPts val="2455"/>
              </a:lnSpc>
            </a:pPr>
            <a:r>
              <a:rPr lang="en-US" sz="1400" b="1">
                <a:solidFill>
                  <a:srgbClr val="00B449"/>
                </a:solidFill>
                <a:latin typeface="メイリオ" panose="020B0604030504040204" pitchFamily="50" charset="-128"/>
                <a:ea typeface="メイリオ" panose="020B0604030504040204" pitchFamily="50" charset="-128"/>
                <a:cs typeface="メイリオ"/>
              </a:rPr>
              <a:t>確実に届く</a:t>
            </a:r>
          </a:p>
        </p:txBody>
      </p:sp>
      <p:sp>
        <p:nvSpPr>
          <p:cNvPr id="49" name="TextBox 36">
            <a:extLst>
              <a:ext uri="{FF2B5EF4-FFF2-40B4-BE49-F238E27FC236}">
                <a16:creationId xmlns:a16="http://schemas.microsoft.com/office/drawing/2014/main" id="{BE477B33-5D35-D414-030E-C48CB175247D}"/>
              </a:ext>
            </a:extLst>
          </p:cNvPr>
          <p:cNvSpPr txBox="1"/>
          <p:nvPr/>
        </p:nvSpPr>
        <p:spPr>
          <a:xfrm>
            <a:off x="5961733" y="5352087"/>
            <a:ext cx="2937353" cy="294311"/>
          </a:xfrm>
          <a:prstGeom prst="rect">
            <a:avLst/>
          </a:prstGeom>
        </p:spPr>
        <p:txBody>
          <a:bodyPr lIns="0" tIns="0" rIns="0" bIns="0" rtlCol="0" anchor="t">
            <a:spAutoFit/>
          </a:bodyPr>
          <a:lstStyle/>
          <a:p>
            <a:pPr>
              <a:lnSpc>
                <a:spcPts val="2455"/>
              </a:lnSpc>
            </a:pPr>
            <a:r>
              <a:rPr lang="en-US" sz="1400" b="1">
                <a:solidFill>
                  <a:srgbClr val="00B449"/>
                </a:solidFill>
                <a:latin typeface="メイリオ" panose="020B0604030504040204" pitchFamily="50" charset="-128"/>
                <a:ea typeface="メイリオ" panose="020B0604030504040204" pitchFamily="50" charset="-128"/>
                <a:cs typeface="メイリオ"/>
              </a:rPr>
              <a:t>60％</a:t>
            </a:r>
          </a:p>
        </p:txBody>
      </p:sp>
      <p:sp>
        <p:nvSpPr>
          <p:cNvPr id="50" name="TextBox 37">
            <a:extLst>
              <a:ext uri="{FF2B5EF4-FFF2-40B4-BE49-F238E27FC236}">
                <a16:creationId xmlns:a16="http://schemas.microsoft.com/office/drawing/2014/main" id="{0A436778-3336-3714-957B-826DFB9FCDBE}"/>
              </a:ext>
            </a:extLst>
          </p:cNvPr>
          <p:cNvSpPr txBox="1"/>
          <p:nvPr/>
        </p:nvSpPr>
        <p:spPr>
          <a:xfrm>
            <a:off x="5961733" y="5931237"/>
            <a:ext cx="2937353" cy="294311"/>
          </a:xfrm>
          <a:prstGeom prst="rect">
            <a:avLst/>
          </a:prstGeom>
        </p:spPr>
        <p:txBody>
          <a:bodyPr lIns="0" tIns="0" rIns="0" bIns="0" rtlCol="0" anchor="t">
            <a:spAutoFit/>
          </a:bodyPr>
          <a:lstStyle/>
          <a:p>
            <a:pPr>
              <a:lnSpc>
                <a:spcPts val="2455"/>
              </a:lnSpc>
            </a:pPr>
            <a:r>
              <a:rPr lang="en-US" sz="1400" b="1">
                <a:solidFill>
                  <a:srgbClr val="00B449"/>
                </a:solidFill>
                <a:latin typeface="メイリオ" panose="020B0604030504040204" pitchFamily="50" charset="-128"/>
                <a:ea typeface="メイリオ" panose="020B0604030504040204" pitchFamily="50" charset="-128"/>
                <a:cs typeface="メイリオ"/>
              </a:rPr>
              <a:t>15分</a:t>
            </a:r>
          </a:p>
        </p:txBody>
      </p:sp>
      <p:sp>
        <p:nvSpPr>
          <p:cNvPr id="51" name="TextBox 38">
            <a:extLst>
              <a:ext uri="{FF2B5EF4-FFF2-40B4-BE49-F238E27FC236}">
                <a16:creationId xmlns:a16="http://schemas.microsoft.com/office/drawing/2014/main" id="{A5A10008-8C16-4E94-CB60-09FD258B3234}"/>
              </a:ext>
            </a:extLst>
          </p:cNvPr>
          <p:cNvSpPr txBox="1"/>
          <p:nvPr/>
        </p:nvSpPr>
        <p:spPr>
          <a:xfrm>
            <a:off x="5961733" y="4206140"/>
            <a:ext cx="2937353" cy="294311"/>
          </a:xfrm>
          <a:prstGeom prst="rect">
            <a:avLst/>
          </a:prstGeom>
        </p:spPr>
        <p:txBody>
          <a:bodyPr lIns="0" tIns="0" rIns="0" bIns="0" rtlCol="0" anchor="t">
            <a:spAutoFit/>
          </a:bodyPr>
          <a:lstStyle/>
          <a:p>
            <a:pPr>
              <a:lnSpc>
                <a:spcPts val="2455"/>
              </a:lnSpc>
            </a:pPr>
            <a:r>
              <a:rPr lang="en-US" sz="1400" b="1">
                <a:solidFill>
                  <a:srgbClr val="00B449"/>
                </a:solidFill>
                <a:latin typeface="メイリオ" panose="020B0604030504040204" pitchFamily="50" charset="-128"/>
                <a:ea typeface="メイリオ" panose="020B0604030504040204" pitchFamily="50" charset="-128"/>
                <a:cs typeface="メイリオ"/>
              </a:rPr>
              <a:t>ワンタップで追加</a:t>
            </a:r>
          </a:p>
        </p:txBody>
      </p:sp>
    </p:spTree>
    <p:extLst>
      <p:ext uri="{BB962C8B-B14F-4D97-AF65-F5344CB8AC3E}">
        <p14:creationId xmlns:p14="http://schemas.microsoft.com/office/powerpoint/2010/main" val="175429713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正方形/長方形 2">
            <a:extLst>
              <a:ext uri="{FF2B5EF4-FFF2-40B4-BE49-F238E27FC236}">
                <a16:creationId xmlns:a16="http://schemas.microsoft.com/office/drawing/2014/main" id="{0E416A61-B302-4BF8-8730-14A0C8808ABA}"/>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 name="正方形/長方形 3">
            <a:extLst>
              <a:ext uri="{FF2B5EF4-FFF2-40B4-BE49-F238E27FC236}">
                <a16:creationId xmlns:a16="http://schemas.microsoft.com/office/drawing/2014/main" id="{BCB9F207-E933-48A8-A62B-47A12C4BFADB}"/>
              </a:ext>
            </a:extLst>
          </p:cNvPr>
          <p:cNvSpPr/>
          <p:nvPr/>
        </p:nvSpPr>
        <p:spPr>
          <a:xfrm>
            <a:off x="788963" y="793451"/>
            <a:ext cx="8328074" cy="38171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r>
              <a:rPr lang="en-US" altLang="ja-JP" sz="1400" dirty="0">
                <a:solidFill>
                  <a:srgbClr val="343434"/>
                </a:solidFill>
                <a:latin typeface="メイリオ" panose="020B0604030504040204" pitchFamily="50" charset="-128"/>
                <a:ea typeface="メイリオ" panose="020B0604030504040204" pitchFamily="50" charset="-128"/>
                <a:cs typeface="メイリオ"/>
              </a:rPr>
              <a:t>「</a:t>
            </a:r>
            <a:r>
              <a:rPr lang="en-US" altLang="ja-JP" sz="1400" dirty="0" err="1">
                <a:solidFill>
                  <a:srgbClr val="343434"/>
                </a:solidFill>
                <a:latin typeface="メイリオ" panose="020B0604030504040204" pitchFamily="50" charset="-128"/>
                <a:ea typeface="メイリオ" panose="020B0604030504040204" pitchFamily="50" charset="-128"/>
                <a:cs typeface="メイリオ"/>
              </a:rPr>
              <a:t>今すぐ客」以外の</a:t>
            </a:r>
            <a:r>
              <a:rPr lang="ja-JP" altLang="en-US" sz="1400" dirty="0">
                <a:solidFill>
                  <a:srgbClr val="343434"/>
                </a:solidFill>
                <a:latin typeface="メイリオ" panose="020B0604030504040204" pitchFamily="50" charset="-128"/>
                <a:ea typeface="メイリオ" panose="020B0604030504040204" pitchFamily="50" charset="-128"/>
                <a:cs typeface="メイリオ"/>
              </a:rPr>
              <a:t>約</a:t>
            </a:r>
            <a:r>
              <a:rPr lang="en-US" altLang="ja-JP" sz="1400" dirty="0">
                <a:solidFill>
                  <a:srgbClr val="343434"/>
                </a:solidFill>
                <a:latin typeface="メイリオ" panose="020B0604030504040204" pitchFamily="50" charset="-128"/>
                <a:ea typeface="メイリオ" panose="020B0604030504040204" pitchFamily="50" charset="-128"/>
                <a:cs typeface="メイリオ"/>
              </a:rPr>
              <a:t>99％の層をリストマーケティングで顧客に引き上げることが重要。</a:t>
            </a:r>
          </a:p>
          <a:p>
            <a:pPr algn="ctr">
              <a:lnSpc>
                <a:spcPts val="2455"/>
              </a:lnSpc>
            </a:pPr>
            <a:r>
              <a:rPr lang="en-US" altLang="ja-JP" sz="1400" dirty="0" err="1">
                <a:solidFill>
                  <a:srgbClr val="343434"/>
                </a:solidFill>
                <a:latin typeface="メイリオ" panose="020B0604030504040204" pitchFamily="50" charset="-128"/>
                <a:ea typeface="メイリオ" panose="020B0604030504040204" pitchFamily="50" charset="-128"/>
                <a:cs typeface="メイリオ"/>
              </a:rPr>
              <a:t>結果として</a:t>
            </a:r>
            <a:r>
              <a:rPr lang="ja-JP" altLang="en-US" sz="1400" dirty="0" err="1">
                <a:solidFill>
                  <a:srgbClr val="343434"/>
                </a:solidFill>
                <a:latin typeface="メイリオ" panose="020B0604030504040204" pitchFamily="50" charset="-128"/>
                <a:ea typeface="メイリオ" panose="020B0604030504040204" pitchFamily="50" charset="-128"/>
                <a:cs typeface="メイリオ"/>
              </a:rPr>
              <a:t>、</a:t>
            </a:r>
            <a:r>
              <a:rPr lang="ja-JP" altLang="en-US" sz="1400" dirty="0">
                <a:solidFill>
                  <a:srgbClr val="343434"/>
                </a:solidFill>
                <a:latin typeface="メイリオ" panose="020B0604030504040204" pitchFamily="50" charset="-128"/>
                <a:ea typeface="メイリオ" panose="020B0604030504040204" pitchFamily="50" charset="-128"/>
                <a:cs typeface="メイリオ"/>
              </a:rPr>
              <a:t>リード獲得率向上、</a:t>
            </a:r>
            <a:r>
              <a:rPr lang="en-US" altLang="ja-JP" sz="1400" dirty="0" err="1">
                <a:solidFill>
                  <a:srgbClr val="343434"/>
                </a:solidFill>
                <a:latin typeface="メイリオ" panose="020B0604030504040204" pitchFamily="50" charset="-128"/>
                <a:ea typeface="メイリオ" panose="020B0604030504040204" pitchFamily="50" charset="-128"/>
                <a:cs typeface="メイリオ"/>
              </a:rPr>
              <a:t>リピート率向上、売上向上に繋</a:t>
            </a:r>
            <a:r>
              <a:rPr lang="ja-JP" altLang="en-US" sz="1400" dirty="0">
                <a:solidFill>
                  <a:srgbClr val="343434"/>
                </a:solidFill>
                <a:latin typeface="メイリオ" panose="020B0604030504040204" pitchFamily="50" charset="-128"/>
                <a:ea typeface="メイリオ" panose="020B0604030504040204" pitchFamily="50" charset="-128"/>
                <a:cs typeface="メイリオ"/>
              </a:rPr>
              <a:t>げ</a:t>
            </a:r>
            <a:r>
              <a:rPr lang="en-US" altLang="ja-JP" sz="1400" dirty="0">
                <a:solidFill>
                  <a:srgbClr val="343434"/>
                </a:solidFill>
                <a:latin typeface="メイリオ" panose="020B0604030504040204" pitchFamily="50" charset="-128"/>
                <a:ea typeface="メイリオ" panose="020B0604030504040204" pitchFamily="50" charset="-128"/>
                <a:cs typeface="メイリオ"/>
              </a:rPr>
              <a:t>る。</a:t>
            </a:r>
          </a:p>
        </p:txBody>
      </p:sp>
      <p:cxnSp>
        <p:nvCxnSpPr>
          <p:cNvPr id="5" name="直線コネクタ 4">
            <a:extLst>
              <a:ext uri="{FF2B5EF4-FFF2-40B4-BE49-F238E27FC236}">
                <a16:creationId xmlns:a16="http://schemas.microsoft.com/office/drawing/2014/main" id="{CA93CA45-604C-4C3A-A630-6604E0B4FD4A}"/>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grpSp>
        <p:nvGrpSpPr>
          <p:cNvPr id="6" name="Group 11">
            <a:extLst>
              <a:ext uri="{FF2B5EF4-FFF2-40B4-BE49-F238E27FC236}">
                <a16:creationId xmlns:a16="http://schemas.microsoft.com/office/drawing/2014/main" id="{FD51838A-D34F-466B-3A5A-09652D900BEB}"/>
              </a:ext>
            </a:extLst>
          </p:cNvPr>
          <p:cNvGrpSpPr/>
          <p:nvPr/>
        </p:nvGrpSpPr>
        <p:grpSpPr>
          <a:xfrm>
            <a:off x="3049695" y="2975186"/>
            <a:ext cx="1458934" cy="913844"/>
            <a:chOff x="0" y="0"/>
            <a:chExt cx="617887" cy="387031"/>
          </a:xfrm>
        </p:grpSpPr>
        <p:sp>
          <p:nvSpPr>
            <p:cNvPr id="8" name="Freeform 12">
              <a:extLst>
                <a:ext uri="{FF2B5EF4-FFF2-40B4-BE49-F238E27FC236}">
                  <a16:creationId xmlns:a16="http://schemas.microsoft.com/office/drawing/2014/main" id="{361A24A3-498E-8CCA-072B-BFF0D43720CF}"/>
                </a:ext>
              </a:extLst>
            </p:cNvPr>
            <p:cNvSpPr/>
            <p:nvPr/>
          </p:nvSpPr>
          <p:spPr>
            <a:xfrm>
              <a:off x="0" y="0"/>
              <a:ext cx="617887" cy="387031"/>
            </a:xfrm>
            <a:custGeom>
              <a:avLst/>
              <a:gdLst/>
              <a:ahLst/>
              <a:cxnLst/>
              <a:rect l="l" t="t" r="r" b="b"/>
              <a:pathLst>
                <a:path w="617887" h="387031">
                  <a:moveTo>
                    <a:pt x="0" y="0"/>
                  </a:moveTo>
                  <a:lnTo>
                    <a:pt x="617887" y="0"/>
                  </a:lnTo>
                  <a:lnTo>
                    <a:pt x="617887" y="387031"/>
                  </a:lnTo>
                  <a:lnTo>
                    <a:pt x="0" y="387031"/>
                  </a:lnTo>
                  <a:close/>
                </a:path>
              </a:pathLst>
            </a:custGeom>
            <a:solidFill>
              <a:srgbClr val="D9D9D9"/>
            </a:solid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9" name="TextBox 13">
              <a:extLst>
                <a:ext uri="{FF2B5EF4-FFF2-40B4-BE49-F238E27FC236}">
                  <a16:creationId xmlns:a16="http://schemas.microsoft.com/office/drawing/2014/main" id="{2F7982DD-8DDE-BE65-D1C8-38F017EFAA9E}"/>
                </a:ext>
              </a:extLst>
            </p:cNvPr>
            <p:cNvSpPr txBox="1"/>
            <p:nvPr/>
          </p:nvSpPr>
          <p:spPr>
            <a:xfrm>
              <a:off x="0" y="-38100"/>
              <a:ext cx="617887" cy="425131"/>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cs typeface="メイリオ"/>
              </a:endParaRPr>
            </a:p>
          </p:txBody>
        </p:sp>
      </p:grpSp>
      <p:sp>
        <p:nvSpPr>
          <p:cNvPr id="10" name="AutoShape 14">
            <a:extLst>
              <a:ext uri="{FF2B5EF4-FFF2-40B4-BE49-F238E27FC236}">
                <a16:creationId xmlns:a16="http://schemas.microsoft.com/office/drawing/2014/main" id="{59178687-7B87-9112-285E-3FE124A7840D}"/>
              </a:ext>
            </a:extLst>
          </p:cNvPr>
          <p:cNvSpPr/>
          <p:nvPr/>
        </p:nvSpPr>
        <p:spPr>
          <a:xfrm flipV="1">
            <a:off x="637708" y="2862215"/>
            <a:ext cx="0" cy="3496153"/>
          </a:xfrm>
          <a:prstGeom prst="line">
            <a:avLst/>
          </a:prstGeom>
          <a:ln w="19050" cap="flat">
            <a:solidFill>
              <a:srgbClr val="737373"/>
            </a:solidFill>
            <a:prstDash val="solid"/>
            <a:headEnd type="none" w="sm" len="sm"/>
            <a:tailEnd type="arrow" w="med" len="sm"/>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11" name="AutoShape 15">
            <a:extLst>
              <a:ext uri="{FF2B5EF4-FFF2-40B4-BE49-F238E27FC236}">
                <a16:creationId xmlns:a16="http://schemas.microsoft.com/office/drawing/2014/main" id="{2E944E85-C1E7-F939-7840-FEE3895A6217}"/>
              </a:ext>
            </a:extLst>
          </p:cNvPr>
          <p:cNvSpPr/>
          <p:nvPr/>
        </p:nvSpPr>
        <p:spPr>
          <a:xfrm>
            <a:off x="272396" y="6045613"/>
            <a:ext cx="4516804" cy="0"/>
          </a:xfrm>
          <a:prstGeom prst="line">
            <a:avLst/>
          </a:prstGeom>
          <a:ln w="19050" cap="flat">
            <a:solidFill>
              <a:srgbClr val="737373"/>
            </a:solidFill>
            <a:prstDash val="solid"/>
            <a:headEnd type="none" w="sm" len="sm"/>
            <a:tailEnd type="arrow" w="med" len="sm"/>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grpSp>
        <p:nvGrpSpPr>
          <p:cNvPr id="12" name="Group 16">
            <a:extLst>
              <a:ext uri="{FF2B5EF4-FFF2-40B4-BE49-F238E27FC236}">
                <a16:creationId xmlns:a16="http://schemas.microsoft.com/office/drawing/2014/main" id="{ED4AC5BA-40AB-055B-93BE-A426AB6D2DD1}"/>
              </a:ext>
            </a:extLst>
          </p:cNvPr>
          <p:cNvGrpSpPr/>
          <p:nvPr/>
        </p:nvGrpSpPr>
        <p:grpSpPr>
          <a:xfrm>
            <a:off x="964199" y="2975186"/>
            <a:ext cx="1770851" cy="913844"/>
            <a:chOff x="0" y="0"/>
            <a:chExt cx="749990" cy="387031"/>
          </a:xfrm>
        </p:grpSpPr>
        <p:sp>
          <p:nvSpPr>
            <p:cNvPr id="13" name="Freeform 17">
              <a:extLst>
                <a:ext uri="{FF2B5EF4-FFF2-40B4-BE49-F238E27FC236}">
                  <a16:creationId xmlns:a16="http://schemas.microsoft.com/office/drawing/2014/main" id="{37852D43-B89A-3E8A-340C-86DBCB7EAE2C}"/>
                </a:ext>
              </a:extLst>
            </p:cNvPr>
            <p:cNvSpPr/>
            <p:nvPr/>
          </p:nvSpPr>
          <p:spPr>
            <a:xfrm>
              <a:off x="0" y="0"/>
              <a:ext cx="749990" cy="387031"/>
            </a:xfrm>
            <a:custGeom>
              <a:avLst/>
              <a:gdLst/>
              <a:ahLst/>
              <a:cxnLst/>
              <a:rect l="l" t="t" r="r" b="b"/>
              <a:pathLst>
                <a:path w="749990" h="387031">
                  <a:moveTo>
                    <a:pt x="0" y="0"/>
                  </a:moveTo>
                  <a:lnTo>
                    <a:pt x="749990" y="0"/>
                  </a:lnTo>
                  <a:lnTo>
                    <a:pt x="749990" y="387031"/>
                  </a:lnTo>
                  <a:lnTo>
                    <a:pt x="0" y="387031"/>
                  </a:lnTo>
                  <a:close/>
                </a:path>
              </a:pathLst>
            </a:custGeom>
            <a:solidFill>
              <a:srgbClr val="7BD47C"/>
            </a:solid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14" name="TextBox 18">
              <a:extLst>
                <a:ext uri="{FF2B5EF4-FFF2-40B4-BE49-F238E27FC236}">
                  <a16:creationId xmlns:a16="http://schemas.microsoft.com/office/drawing/2014/main" id="{0038C48A-D57E-4C03-47F9-21556A2A60B4}"/>
                </a:ext>
              </a:extLst>
            </p:cNvPr>
            <p:cNvSpPr txBox="1"/>
            <p:nvPr/>
          </p:nvSpPr>
          <p:spPr>
            <a:xfrm>
              <a:off x="0" y="-38100"/>
              <a:ext cx="749990" cy="425131"/>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cs typeface="メイリオ"/>
              </a:endParaRPr>
            </a:p>
          </p:txBody>
        </p:sp>
      </p:grpSp>
      <p:grpSp>
        <p:nvGrpSpPr>
          <p:cNvPr id="15" name="Group 19">
            <a:extLst>
              <a:ext uri="{FF2B5EF4-FFF2-40B4-BE49-F238E27FC236}">
                <a16:creationId xmlns:a16="http://schemas.microsoft.com/office/drawing/2014/main" id="{3507EDCA-E3B7-016A-2C53-E70338EE7F9D}"/>
              </a:ext>
            </a:extLst>
          </p:cNvPr>
          <p:cNvGrpSpPr/>
          <p:nvPr/>
        </p:nvGrpSpPr>
        <p:grpSpPr>
          <a:xfrm>
            <a:off x="964199" y="4203123"/>
            <a:ext cx="1770851" cy="1544458"/>
            <a:chOff x="0" y="0"/>
            <a:chExt cx="749990" cy="654108"/>
          </a:xfrm>
        </p:grpSpPr>
        <p:sp>
          <p:nvSpPr>
            <p:cNvPr id="16" name="Freeform 20">
              <a:extLst>
                <a:ext uri="{FF2B5EF4-FFF2-40B4-BE49-F238E27FC236}">
                  <a16:creationId xmlns:a16="http://schemas.microsoft.com/office/drawing/2014/main" id="{EDDE50AF-2F17-77D4-19B1-742225FD70A2}"/>
                </a:ext>
              </a:extLst>
            </p:cNvPr>
            <p:cNvSpPr/>
            <p:nvPr/>
          </p:nvSpPr>
          <p:spPr>
            <a:xfrm>
              <a:off x="0" y="0"/>
              <a:ext cx="749990" cy="654108"/>
            </a:xfrm>
            <a:custGeom>
              <a:avLst/>
              <a:gdLst/>
              <a:ahLst/>
              <a:cxnLst/>
              <a:rect l="l" t="t" r="r" b="b"/>
              <a:pathLst>
                <a:path w="749990" h="654108">
                  <a:moveTo>
                    <a:pt x="0" y="0"/>
                  </a:moveTo>
                  <a:lnTo>
                    <a:pt x="749990" y="0"/>
                  </a:lnTo>
                  <a:lnTo>
                    <a:pt x="749990" y="654108"/>
                  </a:lnTo>
                  <a:lnTo>
                    <a:pt x="0" y="654108"/>
                  </a:lnTo>
                  <a:close/>
                </a:path>
              </a:pathLst>
            </a:custGeom>
            <a:solidFill>
              <a:srgbClr val="025D27"/>
            </a:solid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17" name="TextBox 21">
              <a:extLst>
                <a:ext uri="{FF2B5EF4-FFF2-40B4-BE49-F238E27FC236}">
                  <a16:creationId xmlns:a16="http://schemas.microsoft.com/office/drawing/2014/main" id="{7F07540F-73B0-D716-1131-982594039AED}"/>
                </a:ext>
              </a:extLst>
            </p:cNvPr>
            <p:cNvSpPr txBox="1"/>
            <p:nvPr/>
          </p:nvSpPr>
          <p:spPr>
            <a:xfrm>
              <a:off x="0" y="-38100"/>
              <a:ext cx="749990" cy="692208"/>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cs typeface="メイリオ"/>
              </a:endParaRPr>
            </a:p>
          </p:txBody>
        </p:sp>
      </p:grpSp>
      <p:grpSp>
        <p:nvGrpSpPr>
          <p:cNvPr id="18" name="Group 22">
            <a:extLst>
              <a:ext uri="{FF2B5EF4-FFF2-40B4-BE49-F238E27FC236}">
                <a16:creationId xmlns:a16="http://schemas.microsoft.com/office/drawing/2014/main" id="{281B028B-385E-F452-024D-8BB94F4D83B8}"/>
              </a:ext>
            </a:extLst>
          </p:cNvPr>
          <p:cNvGrpSpPr/>
          <p:nvPr/>
        </p:nvGrpSpPr>
        <p:grpSpPr>
          <a:xfrm>
            <a:off x="3049695" y="4203123"/>
            <a:ext cx="1458934" cy="1544458"/>
            <a:chOff x="0" y="0"/>
            <a:chExt cx="617887" cy="654108"/>
          </a:xfrm>
        </p:grpSpPr>
        <p:sp>
          <p:nvSpPr>
            <p:cNvPr id="19" name="Freeform 23">
              <a:extLst>
                <a:ext uri="{FF2B5EF4-FFF2-40B4-BE49-F238E27FC236}">
                  <a16:creationId xmlns:a16="http://schemas.microsoft.com/office/drawing/2014/main" id="{22B22B83-BF89-287F-782C-53EFBE5EE2C9}"/>
                </a:ext>
              </a:extLst>
            </p:cNvPr>
            <p:cNvSpPr/>
            <p:nvPr/>
          </p:nvSpPr>
          <p:spPr>
            <a:xfrm>
              <a:off x="0" y="0"/>
              <a:ext cx="617887" cy="654108"/>
            </a:xfrm>
            <a:custGeom>
              <a:avLst/>
              <a:gdLst/>
              <a:ahLst/>
              <a:cxnLst/>
              <a:rect l="l" t="t" r="r" b="b"/>
              <a:pathLst>
                <a:path w="617887" h="654108">
                  <a:moveTo>
                    <a:pt x="0" y="0"/>
                  </a:moveTo>
                  <a:lnTo>
                    <a:pt x="617887" y="0"/>
                  </a:lnTo>
                  <a:lnTo>
                    <a:pt x="617887" y="654108"/>
                  </a:lnTo>
                  <a:lnTo>
                    <a:pt x="0" y="654108"/>
                  </a:lnTo>
                  <a:close/>
                </a:path>
              </a:pathLst>
            </a:custGeom>
            <a:solidFill>
              <a:srgbClr val="7BD47C"/>
            </a:solid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20" name="TextBox 24">
              <a:extLst>
                <a:ext uri="{FF2B5EF4-FFF2-40B4-BE49-F238E27FC236}">
                  <a16:creationId xmlns:a16="http://schemas.microsoft.com/office/drawing/2014/main" id="{9342B319-ADE7-C21F-2EC5-DC47280C7AA5}"/>
                </a:ext>
              </a:extLst>
            </p:cNvPr>
            <p:cNvSpPr txBox="1"/>
            <p:nvPr/>
          </p:nvSpPr>
          <p:spPr>
            <a:xfrm>
              <a:off x="0" y="-38100"/>
              <a:ext cx="617887" cy="692208"/>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cs typeface="メイリオ"/>
              </a:endParaRPr>
            </a:p>
          </p:txBody>
        </p:sp>
      </p:grpSp>
      <p:grpSp>
        <p:nvGrpSpPr>
          <p:cNvPr id="21" name="Group 25">
            <a:extLst>
              <a:ext uri="{FF2B5EF4-FFF2-40B4-BE49-F238E27FC236}">
                <a16:creationId xmlns:a16="http://schemas.microsoft.com/office/drawing/2014/main" id="{269BA4E8-CBA1-17CF-4B27-5586E44C9042}"/>
              </a:ext>
            </a:extLst>
          </p:cNvPr>
          <p:cNvGrpSpPr/>
          <p:nvPr/>
        </p:nvGrpSpPr>
        <p:grpSpPr>
          <a:xfrm rot="5400000">
            <a:off x="5145798" y="3131429"/>
            <a:ext cx="301414" cy="601358"/>
            <a:chOff x="0" y="0"/>
            <a:chExt cx="452282" cy="902360"/>
          </a:xfrm>
        </p:grpSpPr>
        <p:sp>
          <p:nvSpPr>
            <p:cNvPr id="22" name="Freeform 26">
              <a:extLst>
                <a:ext uri="{FF2B5EF4-FFF2-40B4-BE49-F238E27FC236}">
                  <a16:creationId xmlns:a16="http://schemas.microsoft.com/office/drawing/2014/main" id="{F979CAEC-8CC8-5992-6164-138369941BE6}"/>
                </a:ext>
              </a:extLst>
            </p:cNvPr>
            <p:cNvSpPr/>
            <p:nvPr/>
          </p:nvSpPr>
          <p:spPr>
            <a:xfrm>
              <a:off x="0" y="0"/>
              <a:ext cx="452282" cy="902360"/>
            </a:xfrm>
            <a:custGeom>
              <a:avLst/>
              <a:gdLst/>
              <a:ahLst/>
              <a:cxnLst/>
              <a:rect l="l" t="t" r="r" b="b"/>
              <a:pathLst>
                <a:path w="452282" h="902360">
                  <a:moveTo>
                    <a:pt x="226141" y="0"/>
                  </a:moveTo>
                  <a:lnTo>
                    <a:pt x="452282" y="902360"/>
                  </a:lnTo>
                  <a:lnTo>
                    <a:pt x="0" y="902360"/>
                  </a:lnTo>
                  <a:lnTo>
                    <a:pt x="226141" y="0"/>
                  </a:lnTo>
                  <a:close/>
                </a:path>
              </a:pathLst>
            </a:custGeom>
            <a:solidFill>
              <a:srgbClr val="D9D9D9"/>
            </a:solid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23" name="TextBox 27">
              <a:extLst>
                <a:ext uri="{FF2B5EF4-FFF2-40B4-BE49-F238E27FC236}">
                  <a16:creationId xmlns:a16="http://schemas.microsoft.com/office/drawing/2014/main" id="{35EF9994-DB9A-78E5-055F-3AFF8481CE16}"/>
                </a:ext>
              </a:extLst>
            </p:cNvPr>
            <p:cNvSpPr txBox="1"/>
            <p:nvPr/>
          </p:nvSpPr>
          <p:spPr>
            <a:xfrm>
              <a:off x="70669" y="380853"/>
              <a:ext cx="310944" cy="457053"/>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cs typeface="メイリオ"/>
              </a:endParaRPr>
            </a:p>
          </p:txBody>
        </p:sp>
      </p:grpSp>
      <p:sp>
        <p:nvSpPr>
          <p:cNvPr id="24" name="TextBox 28">
            <a:extLst>
              <a:ext uri="{FF2B5EF4-FFF2-40B4-BE49-F238E27FC236}">
                <a16:creationId xmlns:a16="http://schemas.microsoft.com/office/drawing/2014/main" id="{5E157642-2D9B-689A-C2B2-A7717A07260A}"/>
              </a:ext>
            </a:extLst>
          </p:cNvPr>
          <p:cNvSpPr txBox="1"/>
          <p:nvPr/>
        </p:nvSpPr>
        <p:spPr>
          <a:xfrm>
            <a:off x="239660" y="4103553"/>
            <a:ext cx="187572" cy="654025"/>
          </a:xfrm>
          <a:prstGeom prst="rect">
            <a:avLst/>
          </a:prstGeom>
        </p:spPr>
        <p:txBody>
          <a:bodyPr wrap="square" lIns="0" tIns="0" rIns="0" bIns="0" rtlCol="0" anchor="t">
            <a:spAutoFit/>
          </a:bodyPr>
          <a:lstStyle/>
          <a:p>
            <a:pPr>
              <a:lnSpc>
                <a:spcPts val="1741"/>
              </a:lnSpc>
              <a:spcBef>
                <a:spcPct val="0"/>
              </a:spcBef>
            </a:pPr>
            <a:r>
              <a:rPr lang="en-US" sz="1243" b="1">
                <a:solidFill>
                  <a:srgbClr val="494848"/>
                </a:solidFill>
                <a:latin typeface="メイリオ" panose="020B0604030504040204" pitchFamily="50" charset="-128"/>
                <a:ea typeface="メイリオ" panose="020B0604030504040204" pitchFamily="50" charset="-128"/>
                <a:cs typeface="メイリオ"/>
              </a:rPr>
              <a:t>必要性</a:t>
            </a:r>
          </a:p>
        </p:txBody>
      </p:sp>
      <p:sp>
        <p:nvSpPr>
          <p:cNvPr id="25" name="TextBox 29">
            <a:extLst>
              <a:ext uri="{FF2B5EF4-FFF2-40B4-BE49-F238E27FC236}">
                <a16:creationId xmlns:a16="http://schemas.microsoft.com/office/drawing/2014/main" id="{E542051B-CCE6-131D-3645-4C3C8932C9AF}"/>
              </a:ext>
            </a:extLst>
          </p:cNvPr>
          <p:cNvSpPr txBox="1"/>
          <p:nvPr/>
        </p:nvSpPr>
        <p:spPr>
          <a:xfrm>
            <a:off x="2530798" y="6132696"/>
            <a:ext cx="633665" cy="218008"/>
          </a:xfrm>
          <a:prstGeom prst="rect">
            <a:avLst/>
          </a:prstGeom>
        </p:spPr>
        <p:txBody>
          <a:bodyPr wrap="square" lIns="0" tIns="0" rIns="0" bIns="0" rtlCol="0" anchor="t">
            <a:spAutoFit/>
          </a:bodyPr>
          <a:lstStyle/>
          <a:p>
            <a:pPr>
              <a:lnSpc>
                <a:spcPts val="1741"/>
              </a:lnSpc>
              <a:spcBef>
                <a:spcPct val="0"/>
              </a:spcBef>
            </a:pPr>
            <a:r>
              <a:rPr lang="en-US" sz="1243" b="1">
                <a:solidFill>
                  <a:srgbClr val="494848"/>
                </a:solidFill>
                <a:latin typeface="メイリオ" panose="020B0604030504040204" pitchFamily="50" charset="-128"/>
                <a:ea typeface="メイリオ" panose="020B0604030504040204" pitchFamily="50" charset="-128"/>
                <a:cs typeface="メイリオ"/>
              </a:rPr>
              <a:t>緊急性</a:t>
            </a:r>
          </a:p>
        </p:txBody>
      </p:sp>
      <p:sp>
        <p:nvSpPr>
          <p:cNvPr id="26" name="TextBox 30">
            <a:extLst>
              <a:ext uri="{FF2B5EF4-FFF2-40B4-BE49-F238E27FC236}">
                <a16:creationId xmlns:a16="http://schemas.microsoft.com/office/drawing/2014/main" id="{789AA7FE-BAB1-3DE7-B600-0D2687AE8FEF}"/>
              </a:ext>
            </a:extLst>
          </p:cNvPr>
          <p:cNvSpPr txBox="1"/>
          <p:nvPr/>
        </p:nvSpPr>
        <p:spPr>
          <a:xfrm>
            <a:off x="3462330" y="3120281"/>
            <a:ext cx="633665" cy="218008"/>
          </a:xfrm>
          <a:prstGeom prst="rect">
            <a:avLst/>
          </a:prstGeom>
        </p:spPr>
        <p:txBody>
          <a:bodyPr wrap="square" lIns="0" tIns="0" rIns="0" bIns="0" rtlCol="0" anchor="t">
            <a:spAutoFit/>
          </a:bodyPr>
          <a:lstStyle/>
          <a:p>
            <a:pPr algn="ctr">
              <a:lnSpc>
                <a:spcPts val="1741"/>
              </a:lnSpc>
              <a:spcBef>
                <a:spcPct val="0"/>
              </a:spcBef>
            </a:pPr>
            <a:r>
              <a:rPr lang="en-US" sz="1243">
                <a:solidFill>
                  <a:srgbClr val="494848"/>
                </a:solidFill>
                <a:latin typeface="メイリオ" panose="020B0604030504040204" pitchFamily="50" charset="-128"/>
                <a:ea typeface="メイリオ" panose="020B0604030504040204" pitchFamily="50" charset="-128"/>
                <a:cs typeface="メイリオ"/>
              </a:rPr>
              <a:t>今すぐ客</a:t>
            </a:r>
          </a:p>
        </p:txBody>
      </p:sp>
      <p:sp>
        <p:nvSpPr>
          <p:cNvPr id="27" name="TextBox 31">
            <a:extLst>
              <a:ext uri="{FF2B5EF4-FFF2-40B4-BE49-F238E27FC236}">
                <a16:creationId xmlns:a16="http://schemas.microsoft.com/office/drawing/2014/main" id="{95B912FE-88DA-75EB-2906-07FA329A9879}"/>
              </a:ext>
            </a:extLst>
          </p:cNvPr>
          <p:cNvSpPr txBox="1"/>
          <p:nvPr/>
        </p:nvSpPr>
        <p:spPr>
          <a:xfrm>
            <a:off x="1381753" y="3115300"/>
            <a:ext cx="868938" cy="218008"/>
          </a:xfrm>
          <a:prstGeom prst="rect">
            <a:avLst/>
          </a:prstGeom>
        </p:spPr>
        <p:txBody>
          <a:bodyPr wrap="square" lIns="0" tIns="0" rIns="0" bIns="0" rtlCol="0" anchor="t">
            <a:spAutoFit/>
          </a:bodyPr>
          <a:lstStyle/>
          <a:p>
            <a:pPr algn="ctr">
              <a:lnSpc>
                <a:spcPts val="1741"/>
              </a:lnSpc>
              <a:spcBef>
                <a:spcPct val="0"/>
              </a:spcBef>
            </a:pPr>
            <a:r>
              <a:rPr lang="en-US" sz="1243">
                <a:solidFill>
                  <a:srgbClr val="494848"/>
                </a:solidFill>
                <a:latin typeface="メイリオ" panose="020B0604030504040204" pitchFamily="50" charset="-128"/>
                <a:ea typeface="メイリオ" panose="020B0604030504040204" pitchFamily="50" charset="-128"/>
                <a:cs typeface="メイリオ"/>
              </a:rPr>
              <a:t>そのうち客</a:t>
            </a:r>
          </a:p>
        </p:txBody>
      </p:sp>
      <p:sp>
        <p:nvSpPr>
          <p:cNvPr id="28" name="TextBox 32">
            <a:extLst>
              <a:ext uri="{FF2B5EF4-FFF2-40B4-BE49-F238E27FC236}">
                <a16:creationId xmlns:a16="http://schemas.microsoft.com/office/drawing/2014/main" id="{59D328C3-F2B3-6E79-96BF-D71386F2B39C}"/>
              </a:ext>
            </a:extLst>
          </p:cNvPr>
          <p:cNvSpPr txBox="1"/>
          <p:nvPr/>
        </p:nvSpPr>
        <p:spPr>
          <a:xfrm>
            <a:off x="1415156" y="4384620"/>
            <a:ext cx="868938" cy="218008"/>
          </a:xfrm>
          <a:prstGeom prst="rect">
            <a:avLst/>
          </a:prstGeom>
        </p:spPr>
        <p:txBody>
          <a:bodyPr wrap="square" lIns="0" tIns="0" rIns="0" bIns="0" rtlCol="0" anchor="t">
            <a:spAutoFit/>
          </a:bodyPr>
          <a:lstStyle/>
          <a:p>
            <a:pPr algn="ctr">
              <a:lnSpc>
                <a:spcPts val="1741"/>
              </a:lnSpc>
              <a:spcBef>
                <a:spcPct val="0"/>
              </a:spcBef>
            </a:pPr>
            <a:r>
              <a:rPr lang="en-US" sz="1243">
                <a:solidFill>
                  <a:srgbClr val="FFFFFF"/>
                </a:solidFill>
                <a:latin typeface="メイリオ" panose="020B0604030504040204" pitchFamily="50" charset="-128"/>
                <a:ea typeface="メイリオ" panose="020B0604030504040204" pitchFamily="50" charset="-128"/>
                <a:cs typeface="メイリオ"/>
              </a:rPr>
              <a:t>まだまだ客</a:t>
            </a:r>
          </a:p>
        </p:txBody>
      </p:sp>
      <p:sp>
        <p:nvSpPr>
          <p:cNvPr id="29" name="TextBox 33">
            <a:extLst>
              <a:ext uri="{FF2B5EF4-FFF2-40B4-BE49-F238E27FC236}">
                <a16:creationId xmlns:a16="http://schemas.microsoft.com/office/drawing/2014/main" id="{877B9BED-D0F9-E0E6-43A4-64BB48000261}"/>
              </a:ext>
            </a:extLst>
          </p:cNvPr>
          <p:cNvSpPr txBox="1"/>
          <p:nvPr/>
        </p:nvSpPr>
        <p:spPr>
          <a:xfrm>
            <a:off x="3344694" y="4384620"/>
            <a:ext cx="868938" cy="218008"/>
          </a:xfrm>
          <a:prstGeom prst="rect">
            <a:avLst/>
          </a:prstGeom>
        </p:spPr>
        <p:txBody>
          <a:bodyPr wrap="square" lIns="0" tIns="0" rIns="0" bIns="0" rtlCol="0" anchor="t">
            <a:spAutoFit/>
          </a:bodyPr>
          <a:lstStyle/>
          <a:p>
            <a:pPr algn="ctr">
              <a:lnSpc>
                <a:spcPts val="1741"/>
              </a:lnSpc>
              <a:spcBef>
                <a:spcPct val="0"/>
              </a:spcBef>
            </a:pPr>
            <a:r>
              <a:rPr lang="en-US" sz="1243">
                <a:solidFill>
                  <a:srgbClr val="494848"/>
                </a:solidFill>
                <a:latin typeface="メイリオ" panose="020B0604030504040204" pitchFamily="50" charset="-128"/>
                <a:ea typeface="メイリオ" panose="020B0604030504040204" pitchFamily="50" charset="-128"/>
                <a:cs typeface="メイリオ"/>
              </a:rPr>
              <a:t>お悩み客</a:t>
            </a:r>
          </a:p>
        </p:txBody>
      </p:sp>
      <p:sp>
        <p:nvSpPr>
          <p:cNvPr id="30" name="TextBox 34">
            <a:extLst>
              <a:ext uri="{FF2B5EF4-FFF2-40B4-BE49-F238E27FC236}">
                <a16:creationId xmlns:a16="http://schemas.microsoft.com/office/drawing/2014/main" id="{0401D261-C9B9-D74A-1CE2-30812B0B4154}"/>
              </a:ext>
            </a:extLst>
          </p:cNvPr>
          <p:cNvSpPr txBox="1"/>
          <p:nvPr/>
        </p:nvSpPr>
        <p:spPr>
          <a:xfrm>
            <a:off x="3462330" y="3384483"/>
            <a:ext cx="633665" cy="282129"/>
          </a:xfrm>
          <a:prstGeom prst="rect">
            <a:avLst/>
          </a:prstGeom>
        </p:spPr>
        <p:txBody>
          <a:bodyPr wrap="square" lIns="0" tIns="0" rIns="0" bIns="0" rtlCol="0" anchor="t">
            <a:spAutoFit/>
          </a:bodyPr>
          <a:lstStyle/>
          <a:p>
            <a:pPr algn="ctr">
              <a:lnSpc>
                <a:spcPts val="2176"/>
              </a:lnSpc>
              <a:spcBef>
                <a:spcPct val="0"/>
              </a:spcBef>
            </a:pPr>
            <a:r>
              <a:rPr lang="en-US" sz="1554" dirty="0">
                <a:solidFill>
                  <a:srgbClr val="494848"/>
                </a:solidFill>
                <a:latin typeface="メイリオ" panose="020B0604030504040204" pitchFamily="50" charset="-128"/>
                <a:ea typeface="メイリオ" panose="020B0604030504040204" pitchFamily="50" charset="-128"/>
                <a:cs typeface="メイリオ"/>
              </a:rPr>
              <a:t>1-2％</a:t>
            </a:r>
          </a:p>
        </p:txBody>
      </p:sp>
      <p:sp>
        <p:nvSpPr>
          <p:cNvPr id="31" name="TextBox 35">
            <a:extLst>
              <a:ext uri="{FF2B5EF4-FFF2-40B4-BE49-F238E27FC236}">
                <a16:creationId xmlns:a16="http://schemas.microsoft.com/office/drawing/2014/main" id="{D2A4C54E-2F37-07C2-DE48-A2E382EA3FF7}"/>
              </a:ext>
            </a:extLst>
          </p:cNvPr>
          <p:cNvSpPr txBox="1"/>
          <p:nvPr/>
        </p:nvSpPr>
        <p:spPr>
          <a:xfrm>
            <a:off x="1385749" y="3384483"/>
            <a:ext cx="927750" cy="564257"/>
          </a:xfrm>
          <a:prstGeom prst="rect">
            <a:avLst/>
          </a:prstGeom>
        </p:spPr>
        <p:txBody>
          <a:bodyPr wrap="square" lIns="0" tIns="0" rIns="0" bIns="0" rtlCol="0" anchor="t">
            <a:spAutoFit/>
          </a:bodyPr>
          <a:lstStyle/>
          <a:p>
            <a:pPr algn="ctr">
              <a:lnSpc>
                <a:spcPts val="2176"/>
              </a:lnSpc>
              <a:spcBef>
                <a:spcPct val="0"/>
              </a:spcBef>
            </a:pPr>
            <a:r>
              <a:rPr lang="en-US" altLang="ja-JP" sz="1554" dirty="0">
                <a:solidFill>
                  <a:srgbClr val="494848"/>
                </a:solidFill>
                <a:latin typeface="メイリオ" panose="020B0604030504040204" pitchFamily="50" charset="-128"/>
                <a:ea typeface="メイリオ" panose="020B0604030504040204" pitchFamily="50" charset="-128"/>
                <a:cs typeface="メイリオ"/>
              </a:rPr>
              <a:t>9-</a:t>
            </a:r>
            <a:r>
              <a:rPr lang="en-US" sz="1554" dirty="0">
                <a:solidFill>
                  <a:srgbClr val="494848"/>
                </a:solidFill>
                <a:latin typeface="メイリオ" panose="020B0604030504040204" pitchFamily="50" charset="-128"/>
                <a:ea typeface="メイリオ" panose="020B0604030504040204" pitchFamily="50" charset="-128"/>
                <a:cs typeface="メイリオ"/>
              </a:rPr>
              <a:t>9.5％</a:t>
            </a:r>
          </a:p>
        </p:txBody>
      </p:sp>
      <p:sp>
        <p:nvSpPr>
          <p:cNvPr id="32" name="TextBox 36">
            <a:extLst>
              <a:ext uri="{FF2B5EF4-FFF2-40B4-BE49-F238E27FC236}">
                <a16:creationId xmlns:a16="http://schemas.microsoft.com/office/drawing/2014/main" id="{E5AC4649-00C6-4888-D80C-1A7202D4D61C}"/>
              </a:ext>
            </a:extLst>
          </p:cNvPr>
          <p:cNvSpPr txBox="1"/>
          <p:nvPr/>
        </p:nvSpPr>
        <p:spPr>
          <a:xfrm>
            <a:off x="3315287" y="4823293"/>
            <a:ext cx="927750" cy="564257"/>
          </a:xfrm>
          <a:prstGeom prst="rect">
            <a:avLst/>
          </a:prstGeom>
        </p:spPr>
        <p:txBody>
          <a:bodyPr wrap="square" lIns="0" tIns="0" rIns="0" bIns="0" rtlCol="0" anchor="t">
            <a:spAutoFit/>
          </a:bodyPr>
          <a:lstStyle/>
          <a:p>
            <a:pPr algn="ctr">
              <a:lnSpc>
                <a:spcPts val="2176"/>
              </a:lnSpc>
              <a:spcBef>
                <a:spcPct val="0"/>
              </a:spcBef>
            </a:pPr>
            <a:r>
              <a:rPr lang="en-US" sz="1554" dirty="0">
                <a:solidFill>
                  <a:srgbClr val="494848"/>
                </a:solidFill>
                <a:latin typeface="メイリオ" panose="020B0604030504040204" pitchFamily="50" charset="-128"/>
                <a:ea typeface="メイリオ" panose="020B0604030504040204" pitchFamily="50" charset="-128"/>
                <a:cs typeface="メイリオ"/>
              </a:rPr>
              <a:t>9-9.5％</a:t>
            </a:r>
          </a:p>
        </p:txBody>
      </p:sp>
      <p:sp>
        <p:nvSpPr>
          <p:cNvPr id="33" name="TextBox 37">
            <a:extLst>
              <a:ext uri="{FF2B5EF4-FFF2-40B4-BE49-F238E27FC236}">
                <a16:creationId xmlns:a16="http://schemas.microsoft.com/office/drawing/2014/main" id="{F710B60A-9E92-C96A-5B26-805DEEDE4E80}"/>
              </a:ext>
            </a:extLst>
          </p:cNvPr>
          <p:cNvSpPr txBox="1"/>
          <p:nvPr/>
        </p:nvSpPr>
        <p:spPr>
          <a:xfrm>
            <a:off x="1532792" y="4823293"/>
            <a:ext cx="633665" cy="282129"/>
          </a:xfrm>
          <a:prstGeom prst="rect">
            <a:avLst/>
          </a:prstGeom>
        </p:spPr>
        <p:txBody>
          <a:bodyPr wrap="square" lIns="0" tIns="0" rIns="0" bIns="0" rtlCol="0" anchor="t">
            <a:spAutoFit/>
          </a:bodyPr>
          <a:lstStyle/>
          <a:p>
            <a:pPr algn="ctr">
              <a:lnSpc>
                <a:spcPts val="2176"/>
              </a:lnSpc>
              <a:spcBef>
                <a:spcPct val="0"/>
              </a:spcBef>
            </a:pPr>
            <a:r>
              <a:rPr lang="en-US" sz="1554">
                <a:solidFill>
                  <a:srgbClr val="FFFFFF"/>
                </a:solidFill>
                <a:latin typeface="メイリオ" panose="020B0604030504040204" pitchFamily="50" charset="-128"/>
                <a:ea typeface="メイリオ" panose="020B0604030504040204" pitchFamily="50" charset="-128"/>
                <a:cs typeface="メイリオ"/>
              </a:rPr>
              <a:t>80％</a:t>
            </a:r>
          </a:p>
        </p:txBody>
      </p:sp>
      <p:sp>
        <p:nvSpPr>
          <p:cNvPr id="34" name="TextBox 38">
            <a:extLst>
              <a:ext uri="{FF2B5EF4-FFF2-40B4-BE49-F238E27FC236}">
                <a16:creationId xmlns:a16="http://schemas.microsoft.com/office/drawing/2014/main" id="{5DBC0D5A-D55C-257A-51E2-CC2A6B58B8CE}"/>
              </a:ext>
            </a:extLst>
          </p:cNvPr>
          <p:cNvSpPr txBox="1"/>
          <p:nvPr/>
        </p:nvSpPr>
        <p:spPr>
          <a:xfrm>
            <a:off x="5800858" y="3159765"/>
            <a:ext cx="3788946" cy="539891"/>
          </a:xfrm>
          <a:prstGeom prst="rect">
            <a:avLst/>
          </a:prstGeom>
        </p:spPr>
        <p:txBody>
          <a:bodyPr wrap="square" lIns="0" tIns="0" rIns="0" bIns="0" rtlCol="0" anchor="t">
            <a:spAutoFit/>
          </a:bodyPr>
          <a:lstStyle/>
          <a:p>
            <a:pPr>
              <a:lnSpc>
                <a:spcPts val="2176"/>
              </a:lnSpc>
            </a:pPr>
            <a:r>
              <a:rPr lang="en-US" sz="1200" b="1" dirty="0">
                <a:solidFill>
                  <a:srgbClr val="494848"/>
                </a:solidFill>
                <a:latin typeface="メイリオ" panose="020B0604030504040204" pitchFamily="50" charset="-128"/>
                <a:ea typeface="メイリオ" panose="020B0604030504040204" pitchFamily="50" charset="-128"/>
                <a:cs typeface="メイリオ"/>
              </a:rPr>
              <a:t>「</a:t>
            </a:r>
            <a:r>
              <a:rPr lang="en-US" sz="1200" b="1" dirty="0" err="1">
                <a:solidFill>
                  <a:srgbClr val="494848"/>
                </a:solidFill>
                <a:latin typeface="メイリオ" panose="020B0604030504040204" pitchFamily="50" charset="-128"/>
                <a:ea typeface="メイリオ" panose="020B0604030504040204" pitchFamily="50" charset="-128"/>
                <a:cs typeface="メイリオ"/>
              </a:rPr>
              <a:t>今すぐ</a:t>
            </a:r>
            <a:r>
              <a:rPr lang="ja-JP" altLang="en-US" sz="1200" b="1" dirty="0">
                <a:solidFill>
                  <a:srgbClr val="494848"/>
                </a:solidFill>
                <a:latin typeface="メイリオ" panose="020B0604030504040204" pitchFamily="50" charset="-128"/>
                <a:ea typeface="メイリオ" panose="020B0604030504040204" pitchFamily="50" charset="-128"/>
                <a:cs typeface="メイリオ"/>
              </a:rPr>
              <a:t>顧</a:t>
            </a:r>
            <a:r>
              <a:rPr lang="en-US" sz="1200" b="1" dirty="0" err="1">
                <a:solidFill>
                  <a:srgbClr val="494848"/>
                </a:solidFill>
                <a:latin typeface="メイリオ" panose="020B0604030504040204" pitchFamily="50" charset="-128"/>
                <a:ea typeface="メイリオ" panose="020B0604030504040204" pitchFamily="50" charset="-128"/>
                <a:cs typeface="メイリオ"/>
              </a:rPr>
              <a:t>客」を高い広告費を投資して獲得する</a:t>
            </a:r>
            <a:r>
              <a:rPr lang="ja-JP" altLang="en-US" sz="1200" b="1" dirty="0" err="1">
                <a:solidFill>
                  <a:srgbClr val="494848"/>
                </a:solidFill>
                <a:latin typeface="メイリオ" panose="020B0604030504040204" pitchFamily="50" charset="-128"/>
                <a:ea typeface="メイリオ" panose="020B0604030504040204" pitchFamily="50" charset="-128"/>
                <a:cs typeface="メイリオ"/>
              </a:rPr>
              <a:t>のは</a:t>
            </a:r>
            <a:r>
              <a:rPr lang="ja-JP" altLang="en-US" sz="1200" b="1" dirty="0">
                <a:solidFill>
                  <a:srgbClr val="494848"/>
                </a:solidFill>
                <a:latin typeface="メイリオ" panose="020B0604030504040204" pitchFamily="50" charset="-128"/>
                <a:ea typeface="メイリオ" panose="020B0604030504040204" pitchFamily="50" charset="-128"/>
                <a:cs typeface="メイリオ"/>
              </a:rPr>
              <a:t>リスクが大きい。</a:t>
            </a:r>
            <a:endParaRPr lang="en-US" sz="1200" b="1" dirty="0">
              <a:solidFill>
                <a:srgbClr val="494848"/>
              </a:solidFill>
              <a:latin typeface="メイリオ" panose="020B0604030504040204" pitchFamily="50" charset="-128"/>
              <a:ea typeface="メイリオ" panose="020B0604030504040204" pitchFamily="50" charset="-128"/>
              <a:cs typeface="メイリオ"/>
            </a:endParaRPr>
          </a:p>
        </p:txBody>
      </p:sp>
      <p:sp>
        <p:nvSpPr>
          <p:cNvPr id="36" name="Freeform 40">
            <a:extLst>
              <a:ext uri="{FF2B5EF4-FFF2-40B4-BE49-F238E27FC236}">
                <a16:creationId xmlns:a16="http://schemas.microsoft.com/office/drawing/2014/main" id="{5A77A5D7-0DDE-21C2-51A5-84842B7243A6}"/>
              </a:ext>
            </a:extLst>
          </p:cNvPr>
          <p:cNvSpPr/>
          <p:nvPr/>
        </p:nvSpPr>
        <p:spPr>
          <a:xfrm rot="5400000">
            <a:off x="5145798" y="4206671"/>
            <a:ext cx="301414" cy="601358"/>
          </a:xfrm>
          <a:custGeom>
            <a:avLst/>
            <a:gdLst/>
            <a:ahLst/>
            <a:cxnLst/>
            <a:rect l="l" t="t" r="r" b="b"/>
            <a:pathLst>
              <a:path w="452282" h="902360">
                <a:moveTo>
                  <a:pt x="226141" y="0"/>
                </a:moveTo>
                <a:lnTo>
                  <a:pt x="452282" y="902360"/>
                </a:lnTo>
                <a:lnTo>
                  <a:pt x="0" y="902360"/>
                </a:lnTo>
                <a:lnTo>
                  <a:pt x="226141" y="0"/>
                </a:lnTo>
                <a:close/>
              </a:path>
            </a:pathLst>
          </a:custGeom>
          <a:solidFill>
            <a:srgbClr val="00FF00"/>
          </a:solid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38" name="TextBox 42">
            <a:extLst>
              <a:ext uri="{FF2B5EF4-FFF2-40B4-BE49-F238E27FC236}">
                <a16:creationId xmlns:a16="http://schemas.microsoft.com/office/drawing/2014/main" id="{8A119429-976A-2BD7-EDD0-0C402786F523}"/>
              </a:ext>
            </a:extLst>
          </p:cNvPr>
          <p:cNvSpPr txBox="1"/>
          <p:nvPr/>
        </p:nvSpPr>
        <p:spPr>
          <a:xfrm>
            <a:off x="5800858" y="4237404"/>
            <a:ext cx="3889580" cy="539891"/>
          </a:xfrm>
          <a:prstGeom prst="rect">
            <a:avLst/>
          </a:prstGeom>
        </p:spPr>
        <p:txBody>
          <a:bodyPr wrap="square" lIns="0" tIns="0" rIns="0" bIns="0" rtlCol="0" anchor="t">
            <a:spAutoFit/>
          </a:bodyPr>
          <a:lstStyle/>
          <a:p>
            <a:pPr>
              <a:lnSpc>
                <a:spcPts val="2176"/>
              </a:lnSpc>
            </a:pPr>
            <a:r>
              <a:rPr lang="en-US" sz="1200" b="1" dirty="0" err="1">
                <a:solidFill>
                  <a:srgbClr val="494848"/>
                </a:solidFill>
                <a:latin typeface="メイリオ" panose="020B0604030504040204" pitchFamily="50" charset="-128"/>
                <a:ea typeface="メイリオ" panose="020B0604030504040204" pitchFamily="50" charset="-128"/>
                <a:cs typeface="メイリオ"/>
              </a:rPr>
              <a:t>リストとして獲得するだけでなく</a:t>
            </a:r>
            <a:endParaRPr lang="en-US" sz="1200" b="1" dirty="0">
              <a:solidFill>
                <a:srgbClr val="494848"/>
              </a:solidFill>
              <a:latin typeface="メイリオ" panose="020B0604030504040204" pitchFamily="50" charset="-128"/>
              <a:ea typeface="メイリオ" panose="020B0604030504040204" pitchFamily="50" charset="-128"/>
              <a:cs typeface="メイリオ"/>
            </a:endParaRPr>
          </a:p>
          <a:p>
            <a:pPr>
              <a:lnSpc>
                <a:spcPts val="2176"/>
              </a:lnSpc>
            </a:pPr>
            <a:r>
              <a:rPr lang="en-US" sz="1200" b="1" dirty="0">
                <a:solidFill>
                  <a:srgbClr val="494848"/>
                </a:solidFill>
                <a:latin typeface="メイリオ" panose="020B0604030504040204" pitchFamily="50" charset="-128"/>
                <a:ea typeface="メイリオ" panose="020B0604030504040204" pitchFamily="50" charset="-128"/>
                <a:cs typeface="メイリオ"/>
              </a:rPr>
              <a:t>「</a:t>
            </a:r>
            <a:r>
              <a:rPr lang="ja-JP" altLang="en-US" sz="1200" b="1" dirty="0">
                <a:solidFill>
                  <a:srgbClr val="494848"/>
                </a:solidFill>
                <a:latin typeface="メイリオ" panose="020B0604030504040204" pitchFamily="50" charset="-128"/>
                <a:ea typeface="メイリオ" panose="020B0604030504040204" pitchFamily="50" charset="-128"/>
                <a:cs typeface="メイリオ"/>
              </a:rPr>
              <a:t>将来的な顧</a:t>
            </a:r>
            <a:r>
              <a:rPr lang="en-US" sz="1200" b="1" dirty="0" err="1">
                <a:solidFill>
                  <a:srgbClr val="494848"/>
                </a:solidFill>
                <a:latin typeface="メイリオ" panose="020B0604030504040204" pitchFamily="50" charset="-128"/>
                <a:ea typeface="メイリオ" panose="020B0604030504040204" pitchFamily="50" charset="-128"/>
                <a:cs typeface="メイリオ"/>
              </a:rPr>
              <a:t>客」教育をLINE</a:t>
            </a:r>
            <a:r>
              <a:rPr lang="ja-JP" altLang="en-US" sz="1200" b="1" dirty="0">
                <a:solidFill>
                  <a:srgbClr val="494848"/>
                </a:solidFill>
                <a:latin typeface="メイリオ" panose="020B0604030504040204" pitchFamily="50" charset="-128"/>
                <a:ea typeface="メイリオ" panose="020B0604030504040204" pitchFamily="50" charset="-128"/>
                <a:cs typeface="メイリオ"/>
              </a:rPr>
              <a:t>上で構築し</a:t>
            </a:r>
            <a:r>
              <a:rPr lang="en-US" sz="1200" b="1" dirty="0">
                <a:solidFill>
                  <a:srgbClr val="494848"/>
                </a:solidFill>
                <a:latin typeface="メイリオ" panose="020B0604030504040204" pitchFamily="50" charset="-128"/>
                <a:ea typeface="メイリオ" panose="020B0604030504040204" pitchFamily="50" charset="-128"/>
                <a:cs typeface="メイリオ"/>
              </a:rPr>
              <a:t>行</a:t>
            </a:r>
            <a:r>
              <a:rPr lang="ja-JP" altLang="en-US" sz="1200" b="1" dirty="0">
                <a:solidFill>
                  <a:srgbClr val="494848"/>
                </a:solidFill>
                <a:latin typeface="メイリオ" panose="020B0604030504040204" pitchFamily="50" charset="-128"/>
                <a:ea typeface="メイリオ" panose="020B0604030504040204" pitchFamily="50" charset="-128"/>
                <a:cs typeface="メイリオ"/>
              </a:rPr>
              <a:t>う。</a:t>
            </a:r>
            <a:endParaRPr lang="en-US" sz="1200" b="1" dirty="0">
              <a:solidFill>
                <a:srgbClr val="494848"/>
              </a:solidFill>
              <a:latin typeface="メイリオ" panose="020B0604030504040204" pitchFamily="50" charset="-128"/>
              <a:ea typeface="メイリオ" panose="020B0604030504040204" pitchFamily="50" charset="-128"/>
              <a:cs typeface="メイリオ"/>
            </a:endParaRPr>
          </a:p>
        </p:txBody>
      </p:sp>
      <p:sp>
        <p:nvSpPr>
          <p:cNvPr id="39" name="AutoShape 43">
            <a:extLst>
              <a:ext uri="{FF2B5EF4-FFF2-40B4-BE49-F238E27FC236}">
                <a16:creationId xmlns:a16="http://schemas.microsoft.com/office/drawing/2014/main" id="{BAFE21F2-B11C-C6C6-4A68-B44BBEB51A4E}"/>
              </a:ext>
            </a:extLst>
          </p:cNvPr>
          <p:cNvSpPr/>
          <p:nvPr/>
        </p:nvSpPr>
        <p:spPr>
          <a:xfrm>
            <a:off x="837672" y="2859077"/>
            <a:ext cx="2060521" cy="0"/>
          </a:xfrm>
          <a:prstGeom prst="line">
            <a:avLst/>
          </a:prstGeom>
          <a:ln w="19050" cap="flat">
            <a:solidFill>
              <a:srgbClr val="B0EDC9"/>
            </a:solidFill>
            <a:prstDash val="solid"/>
            <a:headEnd type="none" w="sm" len="sm"/>
            <a:tailEnd type="none" w="sm" len="sm"/>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40" name="AutoShape 44">
            <a:extLst>
              <a:ext uri="{FF2B5EF4-FFF2-40B4-BE49-F238E27FC236}">
                <a16:creationId xmlns:a16="http://schemas.microsoft.com/office/drawing/2014/main" id="{2CDA6644-C37D-611D-E0EA-EDDC28827BA0}"/>
              </a:ext>
            </a:extLst>
          </p:cNvPr>
          <p:cNvSpPr/>
          <p:nvPr/>
        </p:nvSpPr>
        <p:spPr>
          <a:xfrm>
            <a:off x="828963" y="5877316"/>
            <a:ext cx="3810830" cy="0"/>
          </a:xfrm>
          <a:prstGeom prst="line">
            <a:avLst/>
          </a:prstGeom>
          <a:ln w="19050" cap="flat">
            <a:solidFill>
              <a:srgbClr val="B0EDC9"/>
            </a:solidFill>
            <a:prstDash val="solid"/>
            <a:headEnd type="none" w="sm" len="sm"/>
            <a:tailEnd type="none" w="sm" len="sm"/>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41" name="AutoShape 45">
            <a:extLst>
              <a:ext uri="{FF2B5EF4-FFF2-40B4-BE49-F238E27FC236}">
                <a16:creationId xmlns:a16="http://schemas.microsoft.com/office/drawing/2014/main" id="{1127F3C8-7A7B-61A4-7E40-223286E1D74F}"/>
              </a:ext>
            </a:extLst>
          </p:cNvPr>
          <p:cNvSpPr/>
          <p:nvPr/>
        </p:nvSpPr>
        <p:spPr>
          <a:xfrm>
            <a:off x="2889484" y="4056689"/>
            <a:ext cx="1750309" cy="0"/>
          </a:xfrm>
          <a:prstGeom prst="line">
            <a:avLst/>
          </a:prstGeom>
          <a:ln w="19050" cap="flat">
            <a:solidFill>
              <a:srgbClr val="B0EDC9"/>
            </a:solidFill>
            <a:prstDash val="solid"/>
            <a:headEnd type="none" w="sm" len="sm"/>
            <a:tailEnd type="none" w="sm" len="sm"/>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42" name="AutoShape 46">
            <a:extLst>
              <a:ext uri="{FF2B5EF4-FFF2-40B4-BE49-F238E27FC236}">
                <a16:creationId xmlns:a16="http://schemas.microsoft.com/office/drawing/2014/main" id="{67E01EC4-C522-4365-750F-36BD973DD207}"/>
              </a:ext>
            </a:extLst>
          </p:cNvPr>
          <p:cNvSpPr/>
          <p:nvPr/>
        </p:nvSpPr>
        <p:spPr>
          <a:xfrm>
            <a:off x="4639793" y="4062682"/>
            <a:ext cx="0" cy="1826059"/>
          </a:xfrm>
          <a:prstGeom prst="line">
            <a:avLst/>
          </a:prstGeom>
          <a:ln w="19050" cap="flat">
            <a:solidFill>
              <a:srgbClr val="B0EDC9"/>
            </a:solidFill>
            <a:prstDash val="solid"/>
            <a:headEnd type="none" w="sm" len="sm"/>
            <a:tailEnd type="none" w="sm" len="sm"/>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43" name="AutoShape 47">
            <a:extLst>
              <a:ext uri="{FF2B5EF4-FFF2-40B4-BE49-F238E27FC236}">
                <a16:creationId xmlns:a16="http://schemas.microsoft.com/office/drawing/2014/main" id="{3E4AE2CB-A28C-E78F-2537-02549A8EA7AB}"/>
              </a:ext>
            </a:extLst>
          </p:cNvPr>
          <p:cNvSpPr/>
          <p:nvPr/>
        </p:nvSpPr>
        <p:spPr>
          <a:xfrm>
            <a:off x="2901330" y="2853320"/>
            <a:ext cx="0" cy="1217836"/>
          </a:xfrm>
          <a:prstGeom prst="line">
            <a:avLst/>
          </a:prstGeom>
          <a:ln w="19050" cap="flat">
            <a:solidFill>
              <a:srgbClr val="B0EDC9"/>
            </a:solidFill>
            <a:prstDash val="solid"/>
            <a:headEnd type="none" w="sm" len="sm"/>
            <a:tailEnd type="none" w="sm" len="sm"/>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44" name="AutoShape 48">
            <a:extLst>
              <a:ext uri="{FF2B5EF4-FFF2-40B4-BE49-F238E27FC236}">
                <a16:creationId xmlns:a16="http://schemas.microsoft.com/office/drawing/2014/main" id="{BDF7967C-8276-F30B-0E4E-4BFC7A91F312}"/>
              </a:ext>
            </a:extLst>
          </p:cNvPr>
          <p:cNvSpPr/>
          <p:nvPr/>
        </p:nvSpPr>
        <p:spPr>
          <a:xfrm>
            <a:off x="840809" y="2862215"/>
            <a:ext cx="0" cy="3015101"/>
          </a:xfrm>
          <a:prstGeom prst="line">
            <a:avLst/>
          </a:prstGeom>
          <a:ln w="19050" cap="flat">
            <a:solidFill>
              <a:srgbClr val="B0EDC9"/>
            </a:solidFill>
            <a:prstDash val="solid"/>
            <a:headEnd type="none" w="sm" len="sm"/>
            <a:tailEnd type="none" w="sm" len="sm"/>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45" name="Google Shape;156;p7"/>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en-US" altLang="ja-JP" sz="1600" b="1" dirty="0">
                <a:solidFill>
                  <a:srgbClr val="002060"/>
                </a:solidFill>
                <a:latin typeface="メイリオ"/>
                <a:ea typeface="メイリオ"/>
                <a:cs typeface="メイリオ"/>
                <a:sym typeface="Meiryo"/>
              </a:rPr>
              <a:t>LINE</a:t>
            </a:r>
            <a:r>
              <a:rPr lang="ja-JP" altLang="en-US" sz="1600" b="1" dirty="0">
                <a:solidFill>
                  <a:srgbClr val="002060"/>
                </a:solidFill>
                <a:latin typeface="メイリオ"/>
                <a:ea typeface="メイリオ"/>
                <a:cs typeface="メイリオ"/>
                <a:sym typeface="Meiryo"/>
              </a:rPr>
              <a:t>公式アカウントを検討する背景</a:t>
            </a:r>
            <a:endParaRPr sz="1600" b="1" dirty="0">
              <a:solidFill>
                <a:srgbClr val="002060"/>
              </a:solidFill>
              <a:latin typeface="メイリオ"/>
              <a:ea typeface="メイリオ"/>
              <a:cs typeface="メイリオ"/>
              <a:sym typeface="Meiryo"/>
            </a:endParaRPr>
          </a:p>
        </p:txBody>
      </p:sp>
      <p:grpSp>
        <p:nvGrpSpPr>
          <p:cNvPr id="2" name="Group 25">
            <a:extLst>
              <a:ext uri="{FF2B5EF4-FFF2-40B4-BE49-F238E27FC236}">
                <a16:creationId xmlns:a16="http://schemas.microsoft.com/office/drawing/2014/main" id="{B0E7D26F-11A3-5FBC-5353-A2EB828FFE48}"/>
              </a:ext>
            </a:extLst>
          </p:cNvPr>
          <p:cNvGrpSpPr/>
          <p:nvPr/>
        </p:nvGrpSpPr>
        <p:grpSpPr>
          <a:xfrm rot="5400000">
            <a:off x="5145798" y="5317353"/>
            <a:ext cx="301414" cy="601358"/>
            <a:chOff x="0" y="0"/>
            <a:chExt cx="452282" cy="902360"/>
          </a:xfrm>
        </p:grpSpPr>
        <p:sp>
          <p:nvSpPr>
            <p:cNvPr id="35" name="Freeform 26">
              <a:extLst>
                <a:ext uri="{FF2B5EF4-FFF2-40B4-BE49-F238E27FC236}">
                  <a16:creationId xmlns:a16="http://schemas.microsoft.com/office/drawing/2014/main" id="{CDCF4F9F-A96D-47F0-B2E9-BCCD3E29956A}"/>
                </a:ext>
              </a:extLst>
            </p:cNvPr>
            <p:cNvSpPr/>
            <p:nvPr/>
          </p:nvSpPr>
          <p:spPr>
            <a:xfrm>
              <a:off x="0" y="0"/>
              <a:ext cx="452282" cy="902360"/>
            </a:xfrm>
            <a:custGeom>
              <a:avLst/>
              <a:gdLst/>
              <a:ahLst/>
              <a:cxnLst/>
              <a:rect l="l" t="t" r="r" b="b"/>
              <a:pathLst>
                <a:path w="452282" h="902360">
                  <a:moveTo>
                    <a:pt x="226141" y="0"/>
                  </a:moveTo>
                  <a:lnTo>
                    <a:pt x="452282" y="902360"/>
                  </a:lnTo>
                  <a:lnTo>
                    <a:pt x="0" y="902360"/>
                  </a:lnTo>
                  <a:lnTo>
                    <a:pt x="226141" y="0"/>
                  </a:lnTo>
                  <a:close/>
                </a:path>
              </a:pathLst>
            </a:custGeom>
            <a:solidFill>
              <a:srgbClr val="D9D9D9"/>
            </a:solid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37" name="TextBox 27">
              <a:extLst>
                <a:ext uri="{FF2B5EF4-FFF2-40B4-BE49-F238E27FC236}">
                  <a16:creationId xmlns:a16="http://schemas.microsoft.com/office/drawing/2014/main" id="{6966F572-AC3F-D92B-3752-A94BD979EB99}"/>
                </a:ext>
              </a:extLst>
            </p:cNvPr>
            <p:cNvSpPr txBox="1"/>
            <p:nvPr/>
          </p:nvSpPr>
          <p:spPr>
            <a:xfrm>
              <a:off x="70669" y="380853"/>
              <a:ext cx="310944" cy="457053"/>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cs typeface="メイリオ"/>
              </a:endParaRPr>
            </a:p>
          </p:txBody>
        </p:sp>
      </p:grpSp>
      <p:sp>
        <p:nvSpPr>
          <p:cNvPr id="46" name="TextBox 38">
            <a:extLst>
              <a:ext uri="{FF2B5EF4-FFF2-40B4-BE49-F238E27FC236}">
                <a16:creationId xmlns:a16="http://schemas.microsoft.com/office/drawing/2014/main" id="{64F1097F-60BC-270D-2F02-2726FEAC05DF}"/>
              </a:ext>
            </a:extLst>
          </p:cNvPr>
          <p:cNvSpPr txBox="1"/>
          <p:nvPr/>
        </p:nvSpPr>
        <p:spPr>
          <a:xfrm>
            <a:off x="5800858" y="5349271"/>
            <a:ext cx="3788946" cy="539891"/>
          </a:xfrm>
          <a:prstGeom prst="rect">
            <a:avLst/>
          </a:prstGeom>
        </p:spPr>
        <p:txBody>
          <a:bodyPr wrap="square" lIns="0" tIns="0" rIns="0" bIns="0" rtlCol="0" anchor="t">
            <a:spAutoFit/>
          </a:bodyPr>
          <a:lstStyle/>
          <a:p>
            <a:pPr>
              <a:lnSpc>
                <a:spcPts val="2176"/>
              </a:lnSpc>
            </a:pPr>
            <a:r>
              <a:rPr lang="ja-JP" altLang="en-US" sz="1200" b="1" dirty="0">
                <a:solidFill>
                  <a:srgbClr val="494848"/>
                </a:solidFill>
                <a:latin typeface="メイリオ" panose="020B0604030504040204" pitchFamily="50" charset="-128"/>
                <a:ea typeface="メイリオ" panose="020B0604030504040204" pitchFamily="50" charset="-128"/>
                <a:cs typeface="メイリオ"/>
              </a:rPr>
              <a:t>広告審査がないうえに、ユーザー接点を早めることで大量かつ高効率での獲得を見込むことが出来る。</a:t>
            </a:r>
            <a:endParaRPr lang="en-US" altLang="ja-JP" sz="1200" b="1" dirty="0">
              <a:solidFill>
                <a:srgbClr val="494848"/>
              </a:solidFill>
              <a:latin typeface="メイリオ" panose="020B0604030504040204" pitchFamily="50" charset="-128"/>
              <a:ea typeface="メイリオ" panose="020B0604030504040204" pitchFamily="50" charset="-128"/>
              <a:cs typeface="メイリオ"/>
            </a:endParaRPr>
          </a:p>
        </p:txBody>
      </p:sp>
      <p:sp>
        <p:nvSpPr>
          <p:cNvPr id="67" name="正方形/長方形 66">
            <a:extLst>
              <a:ext uri="{FF2B5EF4-FFF2-40B4-BE49-F238E27FC236}">
                <a16:creationId xmlns:a16="http://schemas.microsoft.com/office/drawing/2014/main" id="{77B39B6D-C944-4A06-0278-EC4EB8161426}"/>
              </a:ext>
            </a:extLst>
          </p:cNvPr>
          <p:cNvSpPr/>
          <p:nvPr/>
        </p:nvSpPr>
        <p:spPr>
          <a:xfrm>
            <a:off x="0" y="1550126"/>
            <a:ext cx="9906000" cy="99817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69" name="正方形/長方形 68">
            <a:extLst>
              <a:ext uri="{FF2B5EF4-FFF2-40B4-BE49-F238E27FC236}">
                <a16:creationId xmlns:a16="http://schemas.microsoft.com/office/drawing/2014/main" id="{5E7B95DC-CC66-6E85-612E-16DD030F6207}"/>
              </a:ext>
            </a:extLst>
          </p:cNvPr>
          <p:cNvSpPr/>
          <p:nvPr/>
        </p:nvSpPr>
        <p:spPr>
          <a:xfrm>
            <a:off x="1415156" y="1777768"/>
            <a:ext cx="3135795" cy="523220"/>
          </a:xfrm>
          <a:prstGeom prst="rect">
            <a:avLst/>
          </a:prstGeom>
        </p:spPr>
        <p:txBody>
          <a:bodyPr wrap="none">
            <a:spAutoFit/>
          </a:bodyPr>
          <a:lstStyle/>
          <a:p>
            <a:pPr algn="ctr"/>
            <a:r>
              <a:rPr lang="en-US" altLang="ja-JP" sz="1400" dirty="0">
                <a:latin typeface="メイリオ"/>
                <a:ea typeface="メイリオ"/>
                <a:cs typeface="メイリオ"/>
                <a:sym typeface="Meiryo"/>
              </a:rPr>
              <a:t>WEB</a:t>
            </a:r>
            <a:r>
              <a:rPr lang="ja-JP" altLang="en-US" sz="1400" dirty="0">
                <a:latin typeface="メイリオ"/>
                <a:ea typeface="メイリオ"/>
                <a:cs typeface="メイリオ"/>
                <a:sym typeface="Meiryo"/>
              </a:rPr>
              <a:t>広告における</a:t>
            </a:r>
            <a:r>
              <a:rPr lang="ja-JP" altLang="en-US" sz="1400" b="1" dirty="0">
                <a:latin typeface="メイリオ"/>
                <a:ea typeface="メイリオ"/>
                <a:cs typeface="メイリオ"/>
                <a:sym typeface="Meiryo"/>
              </a:rPr>
              <a:t>競合性が高</a:t>
            </a:r>
            <a:r>
              <a:rPr lang="ja-JP" altLang="en-US" sz="1400" dirty="0">
                <a:latin typeface="メイリオ"/>
                <a:ea typeface="メイリオ"/>
                <a:cs typeface="メイリオ"/>
                <a:sym typeface="Meiryo"/>
              </a:rPr>
              <a:t>くなり</a:t>
            </a:r>
            <a:endParaRPr lang="en-US" altLang="ja-JP" sz="1400" dirty="0">
              <a:latin typeface="メイリオ"/>
              <a:ea typeface="メイリオ"/>
              <a:cs typeface="メイリオ"/>
              <a:sym typeface="Meiryo"/>
            </a:endParaRPr>
          </a:p>
          <a:p>
            <a:pPr algn="ctr"/>
            <a:r>
              <a:rPr lang="ja-JP" altLang="en-US" sz="1400" b="1" dirty="0">
                <a:solidFill>
                  <a:srgbClr val="1F2A5C"/>
                </a:solidFill>
                <a:latin typeface="メイリオ"/>
                <a:ea typeface="メイリオ"/>
                <a:cs typeface="メイリオ"/>
                <a:sym typeface="Meiryo"/>
              </a:rPr>
              <a:t>単価指標（</a:t>
            </a:r>
            <a:r>
              <a:rPr lang="en-US" altLang="ja-JP" sz="1400" b="1" dirty="0">
                <a:solidFill>
                  <a:srgbClr val="1F2A5C"/>
                </a:solidFill>
                <a:latin typeface="メイリオ"/>
                <a:ea typeface="メイリオ"/>
                <a:cs typeface="メイリオ"/>
                <a:sym typeface="Meiryo"/>
              </a:rPr>
              <a:t>CPC</a:t>
            </a:r>
            <a:r>
              <a:rPr lang="ja-JP" altLang="en-US" sz="1400" b="1" dirty="0">
                <a:solidFill>
                  <a:srgbClr val="1F2A5C"/>
                </a:solidFill>
                <a:latin typeface="メイリオ"/>
                <a:ea typeface="メイリオ"/>
                <a:cs typeface="メイリオ"/>
                <a:sym typeface="Meiryo"/>
              </a:rPr>
              <a:t>及び</a:t>
            </a:r>
            <a:r>
              <a:rPr lang="en-US" altLang="ja-JP" sz="1400" b="1" dirty="0">
                <a:solidFill>
                  <a:srgbClr val="1F2A5C"/>
                </a:solidFill>
                <a:latin typeface="メイリオ"/>
                <a:ea typeface="メイリオ"/>
                <a:cs typeface="メイリオ"/>
                <a:sym typeface="Meiryo"/>
              </a:rPr>
              <a:t>CPA</a:t>
            </a:r>
            <a:r>
              <a:rPr lang="ja-JP" altLang="en-US" sz="1400" b="1" dirty="0">
                <a:solidFill>
                  <a:srgbClr val="1F2A5C"/>
                </a:solidFill>
                <a:latin typeface="メイリオ"/>
                <a:ea typeface="メイリオ"/>
                <a:cs typeface="メイリオ"/>
                <a:sym typeface="Meiryo"/>
              </a:rPr>
              <a:t>）が高騰</a:t>
            </a:r>
            <a:r>
              <a:rPr lang="ja-JP" altLang="en-US" sz="1400" dirty="0">
                <a:latin typeface="メイリオ"/>
                <a:ea typeface="メイリオ"/>
                <a:cs typeface="メイリオ"/>
                <a:sym typeface="Meiryo"/>
              </a:rPr>
              <a:t>。</a:t>
            </a:r>
            <a:endParaRPr lang="en-US" altLang="ja-JP" sz="1400" dirty="0">
              <a:latin typeface="メイリオ"/>
              <a:ea typeface="メイリオ"/>
              <a:cs typeface="メイリオ"/>
              <a:sym typeface="Meiryo"/>
            </a:endParaRPr>
          </a:p>
        </p:txBody>
      </p:sp>
      <p:sp>
        <p:nvSpPr>
          <p:cNvPr id="71" name="正方形/長方形 70">
            <a:extLst>
              <a:ext uri="{FF2B5EF4-FFF2-40B4-BE49-F238E27FC236}">
                <a16:creationId xmlns:a16="http://schemas.microsoft.com/office/drawing/2014/main" id="{8E05BE0D-9D83-9FD4-8701-8FD707FC6BF5}"/>
              </a:ext>
            </a:extLst>
          </p:cNvPr>
          <p:cNvSpPr/>
          <p:nvPr/>
        </p:nvSpPr>
        <p:spPr>
          <a:xfrm>
            <a:off x="5717891" y="1781471"/>
            <a:ext cx="3773790" cy="523220"/>
          </a:xfrm>
          <a:prstGeom prst="rect">
            <a:avLst/>
          </a:prstGeom>
        </p:spPr>
        <p:txBody>
          <a:bodyPr wrap="none">
            <a:spAutoFit/>
          </a:bodyPr>
          <a:lstStyle/>
          <a:p>
            <a:pPr algn="ctr"/>
            <a:r>
              <a:rPr lang="ja-JP" altLang="en-US" sz="1400" dirty="0">
                <a:latin typeface="メイリオ"/>
                <a:ea typeface="メイリオ"/>
                <a:cs typeface="メイリオ"/>
                <a:sym typeface="Meiryo"/>
              </a:rPr>
              <a:t>集客施策における</a:t>
            </a:r>
            <a:r>
              <a:rPr lang="en-US" altLang="ja-JP" sz="1400" b="1" dirty="0">
                <a:latin typeface="メイリオ"/>
                <a:ea typeface="メイリオ"/>
                <a:cs typeface="メイリオ"/>
                <a:sym typeface="Meiryo"/>
              </a:rPr>
              <a:t>CVR</a:t>
            </a:r>
            <a:r>
              <a:rPr lang="ja-JP" altLang="en-US" sz="1400" b="1" dirty="0">
                <a:latin typeface="メイリオ"/>
                <a:ea typeface="メイリオ"/>
                <a:cs typeface="メイリオ"/>
                <a:sym typeface="Meiryo"/>
              </a:rPr>
              <a:t>は高くても</a:t>
            </a:r>
            <a:r>
              <a:rPr lang="en-US" altLang="ja-JP" sz="1400" b="1" dirty="0">
                <a:latin typeface="メイリオ"/>
                <a:ea typeface="メイリオ"/>
                <a:cs typeface="メイリオ"/>
                <a:sym typeface="Meiryo"/>
              </a:rPr>
              <a:t>2%</a:t>
            </a:r>
            <a:r>
              <a:rPr lang="ja-JP" altLang="en-US" sz="1400" b="1" dirty="0">
                <a:latin typeface="メイリオ"/>
                <a:ea typeface="メイリオ"/>
                <a:cs typeface="メイリオ"/>
                <a:sym typeface="Meiryo"/>
              </a:rPr>
              <a:t>程度</a:t>
            </a:r>
            <a:r>
              <a:rPr lang="ja-JP" altLang="en-US" sz="1400" dirty="0">
                <a:latin typeface="メイリオ"/>
                <a:ea typeface="メイリオ"/>
                <a:cs typeface="メイリオ"/>
                <a:sym typeface="Meiryo"/>
              </a:rPr>
              <a:t>。</a:t>
            </a:r>
            <a:endParaRPr lang="en-US" altLang="ja-JP" sz="1400" dirty="0">
              <a:latin typeface="メイリオ"/>
              <a:ea typeface="メイリオ"/>
              <a:cs typeface="メイリオ"/>
              <a:sym typeface="Meiryo"/>
            </a:endParaRPr>
          </a:p>
          <a:p>
            <a:pPr algn="ctr"/>
            <a:r>
              <a:rPr lang="en-US" altLang="ja-JP" sz="1400" dirty="0">
                <a:solidFill>
                  <a:srgbClr val="1F2A5C"/>
                </a:solidFill>
                <a:latin typeface="メイリオ"/>
                <a:ea typeface="メイリオ"/>
                <a:cs typeface="メイリオ"/>
                <a:sym typeface="Meiryo"/>
              </a:rPr>
              <a:t>CV</a:t>
            </a:r>
            <a:r>
              <a:rPr lang="ja-JP" altLang="en-US" sz="1400" dirty="0">
                <a:solidFill>
                  <a:srgbClr val="1F2A5C"/>
                </a:solidFill>
                <a:latin typeface="メイリオ"/>
                <a:ea typeface="メイリオ"/>
                <a:cs typeface="メイリオ"/>
                <a:sym typeface="Meiryo"/>
              </a:rPr>
              <a:t>に至らず離脱するユーザーが大部分</a:t>
            </a:r>
            <a:r>
              <a:rPr lang="ja-JP" altLang="en-US" sz="1400" dirty="0">
                <a:latin typeface="メイリオ"/>
                <a:ea typeface="メイリオ"/>
                <a:cs typeface="メイリオ"/>
                <a:sym typeface="Meiryo"/>
              </a:rPr>
              <a:t>。</a:t>
            </a:r>
            <a:endParaRPr lang="ja-JP" altLang="en-US" sz="1400" dirty="0">
              <a:latin typeface="メイリオ"/>
              <a:ea typeface="メイリオ"/>
              <a:cs typeface="メイリオ"/>
            </a:endParaRPr>
          </a:p>
        </p:txBody>
      </p:sp>
      <p:sp>
        <p:nvSpPr>
          <p:cNvPr id="73" name="Freeform 12">
            <a:extLst>
              <a:ext uri="{FF2B5EF4-FFF2-40B4-BE49-F238E27FC236}">
                <a16:creationId xmlns:a16="http://schemas.microsoft.com/office/drawing/2014/main" id="{E8D769AF-3EE9-8FD1-96E2-AA6FB90CAF13}"/>
              </a:ext>
            </a:extLst>
          </p:cNvPr>
          <p:cNvSpPr/>
          <p:nvPr/>
        </p:nvSpPr>
        <p:spPr>
          <a:xfrm>
            <a:off x="4853067" y="1823015"/>
            <a:ext cx="823531" cy="426315"/>
          </a:xfrm>
          <a:custGeom>
            <a:avLst/>
            <a:gdLst/>
            <a:ahLst/>
            <a:cxnLst/>
            <a:rect l="l" t="t" r="r" b="b"/>
            <a:pathLst>
              <a:path w="617887" h="387031">
                <a:moveTo>
                  <a:pt x="0" y="0"/>
                </a:moveTo>
                <a:lnTo>
                  <a:pt x="617887" y="0"/>
                </a:lnTo>
                <a:lnTo>
                  <a:pt x="617887" y="387031"/>
                </a:lnTo>
                <a:lnTo>
                  <a:pt x="0" y="387031"/>
                </a:lnTo>
                <a:close/>
              </a:path>
            </a:pathLst>
          </a:custGeom>
          <a:solidFill>
            <a:srgbClr val="D9D9D9"/>
          </a:solidFill>
        </p:spPr>
        <p:txBody>
          <a:bodyPr anchor="ctr"/>
          <a:lstStyle/>
          <a:p>
            <a:pPr algn="ctr"/>
            <a:r>
              <a:rPr lang="en-US" altLang="ja-JP" b="1" dirty="0">
                <a:latin typeface="メイリオ" panose="020B0604030504040204" pitchFamily="50" charset="-128"/>
                <a:ea typeface="メイリオ" panose="020B0604030504040204" pitchFamily="50" charset="-128"/>
                <a:cs typeface="メイリオ"/>
              </a:rPr>
              <a:t>CVR</a:t>
            </a:r>
            <a:endParaRPr lang="ja-JP" altLang="en-US" b="1" dirty="0">
              <a:latin typeface="メイリオ" panose="020B0604030504040204" pitchFamily="50" charset="-128"/>
              <a:ea typeface="メイリオ" panose="020B0604030504040204" pitchFamily="50" charset="-128"/>
              <a:cs typeface="メイリオ"/>
            </a:endParaRPr>
          </a:p>
        </p:txBody>
      </p:sp>
      <p:sp>
        <p:nvSpPr>
          <p:cNvPr id="75" name="Freeform 12">
            <a:extLst>
              <a:ext uri="{FF2B5EF4-FFF2-40B4-BE49-F238E27FC236}">
                <a16:creationId xmlns:a16="http://schemas.microsoft.com/office/drawing/2014/main" id="{952D530B-C759-C959-90BD-289EC5DBA890}"/>
              </a:ext>
            </a:extLst>
          </p:cNvPr>
          <p:cNvSpPr/>
          <p:nvPr/>
        </p:nvSpPr>
        <p:spPr>
          <a:xfrm>
            <a:off x="555048" y="1808923"/>
            <a:ext cx="823531" cy="426315"/>
          </a:xfrm>
          <a:custGeom>
            <a:avLst/>
            <a:gdLst/>
            <a:ahLst/>
            <a:cxnLst/>
            <a:rect l="l" t="t" r="r" b="b"/>
            <a:pathLst>
              <a:path w="617887" h="387031">
                <a:moveTo>
                  <a:pt x="0" y="0"/>
                </a:moveTo>
                <a:lnTo>
                  <a:pt x="617887" y="0"/>
                </a:lnTo>
                <a:lnTo>
                  <a:pt x="617887" y="387031"/>
                </a:lnTo>
                <a:lnTo>
                  <a:pt x="0" y="387031"/>
                </a:lnTo>
                <a:close/>
              </a:path>
            </a:pathLst>
          </a:custGeom>
          <a:solidFill>
            <a:srgbClr val="D9D9D9"/>
          </a:solidFill>
        </p:spPr>
        <p:txBody>
          <a:bodyPr anchor="ctr"/>
          <a:lstStyle/>
          <a:p>
            <a:pPr algn="ctr"/>
            <a:r>
              <a:rPr lang="en-US" altLang="ja-JP" b="1" dirty="0">
                <a:latin typeface="メイリオ" panose="020B0604030504040204" pitchFamily="50" charset="-128"/>
                <a:ea typeface="メイリオ" panose="020B0604030504040204" pitchFamily="50" charset="-128"/>
                <a:cs typeface="メイリオ"/>
              </a:rPr>
              <a:t>CPC</a:t>
            </a:r>
            <a:endParaRPr lang="ja-JP" altLang="en-US" b="1" dirty="0">
              <a:latin typeface="メイリオ" panose="020B0604030504040204" pitchFamily="50" charset="-128"/>
              <a:ea typeface="メイリオ" panose="020B0604030504040204" pitchFamily="50" charset="-128"/>
              <a:cs typeface="メイリオ"/>
            </a:endParaRPr>
          </a:p>
        </p:txBody>
      </p:sp>
    </p:spTree>
    <p:extLst>
      <p:ext uri="{BB962C8B-B14F-4D97-AF65-F5344CB8AC3E}">
        <p14:creationId xmlns:p14="http://schemas.microsoft.com/office/powerpoint/2010/main" val="356214849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BD88C4-8CFA-2C0E-C230-F47FCA10FFC5}"/>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634DA306-8233-CC88-65A5-36654C66652A}"/>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 name="正方形/長方形 3">
            <a:extLst>
              <a:ext uri="{FF2B5EF4-FFF2-40B4-BE49-F238E27FC236}">
                <a16:creationId xmlns:a16="http://schemas.microsoft.com/office/drawing/2014/main" id="{0CB02FD4-701A-71CE-F43E-33D8F9E44E7B}"/>
              </a:ext>
            </a:extLst>
          </p:cNvPr>
          <p:cNvSpPr/>
          <p:nvPr/>
        </p:nvSpPr>
        <p:spPr>
          <a:xfrm>
            <a:off x="796379" y="635062"/>
            <a:ext cx="8328074"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cs typeface="メイリオ"/>
              </a:rPr>
              <a:t>利用年齢層により変動はするものの、</a:t>
            </a:r>
            <a:r>
              <a:rPr lang="en-US" altLang="ja-JP" sz="1400" dirty="0">
                <a:solidFill>
                  <a:srgbClr val="343434"/>
                </a:solidFill>
                <a:latin typeface="メイリオ" panose="020B0604030504040204" pitchFamily="50" charset="-128"/>
                <a:ea typeface="メイリオ" panose="020B0604030504040204" pitchFamily="50" charset="-128"/>
                <a:cs typeface="メイリオ"/>
              </a:rPr>
              <a:t>10-40</a:t>
            </a:r>
            <a:r>
              <a:rPr lang="ja-JP" altLang="en-US" sz="1400" dirty="0">
                <a:solidFill>
                  <a:srgbClr val="343434"/>
                </a:solidFill>
                <a:latin typeface="メイリオ" panose="020B0604030504040204" pitchFamily="50" charset="-128"/>
                <a:ea typeface="メイリオ" panose="020B0604030504040204" pitchFamily="50" charset="-128"/>
                <a:cs typeface="メイリオ"/>
              </a:rPr>
              <a:t>代を中心に電話、メールを忌避する動きが強まっている。</a:t>
            </a: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a:p>
            <a:pPr algn="ctr">
              <a:lnSpc>
                <a:spcPts val="2455"/>
              </a:lnSpc>
            </a:pPr>
            <a:r>
              <a:rPr lang="ja-JP" altLang="en-US" sz="1400" b="1" dirty="0">
                <a:solidFill>
                  <a:srgbClr val="343434"/>
                </a:solidFill>
                <a:latin typeface="メイリオ" panose="020B0604030504040204" pitchFamily="50" charset="-128"/>
                <a:ea typeface="メイリオ" panose="020B0604030504040204" pitchFamily="50" charset="-128"/>
                <a:cs typeface="メイリオ"/>
              </a:rPr>
              <a:t>既存ユーザー以外の年齢層の獲得にあたって、利用率の高い</a:t>
            </a:r>
            <a:r>
              <a:rPr lang="en-US" altLang="ja-JP" sz="1400" b="1" dirty="0">
                <a:solidFill>
                  <a:srgbClr val="343434"/>
                </a:solidFill>
                <a:latin typeface="メイリオ" panose="020B0604030504040204" pitchFamily="50" charset="-128"/>
                <a:ea typeface="メイリオ" panose="020B0604030504040204" pitchFamily="50" charset="-128"/>
                <a:cs typeface="メイリオ"/>
              </a:rPr>
              <a:t>LINEOA</a:t>
            </a:r>
            <a:r>
              <a:rPr lang="ja-JP" altLang="en-US" sz="1400" b="1" dirty="0">
                <a:solidFill>
                  <a:srgbClr val="343434"/>
                </a:solidFill>
                <a:latin typeface="メイリオ" panose="020B0604030504040204" pitchFamily="50" charset="-128"/>
                <a:ea typeface="メイリオ" panose="020B0604030504040204" pitchFamily="50" charset="-128"/>
                <a:cs typeface="メイリオ"/>
              </a:rPr>
              <a:t>施策が非常に重要と想定</a:t>
            </a:r>
            <a:r>
              <a:rPr lang="ja-JP" altLang="en-US" sz="1400" dirty="0">
                <a:solidFill>
                  <a:srgbClr val="343434"/>
                </a:solidFill>
                <a:latin typeface="メイリオ" panose="020B0604030504040204" pitchFamily="50" charset="-128"/>
                <a:ea typeface="メイリオ" panose="020B0604030504040204" pitchFamily="50" charset="-128"/>
                <a:cs typeface="メイリオ"/>
              </a:rPr>
              <a:t>される。</a:t>
            </a: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cxnSp>
        <p:nvCxnSpPr>
          <p:cNvPr id="5" name="直線コネクタ 4">
            <a:extLst>
              <a:ext uri="{FF2B5EF4-FFF2-40B4-BE49-F238E27FC236}">
                <a16:creationId xmlns:a16="http://schemas.microsoft.com/office/drawing/2014/main" id="{F214699F-6602-F0D9-7DE6-2A3BDFB29171}"/>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5" name="Google Shape;156;p7">
            <a:extLst>
              <a:ext uri="{FF2B5EF4-FFF2-40B4-BE49-F238E27FC236}">
                <a16:creationId xmlns:a16="http://schemas.microsoft.com/office/drawing/2014/main" id="{37B7BC17-B92E-ED23-C69B-F5A79154E50F}"/>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en-US" altLang="ja-JP" sz="1600" b="1" dirty="0">
                <a:solidFill>
                  <a:srgbClr val="002060"/>
                </a:solidFill>
                <a:latin typeface="メイリオ"/>
                <a:ea typeface="メイリオ"/>
                <a:cs typeface="メイリオ"/>
                <a:sym typeface="Meiryo"/>
              </a:rPr>
              <a:t>LINE</a:t>
            </a:r>
            <a:r>
              <a:rPr lang="ja-JP" altLang="en-US" sz="1600" b="1" dirty="0">
                <a:solidFill>
                  <a:srgbClr val="002060"/>
                </a:solidFill>
                <a:latin typeface="メイリオ"/>
                <a:ea typeface="メイリオ"/>
                <a:cs typeface="メイリオ"/>
                <a:sym typeface="Meiryo"/>
              </a:rPr>
              <a:t>公式アカウントを検討する背景</a:t>
            </a:r>
            <a:endParaRPr sz="1600" b="1" dirty="0">
              <a:solidFill>
                <a:srgbClr val="002060"/>
              </a:solidFill>
              <a:latin typeface="メイリオ"/>
              <a:ea typeface="メイリオ"/>
              <a:cs typeface="メイリオ"/>
              <a:sym typeface="Meiryo"/>
            </a:endParaRPr>
          </a:p>
        </p:txBody>
      </p:sp>
      <p:graphicFrame>
        <p:nvGraphicFramePr>
          <p:cNvPr id="50" name="表 49">
            <a:extLst>
              <a:ext uri="{FF2B5EF4-FFF2-40B4-BE49-F238E27FC236}">
                <a16:creationId xmlns:a16="http://schemas.microsoft.com/office/drawing/2014/main" id="{F4041BC0-327B-67FB-AC18-60C96EAE8809}"/>
              </a:ext>
            </a:extLst>
          </p:cNvPr>
          <p:cNvGraphicFramePr>
            <a:graphicFrameLocks noGrp="1"/>
          </p:cNvGraphicFramePr>
          <p:nvPr/>
        </p:nvGraphicFramePr>
        <p:xfrm>
          <a:off x="367528" y="1662925"/>
          <a:ext cx="9168355" cy="4494024"/>
        </p:xfrm>
        <a:graphic>
          <a:graphicData uri="http://schemas.openxmlformats.org/drawingml/2006/table">
            <a:tbl>
              <a:tblPr/>
              <a:tblGrid>
                <a:gridCol w="1833671">
                  <a:extLst>
                    <a:ext uri="{9D8B030D-6E8A-4147-A177-3AD203B41FA5}">
                      <a16:colId xmlns:a16="http://schemas.microsoft.com/office/drawing/2014/main" val="1559461290"/>
                    </a:ext>
                  </a:extLst>
                </a:gridCol>
                <a:gridCol w="1833671">
                  <a:extLst>
                    <a:ext uri="{9D8B030D-6E8A-4147-A177-3AD203B41FA5}">
                      <a16:colId xmlns:a16="http://schemas.microsoft.com/office/drawing/2014/main" val="4043568489"/>
                    </a:ext>
                  </a:extLst>
                </a:gridCol>
                <a:gridCol w="1833671">
                  <a:extLst>
                    <a:ext uri="{9D8B030D-6E8A-4147-A177-3AD203B41FA5}">
                      <a16:colId xmlns:a16="http://schemas.microsoft.com/office/drawing/2014/main" val="377063127"/>
                    </a:ext>
                  </a:extLst>
                </a:gridCol>
                <a:gridCol w="1833671">
                  <a:extLst>
                    <a:ext uri="{9D8B030D-6E8A-4147-A177-3AD203B41FA5}">
                      <a16:colId xmlns:a16="http://schemas.microsoft.com/office/drawing/2014/main" val="2814255100"/>
                    </a:ext>
                  </a:extLst>
                </a:gridCol>
                <a:gridCol w="1833671">
                  <a:extLst>
                    <a:ext uri="{9D8B030D-6E8A-4147-A177-3AD203B41FA5}">
                      <a16:colId xmlns:a16="http://schemas.microsoft.com/office/drawing/2014/main" val="3083523150"/>
                    </a:ext>
                  </a:extLst>
                </a:gridCol>
              </a:tblGrid>
              <a:tr h="499336">
                <a:tc>
                  <a:txBody>
                    <a:bodyPr/>
                    <a:lstStyle/>
                    <a:p>
                      <a:pPr algn="ctr" fontAlgn="ctr">
                        <a:buNone/>
                      </a:pP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年齢層</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LINE</a:t>
                      </a:r>
                      <a:r>
                        <a:rPr lang="ja-JP" altLang="en-US"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・チャット系</a:t>
                      </a:r>
                      <a:endPar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p>
                      <a:pPr algn="ctr" fontAlgn="ctr">
                        <a:buNone/>
                      </a:pPr>
                      <a:endParaRPr lang="ja-JP" altLang="en-US" sz="10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ja-JP" altLang="en-US"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メール・メルマガ</a:t>
                      </a:r>
                      <a:endPar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p>
                      <a:pPr algn="ctr" fontAlgn="ctr">
                        <a:buNone/>
                      </a:pPr>
                      <a:endPar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ja-JP" altLang="en-US"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電話</a:t>
                      </a:r>
                      <a:endPar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p>
                      <a:pPr algn="ctr" fontAlgn="ctr">
                        <a:buNone/>
                      </a:pPr>
                      <a:endPar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ja-JP" altLang="en-US"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主要な特徴・</a:t>
                      </a: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SNS</a:t>
                      </a:r>
                    </a:p>
                    <a:p>
                      <a:pPr algn="ctr" fontAlgn="ctr">
                        <a:buNone/>
                      </a:pPr>
                      <a:endPar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extLst>
                  <a:ext uri="{0D108BD9-81ED-4DB2-BD59-A6C34878D82A}">
                    <a16:rowId xmlns:a16="http://schemas.microsoft.com/office/drawing/2014/main" val="3477182699"/>
                  </a:ext>
                </a:extLst>
              </a:tr>
              <a:tr h="499336">
                <a:tc rowSpan="2">
                  <a:txBody>
                    <a:bodyPr/>
                    <a:lstStyle/>
                    <a:p>
                      <a:pPr algn="l" fontAlgn="ctr">
                        <a:buNone/>
                      </a:pP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　　　</a:t>
                      </a:r>
                      <a:r>
                        <a:rPr lang="en-US" altLang="ja-JP"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10</a:t>
                      </a: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代</a:t>
                      </a:r>
                      <a:r>
                        <a:rPr lang="en-US" altLang="ja-JP"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〜20</a:t>
                      </a: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代　</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利用率：</a:t>
                      </a:r>
                      <a:r>
                        <a:rPr lang="en-US" altLang="ja-JP"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90%</a:t>
                      </a: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以上</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F2F2F2"/>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利用率：低</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利用率：極めて低</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rowSpan="2">
                  <a:txBody>
                    <a:bodyPr/>
                    <a:lstStyle/>
                    <a:p>
                      <a:pPr algn="ctr" fontAlgn="ctr">
                        <a:buNone/>
                      </a:pPr>
                      <a:r>
                        <a:rPr lang="en-US" altLang="ja-JP" sz="800" b="0" i="0" u="none" strike="noStrike" dirty="0" err="1">
                          <a:solidFill>
                            <a:srgbClr val="000000"/>
                          </a:solidFill>
                          <a:effectLst/>
                          <a:latin typeface="メイリオ" panose="020B0604030504040204" pitchFamily="50" charset="-128"/>
                          <a:ea typeface="メイリオ" panose="020B0604030504040204" pitchFamily="50" charset="-128"/>
                          <a:cs typeface="メイリオ"/>
                        </a:rPr>
                        <a:t>Tiktok</a:t>
                      </a:r>
                      <a:r>
                        <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 YouTube</a:t>
                      </a: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が情報収集の起点。</a:t>
                      </a:r>
                      <a:b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br>
                      <a:r>
                        <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Instagram</a:t>
                      </a: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a:t>
                      </a:r>
                      <a:r>
                        <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X</a:t>
                      </a: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の</a:t>
                      </a:r>
                      <a:r>
                        <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DM</a:t>
                      </a: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も</a:t>
                      </a:r>
                      <a:endPar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連絡網として活用。</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65522484"/>
                  </a:ext>
                </a:extLst>
              </a:tr>
              <a:tr h="499336">
                <a:tc vMerge="1">
                  <a:txBody>
                    <a:bodyPr/>
                    <a:lstStyle/>
                    <a:p>
                      <a:endParaRPr kumimoji="1" lang="ja-JP" altLang="en-US">
                        <a:latin typeface="メイリオ"/>
                        <a:ea typeface="メイリオ"/>
                        <a:cs typeface="メイリオ"/>
                      </a:endParaRPr>
                    </a:p>
                  </a:txBody>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日常連絡の絶対的インフラ。</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企業や公式からの連絡は</a:t>
                      </a:r>
                      <a:endPar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読まれない傾向。</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「電話恐怖症」を持つ人も。</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vMerge="1">
                  <a:txBody>
                    <a:bodyPr/>
                    <a:lstStyle/>
                    <a:p>
                      <a:endParaRPr kumimoji="1" lang="ja-JP" altLang="en-US">
                        <a:latin typeface="メイリオ"/>
                        <a:ea typeface="メイリオ"/>
                        <a:cs typeface="メイリオ"/>
                      </a:endParaRPr>
                    </a:p>
                  </a:txBody>
                  <a:tcPr/>
                </a:tc>
                <a:extLst>
                  <a:ext uri="{0D108BD9-81ED-4DB2-BD59-A6C34878D82A}">
                    <a16:rowId xmlns:a16="http://schemas.microsoft.com/office/drawing/2014/main" val="1705581114"/>
                  </a:ext>
                </a:extLst>
              </a:tr>
              <a:tr h="499336">
                <a:tc rowSpan="2">
                  <a:txBody>
                    <a:bodyPr/>
                    <a:lstStyle/>
                    <a:p>
                      <a:pPr algn="l" fontAlgn="ctr">
                        <a:buNone/>
                      </a:pP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　　　</a:t>
                      </a:r>
                      <a:r>
                        <a:rPr lang="en-US" altLang="ja-JP"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30</a:t>
                      </a: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代</a:t>
                      </a:r>
                      <a:r>
                        <a:rPr lang="en-US" altLang="ja-JP"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〜40</a:t>
                      </a: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代</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利用率：</a:t>
                      </a:r>
                      <a:r>
                        <a:rPr lang="en-US" altLang="ja-JP"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90%</a:t>
                      </a: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以上</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F2F2F2"/>
                    </a:solidFill>
                  </a:tcPr>
                </a:tc>
                <a:tc>
                  <a:txBody>
                    <a:bodyPr/>
                    <a:lstStyle/>
                    <a:p>
                      <a:pPr algn="ctr" fontAlgn="ctr">
                        <a:buNone/>
                      </a:pPr>
                      <a:r>
                        <a:rPr lang="ja-JP" altLang="en-US" sz="1000" b="1" i="0" u="none" strike="noStrike">
                          <a:solidFill>
                            <a:srgbClr val="000000"/>
                          </a:solidFill>
                          <a:effectLst/>
                          <a:latin typeface="メイリオ" panose="020B0604030504040204" pitchFamily="50" charset="-128"/>
                          <a:ea typeface="メイリオ" panose="020B0604030504040204" pitchFamily="50" charset="-128"/>
                          <a:cs typeface="メイリオ"/>
                        </a:rPr>
                        <a:t>利用率：中</a:t>
                      </a:r>
                      <a:r>
                        <a:rPr lang="en-US" altLang="ja-JP" sz="1000" b="1" i="0" u="none" strike="noStrike">
                          <a:solidFill>
                            <a:srgbClr val="000000"/>
                          </a:solidFill>
                          <a:effectLst/>
                          <a:latin typeface="メイリオ" panose="020B0604030504040204" pitchFamily="50" charset="-128"/>
                          <a:ea typeface="メイリオ" panose="020B0604030504040204" pitchFamily="50" charset="-128"/>
                          <a:cs typeface="メイリオ"/>
                        </a:rPr>
                        <a:t>〜</a:t>
                      </a:r>
                      <a:r>
                        <a:rPr lang="ja-JP" altLang="en-US" sz="1000" b="1" i="0" u="none" strike="noStrike">
                          <a:solidFill>
                            <a:srgbClr val="000000"/>
                          </a:solidFill>
                          <a:effectLst/>
                          <a:latin typeface="メイリオ" panose="020B0604030504040204" pitchFamily="50" charset="-128"/>
                          <a:ea typeface="メイリオ" panose="020B0604030504040204" pitchFamily="50" charset="-128"/>
                          <a:cs typeface="メイリオ"/>
                        </a:rPr>
                        <a:t>高</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利用率：中</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rowSpan="2">
                  <a:txBody>
                    <a:bodyPr/>
                    <a:lstStyle/>
                    <a:p>
                      <a:pPr algn="ctr" fontAlgn="ctr">
                        <a:buNone/>
                      </a:pPr>
                      <a:r>
                        <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Facebook</a:t>
                      </a: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や</a:t>
                      </a:r>
                      <a:r>
                        <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X</a:t>
                      </a: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での情報収集が活発。</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813153412"/>
                  </a:ext>
                </a:extLst>
              </a:tr>
              <a:tr h="499336">
                <a:tc vMerge="1">
                  <a:txBody>
                    <a:bodyPr/>
                    <a:lstStyle/>
                    <a:p>
                      <a:endParaRPr kumimoji="1" lang="ja-JP" altLang="en-US">
                        <a:latin typeface="メイリオ"/>
                        <a:ea typeface="メイリオ"/>
                        <a:cs typeface="メイリオ"/>
                      </a:endParaRPr>
                    </a:p>
                  </a:txBody>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プライベートの連絡網。</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仕事や、メルマガでの</a:t>
                      </a:r>
                      <a:endPar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セールス情報に抵抗なし。</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プライベートでは減少傾向も</a:t>
                      </a:r>
                      <a:endPar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仕事では必須。</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vMerge="1">
                  <a:txBody>
                    <a:bodyPr/>
                    <a:lstStyle/>
                    <a:p>
                      <a:endParaRPr kumimoji="1" lang="ja-JP" altLang="en-US">
                        <a:latin typeface="メイリオ"/>
                        <a:ea typeface="メイリオ"/>
                        <a:cs typeface="メイリオ"/>
                      </a:endParaRPr>
                    </a:p>
                  </a:txBody>
                  <a:tcPr/>
                </a:tc>
                <a:extLst>
                  <a:ext uri="{0D108BD9-81ED-4DB2-BD59-A6C34878D82A}">
                    <a16:rowId xmlns:a16="http://schemas.microsoft.com/office/drawing/2014/main" val="3489989836"/>
                  </a:ext>
                </a:extLst>
              </a:tr>
              <a:tr h="499336">
                <a:tc rowSpan="2">
                  <a:txBody>
                    <a:bodyPr/>
                    <a:lstStyle/>
                    <a:p>
                      <a:pPr algn="l" fontAlgn="ctr">
                        <a:buNone/>
                      </a:pP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　　　</a:t>
                      </a:r>
                      <a:r>
                        <a:rPr lang="en-US" altLang="ja-JP"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50</a:t>
                      </a: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代</a:t>
                      </a:r>
                      <a:r>
                        <a:rPr lang="en-US" altLang="ja-JP"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〜60</a:t>
                      </a: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代</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利用率：</a:t>
                      </a:r>
                      <a:r>
                        <a:rPr lang="en-US" altLang="ja-JP"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80%〜90%</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F2F2F2"/>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利用率：高い</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利用率：高い</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rowSpan="2">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YouTube</a:t>
                      </a:r>
                      <a:r>
                        <a:rPr lang="ja-JP" altLang="en-US" sz="800" b="0" i="0" u="none" strike="noStrike">
                          <a:solidFill>
                            <a:srgbClr val="000000"/>
                          </a:solidFill>
                          <a:effectLst/>
                          <a:latin typeface="メイリオ" panose="020B0604030504040204" pitchFamily="50" charset="-128"/>
                          <a:ea typeface="メイリオ" panose="020B0604030504040204" pitchFamily="50" charset="-128"/>
                          <a:cs typeface="メイリオ"/>
                        </a:rPr>
                        <a:t>での趣味動画視聴も普及。</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76969856"/>
                  </a:ext>
                </a:extLst>
              </a:tr>
              <a:tr h="499336">
                <a:tc vMerge="1">
                  <a:txBody>
                    <a:bodyPr/>
                    <a:lstStyle/>
                    <a:p>
                      <a:endParaRPr kumimoji="1" lang="ja-JP" altLang="en-US">
                        <a:latin typeface="メイリオ"/>
                        <a:ea typeface="メイリオ"/>
                        <a:cs typeface="メイリオ"/>
                      </a:endParaRPr>
                    </a:p>
                  </a:txBody>
                  <a:tcPr/>
                </a:tc>
                <a:tc>
                  <a:txBody>
                    <a:bodyPr/>
                    <a:lstStyle/>
                    <a:p>
                      <a:pPr algn="ctr" fontAlgn="ctr">
                        <a:buNone/>
                      </a:pPr>
                      <a:r>
                        <a:rPr lang="ja-JP" altLang="en-US" sz="800" b="0" i="0" u="none" strike="noStrike">
                          <a:solidFill>
                            <a:srgbClr val="000000"/>
                          </a:solidFill>
                          <a:effectLst/>
                          <a:latin typeface="メイリオ" panose="020B0604030504040204" pitchFamily="50" charset="-128"/>
                          <a:ea typeface="メイリオ" panose="020B0604030504040204" pitchFamily="50" charset="-128"/>
                          <a:cs typeface="メイリオ"/>
                        </a:rPr>
                        <a:t>家族や友人との連絡で定着。</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最も好まれる企業からの</a:t>
                      </a:r>
                      <a:endPar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情報受取ツール。</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予約や急ぎの用件で信頼性が高い。</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vMerge="1">
                  <a:txBody>
                    <a:bodyPr/>
                    <a:lstStyle/>
                    <a:p>
                      <a:endParaRPr kumimoji="1" lang="ja-JP" altLang="en-US">
                        <a:latin typeface="メイリオ"/>
                        <a:ea typeface="メイリオ"/>
                        <a:cs typeface="メイリオ"/>
                      </a:endParaRPr>
                    </a:p>
                  </a:txBody>
                  <a:tcPr/>
                </a:tc>
                <a:extLst>
                  <a:ext uri="{0D108BD9-81ED-4DB2-BD59-A6C34878D82A}">
                    <a16:rowId xmlns:a16="http://schemas.microsoft.com/office/drawing/2014/main" val="2832446328"/>
                  </a:ext>
                </a:extLst>
              </a:tr>
              <a:tr h="499336">
                <a:tc rowSpan="2">
                  <a:txBody>
                    <a:bodyPr/>
                    <a:lstStyle/>
                    <a:p>
                      <a:pPr algn="ctr" fontAlgn="ctr">
                        <a:buNone/>
                      </a:pPr>
                      <a:r>
                        <a:rPr lang="en-US" altLang="ja-JP"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70</a:t>
                      </a: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代以上</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利用率：</a:t>
                      </a:r>
                      <a:r>
                        <a:rPr lang="en-US" altLang="ja-JP"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70%</a:t>
                      </a: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前後</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F2F2F2"/>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利用率：低い</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利用率：最も高い</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rowSpan="2">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連絡手段としての電話が</a:t>
                      </a:r>
                      <a:endPar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最優先される層。</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279922214"/>
                  </a:ext>
                </a:extLst>
              </a:tr>
              <a:tr h="499336">
                <a:tc vMerge="1">
                  <a:txBody>
                    <a:bodyPr/>
                    <a:lstStyle/>
                    <a:p>
                      <a:endParaRPr kumimoji="1" lang="ja-JP" altLang="en-US">
                        <a:latin typeface="メイリオ"/>
                        <a:ea typeface="メイリオ"/>
                        <a:cs typeface="メイリオ"/>
                      </a:endParaRPr>
                    </a:p>
                  </a:txBody>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高齢者層にも普及が進む。</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操作に不慣れで到達率が下がる。</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重要な連絡や問い合わせは</a:t>
                      </a:r>
                      <a:endPar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電話がメイン。</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vMerge="1">
                  <a:txBody>
                    <a:bodyPr/>
                    <a:lstStyle/>
                    <a:p>
                      <a:endParaRPr kumimoji="1" lang="ja-JP" altLang="en-US">
                        <a:latin typeface="メイリオ"/>
                        <a:ea typeface="メイリオ"/>
                        <a:cs typeface="メイリオ"/>
                      </a:endParaRPr>
                    </a:p>
                  </a:txBody>
                  <a:tcPr/>
                </a:tc>
                <a:extLst>
                  <a:ext uri="{0D108BD9-81ED-4DB2-BD59-A6C34878D82A}">
                    <a16:rowId xmlns:a16="http://schemas.microsoft.com/office/drawing/2014/main" val="14424828"/>
                  </a:ext>
                </a:extLst>
              </a:tr>
            </a:tbl>
          </a:graphicData>
        </a:graphic>
      </p:graphicFrame>
    </p:spTree>
    <p:extLst>
      <p:ext uri="{BB962C8B-B14F-4D97-AF65-F5344CB8AC3E}">
        <p14:creationId xmlns:p14="http://schemas.microsoft.com/office/powerpoint/2010/main" val="78327988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60E1BE-EA97-1C99-EC9B-9162DE48D9CD}"/>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F61F3EB4-5BDD-9E9F-8965-BA311951E811}"/>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buClr>
                <a:srgbClr val="002060"/>
              </a:buClr>
              <a:buSzPts val="1600"/>
            </a:pPr>
            <a:r>
              <a:rPr lang="en-US" altLang="ja-JP" sz="1600" b="1" dirty="0">
                <a:solidFill>
                  <a:srgbClr val="002060"/>
                </a:solidFill>
                <a:latin typeface="メイリオ"/>
                <a:ea typeface="メイリオ"/>
                <a:cs typeface="メイリオ"/>
                <a:sym typeface="Meiryo"/>
              </a:rPr>
              <a:t>LINE</a:t>
            </a:r>
            <a:r>
              <a:rPr lang="ja-JP" altLang="en-US" sz="1600" b="1" dirty="0">
                <a:solidFill>
                  <a:srgbClr val="002060"/>
                </a:solidFill>
                <a:latin typeface="メイリオ"/>
                <a:ea typeface="メイリオ"/>
                <a:cs typeface="メイリオ"/>
                <a:sym typeface="Meiryo"/>
              </a:rPr>
              <a:t>公式アカウントを検討する背景</a:t>
            </a:r>
          </a:p>
        </p:txBody>
      </p:sp>
      <p:sp>
        <p:nvSpPr>
          <p:cNvPr id="2" name="Google Shape;752;p28">
            <a:extLst>
              <a:ext uri="{FF2B5EF4-FFF2-40B4-BE49-F238E27FC236}">
                <a16:creationId xmlns:a16="http://schemas.microsoft.com/office/drawing/2014/main" id="{903AB3A7-E543-27E0-6B76-9022EAF2AAFA}"/>
              </a:ext>
            </a:extLst>
          </p:cNvPr>
          <p:cNvSpPr txBox="1"/>
          <p:nvPr/>
        </p:nvSpPr>
        <p:spPr>
          <a:xfrm>
            <a:off x="711353" y="969413"/>
            <a:ext cx="8353789" cy="523180"/>
          </a:xfrm>
          <a:prstGeom prst="rect">
            <a:avLst/>
          </a:prstGeom>
          <a:noFill/>
          <a:ln>
            <a:noFill/>
          </a:ln>
        </p:spPr>
        <p:txBody>
          <a:bodyPr spcFirstLastPara="1" wrap="square" lIns="91425" tIns="45700" rIns="91425" bIns="45700" anchor="ctr" anchorCtr="0">
            <a:spAutoFit/>
          </a:bodyPr>
          <a:lstStyle/>
          <a:p>
            <a:pPr lvl="0" algn="ctr"/>
            <a:r>
              <a:rPr lang="en-US" altLang="ja-JP" sz="1400" dirty="0">
                <a:latin typeface="メイリオ" panose="020B0604030504040204" pitchFamily="50" charset="-128"/>
                <a:ea typeface="メイリオ" panose="020B0604030504040204" pitchFamily="50" charset="-128"/>
                <a:cs typeface="メイリオ"/>
                <a:sym typeface="Meiryo"/>
              </a:rPr>
              <a:t>LINE</a:t>
            </a:r>
            <a:r>
              <a:rPr lang="ja-JP" altLang="en-US" sz="1400" dirty="0">
                <a:latin typeface="メイリオ" panose="020B0604030504040204" pitchFamily="50" charset="-128"/>
                <a:ea typeface="メイリオ" panose="020B0604030504040204" pitchFamily="50" charset="-128"/>
                <a:cs typeface="メイリオ"/>
                <a:sym typeface="Meiryo"/>
              </a:rPr>
              <a:t>公式アカウントの施策内（開封率、クリック率、</a:t>
            </a:r>
            <a:r>
              <a:rPr lang="en-US" altLang="ja-JP" sz="1400" dirty="0">
                <a:latin typeface="メイリオ" panose="020B0604030504040204" pitchFamily="50" charset="-128"/>
                <a:ea typeface="メイリオ" panose="020B0604030504040204" pitchFamily="50" charset="-128"/>
                <a:cs typeface="メイリオ"/>
                <a:sym typeface="Meiryo"/>
              </a:rPr>
              <a:t>CV</a:t>
            </a:r>
            <a:r>
              <a:rPr lang="ja-JP" altLang="en-US" sz="1400" dirty="0">
                <a:latin typeface="メイリオ" panose="020B0604030504040204" pitchFamily="50" charset="-128"/>
                <a:ea typeface="メイリオ" panose="020B0604030504040204" pitchFamily="50" charset="-128"/>
                <a:cs typeface="メイリオ"/>
                <a:sym typeface="Meiryo"/>
              </a:rPr>
              <a:t>率）で高い水準の施策をご提供。</a:t>
            </a:r>
            <a:endParaRPr lang="en-US" altLang="ja-JP" sz="1400" dirty="0">
              <a:latin typeface="メイリオ" panose="020B0604030504040204" pitchFamily="50" charset="-128"/>
              <a:ea typeface="メイリオ" panose="020B0604030504040204" pitchFamily="50" charset="-128"/>
              <a:cs typeface="メイリオ"/>
              <a:sym typeface="Meiryo"/>
            </a:endParaRPr>
          </a:p>
          <a:p>
            <a:pPr lvl="0" algn="ctr"/>
            <a:r>
              <a:rPr lang="ja-JP" altLang="en-US" sz="1400" dirty="0">
                <a:latin typeface="メイリオ" panose="020B0604030504040204" pitchFamily="50" charset="-128"/>
                <a:ea typeface="メイリオ" panose="020B0604030504040204" pitchFamily="50" charset="-128"/>
                <a:cs typeface="メイリオ"/>
                <a:sym typeface="Meiryo"/>
              </a:rPr>
              <a:t>初期設計のみのご依頼でも、大きく数値改善できるポイントの導入支援が可能です。</a:t>
            </a:r>
            <a:endParaRPr lang="en-US" altLang="ja-JP" sz="1400" dirty="0">
              <a:latin typeface="メイリオ" panose="020B0604030504040204" pitchFamily="50" charset="-128"/>
              <a:ea typeface="メイリオ" panose="020B0604030504040204" pitchFamily="50" charset="-128"/>
              <a:cs typeface="メイリオ"/>
              <a:sym typeface="Meiryo"/>
            </a:endParaRPr>
          </a:p>
        </p:txBody>
      </p:sp>
      <p:sp>
        <p:nvSpPr>
          <p:cNvPr id="5" name="正方形/長方形 4">
            <a:extLst>
              <a:ext uri="{FF2B5EF4-FFF2-40B4-BE49-F238E27FC236}">
                <a16:creationId xmlns:a16="http://schemas.microsoft.com/office/drawing/2014/main" id="{C953AFCB-1DF4-3DF6-FD0A-5FA8B9829345}"/>
              </a:ext>
            </a:extLst>
          </p:cNvPr>
          <p:cNvSpPr/>
          <p:nvPr/>
        </p:nvSpPr>
        <p:spPr>
          <a:xfrm>
            <a:off x="7833676" y="2844726"/>
            <a:ext cx="1438656" cy="268338"/>
          </a:xfrm>
          <a:prstGeom prst="rect">
            <a:avLst/>
          </a:prstGeom>
          <a:solidFill>
            <a:srgbClr val="1F2A5C"/>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50" b="1" dirty="0">
                <a:solidFill>
                  <a:schemeClr val="bg1"/>
                </a:solidFill>
                <a:latin typeface="メイリオ" panose="020B0604030504040204" pitchFamily="50" charset="-128"/>
                <a:ea typeface="メイリオ" panose="020B0604030504040204" pitchFamily="50" charset="-128"/>
                <a:cs typeface="メイリオ"/>
              </a:rPr>
              <a:t>CV</a:t>
            </a:r>
            <a:endParaRPr kumimoji="1" lang="ja-JP" altLang="en-US" sz="1050" b="1" dirty="0">
              <a:solidFill>
                <a:schemeClr val="bg1"/>
              </a:solidFill>
              <a:latin typeface="メイリオ" panose="020B0604030504040204" pitchFamily="50" charset="-128"/>
              <a:ea typeface="メイリオ" panose="020B0604030504040204" pitchFamily="50" charset="-128"/>
              <a:cs typeface="メイリオ"/>
            </a:endParaRPr>
          </a:p>
        </p:txBody>
      </p:sp>
      <p:sp>
        <p:nvSpPr>
          <p:cNvPr id="6" name="正方形/長方形 5">
            <a:extLst>
              <a:ext uri="{FF2B5EF4-FFF2-40B4-BE49-F238E27FC236}">
                <a16:creationId xmlns:a16="http://schemas.microsoft.com/office/drawing/2014/main" id="{AA0FC5BF-544B-2CE7-3D6D-05C5FCBA0558}"/>
              </a:ext>
            </a:extLst>
          </p:cNvPr>
          <p:cNvSpPr/>
          <p:nvPr/>
        </p:nvSpPr>
        <p:spPr>
          <a:xfrm>
            <a:off x="7833676" y="2532843"/>
            <a:ext cx="1438656" cy="268338"/>
          </a:xfrm>
          <a:prstGeom prst="rect">
            <a:avLst/>
          </a:prstGeom>
          <a:solidFill>
            <a:schemeClr val="bg1">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営業トスアップ</a:t>
            </a:r>
          </a:p>
        </p:txBody>
      </p:sp>
      <p:cxnSp>
        <p:nvCxnSpPr>
          <p:cNvPr id="16" name="直線矢印コネクタ 15">
            <a:extLst>
              <a:ext uri="{FF2B5EF4-FFF2-40B4-BE49-F238E27FC236}">
                <a16:creationId xmlns:a16="http://schemas.microsoft.com/office/drawing/2014/main" id="{94BB7063-D344-7388-DC5C-AB2163552A18}"/>
              </a:ext>
            </a:extLst>
          </p:cNvPr>
          <p:cNvCxnSpPr>
            <a:cxnSpLocks/>
          </p:cNvCxnSpPr>
          <p:nvPr/>
        </p:nvCxnSpPr>
        <p:spPr>
          <a:xfrm>
            <a:off x="387956" y="2801181"/>
            <a:ext cx="7250805" cy="0"/>
          </a:xfrm>
          <a:prstGeom prst="straightConnector1">
            <a:avLst/>
          </a:prstGeom>
          <a:ln w="28575">
            <a:solidFill>
              <a:schemeClr val="tx2"/>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21" name="正方形/長方形 20">
            <a:extLst>
              <a:ext uri="{FF2B5EF4-FFF2-40B4-BE49-F238E27FC236}">
                <a16:creationId xmlns:a16="http://schemas.microsoft.com/office/drawing/2014/main" id="{49A8005B-FA05-AC0F-4885-3EB9D9E7F271}"/>
              </a:ext>
            </a:extLst>
          </p:cNvPr>
          <p:cNvSpPr/>
          <p:nvPr/>
        </p:nvSpPr>
        <p:spPr>
          <a:xfrm>
            <a:off x="7663263" y="2057611"/>
            <a:ext cx="1820092" cy="1128395"/>
          </a:xfrm>
          <a:prstGeom prst="rect">
            <a:avLst/>
          </a:prstGeom>
          <a:no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23" name="テキスト ボックス 22">
            <a:extLst>
              <a:ext uri="{FF2B5EF4-FFF2-40B4-BE49-F238E27FC236}">
                <a16:creationId xmlns:a16="http://schemas.microsoft.com/office/drawing/2014/main" id="{43461C80-3343-B710-9ADB-76DB69B61EAF}"/>
              </a:ext>
            </a:extLst>
          </p:cNvPr>
          <p:cNvSpPr txBox="1"/>
          <p:nvPr/>
        </p:nvSpPr>
        <p:spPr>
          <a:xfrm>
            <a:off x="8033166" y="2122574"/>
            <a:ext cx="1080286" cy="261610"/>
          </a:xfrm>
          <a:prstGeom prst="rect">
            <a:avLst/>
          </a:prstGeom>
          <a:noFill/>
        </p:spPr>
        <p:txBody>
          <a:bodyPr wrap="square">
            <a:spAutoFit/>
          </a:bodyPr>
          <a:lstStyle/>
          <a:p>
            <a:pPr algn="ctr"/>
            <a:r>
              <a:rPr kumimoji="1" lang="ja-JP" altLang="en-US" sz="1100" dirty="0">
                <a:solidFill>
                  <a:srgbClr val="1F2A5C"/>
                </a:solidFill>
                <a:latin typeface="メイリオ" panose="020B0604030504040204" pitchFamily="50" charset="-128"/>
                <a:ea typeface="メイリオ" panose="020B0604030504040204" pitchFamily="50" charset="-128"/>
                <a:cs typeface="メイリオ"/>
              </a:rPr>
              <a:t>（成果地点）</a:t>
            </a:r>
          </a:p>
        </p:txBody>
      </p:sp>
      <p:sp>
        <p:nvSpPr>
          <p:cNvPr id="46" name="正方形/長方形 45">
            <a:extLst>
              <a:ext uri="{FF2B5EF4-FFF2-40B4-BE49-F238E27FC236}">
                <a16:creationId xmlns:a16="http://schemas.microsoft.com/office/drawing/2014/main" id="{68EF36FD-0665-96DB-08B6-92F8F12DC27E}"/>
              </a:ext>
            </a:extLst>
          </p:cNvPr>
          <p:cNvSpPr/>
          <p:nvPr/>
        </p:nvSpPr>
        <p:spPr>
          <a:xfrm>
            <a:off x="2496412" y="2062968"/>
            <a:ext cx="4888178" cy="2483764"/>
          </a:xfrm>
          <a:prstGeom prst="rect">
            <a:avLst/>
          </a:prstGeom>
          <a:solidFill>
            <a:schemeClr val="bg1"/>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47" name="正方形/長方形 46">
            <a:extLst>
              <a:ext uri="{FF2B5EF4-FFF2-40B4-BE49-F238E27FC236}">
                <a16:creationId xmlns:a16="http://schemas.microsoft.com/office/drawing/2014/main" id="{1B4C640C-D32C-D834-8B9B-538AEF528437}"/>
              </a:ext>
            </a:extLst>
          </p:cNvPr>
          <p:cNvSpPr/>
          <p:nvPr/>
        </p:nvSpPr>
        <p:spPr>
          <a:xfrm>
            <a:off x="2727621" y="2844178"/>
            <a:ext cx="1438656" cy="268338"/>
          </a:xfrm>
          <a:prstGeom prst="rect">
            <a:avLst/>
          </a:prstGeom>
          <a:solidFill>
            <a:schemeClr val="tx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開封率</a:t>
            </a:r>
          </a:p>
        </p:txBody>
      </p:sp>
      <p:sp>
        <p:nvSpPr>
          <p:cNvPr id="48" name="正方形/長方形 47">
            <a:extLst>
              <a:ext uri="{FF2B5EF4-FFF2-40B4-BE49-F238E27FC236}">
                <a16:creationId xmlns:a16="http://schemas.microsoft.com/office/drawing/2014/main" id="{B779420D-D103-81E4-5973-9C543E915ED9}"/>
              </a:ext>
            </a:extLst>
          </p:cNvPr>
          <p:cNvSpPr/>
          <p:nvPr/>
        </p:nvSpPr>
        <p:spPr>
          <a:xfrm>
            <a:off x="4236068" y="2844178"/>
            <a:ext cx="1438656" cy="268338"/>
          </a:xfrm>
          <a:prstGeom prst="rect">
            <a:avLst/>
          </a:prstGeom>
          <a:solidFill>
            <a:schemeClr val="tx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bg1"/>
                </a:solidFill>
                <a:latin typeface="メイリオ" panose="020B0604030504040204" pitchFamily="50" charset="-128"/>
                <a:ea typeface="メイリオ" panose="020B0604030504040204" pitchFamily="50" charset="-128"/>
                <a:cs typeface="メイリオ"/>
              </a:rPr>
              <a:t>クリック率</a:t>
            </a:r>
          </a:p>
        </p:txBody>
      </p:sp>
      <p:sp>
        <p:nvSpPr>
          <p:cNvPr id="49" name="正方形/長方形 48">
            <a:extLst>
              <a:ext uri="{FF2B5EF4-FFF2-40B4-BE49-F238E27FC236}">
                <a16:creationId xmlns:a16="http://schemas.microsoft.com/office/drawing/2014/main" id="{79F9C4D6-EE41-0712-7E02-3613A29A0277}"/>
              </a:ext>
            </a:extLst>
          </p:cNvPr>
          <p:cNvSpPr/>
          <p:nvPr/>
        </p:nvSpPr>
        <p:spPr>
          <a:xfrm>
            <a:off x="5744515" y="2844178"/>
            <a:ext cx="1438656" cy="268338"/>
          </a:xfrm>
          <a:prstGeom prst="rect">
            <a:avLst/>
          </a:prstGeom>
          <a:solidFill>
            <a:schemeClr val="tx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50" b="1" dirty="0">
                <a:solidFill>
                  <a:schemeClr val="bg1"/>
                </a:solidFill>
                <a:latin typeface="メイリオ" panose="020B0604030504040204" pitchFamily="50" charset="-128"/>
                <a:ea typeface="メイリオ" panose="020B0604030504040204" pitchFamily="50" charset="-128"/>
                <a:cs typeface="メイリオ"/>
              </a:rPr>
              <a:t>CV</a:t>
            </a: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率</a:t>
            </a:r>
          </a:p>
        </p:txBody>
      </p:sp>
      <p:sp>
        <p:nvSpPr>
          <p:cNvPr id="50" name="正方形/長方形 49">
            <a:extLst>
              <a:ext uri="{FF2B5EF4-FFF2-40B4-BE49-F238E27FC236}">
                <a16:creationId xmlns:a16="http://schemas.microsoft.com/office/drawing/2014/main" id="{63D97449-C5FF-7125-1910-BF401BE155D3}"/>
              </a:ext>
            </a:extLst>
          </p:cNvPr>
          <p:cNvSpPr/>
          <p:nvPr/>
        </p:nvSpPr>
        <p:spPr>
          <a:xfrm>
            <a:off x="2635396" y="2541859"/>
            <a:ext cx="4617897" cy="268338"/>
          </a:xfrm>
          <a:prstGeom prst="rect">
            <a:avLst/>
          </a:prstGeom>
          <a:solidFill>
            <a:schemeClr val="tx2">
              <a:lumMod val="5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通常メッセージ（企画投稿）</a:t>
            </a:r>
          </a:p>
        </p:txBody>
      </p:sp>
      <p:sp>
        <p:nvSpPr>
          <p:cNvPr id="51" name="正方形/長方形 50">
            <a:extLst>
              <a:ext uri="{FF2B5EF4-FFF2-40B4-BE49-F238E27FC236}">
                <a16:creationId xmlns:a16="http://schemas.microsoft.com/office/drawing/2014/main" id="{0FEAAD04-7412-6C00-12C5-668087B3187D}"/>
              </a:ext>
            </a:extLst>
          </p:cNvPr>
          <p:cNvSpPr/>
          <p:nvPr/>
        </p:nvSpPr>
        <p:spPr>
          <a:xfrm>
            <a:off x="2727621" y="3513580"/>
            <a:ext cx="1438656" cy="268338"/>
          </a:xfrm>
          <a:prstGeom prst="rect">
            <a:avLst/>
          </a:prstGeom>
          <a:solidFill>
            <a:schemeClr val="tx1">
              <a:lumMod val="75000"/>
              <a:lumOff val="2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開封率</a:t>
            </a:r>
          </a:p>
        </p:txBody>
      </p:sp>
      <p:sp>
        <p:nvSpPr>
          <p:cNvPr id="52" name="正方形/長方形 51">
            <a:extLst>
              <a:ext uri="{FF2B5EF4-FFF2-40B4-BE49-F238E27FC236}">
                <a16:creationId xmlns:a16="http://schemas.microsoft.com/office/drawing/2014/main" id="{16300100-5CAE-C822-F497-9A928E7568CE}"/>
              </a:ext>
            </a:extLst>
          </p:cNvPr>
          <p:cNvSpPr/>
          <p:nvPr/>
        </p:nvSpPr>
        <p:spPr>
          <a:xfrm>
            <a:off x="4236068" y="3513580"/>
            <a:ext cx="1438656" cy="268338"/>
          </a:xfrm>
          <a:prstGeom prst="rect">
            <a:avLst/>
          </a:prstGeom>
          <a:solidFill>
            <a:schemeClr val="tx1">
              <a:lumMod val="75000"/>
              <a:lumOff val="2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bg1"/>
                </a:solidFill>
                <a:latin typeface="メイリオ" panose="020B0604030504040204" pitchFamily="50" charset="-128"/>
                <a:ea typeface="メイリオ" panose="020B0604030504040204" pitchFamily="50" charset="-128"/>
                <a:cs typeface="メイリオ"/>
              </a:rPr>
              <a:t>クリック率</a:t>
            </a:r>
          </a:p>
        </p:txBody>
      </p:sp>
      <p:sp>
        <p:nvSpPr>
          <p:cNvPr id="53" name="正方形/長方形 52">
            <a:extLst>
              <a:ext uri="{FF2B5EF4-FFF2-40B4-BE49-F238E27FC236}">
                <a16:creationId xmlns:a16="http://schemas.microsoft.com/office/drawing/2014/main" id="{BAABA8F7-038F-8934-7296-51B7E190F8F6}"/>
              </a:ext>
            </a:extLst>
          </p:cNvPr>
          <p:cNvSpPr/>
          <p:nvPr/>
        </p:nvSpPr>
        <p:spPr>
          <a:xfrm>
            <a:off x="5744515" y="3513580"/>
            <a:ext cx="1438656" cy="268338"/>
          </a:xfrm>
          <a:prstGeom prst="rect">
            <a:avLst/>
          </a:prstGeom>
          <a:solidFill>
            <a:schemeClr val="tx1">
              <a:lumMod val="75000"/>
              <a:lumOff val="2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50" b="1" dirty="0">
                <a:solidFill>
                  <a:schemeClr val="bg1"/>
                </a:solidFill>
                <a:latin typeface="メイリオ" panose="020B0604030504040204" pitchFamily="50" charset="-128"/>
                <a:ea typeface="メイリオ" panose="020B0604030504040204" pitchFamily="50" charset="-128"/>
                <a:cs typeface="メイリオ"/>
              </a:rPr>
              <a:t>CV</a:t>
            </a: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率</a:t>
            </a:r>
          </a:p>
        </p:txBody>
      </p:sp>
      <p:sp>
        <p:nvSpPr>
          <p:cNvPr id="54" name="正方形/長方形 53">
            <a:extLst>
              <a:ext uri="{FF2B5EF4-FFF2-40B4-BE49-F238E27FC236}">
                <a16:creationId xmlns:a16="http://schemas.microsoft.com/office/drawing/2014/main" id="{FFA1928D-294F-EEFC-2C8F-4A612343D93B}"/>
              </a:ext>
            </a:extLst>
          </p:cNvPr>
          <p:cNvSpPr/>
          <p:nvPr/>
        </p:nvSpPr>
        <p:spPr>
          <a:xfrm>
            <a:off x="2635396" y="3211261"/>
            <a:ext cx="4617897" cy="268338"/>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通常メッセージ（ステップ配信投稿）</a:t>
            </a:r>
          </a:p>
        </p:txBody>
      </p:sp>
      <p:sp>
        <p:nvSpPr>
          <p:cNvPr id="55" name="正方形/長方形 54">
            <a:extLst>
              <a:ext uri="{FF2B5EF4-FFF2-40B4-BE49-F238E27FC236}">
                <a16:creationId xmlns:a16="http://schemas.microsoft.com/office/drawing/2014/main" id="{C60EF948-7D0E-221F-F7C3-9EA4070D13D5}"/>
              </a:ext>
            </a:extLst>
          </p:cNvPr>
          <p:cNvSpPr/>
          <p:nvPr/>
        </p:nvSpPr>
        <p:spPr>
          <a:xfrm>
            <a:off x="2727621" y="4167605"/>
            <a:ext cx="1438656" cy="268338"/>
          </a:xfrm>
          <a:prstGeom prst="rect">
            <a:avLst/>
          </a:prstGeom>
          <a:solidFill>
            <a:schemeClr val="tx1">
              <a:lumMod val="65000"/>
              <a:lumOff val="3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開封率</a:t>
            </a:r>
          </a:p>
        </p:txBody>
      </p:sp>
      <p:sp>
        <p:nvSpPr>
          <p:cNvPr id="56" name="正方形/長方形 55">
            <a:extLst>
              <a:ext uri="{FF2B5EF4-FFF2-40B4-BE49-F238E27FC236}">
                <a16:creationId xmlns:a16="http://schemas.microsoft.com/office/drawing/2014/main" id="{0A26395C-F3D5-A8C3-4036-5A461E8AEB95}"/>
              </a:ext>
            </a:extLst>
          </p:cNvPr>
          <p:cNvSpPr/>
          <p:nvPr/>
        </p:nvSpPr>
        <p:spPr>
          <a:xfrm>
            <a:off x="4236068" y="4167605"/>
            <a:ext cx="1438656" cy="268338"/>
          </a:xfrm>
          <a:prstGeom prst="rect">
            <a:avLst/>
          </a:prstGeom>
          <a:solidFill>
            <a:schemeClr val="tx1">
              <a:lumMod val="65000"/>
              <a:lumOff val="3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bg1"/>
                </a:solidFill>
                <a:latin typeface="メイリオ" panose="020B0604030504040204" pitchFamily="50" charset="-128"/>
                <a:ea typeface="メイリオ" panose="020B0604030504040204" pitchFamily="50" charset="-128"/>
                <a:cs typeface="メイリオ"/>
              </a:rPr>
              <a:t>クリック率</a:t>
            </a:r>
          </a:p>
        </p:txBody>
      </p:sp>
      <p:sp>
        <p:nvSpPr>
          <p:cNvPr id="57" name="正方形/長方形 56">
            <a:extLst>
              <a:ext uri="{FF2B5EF4-FFF2-40B4-BE49-F238E27FC236}">
                <a16:creationId xmlns:a16="http://schemas.microsoft.com/office/drawing/2014/main" id="{258779A5-C321-795D-FAE9-C3DA7EDE5D3F}"/>
              </a:ext>
            </a:extLst>
          </p:cNvPr>
          <p:cNvSpPr/>
          <p:nvPr/>
        </p:nvSpPr>
        <p:spPr>
          <a:xfrm>
            <a:off x="5744515" y="4167605"/>
            <a:ext cx="1438656" cy="268338"/>
          </a:xfrm>
          <a:prstGeom prst="rect">
            <a:avLst/>
          </a:prstGeom>
          <a:solidFill>
            <a:schemeClr val="tx1">
              <a:lumMod val="65000"/>
              <a:lumOff val="3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50" b="1" dirty="0">
                <a:solidFill>
                  <a:schemeClr val="bg1"/>
                </a:solidFill>
                <a:latin typeface="メイリオ" panose="020B0604030504040204" pitchFamily="50" charset="-128"/>
                <a:ea typeface="メイリオ" panose="020B0604030504040204" pitchFamily="50" charset="-128"/>
                <a:cs typeface="メイリオ"/>
              </a:rPr>
              <a:t>CV</a:t>
            </a: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率</a:t>
            </a:r>
          </a:p>
        </p:txBody>
      </p:sp>
      <p:sp>
        <p:nvSpPr>
          <p:cNvPr id="58" name="正方形/長方形 57">
            <a:extLst>
              <a:ext uri="{FF2B5EF4-FFF2-40B4-BE49-F238E27FC236}">
                <a16:creationId xmlns:a16="http://schemas.microsoft.com/office/drawing/2014/main" id="{10A67980-B163-BD77-6B0F-32FBA0EAD741}"/>
              </a:ext>
            </a:extLst>
          </p:cNvPr>
          <p:cNvSpPr/>
          <p:nvPr/>
        </p:nvSpPr>
        <p:spPr>
          <a:xfrm>
            <a:off x="2635396" y="3865286"/>
            <a:ext cx="4617897" cy="268338"/>
          </a:xfrm>
          <a:prstGeom prst="rect">
            <a:avLst/>
          </a:pr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その他指標（リッチメニュー、プロフ、挨拶メッセ）</a:t>
            </a:r>
          </a:p>
        </p:txBody>
      </p:sp>
      <p:sp>
        <p:nvSpPr>
          <p:cNvPr id="59" name="テキスト ボックス 58">
            <a:extLst>
              <a:ext uri="{FF2B5EF4-FFF2-40B4-BE49-F238E27FC236}">
                <a16:creationId xmlns:a16="http://schemas.microsoft.com/office/drawing/2014/main" id="{5568B802-79BB-89D9-41B1-B8211A23D3E1}"/>
              </a:ext>
            </a:extLst>
          </p:cNvPr>
          <p:cNvSpPr txBox="1"/>
          <p:nvPr/>
        </p:nvSpPr>
        <p:spPr>
          <a:xfrm>
            <a:off x="4152577" y="2126463"/>
            <a:ext cx="1581648" cy="261610"/>
          </a:xfrm>
          <a:prstGeom prst="rect">
            <a:avLst/>
          </a:prstGeom>
          <a:noFill/>
        </p:spPr>
        <p:txBody>
          <a:bodyPr wrap="square">
            <a:spAutoFit/>
          </a:bodyPr>
          <a:lstStyle/>
          <a:p>
            <a:pPr algn="ctr"/>
            <a:r>
              <a:rPr lang="ja-JP" altLang="en-US" sz="1100" dirty="0">
                <a:solidFill>
                  <a:schemeClr val="tx2"/>
                </a:solidFill>
                <a:latin typeface="メイリオ" panose="020B0604030504040204" pitchFamily="50" charset="-128"/>
                <a:ea typeface="メイリオ" panose="020B0604030504040204" pitchFamily="50" charset="-128"/>
                <a:cs typeface="メイリオ"/>
              </a:rPr>
              <a:t>（</a:t>
            </a:r>
            <a:r>
              <a:rPr kumimoji="1" lang="en-US" altLang="ja-JP" sz="1100" dirty="0">
                <a:solidFill>
                  <a:schemeClr val="tx2"/>
                </a:solidFill>
                <a:latin typeface="メイリオ" panose="020B0604030504040204" pitchFamily="50" charset="-128"/>
                <a:ea typeface="メイリオ" panose="020B0604030504040204" pitchFamily="50" charset="-128"/>
                <a:cs typeface="メイリオ"/>
              </a:rPr>
              <a:t>LINE</a:t>
            </a:r>
            <a:r>
              <a:rPr kumimoji="1" lang="ja-JP" altLang="en-US" sz="1100" dirty="0">
                <a:solidFill>
                  <a:schemeClr val="tx2"/>
                </a:solidFill>
                <a:latin typeface="メイリオ" panose="020B0604030504040204" pitchFamily="50" charset="-128"/>
                <a:ea typeface="メイリオ" panose="020B0604030504040204" pitchFamily="50" charset="-128"/>
                <a:cs typeface="メイリオ"/>
              </a:rPr>
              <a:t>施策内</a:t>
            </a:r>
            <a:r>
              <a:rPr lang="ja-JP" altLang="en-US" sz="1100" dirty="0">
                <a:solidFill>
                  <a:schemeClr val="tx2"/>
                </a:solidFill>
                <a:latin typeface="メイリオ" panose="020B0604030504040204" pitchFamily="50" charset="-128"/>
                <a:ea typeface="メイリオ" panose="020B0604030504040204" pitchFamily="50" charset="-128"/>
                <a:cs typeface="メイリオ"/>
              </a:rPr>
              <a:t>）</a:t>
            </a:r>
            <a:endParaRPr kumimoji="1" lang="ja-JP" altLang="en-US" sz="1100" dirty="0">
              <a:solidFill>
                <a:schemeClr val="tx2"/>
              </a:solidFill>
              <a:latin typeface="メイリオ" panose="020B0604030504040204" pitchFamily="50" charset="-128"/>
              <a:ea typeface="メイリオ" panose="020B0604030504040204" pitchFamily="50" charset="-128"/>
              <a:cs typeface="メイリオ"/>
            </a:endParaRPr>
          </a:p>
        </p:txBody>
      </p:sp>
      <p:sp>
        <p:nvSpPr>
          <p:cNvPr id="65" name="正方形/長方形 64">
            <a:extLst>
              <a:ext uri="{FF2B5EF4-FFF2-40B4-BE49-F238E27FC236}">
                <a16:creationId xmlns:a16="http://schemas.microsoft.com/office/drawing/2014/main" id="{F955D004-F2E0-9106-46D0-01B91AAAC48C}"/>
              </a:ext>
            </a:extLst>
          </p:cNvPr>
          <p:cNvSpPr/>
          <p:nvPr/>
        </p:nvSpPr>
        <p:spPr>
          <a:xfrm>
            <a:off x="632050" y="2062968"/>
            <a:ext cx="1581647" cy="2483764"/>
          </a:xfrm>
          <a:prstGeom prst="rect">
            <a:avLst/>
          </a:prstGeom>
          <a:solidFill>
            <a:schemeClr val="bg1"/>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66" name="正方形/長方形 65">
            <a:extLst>
              <a:ext uri="{FF2B5EF4-FFF2-40B4-BE49-F238E27FC236}">
                <a16:creationId xmlns:a16="http://schemas.microsoft.com/office/drawing/2014/main" id="{39800BBF-7F74-6827-30AB-067A9B79B2FB}"/>
              </a:ext>
            </a:extLst>
          </p:cNvPr>
          <p:cNvSpPr/>
          <p:nvPr/>
        </p:nvSpPr>
        <p:spPr>
          <a:xfrm>
            <a:off x="703546" y="2667012"/>
            <a:ext cx="1438656" cy="268338"/>
          </a:xfrm>
          <a:prstGeom prst="rect">
            <a:avLst/>
          </a:prstGeom>
          <a:solidFill>
            <a:schemeClr val="tx1">
              <a:lumMod val="50000"/>
              <a:lumOff val="5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友だち追加</a:t>
            </a:r>
          </a:p>
        </p:txBody>
      </p:sp>
      <p:sp>
        <p:nvSpPr>
          <p:cNvPr id="67" name="テキスト ボックス 66">
            <a:extLst>
              <a:ext uri="{FF2B5EF4-FFF2-40B4-BE49-F238E27FC236}">
                <a16:creationId xmlns:a16="http://schemas.microsoft.com/office/drawing/2014/main" id="{5C2F9AAE-62F2-1C25-6B2F-275B20FB2668}"/>
              </a:ext>
            </a:extLst>
          </p:cNvPr>
          <p:cNvSpPr txBox="1"/>
          <p:nvPr/>
        </p:nvSpPr>
        <p:spPr>
          <a:xfrm>
            <a:off x="632050" y="3030925"/>
            <a:ext cx="1581647" cy="369332"/>
          </a:xfrm>
          <a:prstGeom prst="rect">
            <a:avLst/>
          </a:prstGeom>
          <a:noFill/>
        </p:spPr>
        <p:txBody>
          <a:bodyPr wrap="square">
            <a:spAutoFit/>
          </a:bodyPr>
          <a:lstStyle/>
          <a:p>
            <a:pPr algn="ctr"/>
            <a:r>
              <a:rPr kumimoji="1" lang="ja-JP" altLang="en-US" sz="1000" b="1" dirty="0">
                <a:latin typeface="メイリオ" panose="020B0604030504040204" pitchFamily="50" charset="-128"/>
                <a:ea typeface="メイリオ" panose="020B0604030504040204" pitchFamily="50" charset="-128"/>
                <a:cs typeface="メイリオ"/>
              </a:rPr>
              <a:t>アクティブ数</a:t>
            </a:r>
            <a:endParaRPr kumimoji="1" lang="en-US" altLang="ja-JP" sz="1000" b="1" dirty="0">
              <a:latin typeface="メイリオ" panose="020B0604030504040204" pitchFamily="50" charset="-128"/>
              <a:ea typeface="メイリオ" panose="020B0604030504040204" pitchFamily="50" charset="-128"/>
              <a:cs typeface="メイリオ"/>
            </a:endParaRPr>
          </a:p>
          <a:p>
            <a:pPr algn="ctr"/>
            <a:r>
              <a:rPr kumimoji="1" lang="ja-JP" altLang="en-US" sz="800" dirty="0">
                <a:latin typeface="メイリオ" panose="020B0604030504040204" pitchFamily="50" charset="-128"/>
                <a:ea typeface="メイリオ" panose="020B0604030504040204" pitchFamily="50" charset="-128"/>
                <a:cs typeface="メイリオ"/>
              </a:rPr>
              <a:t>（非ブロック率）</a:t>
            </a:r>
          </a:p>
        </p:txBody>
      </p:sp>
      <p:sp>
        <p:nvSpPr>
          <p:cNvPr id="68" name="テキスト ボックス 67">
            <a:extLst>
              <a:ext uri="{FF2B5EF4-FFF2-40B4-BE49-F238E27FC236}">
                <a16:creationId xmlns:a16="http://schemas.microsoft.com/office/drawing/2014/main" id="{D723F77C-494C-4598-FEF1-6B884D04A448}"/>
              </a:ext>
            </a:extLst>
          </p:cNvPr>
          <p:cNvSpPr txBox="1"/>
          <p:nvPr/>
        </p:nvSpPr>
        <p:spPr>
          <a:xfrm>
            <a:off x="632050" y="3492489"/>
            <a:ext cx="1581647" cy="553998"/>
          </a:xfrm>
          <a:prstGeom prst="rect">
            <a:avLst/>
          </a:prstGeom>
          <a:noFill/>
        </p:spPr>
        <p:txBody>
          <a:bodyPr wrap="square">
            <a:spAutoFit/>
          </a:bodyPr>
          <a:lstStyle/>
          <a:p>
            <a:pPr algn="ctr"/>
            <a:r>
              <a:rPr kumimoji="1" lang="ja-JP" altLang="en-US" sz="1000" b="1" dirty="0">
                <a:latin typeface="メイリオ" panose="020B0604030504040204" pitchFamily="50" charset="-128"/>
                <a:ea typeface="メイリオ" panose="020B0604030504040204" pitchFamily="50" charset="-128"/>
                <a:cs typeface="メイリオ"/>
              </a:rPr>
              <a:t>セグメント率</a:t>
            </a:r>
            <a:endParaRPr kumimoji="1" lang="en-US" altLang="ja-JP" sz="1000" b="1" dirty="0">
              <a:latin typeface="メイリオ" panose="020B0604030504040204" pitchFamily="50" charset="-128"/>
              <a:ea typeface="メイリオ" panose="020B0604030504040204" pitchFamily="50" charset="-128"/>
              <a:cs typeface="メイリオ"/>
            </a:endParaRPr>
          </a:p>
          <a:p>
            <a:pPr algn="ctr"/>
            <a:r>
              <a:rPr lang="en-US" altLang="ja-JP" sz="1000" dirty="0">
                <a:latin typeface="メイリオ" panose="020B0604030504040204" pitchFamily="50" charset="-128"/>
                <a:ea typeface="メイリオ" panose="020B0604030504040204" pitchFamily="50" charset="-128"/>
                <a:cs typeface="メイリオ"/>
              </a:rPr>
              <a:t>or</a:t>
            </a:r>
          </a:p>
          <a:p>
            <a:pPr algn="ctr"/>
            <a:r>
              <a:rPr kumimoji="1" lang="ja-JP" altLang="en-US" sz="1000" b="1" dirty="0">
                <a:latin typeface="メイリオ" panose="020B0604030504040204" pitchFamily="50" charset="-128"/>
                <a:ea typeface="メイリオ" panose="020B0604030504040204" pitchFamily="50" charset="-128"/>
                <a:cs typeface="メイリオ"/>
              </a:rPr>
              <a:t>ステップ配信設定数</a:t>
            </a:r>
          </a:p>
        </p:txBody>
      </p:sp>
      <p:sp>
        <p:nvSpPr>
          <p:cNvPr id="69" name="テキスト ボックス 68">
            <a:extLst>
              <a:ext uri="{FF2B5EF4-FFF2-40B4-BE49-F238E27FC236}">
                <a16:creationId xmlns:a16="http://schemas.microsoft.com/office/drawing/2014/main" id="{83F40BCD-888E-2A85-0E72-CECDC4CEFCE7}"/>
              </a:ext>
            </a:extLst>
          </p:cNvPr>
          <p:cNvSpPr txBox="1"/>
          <p:nvPr/>
        </p:nvSpPr>
        <p:spPr>
          <a:xfrm>
            <a:off x="632049" y="2122574"/>
            <a:ext cx="1581648" cy="261610"/>
          </a:xfrm>
          <a:prstGeom prst="rect">
            <a:avLst/>
          </a:prstGeom>
          <a:noFill/>
        </p:spPr>
        <p:txBody>
          <a:bodyPr wrap="square">
            <a:spAutoFit/>
          </a:bodyPr>
          <a:lstStyle/>
          <a:p>
            <a:pPr algn="ctr"/>
            <a:r>
              <a:rPr lang="ja-JP" altLang="en-US" sz="1100" dirty="0">
                <a:solidFill>
                  <a:srgbClr val="00B050"/>
                </a:solidFill>
                <a:latin typeface="メイリオ" panose="020B0604030504040204" pitchFamily="50" charset="-128"/>
                <a:ea typeface="メイリオ" panose="020B0604030504040204" pitchFamily="50" charset="-128"/>
                <a:cs typeface="メイリオ"/>
              </a:rPr>
              <a:t>（ターゲット戦略）</a:t>
            </a:r>
            <a:endParaRPr kumimoji="1" lang="ja-JP" altLang="en-US" sz="1100" dirty="0">
              <a:solidFill>
                <a:srgbClr val="00B050"/>
              </a:solidFill>
              <a:latin typeface="メイリオ" panose="020B0604030504040204" pitchFamily="50" charset="-128"/>
              <a:ea typeface="メイリオ" panose="020B0604030504040204" pitchFamily="50" charset="-128"/>
              <a:cs typeface="メイリオ"/>
            </a:endParaRPr>
          </a:p>
        </p:txBody>
      </p:sp>
      <p:sp>
        <p:nvSpPr>
          <p:cNvPr id="70" name="正方形/長方形 69">
            <a:extLst>
              <a:ext uri="{FF2B5EF4-FFF2-40B4-BE49-F238E27FC236}">
                <a16:creationId xmlns:a16="http://schemas.microsoft.com/office/drawing/2014/main" id="{A282801A-6F7E-2812-60DE-D9BD30E96635}"/>
              </a:ext>
            </a:extLst>
          </p:cNvPr>
          <p:cNvSpPr/>
          <p:nvPr/>
        </p:nvSpPr>
        <p:spPr>
          <a:xfrm>
            <a:off x="828387" y="4167605"/>
            <a:ext cx="1188972" cy="268338"/>
          </a:xfrm>
          <a:prstGeom prst="rect">
            <a:avLst/>
          </a:prstGeom>
          <a:solidFill>
            <a:srgbClr val="00B050"/>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月間通数</a:t>
            </a:r>
          </a:p>
        </p:txBody>
      </p:sp>
      <p:sp>
        <p:nvSpPr>
          <p:cNvPr id="3" name="正方形/長方形 2">
            <a:extLst>
              <a:ext uri="{FF2B5EF4-FFF2-40B4-BE49-F238E27FC236}">
                <a16:creationId xmlns:a16="http://schemas.microsoft.com/office/drawing/2014/main" id="{DEF078B1-2A45-316B-F6D4-2929C807201E}"/>
              </a:ext>
            </a:extLst>
          </p:cNvPr>
          <p:cNvSpPr/>
          <p:nvPr/>
        </p:nvSpPr>
        <p:spPr>
          <a:xfrm>
            <a:off x="619696" y="2055027"/>
            <a:ext cx="1613438" cy="2508602"/>
          </a:xfrm>
          <a:prstGeom prst="rect">
            <a:avLst/>
          </a:prstGeom>
          <a:solidFill>
            <a:schemeClr val="bg1">
              <a:alpha val="65000"/>
            </a:schemeClr>
          </a:solid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22" name="吹き出し: 角を丸めた四角形 21">
            <a:extLst>
              <a:ext uri="{FF2B5EF4-FFF2-40B4-BE49-F238E27FC236}">
                <a16:creationId xmlns:a16="http://schemas.microsoft.com/office/drawing/2014/main" id="{72F45E26-7BF4-E2ED-9A7A-1F4668D22973}"/>
              </a:ext>
            </a:extLst>
          </p:cNvPr>
          <p:cNvSpPr/>
          <p:nvPr/>
        </p:nvSpPr>
        <p:spPr>
          <a:xfrm>
            <a:off x="1422873" y="4756716"/>
            <a:ext cx="6798018" cy="1723684"/>
          </a:xfrm>
          <a:prstGeom prst="wedgeRoundRectCallout">
            <a:avLst>
              <a:gd name="adj1" fmla="val -8535"/>
              <a:gd name="adj2" fmla="val -65828"/>
              <a:gd name="adj3" fmla="val 16667"/>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24" name="正方形/長方形 23">
            <a:extLst>
              <a:ext uri="{FF2B5EF4-FFF2-40B4-BE49-F238E27FC236}">
                <a16:creationId xmlns:a16="http://schemas.microsoft.com/office/drawing/2014/main" id="{4E48C706-01F7-97BF-6029-19C07E10A157}"/>
              </a:ext>
            </a:extLst>
          </p:cNvPr>
          <p:cNvSpPr/>
          <p:nvPr/>
        </p:nvSpPr>
        <p:spPr>
          <a:xfrm>
            <a:off x="3144988" y="4892530"/>
            <a:ext cx="1438656" cy="268338"/>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開封率</a:t>
            </a:r>
          </a:p>
        </p:txBody>
      </p:sp>
      <p:sp>
        <p:nvSpPr>
          <p:cNvPr id="25" name="正方形/長方形 24">
            <a:extLst>
              <a:ext uri="{FF2B5EF4-FFF2-40B4-BE49-F238E27FC236}">
                <a16:creationId xmlns:a16="http://schemas.microsoft.com/office/drawing/2014/main" id="{691F0267-60AB-455D-B6F1-6559EBCD5D65}"/>
              </a:ext>
            </a:extLst>
          </p:cNvPr>
          <p:cNvSpPr/>
          <p:nvPr/>
        </p:nvSpPr>
        <p:spPr>
          <a:xfrm>
            <a:off x="4882248" y="4892530"/>
            <a:ext cx="1438656" cy="268338"/>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bg1"/>
                </a:solidFill>
                <a:latin typeface="メイリオ" panose="020B0604030504040204" pitchFamily="50" charset="-128"/>
                <a:ea typeface="メイリオ" panose="020B0604030504040204" pitchFamily="50" charset="-128"/>
                <a:cs typeface="メイリオ"/>
              </a:rPr>
              <a:t>クリック率</a:t>
            </a:r>
          </a:p>
        </p:txBody>
      </p:sp>
      <p:sp>
        <p:nvSpPr>
          <p:cNvPr id="26" name="正方形/長方形 25">
            <a:extLst>
              <a:ext uri="{FF2B5EF4-FFF2-40B4-BE49-F238E27FC236}">
                <a16:creationId xmlns:a16="http://schemas.microsoft.com/office/drawing/2014/main" id="{D9156083-EC1B-F8D0-1360-7F5BEA5CB663}"/>
              </a:ext>
            </a:extLst>
          </p:cNvPr>
          <p:cNvSpPr/>
          <p:nvPr/>
        </p:nvSpPr>
        <p:spPr>
          <a:xfrm>
            <a:off x="6594510" y="4892530"/>
            <a:ext cx="1438656" cy="268338"/>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50" b="1" dirty="0">
                <a:solidFill>
                  <a:schemeClr val="bg1"/>
                </a:solidFill>
                <a:latin typeface="メイリオ" panose="020B0604030504040204" pitchFamily="50" charset="-128"/>
                <a:ea typeface="メイリオ" panose="020B0604030504040204" pitchFamily="50" charset="-128"/>
                <a:cs typeface="メイリオ"/>
              </a:rPr>
              <a:t>CV</a:t>
            </a: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率</a:t>
            </a:r>
          </a:p>
        </p:txBody>
      </p:sp>
      <p:sp>
        <p:nvSpPr>
          <p:cNvPr id="27" name="正方形/長方形 26">
            <a:extLst>
              <a:ext uri="{FF2B5EF4-FFF2-40B4-BE49-F238E27FC236}">
                <a16:creationId xmlns:a16="http://schemas.microsoft.com/office/drawing/2014/main" id="{B0EDDD6B-F76F-0F36-49FD-6D63CEA4F456}"/>
              </a:ext>
            </a:extLst>
          </p:cNvPr>
          <p:cNvSpPr/>
          <p:nvPr/>
        </p:nvSpPr>
        <p:spPr>
          <a:xfrm>
            <a:off x="3144988" y="5228913"/>
            <a:ext cx="1438656" cy="522965"/>
          </a:xfrm>
          <a:prstGeom prst="rect">
            <a:avLst/>
          </a:prstGeom>
          <a:solidFill>
            <a:schemeClr val="accent1">
              <a:lumMod val="20000"/>
              <a:lumOff val="8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600" b="1" dirty="0">
                <a:solidFill>
                  <a:srgbClr val="1F2A5C"/>
                </a:solidFill>
                <a:latin typeface="メイリオ" panose="020B0604030504040204" pitchFamily="50" charset="-128"/>
                <a:ea typeface="メイリオ" panose="020B0604030504040204" pitchFamily="50" charset="-128"/>
                <a:cs typeface="メイリオ"/>
              </a:rPr>
              <a:t>85 </a:t>
            </a:r>
            <a:r>
              <a:rPr lang="en-US" altLang="ja-JP" sz="1400" b="1" dirty="0">
                <a:solidFill>
                  <a:srgbClr val="1F2A5C"/>
                </a:solidFill>
                <a:latin typeface="メイリオ" panose="020B0604030504040204" pitchFamily="50" charset="-128"/>
                <a:ea typeface="メイリオ" panose="020B0604030504040204" pitchFamily="50" charset="-128"/>
                <a:cs typeface="メイリオ"/>
              </a:rPr>
              <a:t>%</a:t>
            </a:r>
            <a:endParaRPr kumimoji="1" lang="ja-JP" altLang="en-US" sz="1400" b="1" dirty="0">
              <a:solidFill>
                <a:srgbClr val="1F2A5C"/>
              </a:solidFill>
              <a:latin typeface="メイリオ" panose="020B0604030504040204" pitchFamily="50" charset="-128"/>
              <a:ea typeface="メイリオ" panose="020B0604030504040204" pitchFamily="50" charset="-128"/>
              <a:cs typeface="メイリオ"/>
            </a:endParaRPr>
          </a:p>
        </p:txBody>
      </p:sp>
      <p:sp>
        <p:nvSpPr>
          <p:cNvPr id="28" name="正方形/長方形 27">
            <a:extLst>
              <a:ext uri="{FF2B5EF4-FFF2-40B4-BE49-F238E27FC236}">
                <a16:creationId xmlns:a16="http://schemas.microsoft.com/office/drawing/2014/main" id="{FD41B1A7-59DC-DE5C-69C2-F913EA082034}"/>
              </a:ext>
            </a:extLst>
          </p:cNvPr>
          <p:cNvSpPr/>
          <p:nvPr/>
        </p:nvSpPr>
        <p:spPr>
          <a:xfrm>
            <a:off x="4882248" y="5228913"/>
            <a:ext cx="1438656" cy="522965"/>
          </a:xfrm>
          <a:prstGeom prst="rect">
            <a:avLst/>
          </a:prstGeom>
          <a:solidFill>
            <a:schemeClr val="accent1">
              <a:lumMod val="20000"/>
              <a:lumOff val="8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b="1" dirty="0">
                <a:solidFill>
                  <a:srgbClr val="1F2A5C"/>
                </a:solidFill>
                <a:latin typeface="メイリオ" panose="020B0604030504040204" pitchFamily="50" charset="-128"/>
                <a:ea typeface="メイリオ" panose="020B0604030504040204" pitchFamily="50" charset="-128"/>
                <a:cs typeface="メイリオ"/>
              </a:rPr>
              <a:t>12.5 </a:t>
            </a:r>
            <a:r>
              <a:rPr lang="en-US" altLang="ja-JP" sz="1400" b="1" dirty="0">
                <a:solidFill>
                  <a:srgbClr val="1F2A5C"/>
                </a:solidFill>
                <a:latin typeface="メイリオ" panose="020B0604030504040204" pitchFamily="50" charset="-128"/>
                <a:ea typeface="メイリオ" panose="020B0604030504040204" pitchFamily="50" charset="-128"/>
                <a:cs typeface="メイリオ"/>
              </a:rPr>
              <a:t>%</a:t>
            </a:r>
            <a:endParaRPr lang="ja-JP" altLang="en-US" sz="1400" b="1" dirty="0">
              <a:solidFill>
                <a:srgbClr val="1F2A5C"/>
              </a:solidFill>
              <a:latin typeface="メイリオ" panose="020B0604030504040204" pitchFamily="50" charset="-128"/>
              <a:ea typeface="メイリオ" panose="020B0604030504040204" pitchFamily="50" charset="-128"/>
              <a:cs typeface="メイリオ"/>
            </a:endParaRPr>
          </a:p>
        </p:txBody>
      </p:sp>
      <p:sp>
        <p:nvSpPr>
          <p:cNvPr id="29" name="正方形/長方形 28">
            <a:extLst>
              <a:ext uri="{FF2B5EF4-FFF2-40B4-BE49-F238E27FC236}">
                <a16:creationId xmlns:a16="http://schemas.microsoft.com/office/drawing/2014/main" id="{2885A2E9-9449-3650-0E4A-5A9BF2D80E32}"/>
              </a:ext>
            </a:extLst>
          </p:cNvPr>
          <p:cNvSpPr/>
          <p:nvPr/>
        </p:nvSpPr>
        <p:spPr>
          <a:xfrm>
            <a:off x="6594510" y="5228913"/>
            <a:ext cx="1438656" cy="522965"/>
          </a:xfrm>
          <a:prstGeom prst="rect">
            <a:avLst/>
          </a:prstGeom>
          <a:solidFill>
            <a:schemeClr val="accent1">
              <a:lumMod val="20000"/>
              <a:lumOff val="8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600" b="1" dirty="0">
                <a:solidFill>
                  <a:srgbClr val="1F2A5C"/>
                </a:solidFill>
                <a:latin typeface="メイリオ" panose="020B0604030504040204" pitchFamily="50" charset="-128"/>
                <a:ea typeface="メイリオ" panose="020B0604030504040204" pitchFamily="50" charset="-128"/>
                <a:cs typeface="メイリオ"/>
              </a:rPr>
              <a:t>0.5</a:t>
            </a:r>
            <a:r>
              <a:rPr kumimoji="1" lang="en-US" altLang="ja-JP" sz="1400" b="1" dirty="0">
                <a:solidFill>
                  <a:srgbClr val="1F2A5C"/>
                </a:solidFill>
                <a:latin typeface="メイリオ" panose="020B0604030504040204" pitchFamily="50" charset="-128"/>
                <a:ea typeface="メイリオ" panose="020B0604030504040204" pitchFamily="50" charset="-128"/>
                <a:cs typeface="メイリオ"/>
              </a:rPr>
              <a:t> %</a:t>
            </a:r>
            <a:endParaRPr kumimoji="1" lang="ja-JP" altLang="en-US" sz="1400" b="1" dirty="0">
              <a:solidFill>
                <a:srgbClr val="1F2A5C"/>
              </a:solidFill>
              <a:latin typeface="メイリオ" panose="020B0604030504040204" pitchFamily="50" charset="-128"/>
              <a:ea typeface="メイリオ" panose="020B0604030504040204" pitchFamily="50" charset="-128"/>
              <a:cs typeface="メイリオ"/>
            </a:endParaRPr>
          </a:p>
        </p:txBody>
      </p:sp>
      <p:sp>
        <p:nvSpPr>
          <p:cNvPr id="30" name="正方形/長方形 29">
            <a:extLst>
              <a:ext uri="{FF2B5EF4-FFF2-40B4-BE49-F238E27FC236}">
                <a16:creationId xmlns:a16="http://schemas.microsoft.com/office/drawing/2014/main" id="{317ECBDF-09D3-257E-8F4A-E037F6ADBAAE}"/>
              </a:ext>
            </a:extLst>
          </p:cNvPr>
          <p:cNvSpPr/>
          <p:nvPr/>
        </p:nvSpPr>
        <p:spPr>
          <a:xfrm>
            <a:off x="3144988" y="5811212"/>
            <a:ext cx="1438656" cy="522965"/>
          </a:xfrm>
          <a:prstGeom prst="rect">
            <a:avLst/>
          </a:prstGeom>
          <a:solidFill>
            <a:schemeClr val="bg1">
              <a:lumMod val="8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400" b="1" dirty="0">
                <a:solidFill>
                  <a:schemeClr val="tx1"/>
                </a:solidFill>
                <a:latin typeface="メイリオ" panose="020B0604030504040204" pitchFamily="50" charset="-128"/>
                <a:ea typeface="メイリオ" panose="020B0604030504040204" pitchFamily="50" charset="-128"/>
                <a:cs typeface="メイリオ"/>
              </a:rPr>
              <a:t>70 %</a:t>
            </a:r>
            <a:endParaRPr lang="ja-JP" altLang="en-US" sz="140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31" name="正方形/長方形 30">
            <a:extLst>
              <a:ext uri="{FF2B5EF4-FFF2-40B4-BE49-F238E27FC236}">
                <a16:creationId xmlns:a16="http://schemas.microsoft.com/office/drawing/2014/main" id="{DA54FC15-4562-C68F-C13B-F3AB00F5F82F}"/>
              </a:ext>
            </a:extLst>
          </p:cNvPr>
          <p:cNvSpPr/>
          <p:nvPr/>
        </p:nvSpPr>
        <p:spPr>
          <a:xfrm>
            <a:off x="4882248" y="5811212"/>
            <a:ext cx="1438656" cy="522965"/>
          </a:xfrm>
          <a:prstGeom prst="rect">
            <a:avLst/>
          </a:prstGeom>
          <a:solidFill>
            <a:schemeClr val="bg1">
              <a:lumMod val="8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400" b="1" dirty="0">
                <a:solidFill>
                  <a:schemeClr val="tx1"/>
                </a:solidFill>
                <a:latin typeface="メイリオ" panose="020B0604030504040204" pitchFamily="50" charset="-128"/>
                <a:ea typeface="メイリオ" panose="020B0604030504040204" pitchFamily="50" charset="-128"/>
                <a:cs typeface="メイリオ"/>
              </a:rPr>
              <a:t>8.25 %</a:t>
            </a:r>
            <a:endParaRPr lang="ja-JP" altLang="en-US" sz="140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32" name="正方形/長方形 31">
            <a:extLst>
              <a:ext uri="{FF2B5EF4-FFF2-40B4-BE49-F238E27FC236}">
                <a16:creationId xmlns:a16="http://schemas.microsoft.com/office/drawing/2014/main" id="{382D3CC2-0AA1-6B39-8315-AC41101F88FE}"/>
              </a:ext>
            </a:extLst>
          </p:cNvPr>
          <p:cNvSpPr/>
          <p:nvPr/>
        </p:nvSpPr>
        <p:spPr>
          <a:xfrm>
            <a:off x="6594510" y="5811212"/>
            <a:ext cx="1438656" cy="522965"/>
          </a:xfrm>
          <a:prstGeom prst="rect">
            <a:avLst/>
          </a:prstGeom>
          <a:solidFill>
            <a:schemeClr val="bg1">
              <a:lumMod val="8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b="1" dirty="0">
                <a:solidFill>
                  <a:schemeClr val="tx1"/>
                </a:solidFill>
                <a:latin typeface="メイリオ" panose="020B0604030504040204" pitchFamily="50" charset="-128"/>
                <a:ea typeface="メイリオ" panose="020B0604030504040204" pitchFamily="50" charset="-128"/>
                <a:cs typeface="メイリオ"/>
              </a:rPr>
              <a:t>0.3 %</a:t>
            </a:r>
            <a:endParaRPr kumimoji="1" lang="ja-JP" altLang="en-US" sz="140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33" name="正方形/長方形 32">
            <a:extLst>
              <a:ext uri="{FF2B5EF4-FFF2-40B4-BE49-F238E27FC236}">
                <a16:creationId xmlns:a16="http://schemas.microsoft.com/office/drawing/2014/main" id="{5C344B7F-D598-9707-1687-34DC19B638F6}"/>
              </a:ext>
            </a:extLst>
          </p:cNvPr>
          <p:cNvSpPr/>
          <p:nvPr/>
        </p:nvSpPr>
        <p:spPr>
          <a:xfrm>
            <a:off x="1569529" y="5226753"/>
            <a:ext cx="1438656" cy="522965"/>
          </a:xfrm>
          <a:prstGeom prst="rect">
            <a:avLst/>
          </a:prstGeom>
          <a:solidFill>
            <a:schemeClr val="tx2">
              <a:lumMod val="5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solidFill>
                  <a:srgbClr val="FFFFFF"/>
                </a:solidFill>
                <a:latin typeface="メイリオ" panose="020B0604030504040204" pitchFamily="50" charset="-128"/>
                <a:ea typeface="メイリオ" panose="020B0604030504040204" pitchFamily="50" charset="-128"/>
                <a:cs typeface="メイリオ"/>
              </a:rPr>
              <a:t>DYM</a:t>
            </a:r>
            <a:r>
              <a:rPr kumimoji="1" lang="ja-JP" altLang="en-US" sz="1200" b="1" dirty="0">
                <a:solidFill>
                  <a:srgbClr val="FFFFFF"/>
                </a:solidFill>
                <a:latin typeface="メイリオ" panose="020B0604030504040204" pitchFamily="50" charset="-128"/>
                <a:ea typeface="メイリオ" panose="020B0604030504040204" pitchFamily="50" charset="-128"/>
                <a:cs typeface="メイリオ"/>
              </a:rPr>
              <a:t>実績</a:t>
            </a:r>
          </a:p>
        </p:txBody>
      </p:sp>
      <p:sp>
        <p:nvSpPr>
          <p:cNvPr id="34" name="正方形/長方形 33">
            <a:extLst>
              <a:ext uri="{FF2B5EF4-FFF2-40B4-BE49-F238E27FC236}">
                <a16:creationId xmlns:a16="http://schemas.microsoft.com/office/drawing/2014/main" id="{93D563E7-193E-0293-8E0E-7C2E3C5192BF}"/>
              </a:ext>
            </a:extLst>
          </p:cNvPr>
          <p:cNvSpPr/>
          <p:nvPr/>
        </p:nvSpPr>
        <p:spPr>
          <a:xfrm>
            <a:off x="1569529" y="5809052"/>
            <a:ext cx="1438656" cy="522965"/>
          </a:xfrm>
          <a:prstGeom prst="rect">
            <a:avLst/>
          </a:prstGeom>
          <a:solidFill>
            <a:schemeClr val="tx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b="1" dirty="0">
                <a:solidFill>
                  <a:schemeClr val="bg1"/>
                </a:solidFill>
                <a:latin typeface="メイリオ" panose="020B0604030504040204" pitchFamily="50" charset="-128"/>
                <a:ea typeface="メイリオ" panose="020B0604030504040204" pitchFamily="50" charset="-128"/>
                <a:cs typeface="メイリオ"/>
              </a:rPr>
              <a:t>業界平均</a:t>
            </a:r>
            <a:endParaRPr lang="en-US" altLang="ja-JP" sz="1200" b="1" dirty="0">
              <a:solidFill>
                <a:schemeClr val="bg1"/>
              </a:solidFill>
              <a:latin typeface="メイリオ" panose="020B0604030504040204" pitchFamily="50" charset="-128"/>
              <a:ea typeface="メイリオ" panose="020B0604030504040204" pitchFamily="50" charset="-128"/>
              <a:cs typeface="メイリオ"/>
            </a:endParaRPr>
          </a:p>
          <a:p>
            <a:pPr algn="ctr"/>
            <a:r>
              <a:rPr lang="en-US" altLang="ja-JP" sz="800" b="1" dirty="0">
                <a:solidFill>
                  <a:schemeClr val="bg1"/>
                </a:solidFill>
                <a:latin typeface="メイリオ" panose="020B0604030504040204" pitchFamily="50" charset="-128"/>
                <a:ea typeface="メイリオ" panose="020B0604030504040204" pitchFamily="50" charset="-128"/>
                <a:cs typeface="メイリオ"/>
              </a:rPr>
              <a:t>(LINE</a:t>
            </a:r>
            <a:r>
              <a:rPr lang="ja-JP" altLang="en-US" sz="800" b="1" dirty="0">
                <a:solidFill>
                  <a:schemeClr val="bg1"/>
                </a:solidFill>
                <a:latin typeface="メイリオ" panose="020B0604030504040204" pitchFamily="50" charset="-128"/>
                <a:ea typeface="メイリオ" panose="020B0604030504040204" pitchFamily="50" charset="-128"/>
                <a:cs typeface="メイリオ"/>
              </a:rPr>
              <a:t>ヤフー社より共有）</a:t>
            </a:r>
          </a:p>
        </p:txBody>
      </p:sp>
      <p:sp>
        <p:nvSpPr>
          <p:cNvPr id="35" name="正方形/長方形 34">
            <a:extLst>
              <a:ext uri="{FF2B5EF4-FFF2-40B4-BE49-F238E27FC236}">
                <a16:creationId xmlns:a16="http://schemas.microsoft.com/office/drawing/2014/main" id="{A58F3C16-C1CC-3071-6630-130857C0B7D1}"/>
              </a:ext>
            </a:extLst>
          </p:cNvPr>
          <p:cNvSpPr/>
          <p:nvPr/>
        </p:nvSpPr>
        <p:spPr>
          <a:xfrm>
            <a:off x="564095" y="1666793"/>
            <a:ext cx="8989207" cy="328130"/>
          </a:xfrm>
          <a:prstGeom prst="rect">
            <a:avLst/>
          </a:prstGeom>
          <a:solidFill>
            <a:schemeClr val="tx1"/>
          </a:solid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b="1" dirty="0">
                <a:solidFill>
                  <a:srgbClr val="FFFFFF"/>
                </a:solidFill>
                <a:latin typeface="メイリオ" panose="020B0604030504040204" pitchFamily="50" charset="-128"/>
                <a:ea typeface="メイリオ" panose="020B0604030504040204" pitchFamily="50" charset="-128"/>
                <a:cs typeface="メイリオ"/>
              </a:rPr>
              <a:t>施策の流れ</a:t>
            </a:r>
          </a:p>
        </p:txBody>
      </p:sp>
    </p:spTree>
    <p:extLst>
      <p:ext uri="{BB962C8B-B14F-4D97-AF65-F5344CB8AC3E}">
        <p14:creationId xmlns:p14="http://schemas.microsoft.com/office/powerpoint/2010/main" val="242184237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5EBFBA-F50F-49FF-6262-A65BC71D24BA}"/>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54A58725-F6F0-8B49-3CD7-5CBEAA430892}"/>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 name="正方形/長方形 3">
            <a:extLst>
              <a:ext uri="{FF2B5EF4-FFF2-40B4-BE49-F238E27FC236}">
                <a16:creationId xmlns:a16="http://schemas.microsoft.com/office/drawing/2014/main" id="{C83D44E2-DD1A-B705-6239-227268DFCE80}"/>
              </a:ext>
            </a:extLst>
          </p:cNvPr>
          <p:cNvSpPr/>
          <p:nvPr/>
        </p:nvSpPr>
        <p:spPr>
          <a:xfrm>
            <a:off x="788963" y="793451"/>
            <a:ext cx="8328074" cy="38171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cs typeface="メイリオ"/>
              </a:rPr>
              <a:t>業態平均で</a:t>
            </a:r>
            <a:r>
              <a:rPr lang="ja-JP" altLang="en-US" sz="1400" b="1" dirty="0">
                <a:solidFill>
                  <a:srgbClr val="1F2A5C"/>
                </a:solidFill>
                <a:latin typeface="メイリオ" panose="020B0604030504040204" pitchFamily="50" charset="-128"/>
                <a:ea typeface="メイリオ" panose="020B0604030504040204" pitchFamily="50" charset="-128"/>
                <a:cs typeface="メイリオ"/>
              </a:rPr>
              <a:t>最大３</a:t>
            </a:r>
            <a:r>
              <a:rPr lang="en-US" altLang="ja-JP" sz="1400" b="1" dirty="0">
                <a:solidFill>
                  <a:srgbClr val="1F2A5C"/>
                </a:solidFill>
                <a:latin typeface="メイリオ" panose="020B0604030504040204" pitchFamily="50" charset="-128"/>
                <a:ea typeface="メイリオ" panose="020B0604030504040204" pitchFamily="50" charset="-128"/>
                <a:cs typeface="メイリオ"/>
              </a:rPr>
              <a:t>%</a:t>
            </a:r>
            <a:r>
              <a:rPr lang="ja-JP" altLang="en-US" sz="1400" b="1" dirty="0">
                <a:solidFill>
                  <a:srgbClr val="1F2A5C"/>
                </a:solidFill>
                <a:latin typeface="メイリオ" panose="020B0604030504040204" pitchFamily="50" charset="-128"/>
                <a:ea typeface="メイリオ" panose="020B0604030504040204" pitchFamily="50" charset="-128"/>
                <a:cs typeface="メイリオ"/>
              </a:rPr>
              <a:t>のユーザーは有効化</a:t>
            </a:r>
            <a:r>
              <a:rPr lang="en-US" altLang="ja-JP" sz="1400" b="1" dirty="0">
                <a:solidFill>
                  <a:srgbClr val="1F2A5C"/>
                </a:solidFill>
                <a:latin typeface="メイリオ" panose="020B0604030504040204" pitchFamily="50" charset="-128"/>
                <a:ea typeface="メイリオ" panose="020B0604030504040204" pitchFamily="50" charset="-128"/>
                <a:cs typeface="メイリオ"/>
              </a:rPr>
              <a:t>/</a:t>
            </a:r>
            <a:r>
              <a:rPr lang="ja-JP" altLang="en-US" sz="1400" b="1" dirty="0">
                <a:solidFill>
                  <a:srgbClr val="1F2A5C"/>
                </a:solidFill>
                <a:latin typeface="メイリオ" panose="020B0604030504040204" pitchFamily="50" charset="-128"/>
                <a:ea typeface="メイリオ" panose="020B0604030504040204" pitchFamily="50" charset="-128"/>
                <a:cs typeface="メイリオ"/>
              </a:rPr>
              <a:t>マネタイズ可能</a:t>
            </a:r>
            <a:r>
              <a:rPr lang="ja-JP" altLang="en-US" sz="1400" dirty="0">
                <a:solidFill>
                  <a:srgbClr val="343434"/>
                </a:solidFill>
                <a:latin typeface="メイリオ" panose="020B0604030504040204" pitchFamily="50" charset="-128"/>
                <a:ea typeface="メイリオ" panose="020B0604030504040204" pitchFamily="50" charset="-128"/>
                <a:cs typeface="メイリオ"/>
              </a:rPr>
              <a:t> とされている。</a:t>
            </a: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cs typeface="メイリオ"/>
              </a:rPr>
              <a:t>貴社集客課題に合わせて、</a:t>
            </a:r>
            <a:r>
              <a:rPr lang="en-US" altLang="ja-JP" sz="1400" dirty="0">
                <a:solidFill>
                  <a:srgbClr val="343434"/>
                </a:solidFill>
                <a:latin typeface="メイリオ" panose="020B0604030504040204" pitchFamily="50" charset="-128"/>
                <a:ea typeface="メイリオ" panose="020B0604030504040204" pitchFamily="50" charset="-128"/>
                <a:cs typeface="メイリオ"/>
              </a:rPr>
              <a:t>LINE</a:t>
            </a:r>
            <a:r>
              <a:rPr lang="ja-JP" altLang="en-US" sz="1400" dirty="0">
                <a:solidFill>
                  <a:srgbClr val="343434"/>
                </a:solidFill>
                <a:latin typeface="メイリオ" panose="020B0604030504040204" pitchFamily="50" charset="-128"/>
                <a:ea typeface="メイリオ" panose="020B0604030504040204" pitchFamily="50" charset="-128"/>
                <a:cs typeface="メイリオ"/>
              </a:rPr>
              <a:t>公式アカウントの構築モデルを活用しながら集客効率を改善。</a:t>
            </a:r>
          </a:p>
        </p:txBody>
      </p:sp>
      <p:cxnSp>
        <p:nvCxnSpPr>
          <p:cNvPr id="5" name="直線コネクタ 4">
            <a:extLst>
              <a:ext uri="{FF2B5EF4-FFF2-40B4-BE49-F238E27FC236}">
                <a16:creationId xmlns:a16="http://schemas.microsoft.com/office/drawing/2014/main" id="{73533EC4-DA04-2252-5E95-8206105B300C}"/>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5" name="Google Shape;156;p7">
            <a:extLst>
              <a:ext uri="{FF2B5EF4-FFF2-40B4-BE49-F238E27FC236}">
                <a16:creationId xmlns:a16="http://schemas.microsoft.com/office/drawing/2014/main" id="{DEFE914D-32AD-C9E0-A47B-60FB84F79955}"/>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en-US" altLang="ja-JP" sz="1600" b="1" dirty="0">
                <a:solidFill>
                  <a:srgbClr val="002060"/>
                </a:solidFill>
                <a:latin typeface="メイリオ"/>
                <a:ea typeface="メイリオ"/>
                <a:cs typeface="メイリオ"/>
                <a:sym typeface="Meiryo"/>
              </a:rPr>
              <a:t>LINE</a:t>
            </a:r>
            <a:r>
              <a:rPr lang="ja-JP" altLang="en-US" sz="1600" b="1" dirty="0">
                <a:solidFill>
                  <a:srgbClr val="002060"/>
                </a:solidFill>
                <a:latin typeface="メイリオ"/>
                <a:ea typeface="メイリオ"/>
                <a:cs typeface="メイリオ"/>
                <a:sym typeface="Meiryo"/>
              </a:rPr>
              <a:t>公式アカウントを検討する背景</a:t>
            </a:r>
            <a:endParaRPr sz="1600" b="1" dirty="0">
              <a:solidFill>
                <a:srgbClr val="002060"/>
              </a:solidFill>
              <a:latin typeface="メイリオ"/>
              <a:ea typeface="メイリオ"/>
              <a:cs typeface="メイリオ"/>
              <a:sym typeface="Meiryo"/>
            </a:endParaRPr>
          </a:p>
        </p:txBody>
      </p:sp>
      <p:sp>
        <p:nvSpPr>
          <p:cNvPr id="2" name="正方形/長方形 1">
            <a:extLst>
              <a:ext uri="{FF2B5EF4-FFF2-40B4-BE49-F238E27FC236}">
                <a16:creationId xmlns:a16="http://schemas.microsoft.com/office/drawing/2014/main" id="{EEF4BB1D-1E6E-955A-85D2-2DAF3FCF967B}"/>
              </a:ext>
            </a:extLst>
          </p:cNvPr>
          <p:cNvSpPr/>
          <p:nvPr/>
        </p:nvSpPr>
        <p:spPr>
          <a:xfrm>
            <a:off x="437755" y="1606187"/>
            <a:ext cx="1425879" cy="314059"/>
          </a:xfrm>
          <a:prstGeom prst="rect">
            <a:avLst/>
          </a:prstGeom>
          <a:solidFill>
            <a:schemeClr val="tx1">
              <a:lumMod val="85000"/>
              <a:lumOff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latin typeface="メイリオ" panose="020B0604030504040204" pitchFamily="50" charset="-128"/>
                <a:ea typeface="メイリオ" panose="020B0604030504040204" pitchFamily="50" charset="-128"/>
                <a:cs typeface="メイリオ"/>
              </a:rPr>
              <a:t>流入元</a:t>
            </a:r>
          </a:p>
        </p:txBody>
      </p:sp>
      <p:sp>
        <p:nvSpPr>
          <p:cNvPr id="8" name="正方形/長方形 7">
            <a:extLst>
              <a:ext uri="{FF2B5EF4-FFF2-40B4-BE49-F238E27FC236}">
                <a16:creationId xmlns:a16="http://schemas.microsoft.com/office/drawing/2014/main" id="{531C33D5-FD17-057E-9ABE-377B289F9790}"/>
              </a:ext>
            </a:extLst>
          </p:cNvPr>
          <p:cNvSpPr/>
          <p:nvPr/>
        </p:nvSpPr>
        <p:spPr>
          <a:xfrm>
            <a:off x="1939984" y="1606186"/>
            <a:ext cx="1425879" cy="314059"/>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latin typeface="メイリオ" panose="020B0604030504040204" pitchFamily="50" charset="-128"/>
                <a:ea typeface="メイリオ" panose="020B0604030504040204" pitchFamily="50" charset="-128"/>
                <a:cs typeface="メイリオ"/>
              </a:rPr>
              <a:t>LINE</a:t>
            </a:r>
            <a:r>
              <a:rPr kumimoji="1" lang="ja-JP" altLang="en-US" sz="1200" b="1" dirty="0">
                <a:latin typeface="メイリオ" panose="020B0604030504040204" pitchFamily="50" charset="-128"/>
                <a:ea typeface="メイリオ" panose="020B0604030504040204" pitchFamily="50" charset="-128"/>
                <a:cs typeface="メイリオ"/>
              </a:rPr>
              <a:t>誘導</a:t>
            </a:r>
          </a:p>
        </p:txBody>
      </p:sp>
      <p:sp>
        <p:nvSpPr>
          <p:cNvPr id="10" name="正方形/長方形 9">
            <a:extLst>
              <a:ext uri="{FF2B5EF4-FFF2-40B4-BE49-F238E27FC236}">
                <a16:creationId xmlns:a16="http://schemas.microsoft.com/office/drawing/2014/main" id="{AFB52975-24F0-82CC-8A36-A65D2F539FA3}"/>
              </a:ext>
            </a:extLst>
          </p:cNvPr>
          <p:cNvSpPr/>
          <p:nvPr/>
        </p:nvSpPr>
        <p:spPr>
          <a:xfrm>
            <a:off x="3442213" y="1606186"/>
            <a:ext cx="4320230" cy="314059"/>
          </a:xfrm>
          <a:prstGeom prst="rect">
            <a:avLst/>
          </a:prstGeom>
          <a:solidFill>
            <a:schemeClr val="tx1">
              <a:lumMod val="85000"/>
              <a:lumOff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latin typeface="メイリオ" panose="020B0604030504040204" pitchFamily="50" charset="-128"/>
                <a:ea typeface="メイリオ" panose="020B0604030504040204" pitchFamily="50" charset="-128"/>
                <a:cs typeface="メイリオ"/>
              </a:rPr>
              <a:t>具体の施策方針</a:t>
            </a:r>
          </a:p>
        </p:txBody>
      </p:sp>
      <p:sp>
        <p:nvSpPr>
          <p:cNvPr id="34" name="矢印: 右 33">
            <a:extLst>
              <a:ext uri="{FF2B5EF4-FFF2-40B4-BE49-F238E27FC236}">
                <a16:creationId xmlns:a16="http://schemas.microsoft.com/office/drawing/2014/main" id="{173A008B-7B40-3834-688E-168FABDF16B8}"/>
              </a:ext>
            </a:extLst>
          </p:cNvPr>
          <p:cNvSpPr/>
          <p:nvPr/>
        </p:nvSpPr>
        <p:spPr>
          <a:xfrm>
            <a:off x="1080889" y="2280379"/>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37" name="正方形/長方形 36">
            <a:extLst>
              <a:ext uri="{FF2B5EF4-FFF2-40B4-BE49-F238E27FC236}">
                <a16:creationId xmlns:a16="http://schemas.microsoft.com/office/drawing/2014/main" id="{FD70E0F9-3A37-9791-A2F1-DB53DFA521CA}"/>
              </a:ext>
            </a:extLst>
          </p:cNvPr>
          <p:cNvSpPr/>
          <p:nvPr/>
        </p:nvSpPr>
        <p:spPr>
          <a:xfrm>
            <a:off x="1939984" y="2014581"/>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900">
                <a:solidFill>
                  <a:schemeClr val="tx1">
                    <a:lumMod val="75000"/>
                    <a:lumOff val="25000"/>
                  </a:schemeClr>
                </a:solidFill>
                <a:latin typeface="メイリオ" panose="020B0604030504040204" pitchFamily="50" charset="-128"/>
                <a:ea typeface="メイリオ" panose="020B0604030504040204" pitchFamily="50" charset="-128"/>
                <a:cs typeface="メイリオ"/>
              </a:rPr>
              <a:t>離脱防止</a:t>
            </a:r>
            <a:endParaRPr lang="en-US" altLang="ja-JP" sz="900" dirty="0">
              <a:solidFill>
                <a:schemeClr val="tx1">
                  <a:lumMod val="75000"/>
                  <a:lumOff val="25000"/>
                </a:schemeClr>
              </a:solidFill>
              <a:latin typeface="メイリオ" panose="020B0604030504040204" pitchFamily="50" charset="-128"/>
              <a:ea typeface="メイリオ" panose="020B0604030504040204" pitchFamily="50" charset="-128"/>
              <a:cs typeface="メイリオ"/>
            </a:endParaRPr>
          </a:p>
          <a:p>
            <a:pPr algn="ctr"/>
            <a:r>
              <a:rPr lang="ja-JP" altLang="en-US" sz="9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サイト上ポップアップ</a:t>
            </a:r>
          </a:p>
        </p:txBody>
      </p:sp>
      <p:sp>
        <p:nvSpPr>
          <p:cNvPr id="39" name="正方形/長方形 38">
            <a:extLst>
              <a:ext uri="{FF2B5EF4-FFF2-40B4-BE49-F238E27FC236}">
                <a16:creationId xmlns:a16="http://schemas.microsoft.com/office/drawing/2014/main" id="{BC93A6AA-67BF-84C0-0945-45084140FCCE}"/>
              </a:ext>
            </a:extLst>
          </p:cNvPr>
          <p:cNvSpPr/>
          <p:nvPr/>
        </p:nvSpPr>
        <p:spPr>
          <a:xfrm>
            <a:off x="1939984" y="2627767"/>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9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離脱防止</a:t>
            </a:r>
            <a:endParaRPr lang="en-US" altLang="ja-JP" sz="900" dirty="0">
              <a:solidFill>
                <a:schemeClr val="tx1">
                  <a:lumMod val="75000"/>
                  <a:lumOff val="25000"/>
                </a:schemeClr>
              </a:solidFill>
              <a:latin typeface="メイリオ" panose="020B0604030504040204" pitchFamily="50" charset="-128"/>
              <a:ea typeface="メイリオ" panose="020B0604030504040204" pitchFamily="50" charset="-128"/>
              <a:cs typeface="メイリオ"/>
            </a:endParaRPr>
          </a:p>
          <a:p>
            <a:pPr algn="ctr"/>
            <a:r>
              <a:rPr lang="ja-JP" altLang="en-US" sz="9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サイト上ポップアップ</a:t>
            </a:r>
          </a:p>
        </p:txBody>
      </p:sp>
      <p:sp>
        <p:nvSpPr>
          <p:cNvPr id="41" name="正方形/長方形 40">
            <a:extLst>
              <a:ext uri="{FF2B5EF4-FFF2-40B4-BE49-F238E27FC236}">
                <a16:creationId xmlns:a16="http://schemas.microsoft.com/office/drawing/2014/main" id="{1B7DB214-408D-A44C-E3F0-2C35AF01311F}"/>
              </a:ext>
            </a:extLst>
          </p:cNvPr>
          <p:cNvSpPr/>
          <p:nvPr/>
        </p:nvSpPr>
        <p:spPr>
          <a:xfrm>
            <a:off x="437755" y="2014581"/>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000">
                <a:solidFill>
                  <a:schemeClr val="tx1">
                    <a:lumMod val="75000"/>
                    <a:lumOff val="25000"/>
                  </a:schemeClr>
                </a:solidFill>
                <a:latin typeface="メイリオ" panose="020B0604030504040204" pitchFamily="50" charset="-128"/>
                <a:ea typeface="メイリオ" panose="020B0604030504040204" pitchFamily="50" charset="-128"/>
                <a:cs typeface="メイリオ"/>
              </a:rPr>
              <a:t>SEO</a:t>
            </a:r>
            <a:r>
              <a:rPr lang="ja-JP" altLang="en-US" sz="1000">
                <a:solidFill>
                  <a:schemeClr val="tx1">
                    <a:lumMod val="75000"/>
                    <a:lumOff val="25000"/>
                  </a:schemeClr>
                </a:solidFill>
                <a:latin typeface="メイリオ" panose="020B0604030504040204" pitchFamily="50" charset="-128"/>
                <a:ea typeface="メイリオ" panose="020B0604030504040204" pitchFamily="50" charset="-128"/>
                <a:cs typeface="メイリオ"/>
              </a:rPr>
              <a:t>・</a:t>
            </a:r>
            <a:r>
              <a:rPr lang="en-US" altLang="ja-JP" sz="10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AIO</a:t>
            </a:r>
            <a:endParaRPr lang="ja-JP" altLang="en-US" sz="1000" dirty="0">
              <a:solidFill>
                <a:schemeClr val="tx1">
                  <a:lumMod val="75000"/>
                  <a:lumOff val="25000"/>
                </a:schemeClr>
              </a:solidFill>
              <a:latin typeface="メイリオ" panose="020B0604030504040204" pitchFamily="50" charset="-128"/>
              <a:ea typeface="メイリオ" panose="020B0604030504040204" pitchFamily="50" charset="-128"/>
              <a:cs typeface="メイリオ"/>
            </a:endParaRPr>
          </a:p>
        </p:txBody>
      </p:sp>
      <p:sp>
        <p:nvSpPr>
          <p:cNvPr id="43" name="正方形/長方形 42">
            <a:extLst>
              <a:ext uri="{FF2B5EF4-FFF2-40B4-BE49-F238E27FC236}">
                <a16:creationId xmlns:a16="http://schemas.microsoft.com/office/drawing/2014/main" id="{4FF021F0-AD46-9EC1-0810-C474BA8335D8}"/>
              </a:ext>
            </a:extLst>
          </p:cNvPr>
          <p:cNvSpPr/>
          <p:nvPr/>
        </p:nvSpPr>
        <p:spPr>
          <a:xfrm>
            <a:off x="437755" y="2627767"/>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広告</a:t>
            </a:r>
          </a:p>
        </p:txBody>
      </p:sp>
      <p:sp>
        <p:nvSpPr>
          <p:cNvPr id="46" name="正方形/長方形 45">
            <a:extLst>
              <a:ext uri="{FF2B5EF4-FFF2-40B4-BE49-F238E27FC236}">
                <a16:creationId xmlns:a16="http://schemas.microsoft.com/office/drawing/2014/main" id="{8A474FF7-4108-C39F-A5EC-7D5691573134}"/>
              </a:ext>
            </a:extLst>
          </p:cNvPr>
          <p:cNvSpPr/>
          <p:nvPr/>
        </p:nvSpPr>
        <p:spPr>
          <a:xfrm>
            <a:off x="3442213" y="2009121"/>
            <a:ext cx="4320230" cy="1177176"/>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sz="900" dirty="0">
              <a:solidFill>
                <a:schemeClr val="tx1">
                  <a:lumMod val="75000"/>
                  <a:lumOff val="25000"/>
                </a:schemeClr>
              </a:solidFill>
              <a:latin typeface="メイリオ" panose="020B0604030504040204" pitchFamily="50" charset="-128"/>
              <a:ea typeface="メイリオ" panose="020B0604030504040204" pitchFamily="50" charset="-128"/>
              <a:cs typeface="メイリオ"/>
            </a:endParaRPr>
          </a:p>
        </p:txBody>
      </p:sp>
      <p:sp>
        <p:nvSpPr>
          <p:cNvPr id="48" name="矢印: 右 47">
            <a:extLst>
              <a:ext uri="{FF2B5EF4-FFF2-40B4-BE49-F238E27FC236}">
                <a16:creationId xmlns:a16="http://schemas.microsoft.com/office/drawing/2014/main" id="{7386A58D-9B89-4DB0-7216-4E1CB6B454A9}"/>
              </a:ext>
            </a:extLst>
          </p:cNvPr>
          <p:cNvSpPr/>
          <p:nvPr/>
        </p:nvSpPr>
        <p:spPr>
          <a:xfrm>
            <a:off x="1080891" y="3232219"/>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50" name="矢印: 右 49">
            <a:extLst>
              <a:ext uri="{FF2B5EF4-FFF2-40B4-BE49-F238E27FC236}">
                <a16:creationId xmlns:a16="http://schemas.microsoft.com/office/drawing/2014/main" id="{D3CE675D-8A5C-D632-6FDA-1C8A7E291893}"/>
              </a:ext>
            </a:extLst>
          </p:cNvPr>
          <p:cNvSpPr/>
          <p:nvPr/>
        </p:nvSpPr>
        <p:spPr>
          <a:xfrm>
            <a:off x="1080890" y="3933285"/>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cxnSp>
        <p:nvCxnSpPr>
          <p:cNvPr id="51" name="直線コネクタ 50">
            <a:extLst>
              <a:ext uri="{FF2B5EF4-FFF2-40B4-BE49-F238E27FC236}">
                <a16:creationId xmlns:a16="http://schemas.microsoft.com/office/drawing/2014/main" id="{8397AEEA-4837-54CF-13BA-F31B80D1393F}"/>
              </a:ext>
            </a:extLst>
          </p:cNvPr>
          <p:cNvCxnSpPr>
            <a:cxnSpLocks/>
          </p:cNvCxnSpPr>
          <p:nvPr/>
        </p:nvCxnSpPr>
        <p:spPr>
          <a:xfrm flipV="1">
            <a:off x="437755" y="3888359"/>
            <a:ext cx="7324688" cy="1"/>
          </a:xfrm>
          <a:prstGeom prst="line">
            <a:avLst/>
          </a:prstGeom>
          <a:ln>
            <a:prstDash val="sysDash"/>
          </a:ln>
        </p:spPr>
        <p:style>
          <a:lnRef idx="1">
            <a:schemeClr val="accent1"/>
          </a:lnRef>
          <a:fillRef idx="0">
            <a:schemeClr val="accent1"/>
          </a:fillRef>
          <a:effectRef idx="0">
            <a:schemeClr val="accent1"/>
          </a:effectRef>
          <a:fontRef idx="minor">
            <a:schemeClr val="tx1"/>
          </a:fontRef>
        </p:style>
      </p:cxnSp>
      <p:sp>
        <p:nvSpPr>
          <p:cNvPr id="52" name="正方形/長方形 51">
            <a:extLst>
              <a:ext uri="{FF2B5EF4-FFF2-40B4-BE49-F238E27FC236}">
                <a16:creationId xmlns:a16="http://schemas.microsoft.com/office/drawing/2014/main" id="{24D1C472-525A-CFB1-3C6E-3053F2619881}"/>
              </a:ext>
            </a:extLst>
          </p:cNvPr>
          <p:cNvSpPr/>
          <p:nvPr/>
        </p:nvSpPr>
        <p:spPr>
          <a:xfrm>
            <a:off x="437755" y="3240953"/>
            <a:ext cx="2928107"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LINE</a:t>
            </a: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広告（</a:t>
            </a:r>
            <a:r>
              <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CPF</a:t>
            </a: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配信）</a:t>
            </a:r>
            <a:endPar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endParaRPr>
          </a:p>
          <a:p>
            <a:pPr algn="ctr"/>
            <a: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サイト上ポップアップ</a:t>
            </a:r>
            <a:endPar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endParaRPr>
          </a:p>
        </p:txBody>
      </p:sp>
      <p:sp>
        <p:nvSpPr>
          <p:cNvPr id="53" name="正方形/長方形 52">
            <a:extLst>
              <a:ext uri="{FF2B5EF4-FFF2-40B4-BE49-F238E27FC236}">
                <a16:creationId xmlns:a16="http://schemas.microsoft.com/office/drawing/2014/main" id="{CBD188BB-0EA8-4510-DCA0-2AEE1B7CD5EB}"/>
              </a:ext>
            </a:extLst>
          </p:cNvPr>
          <p:cNvSpPr/>
          <p:nvPr/>
        </p:nvSpPr>
        <p:spPr>
          <a:xfrm>
            <a:off x="1939984" y="3977235"/>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通知メッセ</a:t>
            </a:r>
          </a:p>
        </p:txBody>
      </p:sp>
      <p:sp>
        <p:nvSpPr>
          <p:cNvPr id="54" name="正方形/長方形 53">
            <a:extLst>
              <a:ext uri="{FF2B5EF4-FFF2-40B4-BE49-F238E27FC236}">
                <a16:creationId xmlns:a16="http://schemas.microsoft.com/office/drawing/2014/main" id="{29E6B5C9-2FD2-FC57-1789-05FA5F38E1F7}"/>
              </a:ext>
            </a:extLst>
          </p:cNvPr>
          <p:cNvSpPr/>
          <p:nvPr/>
        </p:nvSpPr>
        <p:spPr>
          <a:xfrm>
            <a:off x="437755" y="3977235"/>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CV</a:t>
            </a: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a:t>
            </a:r>
            <a:r>
              <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mcv</a:t>
            </a: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済</a:t>
            </a:r>
          </a:p>
        </p:txBody>
      </p:sp>
      <p:sp>
        <p:nvSpPr>
          <p:cNvPr id="55" name="正方形/長方形 54">
            <a:extLst>
              <a:ext uri="{FF2B5EF4-FFF2-40B4-BE49-F238E27FC236}">
                <a16:creationId xmlns:a16="http://schemas.microsoft.com/office/drawing/2014/main" id="{533AD0C0-7276-FA17-9FD7-734635201CB2}"/>
              </a:ext>
            </a:extLst>
          </p:cNvPr>
          <p:cNvSpPr/>
          <p:nvPr/>
        </p:nvSpPr>
        <p:spPr>
          <a:xfrm>
            <a:off x="3442212" y="3240953"/>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endParaRPr>
          </a:p>
        </p:txBody>
      </p:sp>
      <p:sp>
        <p:nvSpPr>
          <p:cNvPr id="56" name="正方形/長方形 55">
            <a:extLst>
              <a:ext uri="{FF2B5EF4-FFF2-40B4-BE49-F238E27FC236}">
                <a16:creationId xmlns:a16="http://schemas.microsoft.com/office/drawing/2014/main" id="{415D5861-B108-7E0A-3377-5601EF82149A}"/>
              </a:ext>
            </a:extLst>
          </p:cNvPr>
          <p:cNvSpPr/>
          <p:nvPr/>
        </p:nvSpPr>
        <p:spPr>
          <a:xfrm>
            <a:off x="3442212" y="3977237"/>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endParaRPr>
          </a:p>
        </p:txBody>
      </p:sp>
      <p:sp>
        <p:nvSpPr>
          <p:cNvPr id="58" name="矢印: 右 57">
            <a:extLst>
              <a:ext uri="{FF2B5EF4-FFF2-40B4-BE49-F238E27FC236}">
                <a16:creationId xmlns:a16="http://schemas.microsoft.com/office/drawing/2014/main" id="{94AAFD78-CFCD-8AAC-C5DE-8F785D90C401}"/>
              </a:ext>
            </a:extLst>
          </p:cNvPr>
          <p:cNvSpPr/>
          <p:nvPr/>
        </p:nvSpPr>
        <p:spPr>
          <a:xfrm>
            <a:off x="1080889" y="4580318"/>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60" name="矢印: 右 59">
            <a:extLst>
              <a:ext uri="{FF2B5EF4-FFF2-40B4-BE49-F238E27FC236}">
                <a16:creationId xmlns:a16="http://schemas.microsoft.com/office/drawing/2014/main" id="{4D8298BD-6809-4C50-E889-0C5F779DE209}"/>
              </a:ext>
            </a:extLst>
          </p:cNvPr>
          <p:cNvSpPr/>
          <p:nvPr/>
        </p:nvSpPr>
        <p:spPr>
          <a:xfrm>
            <a:off x="1080889" y="5811958"/>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62" name="矢印: 右 61">
            <a:extLst>
              <a:ext uri="{FF2B5EF4-FFF2-40B4-BE49-F238E27FC236}">
                <a16:creationId xmlns:a16="http://schemas.microsoft.com/office/drawing/2014/main" id="{01F0D3B8-3119-304D-228E-ED46B6CAB67D}"/>
              </a:ext>
            </a:extLst>
          </p:cNvPr>
          <p:cNvSpPr/>
          <p:nvPr/>
        </p:nvSpPr>
        <p:spPr>
          <a:xfrm>
            <a:off x="1080889" y="5201704"/>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64" name="正方形/長方形 63">
            <a:extLst>
              <a:ext uri="{FF2B5EF4-FFF2-40B4-BE49-F238E27FC236}">
                <a16:creationId xmlns:a16="http://schemas.microsoft.com/office/drawing/2014/main" id="{9751A61D-8342-2E71-49E2-6F2A585210CF}"/>
              </a:ext>
            </a:extLst>
          </p:cNvPr>
          <p:cNvSpPr/>
          <p:nvPr/>
        </p:nvSpPr>
        <p:spPr>
          <a:xfrm>
            <a:off x="1939984" y="4595881"/>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サンクス</a:t>
            </a:r>
            <a:r>
              <a:rPr kumimoji="1" lang="en-US" altLang="ja-JP"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LINE</a:t>
            </a:r>
            <a:r>
              <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誘導</a:t>
            </a:r>
          </a:p>
        </p:txBody>
      </p:sp>
      <p:sp>
        <p:nvSpPr>
          <p:cNvPr id="66" name="正方形/長方形 65">
            <a:extLst>
              <a:ext uri="{FF2B5EF4-FFF2-40B4-BE49-F238E27FC236}">
                <a16:creationId xmlns:a16="http://schemas.microsoft.com/office/drawing/2014/main" id="{069B86FC-7AC9-2579-6747-94409852E6A9}"/>
              </a:ext>
            </a:extLst>
          </p:cNvPr>
          <p:cNvSpPr/>
          <p:nvPr/>
        </p:nvSpPr>
        <p:spPr>
          <a:xfrm>
            <a:off x="437755" y="4595881"/>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CV</a:t>
            </a: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a:t>
            </a:r>
            <a:r>
              <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mcv</a:t>
            </a: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済</a:t>
            </a:r>
          </a:p>
        </p:txBody>
      </p:sp>
      <p:sp>
        <p:nvSpPr>
          <p:cNvPr id="68" name="正方形/長方形 67">
            <a:extLst>
              <a:ext uri="{FF2B5EF4-FFF2-40B4-BE49-F238E27FC236}">
                <a16:creationId xmlns:a16="http://schemas.microsoft.com/office/drawing/2014/main" id="{259BCB38-DAF2-BC8F-7410-9383C33A3F86}"/>
              </a:ext>
            </a:extLst>
          </p:cNvPr>
          <p:cNvSpPr/>
          <p:nvPr/>
        </p:nvSpPr>
        <p:spPr>
          <a:xfrm>
            <a:off x="437755" y="5214527"/>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保有リスト</a:t>
            </a:r>
          </a:p>
        </p:txBody>
      </p:sp>
      <p:sp>
        <p:nvSpPr>
          <p:cNvPr id="70" name="正方形/長方形 69">
            <a:extLst>
              <a:ext uri="{FF2B5EF4-FFF2-40B4-BE49-F238E27FC236}">
                <a16:creationId xmlns:a16="http://schemas.microsoft.com/office/drawing/2014/main" id="{1F924E3D-9CB9-CA80-4FF6-D62C50842AEB}"/>
              </a:ext>
            </a:extLst>
          </p:cNvPr>
          <p:cNvSpPr/>
          <p:nvPr/>
        </p:nvSpPr>
        <p:spPr>
          <a:xfrm>
            <a:off x="437755" y="5833173"/>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保有リスト</a:t>
            </a:r>
          </a:p>
        </p:txBody>
      </p:sp>
      <p:sp>
        <p:nvSpPr>
          <p:cNvPr id="72" name="正方形/長方形 71">
            <a:extLst>
              <a:ext uri="{FF2B5EF4-FFF2-40B4-BE49-F238E27FC236}">
                <a16:creationId xmlns:a16="http://schemas.microsoft.com/office/drawing/2014/main" id="{048444BF-0B54-4CE2-78C3-B78C7FCD001B}"/>
              </a:ext>
            </a:extLst>
          </p:cNvPr>
          <p:cNvSpPr/>
          <p:nvPr/>
        </p:nvSpPr>
        <p:spPr>
          <a:xfrm>
            <a:off x="1939983" y="5214527"/>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通知メッセ</a:t>
            </a:r>
          </a:p>
        </p:txBody>
      </p:sp>
      <p:sp>
        <p:nvSpPr>
          <p:cNvPr id="74" name="正方形/長方形 73">
            <a:extLst>
              <a:ext uri="{FF2B5EF4-FFF2-40B4-BE49-F238E27FC236}">
                <a16:creationId xmlns:a16="http://schemas.microsoft.com/office/drawing/2014/main" id="{AD971EAE-829E-07E1-B15C-D7B9C5538B0F}"/>
              </a:ext>
            </a:extLst>
          </p:cNvPr>
          <p:cNvSpPr/>
          <p:nvPr/>
        </p:nvSpPr>
        <p:spPr>
          <a:xfrm>
            <a:off x="1939983" y="5833173"/>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メルマガ・テレマ</a:t>
            </a:r>
            <a:endParaRPr kumimoji="1" lang="en-US" altLang="ja-JP"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endParaRPr>
          </a:p>
          <a:p>
            <a:pPr algn="ctr"/>
            <a:r>
              <a:rPr lang="en-US" altLang="ja-JP"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SNS</a:t>
            </a:r>
            <a:r>
              <a:rPr lang="ja-JP" altLang="en-US"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告知</a:t>
            </a: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endParaRPr>
          </a:p>
        </p:txBody>
      </p:sp>
      <p:sp>
        <p:nvSpPr>
          <p:cNvPr id="76" name="正方形/長方形 75">
            <a:extLst>
              <a:ext uri="{FF2B5EF4-FFF2-40B4-BE49-F238E27FC236}">
                <a16:creationId xmlns:a16="http://schemas.microsoft.com/office/drawing/2014/main" id="{1D0E3A14-A5E0-6277-4C0A-37271CE6D04A}"/>
              </a:ext>
            </a:extLst>
          </p:cNvPr>
          <p:cNvSpPr/>
          <p:nvPr/>
        </p:nvSpPr>
        <p:spPr>
          <a:xfrm>
            <a:off x="3442212" y="4595883"/>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endParaRPr>
          </a:p>
        </p:txBody>
      </p:sp>
      <p:sp>
        <p:nvSpPr>
          <p:cNvPr id="78" name="正方形/長方形 77">
            <a:extLst>
              <a:ext uri="{FF2B5EF4-FFF2-40B4-BE49-F238E27FC236}">
                <a16:creationId xmlns:a16="http://schemas.microsoft.com/office/drawing/2014/main" id="{0F8EFC74-4358-EB59-16A6-D864C62AC931}"/>
              </a:ext>
            </a:extLst>
          </p:cNvPr>
          <p:cNvSpPr/>
          <p:nvPr/>
        </p:nvSpPr>
        <p:spPr>
          <a:xfrm>
            <a:off x="3442212" y="5214528"/>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endParaRPr>
          </a:p>
        </p:txBody>
      </p:sp>
      <p:sp>
        <p:nvSpPr>
          <p:cNvPr id="80" name="正方形/長方形 79">
            <a:extLst>
              <a:ext uri="{FF2B5EF4-FFF2-40B4-BE49-F238E27FC236}">
                <a16:creationId xmlns:a16="http://schemas.microsoft.com/office/drawing/2014/main" id="{36006927-A8A5-7A4B-A04C-F5D0808A5304}"/>
              </a:ext>
            </a:extLst>
          </p:cNvPr>
          <p:cNvSpPr/>
          <p:nvPr/>
        </p:nvSpPr>
        <p:spPr>
          <a:xfrm>
            <a:off x="3442212" y="5822247"/>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endParaRPr>
          </a:p>
        </p:txBody>
      </p:sp>
      <p:sp>
        <p:nvSpPr>
          <p:cNvPr id="86" name="Shape 17">
            <a:extLst>
              <a:ext uri="{FF2B5EF4-FFF2-40B4-BE49-F238E27FC236}">
                <a16:creationId xmlns:a16="http://schemas.microsoft.com/office/drawing/2014/main" id="{B77E1FF1-F589-36AA-D779-FABB807F9501}"/>
              </a:ext>
            </a:extLst>
          </p:cNvPr>
          <p:cNvSpPr/>
          <p:nvPr/>
        </p:nvSpPr>
        <p:spPr>
          <a:xfrm>
            <a:off x="3636262" y="2079998"/>
            <a:ext cx="1763487" cy="466492"/>
          </a:xfrm>
          <a:prstGeom prst="rect">
            <a:avLst/>
          </a:prstGeom>
          <a:solidFill>
            <a:srgbClr val="1F2A5C"/>
          </a:solidFill>
          <a:ln w="12700">
            <a:solidFill>
              <a:srgbClr val="CCCCCC"/>
            </a:solidFill>
            <a:prstDash val="solid"/>
          </a:ln>
        </p:spPr>
        <p:txBody>
          <a:bodyPr/>
          <a:lstStyle/>
          <a:p>
            <a:pPr>
              <a:lnSpc>
                <a:spcPct val="135000"/>
              </a:lnSpc>
            </a:pPr>
            <a:r>
              <a:rPr lang="en-US" altLang="ja-JP" sz="800" dirty="0" err="1">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あいさつMSG</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a:t>
            </a:r>
            <a:endPar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a:endParaRPr>
          </a:p>
          <a:p>
            <a:pPr>
              <a:lnSpc>
                <a:spcPct val="135000"/>
              </a:lnSpc>
            </a:pPr>
            <a:r>
              <a:rPr lang="en-US" altLang="ja-JP" sz="800" dirty="0" err="1">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登録特典</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a:t>
            </a:r>
            <a:r>
              <a:rPr lang="en-US" altLang="ja-JP" sz="800" dirty="0" err="1">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資料</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a:t>
            </a:r>
            <a:r>
              <a:rPr lang="en-US" altLang="ja-JP" sz="800" dirty="0" err="1">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診断</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a:t>
            </a:r>
            <a:r>
              <a:rPr lang="en-US" altLang="ja-JP" sz="800" dirty="0" err="1">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自動送付</a:t>
            </a:r>
            <a:endPar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a:endParaRPr>
          </a:p>
        </p:txBody>
      </p:sp>
      <p:sp>
        <p:nvSpPr>
          <p:cNvPr id="88" name="Shape 18">
            <a:extLst>
              <a:ext uri="{FF2B5EF4-FFF2-40B4-BE49-F238E27FC236}">
                <a16:creationId xmlns:a16="http://schemas.microsoft.com/office/drawing/2014/main" id="{CA0F439F-8568-5F59-980B-81BDBE16E656}"/>
              </a:ext>
            </a:extLst>
          </p:cNvPr>
          <p:cNvSpPr/>
          <p:nvPr/>
        </p:nvSpPr>
        <p:spPr>
          <a:xfrm>
            <a:off x="5685390" y="2079998"/>
            <a:ext cx="1763486" cy="466492"/>
          </a:xfrm>
          <a:prstGeom prst="rect">
            <a:avLst/>
          </a:prstGeom>
          <a:solidFill>
            <a:srgbClr val="1F2A5C"/>
          </a:solidFill>
          <a:ln w="12700">
            <a:solidFill>
              <a:srgbClr val="CCCCCC"/>
            </a:solidFill>
            <a:prstDash val="solid"/>
          </a:ln>
        </p:spPr>
        <p:txBody>
          <a:bodyPr/>
          <a:lstStyle/>
          <a:p>
            <a:pPr>
              <a:lnSpc>
                <a:spcPct val="135000"/>
              </a:lnSpc>
            </a:pPr>
            <a:r>
              <a:rPr lang="en-US" altLang="ja-JP" sz="80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教育コンテンツ配信</a:t>
            </a:r>
            <a:endParaRPr lang="en-US" altLang="ja-JP" sz="800">
              <a:solidFill>
                <a:schemeClr val="bg1">
                  <a:lumMod val="65000"/>
                </a:schemeClr>
              </a:solidFill>
              <a:latin typeface="メイリオ" panose="020B0604030504040204" pitchFamily="50" charset="-128"/>
              <a:ea typeface="メイリオ" panose="020B0604030504040204" pitchFamily="50" charset="-128"/>
              <a:cs typeface="メイリオ"/>
            </a:endParaRPr>
          </a:p>
          <a:p>
            <a:pPr>
              <a:lnSpc>
                <a:spcPct val="135000"/>
              </a:lnSpc>
            </a:pPr>
            <a:r>
              <a:rPr lang="en-US" altLang="ja-JP" sz="80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（週1）→ CV誘導オファー</a:t>
            </a:r>
            <a:endPar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a:endParaRPr>
          </a:p>
        </p:txBody>
      </p:sp>
      <p:sp>
        <p:nvSpPr>
          <p:cNvPr id="90" name="Text 22">
            <a:extLst>
              <a:ext uri="{FF2B5EF4-FFF2-40B4-BE49-F238E27FC236}">
                <a16:creationId xmlns:a16="http://schemas.microsoft.com/office/drawing/2014/main" id="{A38D1B69-A9BE-A8D7-FA06-008BBED1A542}"/>
              </a:ext>
            </a:extLst>
          </p:cNvPr>
          <p:cNvSpPr/>
          <p:nvPr/>
        </p:nvSpPr>
        <p:spPr>
          <a:xfrm>
            <a:off x="-1097280" y="1156254"/>
            <a:ext cx="2359152" cy="585216"/>
          </a:xfrm>
          <a:prstGeom prst="rect">
            <a:avLst/>
          </a:prstGeom>
          <a:noFill/>
          <a:ln/>
        </p:spPr>
        <p:txBody>
          <a:bodyPr wrap="square" lIns="0" tIns="0" rIns="0" bIns="0" rtlCol="0" anchor="ctr"/>
          <a:lstStyle/>
          <a:p>
            <a:pPr marL="0" indent="0">
              <a:lnSpc>
                <a:spcPct val="135000"/>
              </a:lnSpc>
              <a:buNone/>
            </a:pPr>
            <a:endParaRPr lang="en-US" sz="900" dirty="0">
              <a:latin typeface="メイリオ"/>
              <a:ea typeface="メイリオ"/>
              <a:cs typeface="メイリオ"/>
            </a:endParaRPr>
          </a:p>
        </p:txBody>
      </p:sp>
      <p:sp>
        <p:nvSpPr>
          <p:cNvPr id="92" name="Text 24">
            <a:extLst>
              <a:ext uri="{FF2B5EF4-FFF2-40B4-BE49-F238E27FC236}">
                <a16:creationId xmlns:a16="http://schemas.microsoft.com/office/drawing/2014/main" id="{56CF8B32-B6D6-0DD2-541C-145309CBBBE1}"/>
              </a:ext>
            </a:extLst>
          </p:cNvPr>
          <p:cNvSpPr/>
          <p:nvPr/>
        </p:nvSpPr>
        <p:spPr>
          <a:xfrm>
            <a:off x="1591056" y="1156254"/>
            <a:ext cx="2944368" cy="585216"/>
          </a:xfrm>
          <a:prstGeom prst="rect">
            <a:avLst/>
          </a:prstGeom>
          <a:noFill/>
          <a:ln/>
        </p:spPr>
        <p:txBody>
          <a:bodyPr wrap="square" lIns="0" tIns="0" rIns="0" bIns="0" rtlCol="0" anchor="ctr"/>
          <a:lstStyle/>
          <a:p>
            <a:pPr marL="0" indent="0">
              <a:lnSpc>
                <a:spcPct val="135000"/>
              </a:lnSpc>
              <a:buNone/>
            </a:pPr>
            <a:endParaRPr lang="en-US" sz="900" dirty="0">
              <a:latin typeface="メイリオ"/>
              <a:ea typeface="メイリオ"/>
              <a:cs typeface="メイリオ"/>
            </a:endParaRPr>
          </a:p>
        </p:txBody>
      </p:sp>
      <p:cxnSp>
        <p:nvCxnSpPr>
          <p:cNvPr id="94" name="直線矢印コネクタ 93">
            <a:extLst>
              <a:ext uri="{FF2B5EF4-FFF2-40B4-BE49-F238E27FC236}">
                <a16:creationId xmlns:a16="http://schemas.microsoft.com/office/drawing/2014/main" id="{F1667E92-F492-3E12-307D-7E98E48B45D9}"/>
              </a:ext>
            </a:extLst>
          </p:cNvPr>
          <p:cNvCxnSpPr>
            <a:endCxn id="88" idx="1"/>
          </p:cNvCxnSpPr>
          <p:nvPr/>
        </p:nvCxnSpPr>
        <p:spPr>
          <a:xfrm>
            <a:off x="5416731" y="2304248"/>
            <a:ext cx="261258"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96" name="Shape 17">
            <a:extLst>
              <a:ext uri="{FF2B5EF4-FFF2-40B4-BE49-F238E27FC236}">
                <a16:creationId xmlns:a16="http://schemas.microsoft.com/office/drawing/2014/main" id="{9BCE046A-F0B6-BBFD-BFCA-03015B84F033}"/>
              </a:ext>
            </a:extLst>
          </p:cNvPr>
          <p:cNvSpPr/>
          <p:nvPr/>
        </p:nvSpPr>
        <p:spPr>
          <a:xfrm>
            <a:off x="3636262" y="2614185"/>
            <a:ext cx="1763487" cy="466492"/>
          </a:xfrm>
          <a:prstGeom prst="rect">
            <a:avLst/>
          </a:prstGeom>
          <a:solidFill>
            <a:srgbClr val="1F2A5C"/>
          </a:solidFill>
          <a:ln w="12700">
            <a:solidFill>
              <a:srgbClr val="CCCCCC"/>
            </a:solidFill>
            <a:prstDash val="solid"/>
          </a:ln>
        </p:spPr>
        <p:txBody>
          <a:bodyPr/>
          <a:lstStyle/>
          <a:p>
            <a:pPr>
              <a:lnSpc>
                <a:spcPct val="135000"/>
              </a:lnSpc>
            </a:pP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KW</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自動応答設定</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 ユーザー意図別に即返信</a:t>
            </a:r>
          </a:p>
        </p:txBody>
      </p:sp>
      <p:sp>
        <p:nvSpPr>
          <p:cNvPr id="98" name="Shape 18">
            <a:extLst>
              <a:ext uri="{FF2B5EF4-FFF2-40B4-BE49-F238E27FC236}">
                <a16:creationId xmlns:a16="http://schemas.microsoft.com/office/drawing/2014/main" id="{14F2BF34-2AB8-9060-75EF-F5ADF9F01344}"/>
              </a:ext>
            </a:extLst>
          </p:cNvPr>
          <p:cNvSpPr/>
          <p:nvPr/>
        </p:nvSpPr>
        <p:spPr>
          <a:xfrm>
            <a:off x="5685390" y="2614185"/>
            <a:ext cx="1763486" cy="466492"/>
          </a:xfrm>
          <a:prstGeom prst="rect">
            <a:avLst/>
          </a:prstGeom>
          <a:solidFill>
            <a:srgbClr val="1F2A5C"/>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ステップ配信（</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7〜14</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通）</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 商談・申込への誘導</a:t>
            </a:r>
          </a:p>
        </p:txBody>
      </p:sp>
      <p:cxnSp>
        <p:nvCxnSpPr>
          <p:cNvPr id="99" name="直線矢印コネクタ 98">
            <a:extLst>
              <a:ext uri="{FF2B5EF4-FFF2-40B4-BE49-F238E27FC236}">
                <a16:creationId xmlns:a16="http://schemas.microsoft.com/office/drawing/2014/main" id="{B31F7370-9528-F602-262C-2CE6C0CA7D95}"/>
              </a:ext>
            </a:extLst>
          </p:cNvPr>
          <p:cNvCxnSpPr>
            <a:cxnSpLocks/>
            <a:stCxn id="96" idx="3"/>
            <a:endCxn id="98" idx="1"/>
          </p:cNvCxnSpPr>
          <p:nvPr/>
        </p:nvCxnSpPr>
        <p:spPr>
          <a:xfrm>
            <a:off x="5399749" y="2847431"/>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03" name="テキスト ボックス 102">
            <a:extLst>
              <a:ext uri="{FF2B5EF4-FFF2-40B4-BE49-F238E27FC236}">
                <a16:creationId xmlns:a16="http://schemas.microsoft.com/office/drawing/2014/main" id="{CB5BD751-9EE2-F77E-B237-6EBEA67F4576}"/>
              </a:ext>
            </a:extLst>
          </p:cNvPr>
          <p:cNvSpPr txBox="1"/>
          <p:nvPr/>
        </p:nvSpPr>
        <p:spPr>
          <a:xfrm>
            <a:off x="7693132" y="1562739"/>
            <a:ext cx="1874173" cy="430887"/>
          </a:xfrm>
          <a:prstGeom prst="rect">
            <a:avLst/>
          </a:prstGeom>
          <a:noFill/>
        </p:spPr>
        <p:txBody>
          <a:bodyPr wrap="square">
            <a:spAutoFit/>
          </a:bodyPr>
          <a:lstStyle/>
          <a:p>
            <a:pPr algn="ctr"/>
            <a:r>
              <a:rPr kumimoji="1" lang="en-US" altLang="ja-JP" sz="1100" b="1" dirty="0">
                <a:solidFill>
                  <a:srgbClr val="1F2A5C"/>
                </a:solidFill>
                <a:latin typeface="メイリオ" panose="020B0604030504040204" pitchFamily="50" charset="-128"/>
                <a:ea typeface="メイリオ" panose="020B0604030504040204" pitchFamily="50" charset="-128"/>
                <a:cs typeface="メイリオ"/>
              </a:rPr>
              <a:t>CV</a:t>
            </a:r>
            <a:r>
              <a:rPr kumimoji="1" lang="ja-JP" altLang="en-US" sz="1100" b="1" dirty="0">
                <a:solidFill>
                  <a:srgbClr val="1F2A5C"/>
                </a:solidFill>
                <a:latin typeface="メイリオ" panose="020B0604030504040204" pitchFamily="50" charset="-128"/>
                <a:ea typeface="メイリオ" panose="020B0604030504040204" pitchFamily="50" charset="-128"/>
                <a:cs typeface="メイリオ"/>
              </a:rPr>
              <a:t>するユーザー割合</a:t>
            </a:r>
            <a:endParaRPr kumimoji="1" lang="en-US" altLang="ja-JP" sz="1100" b="1" dirty="0">
              <a:solidFill>
                <a:srgbClr val="1F2A5C"/>
              </a:solidFill>
              <a:latin typeface="メイリオ" panose="020B0604030504040204" pitchFamily="50" charset="-128"/>
              <a:ea typeface="メイリオ" panose="020B0604030504040204" pitchFamily="50" charset="-128"/>
              <a:cs typeface="メイリオ"/>
            </a:endParaRPr>
          </a:p>
          <a:p>
            <a:pPr algn="ctr"/>
            <a:r>
              <a:rPr lang="en-US" altLang="ja-JP" sz="1000" dirty="0">
                <a:solidFill>
                  <a:srgbClr val="1F2A5C"/>
                </a:solidFill>
                <a:latin typeface="メイリオ" panose="020B0604030504040204" pitchFamily="50" charset="-128"/>
                <a:ea typeface="メイリオ" panose="020B0604030504040204" pitchFamily="50" charset="-128"/>
                <a:cs typeface="メイリオ"/>
              </a:rPr>
              <a:t>※</a:t>
            </a:r>
            <a:r>
              <a:rPr lang="ja-JP" altLang="en-US" sz="1000" dirty="0">
                <a:solidFill>
                  <a:srgbClr val="1F2A5C"/>
                </a:solidFill>
                <a:latin typeface="メイリオ" panose="020B0604030504040204" pitchFamily="50" charset="-128"/>
                <a:ea typeface="メイリオ" panose="020B0604030504040204" pitchFamily="50" charset="-128"/>
                <a:cs typeface="メイリオ"/>
              </a:rPr>
              <a:t>平均値</a:t>
            </a:r>
            <a:endParaRPr kumimoji="1" lang="ja-JP" altLang="en-US" sz="1000" dirty="0">
              <a:solidFill>
                <a:srgbClr val="1F2A5C"/>
              </a:solidFill>
              <a:latin typeface="メイリオ" panose="020B0604030504040204" pitchFamily="50" charset="-128"/>
              <a:ea typeface="メイリオ" panose="020B0604030504040204" pitchFamily="50" charset="-128"/>
              <a:cs typeface="メイリオ"/>
            </a:endParaRPr>
          </a:p>
        </p:txBody>
      </p:sp>
      <p:sp>
        <p:nvSpPr>
          <p:cNvPr id="105" name="テキスト ボックス 104">
            <a:extLst>
              <a:ext uri="{FF2B5EF4-FFF2-40B4-BE49-F238E27FC236}">
                <a16:creationId xmlns:a16="http://schemas.microsoft.com/office/drawing/2014/main" id="{55562E1F-54CF-8256-1530-F264D924D0C4}"/>
              </a:ext>
            </a:extLst>
          </p:cNvPr>
          <p:cNvSpPr txBox="1"/>
          <p:nvPr/>
        </p:nvSpPr>
        <p:spPr>
          <a:xfrm>
            <a:off x="7844989" y="2313983"/>
            <a:ext cx="1361106" cy="523220"/>
          </a:xfrm>
          <a:prstGeom prst="rect">
            <a:avLst/>
          </a:prstGeom>
          <a:noFill/>
        </p:spPr>
        <p:txBody>
          <a:bodyPr wrap="square">
            <a:spAutoFit/>
          </a:bodyPr>
          <a:lstStyle/>
          <a:p>
            <a:pPr algn="r"/>
            <a:r>
              <a:rPr kumimoji="1" lang="ja-JP" altLang="en-US" sz="2800" b="1" dirty="0">
                <a:solidFill>
                  <a:srgbClr val="1F2A5C"/>
                </a:solidFill>
                <a:latin typeface="メイリオ" panose="020B0604030504040204" pitchFamily="50" charset="-128"/>
                <a:ea typeface="メイリオ" panose="020B0604030504040204" pitchFamily="50" charset="-128"/>
                <a:cs typeface="メイリオ"/>
              </a:rPr>
              <a:t>３</a:t>
            </a:r>
            <a:r>
              <a:rPr kumimoji="1" lang="ja-JP" altLang="en-US" sz="2400" b="1" dirty="0">
                <a:solidFill>
                  <a:srgbClr val="1F2A5C"/>
                </a:solidFill>
                <a:latin typeface="メイリオ" panose="020B0604030504040204" pitchFamily="50" charset="-128"/>
                <a:ea typeface="メイリオ" panose="020B0604030504040204" pitchFamily="50" charset="-128"/>
                <a:cs typeface="メイリオ"/>
              </a:rPr>
              <a:t>％</a:t>
            </a:r>
            <a:endParaRPr lang="ja-JP" altLang="en-US" sz="2400" dirty="0">
              <a:solidFill>
                <a:srgbClr val="1F2A5C"/>
              </a:solidFill>
              <a:latin typeface="メイリオ"/>
              <a:ea typeface="メイリオ"/>
              <a:cs typeface="メイリオ"/>
            </a:endParaRPr>
          </a:p>
        </p:txBody>
      </p:sp>
      <p:sp>
        <p:nvSpPr>
          <p:cNvPr id="107" name="テキスト ボックス 106">
            <a:extLst>
              <a:ext uri="{FF2B5EF4-FFF2-40B4-BE49-F238E27FC236}">
                <a16:creationId xmlns:a16="http://schemas.microsoft.com/office/drawing/2014/main" id="{0D6F6472-C1C9-8DD7-5969-2F70988996B7}"/>
              </a:ext>
            </a:extLst>
          </p:cNvPr>
          <p:cNvSpPr txBox="1"/>
          <p:nvPr/>
        </p:nvSpPr>
        <p:spPr>
          <a:xfrm>
            <a:off x="7830986" y="3258904"/>
            <a:ext cx="1361106" cy="523220"/>
          </a:xfrm>
          <a:prstGeom prst="rect">
            <a:avLst/>
          </a:prstGeom>
          <a:noFill/>
        </p:spPr>
        <p:txBody>
          <a:bodyPr wrap="square">
            <a:spAutoFit/>
          </a:bodyPr>
          <a:lstStyle/>
          <a:p>
            <a:pPr algn="r"/>
            <a:r>
              <a:rPr kumimoji="1" lang="en-US" altLang="ja-JP" sz="2800" b="1" dirty="0">
                <a:solidFill>
                  <a:srgbClr val="1F2A5C"/>
                </a:solidFill>
                <a:latin typeface="メイリオ" panose="020B0604030504040204" pitchFamily="50" charset="-128"/>
                <a:ea typeface="メイリオ" panose="020B0604030504040204" pitchFamily="50" charset="-128"/>
                <a:cs typeface="メイリオ"/>
              </a:rPr>
              <a:t>1.5</a:t>
            </a:r>
            <a:r>
              <a:rPr kumimoji="1" lang="ja-JP" altLang="en-US" sz="2400" b="1" dirty="0">
                <a:solidFill>
                  <a:srgbClr val="1F2A5C"/>
                </a:solidFill>
                <a:latin typeface="メイリオ" panose="020B0604030504040204" pitchFamily="50" charset="-128"/>
                <a:ea typeface="メイリオ" panose="020B0604030504040204" pitchFamily="50" charset="-128"/>
                <a:cs typeface="メイリオ"/>
              </a:rPr>
              <a:t>％</a:t>
            </a:r>
            <a:endParaRPr lang="ja-JP" altLang="en-US" sz="2400" dirty="0">
              <a:solidFill>
                <a:srgbClr val="1F2A5C"/>
              </a:solidFill>
              <a:latin typeface="メイリオ"/>
              <a:ea typeface="メイリオ"/>
              <a:cs typeface="メイリオ"/>
            </a:endParaRPr>
          </a:p>
        </p:txBody>
      </p:sp>
      <p:sp>
        <p:nvSpPr>
          <p:cNvPr id="109" name="テキスト ボックス 108">
            <a:extLst>
              <a:ext uri="{FF2B5EF4-FFF2-40B4-BE49-F238E27FC236}">
                <a16:creationId xmlns:a16="http://schemas.microsoft.com/office/drawing/2014/main" id="{3EBEB224-105E-FCC6-752F-0DC0ACDDFEFC}"/>
              </a:ext>
            </a:extLst>
          </p:cNvPr>
          <p:cNvSpPr txBox="1"/>
          <p:nvPr/>
        </p:nvSpPr>
        <p:spPr>
          <a:xfrm>
            <a:off x="7844989" y="3964707"/>
            <a:ext cx="1361106" cy="523220"/>
          </a:xfrm>
          <a:prstGeom prst="rect">
            <a:avLst/>
          </a:prstGeom>
          <a:noFill/>
        </p:spPr>
        <p:txBody>
          <a:bodyPr wrap="square">
            <a:spAutoFit/>
          </a:bodyPr>
          <a:lstStyle/>
          <a:p>
            <a:pPr algn="r"/>
            <a:r>
              <a:rPr kumimoji="1" lang="en-US" altLang="ja-JP" sz="2800" b="1" dirty="0">
                <a:solidFill>
                  <a:srgbClr val="1F2A5C"/>
                </a:solidFill>
                <a:latin typeface="メイリオ" panose="020B0604030504040204" pitchFamily="50" charset="-128"/>
                <a:ea typeface="メイリオ" panose="020B0604030504040204" pitchFamily="50" charset="-128"/>
                <a:cs typeface="メイリオ"/>
              </a:rPr>
              <a:t>2.5</a:t>
            </a:r>
            <a:r>
              <a:rPr kumimoji="1" lang="ja-JP" altLang="en-US" sz="2400" b="1" dirty="0">
                <a:solidFill>
                  <a:srgbClr val="1F2A5C"/>
                </a:solidFill>
                <a:latin typeface="メイリオ" panose="020B0604030504040204" pitchFamily="50" charset="-128"/>
                <a:ea typeface="メイリオ" panose="020B0604030504040204" pitchFamily="50" charset="-128"/>
                <a:cs typeface="メイリオ"/>
              </a:rPr>
              <a:t>％</a:t>
            </a:r>
            <a:endParaRPr lang="ja-JP" altLang="en-US" sz="2400" dirty="0">
              <a:solidFill>
                <a:srgbClr val="1F2A5C"/>
              </a:solidFill>
              <a:latin typeface="メイリオ"/>
              <a:ea typeface="メイリオ"/>
              <a:cs typeface="メイリオ"/>
            </a:endParaRPr>
          </a:p>
        </p:txBody>
      </p:sp>
      <p:sp>
        <p:nvSpPr>
          <p:cNvPr id="111" name="テキスト ボックス 110">
            <a:extLst>
              <a:ext uri="{FF2B5EF4-FFF2-40B4-BE49-F238E27FC236}">
                <a16:creationId xmlns:a16="http://schemas.microsoft.com/office/drawing/2014/main" id="{F26B0A2E-9DBA-FEE5-637F-02A225C02C23}"/>
              </a:ext>
            </a:extLst>
          </p:cNvPr>
          <p:cNvSpPr txBox="1"/>
          <p:nvPr/>
        </p:nvSpPr>
        <p:spPr>
          <a:xfrm>
            <a:off x="7830985" y="4604843"/>
            <a:ext cx="1361106" cy="523220"/>
          </a:xfrm>
          <a:prstGeom prst="rect">
            <a:avLst/>
          </a:prstGeom>
          <a:noFill/>
        </p:spPr>
        <p:txBody>
          <a:bodyPr wrap="square">
            <a:spAutoFit/>
          </a:bodyPr>
          <a:lstStyle/>
          <a:p>
            <a:pPr algn="r"/>
            <a:r>
              <a:rPr kumimoji="1" lang="en-US" altLang="ja-JP" sz="2800" b="1" dirty="0">
                <a:solidFill>
                  <a:srgbClr val="1F2A5C"/>
                </a:solidFill>
                <a:latin typeface="メイリオ" panose="020B0604030504040204" pitchFamily="50" charset="-128"/>
                <a:ea typeface="メイリオ" panose="020B0604030504040204" pitchFamily="50" charset="-128"/>
                <a:cs typeface="メイリオ"/>
              </a:rPr>
              <a:t>2.5</a:t>
            </a:r>
            <a:r>
              <a:rPr kumimoji="1" lang="ja-JP" altLang="en-US" sz="2400" b="1" dirty="0">
                <a:solidFill>
                  <a:srgbClr val="1F2A5C"/>
                </a:solidFill>
                <a:latin typeface="メイリオ" panose="020B0604030504040204" pitchFamily="50" charset="-128"/>
                <a:ea typeface="メイリオ" panose="020B0604030504040204" pitchFamily="50" charset="-128"/>
                <a:cs typeface="メイリオ"/>
              </a:rPr>
              <a:t>％</a:t>
            </a:r>
            <a:endParaRPr lang="ja-JP" altLang="en-US" sz="2400" dirty="0">
              <a:solidFill>
                <a:srgbClr val="1F2A5C"/>
              </a:solidFill>
              <a:latin typeface="メイリオ"/>
              <a:ea typeface="メイリオ"/>
              <a:cs typeface="メイリオ"/>
            </a:endParaRPr>
          </a:p>
        </p:txBody>
      </p:sp>
      <p:sp>
        <p:nvSpPr>
          <p:cNvPr id="113" name="テキスト ボックス 112">
            <a:extLst>
              <a:ext uri="{FF2B5EF4-FFF2-40B4-BE49-F238E27FC236}">
                <a16:creationId xmlns:a16="http://schemas.microsoft.com/office/drawing/2014/main" id="{0C0FA132-24D2-97C7-D00F-5A970556EB00}"/>
              </a:ext>
            </a:extLst>
          </p:cNvPr>
          <p:cNvSpPr txBox="1"/>
          <p:nvPr/>
        </p:nvSpPr>
        <p:spPr>
          <a:xfrm>
            <a:off x="7830985" y="5229016"/>
            <a:ext cx="1361106" cy="523220"/>
          </a:xfrm>
          <a:prstGeom prst="rect">
            <a:avLst/>
          </a:prstGeom>
          <a:noFill/>
        </p:spPr>
        <p:txBody>
          <a:bodyPr wrap="square">
            <a:spAutoFit/>
          </a:bodyPr>
          <a:lstStyle/>
          <a:p>
            <a:pPr algn="r"/>
            <a:r>
              <a:rPr kumimoji="1" lang="en-US" altLang="ja-JP" sz="2800" b="1" dirty="0">
                <a:solidFill>
                  <a:srgbClr val="1F2A5C"/>
                </a:solidFill>
                <a:latin typeface="メイリオ" panose="020B0604030504040204" pitchFamily="50" charset="-128"/>
                <a:ea typeface="メイリオ" panose="020B0604030504040204" pitchFamily="50" charset="-128"/>
                <a:cs typeface="メイリオ"/>
              </a:rPr>
              <a:t>2.5</a:t>
            </a:r>
            <a:r>
              <a:rPr kumimoji="1" lang="ja-JP" altLang="en-US" sz="2400" b="1" dirty="0">
                <a:solidFill>
                  <a:srgbClr val="1F2A5C"/>
                </a:solidFill>
                <a:latin typeface="メイリオ" panose="020B0604030504040204" pitchFamily="50" charset="-128"/>
                <a:ea typeface="メイリオ" panose="020B0604030504040204" pitchFamily="50" charset="-128"/>
                <a:cs typeface="メイリオ"/>
              </a:rPr>
              <a:t>％</a:t>
            </a:r>
            <a:endParaRPr lang="ja-JP" altLang="en-US" sz="2400" dirty="0">
              <a:solidFill>
                <a:srgbClr val="1F2A5C"/>
              </a:solidFill>
              <a:latin typeface="メイリオ"/>
              <a:ea typeface="メイリオ"/>
              <a:cs typeface="メイリオ"/>
            </a:endParaRPr>
          </a:p>
        </p:txBody>
      </p:sp>
      <p:sp>
        <p:nvSpPr>
          <p:cNvPr id="115" name="テキスト ボックス 114">
            <a:extLst>
              <a:ext uri="{FF2B5EF4-FFF2-40B4-BE49-F238E27FC236}">
                <a16:creationId xmlns:a16="http://schemas.microsoft.com/office/drawing/2014/main" id="{FD400E85-93A8-6ADB-337D-4AC8973CAF45}"/>
              </a:ext>
            </a:extLst>
          </p:cNvPr>
          <p:cNvSpPr txBox="1"/>
          <p:nvPr/>
        </p:nvSpPr>
        <p:spPr>
          <a:xfrm>
            <a:off x="7830985" y="5834851"/>
            <a:ext cx="1361106" cy="523220"/>
          </a:xfrm>
          <a:prstGeom prst="rect">
            <a:avLst/>
          </a:prstGeom>
          <a:noFill/>
        </p:spPr>
        <p:txBody>
          <a:bodyPr wrap="square">
            <a:spAutoFit/>
          </a:bodyPr>
          <a:lstStyle/>
          <a:p>
            <a:pPr algn="r"/>
            <a:r>
              <a:rPr kumimoji="1" lang="en-US" altLang="ja-JP" sz="2800" b="1" dirty="0">
                <a:solidFill>
                  <a:srgbClr val="1F2A5C"/>
                </a:solidFill>
                <a:latin typeface="メイリオ" panose="020B0604030504040204" pitchFamily="50" charset="-128"/>
                <a:ea typeface="メイリオ" panose="020B0604030504040204" pitchFamily="50" charset="-128"/>
                <a:cs typeface="メイリオ"/>
              </a:rPr>
              <a:t>2</a:t>
            </a:r>
            <a:r>
              <a:rPr kumimoji="1" lang="ja-JP" altLang="en-US" sz="2400" b="1" dirty="0">
                <a:solidFill>
                  <a:srgbClr val="1F2A5C"/>
                </a:solidFill>
                <a:latin typeface="メイリオ" panose="020B0604030504040204" pitchFamily="50" charset="-128"/>
                <a:ea typeface="メイリオ" panose="020B0604030504040204" pitchFamily="50" charset="-128"/>
                <a:cs typeface="メイリオ"/>
              </a:rPr>
              <a:t>％</a:t>
            </a:r>
            <a:endParaRPr lang="ja-JP" altLang="en-US" sz="2400" dirty="0">
              <a:solidFill>
                <a:srgbClr val="1F2A5C"/>
              </a:solidFill>
              <a:latin typeface="メイリオ"/>
              <a:ea typeface="メイリオ"/>
              <a:cs typeface="メイリオ"/>
            </a:endParaRPr>
          </a:p>
        </p:txBody>
      </p:sp>
      <p:sp>
        <p:nvSpPr>
          <p:cNvPr id="116" name="Shape 17">
            <a:extLst>
              <a:ext uri="{FF2B5EF4-FFF2-40B4-BE49-F238E27FC236}">
                <a16:creationId xmlns:a16="http://schemas.microsoft.com/office/drawing/2014/main" id="{1CA555AB-71AF-EB14-1D64-C35A07A084CC}"/>
              </a:ext>
            </a:extLst>
          </p:cNvPr>
          <p:cNvSpPr/>
          <p:nvPr/>
        </p:nvSpPr>
        <p:spPr>
          <a:xfrm>
            <a:off x="3636262" y="3291869"/>
            <a:ext cx="1763487" cy="466492"/>
          </a:xfrm>
          <a:prstGeom prst="rect">
            <a:avLst/>
          </a:prstGeom>
          <a:solidFill>
            <a:srgbClr val="1F2A5C"/>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スクリーニングアンケート</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3</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問）→ セグメント分類</a:t>
            </a:r>
          </a:p>
        </p:txBody>
      </p:sp>
      <p:sp>
        <p:nvSpPr>
          <p:cNvPr id="117" name="Shape 18">
            <a:extLst>
              <a:ext uri="{FF2B5EF4-FFF2-40B4-BE49-F238E27FC236}">
                <a16:creationId xmlns:a16="http://schemas.microsoft.com/office/drawing/2014/main" id="{019053B5-0AD3-160E-B42A-8528F025A84E}"/>
              </a:ext>
            </a:extLst>
          </p:cNvPr>
          <p:cNvSpPr/>
          <p:nvPr/>
        </p:nvSpPr>
        <p:spPr>
          <a:xfrm>
            <a:off x="5685390" y="3291869"/>
            <a:ext cx="1763486" cy="466492"/>
          </a:xfrm>
          <a:prstGeom prst="rect">
            <a:avLst/>
          </a:prstGeom>
          <a:solidFill>
            <a:srgbClr val="1F2A5C"/>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セグメント別シナリオ配信</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ホットリード</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即スタッフ対応</a:t>
            </a:r>
          </a:p>
        </p:txBody>
      </p:sp>
      <p:cxnSp>
        <p:nvCxnSpPr>
          <p:cNvPr id="118" name="直線矢印コネクタ 117">
            <a:extLst>
              <a:ext uri="{FF2B5EF4-FFF2-40B4-BE49-F238E27FC236}">
                <a16:creationId xmlns:a16="http://schemas.microsoft.com/office/drawing/2014/main" id="{48AC5144-1E7E-4082-003A-97A6D96D2994}"/>
              </a:ext>
            </a:extLst>
          </p:cNvPr>
          <p:cNvCxnSpPr>
            <a:cxnSpLocks/>
            <a:stCxn id="116" idx="3"/>
            <a:endCxn id="117" idx="1"/>
          </p:cNvCxnSpPr>
          <p:nvPr/>
        </p:nvCxnSpPr>
        <p:spPr>
          <a:xfrm>
            <a:off x="5399749" y="3525115"/>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19" name="Shape 17">
            <a:extLst>
              <a:ext uri="{FF2B5EF4-FFF2-40B4-BE49-F238E27FC236}">
                <a16:creationId xmlns:a16="http://schemas.microsoft.com/office/drawing/2014/main" id="{03AA9053-24E8-182C-23AA-4BEA28F1863B}"/>
              </a:ext>
            </a:extLst>
          </p:cNvPr>
          <p:cNvSpPr/>
          <p:nvPr/>
        </p:nvSpPr>
        <p:spPr>
          <a:xfrm>
            <a:off x="3636262" y="4032727"/>
            <a:ext cx="1763487" cy="466492"/>
          </a:xfrm>
          <a:prstGeom prst="rect">
            <a:avLst/>
          </a:prstGeom>
          <a:solidFill>
            <a:srgbClr val="1F2A5C"/>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サンクス自動</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MSG</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次のアクション案内</a:t>
            </a:r>
          </a:p>
        </p:txBody>
      </p:sp>
      <p:sp>
        <p:nvSpPr>
          <p:cNvPr id="120" name="Shape 18">
            <a:extLst>
              <a:ext uri="{FF2B5EF4-FFF2-40B4-BE49-F238E27FC236}">
                <a16:creationId xmlns:a16="http://schemas.microsoft.com/office/drawing/2014/main" id="{760C890D-1868-9325-4069-2354337B0399}"/>
              </a:ext>
            </a:extLst>
          </p:cNvPr>
          <p:cNvSpPr/>
          <p:nvPr/>
        </p:nvSpPr>
        <p:spPr>
          <a:xfrm>
            <a:off x="5685390" y="4032727"/>
            <a:ext cx="1763486" cy="466492"/>
          </a:xfrm>
          <a:prstGeom prst="rect">
            <a:avLst/>
          </a:prstGeom>
          <a:solidFill>
            <a:srgbClr val="1F2A5C"/>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リマインド配信</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クロスセル・アップセル</a:t>
            </a:r>
          </a:p>
        </p:txBody>
      </p:sp>
      <p:cxnSp>
        <p:nvCxnSpPr>
          <p:cNvPr id="121" name="直線矢印コネクタ 120">
            <a:extLst>
              <a:ext uri="{FF2B5EF4-FFF2-40B4-BE49-F238E27FC236}">
                <a16:creationId xmlns:a16="http://schemas.microsoft.com/office/drawing/2014/main" id="{CE344BB3-FFA2-50D7-ADEA-7AA9C56BA1E2}"/>
              </a:ext>
            </a:extLst>
          </p:cNvPr>
          <p:cNvCxnSpPr>
            <a:cxnSpLocks/>
            <a:stCxn id="119" idx="3"/>
            <a:endCxn id="120" idx="1"/>
          </p:cNvCxnSpPr>
          <p:nvPr/>
        </p:nvCxnSpPr>
        <p:spPr>
          <a:xfrm>
            <a:off x="5399749" y="4265973"/>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22" name="Shape 17">
            <a:extLst>
              <a:ext uri="{FF2B5EF4-FFF2-40B4-BE49-F238E27FC236}">
                <a16:creationId xmlns:a16="http://schemas.microsoft.com/office/drawing/2014/main" id="{9439D4FC-6ABA-77F9-BCBC-39518FFF0A4B}"/>
              </a:ext>
            </a:extLst>
          </p:cNvPr>
          <p:cNvSpPr/>
          <p:nvPr/>
        </p:nvSpPr>
        <p:spPr>
          <a:xfrm>
            <a:off x="3636262" y="4639113"/>
            <a:ext cx="1763487" cy="466492"/>
          </a:xfrm>
          <a:prstGeom prst="rect">
            <a:avLst/>
          </a:prstGeom>
          <a:solidFill>
            <a:srgbClr val="1F2A5C"/>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スクリーニング（</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3</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問）</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温度感・ニーズ把握</a:t>
            </a:r>
          </a:p>
        </p:txBody>
      </p:sp>
      <p:sp>
        <p:nvSpPr>
          <p:cNvPr id="123" name="Shape 18">
            <a:extLst>
              <a:ext uri="{FF2B5EF4-FFF2-40B4-BE49-F238E27FC236}">
                <a16:creationId xmlns:a16="http://schemas.microsoft.com/office/drawing/2014/main" id="{E23B94EA-C025-B46E-3CFE-6F951848C924}"/>
              </a:ext>
            </a:extLst>
          </p:cNvPr>
          <p:cNvSpPr/>
          <p:nvPr/>
        </p:nvSpPr>
        <p:spPr>
          <a:xfrm>
            <a:off x="5685390" y="4639113"/>
            <a:ext cx="1763486" cy="466492"/>
          </a:xfrm>
          <a:prstGeom prst="rect">
            <a:avLst/>
          </a:prstGeom>
          <a:solidFill>
            <a:srgbClr val="1F2A5C"/>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有効リード育成シナリオ</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 商談・再購入誘導</a:t>
            </a:r>
          </a:p>
        </p:txBody>
      </p:sp>
      <p:cxnSp>
        <p:nvCxnSpPr>
          <p:cNvPr id="124" name="直線矢印コネクタ 123">
            <a:extLst>
              <a:ext uri="{FF2B5EF4-FFF2-40B4-BE49-F238E27FC236}">
                <a16:creationId xmlns:a16="http://schemas.microsoft.com/office/drawing/2014/main" id="{83F28A8E-5BD4-6CFE-A1AB-95F3F23ADFC2}"/>
              </a:ext>
            </a:extLst>
          </p:cNvPr>
          <p:cNvCxnSpPr>
            <a:cxnSpLocks/>
            <a:stCxn id="122" idx="3"/>
            <a:endCxn id="123" idx="1"/>
          </p:cNvCxnSpPr>
          <p:nvPr/>
        </p:nvCxnSpPr>
        <p:spPr>
          <a:xfrm>
            <a:off x="5399749" y="4872359"/>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25" name="Shape 17">
            <a:extLst>
              <a:ext uri="{FF2B5EF4-FFF2-40B4-BE49-F238E27FC236}">
                <a16:creationId xmlns:a16="http://schemas.microsoft.com/office/drawing/2014/main" id="{6D4CD712-1339-1DEA-1A5F-9F51874CCCB1}"/>
              </a:ext>
            </a:extLst>
          </p:cNvPr>
          <p:cNvSpPr/>
          <p:nvPr/>
        </p:nvSpPr>
        <p:spPr>
          <a:xfrm>
            <a:off x="3636262" y="5262884"/>
            <a:ext cx="1763487" cy="466492"/>
          </a:xfrm>
          <a:prstGeom prst="rect">
            <a:avLst/>
          </a:prstGeom>
          <a:solidFill>
            <a:srgbClr val="1F2A5C"/>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一斉配信でリスト活性化</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アンケートで属性把握</a:t>
            </a:r>
          </a:p>
        </p:txBody>
      </p:sp>
      <p:sp>
        <p:nvSpPr>
          <p:cNvPr id="126" name="Shape 18">
            <a:extLst>
              <a:ext uri="{FF2B5EF4-FFF2-40B4-BE49-F238E27FC236}">
                <a16:creationId xmlns:a16="http://schemas.microsoft.com/office/drawing/2014/main" id="{5F976E27-1C09-25DE-2664-7D927081F231}"/>
              </a:ext>
            </a:extLst>
          </p:cNvPr>
          <p:cNvSpPr/>
          <p:nvPr/>
        </p:nvSpPr>
        <p:spPr>
          <a:xfrm>
            <a:off x="5685390" y="5262884"/>
            <a:ext cx="1763486" cy="466492"/>
          </a:xfrm>
          <a:prstGeom prst="rect">
            <a:avLst/>
          </a:prstGeom>
          <a:solidFill>
            <a:srgbClr val="1F2A5C"/>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セグメント別ナーチャリング</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季節・タイミング別企画配信</a:t>
            </a:r>
          </a:p>
        </p:txBody>
      </p:sp>
      <p:cxnSp>
        <p:nvCxnSpPr>
          <p:cNvPr id="127" name="直線矢印コネクタ 126">
            <a:extLst>
              <a:ext uri="{FF2B5EF4-FFF2-40B4-BE49-F238E27FC236}">
                <a16:creationId xmlns:a16="http://schemas.microsoft.com/office/drawing/2014/main" id="{82C1A774-7713-D5A5-03F8-DCE7AD58DB1B}"/>
              </a:ext>
            </a:extLst>
          </p:cNvPr>
          <p:cNvCxnSpPr>
            <a:cxnSpLocks/>
            <a:stCxn id="125" idx="3"/>
            <a:endCxn id="126" idx="1"/>
          </p:cNvCxnSpPr>
          <p:nvPr/>
        </p:nvCxnSpPr>
        <p:spPr>
          <a:xfrm>
            <a:off x="5399749" y="5496130"/>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28" name="Shape 17">
            <a:extLst>
              <a:ext uri="{FF2B5EF4-FFF2-40B4-BE49-F238E27FC236}">
                <a16:creationId xmlns:a16="http://schemas.microsoft.com/office/drawing/2014/main" id="{CC857E24-C3F9-53FF-5D44-B2CE0DE30602}"/>
              </a:ext>
            </a:extLst>
          </p:cNvPr>
          <p:cNvSpPr/>
          <p:nvPr/>
        </p:nvSpPr>
        <p:spPr>
          <a:xfrm>
            <a:off x="3636262" y="5871273"/>
            <a:ext cx="1763487" cy="466492"/>
          </a:xfrm>
          <a:prstGeom prst="rect">
            <a:avLst/>
          </a:prstGeom>
          <a:solidFill>
            <a:srgbClr val="1F2A5C"/>
          </a:solidFill>
          <a:ln w="12700">
            <a:solidFill>
              <a:srgbClr val="CCCCCC"/>
            </a:solidFill>
            <a:prstDash val="solid"/>
          </a:ln>
        </p:spPr>
        <p:txBody>
          <a:bodyPr/>
          <a:lstStyle/>
          <a:p>
            <a:pPr>
              <a:lnSpc>
                <a:spcPct val="135000"/>
              </a:lnSpc>
            </a:pP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LINE</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移行キャンペーン</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（特典訴求で友だち追加促進）</a:t>
            </a:r>
          </a:p>
        </p:txBody>
      </p:sp>
      <p:sp>
        <p:nvSpPr>
          <p:cNvPr id="129" name="Shape 18">
            <a:extLst>
              <a:ext uri="{FF2B5EF4-FFF2-40B4-BE49-F238E27FC236}">
                <a16:creationId xmlns:a16="http://schemas.microsoft.com/office/drawing/2014/main" id="{496CBE75-90FF-44E1-05AA-F85C409960A4}"/>
              </a:ext>
            </a:extLst>
          </p:cNvPr>
          <p:cNvSpPr/>
          <p:nvPr/>
        </p:nvSpPr>
        <p:spPr>
          <a:xfrm>
            <a:off x="5685390" y="5871273"/>
            <a:ext cx="1763486" cy="466492"/>
          </a:xfrm>
          <a:prstGeom prst="rect">
            <a:avLst/>
          </a:prstGeom>
          <a:solidFill>
            <a:srgbClr val="1F2A5C"/>
          </a:solidFill>
          <a:ln w="12700">
            <a:solidFill>
              <a:srgbClr val="CCCCCC"/>
            </a:solidFill>
            <a:prstDash val="solid"/>
          </a:ln>
        </p:spPr>
        <p:txBody>
          <a:bodyPr/>
          <a:lstStyle/>
          <a:p>
            <a:pPr>
              <a:lnSpc>
                <a:spcPct val="135000"/>
              </a:lnSpc>
            </a:pP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LINE</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でリピート率向上</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紹介キャンペーン・</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LTV</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最大化</a:t>
            </a:r>
          </a:p>
        </p:txBody>
      </p:sp>
      <p:cxnSp>
        <p:nvCxnSpPr>
          <p:cNvPr id="130" name="直線矢印コネクタ 129">
            <a:extLst>
              <a:ext uri="{FF2B5EF4-FFF2-40B4-BE49-F238E27FC236}">
                <a16:creationId xmlns:a16="http://schemas.microsoft.com/office/drawing/2014/main" id="{D05BCA3B-7E23-AB71-18F0-5A49C04E309D}"/>
              </a:ext>
            </a:extLst>
          </p:cNvPr>
          <p:cNvCxnSpPr>
            <a:cxnSpLocks/>
            <a:stCxn id="128" idx="3"/>
            <a:endCxn id="129" idx="1"/>
          </p:cNvCxnSpPr>
          <p:nvPr/>
        </p:nvCxnSpPr>
        <p:spPr>
          <a:xfrm>
            <a:off x="5399749" y="6104519"/>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6988837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角丸四角形 6"/>
          <p:cNvSpPr/>
          <p:nvPr/>
        </p:nvSpPr>
        <p:spPr>
          <a:xfrm>
            <a:off x="3459839" y="1776142"/>
            <a:ext cx="2986322" cy="4471347"/>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lang="ja-JP" altLang="en-US" sz="1400" b="0" i="0" u="none" strike="noStrike" kern="0" cap="none" spc="0" normalizeH="0" baseline="0" noProof="0">
              <a:ln>
                <a:noFill/>
              </a:ln>
              <a:solidFill>
                <a:srgbClr val="FFFFFF"/>
              </a:solidFill>
              <a:effectLst/>
              <a:uLnTx/>
              <a:uFillTx/>
              <a:latin typeface="メイリオ"/>
              <a:ea typeface="メイリオ" panose="020B0600070205080204" pitchFamily="50" charset="-128"/>
              <a:cs typeface="メイリオ"/>
              <a:sym typeface="Arial"/>
            </a:endParaRPr>
          </a:p>
        </p:txBody>
      </p:sp>
      <p:sp>
        <p:nvSpPr>
          <p:cNvPr id="8" name="角丸四角形 7"/>
          <p:cNvSpPr/>
          <p:nvPr/>
        </p:nvSpPr>
        <p:spPr>
          <a:xfrm>
            <a:off x="256642" y="1776143"/>
            <a:ext cx="2986322" cy="4471347"/>
          </a:xfrm>
          <a:prstGeom prst="roundRect">
            <a:avLst>
              <a:gd name="adj" fmla="val 3567"/>
            </a:avLst>
          </a:prstGeom>
          <a:solidFill>
            <a:schemeClr val="accent1">
              <a:lumMod val="20000"/>
              <a:lumOff val="80000"/>
            </a:schemeClr>
          </a:solidFill>
          <a:ln w="25400" cap="flat" cmpd="sng" algn="ctr">
            <a:solidFill>
              <a:schemeClr val="accent1"/>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lang="ja-JP" altLang="en-US" sz="1400" b="0" i="0" u="none" strike="noStrike" kern="0" cap="none" spc="0" normalizeH="0" baseline="0" noProof="0">
              <a:ln>
                <a:noFill/>
              </a:ln>
              <a:solidFill>
                <a:srgbClr val="FFFFFF"/>
              </a:solidFill>
              <a:effectLst/>
              <a:uLnTx/>
              <a:uFillTx/>
              <a:latin typeface="メイリオ"/>
              <a:ea typeface="メイリオ" panose="020B0600070205080204" pitchFamily="50" charset="-128"/>
              <a:cs typeface="メイリオ"/>
              <a:sym typeface="Arial"/>
            </a:endParaRPr>
          </a:p>
        </p:txBody>
      </p:sp>
      <p:sp>
        <p:nvSpPr>
          <p:cNvPr id="9" name="角丸四角形 8"/>
          <p:cNvSpPr/>
          <p:nvPr/>
        </p:nvSpPr>
        <p:spPr>
          <a:xfrm>
            <a:off x="6663036" y="1776142"/>
            <a:ext cx="2986322" cy="4471347"/>
          </a:xfrm>
          <a:prstGeom prst="roundRect">
            <a:avLst>
              <a:gd name="adj" fmla="val 3567"/>
            </a:avLst>
          </a:prstGeom>
          <a:solidFill>
            <a:schemeClr val="accent1">
              <a:lumMod val="20000"/>
              <a:lumOff val="80000"/>
            </a:schemeClr>
          </a:solidFill>
          <a:ln w="25400" cap="flat" cmpd="sng" algn="ctr">
            <a:solidFill>
              <a:schemeClr val="accent1"/>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lang="ja-JP" altLang="en-US" sz="1400" b="0" i="0" u="none" strike="noStrike" kern="0" cap="none" spc="0" normalizeH="0" baseline="0" noProof="0">
              <a:ln>
                <a:noFill/>
              </a:ln>
              <a:solidFill>
                <a:srgbClr val="FFFFFF"/>
              </a:solidFill>
              <a:effectLst/>
              <a:uLnTx/>
              <a:uFillTx/>
              <a:latin typeface="メイリオ"/>
              <a:ea typeface="メイリオ" panose="020B0600070205080204" pitchFamily="50" charset="-128"/>
              <a:cs typeface="メイリオ"/>
              <a:sym typeface="Arial"/>
            </a:endParaRPr>
          </a:p>
        </p:txBody>
      </p:sp>
      <p:sp>
        <p:nvSpPr>
          <p:cNvPr id="11" name="Google Shape;178;p7"/>
          <p:cNvSpPr txBox="1"/>
          <p:nvPr/>
        </p:nvSpPr>
        <p:spPr>
          <a:xfrm>
            <a:off x="592643" y="1940375"/>
            <a:ext cx="2314319"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メイリオ"/>
                <a:ea typeface="メイリオ"/>
                <a:cs typeface="メイリオ"/>
                <a:sym typeface="Meiryo"/>
              </a:rPr>
              <a:t>離脱防止バナー</a:t>
            </a:r>
            <a:endParaRPr lang="en-US" altLang="ja-JP" sz="2000" b="1" dirty="0">
              <a:solidFill>
                <a:srgbClr val="002060"/>
              </a:solidFill>
              <a:latin typeface="メイリオ"/>
              <a:ea typeface="メイリオ"/>
              <a:cs typeface="メイリオ"/>
              <a:sym typeface="Meiryo"/>
            </a:endParaRPr>
          </a:p>
        </p:txBody>
      </p:sp>
      <p:sp>
        <p:nvSpPr>
          <p:cNvPr id="13" name="Google Shape;178;p7"/>
          <p:cNvSpPr txBox="1"/>
          <p:nvPr/>
        </p:nvSpPr>
        <p:spPr>
          <a:xfrm>
            <a:off x="3795840" y="1940375"/>
            <a:ext cx="2314319"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en-US" altLang="ja-JP" sz="2000" b="1" dirty="0">
                <a:solidFill>
                  <a:srgbClr val="002060"/>
                </a:solidFill>
                <a:latin typeface="メイリオ"/>
                <a:ea typeface="メイリオ"/>
                <a:cs typeface="メイリオ"/>
                <a:sym typeface="Meiryo"/>
              </a:rPr>
              <a:t>CPF</a:t>
            </a:r>
            <a:r>
              <a:rPr lang="ja-JP" altLang="en-US" sz="2000" b="1" dirty="0">
                <a:solidFill>
                  <a:srgbClr val="002060"/>
                </a:solidFill>
                <a:latin typeface="メイリオ"/>
                <a:ea typeface="メイリオ"/>
                <a:cs typeface="メイリオ"/>
                <a:sym typeface="Meiryo"/>
              </a:rPr>
              <a:t>広告</a:t>
            </a:r>
            <a:endParaRPr lang="en-US" altLang="ja-JP" sz="2000" b="1" dirty="0">
              <a:solidFill>
                <a:srgbClr val="002060"/>
              </a:solidFill>
              <a:latin typeface="メイリオ"/>
              <a:ea typeface="メイリオ"/>
              <a:cs typeface="メイリオ"/>
              <a:sym typeface="Meiryo"/>
            </a:endParaRPr>
          </a:p>
        </p:txBody>
      </p:sp>
      <p:sp>
        <p:nvSpPr>
          <p:cNvPr id="14" name="Google Shape;178;p7"/>
          <p:cNvSpPr txBox="1"/>
          <p:nvPr/>
        </p:nvSpPr>
        <p:spPr>
          <a:xfrm>
            <a:off x="6756033" y="1949959"/>
            <a:ext cx="2800326" cy="767725"/>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メイリオ"/>
                <a:ea typeface="メイリオ"/>
                <a:cs typeface="メイリオ"/>
                <a:sym typeface="Meiryo"/>
              </a:rPr>
              <a:t>サンクス</a:t>
            </a:r>
            <a:r>
              <a:rPr lang="en-US" altLang="ja-JP" sz="2000" b="1" dirty="0">
                <a:solidFill>
                  <a:srgbClr val="002060"/>
                </a:solidFill>
                <a:latin typeface="メイリオ"/>
                <a:ea typeface="メイリオ"/>
                <a:cs typeface="メイリオ"/>
                <a:sym typeface="Meiryo"/>
              </a:rPr>
              <a:t>LINE</a:t>
            </a:r>
            <a:r>
              <a:rPr lang="ja-JP" altLang="en-US" sz="2000" b="1" dirty="0">
                <a:solidFill>
                  <a:srgbClr val="002060"/>
                </a:solidFill>
                <a:latin typeface="メイリオ"/>
                <a:ea typeface="メイリオ"/>
                <a:cs typeface="メイリオ"/>
                <a:sym typeface="Meiryo"/>
              </a:rPr>
              <a:t>誘導</a:t>
            </a:r>
            <a:endParaRPr lang="en-US" altLang="ja-JP" sz="2000" b="1" dirty="0">
              <a:solidFill>
                <a:srgbClr val="002060"/>
              </a:solidFill>
              <a:latin typeface="メイリオ"/>
              <a:ea typeface="メイリオ"/>
              <a:cs typeface="メイリオ"/>
              <a:sym typeface="Meiryo"/>
            </a:endParaRPr>
          </a:p>
        </p:txBody>
      </p:sp>
      <p:sp>
        <p:nvSpPr>
          <p:cNvPr id="16" name="Google Shape;178;p7"/>
          <p:cNvSpPr txBox="1"/>
          <p:nvPr/>
        </p:nvSpPr>
        <p:spPr>
          <a:xfrm>
            <a:off x="92849" y="5014843"/>
            <a:ext cx="2067109" cy="367615"/>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solidFill>
                  <a:schemeClr val="tx1">
                    <a:lumMod val="50000"/>
                    <a:lumOff val="50000"/>
                  </a:schemeClr>
                </a:solidFill>
                <a:latin typeface="メイリオ"/>
                <a:ea typeface="メイリオ"/>
                <a:cs typeface="メイリオ"/>
                <a:sym typeface="Meiryo"/>
              </a:rPr>
              <a:t>事例：車買取</a:t>
            </a:r>
            <a:endParaRPr lang="en-US" altLang="ja-JP" sz="1400" dirty="0">
              <a:solidFill>
                <a:schemeClr val="tx1">
                  <a:lumMod val="50000"/>
                  <a:lumOff val="50000"/>
                </a:schemeClr>
              </a:solidFill>
              <a:latin typeface="メイリオ"/>
              <a:ea typeface="メイリオ"/>
              <a:cs typeface="メイリオ"/>
              <a:sym typeface="Meiryo"/>
            </a:endParaRPr>
          </a:p>
        </p:txBody>
      </p:sp>
      <p:pic>
        <p:nvPicPr>
          <p:cNvPr id="2" name="図 1"/>
          <p:cNvPicPr>
            <a:picLocks noChangeAspect="1"/>
          </p:cNvPicPr>
          <p:nvPr/>
        </p:nvPicPr>
        <p:blipFill rotWithShape="1">
          <a:blip r:embed="rId2" cstate="print">
            <a:extLst>
              <a:ext uri="{28A0092B-C50C-407E-A947-70E740481C1C}">
                <a14:useLocalDpi xmlns:a14="http://schemas.microsoft.com/office/drawing/2010/main" val="0"/>
              </a:ext>
            </a:extLst>
          </a:blip>
          <a:srcRect t="34585" b="34763"/>
          <a:stretch/>
        </p:blipFill>
        <p:spPr>
          <a:xfrm>
            <a:off x="314053" y="2324099"/>
            <a:ext cx="2871498" cy="1564723"/>
          </a:xfrm>
          <a:prstGeom prst="rect">
            <a:avLst/>
          </a:prstGeom>
        </p:spPr>
      </p:pic>
      <p:sp>
        <p:nvSpPr>
          <p:cNvPr id="17" name="Google Shape;178;p7"/>
          <p:cNvSpPr txBox="1"/>
          <p:nvPr/>
        </p:nvSpPr>
        <p:spPr>
          <a:xfrm>
            <a:off x="-80913" y="4068767"/>
            <a:ext cx="3501626" cy="798502"/>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latin typeface="メイリオ"/>
                <a:ea typeface="メイリオ"/>
                <a:cs typeface="メイリオ"/>
                <a:sym typeface="Meiryo"/>
              </a:rPr>
              <a:t>興味はあるが利用まで</a:t>
            </a:r>
            <a:endParaRPr lang="en-US" altLang="ja-JP" sz="1400" dirty="0">
              <a:latin typeface="メイリオ"/>
              <a:ea typeface="メイリオ"/>
              <a:cs typeface="メイリオ"/>
              <a:sym typeface="Meiryo"/>
            </a:endParaRPr>
          </a:p>
          <a:p>
            <a:pPr lvl="0" algn="ctr">
              <a:buClr>
                <a:schemeClr val="dk1"/>
              </a:buClr>
              <a:buSzPts val="1500"/>
            </a:pPr>
            <a:r>
              <a:rPr lang="ja-JP" altLang="en-US" sz="1400" dirty="0">
                <a:latin typeface="メイリオ"/>
                <a:ea typeface="メイリオ"/>
                <a:cs typeface="メイリオ"/>
                <a:sym typeface="Meiryo"/>
              </a:rPr>
              <a:t>至らなかったユーザーを</a:t>
            </a:r>
            <a:endParaRPr lang="en-US" altLang="ja-JP" sz="1400" dirty="0">
              <a:latin typeface="メイリオ"/>
              <a:ea typeface="メイリオ"/>
              <a:cs typeface="メイリオ"/>
              <a:sym typeface="Meiryo"/>
            </a:endParaRPr>
          </a:p>
          <a:p>
            <a:pPr lvl="0" algn="ctr">
              <a:buClr>
                <a:schemeClr val="dk1"/>
              </a:buClr>
              <a:buSzPts val="1500"/>
            </a:pPr>
            <a:r>
              <a:rPr lang="ja-JP" altLang="en-US" sz="1400" dirty="0">
                <a:latin typeface="メイリオ"/>
                <a:ea typeface="メイリオ"/>
                <a:cs typeface="メイリオ"/>
                <a:sym typeface="Meiryo"/>
              </a:rPr>
              <a:t>友だちとして囲い込む。</a:t>
            </a:r>
            <a:endParaRPr lang="en-US" altLang="ja-JP" sz="1400" dirty="0">
              <a:latin typeface="メイリオ"/>
              <a:ea typeface="メイリオ"/>
              <a:cs typeface="メイリオ"/>
              <a:sym typeface="Meiryo"/>
            </a:endParaRPr>
          </a:p>
        </p:txBody>
      </p:sp>
      <p:sp>
        <p:nvSpPr>
          <p:cNvPr id="19" name="Google Shape;178;p7"/>
          <p:cNvSpPr txBox="1"/>
          <p:nvPr/>
        </p:nvSpPr>
        <p:spPr>
          <a:xfrm>
            <a:off x="3161410" y="4053056"/>
            <a:ext cx="3501626" cy="798502"/>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en-US" altLang="ja-JP" sz="1400" dirty="0">
                <a:latin typeface="メイリオ"/>
                <a:ea typeface="メイリオ"/>
                <a:cs typeface="メイリオ"/>
                <a:sym typeface="Meiryo"/>
              </a:rPr>
              <a:t>CPF</a:t>
            </a:r>
            <a:r>
              <a:rPr lang="ja-JP" altLang="en-US" sz="1400" dirty="0">
                <a:latin typeface="メイリオ"/>
                <a:ea typeface="メイリオ"/>
                <a:cs typeface="メイリオ"/>
                <a:sym typeface="Meiryo"/>
              </a:rPr>
              <a:t>約</a:t>
            </a:r>
            <a:r>
              <a:rPr lang="en-US" altLang="ja-JP" sz="1400" dirty="0">
                <a:latin typeface="メイリオ"/>
                <a:ea typeface="メイリオ"/>
                <a:cs typeface="メイリオ"/>
                <a:sym typeface="Meiryo"/>
              </a:rPr>
              <a:t>100-200</a:t>
            </a:r>
            <a:r>
              <a:rPr lang="ja-JP" altLang="en-US" sz="1400" dirty="0">
                <a:latin typeface="メイリオ"/>
                <a:ea typeface="メイリオ"/>
                <a:cs typeface="メイリオ"/>
                <a:sym typeface="Meiryo"/>
              </a:rPr>
              <a:t>円台。</a:t>
            </a:r>
            <a:endParaRPr lang="en-US" altLang="ja-JP" sz="1400" dirty="0">
              <a:latin typeface="メイリオ"/>
              <a:ea typeface="メイリオ"/>
              <a:cs typeface="メイリオ"/>
              <a:sym typeface="Meiryo"/>
            </a:endParaRPr>
          </a:p>
          <a:p>
            <a:pPr lvl="0" algn="ctr">
              <a:buClr>
                <a:schemeClr val="dk1"/>
              </a:buClr>
              <a:buSzPts val="1500"/>
            </a:pPr>
            <a:r>
              <a:rPr lang="ja-JP" altLang="en-US" sz="1400" dirty="0">
                <a:latin typeface="メイリオ"/>
                <a:ea typeface="メイリオ"/>
                <a:cs typeface="メイリオ"/>
                <a:sym typeface="Meiryo"/>
              </a:rPr>
              <a:t>かなり安価かつ成果報酬で</a:t>
            </a:r>
            <a:endParaRPr lang="en-US" altLang="ja-JP" sz="1400" dirty="0">
              <a:latin typeface="メイリオ"/>
              <a:ea typeface="メイリオ"/>
              <a:cs typeface="メイリオ"/>
              <a:sym typeface="Meiryo"/>
            </a:endParaRPr>
          </a:p>
          <a:p>
            <a:pPr lvl="0" algn="ctr">
              <a:buClr>
                <a:schemeClr val="dk1"/>
              </a:buClr>
              <a:buSzPts val="1500"/>
            </a:pPr>
            <a:r>
              <a:rPr lang="ja-JP" altLang="en-US" sz="1400" dirty="0">
                <a:latin typeface="メイリオ"/>
                <a:ea typeface="メイリオ"/>
                <a:cs typeface="メイリオ"/>
                <a:sym typeface="Meiryo"/>
              </a:rPr>
              <a:t>友だちを増やす広告。</a:t>
            </a:r>
            <a:endParaRPr lang="en-US" altLang="ja-JP" sz="1400" dirty="0">
              <a:latin typeface="メイリオ"/>
              <a:ea typeface="メイリオ"/>
              <a:cs typeface="メイリオ"/>
              <a:sym typeface="Meiryo"/>
            </a:endParaRPr>
          </a:p>
        </p:txBody>
      </p:sp>
      <p:sp>
        <p:nvSpPr>
          <p:cNvPr id="20" name="Google Shape;178;p7"/>
          <p:cNvSpPr txBox="1"/>
          <p:nvPr/>
        </p:nvSpPr>
        <p:spPr>
          <a:xfrm>
            <a:off x="3242964" y="5014843"/>
            <a:ext cx="2338123" cy="367615"/>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solidFill>
                  <a:schemeClr val="tx1">
                    <a:lumMod val="50000"/>
                    <a:lumOff val="50000"/>
                  </a:schemeClr>
                </a:solidFill>
                <a:latin typeface="メイリオ"/>
                <a:ea typeface="メイリオ"/>
                <a:cs typeface="メイリオ"/>
                <a:sym typeface="Meiryo"/>
              </a:rPr>
              <a:t>事例：アパレル</a:t>
            </a:r>
            <a:endParaRPr lang="en-US" altLang="ja-JP" sz="1400" dirty="0">
              <a:solidFill>
                <a:schemeClr val="tx1">
                  <a:lumMod val="50000"/>
                  <a:lumOff val="50000"/>
                </a:schemeClr>
              </a:solidFill>
              <a:latin typeface="メイリオ"/>
              <a:ea typeface="メイリオ"/>
              <a:cs typeface="メイリオ"/>
              <a:sym typeface="Meiryo"/>
            </a:endParaRPr>
          </a:p>
        </p:txBody>
      </p:sp>
      <p:sp>
        <p:nvSpPr>
          <p:cNvPr id="21" name="Google Shape;178;p7"/>
          <p:cNvSpPr txBox="1"/>
          <p:nvPr/>
        </p:nvSpPr>
        <p:spPr>
          <a:xfrm>
            <a:off x="3639325" y="5328640"/>
            <a:ext cx="2795420" cy="521504"/>
          </a:xfrm>
          <a:prstGeom prst="rect">
            <a:avLst/>
          </a:prstGeom>
          <a:noFill/>
          <a:ln>
            <a:noFill/>
          </a:ln>
        </p:spPr>
        <p:txBody>
          <a:bodyPr spcFirstLastPara="1" wrap="square" lIns="150750" tIns="75350" rIns="150750" bIns="75350" anchor="t" anchorCtr="0">
            <a:spAutoFit/>
          </a:bodyPr>
          <a:lstStyle/>
          <a:p>
            <a:pPr lvl="0">
              <a:buClr>
                <a:schemeClr val="dk1"/>
              </a:buClr>
              <a:buSzPts val="1500"/>
            </a:pPr>
            <a:r>
              <a:rPr lang="en-US" altLang="ja-JP" sz="1200" dirty="0">
                <a:solidFill>
                  <a:schemeClr val="tx1">
                    <a:lumMod val="50000"/>
                    <a:lumOff val="50000"/>
                  </a:schemeClr>
                </a:solidFill>
                <a:latin typeface="メイリオ"/>
                <a:ea typeface="メイリオ"/>
                <a:cs typeface="メイリオ"/>
                <a:sym typeface="Meiryo"/>
              </a:rPr>
              <a:t>1</a:t>
            </a:r>
            <a:r>
              <a:rPr lang="ja-JP" altLang="en-US" sz="1200" dirty="0">
                <a:solidFill>
                  <a:schemeClr val="tx1">
                    <a:lumMod val="50000"/>
                    <a:lumOff val="50000"/>
                  </a:schemeClr>
                </a:solidFill>
                <a:latin typeface="メイリオ"/>
                <a:ea typeface="メイリオ"/>
                <a:cs typeface="メイリオ"/>
                <a:sym typeface="Meiryo"/>
              </a:rPr>
              <a:t>人あたり</a:t>
            </a:r>
            <a:r>
              <a:rPr lang="en-US" altLang="ja-JP" sz="1200" dirty="0">
                <a:solidFill>
                  <a:schemeClr val="tx1">
                    <a:lumMod val="50000"/>
                    <a:lumOff val="50000"/>
                  </a:schemeClr>
                </a:solidFill>
                <a:latin typeface="メイリオ"/>
                <a:ea typeface="メイリオ"/>
                <a:cs typeface="メイリオ"/>
                <a:sym typeface="Meiryo"/>
              </a:rPr>
              <a:t>50</a:t>
            </a:r>
            <a:r>
              <a:rPr lang="ja-JP" altLang="en-US" sz="1200" dirty="0">
                <a:solidFill>
                  <a:schemeClr val="tx1">
                    <a:lumMod val="50000"/>
                    <a:lumOff val="50000"/>
                  </a:schemeClr>
                </a:solidFill>
                <a:latin typeface="メイリオ"/>
                <a:ea typeface="メイリオ"/>
                <a:cs typeface="メイリオ"/>
                <a:sym typeface="Meiryo"/>
              </a:rPr>
              <a:t>円で友だち獲得</a:t>
            </a:r>
            <a:endParaRPr lang="en-US" altLang="ja-JP" sz="1200" dirty="0">
              <a:solidFill>
                <a:schemeClr val="tx1">
                  <a:lumMod val="50000"/>
                  <a:lumOff val="50000"/>
                </a:schemeClr>
              </a:solidFill>
              <a:latin typeface="メイリオ"/>
              <a:ea typeface="メイリオ"/>
              <a:cs typeface="メイリオ"/>
              <a:sym typeface="Meiryo"/>
            </a:endParaRPr>
          </a:p>
          <a:p>
            <a:pPr lvl="0">
              <a:buClr>
                <a:schemeClr val="dk1"/>
              </a:buClr>
              <a:buSzPts val="1500"/>
            </a:pPr>
            <a:r>
              <a:rPr lang="en-US" altLang="ja-JP" sz="1200" dirty="0">
                <a:solidFill>
                  <a:schemeClr val="tx1">
                    <a:lumMod val="50000"/>
                    <a:lumOff val="50000"/>
                  </a:schemeClr>
                </a:solidFill>
                <a:latin typeface="メイリオ"/>
                <a:ea typeface="メイリオ"/>
                <a:cs typeface="メイリオ"/>
                <a:sym typeface="Meiryo"/>
              </a:rPr>
              <a:t>LINE</a:t>
            </a:r>
            <a:r>
              <a:rPr lang="ja-JP" altLang="en-US" sz="1200" dirty="0">
                <a:solidFill>
                  <a:schemeClr val="tx1">
                    <a:lumMod val="50000"/>
                    <a:lumOff val="50000"/>
                  </a:schemeClr>
                </a:solidFill>
                <a:latin typeface="メイリオ"/>
                <a:ea typeface="メイリオ"/>
                <a:cs typeface="メイリオ"/>
                <a:sym typeface="Meiryo"/>
              </a:rPr>
              <a:t>経由の購入</a:t>
            </a:r>
            <a:r>
              <a:rPr lang="en-US" altLang="ja-JP" sz="1200" dirty="0">
                <a:solidFill>
                  <a:schemeClr val="tx1">
                    <a:lumMod val="50000"/>
                    <a:lumOff val="50000"/>
                  </a:schemeClr>
                </a:solidFill>
                <a:latin typeface="メイリオ"/>
                <a:ea typeface="メイリオ"/>
                <a:cs typeface="メイリオ"/>
                <a:sym typeface="Meiryo"/>
              </a:rPr>
              <a:t>1.5</a:t>
            </a:r>
            <a:r>
              <a:rPr lang="ja-JP" altLang="en-US" sz="1200" dirty="0">
                <a:solidFill>
                  <a:schemeClr val="tx1">
                    <a:lumMod val="50000"/>
                    <a:lumOff val="50000"/>
                  </a:schemeClr>
                </a:solidFill>
                <a:latin typeface="メイリオ"/>
                <a:ea typeface="メイリオ"/>
                <a:cs typeface="メイリオ"/>
                <a:sym typeface="Meiryo"/>
              </a:rPr>
              <a:t>倍</a:t>
            </a:r>
            <a:endParaRPr lang="en-US" altLang="ja-JP" sz="1200" dirty="0">
              <a:solidFill>
                <a:schemeClr val="tx1">
                  <a:lumMod val="50000"/>
                  <a:lumOff val="50000"/>
                </a:schemeClr>
              </a:solidFill>
              <a:latin typeface="メイリオ"/>
              <a:ea typeface="メイリオ"/>
              <a:cs typeface="メイリオ"/>
              <a:sym typeface="Meiryo"/>
            </a:endParaRPr>
          </a:p>
        </p:txBody>
      </p:sp>
      <p:sp>
        <p:nvSpPr>
          <p:cNvPr id="22" name="Google Shape;178;p7"/>
          <p:cNvSpPr txBox="1"/>
          <p:nvPr/>
        </p:nvSpPr>
        <p:spPr>
          <a:xfrm>
            <a:off x="6434745" y="4068766"/>
            <a:ext cx="3501626" cy="798502"/>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latin typeface="メイリオ"/>
                <a:ea typeface="メイリオ"/>
                <a:cs typeface="メイリオ"/>
                <a:sym typeface="Meiryo"/>
              </a:rPr>
              <a:t>サンクスページに到達した</a:t>
            </a:r>
            <a:endParaRPr lang="en-US" altLang="ja-JP" sz="1400" dirty="0">
              <a:latin typeface="メイリオ"/>
              <a:ea typeface="メイリオ"/>
              <a:cs typeface="メイリオ"/>
              <a:sym typeface="Meiryo"/>
            </a:endParaRPr>
          </a:p>
          <a:p>
            <a:pPr lvl="0" algn="ctr">
              <a:buClr>
                <a:schemeClr val="dk1"/>
              </a:buClr>
              <a:buSzPts val="1500"/>
            </a:pPr>
            <a:r>
              <a:rPr lang="ja-JP" altLang="en-US" sz="1400" dirty="0">
                <a:latin typeface="メイリオ"/>
                <a:ea typeface="メイリオ"/>
                <a:cs typeface="メイリオ"/>
                <a:sym typeface="Meiryo"/>
              </a:rPr>
              <a:t>ユーザーを自動で</a:t>
            </a:r>
            <a:r>
              <a:rPr lang="en-US" altLang="ja-JP" sz="1400" dirty="0">
                <a:latin typeface="メイリオ"/>
                <a:ea typeface="メイリオ"/>
                <a:cs typeface="メイリオ"/>
                <a:sym typeface="Meiryo"/>
              </a:rPr>
              <a:t>LINE</a:t>
            </a:r>
            <a:r>
              <a:rPr lang="ja-JP" altLang="en-US" sz="1400" dirty="0">
                <a:latin typeface="メイリオ"/>
                <a:ea typeface="メイリオ"/>
                <a:cs typeface="メイリオ"/>
                <a:sym typeface="Meiryo"/>
              </a:rPr>
              <a:t>に誘導。</a:t>
            </a:r>
            <a:endParaRPr lang="en-US" altLang="ja-JP" sz="1400" dirty="0">
              <a:latin typeface="メイリオ"/>
              <a:ea typeface="メイリオ"/>
              <a:cs typeface="メイリオ"/>
              <a:sym typeface="Meiryo"/>
            </a:endParaRPr>
          </a:p>
          <a:p>
            <a:pPr lvl="0" algn="ctr">
              <a:buClr>
                <a:schemeClr val="dk1"/>
              </a:buClr>
              <a:buSzPts val="1500"/>
            </a:pPr>
            <a:r>
              <a:rPr lang="ja-JP" altLang="en-US" sz="1400" dirty="0">
                <a:latin typeface="メイリオ"/>
                <a:ea typeface="メイリオ"/>
                <a:cs typeface="メイリオ"/>
                <a:sym typeface="Meiryo"/>
              </a:rPr>
              <a:t>友だち追加、追客に活用可能。</a:t>
            </a:r>
            <a:endParaRPr lang="en-US" altLang="ja-JP" sz="1400" dirty="0">
              <a:latin typeface="メイリオ"/>
              <a:ea typeface="メイリオ"/>
              <a:cs typeface="メイリオ"/>
              <a:sym typeface="Meiryo"/>
            </a:endParaRPr>
          </a:p>
        </p:txBody>
      </p:sp>
      <p:sp>
        <p:nvSpPr>
          <p:cNvPr id="23" name="Google Shape;178;p7"/>
          <p:cNvSpPr txBox="1"/>
          <p:nvPr/>
        </p:nvSpPr>
        <p:spPr>
          <a:xfrm>
            <a:off x="6434745" y="5014843"/>
            <a:ext cx="2338123" cy="367615"/>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solidFill>
                  <a:schemeClr val="tx1">
                    <a:lumMod val="50000"/>
                    <a:lumOff val="50000"/>
                  </a:schemeClr>
                </a:solidFill>
                <a:latin typeface="メイリオ"/>
                <a:ea typeface="メイリオ"/>
                <a:cs typeface="メイリオ"/>
                <a:sym typeface="Meiryo"/>
              </a:rPr>
              <a:t>事例：美容医療</a:t>
            </a:r>
            <a:endParaRPr lang="en-US" altLang="ja-JP" sz="1400" dirty="0">
              <a:solidFill>
                <a:schemeClr val="tx1">
                  <a:lumMod val="50000"/>
                  <a:lumOff val="50000"/>
                </a:schemeClr>
              </a:solidFill>
              <a:latin typeface="メイリオ"/>
              <a:ea typeface="メイリオ"/>
              <a:cs typeface="メイリオ"/>
              <a:sym typeface="Meiryo"/>
            </a:endParaRPr>
          </a:p>
        </p:txBody>
      </p:sp>
      <p:pic>
        <p:nvPicPr>
          <p:cNvPr id="4" name="図 3"/>
          <p:cNvPicPr>
            <a:picLocks noChangeAspect="1"/>
          </p:cNvPicPr>
          <p:nvPr/>
        </p:nvPicPr>
        <p:blipFill>
          <a:blip r:embed="rId3"/>
          <a:stretch>
            <a:fillRect/>
          </a:stretch>
        </p:blipFill>
        <p:spPr>
          <a:xfrm>
            <a:off x="3639325" y="2409907"/>
            <a:ext cx="2627350" cy="1492812"/>
          </a:xfrm>
          <a:prstGeom prst="rect">
            <a:avLst/>
          </a:prstGeom>
        </p:spPr>
      </p:pic>
      <p:sp>
        <p:nvSpPr>
          <p:cNvPr id="24" name="Google Shape;178;p7"/>
          <p:cNvSpPr txBox="1"/>
          <p:nvPr/>
        </p:nvSpPr>
        <p:spPr>
          <a:xfrm>
            <a:off x="440374" y="5328640"/>
            <a:ext cx="2752048" cy="890835"/>
          </a:xfrm>
          <a:prstGeom prst="rect">
            <a:avLst/>
          </a:prstGeom>
          <a:noFill/>
          <a:ln>
            <a:noFill/>
          </a:ln>
        </p:spPr>
        <p:txBody>
          <a:bodyPr spcFirstLastPara="1" wrap="square" lIns="150750" tIns="75350" rIns="150750" bIns="75350" anchor="t" anchorCtr="0">
            <a:spAutoFit/>
          </a:bodyPr>
          <a:lstStyle/>
          <a:p>
            <a:pPr lvl="0">
              <a:buClr>
                <a:schemeClr val="dk1"/>
              </a:buClr>
              <a:buSzPts val="1500"/>
            </a:pPr>
            <a:r>
              <a:rPr lang="en-US" altLang="ja-JP" sz="1200" dirty="0">
                <a:solidFill>
                  <a:schemeClr val="tx1">
                    <a:lumMod val="50000"/>
                    <a:lumOff val="50000"/>
                  </a:schemeClr>
                </a:solidFill>
                <a:latin typeface="メイリオ"/>
                <a:ea typeface="メイリオ"/>
                <a:cs typeface="メイリオ"/>
                <a:sym typeface="Meiryo"/>
              </a:rPr>
              <a:t>LP</a:t>
            </a:r>
            <a:r>
              <a:rPr lang="ja-JP" altLang="en-US" sz="1200" dirty="0">
                <a:solidFill>
                  <a:schemeClr val="tx1">
                    <a:lumMod val="50000"/>
                    <a:lumOff val="50000"/>
                  </a:schemeClr>
                </a:solidFill>
                <a:latin typeface="メイリオ"/>
                <a:ea typeface="メイリオ"/>
                <a:cs typeface="メイリオ"/>
                <a:sym typeface="Meiryo"/>
              </a:rPr>
              <a:t>離脱ユーザーに対して</a:t>
            </a:r>
            <a:endParaRPr lang="en-US" altLang="ja-JP" sz="1200" dirty="0">
              <a:solidFill>
                <a:schemeClr val="tx1">
                  <a:lumMod val="50000"/>
                  <a:lumOff val="50000"/>
                </a:schemeClr>
              </a:solidFill>
              <a:latin typeface="メイリオ"/>
              <a:ea typeface="メイリオ"/>
              <a:cs typeface="メイリオ"/>
              <a:sym typeface="Meiryo"/>
            </a:endParaRPr>
          </a:p>
          <a:p>
            <a:pPr lvl="0">
              <a:buClr>
                <a:schemeClr val="dk1"/>
              </a:buClr>
              <a:buSzPts val="1500"/>
            </a:pPr>
            <a:r>
              <a:rPr lang="en-US" altLang="ja-JP" sz="1200" dirty="0">
                <a:solidFill>
                  <a:schemeClr val="tx1">
                    <a:lumMod val="50000"/>
                    <a:lumOff val="50000"/>
                  </a:schemeClr>
                </a:solidFill>
                <a:latin typeface="メイリオ"/>
                <a:ea typeface="メイリオ"/>
                <a:cs typeface="メイリオ"/>
                <a:sym typeface="Meiryo"/>
              </a:rPr>
              <a:t>LINE</a:t>
            </a:r>
            <a:r>
              <a:rPr lang="ja-JP" altLang="en-US" sz="1200" dirty="0">
                <a:solidFill>
                  <a:schemeClr val="tx1">
                    <a:lumMod val="50000"/>
                    <a:lumOff val="50000"/>
                  </a:schemeClr>
                </a:solidFill>
                <a:latin typeface="メイリオ"/>
                <a:ea typeface="メイリオ"/>
                <a:cs typeface="メイリオ"/>
                <a:sym typeface="Meiryo"/>
              </a:rPr>
              <a:t>誘導を実施。</a:t>
            </a:r>
            <a:endParaRPr lang="en-US" altLang="ja-JP" sz="1200" dirty="0">
              <a:solidFill>
                <a:schemeClr val="tx1">
                  <a:lumMod val="50000"/>
                  <a:lumOff val="50000"/>
                </a:schemeClr>
              </a:solidFill>
              <a:latin typeface="メイリオ"/>
              <a:ea typeface="メイリオ"/>
              <a:cs typeface="メイリオ"/>
              <a:sym typeface="Meiryo"/>
            </a:endParaRPr>
          </a:p>
          <a:p>
            <a:pPr lvl="0">
              <a:buClr>
                <a:schemeClr val="dk1"/>
              </a:buClr>
              <a:buSzPts val="1500"/>
            </a:pPr>
            <a:r>
              <a:rPr lang="en-US" altLang="ja-JP" sz="1200" dirty="0">
                <a:solidFill>
                  <a:schemeClr val="tx1">
                    <a:lumMod val="50000"/>
                    <a:lumOff val="50000"/>
                  </a:schemeClr>
                </a:solidFill>
                <a:latin typeface="メイリオ"/>
                <a:ea typeface="メイリオ"/>
                <a:cs typeface="メイリオ"/>
                <a:sym typeface="Meiryo"/>
              </a:rPr>
              <a:t>LINE</a:t>
            </a:r>
            <a:r>
              <a:rPr lang="ja-JP" altLang="en-US" sz="1200" dirty="0">
                <a:solidFill>
                  <a:schemeClr val="tx1">
                    <a:lumMod val="50000"/>
                    <a:lumOff val="50000"/>
                  </a:schemeClr>
                </a:solidFill>
                <a:latin typeface="メイリオ"/>
                <a:ea typeface="メイリオ"/>
                <a:cs typeface="メイリオ"/>
                <a:sym typeface="Meiryo"/>
              </a:rPr>
              <a:t>追加から</a:t>
            </a:r>
            <a:r>
              <a:rPr lang="en-US" altLang="ja-JP" sz="1200" dirty="0">
                <a:solidFill>
                  <a:schemeClr val="tx1">
                    <a:lumMod val="50000"/>
                    <a:lumOff val="50000"/>
                  </a:schemeClr>
                </a:solidFill>
                <a:latin typeface="メイリオ"/>
                <a:ea typeface="メイリオ"/>
                <a:cs typeface="メイリオ"/>
                <a:sym typeface="Meiryo"/>
              </a:rPr>
              <a:t>20</a:t>
            </a:r>
            <a:r>
              <a:rPr lang="ja-JP" altLang="en-US" sz="1200" dirty="0">
                <a:solidFill>
                  <a:schemeClr val="tx1">
                    <a:lumMod val="50000"/>
                    <a:lumOff val="50000"/>
                  </a:schemeClr>
                </a:solidFill>
                <a:latin typeface="メイリオ"/>
                <a:ea typeface="メイリオ"/>
                <a:cs typeface="メイリオ"/>
                <a:sym typeface="Meiryo"/>
              </a:rPr>
              <a:t>％が</a:t>
            </a:r>
            <a:r>
              <a:rPr lang="en-US" altLang="ja-JP" sz="1200" dirty="0">
                <a:solidFill>
                  <a:schemeClr val="tx1">
                    <a:lumMod val="50000"/>
                    <a:lumOff val="50000"/>
                  </a:schemeClr>
                </a:solidFill>
                <a:latin typeface="メイリオ"/>
                <a:ea typeface="メイリオ"/>
                <a:cs typeface="メイリオ"/>
                <a:sym typeface="Meiryo"/>
              </a:rPr>
              <a:t>CV</a:t>
            </a:r>
          </a:p>
          <a:p>
            <a:pPr lvl="0">
              <a:buClr>
                <a:schemeClr val="dk1"/>
              </a:buClr>
              <a:buSzPts val="1500"/>
            </a:pPr>
            <a:endParaRPr lang="en-US" altLang="ja-JP" sz="1200" dirty="0">
              <a:solidFill>
                <a:schemeClr val="tx1">
                  <a:lumMod val="50000"/>
                  <a:lumOff val="50000"/>
                </a:schemeClr>
              </a:solidFill>
              <a:latin typeface="メイリオ"/>
              <a:ea typeface="メイリオ"/>
              <a:cs typeface="メイリオ"/>
              <a:sym typeface="Meiryo"/>
            </a:endParaRPr>
          </a:p>
        </p:txBody>
      </p:sp>
      <p:sp>
        <p:nvSpPr>
          <p:cNvPr id="25" name="Google Shape;178;p7"/>
          <p:cNvSpPr txBox="1"/>
          <p:nvPr/>
        </p:nvSpPr>
        <p:spPr>
          <a:xfrm>
            <a:off x="6825208" y="5328640"/>
            <a:ext cx="2851751" cy="521504"/>
          </a:xfrm>
          <a:prstGeom prst="rect">
            <a:avLst/>
          </a:prstGeom>
          <a:noFill/>
          <a:ln>
            <a:noFill/>
          </a:ln>
        </p:spPr>
        <p:txBody>
          <a:bodyPr spcFirstLastPara="1" wrap="square" lIns="150750" tIns="75350" rIns="150750" bIns="75350" anchor="t" anchorCtr="0">
            <a:spAutoFit/>
          </a:bodyPr>
          <a:lstStyle/>
          <a:p>
            <a:pPr lvl="0">
              <a:buClr>
                <a:schemeClr val="dk1"/>
              </a:buClr>
              <a:buSzPts val="1500"/>
            </a:pPr>
            <a:r>
              <a:rPr lang="ja-JP" altLang="en-US" sz="1200" dirty="0">
                <a:solidFill>
                  <a:schemeClr val="tx1">
                    <a:lumMod val="50000"/>
                    <a:lumOff val="50000"/>
                  </a:schemeClr>
                </a:solidFill>
                <a:latin typeface="メイリオ"/>
                <a:ea typeface="メイリオ"/>
                <a:cs typeface="メイリオ"/>
                <a:sym typeface="Meiryo"/>
              </a:rPr>
              <a:t>導入後友だち増加数が</a:t>
            </a:r>
            <a:r>
              <a:rPr lang="en-US" altLang="ja-JP" sz="1200" dirty="0">
                <a:solidFill>
                  <a:schemeClr val="tx1">
                    <a:lumMod val="50000"/>
                    <a:lumOff val="50000"/>
                  </a:schemeClr>
                </a:solidFill>
                <a:latin typeface="メイリオ"/>
                <a:ea typeface="メイリオ"/>
                <a:cs typeface="メイリオ"/>
                <a:sym typeface="Meiryo"/>
              </a:rPr>
              <a:t>1.5</a:t>
            </a:r>
            <a:r>
              <a:rPr lang="ja-JP" altLang="en-US" sz="1200" dirty="0">
                <a:solidFill>
                  <a:schemeClr val="tx1">
                    <a:lumMod val="50000"/>
                    <a:lumOff val="50000"/>
                  </a:schemeClr>
                </a:solidFill>
                <a:latin typeface="メイリオ"/>
                <a:ea typeface="メイリオ"/>
                <a:cs typeface="メイリオ"/>
                <a:sym typeface="Meiryo"/>
              </a:rPr>
              <a:t>倍に。</a:t>
            </a:r>
            <a:endParaRPr lang="en-US" altLang="ja-JP" sz="1200" dirty="0">
              <a:solidFill>
                <a:schemeClr val="tx1">
                  <a:lumMod val="50000"/>
                  <a:lumOff val="50000"/>
                </a:schemeClr>
              </a:solidFill>
              <a:latin typeface="メイリオ"/>
              <a:ea typeface="メイリオ"/>
              <a:cs typeface="メイリオ"/>
              <a:sym typeface="Meiryo"/>
            </a:endParaRPr>
          </a:p>
          <a:p>
            <a:pPr lvl="0">
              <a:buClr>
                <a:schemeClr val="dk1"/>
              </a:buClr>
              <a:buSzPts val="1500"/>
            </a:pPr>
            <a:r>
              <a:rPr lang="ja-JP" altLang="en-US" sz="1200" dirty="0">
                <a:solidFill>
                  <a:schemeClr val="tx1">
                    <a:lumMod val="50000"/>
                    <a:lumOff val="50000"/>
                  </a:schemeClr>
                </a:solidFill>
                <a:latin typeface="メイリオ"/>
                <a:ea typeface="メイリオ"/>
                <a:cs typeface="メイリオ"/>
                <a:sym typeface="Meiryo"/>
              </a:rPr>
              <a:t>実反響率も</a:t>
            </a:r>
            <a:r>
              <a:rPr lang="en-US" altLang="ja-JP" sz="1200" dirty="0">
                <a:solidFill>
                  <a:schemeClr val="tx1">
                    <a:lumMod val="50000"/>
                    <a:lumOff val="50000"/>
                  </a:schemeClr>
                </a:solidFill>
                <a:latin typeface="メイリオ"/>
                <a:ea typeface="メイリオ"/>
                <a:cs typeface="メイリオ"/>
                <a:sym typeface="Meiryo"/>
              </a:rPr>
              <a:t>40%</a:t>
            </a:r>
            <a:r>
              <a:rPr lang="ja-JP" altLang="en-US" sz="1200" dirty="0">
                <a:solidFill>
                  <a:schemeClr val="tx1">
                    <a:lumMod val="50000"/>
                    <a:lumOff val="50000"/>
                  </a:schemeClr>
                </a:solidFill>
                <a:latin typeface="メイリオ"/>
                <a:ea typeface="メイリオ"/>
                <a:cs typeface="メイリオ"/>
                <a:sym typeface="Meiryo"/>
              </a:rPr>
              <a:t>程度改善。</a:t>
            </a:r>
            <a:endParaRPr lang="en-US" altLang="ja-JP" sz="1200" dirty="0">
              <a:solidFill>
                <a:schemeClr val="tx1">
                  <a:lumMod val="50000"/>
                  <a:lumOff val="50000"/>
                </a:schemeClr>
              </a:solidFill>
              <a:latin typeface="メイリオ"/>
              <a:ea typeface="メイリオ"/>
              <a:cs typeface="メイリオ"/>
              <a:sym typeface="Meiryo"/>
            </a:endParaRPr>
          </a:p>
        </p:txBody>
      </p:sp>
      <p:sp>
        <p:nvSpPr>
          <p:cNvPr id="37" name="角丸四角形 8">
            <a:extLst>
              <a:ext uri="{FF2B5EF4-FFF2-40B4-BE49-F238E27FC236}">
                <a16:creationId xmlns:a16="http://schemas.microsoft.com/office/drawing/2014/main" id="{C9E1ACA7-99C2-0E6B-91F5-B9518FC16E7C}"/>
              </a:ext>
            </a:extLst>
          </p:cNvPr>
          <p:cNvSpPr/>
          <p:nvPr/>
        </p:nvSpPr>
        <p:spPr>
          <a:xfrm>
            <a:off x="3460688" y="1776142"/>
            <a:ext cx="2986322" cy="4471347"/>
          </a:xfrm>
          <a:prstGeom prst="roundRect">
            <a:avLst>
              <a:gd name="adj" fmla="val 3567"/>
            </a:avLst>
          </a:prstGeom>
          <a:solidFill>
            <a:schemeClr val="accent1">
              <a:lumMod val="20000"/>
              <a:lumOff val="80000"/>
            </a:schemeClr>
          </a:solidFill>
          <a:ln w="25400" cap="flat" cmpd="sng" algn="ctr">
            <a:solidFill>
              <a:schemeClr val="accent1"/>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lang="ja-JP" altLang="en-US" sz="1400" b="0" i="0" u="none" strike="noStrike" kern="0" cap="none" spc="0" normalizeH="0" baseline="0" noProof="0">
              <a:ln>
                <a:noFill/>
              </a:ln>
              <a:solidFill>
                <a:srgbClr val="FFFFFF"/>
              </a:solidFill>
              <a:effectLst/>
              <a:uLnTx/>
              <a:uFillTx/>
              <a:latin typeface="メイリオ"/>
              <a:ea typeface="メイリオ" panose="020B0600070205080204" pitchFamily="50" charset="-128"/>
              <a:cs typeface="メイリオ"/>
              <a:sym typeface="Arial"/>
            </a:endParaRPr>
          </a:p>
        </p:txBody>
      </p:sp>
      <p:sp>
        <p:nvSpPr>
          <p:cNvPr id="38" name="Google Shape;178;p7">
            <a:extLst>
              <a:ext uri="{FF2B5EF4-FFF2-40B4-BE49-F238E27FC236}">
                <a16:creationId xmlns:a16="http://schemas.microsoft.com/office/drawing/2014/main" id="{6F13136C-FF05-A088-CA87-3ACA257BC421}"/>
              </a:ext>
            </a:extLst>
          </p:cNvPr>
          <p:cNvSpPr txBox="1"/>
          <p:nvPr/>
        </p:nvSpPr>
        <p:spPr>
          <a:xfrm>
            <a:off x="3796689" y="1949959"/>
            <a:ext cx="2314319"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メイリオ"/>
                <a:ea typeface="メイリオ"/>
                <a:cs typeface="メイリオ"/>
                <a:sym typeface="Meiryo"/>
              </a:rPr>
              <a:t>通知メッセージ</a:t>
            </a:r>
            <a:endParaRPr lang="en-US" altLang="ja-JP" sz="2000" b="1" dirty="0">
              <a:solidFill>
                <a:srgbClr val="002060"/>
              </a:solidFill>
              <a:latin typeface="メイリオ"/>
              <a:ea typeface="メイリオ"/>
              <a:cs typeface="メイリオ"/>
              <a:sym typeface="Meiryo"/>
            </a:endParaRPr>
          </a:p>
        </p:txBody>
      </p:sp>
      <p:sp>
        <p:nvSpPr>
          <p:cNvPr id="39" name="Google Shape;178;p7">
            <a:extLst>
              <a:ext uri="{FF2B5EF4-FFF2-40B4-BE49-F238E27FC236}">
                <a16:creationId xmlns:a16="http://schemas.microsoft.com/office/drawing/2014/main" id="{07FD580D-9A27-0246-033B-9F6EAE799E8D}"/>
              </a:ext>
            </a:extLst>
          </p:cNvPr>
          <p:cNvSpPr txBox="1"/>
          <p:nvPr/>
        </p:nvSpPr>
        <p:spPr>
          <a:xfrm>
            <a:off x="3232397" y="4068766"/>
            <a:ext cx="3501626" cy="798502"/>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latin typeface="メイリオ"/>
                <a:ea typeface="メイリオ"/>
                <a:cs typeface="メイリオ"/>
                <a:sym typeface="Meiryo"/>
              </a:rPr>
              <a:t>友だちではないユーザーに</a:t>
            </a:r>
            <a:endParaRPr lang="en-US" altLang="ja-JP" sz="1400" dirty="0">
              <a:latin typeface="メイリオ"/>
              <a:ea typeface="メイリオ"/>
              <a:cs typeface="メイリオ"/>
              <a:sym typeface="Meiryo"/>
            </a:endParaRPr>
          </a:p>
          <a:p>
            <a:pPr lvl="0" algn="ctr">
              <a:buClr>
                <a:schemeClr val="dk1"/>
              </a:buClr>
              <a:buSzPts val="1500"/>
            </a:pPr>
            <a:r>
              <a:rPr lang="ja-JP" altLang="en-US" sz="1400" dirty="0">
                <a:latin typeface="メイリオ"/>
                <a:ea typeface="メイリオ"/>
                <a:cs typeface="メイリオ"/>
                <a:sym typeface="Meiryo"/>
              </a:rPr>
              <a:t>対して予約完了通知などを</a:t>
            </a:r>
            <a:endParaRPr lang="en-US" altLang="ja-JP" sz="1400" dirty="0">
              <a:latin typeface="メイリオ"/>
              <a:ea typeface="メイリオ"/>
              <a:cs typeface="メイリオ"/>
              <a:sym typeface="Meiryo"/>
            </a:endParaRPr>
          </a:p>
          <a:p>
            <a:pPr lvl="0" algn="ctr">
              <a:buClr>
                <a:schemeClr val="dk1"/>
              </a:buClr>
              <a:buSzPts val="1500"/>
            </a:pPr>
            <a:r>
              <a:rPr lang="ja-JP" altLang="en-US" sz="1400" dirty="0">
                <a:latin typeface="メイリオ"/>
                <a:ea typeface="メイリオ"/>
                <a:cs typeface="メイリオ"/>
                <a:sym typeface="Meiryo"/>
              </a:rPr>
              <a:t>送り友だちを増やす。</a:t>
            </a:r>
            <a:endParaRPr lang="en-US" altLang="ja-JP" sz="1400" dirty="0">
              <a:latin typeface="メイリオ"/>
              <a:ea typeface="メイリオ"/>
              <a:cs typeface="メイリオ"/>
              <a:sym typeface="Meiryo"/>
            </a:endParaRPr>
          </a:p>
        </p:txBody>
      </p:sp>
      <p:sp>
        <p:nvSpPr>
          <p:cNvPr id="40" name="Google Shape;178;p7">
            <a:extLst>
              <a:ext uri="{FF2B5EF4-FFF2-40B4-BE49-F238E27FC236}">
                <a16:creationId xmlns:a16="http://schemas.microsoft.com/office/drawing/2014/main" id="{9F664541-9CBE-3991-FFCD-6CC51F91112E}"/>
              </a:ext>
            </a:extLst>
          </p:cNvPr>
          <p:cNvSpPr txBox="1"/>
          <p:nvPr/>
        </p:nvSpPr>
        <p:spPr>
          <a:xfrm>
            <a:off x="3232397" y="5014843"/>
            <a:ext cx="2338123" cy="367615"/>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solidFill>
                  <a:schemeClr val="tx1">
                    <a:lumMod val="50000"/>
                    <a:lumOff val="50000"/>
                  </a:schemeClr>
                </a:solidFill>
                <a:latin typeface="メイリオ"/>
                <a:ea typeface="メイリオ"/>
                <a:cs typeface="メイリオ"/>
                <a:sym typeface="Meiryo"/>
              </a:rPr>
              <a:t>事例：宅配ピザ</a:t>
            </a:r>
            <a:endParaRPr lang="en-US" altLang="ja-JP" sz="1400" dirty="0">
              <a:solidFill>
                <a:schemeClr val="tx1">
                  <a:lumMod val="50000"/>
                  <a:lumOff val="50000"/>
                </a:schemeClr>
              </a:solidFill>
              <a:latin typeface="メイリオ"/>
              <a:ea typeface="メイリオ"/>
              <a:cs typeface="メイリオ"/>
              <a:sym typeface="Meiryo"/>
            </a:endParaRPr>
          </a:p>
        </p:txBody>
      </p:sp>
      <p:pic>
        <p:nvPicPr>
          <p:cNvPr id="41" name="図 40">
            <a:extLst>
              <a:ext uri="{FF2B5EF4-FFF2-40B4-BE49-F238E27FC236}">
                <a16:creationId xmlns:a16="http://schemas.microsoft.com/office/drawing/2014/main" id="{EBE29AD0-3B27-DC79-2BA9-92067E227221}"/>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968283" y="1481069"/>
            <a:ext cx="2029853" cy="3608629"/>
          </a:xfrm>
          <a:prstGeom prst="rect">
            <a:avLst/>
          </a:prstGeom>
        </p:spPr>
      </p:pic>
      <p:sp>
        <p:nvSpPr>
          <p:cNvPr id="42" name="Google Shape;178;p7">
            <a:extLst>
              <a:ext uri="{FF2B5EF4-FFF2-40B4-BE49-F238E27FC236}">
                <a16:creationId xmlns:a16="http://schemas.microsoft.com/office/drawing/2014/main" id="{D998E418-5C84-71C1-1C83-DA02AB529AF7}"/>
              </a:ext>
            </a:extLst>
          </p:cNvPr>
          <p:cNvSpPr txBox="1"/>
          <p:nvPr/>
        </p:nvSpPr>
        <p:spPr>
          <a:xfrm>
            <a:off x="3622860" y="5328640"/>
            <a:ext cx="2851751" cy="521504"/>
          </a:xfrm>
          <a:prstGeom prst="rect">
            <a:avLst/>
          </a:prstGeom>
          <a:noFill/>
          <a:ln>
            <a:noFill/>
          </a:ln>
        </p:spPr>
        <p:txBody>
          <a:bodyPr spcFirstLastPara="1" wrap="square" lIns="150750" tIns="75350" rIns="150750" bIns="75350" anchor="t" anchorCtr="0">
            <a:spAutoFit/>
          </a:bodyPr>
          <a:lstStyle/>
          <a:p>
            <a:pPr lvl="0">
              <a:buClr>
                <a:schemeClr val="dk1"/>
              </a:buClr>
              <a:buSzPts val="1500"/>
            </a:pPr>
            <a:r>
              <a:rPr lang="ja-JP" altLang="en-US" sz="1200" dirty="0">
                <a:solidFill>
                  <a:schemeClr val="tx1">
                    <a:lumMod val="50000"/>
                    <a:lumOff val="50000"/>
                  </a:schemeClr>
                </a:solidFill>
                <a:latin typeface="メイリオ"/>
                <a:ea typeface="メイリオ"/>
                <a:cs typeface="メイリオ"/>
                <a:sym typeface="Meiryo"/>
              </a:rPr>
              <a:t>通知メッセージ導入４ヶ月で</a:t>
            </a:r>
            <a:endParaRPr lang="en-US" altLang="ja-JP" sz="1200" dirty="0">
              <a:solidFill>
                <a:schemeClr val="tx1">
                  <a:lumMod val="50000"/>
                  <a:lumOff val="50000"/>
                </a:schemeClr>
              </a:solidFill>
              <a:latin typeface="メイリオ"/>
              <a:ea typeface="メイリオ"/>
              <a:cs typeface="メイリオ"/>
              <a:sym typeface="Meiryo"/>
            </a:endParaRPr>
          </a:p>
          <a:p>
            <a:pPr lvl="0">
              <a:buClr>
                <a:schemeClr val="dk1"/>
              </a:buClr>
              <a:buSzPts val="1500"/>
            </a:pPr>
            <a:r>
              <a:rPr lang="ja-JP" altLang="en-US" sz="1200" dirty="0">
                <a:solidFill>
                  <a:schemeClr val="tx1">
                    <a:lumMod val="50000"/>
                    <a:lumOff val="50000"/>
                  </a:schemeClr>
                </a:solidFill>
                <a:latin typeface="メイリオ"/>
                <a:ea typeface="メイリオ"/>
                <a:cs typeface="メイリオ"/>
                <a:sym typeface="Meiryo"/>
              </a:rPr>
              <a:t>友だち数</a:t>
            </a:r>
            <a:r>
              <a:rPr lang="en-US" altLang="ja-JP" sz="1200" dirty="0">
                <a:solidFill>
                  <a:schemeClr val="tx1">
                    <a:lumMod val="50000"/>
                    <a:lumOff val="50000"/>
                  </a:schemeClr>
                </a:solidFill>
                <a:latin typeface="メイリオ"/>
                <a:ea typeface="メイリオ"/>
                <a:cs typeface="メイリオ"/>
                <a:sym typeface="Meiryo"/>
              </a:rPr>
              <a:t>2</a:t>
            </a:r>
            <a:r>
              <a:rPr lang="ja-JP" altLang="en-US" sz="1200" dirty="0">
                <a:solidFill>
                  <a:schemeClr val="tx1">
                    <a:lumMod val="50000"/>
                    <a:lumOff val="50000"/>
                  </a:schemeClr>
                </a:solidFill>
                <a:latin typeface="メイリオ"/>
                <a:ea typeface="メイリオ"/>
                <a:cs typeface="メイリオ"/>
                <a:sym typeface="Meiryo"/>
              </a:rPr>
              <a:t>倍</a:t>
            </a:r>
            <a:endParaRPr lang="en-US" altLang="ja-JP" sz="1200" dirty="0">
              <a:solidFill>
                <a:schemeClr val="tx1">
                  <a:lumMod val="50000"/>
                  <a:lumOff val="50000"/>
                </a:schemeClr>
              </a:solidFill>
              <a:latin typeface="メイリオ"/>
              <a:ea typeface="メイリオ"/>
              <a:cs typeface="メイリオ"/>
              <a:sym typeface="Meiryo"/>
            </a:endParaRPr>
          </a:p>
        </p:txBody>
      </p:sp>
      <p:pic>
        <p:nvPicPr>
          <p:cNvPr id="1026" name="Picture 2" descr="サンクスページ インスタ無料テンプレートデザイン。イラストや ...">
            <a:extLst>
              <a:ext uri="{FF2B5EF4-FFF2-40B4-BE49-F238E27FC236}">
                <a16:creationId xmlns:a16="http://schemas.microsoft.com/office/drawing/2014/main" id="{EF2FB526-72BA-45FB-7AF8-36501049F967}"/>
              </a:ext>
            </a:extLst>
          </p:cNvPr>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t="18239" b="39628"/>
          <a:stretch>
            <a:fillRect/>
          </a:stretch>
        </p:blipFill>
        <p:spPr bwMode="auto">
          <a:xfrm>
            <a:off x="7001437" y="2549254"/>
            <a:ext cx="2326770" cy="1225425"/>
          </a:xfrm>
          <a:prstGeom prst="rect">
            <a:avLst/>
          </a:prstGeom>
          <a:noFill/>
          <a:extLst>
            <a:ext uri="{909E8E84-426E-40DD-AFC4-6F175D3DCCD1}">
              <a14:hiddenFill xmlns:a14="http://schemas.microsoft.com/office/drawing/2010/main">
                <a:solidFill>
                  <a:srgbClr val="FFFFFF"/>
                </a:solidFill>
              </a14:hiddenFill>
            </a:ext>
          </a:extLst>
        </p:spPr>
      </p:pic>
      <p:sp>
        <p:nvSpPr>
          <p:cNvPr id="3" name="Google Shape;752;p28">
            <a:extLst>
              <a:ext uri="{FF2B5EF4-FFF2-40B4-BE49-F238E27FC236}">
                <a16:creationId xmlns:a16="http://schemas.microsoft.com/office/drawing/2014/main" id="{E6ACC822-B6F9-6C30-928D-BAC3D63D473A}"/>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提供施策について</a:t>
            </a:r>
          </a:p>
        </p:txBody>
      </p:sp>
      <p:sp>
        <p:nvSpPr>
          <p:cNvPr id="5" name="Google Shape;178;p7">
            <a:extLst>
              <a:ext uri="{FF2B5EF4-FFF2-40B4-BE49-F238E27FC236}">
                <a16:creationId xmlns:a16="http://schemas.microsoft.com/office/drawing/2014/main" id="{617CCD27-0570-5EC2-D489-ADCA03A0F721}"/>
              </a:ext>
            </a:extLst>
          </p:cNvPr>
          <p:cNvSpPr txBox="1"/>
          <p:nvPr/>
        </p:nvSpPr>
        <p:spPr>
          <a:xfrm>
            <a:off x="77003" y="943920"/>
            <a:ext cx="9751992" cy="583059"/>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600" dirty="0">
                <a:latin typeface="メイリオ"/>
                <a:ea typeface="メイリオ"/>
                <a:cs typeface="メイリオ"/>
                <a:sym typeface="Meiryo"/>
              </a:rPr>
              <a:t>準顕在（獲得見込みが高い）層の</a:t>
            </a:r>
            <a:r>
              <a:rPr lang="ja-JP" altLang="en-US" sz="1600" b="1" dirty="0">
                <a:latin typeface="メイリオ"/>
                <a:ea typeface="メイリオ"/>
                <a:cs typeface="メイリオ"/>
                <a:sym typeface="Meiryo"/>
              </a:rPr>
              <a:t>独自獲得手法が豊富</a:t>
            </a:r>
            <a:r>
              <a:rPr lang="ja-JP" altLang="en-US" sz="1600" dirty="0">
                <a:latin typeface="メイリオ"/>
                <a:ea typeface="メイリオ"/>
                <a:cs typeface="メイリオ"/>
                <a:sym typeface="Meiryo"/>
              </a:rPr>
              <a:t>で尚且つ</a:t>
            </a:r>
            <a:r>
              <a:rPr lang="ja-JP" altLang="en-US" sz="1600" b="1" dirty="0">
                <a:latin typeface="メイリオ"/>
                <a:ea typeface="メイリオ"/>
                <a:cs typeface="メイリオ"/>
                <a:sym typeface="Meiryo"/>
              </a:rPr>
              <a:t>利用までナーチャリング</a:t>
            </a:r>
            <a:endParaRPr lang="en-US" altLang="ja-JP" sz="1600" b="1" dirty="0">
              <a:latin typeface="メイリオ"/>
              <a:ea typeface="メイリオ"/>
              <a:cs typeface="メイリオ"/>
              <a:sym typeface="Meiryo"/>
            </a:endParaRPr>
          </a:p>
          <a:p>
            <a:pPr lvl="0" algn="ctr">
              <a:buClr>
                <a:schemeClr val="dk1"/>
              </a:buClr>
              <a:buSzPts val="1500"/>
            </a:pPr>
            <a:r>
              <a:rPr lang="en-US" altLang="ja-JP" sz="1100" dirty="0">
                <a:solidFill>
                  <a:srgbClr val="1F2A5C"/>
                </a:solidFill>
                <a:latin typeface="メイリオ"/>
                <a:ea typeface="メイリオ"/>
                <a:cs typeface="メイリオ"/>
                <a:sym typeface="Meiryo"/>
              </a:rPr>
              <a:t>※</a:t>
            </a:r>
            <a:r>
              <a:rPr lang="ja-JP" altLang="en-US" sz="1100" dirty="0">
                <a:solidFill>
                  <a:srgbClr val="1F2A5C"/>
                </a:solidFill>
                <a:latin typeface="メイリオ"/>
                <a:ea typeface="メイリオ"/>
                <a:cs typeface="メイリオ"/>
                <a:sym typeface="Meiryo"/>
              </a:rPr>
              <a:t>実施想定の友だち追加動線について、★を記載しております。</a:t>
            </a:r>
            <a:endParaRPr lang="en-US" altLang="ja-JP" sz="1600" dirty="0">
              <a:solidFill>
                <a:srgbClr val="1F2A5C"/>
              </a:solidFill>
              <a:latin typeface="メイリオ"/>
              <a:ea typeface="メイリオ"/>
              <a:cs typeface="メイリオ"/>
              <a:sym typeface="Meiryo"/>
            </a:endParaRPr>
          </a:p>
        </p:txBody>
      </p:sp>
      <p:sp>
        <p:nvSpPr>
          <p:cNvPr id="6" name="星: 5 pt 5">
            <a:extLst>
              <a:ext uri="{FF2B5EF4-FFF2-40B4-BE49-F238E27FC236}">
                <a16:creationId xmlns:a16="http://schemas.microsoft.com/office/drawing/2014/main" id="{73AA3FF7-ED61-B641-763C-E4940D075F39}"/>
              </a:ext>
            </a:extLst>
          </p:cNvPr>
          <p:cNvSpPr/>
          <p:nvPr/>
        </p:nvSpPr>
        <p:spPr>
          <a:xfrm>
            <a:off x="2749464" y="1706924"/>
            <a:ext cx="540000" cy="540000"/>
          </a:xfrm>
          <a:prstGeom prst="star5">
            <a:avLst>
              <a:gd name="adj" fmla="val 32226"/>
              <a:gd name="hf" fmla="val 105146"/>
              <a:gd name="vf" fmla="val 110557"/>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メイリオ"/>
              <a:ea typeface="メイリオ"/>
              <a:cs typeface="メイリオ"/>
            </a:endParaRPr>
          </a:p>
        </p:txBody>
      </p:sp>
      <p:sp>
        <p:nvSpPr>
          <p:cNvPr id="12" name="星: 5 pt 11">
            <a:extLst>
              <a:ext uri="{FF2B5EF4-FFF2-40B4-BE49-F238E27FC236}">
                <a16:creationId xmlns:a16="http://schemas.microsoft.com/office/drawing/2014/main" id="{2C908883-96FE-2C98-5753-AECCC0E66D37}"/>
              </a:ext>
            </a:extLst>
          </p:cNvPr>
          <p:cNvSpPr/>
          <p:nvPr/>
        </p:nvSpPr>
        <p:spPr>
          <a:xfrm>
            <a:off x="9252865" y="1706924"/>
            <a:ext cx="540000" cy="540000"/>
          </a:xfrm>
          <a:prstGeom prst="star5">
            <a:avLst>
              <a:gd name="adj" fmla="val 32226"/>
              <a:gd name="hf" fmla="val 105146"/>
              <a:gd name="vf" fmla="val 110557"/>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メイリオ"/>
              <a:ea typeface="メイリオ"/>
              <a:cs typeface="メイリオ"/>
            </a:endParaRPr>
          </a:p>
        </p:txBody>
      </p:sp>
    </p:spTree>
    <p:extLst>
      <p:ext uri="{BB962C8B-B14F-4D97-AF65-F5344CB8AC3E}">
        <p14:creationId xmlns:p14="http://schemas.microsoft.com/office/powerpoint/2010/main" val="300013459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E341AF-76F7-F354-A08C-287945F04D7D}"/>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CEDF5177-0A5C-5E57-5AEC-2A3A0A3E97A1}"/>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002060"/>
                </a:solidFill>
                <a:latin typeface="メイリオ"/>
                <a:ea typeface="メイリオ"/>
                <a:cs typeface="メイリオ"/>
                <a:sym typeface="Meiryo"/>
              </a:rPr>
              <a:t>新規友だちの追加</a:t>
            </a:r>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（通知メッセージ）</a:t>
            </a:r>
          </a:p>
        </p:txBody>
      </p:sp>
      <p:grpSp>
        <p:nvGrpSpPr>
          <p:cNvPr id="3" name="グループ化 2">
            <a:extLst>
              <a:ext uri="{FF2B5EF4-FFF2-40B4-BE49-F238E27FC236}">
                <a16:creationId xmlns:a16="http://schemas.microsoft.com/office/drawing/2014/main" id="{40037302-E6AA-0829-6AB4-E8C68E0B5350}"/>
              </a:ext>
            </a:extLst>
          </p:cNvPr>
          <p:cNvGrpSpPr/>
          <p:nvPr/>
        </p:nvGrpSpPr>
        <p:grpSpPr>
          <a:xfrm>
            <a:off x="543398" y="777681"/>
            <a:ext cx="3105325" cy="485102"/>
            <a:chOff x="507969" y="928495"/>
            <a:chExt cx="3105325" cy="485102"/>
          </a:xfrm>
        </p:grpSpPr>
        <p:sp>
          <p:nvSpPr>
            <p:cNvPr id="4" name="Google Shape;51;p19">
              <a:extLst>
                <a:ext uri="{FF2B5EF4-FFF2-40B4-BE49-F238E27FC236}">
                  <a16:creationId xmlns:a16="http://schemas.microsoft.com/office/drawing/2014/main" id="{596B7C8B-2830-475F-54BD-39885C61FB2A}"/>
                </a:ext>
              </a:extLst>
            </p:cNvPr>
            <p:cNvSpPr/>
            <p:nvPr/>
          </p:nvSpPr>
          <p:spPr>
            <a:xfrm>
              <a:off x="507969" y="928495"/>
              <a:ext cx="3105325" cy="485102"/>
            </a:xfrm>
            <a:prstGeom prst="roundRect">
              <a:avLst>
                <a:gd name="adj" fmla="val 16667"/>
              </a:avLst>
            </a:prstGeom>
            <a:solidFill>
              <a:schemeClr val="dk1"/>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dirty="0">
                <a:solidFill>
                  <a:schemeClr val="lt1"/>
                </a:solidFill>
                <a:latin typeface="メイリオ"/>
                <a:ea typeface="メイリオ"/>
                <a:cs typeface="メイリオ"/>
                <a:sym typeface="Meiryo"/>
              </a:endParaRPr>
            </a:p>
          </p:txBody>
        </p:sp>
        <p:sp>
          <p:nvSpPr>
            <p:cNvPr id="5" name="テキスト ボックス 4">
              <a:extLst>
                <a:ext uri="{FF2B5EF4-FFF2-40B4-BE49-F238E27FC236}">
                  <a16:creationId xmlns:a16="http://schemas.microsoft.com/office/drawing/2014/main" id="{5F77E149-8797-8964-2351-34587DDB9A0B}"/>
                </a:ext>
              </a:extLst>
            </p:cNvPr>
            <p:cNvSpPr txBox="1"/>
            <p:nvPr/>
          </p:nvSpPr>
          <p:spPr>
            <a:xfrm>
              <a:off x="1140096" y="988192"/>
              <a:ext cx="1531188" cy="357790"/>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a:lnSpc>
                  <a:spcPct val="120000"/>
                </a:lnSpc>
              </a:pPr>
              <a:r>
                <a:rPr kumimoji="1" lang="ja-JP" altLang="en-US" sz="1500" b="1" dirty="0">
                  <a:solidFill>
                    <a:schemeClr val="bg1"/>
                  </a:solidFill>
                  <a:latin typeface="メイリオ" panose="020B0604030504040204" pitchFamily="34" charset="-128"/>
                  <a:ea typeface="メイリオ" panose="020B0604030504040204" pitchFamily="34" charset="-128"/>
                  <a:cs typeface="メイリオ"/>
                </a:rPr>
                <a:t>通知メッセージ</a:t>
              </a:r>
            </a:p>
          </p:txBody>
        </p:sp>
      </p:grpSp>
      <p:sp>
        <p:nvSpPr>
          <p:cNvPr id="9" name="正方形/長方形 8">
            <a:extLst>
              <a:ext uri="{FF2B5EF4-FFF2-40B4-BE49-F238E27FC236}">
                <a16:creationId xmlns:a16="http://schemas.microsoft.com/office/drawing/2014/main" id="{C076E43E-4FBE-86BD-F3B4-70DD95B2A175}"/>
              </a:ext>
            </a:extLst>
          </p:cNvPr>
          <p:cNvSpPr/>
          <p:nvPr/>
        </p:nvSpPr>
        <p:spPr>
          <a:xfrm>
            <a:off x="3806311" y="788165"/>
            <a:ext cx="5880088" cy="584775"/>
          </a:xfrm>
          <a:prstGeom prst="rect">
            <a:avLst/>
          </a:prstGeom>
        </p:spPr>
        <p:txBody>
          <a:bodyPr wrap="square">
            <a:spAutoFit/>
          </a:bodyPr>
          <a:lstStyle/>
          <a:p>
            <a:pPr lvl="0" algn="ctr">
              <a:buClr>
                <a:schemeClr val="dk1"/>
              </a:buClr>
              <a:buSzPts val="1500"/>
            </a:pPr>
            <a:r>
              <a:rPr lang="en-US" altLang="ja-JP" sz="1600" dirty="0">
                <a:latin typeface="メイリオ"/>
                <a:ea typeface="メイリオ"/>
                <a:cs typeface="メイリオ"/>
                <a:sym typeface="Meiryo"/>
              </a:rPr>
              <a:t>WEB</a:t>
            </a:r>
            <a:r>
              <a:rPr lang="ja-JP" altLang="en-US" sz="1600" dirty="0">
                <a:latin typeface="メイリオ"/>
                <a:ea typeface="メイリオ"/>
                <a:cs typeface="メイリオ"/>
                <a:sym typeface="Meiryo"/>
              </a:rPr>
              <a:t>上のアクションユーザー、貴社保有リスト をターゲット</a:t>
            </a:r>
            <a:endParaRPr lang="en-US" altLang="ja-JP" sz="1600" dirty="0">
              <a:latin typeface="メイリオ"/>
              <a:ea typeface="メイリオ"/>
              <a:cs typeface="メイリオ"/>
              <a:sym typeface="Meiryo"/>
            </a:endParaRPr>
          </a:p>
          <a:p>
            <a:pPr lvl="0" algn="ctr">
              <a:buClr>
                <a:schemeClr val="dk1"/>
              </a:buClr>
              <a:buSzPts val="1500"/>
            </a:pPr>
            <a:r>
              <a:rPr lang="ja-JP" altLang="en-US" sz="1600" dirty="0">
                <a:latin typeface="メイリオ"/>
                <a:ea typeface="メイリオ"/>
                <a:cs typeface="メイリオ"/>
                <a:sym typeface="Meiryo"/>
              </a:rPr>
              <a:t>に友だち登録、ステータス通知を行うことが出来る機能です。</a:t>
            </a:r>
          </a:p>
        </p:txBody>
      </p:sp>
      <p:sp>
        <p:nvSpPr>
          <p:cNvPr id="75" name="Google Shape;51;p19">
            <a:extLst>
              <a:ext uri="{FF2B5EF4-FFF2-40B4-BE49-F238E27FC236}">
                <a16:creationId xmlns:a16="http://schemas.microsoft.com/office/drawing/2014/main" id="{3BC521D4-BDAA-5741-5164-4E22535838BC}"/>
              </a:ext>
            </a:extLst>
          </p:cNvPr>
          <p:cNvSpPr/>
          <p:nvPr/>
        </p:nvSpPr>
        <p:spPr>
          <a:xfrm>
            <a:off x="543399"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メイリオ"/>
                <a:ea typeface="メイリオ"/>
                <a:cs typeface="メイリオ"/>
                <a:sym typeface="Meiryo"/>
              </a:rPr>
              <a:t>初期：</a:t>
            </a:r>
            <a:r>
              <a:rPr lang="en-US" altLang="ja-JP" sz="1400" b="1" i="0" u="none" strike="noStrike" cap="none" dirty="0">
                <a:solidFill>
                  <a:schemeClr val="lt1"/>
                </a:solidFill>
                <a:latin typeface="メイリオ"/>
                <a:ea typeface="メイリオ"/>
                <a:cs typeface="メイリオ"/>
                <a:sym typeface="Meiryo"/>
              </a:rPr>
              <a:t>10</a:t>
            </a:r>
            <a:r>
              <a:rPr lang="ja-JP" altLang="en-US" sz="1400" b="1" i="0" u="none" strike="noStrike" cap="none" dirty="0">
                <a:solidFill>
                  <a:schemeClr val="lt1"/>
                </a:solidFill>
                <a:latin typeface="メイリオ"/>
                <a:ea typeface="メイリオ"/>
                <a:cs typeface="メイリオ"/>
                <a:sym typeface="Meiryo"/>
              </a:rPr>
              <a:t>万円</a:t>
            </a:r>
            <a:endParaRPr sz="1400" b="1" i="0" u="none" strike="noStrike" cap="none" dirty="0">
              <a:solidFill>
                <a:schemeClr val="lt1"/>
              </a:solidFill>
              <a:latin typeface="メイリオ"/>
              <a:ea typeface="メイリオ"/>
              <a:cs typeface="メイリオ"/>
              <a:sym typeface="Meiryo"/>
            </a:endParaRPr>
          </a:p>
        </p:txBody>
      </p:sp>
      <p:sp>
        <p:nvSpPr>
          <p:cNvPr id="77" name="Google Shape;51;p19">
            <a:extLst>
              <a:ext uri="{FF2B5EF4-FFF2-40B4-BE49-F238E27FC236}">
                <a16:creationId xmlns:a16="http://schemas.microsoft.com/office/drawing/2014/main" id="{91E7069A-2F1F-16FB-F2FD-E91D9E716C95}"/>
              </a:ext>
            </a:extLst>
          </p:cNvPr>
          <p:cNvSpPr/>
          <p:nvPr/>
        </p:nvSpPr>
        <p:spPr>
          <a:xfrm>
            <a:off x="2137897"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メイリオ"/>
                <a:ea typeface="メイリオ"/>
                <a:cs typeface="メイリオ"/>
                <a:sym typeface="Meiryo"/>
              </a:rPr>
              <a:t>月額</a:t>
            </a:r>
            <a:r>
              <a:rPr lang="en-US" altLang="ja-JP" sz="1400" b="1" i="0" u="none" strike="noStrike" cap="none" dirty="0">
                <a:solidFill>
                  <a:schemeClr val="lt1"/>
                </a:solidFill>
                <a:latin typeface="メイリオ"/>
                <a:ea typeface="メイリオ"/>
                <a:cs typeface="メイリオ"/>
                <a:sym typeface="Meiryo"/>
              </a:rPr>
              <a:t>8</a:t>
            </a:r>
            <a:r>
              <a:rPr lang="ja-JP" altLang="en-US" sz="1400" b="1" i="0" u="none" strike="noStrike" cap="none" dirty="0">
                <a:solidFill>
                  <a:schemeClr val="lt1"/>
                </a:solidFill>
                <a:latin typeface="メイリオ"/>
                <a:ea typeface="メイリオ"/>
                <a:cs typeface="メイリオ"/>
                <a:sym typeface="Meiryo"/>
              </a:rPr>
              <a:t>万円～</a:t>
            </a:r>
            <a:endParaRPr lang="en-US" altLang="ja-JP" sz="1400" b="1" i="0" u="none" strike="noStrike" cap="none" dirty="0">
              <a:solidFill>
                <a:schemeClr val="lt1"/>
              </a:solidFill>
              <a:latin typeface="メイリオ"/>
              <a:ea typeface="メイリオ"/>
              <a:cs typeface="メイリオ"/>
              <a:sym typeface="Meiryo"/>
            </a:endParaRPr>
          </a:p>
          <a:p>
            <a:pPr marL="0" marR="0" lvl="0" indent="0" algn="ctr" rtl="0">
              <a:lnSpc>
                <a:spcPct val="100000"/>
              </a:lnSpc>
              <a:spcBef>
                <a:spcPts val="0"/>
              </a:spcBef>
              <a:spcAft>
                <a:spcPts val="0"/>
              </a:spcAft>
              <a:buClr>
                <a:srgbClr val="000000"/>
              </a:buClr>
              <a:buSzPts val="1400"/>
              <a:buFont typeface="Arial"/>
              <a:buNone/>
            </a:pPr>
            <a:r>
              <a:rPr lang="en-US" altLang="ja-JP" sz="1050" b="1" dirty="0">
                <a:solidFill>
                  <a:srgbClr val="FFFFFF"/>
                </a:solidFill>
                <a:latin typeface="メイリオ"/>
                <a:ea typeface="メイリオ"/>
                <a:cs typeface="メイリオ"/>
                <a:sym typeface="Meiryo"/>
              </a:rPr>
              <a:t>+</a:t>
            </a:r>
            <a:r>
              <a:rPr lang="ja-JP" altLang="en-US" sz="1050" b="1" dirty="0">
                <a:solidFill>
                  <a:srgbClr val="FFFFFF"/>
                </a:solidFill>
                <a:latin typeface="メイリオ"/>
                <a:ea typeface="メイリオ"/>
                <a:cs typeface="メイリオ"/>
                <a:sym typeface="Meiryo"/>
              </a:rPr>
              <a:t>通数単価：</a:t>
            </a:r>
            <a:r>
              <a:rPr lang="en-US" altLang="ja-JP" sz="1050" b="1" dirty="0">
                <a:solidFill>
                  <a:srgbClr val="FFFFFF"/>
                </a:solidFill>
                <a:latin typeface="メイリオ"/>
                <a:ea typeface="メイリオ"/>
                <a:cs typeface="メイリオ"/>
                <a:sym typeface="Meiryo"/>
              </a:rPr>
              <a:t>7</a:t>
            </a:r>
            <a:r>
              <a:rPr lang="ja-JP" altLang="en-US" sz="1050" b="1" dirty="0">
                <a:solidFill>
                  <a:srgbClr val="FFFFFF"/>
                </a:solidFill>
                <a:latin typeface="メイリオ"/>
                <a:ea typeface="メイリオ"/>
                <a:cs typeface="メイリオ"/>
                <a:sym typeface="Meiryo"/>
              </a:rPr>
              <a:t>円</a:t>
            </a:r>
            <a:endParaRPr sz="1050" b="1" i="0" u="none" strike="noStrike" cap="none" dirty="0">
              <a:solidFill>
                <a:srgbClr val="FFFFFF"/>
              </a:solidFill>
              <a:latin typeface="メイリオ"/>
              <a:ea typeface="メイリオ"/>
              <a:cs typeface="メイリオ"/>
              <a:sym typeface="Meiryo"/>
            </a:endParaRPr>
          </a:p>
        </p:txBody>
      </p:sp>
      <p:sp>
        <p:nvSpPr>
          <p:cNvPr id="79" name="正方形/長方形 78">
            <a:extLst>
              <a:ext uri="{FF2B5EF4-FFF2-40B4-BE49-F238E27FC236}">
                <a16:creationId xmlns:a16="http://schemas.microsoft.com/office/drawing/2014/main" id="{B31CA3DA-9F8B-560D-3F3E-1B37667D3043}"/>
              </a:ext>
            </a:extLst>
          </p:cNvPr>
          <p:cNvSpPr/>
          <p:nvPr/>
        </p:nvSpPr>
        <p:spPr>
          <a:xfrm>
            <a:off x="5769326" y="1938056"/>
            <a:ext cx="3788228" cy="244151"/>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b="1" dirty="0">
                <a:solidFill>
                  <a:schemeClr val="bg1"/>
                </a:solidFill>
                <a:latin typeface="メイリオ" panose="020B0604030504040204" pitchFamily="50" charset="-128"/>
                <a:ea typeface="メイリオ" panose="020B0604030504040204" pitchFamily="50" charset="-128"/>
                <a:cs typeface="メイリオ"/>
              </a:rPr>
              <a:t>動作イメージ</a:t>
            </a:r>
            <a:endParaRPr kumimoji="1" lang="ja-JP" altLang="en-US" sz="1100" b="1" dirty="0">
              <a:solidFill>
                <a:schemeClr val="bg1"/>
              </a:solidFill>
              <a:latin typeface="メイリオ" panose="020B0604030504040204" pitchFamily="50" charset="-128"/>
              <a:ea typeface="メイリオ" panose="020B0604030504040204" pitchFamily="50" charset="-128"/>
              <a:cs typeface="メイリオ"/>
            </a:endParaRPr>
          </a:p>
        </p:txBody>
      </p:sp>
      <p:pic>
        <p:nvPicPr>
          <p:cNvPr id="82" name="図 81">
            <a:extLst>
              <a:ext uri="{FF2B5EF4-FFF2-40B4-BE49-F238E27FC236}">
                <a16:creationId xmlns:a16="http://schemas.microsoft.com/office/drawing/2014/main" id="{8B5BACB1-E619-75E8-84E9-0C790B13F4E4}"/>
              </a:ext>
            </a:extLst>
          </p:cNvPr>
          <p:cNvPicPr>
            <a:picLocks noChangeAspect="1"/>
          </p:cNvPicPr>
          <p:nvPr/>
        </p:nvPicPr>
        <p:blipFill>
          <a:blip r:embed="rId2"/>
          <a:stretch>
            <a:fillRect/>
          </a:stretch>
        </p:blipFill>
        <p:spPr>
          <a:xfrm>
            <a:off x="532512" y="4787607"/>
            <a:ext cx="3533302" cy="1714690"/>
          </a:xfrm>
          <a:prstGeom prst="rect">
            <a:avLst/>
          </a:prstGeom>
        </p:spPr>
      </p:pic>
      <p:pic>
        <p:nvPicPr>
          <p:cNvPr id="84" name="図 83">
            <a:extLst>
              <a:ext uri="{FF2B5EF4-FFF2-40B4-BE49-F238E27FC236}">
                <a16:creationId xmlns:a16="http://schemas.microsoft.com/office/drawing/2014/main" id="{A2B50304-2B09-7BB6-6FD5-2122ADB3185D}"/>
              </a:ext>
            </a:extLst>
          </p:cNvPr>
          <p:cNvPicPr>
            <a:picLocks noChangeAspect="1"/>
          </p:cNvPicPr>
          <p:nvPr/>
        </p:nvPicPr>
        <p:blipFill>
          <a:blip r:embed="rId3"/>
          <a:stretch>
            <a:fillRect/>
          </a:stretch>
        </p:blipFill>
        <p:spPr>
          <a:xfrm>
            <a:off x="4065814" y="4801141"/>
            <a:ext cx="1586275" cy="1701156"/>
          </a:xfrm>
          <a:prstGeom prst="rect">
            <a:avLst/>
          </a:prstGeom>
        </p:spPr>
      </p:pic>
      <p:pic>
        <p:nvPicPr>
          <p:cNvPr id="86" name="図 85">
            <a:extLst>
              <a:ext uri="{FF2B5EF4-FFF2-40B4-BE49-F238E27FC236}">
                <a16:creationId xmlns:a16="http://schemas.microsoft.com/office/drawing/2014/main" id="{FBAEE1FF-4E25-D523-E0EA-6A3361C12E5A}"/>
              </a:ext>
            </a:extLst>
          </p:cNvPr>
          <p:cNvPicPr>
            <a:picLocks noChangeAspect="1"/>
          </p:cNvPicPr>
          <p:nvPr/>
        </p:nvPicPr>
        <p:blipFill>
          <a:blip r:embed="rId4"/>
          <a:stretch>
            <a:fillRect/>
          </a:stretch>
        </p:blipFill>
        <p:spPr>
          <a:xfrm>
            <a:off x="5988432" y="2468072"/>
            <a:ext cx="3362361" cy="1977297"/>
          </a:xfrm>
          <a:prstGeom prst="rect">
            <a:avLst/>
          </a:prstGeom>
        </p:spPr>
      </p:pic>
      <p:pic>
        <p:nvPicPr>
          <p:cNvPr id="88" name="図 87">
            <a:extLst>
              <a:ext uri="{FF2B5EF4-FFF2-40B4-BE49-F238E27FC236}">
                <a16:creationId xmlns:a16="http://schemas.microsoft.com/office/drawing/2014/main" id="{3517C81E-3BB9-067B-DB2E-F6109D78F069}"/>
              </a:ext>
            </a:extLst>
          </p:cNvPr>
          <p:cNvPicPr>
            <a:picLocks noChangeAspect="1"/>
          </p:cNvPicPr>
          <p:nvPr/>
        </p:nvPicPr>
        <p:blipFill>
          <a:blip r:embed="rId5"/>
          <a:stretch>
            <a:fillRect/>
          </a:stretch>
        </p:blipFill>
        <p:spPr>
          <a:xfrm>
            <a:off x="5927443" y="4787607"/>
            <a:ext cx="3471994" cy="1626185"/>
          </a:xfrm>
          <a:prstGeom prst="rect">
            <a:avLst/>
          </a:prstGeom>
        </p:spPr>
      </p:pic>
      <p:sp>
        <p:nvSpPr>
          <p:cNvPr id="90" name="正方形/長方形 89">
            <a:extLst>
              <a:ext uri="{FF2B5EF4-FFF2-40B4-BE49-F238E27FC236}">
                <a16:creationId xmlns:a16="http://schemas.microsoft.com/office/drawing/2014/main" id="{DAE064A8-FF19-CBAF-1BB4-15234EAFE4C3}"/>
              </a:ext>
            </a:extLst>
          </p:cNvPr>
          <p:cNvSpPr/>
          <p:nvPr/>
        </p:nvSpPr>
        <p:spPr>
          <a:xfrm>
            <a:off x="5941518" y="2223921"/>
            <a:ext cx="3443844" cy="244151"/>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dirty="0">
                <a:solidFill>
                  <a:schemeClr val="tx1"/>
                </a:solidFill>
                <a:latin typeface="メイリオ" panose="020B0604030504040204" pitchFamily="50" charset="-128"/>
                <a:ea typeface="メイリオ" panose="020B0604030504040204" pitchFamily="50" charset="-128"/>
                <a:cs typeface="メイリオ"/>
              </a:rPr>
              <a:t>佐川急便</a:t>
            </a:r>
            <a:endParaRPr kumimoji="1" lang="ja-JP" altLang="en-US" sz="1100" dirty="0">
              <a:solidFill>
                <a:schemeClr val="tx1"/>
              </a:solidFill>
              <a:latin typeface="メイリオ" panose="020B0604030504040204" pitchFamily="50" charset="-128"/>
              <a:ea typeface="メイリオ" panose="020B0604030504040204" pitchFamily="50" charset="-128"/>
              <a:cs typeface="メイリオ"/>
            </a:endParaRPr>
          </a:p>
        </p:txBody>
      </p:sp>
      <p:sp>
        <p:nvSpPr>
          <p:cNvPr id="92" name="正方形/長方形 91">
            <a:extLst>
              <a:ext uri="{FF2B5EF4-FFF2-40B4-BE49-F238E27FC236}">
                <a16:creationId xmlns:a16="http://schemas.microsoft.com/office/drawing/2014/main" id="{D4794AD6-6F68-15DB-7568-78E492020B13}"/>
              </a:ext>
            </a:extLst>
          </p:cNvPr>
          <p:cNvSpPr/>
          <p:nvPr/>
        </p:nvSpPr>
        <p:spPr>
          <a:xfrm>
            <a:off x="5941518" y="4499415"/>
            <a:ext cx="3443844" cy="244151"/>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dirty="0">
                <a:solidFill>
                  <a:schemeClr val="tx1"/>
                </a:solidFill>
                <a:latin typeface="メイリオ" panose="020B0604030504040204" pitchFamily="50" charset="-128"/>
                <a:ea typeface="メイリオ" panose="020B0604030504040204" pitchFamily="50" charset="-128"/>
                <a:cs typeface="メイリオ"/>
              </a:rPr>
              <a:t>やまや（</a:t>
            </a:r>
            <a:r>
              <a:rPr kumimoji="1" lang="en-US" altLang="ja-JP" sz="1100" dirty="0">
                <a:solidFill>
                  <a:schemeClr val="tx1"/>
                </a:solidFill>
                <a:latin typeface="メイリオ" panose="020B0604030504040204" pitchFamily="50" charset="-128"/>
                <a:ea typeface="メイリオ" panose="020B0604030504040204" pitchFamily="50" charset="-128"/>
                <a:cs typeface="メイリオ"/>
              </a:rPr>
              <a:t>EC</a:t>
            </a:r>
            <a:r>
              <a:rPr kumimoji="1" lang="ja-JP" altLang="en-US" sz="1100" dirty="0">
                <a:solidFill>
                  <a:schemeClr val="tx1"/>
                </a:solidFill>
                <a:latin typeface="メイリオ" panose="020B0604030504040204" pitchFamily="50" charset="-128"/>
                <a:ea typeface="メイリオ" panose="020B0604030504040204" pitchFamily="50" charset="-128"/>
                <a:cs typeface="メイリオ"/>
              </a:rPr>
              <a:t>）</a:t>
            </a:r>
          </a:p>
        </p:txBody>
      </p:sp>
      <p:sp>
        <p:nvSpPr>
          <p:cNvPr id="94" name="テキスト ボックス 93">
            <a:extLst>
              <a:ext uri="{FF2B5EF4-FFF2-40B4-BE49-F238E27FC236}">
                <a16:creationId xmlns:a16="http://schemas.microsoft.com/office/drawing/2014/main" id="{89F8E75C-F7C6-511B-BA1F-6EB60A9DEADA}"/>
              </a:ext>
            </a:extLst>
          </p:cNvPr>
          <p:cNvSpPr txBox="1"/>
          <p:nvPr/>
        </p:nvSpPr>
        <p:spPr>
          <a:xfrm>
            <a:off x="3904548" y="1368741"/>
            <a:ext cx="4962524" cy="230832"/>
          </a:xfrm>
          <a:prstGeom prst="rect">
            <a:avLst/>
          </a:prstGeom>
          <a:noFill/>
        </p:spPr>
        <p:txBody>
          <a:bodyPr wrap="square">
            <a:spAutoFit/>
          </a:bodyPr>
          <a:lstStyle/>
          <a:p>
            <a:r>
              <a:rPr lang="en-US" altLang="ja-JP" sz="900" dirty="0">
                <a:solidFill>
                  <a:srgbClr val="1F2A5C"/>
                </a:solidFill>
                <a:latin typeface="メイリオ" panose="020B0604030504040204" pitchFamily="50" charset="-128"/>
                <a:ea typeface="メイリオ" panose="020B0604030504040204" pitchFamily="50" charset="-128"/>
                <a:cs typeface="メイリオ"/>
              </a:rPr>
              <a:t>Sales Partner</a:t>
            </a:r>
            <a:r>
              <a:rPr lang="ja-JP" altLang="en-US" sz="900" dirty="0">
                <a:solidFill>
                  <a:srgbClr val="1F2A5C"/>
                </a:solidFill>
                <a:latin typeface="メイリオ" panose="020B0604030504040204" pitchFamily="50" charset="-128"/>
                <a:ea typeface="メイリオ" panose="020B0604030504040204" pitchFamily="50" charset="-128"/>
                <a:cs typeface="メイリオ"/>
              </a:rPr>
              <a:t>、</a:t>
            </a:r>
            <a:r>
              <a:rPr lang="en-US" altLang="ja-JP" sz="900" dirty="0">
                <a:solidFill>
                  <a:srgbClr val="1F2A5C"/>
                </a:solidFill>
                <a:latin typeface="メイリオ" panose="020B0604030504040204" pitchFamily="50" charset="-128"/>
                <a:ea typeface="メイリオ" panose="020B0604030504040204" pitchFamily="50" charset="-128"/>
                <a:cs typeface="メイリオ"/>
              </a:rPr>
              <a:t>Tech Partner</a:t>
            </a:r>
            <a:r>
              <a:rPr lang="ja-JP" altLang="en-US" sz="900" dirty="0">
                <a:solidFill>
                  <a:srgbClr val="1F2A5C"/>
                </a:solidFill>
                <a:latin typeface="メイリオ" panose="020B0604030504040204" pitchFamily="50" charset="-128"/>
                <a:ea typeface="メイリオ" panose="020B0604030504040204" pitchFamily="50" charset="-128"/>
                <a:cs typeface="メイリオ"/>
              </a:rPr>
              <a:t>限定公開の</a:t>
            </a:r>
            <a:r>
              <a:rPr lang="en-US" altLang="ja-JP" sz="900" dirty="0">
                <a:solidFill>
                  <a:srgbClr val="1F2A5C"/>
                </a:solidFill>
                <a:latin typeface="メイリオ" panose="020B0604030504040204" pitchFamily="50" charset="-128"/>
                <a:ea typeface="メイリオ" panose="020B0604030504040204" pitchFamily="50" charset="-128"/>
                <a:cs typeface="メイリオ"/>
              </a:rPr>
              <a:t>API</a:t>
            </a:r>
            <a:r>
              <a:rPr lang="ja-JP" altLang="en-US" sz="900" dirty="0">
                <a:solidFill>
                  <a:srgbClr val="1F2A5C"/>
                </a:solidFill>
                <a:latin typeface="メイリオ" panose="020B0604030504040204" pitchFamily="50" charset="-128"/>
                <a:ea typeface="メイリオ" panose="020B0604030504040204" pitchFamily="50" charset="-128"/>
                <a:cs typeface="メイリオ"/>
              </a:rPr>
              <a:t>を使用した機能です。</a:t>
            </a:r>
          </a:p>
        </p:txBody>
      </p:sp>
      <p:sp>
        <p:nvSpPr>
          <p:cNvPr id="96" name="正方形/長方形 95">
            <a:extLst>
              <a:ext uri="{FF2B5EF4-FFF2-40B4-BE49-F238E27FC236}">
                <a16:creationId xmlns:a16="http://schemas.microsoft.com/office/drawing/2014/main" id="{6569B015-2B51-9A35-9379-E64729B15375}"/>
              </a:ext>
            </a:extLst>
          </p:cNvPr>
          <p:cNvSpPr/>
          <p:nvPr/>
        </p:nvSpPr>
        <p:spPr>
          <a:xfrm>
            <a:off x="543398" y="1938056"/>
            <a:ext cx="4981102" cy="244151"/>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利用可能シーン</a:t>
            </a:r>
          </a:p>
        </p:txBody>
      </p:sp>
      <p:pic>
        <p:nvPicPr>
          <p:cNvPr id="7" name="図 6">
            <a:extLst>
              <a:ext uri="{FF2B5EF4-FFF2-40B4-BE49-F238E27FC236}">
                <a16:creationId xmlns:a16="http://schemas.microsoft.com/office/drawing/2014/main" id="{00862346-A302-637E-2976-3985B23ED00C}"/>
              </a:ext>
            </a:extLst>
          </p:cNvPr>
          <p:cNvPicPr>
            <a:picLocks noChangeAspect="1"/>
          </p:cNvPicPr>
          <p:nvPr/>
        </p:nvPicPr>
        <p:blipFill>
          <a:blip r:embed="rId6"/>
          <a:stretch>
            <a:fillRect/>
          </a:stretch>
        </p:blipFill>
        <p:spPr>
          <a:xfrm>
            <a:off x="381811" y="2197911"/>
            <a:ext cx="5286856" cy="2497015"/>
          </a:xfrm>
          <a:prstGeom prst="rect">
            <a:avLst/>
          </a:prstGeom>
        </p:spPr>
      </p:pic>
      <p:sp>
        <p:nvSpPr>
          <p:cNvPr id="10" name="テキスト ボックス 9">
            <a:extLst>
              <a:ext uri="{FF2B5EF4-FFF2-40B4-BE49-F238E27FC236}">
                <a16:creationId xmlns:a16="http://schemas.microsoft.com/office/drawing/2014/main" id="{63354FD4-3595-E9AA-7603-C702E42E9BD1}"/>
              </a:ext>
            </a:extLst>
          </p:cNvPr>
          <p:cNvSpPr txBox="1"/>
          <p:nvPr/>
        </p:nvSpPr>
        <p:spPr>
          <a:xfrm>
            <a:off x="3904548" y="1558412"/>
            <a:ext cx="4962524" cy="230832"/>
          </a:xfrm>
          <a:prstGeom prst="rect">
            <a:avLst/>
          </a:prstGeom>
          <a:noFill/>
        </p:spPr>
        <p:txBody>
          <a:bodyPr wrap="square">
            <a:spAutoFit/>
          </a:bodyPr>
          <a:lstStyle/>
          <a:p>
            <a:r>
              <a:rPr lang="ja-JP" altLang="en-US" sz="900" dirty="0">
                <a:solidFill>
                  <a:srgbClr val="1F2A5C"/>
                </a:solidFill>
                <a:latin typeface="メイリオ" panose="020B0604030504040204" pitchFamily="50" charset="-128"/>
                <a:ea typeface="メイリオ" panose="020B0604030504040204" pitchFamily="50" charset="-128"/>
                <a:cs typeface="メイリオ"/>
              </a:rPr>
              <a:t>料金プランにより通数単価、利用可能機能が異なります。</a:t>
            </a:r>
          </a:p>
        </p:txBody>
      </p:sp>
    </p:spTree>
    <p:extLst>
      <p:ext uri="{BB962C8B-B14F-4D97-AF65-F5344CB8AC3E}">
        <p14:creationId xmlns:p14="http://schemas.microsoft.com/office/powerpoint/2010/main" val="373103120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0EB58E-2E23-6D6E-492D-03C38E7A1D6F}"/>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B579369E-F53C-FDC8-7374-AB2F5B31CD4F}"/>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002060"/>
                </a:solidFill>
                <a:latin typeface="メイリオ"/>
                <a:ea typeface="メイリオ"/>
                <a:cs typeface="メイリオ"/>
                <a:sym typeface="Meiryo"/>
              </a:rPr>
              <a:t>新規友だちの追加</a:t>
            </a:r>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（通知メッセージ）</a:t>
            </a:r>
          </a:p>
        </p:txBody>
      </p:sp>
      <p:grpSp>
        <p:nvGrpSpPr>
          <p:cNvPr id="3" name="グループ化 2">
            <a:extLst>
              <a:ext uri="{FF2B5EF4-FFF2-40B4-BE49-F238E27FC236}">
                <a16:creationId xmlns:a16="http://schemas.microsoft.com/office/drawing/2014/main" id="{16CDA247-29F1-37E2-FCEA-D79F4493519C}"/>
              </a:ext>
            </a:extLst>
          </p:cNvPr>
          <p:cNvGrpSpPr/>
          <p:nvPr/>
        </p:nvGrpSpPr>
        <p:grpSpPr>
          <a:xfrm>
            <a:off x="543398" y="777681"/>
            <a:ext cx="3105325" cy="485102"/>
            <a:chOff x="507969" y="928495"/>
            <a:chExt cx="3105325" cy="485102"/>
          </a:xfrm>
        </p:grpSpPr>
        <p:sp>
          <p:nvSpPr>
            <p:cNvPr id="4" name="Google Shape;51;p19">
              <a:extLst>
                <a:ext uri="{FF2B5EF4-FFF2-40B4-BE49-F238E27FC236}">
                  <a16:creationId xmlns:a16="http://schemas.microsoft.com/office/drawing/2014/main" id="{BB8D843F-BDAA-6DE1-DFCE-2A6A73C04E2B}"/>
                </a:ext>
              </a:extLst>
            </p:cNvPr>
            <p:cNvSpPr/>
            <p:nvPr/>
          </p:nvSpPr>
          <p:spPr>
            <a:xfrm>
              <a:off x="507969" y="928495"/>
              <a:ext cx="3105325" cy="485102"/>
            </a:xfrm>
            <a:prstGeom prst="roundRect">
              <a:avLst>
                <a:gd name="adj" fmla="val 16667"/>
              </a:avLst>
            </a:prstGeom>
            <a:solidFill>
              <a:schemeClr val="dk1"/>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dirty="0">
                <a:solidFill>
                  <a:schemeClr val="lt1"/>
                </a:solidFill>
                <a:latin typeface="メイリオ"/>
                <a:ea typeface="メイリオ"/>
                <a:cs typeface="メイリオ"/>
                <a:sym typeface="Meiryo"/>
              </a:endParaRPr>
            </a:p>
          </p:txBody>
        </p:sp>
        <p:sp>
          <p:nvSpPr>
            <p:cNvPr id="5" name="テキスト ボックス 4">
              <a:extLst>
                <a:ext uri="{FF2B5EF4-FFF2-40B4-BE49-F238E27FC236}">
                  <a16:creationId xmlns:a16="http://schemas.microsoft.com/office/drawing/2014/main" id="{D91D75E4-A706-8EF4-1ECC-1D62C09F934E}"/>
                </a:ext>
              </a:extLst>
            </p:cNvPr>
            <p:cNvSpPr txBox="1"/>
            <p:nvPr/>
          </p:nvSpPr>
          <p:spPr>
            <a:xfrm>
              <a:off x="1140096" y="988192"/>
              <a:ext cx="1531188" cy="357790"/>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a:lnSpc>
                  <a:spcPct val="120000"/>
                </a:lnSpc>
              </a:pPr>
              <a:r>
                <a:rPr kumimoji="1" lang="ja-JP" altLang="en-US" sz="1500" b="1" dirty="0">
                  <a:solidFill>
                    <a:schemeClr val="bg1"/>
                  </a:solidFill>
                  <a:latin typeface="メイリオ" panose="020B0604030504040204" pitchFamily="34" charset="-128"/>
                  <a:ea typeface="メイリオ" panose="020B0604030504040204" pitchFamily="34" charset="-128"/>
                  <a:cs typeface="メイリオ"/>
                </a:rPr>
                <a:t>通知メッセージ</a:t>
              </a:r>
            </a:p>
          </p:txBody>
        </p:sp>
      </p:grpSp>
      <p:sp>
        <p:nvSpPr>
          <p:cNvPr id="9" name="正方形/長方形 8">
            <a:extLst>
              <a:ext uri="{FF2B5EF4-FFF2-40B4-BE49-F238E27FC236}">
                <a16:creationId xmlns:a16="http://schemas.microsoft.com/office/drawing/2014/main" id="{F191580C-EA72-3903-0A46-57D229D50274}"/>
              </a:ext>
            </a:extLst>
          </p:cNvPr>
          <p:cNvSpPr/>
          <p:nvPr/>
        </p:nvSpPr>
        <p:spPr>
          <a:xfrm>
            <a:off x="3806311" y="788165"/>
            <a:ext cx="5880088" cy="584775"/>
          </a:xfrm>
          <a:prstGeom prst="rect">
            <a:avLst/>
          </a:prstGeom>
        </p:spPr>
        <p:txBody>
          <a:bodyPr wrap="square">
            <a:spAutoFit/>
          </a:bodyPr>
          <a:lstStyle/>
          <a:p>
            <a:pPr lvl="0" algn="ctr">
              <a:buClr>
                <a:schemeClr val="dk1"/>
              </a:buClr>
              <a:buSzPts val="1500"/>
            </a:pPr>
            <a:r>
              <a:rPr lang="en-US" altLang="ja-JP" sz="1600" dirty="0">
                <a:latin typeface="メイリオ"/>
                <a:ea typeface="メイリオ"/>
                <a:cs typeface="メイリオ"/>
                <a:sym typeface="Meiryo"/>
              </a:rPr>
              <a:t>WEB</a:t>
            </a:r>
            <a:r>
              <a:rPr lang="ja-JP" altLang="en-US" sz="1600" dirty="0">
                <a:latin typeface="メイリオ"/>
                <a:ea typeface="メイリオ"/>
                <a:cs typeface="メイリオ"/>
                <a:sym typeface="Meiryo"/>
              </a:rPr>
              <a:t>上のアクションユーザー、貴社保有リスト をターゲット</a:t>
            </a:r>
            <a:endParaRPr lang="en-US" altLang="ja-JP" sz="1600" dirty="0">
              <a:latin typeface="メイリオ"/>
              <a:ea typeface="メイリオ"/>
              <a:cs typeface="メイリオ"/>
              <a:sym typeface="Meiryo"/>
            </a:endParaRPr>
          </a:p>
          <a:p>
            <a:pPr lvl="0" algn="ctr">
              <a:buClr>
                <a:schemeClr val="dk1"/>
              </a:buClr>
              <a:buSzPts val="1500"/>
            </a:pPr>
            <a:r>
              <a:rPr lang="ja-JP" altLang="en-US" sz="1600" dirty="0">
                <a:latin typeface="メイリオ"/>
                <a:ea typeface="メイリオ"/>
                <a:cs typeface="メイリオ"/>
                <a:sym typeface="Meiryo"/>
              </a:rPr>
              <a:t>に友だち登録、ステータス通知を行うことが出来る機能です。</a:t>
            </a:r>
          </a:p>
        </p:txBody>
      </p:sp>
      <p:sp>
        <p:nvSpPr>
          <p:cNvPr id="75" name="Google Shape;51;p19">
            <a:extLst>
              <a:ext uri="{FF2B5EF4-FFF2-40B4-BE49-F238E27FC236}">
                <a16:creationId xmlns:a16="http://schemas.microsoft.com/office/drawing/2014/main" id="{5B83E274-8AAB-1C88-48EF-6D543C0091D3}"/>
              </a:ext>
            </a:extLst>
          </p:cNvPr>
          <p:cNvSpPr/>
          <p:nvPr/>
        </p:nvSpPr>
        <p:spPr>
          <a:xfrm>
            <a:off x="543399"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メイリオ"/>
                <a:ea typeface="メイリオ"/>
                <a:cs typeface="メイリオ"/>
                <a:sym typeface="Meiryo"/>
              </a:rPr>
              <a:t>初期：</a:t>
            </a:r>
            <a:r>
              <a:rPr lang="en-US" altLang="ja-JP" sz="1400" b="1" i="0" u="none" strike="noStrike" cap="none" dirty="0">
                <a:solidFill>
                  <a:schemeClr val="lt1"/>
                </a:solidFill>
                <a:latin typeface="メイリオ"/>
                <a:ea typeface="メイリオ"/>
                <a:cs typeface="メイリオ"/>
                <a:sym typeface="Meiryo"/>
              </a:rPr>
              <a:t>10</a:t>
            </a:r>
            <a:r>
              <a:rPr lang="ja-JP" altLang="en-US" sz="1400" b="1" i="0" u="none" strike="noStrike" cap="none" dirty="0">
                <a:solidFill>
                  <a:schemeClr val="lt1"/>
                </a:solidFill>
                <a:latin typeface="メイリオ"/>
                <a:ea typeface="メイリオ"/>
                <a:cs typeface="メイリオ"/>
                <a:sym typeface="Meiryo"/>
              </a:rPr>
              <a:t>万円</a:t>
            </a:r>
            <a:endParaRPr sz="1400" b="1" i="0" u="none" strike="noStrike" cap="none" dirty="0">
              <a:solidFill>
                <a:schemeClr val="lt1"/>
              </a:solidFill>
              <a:latin typeface="メイリオ"/>
              <a:ea typeface="メイリオ"/>
              <a:cs typeface="メイリオ"/>
              <a:sym typeface="Meiryo"/>
            </a:endParaRPr>
          </a:p>
        </p:txBody>
      </p:sp>
      <p:sp>
        <p:nvSpPr>
          <p:cNvPr id="77" name="Google Shape;51;p19">
            <a:extLst>
              <a:ext uri="{FF2B5EF4-FFF2-40B4-BE49-F238E27FC236}">
                <a16:creationId xmlns:a16="http://schemas.microsoft.com/office/drawing/2014/main" id="{1ACE7ABA-DEAD-27A6-7DA0-D29E467F0A0D}"/>
              </a:ext>
            </a:extLst>
          </p:cNvPr>
          <p:cNvSpPr/>
          <p:nvPr/>
        </p:nvSpPr>
        <p:spPr>
          <a:xfrm>
            <a:off x="2137897"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メイリオ"/>
                <a:ea typeface="メイリオ"/>
                <a:cs typeface="メイリオ"/>
                <a:sym typeface="Meiryo"/>
              </a:rPr>
              <a:t>月額</a:t>
            </a:r>
            <a:r>
              <a:rPr lang="en-US" altLang="ja-JP" sz="1400" b="1" i="0" u="none" strike="noStrike" cap="none" dirty="0">
                <a:solidFill>
                  <a:schemeClr val="lt1"/>
                </a:solidFill>
                <a:latin typeface="メイリオ"/>
                <a:ea typeface="メイリオ"/>
                <a:cs typeface="メイリオ"/>
                <a:sym typeface="Meiryo"/>
              </a:rPr>
              <a:t>8</a:t>
            </a:r>
            <a:r>
              <a:rPr lang="ja-JP" altLang="en-US" sz="1400" b="1" i="0" u="none" strike="noStrike" cap="none" dirty="0">
                <a:solidFill>
                  <a:schemeClr val="lt1"/>
                </a:solidFill>
                <a:latin typeface="メイリオ"/>
                <a:ea typeface="メイリオ"/>
                <a:cs typeface="メイリオ"/>
                <a:sym typeface="Meiryo"/>
              </a:rPr>
              <a:t>万円～</a:t>
            </a:r>
            <a:endParaRPr lang="en-US" altLang="ja-JP" sz="1400" b="1" i="0" u="none" strike="noStrike" cap="none" dirty="0">
              <a:solidFill>
                <a:schemeClr val="lt1"/>
              </a:solidFill>
              <a:latin typeface="メイリオ"/>
              <a:ea typeface="メイリオ"/>
              <a:cs typeface="メイリオ"/>
              <a:sym typeface="Meiryo"/>
            </a:endParaRPr>
          </a:p>
          <a:p>
            <a:pPr marL="0" marR="0" lvl="0" indent="0" algn="ctr" rtl="0">
              <a:lnSpc>
                <a:spcPct val="100000"/>
              </a:lnSpc>
              <a:spcBef>
                <a:spcPts val="0"/>
              </a:spcBef>
              <a:spcAft>
                <a:spcPts val="0"/>
              </a:spcAft>
              <a:buClr>
                <a:srgbClr val="000000"/>
              </a:buClr>
              <a:buSzPts val="1400"/>
              <a:buFont typeface="Arial"/>
              <a:buNone/>
            </a:pPr>
            <a:r>
              <a:rPr lang="en-US" altLang="ja-JP" sz="1050" b="1" dirty="0">
                <a:solidFill>
                  <a:srgbClr val="FFFFFF"/>
                </a:solidFill>
                <a:latin typeface="メイリオ"/>
                <a:ea typeface="メイリオ"/>
                <a:cs typeface="メイリオ"/>
                <a:sym typeface="Meiryo"/>
              </a:rPr>
              <a:t>+</a:t>
            </a:r>
            <a:r>
              <a:rPr lang="ja-JP" altLang="en-US" sz="1050" b="1" dirty="0">
                <a:solidFill>
                  <a:srgbClr val="FFFFFF"/>
                </a:solidFill>
                <a:latin typeface="メイリオ"/>
                <a:ea typeface="メイリオ"/>
                <a:cs typeface="メイリオ"/>
                <a:sym typeface="Meiryo"/>
              </a:rPr>
              <a:t>通数単価：</a:t>
            </a:r>
            <a:r>
              <a:rPr lang="en-US" altLang="ja-JP" sz="1050" b="1" dirty="0">
                <a:solidFill>
                  <a:srgbClr val="FFFFFF"/>
                </a:solidFill>
                <a:latin typeface="メイリオ"/>
                <a:ea typeface="メイリオ"/>
                <a:cs typeface="メイリオ"/>
                <a:sym typeface="Meiryo"/>
              </a:rPr>
              <a:t>7</a:t>
            </a:r>
            <a:r>
              <a:rPr lang="ja-JP" altLang="en-US" sz="1050" b="1" dirty="0">
                <a:solidFill>
                  <a:srgbClr val="FFFFFF"/>
                </a:solidFill>
                <a:latin typeface="メイリオ"/>
                <a:ea typeface="メイリオ"/>
                <a:cs typeface="メイリオ"/>
                <a:sym typeface="Meiryo"/>
              </a:rPr>
              <a:t>円</a:t>
            </a:r>
            <a:endParaRPr sz="1050" b="1" i="0" u="none" strike="noStrike" cap="none" dirty="0">
              <a:solidFill>
                <a:srgbClr val="FFFFFF"/>
              </a:solidFill>
              <a:latin typeface="メイリオ"/>
              <a:ea typeface="メイリオ"/>
              <a:cs typeface="メイリオ"/>
              <a:sym typeface="Meiryo"/>
            </a:endParaRPr>
          </a:p>
        </p:txBody>
      </p:sp>
      <p:sp>
        <p:nvSpPr>
          <p:cNvPr id="94" name="テキスト ボックス 93">
            <a:extLst>
              <a:ext uri="{FF2B5EF4-FFF2-40B4-BE49-F238E27FC236}">
                <a16:creationId xmlns:a16="http://schemas.microsoft.com/office/drawing/2014/main" id="{6BA13AD6-A7FE-E393-39F7-12604E6F2A59}"/>
              </a:ext>
            </a:extLst>
          </p:cNvPr>
          <p:cNvSpPr txBox="1"/>
          <p:nvPr/>
        </p:nvSpPr>
        <p:spPr>
          <a:xfrm>
            <a:off x="3904548" y="1368741"/>
            <a:ext cx="4962524" cy="230832"/>
          </a:xfrm>
          <a:prstGeom prst="rect">
            <a:avLst/>
          </a:prstGeom>
          <a:noFill/>
        </p:spPr>
        <p:txBody>
          <a:bodyPr wrap="square">
            <a:spAutoFit/>
          </a:bodyPr>
          <a:lstStyle/>
          <a:p>
            <a:r>
              <a:rPr lang="en-US" altLang="ja-JP" sz="900" dirty="0">
                <a:solidFill>
                  <a:srgbClr val="1F2A5C"/>
                </a:solidFill>
                <a:latin typeface="メイリオ" panose="020B0604030504040204" pitchFamily="50" charset="-128"/>
                <a:ea typeface="メイリオ" panose="020B0604030504040204" pitchFamily="50" charset="-128"/>
                <a:cs typeface="メイリオ"/>
              </a:rPr>
              <a:t>Sales Partner</a:t>
            </a:r>
            <a:r>
              <a:rPr lang="ja-JP" altLang="en-US" sz="900" dirty="0">
                <a:solidFill>
                  <a:srgbClr val="1F2A5C"/>
                </a:solidFill>
                <a:latin typeface="メイリオ" panose="020B0604030504040204" pitchFamily="50" charset="-128"/>
                <a:ea typeface="メイリオ" panose="020B0604030504040204" pitchFamily="50" charset="-128"/>
                <a:cs typeface="メイリオ"/>
              </a:rPr>
              <a:t>、</a:t>
            </a:r>
            <a:r>
              <a:rPr lang="en-US" altLang="ja-JP" sz="900" dirty="0">
                <a:solidFill>
                  <a:srgbClr val="1F2A5C"/>
                </a:solidFill>
                <a:latin typeface="メイリオ" panose="020B0604030504040204" pitchFamily="50" charset="-128"/>
                <a:ea typeface="メイリオ" panose="020B0604030504040204" pitchFamily="50" charset="-128"/>
                <a:cs typeface="メイリオ"/>
              </a:rPr>
              <a:t>Tech Partner</a:t>
            </a:r>
            <a:r>
              <a:rPr lang="ja-JP" altLang="en-US" sz="900" dirty="0">
                <a:solidFill>
                  <a:srgbClr val="1F2A5C"/>
                </a:solidFill>
                <a:latin typeface="メイリオ" panose="020B0604030504040204" pitchFamily="50" charset="-128"/>
                <a:ea typeface="メイリオ" panose="020B0604030504040204" pitchFamily="50" charset="-128"/>
                <a:cs typeface="メイリオ"/>
              </a:rPr>
              <a:t>限定公開の</a:t>
            </a:r>
            <a:r>
              <a:rPr lang="en-US" altLang="ja-JP" sz="900" dirty="0">
                <a:solidFill>
                  <a:srgbClr val="1F2A5C"/>
                </a:solidFill>
                <a:latin typeface="メイリオ" panose="020B0604030504040204" pitchFamily="50" charset="-128"/>
                <a:ea typeface="メイリオ" panose="020B0604030504040204" pitchFamily="50" charset="-128"/>
                <a:cs typeface="メイリオ"/>
              </a:rPr>
              <a:t>API</a:t>
            </a:r>
            <a:r>
              <a:rPr lang="ja-JP" altLang="en-US" sz="900" dirty="0">
                <a:solidFill>
                  <a:srgbClr val="1F2A5C"/>
                </a:solidFill>
                <a:latin typeface="メイリオ" panose="020B0604030504040204" pitchFamily="50" charset="-128"/>
                <a:ea typeface="メイリオ" panose="020B0604030504040204" pitchFamily="50" charset="-128"/>
                <a:cs typeface="メイリオ"/>
              </a:rPr>
              <a:t>を使用した機能です。</a:t>
            </a:r>
          </a:p>
        </p:txBody>
      </p:sp>
      <p:sp>
        <p:nvSpPr>
          <p:cNvPr id="6" name="テキスト ボックス 5">
            <a:extLst>
              <a:ext uri="{FF2B5EF4-FFF2-40B4-BE49-F238E27FC236}">
                <a16:creationId xmlns:a16="http://schemas.microsoft.com/office/drawing/2014/main" id="{52DBA794-F4DB-834A-6EBA-1F38E3EB8D25}"/>
              </a:ext>
            </a:extLst>
          </p:cNvPr>
          <p:cNvSpPr txBox="1"/>
          <p:nvPr/>
        </p:nvSpPr>
        <p:spPr>
          <a:xfrm>
            <a:off x="3904548" y="1558412"/>
            <a:ext cx="4962524" cy="230832"/>
          </a:xfrm>
          <a:prstGeom prst="rect">
            <a:avLst/>
          </a:prstGeom>
          <a:noFill/>
        </p:spPr>
        <p:txBody>
          <a:bodyPr wrap="square">
            <a:spAutoFit/>
          </a:bodyPr>
          <a:lstStyle/>
          <a:p>
            <a:r>
              <a:rPr lang="ja-JP" altLang="en-US" sz="900" dirty="0">
                <a:solidFill>
                  <a:srgbClr val="1F2A5C"/>
                </a:solidFill>
                <a:latin typeface="メイリオ" panose="020B0604030504040204" pitchFamily="50" charset="-128"/>
                <a:ea typeface="メイリオ" panose="020B0604030504040204" pitchFamily="50" charset="-128"/>
                <a:cs typeface="メイリオ"/>
              </a:rPr>
              <a:t>料金プランにより通数単価、利用可能機能が異なります。</a:t>
            </a:r>
          </a:p>
        </p:txBody>
      </p:sp>
      <p:pic>
        <p:nvPicPr>
          <p:cNvPr id="8" name="図 7">
            <a:extLst>
              <a:ext uri="{FF2B5EF4-FFF2-40B4-BE49-F238E27FC236}">
                <a16:creationId xmlns:a16="http://schemas.microsoft.com/office/drawing/2014/main" id="{6FEAB905-6FFF-5D16-B66E-DAD05A44B7D7}"/>
              </a:ext>
            </a:extLst>
          </p:cNvPr>
          <p:cNvPicPr>
            <a:picLocks noChangeAspect="1"/>
          </p:cNvPicPr>
          <p:nvPr/>
        </p:nvPicPr>
        <p:blipFill>
          <a:blip r:embed="rId2"/>
          <a:stretch>
            <a:fillRect/>
          </a:stretch>
        </p:blipFill>
        <p:spPr>
          <a:xfrm>
            <a:off x="543398" y="1953516"/>
            <a:ext cx="8918385" cy="4389153"/>
          </a:xfrm>
          <a:prstGeom prst="rect">
            <a:avLst/>
          </a:prstGeom>
        </p:spPr>
      </p:pic>
      <p:sp>
        <p:nvSpPr>
          <p:cNvPr id="11" name="Google Shape;51;p19">
            <a:extLst>
              <a:ext uri="{FF2B5EF4-FFF2-40B4-BE49-F238E27FC236}">
                <a16:creationId xmlns:a16="http://schemas.microsoft.com/office/drawing/2014/main" id="{3A8AD54E-DAE5-1F54-4C9C-6EA993DDD1A7}"/>
              </a:ext>
            </a:extLst>
          </p:cNvPr>
          <p:cNvSpPr/>
          <p:nvPr/>
        </p:nvSpPr>
        <p:spPr>
          <a:xfrm>
            <a:off x="6635873" y="5673123"/>
            <a:ext cx="2647463" cy="331332"/>
          </a:xfrm>
          <a:prstGeom prst="roundRect">
            <a:avLst>
              <a:gd name="adj" fmla="val 16667"/>
            </a:avLst>
          </a:prstGeom>
          <a:solidFill>
            <a:schemeClr val="tx1">
              <a:lumMod val="50000"/>
              <a:lumOff val="50000"/>
            </a:schemeClr>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100" i="0" u="none" strike="noStrike" cap="none" dirty="0">
                <a:solidFill>
                  <a:schemeClr val="lt1"/>
                </a:solidFill>
                <a:latin typeface="メイリオ"/>
                <a:ea typeface="メイリオ"/>
                <a:cs typeface="メイリオ"/>
                <a:sym typeface="Meiryo"/>
              </a:rPr>
              <a:t>利用可能なシーン一例</a:t>
            </a:r>
            <a:endParaRPr sz="900" i="0" u="none" strike="noStrike" cap="none" dirty="0">
              <a:solidFill>
                <a:srgbClr val="FFFFFF"/>
              </a:solidFill>
              <a:latin typeface="メイリオ"/>
              <a:ea typeface="メイリオ"/>
              <a:cs typeface="メイリオ"/>
              <a:sym typeface="Meiryo"/>
            </a:endParaRPr>
          </a:p>
        </p:txBody>
      </p:sp>
    </p:spTree>
    <p:extLst>
      <p:ext uri="{BB962C8B-B14F-4D97-AF65-F5344CB8AC3E}">
        <p14:creationId xmlns:p14="http://schemas.microsoft.com/office/powerpoint/2010/main" val="179584884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90CDE0-BB10-C7C6-9CB9-785832AABAF6}"/>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F4DA5ED1-E7F2-6353-56C2-FA4628CF19B0}"/>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弊社からご提供できる運用プラン</a:t>
            </a:r>
          </a:p>
        </p:txBody>
      </p:sp>
      <p:sp>
        <p:nvSpPr>
          <p:cNvPr id="9" name="正方形/長方形 8">
            <a:extLst>
              <a:ext uri="{FF2B5EF4-FFF2-40B4-BE49-F238E27FC236}">
                <a16:creationId xmlns:a16="http://schemas.microsoft.com/office/drawing/2014/main" id="{2AEA7C23-DE93-9590-AE94-B792C3122BEF}"/>
              </a:ext>
            </a:extLst>
          </p:cNvPr>
          <p:cNvSpPr/>
          <p:nvPr/>
        </p:nvSpPr>
        <p:spPr>
          <a:xfrm>
            <a:off x="0" y="681570"/>
            <a:ext cx="2914650"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400" dirty="0">
                <a:latin typeface="メイリオ" panose="020B0604030504040204" pitchFamily="50" charset="-128"/>
                <a:ea typeface="メイリオ" panose="020B0604030504040204" pitchFamily="50" charset="-128"/>
                <a:cs typeface="メイリオ"/>
              </a:rPr>
              <a:t>サービス内容</a:t>
            </a:r>
            <a:endParaRPr kumimoji="1" lang="ja-JP" altLang="en-US" sz="1400" dirty="0">
              <a:latin typeface="メイリオ" panose="020B0604030504040204" pitchFamily="50" charset="-128"/>
              <a:ea typeface="メイリオ" panose="020B0604030504040204" pitchFamily="50" charset="-128"/>
              <a:cs typeface="メイリオ"/>
            </a:endParaRPr>
          </a:p>
        </p:txBody>
      </p:sp>
      <p:sp>
        <p:nvSpPr>
          <p:cNvPr id="5" name="Google Shape;752;p28">
            <a:extLst>
              <a:ext uri="{FF2B5EF4-FFF2-40B4-BE49-F238E27FC236}">
                <a16:creationId xmlns:a16="http://schemas.microsoft.com/office/drawing/2014/main" id="{9D6FEB09-4D8F-8EAE-D257-4C677C23BB92}"/>
              </a:ext>
            </a:extLst>
          </p:cNvPr>
          <p:cNvSpPr txBox="1"/>
          <p:nvPr/>
        </p:nvSpPr>
        <p:spPr>
          <a:xfrm>
            <a:off x="2983774" y="782870"/>
            <a:ext cx="6619875" cy="338514"/>
          </a:xfrm>
          <a:prstGeom prst="rect">
            <a:avLst/>
          </a:prstGeom>
          <a:noFill/>
          <a:ln>
            <a:noFill/>
          </a:ln>
        </p:spPr>
        <p:txBody>
          <a:bodyPr spcFirstLastPara="1" wrap="square" lIns="91425" tIns="45700" rIns="91425" bIns="45700" anchor="ctr" anchorCtr="0">
            <a:spAutoFit/>
          </a:bodyPr>
          <a:lstStyle/>
          <a:p>
            <a:r>
              <a:rPr lang="ja-JP" altLang="en-US" sz="1600" b="1" dirty="0">
                <a:latin typeface="メイリオ" panose="020B0604030504040204" pitchFamily="50" charset="-128"/>
                <a:ea typeface="メイリオ" panose="020B0604030504040204" pitchFamily="50" charset="-128"/>
                <a:cs typeface="メイリオ"/>
                <a:sym typeface="Meiryo"/>
              </a:rPr>
              <a:t>施策成果件数に伴う費用発生でリスクを抑えた運用スタートを実現。</a:t>
            </a:r>
          </a:p>
        </p:txBody>
      </p:sp>
      <p:sp>
        <p:nvSpPr>
          <p:cNvPr id="17" name="正方形/長方形 16">
            <a:extLst>
              <a:ext uri="{FF2B5EF4-FFF2-40B4-BE49-F238E27FC236}">
                <a16:creationId xmlns:a16="http://schemas.microsoft.com/office/drawing/2014/main" id="{64B91377-FDB2-808E-0970-159FDA78ABB9}"/>
              </a:ext>
            </a:extLst>
          </p:cNvPr>
          <p:cNvSpPr/>
          <p:nvPr/>
        </p:nvSpPr>
        <p:spPr>
          <a:xfrm>
            <a:off x="3996942" y="122215"/>
            <a:ext cx="2083719" cy="320757"/>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latin typeface="メイリオ" panose="020B0604030504040204" pitchFamily="50" charset="-128"/>
                <a:ea typeface="メイリオ" panose="020B0604030504040204" pitchFamily="50" charset="-128"/>
                <a:cs typeface="メイリオ"/>
              </a:rPr>
              <a:t>DYM</a:t>
            </a:r>
            <a:r>
              <a:rPr kumimoji="1" lang="ja-JP" altLang="en-US" sz="1400" dirty="0">
                <a:latin typeface="メイリオ" panose="020B0604030504040204" pitchFamily="50" charset="-128"/>
                <a:ea typeface="メイリオ" panose="020B0604030504040204" pitchFamily="50" charset="-128"/>
                <a:cs typeface="メイリオ"/>
              </a:rPr>
              <a:t>プラン</a:t>
            </a:r>
          </a:p>
        </p:txBody>
      </p:sp>
      <p:sp>
        <p:nvSpPr>
          <p:cNvPr id="3" name="Shape 2">
            <a:extLst>
              <a:ext uri="{FF2B5EF4-FFF2-40B4-BE49-F238E27FC236}">
                <a16:creationId xmlns:a16="http://schemas.microsoft.com/office/drawing/2014/main" id="{133EC02F-4D0A-E846-1994-A1FA50AA761C}"/>
              </a:ext>
            </a:extLst>
          </p:cNvPr>
          <p:cNvSpPr/>
          <p:nvPr/>
        </p:nvSpPr>
        <p:spPr>
          <a:xfrm>
            <a:off x="3996942" y="1299722"/>
            <a:ext cx="5180076" cy="658368"/>
          </a:xfrm>
          <a:prstGeom prst="roundRect">
            <a:avLst>
              <a:gd name="adj" fmla="val 11111"/>
            </a:avLst>
          </a:prstGeom>
          <a:solidFill>
            <a:schemeClr val="bg1">
              <a:lumMod val="85000"/>
            </a:schemeClr>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22" name="Shape 3">
            <a:extLst>
              <a:ext uri="{FF2B5EF4-FFF2-40B4-BE49-F238E27FC236}">
                <a16:creationId xmlns:a16="http://schemas.microsoft.com/office/drawing/2014/main" id="{B03D337C-CE0C-8D62-1622-3E7F414F385E}"/>
              </a:ext>
            </a:extLst>
          </p:cNvPr>
          <p:cNvSpPr/>
          <p:nvPr/>
        </p:nvSpPr>
        <p:spPr>
          <a:xfrm>
            <a:off x="4232400" y="1391162"/>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25" name="Text 4">
            <a:extLst>
              <a:ext uri="{FF2B5EF4-FFF2-40B4-BE49-F238E27FC236}">
                <a16:creationId xmlns:a16="http://schemas.microsoft.com/office/drawing/2014/main" id="{B1A45445-BB59-E57C-783F-82C190B07BF0}"/>
              </a:ext>
            </a:extLst>
          </p:cNvPr>
          <p:cNvSpPr/>
          <p:nvPr/>
        </p:nvSpPr>
        <p:spPr>
          <a:xfrm>
            <a:off x="4232400" y="1391162"/>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lgn="ctr">
              <a:buNone/>
            </a:pPr>
            <a:r>
              <a:rPr lang="en-US" sz="1300" b="1" dirty="0">
                <a:solidFill>
                  <a:srgbClr val="CADCFC"/>
                </a:solidFill>
                <a:latin typeface="メイリオ" panose="020B0604030504040204" pitchFamily="50" charset="-128"/>
                <a:ea typeface="メイリオ" panose="020B0604030504040204" pitchFamily="50" charset="-128"/>
                <a:cs typeface="メイリオ" pitchFamily="34" charset="-120"/>
              </a:rPr>
              <a:t>01</a:t>
            </a:r>
            <a:endParaRPr lang="en-US" sz="1300" dirty="0">
              <a:latin typeface="メイリオ" panose="020B0604030504040204" pitchFamily="50" charset="-128"/>
              <a:ea typeface="メイリオ" panose="020B0604030504040204" pitchFamily="50" charset="-128"/>
              <a:cs typeface="メイリオ"/>
            </a:endParaRPr>
          </a:p>
        </p:txBody>
      </p:sp>
      <p:sp>
        <p:nvSpPr>
          <p:cNvPr id="30" name="Text 5">
            <a:extLst>
              <a:ext uri="{FF2B5EF4-FFF2-40B4-BE49-F238E27FC236}">
                <a16:creationId xmlns:a16="http://schemas.microsoft.com/office/drawing/2014/main" id="{9B28CF00-AAB9-C0E8-E939-BB9A0644E64F}"/>
              </a:ext>
            </a:extLst>
          </p:cNvPr>
          <p:cNvSpPr/>
          <p:nvPr/>
        </p:nvSpPr>
        <p:spPr>
          <a:xfrm>
            <a:off x="4872480" y="1354586"/>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buNone/>
            </a:pPr>
            <a:r>
              <a:rPr lang="en-US" sz="1300" b="1" dirty="0">
                <a:solidFill>
                  <a:srgbClr val="1E2761"/>
                </a:solidFill>
                <a:latin typeface="メイリオ" panose="020B0604030504040204" pitchFamily="50" charset="-128"/>
                <a:ea typeface="メイリオ" panose="020B0604030504040204" pitchFamily="50" charset="-128"/>
                <a:cs typeface="メイリオ" pitchFamily="34" charset="-120"/>
              </a:rPr>
              <a:t>カスタマージャーニー（8フェーズ）</a:t>
            </a:r>
            <a:endParaRPr lang="en-US" sz="1300" dirty="0">
              <a:latin typeface="メイリオ" panose="020B0604030504040204" pitchFamily="50" charset="-128"/>
              <a:ea typeface="メイリオ" panose="020B0604030504040204" pitchFamily="50" charset="-128"/>
              <a:cs typeface="メイリオ"/>
            </a:endParaRPr>
          </a:p>
        </p:txBody>
      </p:sp>
      <p:sp>
        <p:nvSpPr>
          <p:cNvPr id="31" name="Text 6">
            <a:extLst>
              <a:ext uri="{FF2B5EF4-FFF2-40B4-BE49-F238E27FC236}">
                <a16:creationId xmlns:a16="http://schemas.microsoft.com/office/drawing/2014/main" id="{859B7776-633B-4EB8-939E-2F40912A0B26}"/>
              </a:ext>
            </a:extLst>
          </p:cNvPr>
          <p:cNvSpPr/>
          <p:nvPr/>
        </p:nvSpPr>
        <p:spPr>
          <a:xfrm>
            <a:off x="4872480" y="1647194"/>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buNone/>
            </a:pPr>
            <a:r>
              <a:rPr lang="en-US" sz="1000" dirty="0">
                <a:solidFill>
                  <a:srgbClr val="64748B"/>
                </a:solidFill>
                <a:latin typeface="メイリオ" panose="020B0604030504040204" pitchFamily="50" charset="-128"/>
                <a:ea typeface="メイリオ" panose="020B0604030504040204" pitchFamily="50" charset="-128"/>
                <a:cs typeface="メイリオ" pitchFamily="34" charset="-120"/>
              </a:rPr>
              <a:t>接触〜リピートまでの動線設計</a:t>
            </a:r>
            <a:endParaRPr lang="en-US" sz="1000" dirty="0">
              <a:latin typeface="メイリオ" panose="020B0604030504040204" pitchFamily="50" charset="-128"/>
              <a:ea typeface="メイリオ" panose="020B0604030504040204" pitchFamily="50" charset="-128"/>
              <a:cs typeface="メイリオ"/>
            </a:endParaRPr>
          </a:p>
        </p:txBody>
      </p:sp>
      <p:sp>
        <p:nvSpPr>
          <p:cNvPr id="32" name="Shape 7">
            <a:extLst>
              <a:ext uri="{FF2B5EF4-FFF2-40B4-BE49-F238E27FC236}">
                <a16:creationId xmlns:a16="http://schemas.microsoft.com/office/drawing/2014/main" id="{7D44BDCF-0A55-B2C9-910D-3324635E44D1}"/>
              </a:ext>
            </a:extLst>
          </p:cNvPr>
          <p:cNvSpPr/>
          <p:nvPr/>
        </p:nvSpPr>
        <p:spPr>
          <a:xfrm>
            <a:off x="3996942" y="2067818"/>
            <a:ext cx="5180076" cy="658368"/>
          </a:xfrm>
          <a:prstGeom prst="roundRect">
            <a:avLst>
              <a:gd name="adj" fmla="val 11111"/>
            </a:avLst>
          </a:prstGeom>
          <a:solidFill>
            <a:srgbClr val="FFFFFF"/>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33" name="Shape 8">
            <a:extLst>
              <a:ext uri="{FF2B5EF4-FFF2-40B4-BE49-F238E27FC236}">
                <a16:creationId xmlns:a16="http://schemas.microsoft.com/office/drawing/2014/main" id="{6B95D5FC-BCA7-C12E-16F3-F3982D7CB7FF}"/>
              </a:ext>
            </a:extLst>
          </p:cNvPr>
          <p:cNvSpPr/>
          <p:nvPr/>
        </p:nvSpPr>
        <p:spPr>
          <a:xfrm>
            <a:off x="4232400" y="2159258"/>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34" name="Text 9">
            <a:extLst>
              <a:ext uri="{FF2B5EF4-FFF2-40B4-BE49-F238E27FC236}">
                <a16:creationId xmlns:a16="http://schemas.microsoft.com/office/drawing/2014/main" id="{337B0579-C212-59E6-2BF8-06592B5DE9B2}"/>
              </a:ext>
            </a:extLst>
          </p:cNvPr>
          <p:cNvSpPr/>
          <p:nvPr/>
        </p:nvSpPr>
        <p:spPr>
          <a:xfrm>
            <a:off x="4232400" y="2159258"/>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lgn="ctr">
              <a:buNone/>
            </a:pPr>
            <a:r>
              <a:rPr lang="en-US" sz="1300" b="1" dirty="0">
                <a:solidFill>
                  <a:srgbClr val="CADCFC"/>
                </a:solidFill>
                <a:latin typeface="メイリオ" panose="020B0604030504040204" pitchFamily="50" charset="-128"/>
                <a:ea typeface="メイリオ" panose="020B0604030504040204" pitchFamily="50" charset="-128"/>
                <a:cs typeface="メイリオ" pitchFamily="34" charset="-120"/>
              </a:rPr>
              <a:t>02</a:t>
            </a:r>
            <a:endParaRPr lang="en-US" sz="1300" dirty="0">
              <a:latin typeface="メイリオ" panose="020B0604030504040204" pitchFamily="50" charset="-128"/>
              <a:ea typeface="メイリオ" panose="020B0604030504040204" pitchFamily="50" charset="-128"/>
              <a:cs typeface="メイリオ"/>
            </a:endParaRPr>
          </a:p>
        </p:txBody>
      </p:sp>
      <p:sp>
        <p:nvSpPr>
          <p:cNvPr id="35" name="Text 10">
            <a:extLst>
              <a:ext uri="{FF2B5EF4-FFF2-40B4-BE49-F238E27FC236}">
                <a16:creationId xmlns:a16="http://schemas.microsoft.com/office/drawing/2014/main" id="{920D37BD-A1AA-216C-CD8A-FC40DD16D16E}"/>
              </a:ext>
            </a:extLst>
          </p:cNvPr>
          <p:cNvSpPr/>
          <p:nvPr/>
        </p:nvSpPr>
        <p:spPr>
          <a:xfrm>
            <a:off x="4872480" y="2122682"/>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buNone/>
            </a:pPr>
            <a:r>
              <a:rPr lang="en-US" sz="1300" b="1" dirty="0">
                <a:solidFill>
                  <a:srgbClr val="1E2761"/>
                </a:solidFill>
                <a:latin typeface="メイリオ" panose="020B0604030504040204" pitchFamily="50" charset="-128"/>
                <a:ea typeface="メイリオ" panose="020B0604030504040204" pitchFamily="50" charset="-128"/>
                <a:cs typeface="メイリオ" pitchFamily="34" charset="-120"/>
              </a:rPr>
              <a:t>LINEステップ配信シナリオ（5通）</a:t>
            </a:r>
            <a:endParaRPr lang="en-US" sz="1300" dirty="0">
              <a:latin typeface="メイリオ" panose="020B0604030504040204" pitchFamily="50" charset="-128"/>
              <a:ea typeface="メイリオ" panose="020B0604030504040204" pitchFamily="50" charset="-128"/>
              <a:cs typeface="メイリオ"/>
            </a:endParaRPr>
          </a:p>
        </p:txBody>
      </p:sp>
      <p:sp>
        <p:nvSpPr>
          <p:cNvPr id="36" name="Text 11">
            <a:extLst>
              <a:ext uri="{FF2B5EF4-FFF2-40B4-BE49-F238E27FC236}">
                <a16:creationId xmlns:a16="http://schemas.microsoft.com/office/drawing/2014/main" id="{974E4765-6EBA-5838-ABF7-F21BBF0480C5}"/>
              </a:ext>
            </a:extLst>
          </p:cNvPr>
          <p:cNvSpPr/>
          <p:nvPr/>
        </p:nvSpPr>
        <p:spPr>
          <a:xfrm>
            <a:off x="4872480" y="2415290"/>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buNone/>
            </a:pPr>
            <a:r>
              <a:rPr lang="en-US" sz="1000" dirty="0">
                <a:solidFill>
                  <a:srgbClr val="64748B"/>
                </a:solidFill>
                <a:latin typeface="メイリオ" panose="020B0604030504040204" pitchFamily="50" charset="-128"/>
                <a:ea typeface="メイリオ" panose="020B0604030504040204" pitchFamily="50" charset="-128"/>
                <a:cs typeface="メイリオ" pitchFamily="34" charset="-120"/>
              </a:rPr>
              <a:t>友だち追加直後〜セミナー予約まで</a:t>
            </a:r>
            <a:endParaRPr lang="en-US" sz="1000" dirty="0">
              <a:latin typeface="メイリオ" panose="020B0604030504040204" pitchFamily="50" charset="-128"/>
              <a:ea typeface="メイリオ" panose="020B0604030504040204" pitchFamily="50" charset="-128"/>
              <a:cs typeface="メイリオ"/>
            </a:endParaRPr>
          </a:p>
        </p:txBody>
      </p:sp>
      <p:sp>
        <p:nvSpPr>
          <p:cNvPr id="37" name="Shape 12">
            <a:extLst>
              <a:ext uri="{FF2B5EF4-FFF2-40B4-BE49-F238E27FC236}">
                <a16:creationId xmlns:a16="http://schemas.microsoft.com/office/drawing/2014/main" id="{D811E673-9797-08AA-F052-158BFDE9379B}"/>
              </a:ext>
            </a:extLst>
          </p:cNvPr>
          <p:cNvSpPr/>
          <p:nvPr/>
        </p:nvSpPr>
        <p:spPr>
          <a:xfrm>
            <a:off x="3996942" y="2835914"/>
            <a:ext cx="5180076" cy="658368"/>
          </a:xfrm>
          <a:prstGeom prst="roundRect">
            <a:avLst>
              <a:gd name="adj" fmla="val 11111"/>
            </a:avLst>
          </a:prstGeom>
          <a:solidFill>
            <a:srgbClr val="F4F7FF"/>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38" name="Shape 13">
            <a:extLst>
              <a:ext uri="{FF2B5EF4-FFF2-40B4-BE49-F238E27FC236}">
                <a16:creationId xmlns:a16="http://schemas.microsoft.com/office/drawing/2014/main" id="{11CD1AF8-999B-AEAA-EA44-B774D877F777}"/>
              </a:ext>
            </a:extLst>
          </p:cNvPr>
          <p:cNvSpPr/>
          <p:nvPr/>
        </p:nvSpPr>
        <p:spPr>
          <a:xfrm>
            <a:off x="4232400" y="2927354"/>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39" name="Text 14">
            <a:extLst>
              <a:ext uri="{FF2B5EF4-FFF2-40B4-BE49-F238E27FC236}">
                <a16:creationId xmlns:a16="http://schemas.microsoft.com/office/drawing/2014/main" id="{39EC602B-88CD-63D2-D10B-5FB47EBB73C5}"/>
              </a:ext>
            </a:extLst>
          </p:cNvPr>
          <p:cNvSpPr/>
          <p:nvPr/>
        </p:nvSpPr>
        <p:spPr>
          <a:xfrm>
            <a:off x="4232400" y="2927354"/>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lgn="ctr">
              <a:buNone/>
            </a:pPr>
            <a:r>
              <a:rPr lang="en-US" sz="1300" b="1" dirty="0">
                <a:solidFill>
                  <a:srgbClr val="CADCFC"/>
                </a:solidFill>
                <a:latin typeface="メイリオ" panose="020B0604030504040204" pitchFamily="50" charset="-128"/>
                <a:ea typeface="メイリオ" panose="020B0604030504040204" pitchFamily="50" charset="-128"/>
                <a:cs typeface="メイリオ" pitchFamily="34" charset="-120"/>
              </a:rPr>
              <a:t>03</a:t>
            </a:r>
            <a:endParaRPr lang="en-US" sz="1300" dirty="0">
              <a:latin typeface="メイリオ" panose="020B0604030504040204" pitchFamily="50" charset="-128"/>
              <a:ea typeface="メイリオ" panose="020B0604030504040204" pitchFamily="50" charset="-128"/>
              <a:cs typeface="メイリオ"/>
            </a:endParaRPr>
          </a:p>
        </p:txBody>
      </p:sp>
      <p:sp>
        <p:nvSpPr>
          <p:cNvPr id="40" name="Text 15">
            <a:extLst>
              <a:ext uri="{FF2B5EF4-FFF2-40B4-BE49-F238E27FC236}">
                <a16:creationId xmlns:a16="http://schemas.microsoft.com/office/drawing/2014/main" id="{0AEE18E8-A2E5-2400-F73C-D5891E9A42FC}"/>
              </a:ext>
            </a:extLst>
          </p:cNvPr>
          <p:cNvSpPr/>
          <p:nvPr/>
        </p:nvSpPr>
        <p:spPr>
          <a:xfrm>
            <a:off x="4872480" y="2890778"/>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r>
              <a:rPr lang="en-US" altLang="ja-JP" sz="1300" b="1" dirty="0" err="1">
                <a:solidFill>
                  <a:srgbClr val="1E2761"/>
                </a:solidFill>
                <a:latin typeface="メイリオ" panose="020B0604030504040204" pitchFamily="50" charset="-128"/>
                <a:ea typeface="メイリオ" panose="020B0604030504040204" pitchFamily="50" charset="-128"/>
                <a:cs typeface="メイリオ" pitchFamily="34" charset="-120"/>
              </a:rPr>
              <a:t>興味分野の把握（簡易アンケート）</a:t>
            </a:r>
            <a:endParaRPr lang="en-US" altLang="ja-JP" sz="1300" dirty="0">
              <a:latin typeface="メイリオ" panose="020B0604030504040204" pitchFamily="50" charset="-128"/>
              <a:ea typeface="メイリオ" panose="020B0604030504040204" pitchFamily="50" charset="-128"/>
              <a:cs typeface="メイリオ"/>
            </a:endParaRPr>
          </a:p>
        </p:txBody>
      </p:sp>
      <p:sp>
        <p:nvSpPr>
          <p:cNvPr id="42" name="Text 16">
            <a:extLst>
              <a:ext uri="{FF2B5EF4-FFF2-40B4-BE49-F238E27FC236}">
                <a16:creationId xmlns:a16="http://schemas.microsoft.com/office/drawing/2014/main" id="{B4775A80-7B08-FF59-7696-55B7BFFE29C0}"/>
              </a:ext>
            </a:extLst>
          </p:cNvPr>
          <p:cNvSpPr/>
          <p:nvPr/>
        </p:nvSpPr>
        <p:spPr>
          <a:xfrm>
            <a:off x="4872480" y="3183386"/>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r>
              <a:rPr lang="en-US" altLang="ja-JP" sz="1000" dirty="0" err="1">
                <a:solidFill>
                  <a:srgbClr val="64748B"/>
                </a:solidFill>
                <a:latin typeface="メイリオ" panose="020B0604030504040204" pitchFamily="50" charset="-128"/>
                <a:ea typeface="メイリオ" panose="020B0604030504040204" pitchFamily="50" charset="-128"/>
                <a:cs typeface="メイリオ" pitchFamily="34" charset="-120"/>
              </a:rPr>
              <a:t>流入経路・興味分野に応じた配信の出し分け</a:t>
            </a:r>
            <a:endParaRPr lang="en-US" altLang="ja-JP" sz="1000" dirty="0">
              <a:latin typeface="メイリオ" panose="020B0604030504040204" pitchFamily="50" charset="-128"/>
              <a:ea typeface="メイリオ" panose="020B0604030504040204" pitchFamily="50" charset="-128"/>
              <a:cs typeface="メイリオ"/>
            </a:endParaRPr>
          </a:p>
        </p:txBody>
      </p:sp>
      <p:sp>
        <p:nvSpPr>
          <p:cNvPr id="43" name="Shape 17">
            <a:extLst>
              <a:ext uri="{FF2B5EF4-FFF2-40B4-BE49-F238E27FC236}">
                <a16:creationId xmlns:a16="http://schemas.microsoft.com/office/drawing/2014/main" id="{3D356BBE-5EFA-8143-1308-9A8F66D3D8F4}"/>
              </a:ext>
            </a:extLst>
          </p:cNvPr>
          <p:cNvSpPr/>
          <p:nvPr/>
        </p:nvSpPr>
        <p:spPr>
          <a:xfrm>
            <a:off x="3996942" y="3604010"/>
            <a:ext cx="5180076" cy="658368"/>
          </a:xfrm>
          <a:prstGeom prst="roundRect">
            <a:avLst>
              <a:gd name="adj" fmla="val 11111"/>
            </a:avLst>
          </a:prstGeom>
          <a:solidFill>
            <a:srgbClr val="FFFFFF"/>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44" name="Shape 18">
            <a:extLst>
              <a:ext uri="{FF2B5EF4-FFF2-40B4-BE49-F238E27FC236}">
                <a16:creationId xmlns:a16="http://schemas.microsoft.com/office/drawing/2014/main" id="{347BFA19-EB93-7D44-5D29-87E8A0640967}"/>
              </a:ext>
            </a:extLst>
          </p:cNvPr>
          <p:cNvSpPr/>
          <p:nvPr/>
        </p:nvSpPr>
        <p:spPr>
          <a:xfrm>
            <a:off x="4232400" y="3695450"/>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45" name="Text 19">
            <a:extLst>
              <a:ext uri="{FF2B5EF4-FFF2-40B4-BE49-F238E27FC236}">
                <a16:creationId xmlns:a16="http://schemas.microsoft.com/office/drawing/2014/main" id="{808039CB-8A35-B1E6-353C-C961982DAEEE}"/>
              </a:ext>
            </a:extLst>
          </p:cNvPr>
          <p:cNvSpPr/>
          <p:nvPr/>
        </p:nvSpPr>
        <p:spPr>
          <a:xfrm>
            <a:off x="4232400" y="3695450"/>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lgn="ctr">
              <a:buNone/>
            </a:pPr>
            <a:r>
              <a:rPr lang="en-US" sz="1300" b="1" dirty="0">
                <a:solidFill>
                  <a:srgbClr val="CADCFC"/>
                </a:solidFill>
                <a:latin typeface="メイリオ" panose="020B0604030504040204" pitchFamily="50" charset="-128"/>
                <a:ea typeface="メイリオ" panose="020B0604030504040204" pitchFamily="50" charset="-128"/>
                <a:cs typeface="メイリオ" pitchFamily="34" charset="-120"/>
              </a:rPr>
              <a:t>04</a:t>
            </a:r>
            <a:endParaRPr lang="en-US" sz="1300" dirty="0">
              <a:latin typeface="メイリオ" panose="020B0604030504040204" pitchFamily="50" charset="-128"/>
              <a:ea typeface="メイリオ" panose="020B0604030504040204" pitchFamily="50" charset="-128"/>
              <a:cs typeface="メイリオ"/>
            </a:endParaRPr>
          </a:p>
        </p:txBody>
      </p:sp>
      <p:sp>
        <p:nvSpPr>
          <p:cNvPr id="46" name="Text 20">
            <a:extLst>
              <a:ext uri="{FF2B5EF4-FFF2-40B4-BE49-F238E27FC236}">
                <a16:creationId xmlns:a16="http://schemas.microsoft.com/office/drawing/2014/main" id="{5510FCD4-7246-36B3-3CB6-AE9EB64B95B8}"/>
              </a:ext>
            </a:extLst>
          </p:cNvPr>
          <p:cNvSpPr/>
          <p:nvPr/>
        </p:nvSpPr>
        <p:spPr>
          <a:xfrm>
            <a:off x="4872480" y="3658874"/>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r>
              <a:rPr lang="ja-JP" altLang="en-US" sz="1300" b="1" dirty="0">
                <a:solidFill>
                  <a:srgbClr val="1E2761"/>
                </a:solidFill>
                <a:latin typeface="メイリオ" panose="020B0604030504040204" pitchFamily="50" charset="-128"/>
                <a:ea typeface="メイリオ" panose="020B0604030504040204" pitchFamily="50" charset="-128"/>
                <a:cs typeface="メイリオ" pitchFamily="34" charset="-120"/>
              </a:rPr>
              <a:t>セグメント設定</a:t>
            </a:r>
            <a:endParaRPr lang="en-US" sz="1300" dirty="0">
              <a:latin typeface="メイリオ" panose="020B0604030504040204" pitchFamily="50" charset="-128"/>
              <a:ea typeface="メイリオ" panose="020B0604030504040204" pitchFamily="50" charset="-128"/>
              <a:cs typeface="メイリオ"/>
            </a:endParaRPr>
          </a:p>
        </p:txBody>
      </p:sp>
      <p:sp>
        <p:nvSpPr>
          <p:cNvPr id="47" name="Text 21">
            <a:extLst>
              <a:ext uri="{FF2B5EF4-FFF2-40B4-BE49-F238E27FC236}">
                <a16:creationId xmlns:a16="http://schemas.microsoft.com/office/drawing/2014/main" id="{30188B70-2DE7-6DC7-0865-6F6103AD5132}"/>
              </a:ext>
            </a:extLst>
          </p:cNvPr>
          <p:cNvSpPr/>
          <p:nvPr/>
        </p:nvSpPr>
        <p:spPr>
          <a:xfrm>
            <a:off x="4872480" y="3951482"/>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buNone/>
            </a:pPr>
            <a:endParaRPr lang="en-US" sz="1000" dirty="0">
              <a:latin typeface="メイリオ" panose="020B0604030504040204" pitchFamily="50" charset="-128"/>
              <a:ea typeface="メイリオ" panose="020B0604030504040204" pitchFamily="50" charset="-128"/>
              <a:cs typeface="メイリオ"/>
            </a:endParaRPr>
          </a:p>
        </p:txBody>
      </p:sp>
      <p:sp>
        <p:nvSpPr>
          <p:cNvPr id="49" name="Text 16">
            <a:extLst>
              <a:ext uri="{FF2B5EF4-FFF2-40B4-BE49-F238E27FC236}">
                <a16:creationId xmlns:a16="http://schemas.microsoft.com/office/drawing/2014/main" id="{5224712D-B17D-A02C-3D89-CC6242B38B83}"/>
              </a:ext>
            </a:extLst>
          </p:cNvPr>
          <p:cNvSpPr/>
          <p:nvPr/>
        </p:nvSpPr>
        <p:spPr>
          <a:xfrm>
            <a:off x="4872480" y="3965198"/>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r>
              <a:rPr lang="en-US" altLang="ja-JP" sz="1000" dirty="0">
                <a:latin typeface="メイリオ" panose="020B0604030504040204" pitchFamily="50" charset="-128"/>
                <a:ea typeface="メイリオ" panose="020B0604030504040204" pitchFamily="50" charset="-128"/>
                <a:cs typeface="メイリオ"/>
              </a:rPr>
              <a:t>WEB</a:t>
            </a:r>
            <a:r>
              <a:rPr lang="ja-JP" altLang="en-US" sz="1000" dirty="0">
                <a:latin typeface="メイリオ" panose="020B0604030504040204" pitchFamily="50" charset="-128"/>
                <a:ea typeface="メイリオ" panose="020B0604030504040204" pitchFamily="50" charset="-128"/>
                <a:cs typeface="メイリオ"/>
              </a:rPr>
              <a:t>サイトアクション、</a:t>
            </a:r>
            <a:r>
              <a:rPr lang="en-US" altLang="ja-JP" sz="1000" dirty="0">
                <a:latin typeface="メイリオ" panose="020B0604030504040204" pitchFamily="50" charset="-128"/>
                <a:ea typeface="メイリオ" panose="020B0604030504040204" pitchFamily="50" charset="-128"/>
                <a:cs typeface="メイリオ"/>
              </a:rPr>
              <a:t>LINE</a:t>
            </a:r>
            <a:r>
              <a:rPr lang="ja-JP" altLang="en-US" sz="1000" dirty="0">
                <a:latin typeface="メイリオ" panose="020B0604030504040204" pitchFamily="50" charset="-128"/>
                <a:ea typeface="メイリオ" panose="020B0604030504040204" pitchFamily="50" charset="-128"/>
                <a:cs typeface="メイリオ"/>
              </a:rPr>
              <a:t>上アクションのスコアリング 等を活用</a:t>
            </a:r>
            <a:endParaRPr lang="en-US" altLang="ja-JP" sz="1000" dirty="0">
              <a:latin typeface="メイリオ" panose="020B0604030504040204" pitchFamily="50" charset="-128"/>
              <a:ea typeface="メイリオ" panose="020B0604030504040204" pitchFamily="50" charset="-128"/>
              <a:cs typeface="メイリオ"/>
            </a:endParaRPr>
          </a:p>
        </p:txBody>
      </p:sp>
      <p:sp>
        <p:nvSpPr>
          <p:cNvPr id="52" name="Shape 12">
            <a:extLst>
              <a:ext uri="{FF2B5EF4-FFF2-40B4-BE49-F238E27FC236}">
                <a16:creationId xmlns:a16="http://schemas.microsoft.com/office/drawing/2014/main" id="{FEE65136-327D-500B-12B2-F775BA661CA0}"/>
              </a:ext>
            </a:extLst>
          </p:cNvPr>
          <p:cNvSpPr/>
          <p:nvPr/>
        </p:nvSpPr>
        <p:spPr>
          <a:xfrm>
            <a:off x="3996942" y="4335530"/>
            <a:ext cx="5180076" cy="658368"/>
          </a:xfrm>
          <a:prstGeom prst="roundRect">
            <a:avLst>
              <a:gd name="adj" fmla="val 11111"/>
            </a:avLst>
          </a:prstGeom>
          <a:solidFill>
            <a:srgbClr val="F4F7FF"/>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53" name="Shape 13">
            <a:extLst>
              <a:ext uri="{FF2B5EF4-FFF2-40B4-BE49-F238E27FC236}">
                <a16:creationId xmlns:a16="http://schemas.microsoft.com/office/drawing/2014/main" id="{4E57D180-2654-0AC3-340A-A6D2C576BF28}"/>
              </a:ext>
            </a:extLst>
          </p:cNvPr>
          <p:cNvSpPr/>
          <p:nvPr/>
        </p:nvSpPr>
        <p:spPr>
          <a:xfrm>
            <a:off x="4232400" y="4426970"/>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55" name="Text 14">
            <a:extLst>
              <a:ext uri="{FF2B5EF4-FFF2-40B4-BE49-F238E27FC236}">
                <a16:creationId xmlns:a16="http://schemas.microsoft.com/office/drawing/2014/main" id="{246080CC-996D-7BA0-3140-EC427EE9AC6A}"/>
              </a:ext>
            </a:extLst>
          </p:cNvPr>
          <p:cNvSpPr/>
          <p:nvPr/>
        </p:nvSpPr>
        <p:spPr>
          <a:xfrm>
            <a:off x="4232400" y="4426970"/>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lgn="ctr">
              <a:buNone/>
            </a:pPr>
            <a:r>
              <a:rPr lang="en-US" altLang="ja-JP" sz="1300" b="1" dirty="0">
                <a:solidFill>
                  <a:srgbClr val="CADCFC"/>
                </a:solidFill>
                <a:latin typeface="メイリオ" panose="020B0604030504040204" pitchFamily="50" charset="-128"/>
                <a:ea typeface="メイリオ" panose="020B0604030504040204" pitchFamily="50" charset="-128"/>
                <a:cs typeface="メイリオ" pitchFamily="34" charset="-120"/>
              </a:rPr>
              <a:t>05</a:t>
            </a:r>
            <a:endParaRPr lang="en-US" sz="1300" dirty="0">
              <a:latin typeface="メイリオ" panose="020B0604030504040204" pitchFamily="50" charset="-128"/>
              <a:ea typeface="メイリオ" panose="020B0604030504040204" pitchFamily="50" charset="-128"/>
              <a:cs typeface="メイリオ"/>
            </a:endParaRPr>
          </a:p>
        </p:txBody>
      </p:sp>
      <p:sp>
        <p:nvSpPr>
          <p:cNvPr id="56" name="Text 15">
            <a:extLst>
              <a:ext uri="{FF2B5EF4-FFF2-40B4-BE49-F238E27FC236}">
                <a16:creationId xmlns:a16="http://schemas.microsoft.com/office/drawing/2014/main" id="{613A87C0-F021-8C8E-C0C8-7A94F347FD40}"/>
              </a:ext>
            </a:extLst>
          </p:cNvPr>
          <p:cNvSpPr/>
          <p:nvPr/>
        </p:nvSpPr>
        <p:spPr>
          <a:xfrm>
            <a:off x="4872480" y="4390394"/>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r>
              <a:rPr lang="en-US" altLang="ja-JP" sz="1300" b="1" dirty="0" err="1">
                <a:solidFill>
                  <a:srgbClr val="1E2761"/>
                </a:solidFill>
                <a:latin typeface="メイリオ" panose="020B0604030504040204" pitchFamily="50" charset="-128"/>
                <a:ea typeface="メイリオ" panose="020B0604030504040204" pitchFamily="50" charset="-128"/>
                <a:cs typeface="メイリオ" pitchFamily="34" charset="-120"/>
              </a:rPr>
              <a:t>効果計測・改善</a:t>
            </a:r>
            <a:endParaRPr lang="en-US" altLang="ja-JP" sz="1300" dirty="0">
              <a:latin typeface="メイリオ" panose="020B0604030504040204" pitchFamily="50" charset="-128"/>
              <a:ea typeface="メイリオ" panose="020B0604030504040204" pitchFamily="50" charset="-128"/>
              <a:cs typeface="メイリオ"/>
            </a:endParaRPr>
          </a:p>
        </p:txBody>
      </p:sp>
      <p:sp>
        <p:nvSpPr>
          <p:cNvPr id="58" name="Text 16">
            <a:extLst>
              <a:ext uri="{FF2B5EF4-FFF2-40B4-BE49-F238E27FC236}">
                <a16:creationId xmlns:a16="http://schemas.microsoft.com/office/drawing/2014/main" id="{9DA36E29-5E4C-827F-3F47-7F5A66283E74}"/>
              </a:ext>
            </a:extLst>
          </p:cNvPr>
          <p:cNvSpPr/>
          <p:nvPr/>
        </p:nvSpPr>
        <p:spPr>
          <a:xfrm>
            <a:off x="4872480" y="4683002"/>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r>
              <a:rPr lang="en-US" altLang="ja-JP" sz="1000" dirty="0" err="1">
                <a:solidFill>
                  <a:srgbClr val="64748B"/>
                </a:solidFill>
                <a:latin typeface="メイリオ" panose="020B0604030504040204" pitchFamily="50" charset="-128"/>
                <a:ea typeface="メイリオ" panose="020B0604030504040204" pitchFamily="50" charset="-128"/>
                <a:cs typeface="メイリオ" pitchFamily="34" charset="-120"/>
              </a:rPr>
              <a:t>配信ごとの開封・クリック・予約を確認し、次の配信に反映</a:t>
            </a:r>
            <a:endParaRPr lang="en-US" altLang="ja-JP" sz="1000" dirty="0">
              <a:latin typeface="メイリオ" panose="020B0604030504040204" pitchFamily="50" charset="-128"/>
              <a:ea typeface="メイリオ" panose="020B0604030504040204" pitchFamily="50" charset="-128"/>
              <a:cs typeface="メイリオ"/>
            </a:endParaRPr>
          </a:p>
        </p:txBody>
      </p:sp>
      <p:sp>
        <p:nvSpPr>
          <p:cNvPr id="59" name="Shape 12">
            <a:extLst>
              <a:ext uri="{FF2B5EF4-FFF2-40B4-BE49-F238E27FC236}">
                <a16:creationId xmlns:a16="http://schemas.microsoft.com/office/drawing/2014/main" id="{161B3C95-AA02-BAC5-D24B-86C62582A0EE}"/>
              </a:ext>
            </a:extLst>
          </p:cNvPr>
          <p:cNvSpPr/>
          <p:nvPr/>
        </p:nvSpPr>
        <p:spPr>
          <a:xfrm>
            <a:off x="3996942" y="5085338"/>
            <a:ext cx="5180076" cy="658368"/>
          </a:xfrm>
          <a:prstGeom prst="roundRect">
            <a:avLst>
              <a:gd name="adj" fmla="val 11111"/>
            </a:avLst>
          </a:prstGeom>
          <a:solidFill>
            <a:schemeClr val="bg1"/>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60" name="Shape 13">
            <a:extLst>
              <a:ext uri="{FF2B5EF4-FFF2-40B4-BE49-F238E27FC236}">
                <a16:creationId xmlns:a16="http://schemas.microsoft.com/office/drawing/2014/main" id="{69FCAD8A-755C-CC30-3ED3-D5F11C11A363}"/>
              </a:ext>
            </a:extLst>
          </p:cNvPr>
          <p:cNvSpPr/>
          <p:nvPr/>
        </p:nvSpPr>
        <p:spPr>
          <a:xfrm>
            <a:off x="4232400" y="5176778"/>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64" name="Text 14">
            <a:extLst>
              <a:ext uri="{FF2B5EF4-FFF2-40B4-BE49-F238E27FC236}">
                <a16:creationId xmlns:a16="http://schemas.microsoft.com/office/drawing/2014/main" id="{6301A83B-57F7-303A-D503-58842AD3A2C9}"/>
              </a:ext>
            </a:extLst>
          </p:cNvPr>
          <p:cNvSpPr/>
          <p:nvPr/>
        </p:nvSpPr>
        <p:spPr>
          <a:xfrm>
            <a:off x="4232400" y="5176778"/>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lgn="ctr">
              <a:buNone/>
            </a:pPr>
            <a:r>
              <a:rPr lang="en-US" altLang="ja-JP" sz="1300" b="1" dirty="0">
                <a:solidFill>
                  <a:srgbClr val="CADCFC"/>
                </a:solidFill>
                <a:latin typeface="メイリオ" panose="020B0604030504040204" pitchFamily="50" charset="-128"/>
                <a:ea typeface="メイリオ" panose="020B0604030504040204" pitchFamily="50" charset="-128"/>
                <a:cs typeface="メイリオ" pitchFamily="34" charset="-120"/>
              </a:rPr>
              <a:t>06</a:t>
            </a:r>
            <a:endParaRPr lang="en-US" sz="1300" dirty="0">
              <a:latin typeface="メイリオ" panose="020B0604030504040204" pitchFamily="50" charset="-128"/>
              <a:ea typeface="メイリオ" panose="020B0604030504040204" pitchFamily="50" charset="-128"/>
              <a:cs typeface="メイリオ"/>
            </a:endParaRPr>
          </a:p>
        </p:txBody>
      </p:sp>
      <p:sp>
        <p:nvSpPr>
          <p:cNvPr id="70" name="Text 15">
            <a:extLst>
              <a:ext uri="{FF2B5EF4-FFF2-40B4-BE49-F238E27FC236}">
                <a16:creationId xmlns:a16="http://schemas.microsoft.com/office/drawing/2014/main" id="{26FF7A4F-5A58-E1CE-107D-E1780C611FE8}"/>
              </a:ext>
            </a:extLst>
          </p:cNvPr>
          <p:cNvSpPr/>
          <p:nvPr/>
        </p:nvSpPr>
        <p:spPr>
          <a:xfrm>
            <a:off x="4872480" y="5140202"/>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r>
              <a:rPr lang="en-US" altLang="ja-JP" sz="1300" b="1" dirty="0" err="1">
                <a:solidFill>
                  <a:srgbClr val="1E2761"/>
                </a:solidFill>
                <a:latin typeface="メイリオ" panose="020B0604030504040204" pitchFamily="50" charset="-128"/>
                <a:ea typeface="メイリオ" panose="020B0604030504040204" pitchFamily="50" charset="-128"/>
                <a:cs typeface="メイリオ" pitchFamily="34" charset="-120"/>
              </a:rPr>
              <a:t>セミナー開催月・平常期の企画配信</a:t>
            </a:r>
            <a:endParaRPr lang="en-US" altLang="ja-JP" sz="1300" dirty="0">
              <a:latin typeface="メイリオ" panose="020B0604030504040204" pitchFamily="50" charset="-128"/>
              <a:ea typeface="メイリオ" panose="020B0604030504040204" pitchFamily="50" charset="-128"/>
              <a:cs typeface="メイリオ"/>
            </a:endParaRPr>
          </a:p>
        </p:txBody>
      </p:sp>
      <p:sp>
        <p:nvSpPr>
          <p:cNvPr id="71" name="Text 16">
            <a:extLst>
              <a:ext uri="{FF2B5EF4-FFF2-40B4-BE49-F238E27FC236}">
                <a16:creationId xmlns:a16="http://schemas.microsoft.com/office/drawing/2014/main" id="{71DABE45-88FB-C5ED-EF05-90FD4F3C4A0B}"/>
              </a:ext>
            </a:extLst>
          </p:cNvPr>
          <p:cNvSpPr/>
          <p:nvPr/>
        </p:nvSpPr>
        <p:spPr>
          <a:xfrm>
            <a:off x="4872480" y="5432810"/>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r>
              <a:rPr lang="en-US" altLang="ja-JP" sz="1000" dirty="0" err="1">
                <a:solidFill>
                  <a:srgbClr val="64748B"/>
                </a:solidFill>
                <a:latin typeface="メイリオ" panose="020B0604030504040204" pitchFamily="50" charset="-128"/>
                <a:ea typeface="メイリオ" panose="020B0604030504040204" pitchFamily="50" charset="-128"/>
                <a:cs typeface="メイリオ" pitchFamily="34" charset="-120"/>
              </a:rPr>
              <a:t>開催月は月4〜5回、平常期は月1〜2回の配信案</a:t>
            </a:r>
            <a:endParaRPr lang="en-US" altLang="ja-JP" sz="1000" dirty="0">
              <a:latin typeface="メイリオ" panose="020B0604030504040204" pitchFamily="50" charset="-128"/>
              <a:ea typeface="メイリオ" panose="020B0604030504040204" pitchFamily="50" charset="-128"/>
              <a:cs typeface="メイリオ"/>
            </a:endParaRPr>
          </a:p>
        </p:txBody>
      </p:sp>
      <p:sp>
        <p:nvSpPr>
          <p:cNvPr id="74" name="Shape 12">
            <a:extLst>
              <a:ext uri="{FF2B5EF4-FFF2-40B4-BE49-F238E27FC236}">
                <a16:creationId xmlns:a16="http://schemas.microsoft.com/office/drawing/2014/main" id="{B291868D-9C9C-066C-CFF8-87B199CEA5CF}"/>
              </a:ext>
            </a:extLst>
          </p:cNvPr>
          <p:cNvSpPr/>
          <p:nvPr/>
        </p:nvSpPr>
        <p:spPr>
          <a:xfrm>
            <a:off x="3996942" y="5838536"/>
            <a:ext cx="5180076" cy="658368"/>
          </a:xfrm>
          <a:prstGeom prst="roundRect">
            <a:avLst>
              <a:gd name="adj" fmla="val 11111"/>
            </a:avLst>
          </a:prstGeom>
          <a:solidFill>
            <a:srgbClr val="F4F7FF"/>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75" name="Shape 13">
            <a:extLst>
              <a:ext uri="{FF2B5EF4-FFF2-40B4-BE49-F238E27FC236}">
                <a16:creationId xmlns:a16="http://schemas.microsoft.com/office/drawing/2014/main" id="{50DF7319-3B00-9111-2E31-8AC337BA4D33}"/>
              </a:ext>
            </a:extLst>
          </p:cNvPr>
          <p:cNvSpPr/>
          <p:nvPr/>
        </p:nvSpPr>
        <p:spPr>
          <a:xfrm>
            <a:off x="4232400" y="5929976"/>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76" name="Text 14">
            <a:extLst>
              <a:ext uri="{FF2B5EF4-FFF2-40B4-BE49-F238E27FC236}">
                <a16:creationId xmlns:a16="http://schemas.microsoft.com/office/drawing/2014/main" id="{0C235F7A-0F23-E972-590D-0F6705D7497F}"/>
              </a:ext>
            </a:extLst>
          </p:cNvPr>
          <p:cNvSpPr/>
          <p:nvPr/>
        </p:nvSpPr>
        <p:spPr>
          <a:xfrm>
            <a:off x="4232400" y="5929976"/>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lgn="ctr">
              <a:buNone/>
            </a:pPr>
            <a:r>
              <a:rPr lang="en-US" altLang="ja-JP" sz="1300" b="1" dirty="0">
                <a:solidFill>
                  <a:srgbClr val="CADCFC"/>
                </a:solidFill>
                <a:latin typeface="メイリオ" panose="020B0604030504040204" pitchFamily="50" charset="-128"/>
                <a:ea typeface="メイリオ" panose="020B0604030504040204" pitchFamily="50" charset="-128"/>
                <a:cs typeface="メイリオ" pitchFamily="34" charset="-120"/>
              </a:rPr>
              <a:t>07</a:t>
            </a:r>
            <a:endParaRPr lang="en-US" sz="1300" dirty="0">
              <a:latin typeface="メイリオ" panose="020B0604030504040204" pitchFamily="50" charset="-128"/>
              <a:ea typeface="メイリオ" panose="020B0604030504040204" pitchFamily="50" charset="-128"/>
              <a:cs typeface="メイリオ"/>
            </a:endParaRPr>
          </a:p>
        </p:txBody>
      </p:sp>
      <p:sp>
        <p:nvSpPr>
          <p:cNvPr id="77" name="Text 15">
            <a:extLst>
              <a:ext uri="{FF2B5EF4-FFF2-40B4-BE49-F238E27FC236}">
                <a16:creationId xmlns:a16="http://schemas.microsoft.com/office/drawing/2014/main" id="{A8806AA1-15C3-799B-4DF6-265E528EF9FE}"/>
              </a:ext>
            </a:extLst>
          </p:cNvPr>
          <p:cNvSpPr/>
          <p:nvPr/>
        </p:nvSpPr>
        <p:spPr>
          <a:xfrm>
            <a:off x="4872480" y="5893400"/>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r>
              <a:rPr lang="ja-JP" altLang="en-US" sz="1300" b="1" dirty="0">
                <a:solidFill>
                  <a:srgbClr val="1E2761"/>
                </a:solidFill>
                <a:latin typeface="メイリオ" panose="020B0604030504040204" pitchFamily="50" charset="-128"/>
                <a:ea typeface="メイリオ" panose="020B0604030504040204" pitchFamily="50" charset="-128"/>
                <a:cs typeface="メイリオ" pitchFamily="34" charset="-120"/>
              </a:rPr>
              <a:t>各種設定の更新・改善</a:t>
            </a:r>
            <a:endParaRPr lang="en-US" altLang="ja-JP" sz="1300" dirty="0">
              <a:latin typeface="メイリオ" panose="020B0604030504040204" pitchFamily="50" charset="-128"/>
              <a:ea typeface="メイリオ" panose="020B0604030504040204" pitchFamily="50" charset="-128"/>
              <a:cs typeface="メイリオ"/>
            </a:endParaRPr>
          </a:p>
        </p:txBody>
      </p:sp>
      <p:sp>
        <p:nvSpPr>
          <p:cNvPr id="78" name="Text 16">
            <a:extLst>
              <a:ext uri="{FF2B5EF4-FFF2-40B4-BE49-F238E27FC236}">
                <a16:creationId xmlns:a16="http://schemas.microsoft.com/office/drawing/2014/main" id="{60F4341A-D01A-FB28-EE9D-FBD6E531C1A2}"/>
              </a:ext>
            </a:extLst>
          </p:cNvPr>
          <p:cNvSpPr/>
          <p:nvPr/>
        </p:nvSpPr>
        <p:spPr>
          <a:xfrm>
            <a:off x="4872480" y="6186008"/>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r>
              <a:rPr lang="ja-JP" altLang="en-US" sz="1000" dirty="0">
                <a:latin typeface="メイリオ" panose="020B0604030504040204" pitchFamily="50" charset="-128"/>
                <a:ea typeface="メイリオ" panose="020B0604030504040204" pitchFamily="50" charset="-128"/>
                <a:cs typeface="メイリオ"/>
              </a:rPr>
              <a:t>あいさつメッセージ、リッチメニュー、</a:t>
            </a:r>
            <a:r>
              <a:rPr lang="en-US" altLang="ja-JP" sz="1000" dirty="0">
                <a:latin typeface="メイリオ" panose="020B0604030504040204" pitchFamily="50" charset="-128"/>
                <a:ea typeface="メイリオ" panose="020B0604030504040204" pitchFamily="50" charset="-128"/>
                <a:cs typeface="メイリオ"/>
              </a:rPr>
              <a:t>LP</a:t>
            </a:r>
            <a:r>
              <a:rPr lang="ja-JP" altLang="en-US" sz="1000" dirty="0">
                <a:latin typeface="メイリオ" panose="020B0604030504040204" pitchFamily="50" charset="-128"/>
                <a:ea typeface="メイリオ" panose="020B0604030504040204" pitchFamily="50" charset="-128"/>
                <a:cs typeface="メイリオ"/>
              </a:rPr>
              <a:t>の改修（</a:t>
            </a:r>
            <a:r>
              <a:rPr lang="en-US" altLang="ja-JP" sz="1000" dirty="0">
                <a:latin typeface="メイリオ" panose="020B0604030504040204" pitchFamily="50" charset="-128"/>
                <a:ea typeface="メイリオ" panose="020B0604030504040204" pitchFamily="50" charset="-128"/>
                <a:cs typeface="メイリオ"/>
              </a:rPr>
              <a:t>※LP</a:t>
            </a:r>
            <a:r>
              <a:rPr lang="ja-JP" altLang="en-US" sz="1000" dirty="0">
                <a:latin typeface="メイリオ" panose="020B0604030504040204" pitchFamily="50" charset="-128"/>
                <a:ea typeface="メイリオ" panose="020B0604030504040204" pitchFamily="50" charset="-128"/>
                <a:cs typeface="メイリオ"/>
              </a:rPr>
              <a:t>は別途費用）</a:t>
            </a:r>
            <a:endParaRPr lang="en-US" altLang="ja-JP" sz="1000" dirty="0">
              <a:latin typeface="メイリオ" panose="020B0604030504040204" pitchFamily="50" charset="-128"/>
              <a:ea typeface="メイリオ" panose="020B0604030504040204" pitchFamily="50" charset="-128"/>
              <a:cs typeface="メイリオ"/>
            </a:endParaRPr>
          </a:p>
        </p:txBody>
      </p:sp>
      <p:sp>
        <p:nvSpPr>
          <p:cNvPr id="79" name="テキスト ボックス 78">
            <a:extLst>
              <a:ext uri="{FF2B5EF4-FFF2-40B4-BE49-F238E27FC236}">
                <a16:creationId xmlns:a16="http://schemas.microsoft.com/office/drawing/2014/main" id="{4C2DE5F8-8AC0-6067-4D4C-B9D9A832AFB8}"/>
              </a:ext>
            </a:extLst>
          </p:cNvPr>
          <p:cNvSpPr txBox="1"/>
          <p:nvPr/>
        </p:nvSpPr>
        <p:spPr>
          <a:xfrm>
            <a:off x="320847" y="1664842"/>
            <a:ext cx="2800460" cy="791695"/>
          </a:xfrm>
          <a:prstGeom prst="rect">
            <a:avLst/>
          </a:prstGeom>
          <a:solidFill>
            <a:schemeClr val="tx1">
              <a:lumMod val="65000"/>
              <a:lumOff val="35000"/>
            </a:schemeClr>
          </a:solidFill>
        </p:spPr>
        <p:txBody>
          <a:bodyPr wrap="square" anchor="ctr">
            <a:spAutoFit/>
          </a:bodyPr>
          <a:lstStyle/>
          <a:p>
            <a:pPr algn="ctr"/>
            <a:r>
              <a:rPr kumimoji="1" lang="en-US" altLang="ja-JP" b="1" dirty="0">
                <a:solidFill>
                  <a:schemeClr val="bg1"/>
                </a:solidFill>
                <a:latin typeface="メイリオ" panose="020B0604030504040204" pitchFamily="50" charset="-128"/>
                <a:ea typeface="メイリオ" panose="020B0604030504040204" pitchFamily="50" charset="-128"/>
                <a:cs typeface="メイリオ"/>
              </a:rPr>
              <a:t>&lt;</a:t>
            </a:r>
            <a:r>
              <a:rPr kumimoji="1" lang="ja-JP" altLang="en-US" b="1" dirty="0">
                <a:solidFill>
                  <a:schemeClr val="bg1"/>
                </a:solidFill>
                <a:latin typeface="メイリオ" panose="020B0604030504040204" pitchFamily="50" charset="-128"/>
                <a:ea typeface="メイリオ" panose="020B0604030504040204" pitchFamily="50" charset="-128"/>
                <a:cs typeface="メイリオ"/>
              </a:rPr>
              <a:t>初期費用</a:t>
            </a:r>
            <a:r>
              <a:rPr kumimoji="1" lang="en-US" altLang="ja-JP" b="1" dirty="0">
                <a:solidFill>
                  <a:schemeClr val="bg1"/>
                </a:solidFill>
                <a:latin typeface="メイリオ" panose="020B0604030504040204" pitchFamily="50" charset="-128"/>
                <a:ea typeface="メイリオ" panose="020B0604030504040204" pitchFamily="50" charset="-128"/>
                <a:cs typeface="メイリオ"/>
              </a:rPr>
              <a:t>&gt;</a:t>
            </a:r>
            <a:endParaRPr kumimoji="1" lang="ja-JP" altLang="en-US" b="1" dirty="0">
              <a:solidFill>
                <a:schemeClr val="bg1"/>
              </a:solidFill>
              <a:latin typeface="メイリオ" panose="020B0604030504040204" pitchFamily="50" charset="-128"/>
              <a:ea typeface="メイリオ" panose="020B0604030504040204" pitchFamily="50" charset="-128"/>
              <a:cs typeface="メイリオ"/>
            </a:endParaRPr>
          </a:p>
        </p:txBody>
      </p:sp>
      <p:sp>
        <p:nvSpPr>
          <p:cNvPr id="80" name="テキスト ボックス 79">
            <a:extLst>
              <a:ext uri="{FF2B5EF4-FFF2-40B4-BE49-F238E27FC236}">
                <a16:creationId xmlns:a16="http://schemas.microsoft.com/office/drawing/2014/main" id="{E134C725-7D1E-AE55-EE5C-49EE0EE87D93}"/>
              </a:ext>
            </a:extLst>
          </p:cNvPr>
          <p:cNvSpPr txBox="1"/>
          <p:nvPr/>
        </p:nvSpPr>
        <p:spPr>
          <a:xfrm>
            <a:off x="320847" y="2645729"/>
            <a:ext cx="2800460" cy="791695"/>
          </a:xfrm>
          <a:prstGeom prst="rect">
            <a:avLst/>
          </a:prstGeom>
          <a:solidFill>
            <a:schemeClr val="tx1">
              <a:lumMod val="65000"/>
              <a:lumOff val="35000"/>
            </a:schemeClr>
          </a:solidFill>
        </p:spPr>
        <p:txBody>
          <a:bodyPr wrap="square" anchor="ctr">
            <a:spAutoFit/>
          </a:bodyPr>
          <a:lstStyle/>
          <a:p>
            <a:pPr algn="ctr"/>
            <a:r>
              <a:rPr kumimoji="1" lang="en-US" altLang="ja-JP" b="1" dirty="0">
                <a:solidFill>
                  <a:schemeClr val="bg1"/>
                </a:solidFill>
                <a:latin typeface="メイリオ" panose="020B0604030504040204" pitchFamily="50" charset="-128"/>
                <a:ea typeface="メイリオ" panose="020B0604030504040204" pitchFamily="50" charset="-128"/>
                <a:cs typeface="メイリオ"/>
              </a:rPr>
              <a:t>&lt;</a:t>
            </a:r>
            <a:r>
              <a:rPr kumimoji="1" lang="ja-JP" altLang="en-US" b="1" dirty="0">
                <a:solidFill>
                  <a:schemeClr val="bg1"/>
                </a:solidFill>
                <a:latin typeface="メイリオ" panose="020B0604030504040204" pitchFamily="50" charset="-128"/>
                <a:ea typeface="メイリオ" panose="020B0604030504040204" pitchFamily="50" charset="-128"/>
                <a:cs typeface="メイリオ"/>
              </a:rPr>
              <a:t>月額費用</a:t>
            </a:r>
            <a:r>
              <a:rPr kumimoji="1" lang="en-US" altLang="ja-JP" b="1" dirty="0">
                <a:solidFill>
                  <a:schemeClr val="bg1"/>
                </a:solidFill>
                <a:latin typeface="メイリオ" panose="020B0604030504040204" pitchFamily="50" charset="-128"/>
                <a:ea typeface="メイリオ" panose="020B0604030504040204" pitchFamily="50" charset="-128"/>
                <a:cs typeface="メイリオ"/>
              </a:rPr>
              <a:t>&gt;</a:t>
            </a:r>
            <a:endParaRPr kumimoji="1" lang="ja-JP" altLang="en-US" b="1" dirty="0">
              <a:solidFill>
                <a:schemeClr val="bg1"/>
              </a:solidFill>
              <a:latin typeface="メイリオ" panose="020B0604030504040204" pitchFamily="50" charset="-128"/>
              <a:ea typeface="メイリオ" panose="020B0604030504040204" pitchFamily="50" charset="-128"/>
              <a:cs typeface="メイリオ"/>
            </a:endParaRPr>
          </a:p>
        </p:txBody>
      </p:sp>
      <p:cxnSp>
        <p:nvCxnSpPr>
          <p:cNvPr id="82" name="直線コネクタ 81">
            <a:extLst>
              <a:ext uri="{FF2B5EF4-FFF2-40B4-BE49-F238E27FC236}">
                <a16:creationId xmlns:a16="http://schemas.microsoft.com/office/drawing/2014/main" id="{831B96C5-FD9C-7953-5A0F-36510DDC3A7B}"/>
              </a:ext>
            </a:extLst>
          </p:cNvPr>
          <p:cNvCxnSpPr>
            <a:cxnSpLocks/>
            <a:stCxn id="79" idx="3"/>
            <a:endCxn id="3" idx="1"/>
          </p:cNvCxnSpPr>
          <p:nvPr/>
        </p:nvCxnSpPr>
        <p:spPr>
          <a:xfrm flipV="1">
            <a:off x="3121307" y="1628906"/>
            <a:ext cx="875635" cy="431784"/>
          </a:xfrm>
          <a:prstGeom prst="line">
            <a:avLst/>
          </a:prstGeom>
        </p:spPr>
        <p:style>
          <a:lnRef idx="1">
            <a:schemeClr val="accent1"/>
          </a:lnRef>
          <a:fillRef idx="0">
            <a:schemeClr val="accent1"/>
          </a:fillRef>
          <a:effectRef idx="0">
            <a:schemeClr val="accent1"/>
          </a:effectRef>
          <a:fontRef idx="minor">
            <a:schemeClr val="tx1"/>
          </a:fontRef>
        </p:style>
      </p:cxnSp>
      <p:cxnSp>
        <p:nvCxnSpPr>
          <p:cNvPr id="83" name="直線コネクタ 82">
            <a:extLst>
              <a:ext uri="{FF2B5EF4-FFF2-40B4-BE49-F238E27FC236}">
                <a16:creationId xmlns:a16="http://schemas.microsoft.com/office/drawing/2014/main" id="{6098E9A1-7354-0021-8518-053452298071}"/>
              </a:ext>
            </a:extLst>
          </p:cNvPr>
          <p:cNvCxnSpPr>
            <a:cxnSpLocks/>
            <a:stCxn id="79" idx="3"/>
            <a:endCxn id="32" idx="1"/>
          </p:cNvCxnSpPr>
          <p:nvPr/>
        </p:nvCxnSpPr>
        <p:spPr>
          <a:xfrm>
            <a:off x="3121307" y="2060690"/>
            <a:ext cx="875635" cy="336312"/>
          </a:xfrm>
          <a:prstGeom prst="line">
            <a:avLst/>
          </a:prstGeom>
        </p:spPr>
        <p:style>
          <a:lnRef idx="1">
            <a:schemeClr val="accent1"/>
          </a:lnRef>
          <a:fillRef idx="0">
            <a:schemeClr val="accent1"/>
          </a:fillRef>
          <a:effectRef idx="0">
            <a:schemeClr val="accent1"/>
          </a:effectRef>
          <a:fontRef idx="minor">
            <a:schemeClr val="tx1"/>
          </a:fontRef>
        </p:style>
      </p:cxnSp>
      <p:cxnSp>
        <p:nvCxnSpPr>
          <p:cNvPr id="86" name="直線コネクタ 85">
            <a:extLst>
              <a:ext uri="{FF2B5EF4-FFF2-40B4-BE49-F238E27FC236}">
                <a16:creationId xmlns:a16="http://schemas.microsoft.com/office/drawing/2014/main" id="{4BFC78F3-17B4-F007-0507-0BCEB9DFB526}"/>
              </a:ext>
            </a:extLst>
          </p:cNvPr>
          <p:cNvCxnSpPr>
            <a:cxnSpLocks/>
            <a:stCxn id="79" idx="3"/>
            <a:endCxn id="37" idx="1"/>
          </p:cNvCxnSpPr>
          <p:nvPr/>
        </p:nvCxnSpPr>
        <p:spPr>
          <a:xfrm>
            <a:off x="3121307" y="2060690"/>
            <a:ext cx="875635" cy="1104408"/>
          </a:xfrm>
          <a:prstGeom prst="line">
            <a:avLst/>
          </a:prstGeom>
        </p:spPr>
        <p:style>
          <a:lnRef idx="1">
            <a:schemeClr val="accent1"/>
          </a:lnRef>
          <a:fillRef idx="0">
            <a:schemeClr val="accent1"/>
          </a:fillRef>
          <a:effectRef idx="0">
            <a:schemeClr val="accent1"/>
          </a:effectRef>
          <a:fontRef idx="minor">
            <a:schemeClr val="tx1"/>
          </a:fontRef>
        </p:style>
      </p:cxnSp>
      <p:cxnSp>
        <p:nvCxnSpPr>
          <p:cNvPr id="89" name="直線コネクタ 88">
            <a:extLst>
              <a:ext uri="{FF2B5EF4-FFF2-40B4-BE49-F238E27FC236}">
                <a16:creationId xmlns:a16="http://schemas.microsoft.com/office/drawing/2014/main" id="{E053B786-BB0C-C1E1-76B7-A9573A626CCC}"/>
              </a:ext>
            </a:extLst>
          </p:cNvPr>
          <p:cNvCxnSpPr>
            <a:cxnSpLocks/>
            <a:stCxn id="79" idx="3"/>
            <a:endCxn id="43" idx="1"/>
          </p:cNvCxnSpPr>
          <p:nvPr/>
        </p:nvCxnSpPr>
        <p:spPr>
          <a:xfrm>
            <a:off x="3121307" y="2060690"/>
            <a:ext cx="875635" cy="1872504"/>
          </a:xfrm>
          <a:prstGeom prst="line">
            <a:avLst/>
          </a:prstGeom>
        </p:spPr>
        <p:style>
          <a:lnRef idx="1">
            <a:schemeClr val="accent1"/>
          </a:lnRef>
          <a:fillRef idx="0">
            <a:schemeClr val="accent1"/>
          </a:fillRef>
          <a:effectRef idx="0">
            <a:schemeClr val="accent1"/>
          </a:effectRef>
          <a:fontRef idx="minor">
            <a:schemeClr val="tx1"/>
          </a:fontRef>
        </p:style>
      </p:cxnSp>
      <p:cxnSp>
        <p:nvCxnSpPr>
          <p:cNvPr id="93" name="直線コネクタ 92">
            <a:extLst>
              <a:ext uri="{FF2B5EF4-FFF2-40B4-BE49-F238E27FC236}">
                <a16:creationId xmlns:a16="http://schemas.microsoft.com/office/drawing/2014/main" id="{903C918B-3600-6FEA-8902-E84AA7410C48}"/>
              </a:ext>
            </a:extLst>
          </p:cNvPr>
          <p:cNvCxnSpPr>
            <a:cxnSpLocks/>
            <a:stCxn id="79" idx="3"/>
            <a:endCxn id="52" idx="1"/>
          </p:cNvCxnSpPr>
          <p:nvPr/>
        </p:nvCxnSpPr>
        <p:spPr>
          <a:xfrm>
            <a:off x="3121307" y="2060690"/>
            <a:ext cx="875635" cy="2604024"/>
          </a:xfrm>
          <a:prstGeom prst="line">
            <a:avLst/>
          </a:prstGeom>
        </p:spPr>
        <p:style>
          <a:lnRef idx="1">
            <a:schemeClr val="accent1"/>
          </a:lnRef>
          <a:fillRef idx="0">
            <a:schemeClr val="accent1"/>
          </a:fillRef>
          <a:effectRef idx="0">
            <a:schemeClr val="accent1"/>
          </a:effectRef>
          <a:fontRef idx="minor">
            <a:schemeClr val="tx1"/>
          </a:fontRef>
        </p:style>
      </p:cxnSp>
      <p:cxnSp>
        <p:nvCxnSpPr>
          <p:cNvPr id="103" name="直線コネクタ 102">
            <a:extLst>
              <a:ext uri="{FF2B5EF4-FFF2-40B4-BE49-F238E27FC236}">
                <a16:creationId xmlns:a16="http://schemas.microsoft.com/office/drawing/2014/main" id="{C69A1662-C040-7006-503F-B8153E815781}"/>
              </a:ext>
            </a:extLst>
          </p:cNvPr>
          <p:cNvCxnSpPr>
            <a:cxnSpLocks/>
            <a:stCxn id="80" idx="3"/>
            <a:endCxn id="59" idx="1"/>
          </p:cNvCxnSpPr>
          <p:nvPr/>
        </p:nvCxnSpPr>
        <p:spPr>
          <a:xfrm>
            <a:off x="3121307" y="3041577"/>
            <a:ext cx="875635" cy="237294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6" name="直線コネクタ 105">
            <a:extLst>
              <a:ext uri="{FF2B5EF4-FFF2-40B4-BE49-F238E27FC236}">
                <a16:creationId xmlns:a16="http://schemas.microsoft.com/office/drawing/2014/main" id="{A951076B-2FA5-076D-22CD-6FECF9562464}"/>
              </a:ext>
            </a:extLst>
          </p:cNvPr>
          <p:cNvCxnSpPr>
            <a:cxnSpLocks/>
            <a:stCxn id="80" idx="3"/>
            <a:endCxn id="74" idx="1"/>
          </p:cNvCxnSpPr>
          <p:nvPr/>
        </p:nvCxnSpPr>
        <p:spPr>
          <a:xfrm>
            <a:off x="3121307" y="3041577"/>
            <a:ext cx="875635" cy="312614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11" name="テキスト ボックス 110">
            <a:extLst>
              <a:ext uri="{FF2B5EF4-FFF2-40B4-BE49-F238E27FC236}">
                <a16:creationId xmlns:a16="http://schemas.microsoft.com/office/drawing/2014/main" id="{082BA8EB-3EC9-6EAE-B9FB-1019DA2907F6}"/>
              </a:ext>
            </a:extLst>
          </p:cNvPr>
          <p:cNvSpPr txBox="1"/>
          <p:nvPr/>
        </p:nvSpPr>
        <p:spPr>
          <a:xfrm>
            <a:off x="7438779" y="5177010"/>
            <a:ext cx="1581647" cy="246221"/>
          </a:xfrm>
          <a:prstGeom prst="rect">
            <a:avLst/>
          </a:prstGeom>
          <a:noFill/>
        </p:spPr>
        <p:txBody>
          <a:bodyPr wrap="square">
            <a:spAutoFit/>
          </a:bodyPr>
          <a:lstStyle/>
          <a:p>
            <a:pPr algn="ctr"/>
            <a:r>
              <a:rPr kumimoji="1" lang="en-US" altLang="ja-JP" sz="1000" dirty="0">
                <a:solidFill>
                  <a:srgbClr val="1F2A5C"/>
                </a:solidFill>
                <a:latin typeface="メイリオ" panose="020B0604030504040204" pitchFamily="50" charset="-128"/>
                <a:ea typeface="メイリオ" panose="020B0604030504040204" pitchFamily="50" charset="-128"/>
                <a:cs typeface="メイリオ"/>
              </a:rPr>
              <a:t>※</a:t>
            </a:r>
            <a:r>
              <a:rPr kumimoji="1" lang="ja-JP" altLang="en-US" sz="1000" dirty="0">
                <a:solidFill>
                  <a:srgbClr val="1F2A5C"/>
                </a:solidFill>
                <a:latin typeface="メイリオ" panose="020B0604030504040204" pitchFamily="50" charset="-128"/>
                <a:ea typeface="メイリオ" panose="020B0604030504040204" pitchFamily="50" charset="-128"/>
                <a:cs typeface="メイリオ"/>
              </a:rPr>
              <a:t>本数により金額変動</a:t>
            </a:r>
          </a:p>
        </p:txBody>
      </p:sp>
      <p:sp>
        <p:nvSpPr>
          <p:cNvPr id="20" name="Shape 12">
            <a:extLst>
              <a:ext uri="{FF2B5EF4-FFF2-40B4-BE49-F238E27FC236}">
                <a16:creationId xmlns:a16="http://schemas.microsoft.com/office/drawing/2014/main" id="{18C0BF3B-C933-B900-F923-9B5EF5F7FBFF}"/>
              </a:ext>
            </a:extLst>
          </p:cNvPr>
          <p:cNvSpPr/>
          <p:nvPr/>
        </p:nvSpPr>
        <p:spPr>
          <a:xfrm>
            <a:off x="286011" y="4017770"/>
            <a:ext cx="3214833" cy="1106171"/>
          </a:xfrm>
          <a:prstGeom prst="roundRect">
            <a:avLst>
              <a:gd name="adj" fmla="val 11111"/>
            </a:avLst>
          </a:prstGeom>
          <a:solidFill>
            <a:srgbClr val="F2F2F2"/>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23" name="Shape 3">
            <a:extLst>
              <a:ext uri="{FF2B5EF4-FFF2-40B4-BE49-F238E27FC236}">
                <a16:creationId xmlns:a16="http://schemas.microsoft.com/office/drawing/2014/main" id="{A8583825-051F-63CB-E5DA-C6D15505A435}"/>
              </a:ext>
            </a:extLst>
          </p:cNvPr>
          <p:cNvSpPr/>
          <p:nvPr/>
        </p:nvSpPr>
        <p:spPr>
          <a:xfrm>
            <a:off x="396037" y="4146914"/>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26" name="Text 4">
            <a:extLst>
              <a:ext uri="{FF2B5EF4-FFF2-40B4-BE49-F238E27FC236}">
                <a16:creationId xmlns:a16="http://schemas.microsoft.com/office/drawing/2014/main" id="{3C6030FF-300A-A8F4-53D7-7136504B9465}"/>
              </a:ext>
            </a:extLst>
          </p:cNvPr>
          <p:cNvSpPr/>
          <p:nvPr/>
        </p:nvSpPr>
        <p:spPr>
          <a:xfrm>
            <a:off x="396037" y="4146914"/>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lgn="ctr">
              <a:buNone/>
            </a:pPr>
            <a:r>
              <a:rPr lang="en-US" sz="1300" b="1" dirty="0">
                <a:solidFill>
                  <a:srgbClr val="CADCFC"/>
                </a:solidFill>
                <a:latin typeface="メイリオ" panose="020B0604030504040204" pitchFamily="50" charset="-128"/>
                <a:ea typeface="メイリオ" panose="020B0604030504040204" pitchFamily="50" charset="-128"/>
                <a:cs typeface="メイリオ" pitchFamily="34" charset="-120"/>
              </a:rPr>
              <a:t>01</a:t>
            </a:r>
            <a:endParaRPr lang="en-US" sz="1300" dirty="0">
              <a:latin typeface="メイリオ" panose="020B0604030504040204" pitchFamily="50" charset="-128"/>
              <a:ea typeface="メイリオ" panose="020B0604030504040204" pitchFamily="50" charset="-128"/>
              <a:cs typeface="メイリオ"/>
            </a:endParaRPr>
          </a:p>
        </p:txBody>
      </p:sp>
      <p:sp>
        <p:nvSpPr>
          <p:cNvPr id="28" name="Shape 13">
            <a:extLst>
              <a:ext uri="{FF2B5EF4-FFF2-40B4-BE49-F238E27FC236}">
                <a16:creationId xmlns:a16="http://schemas.microsoft.com/office/drawing/2014/main" id="{BA6E3B17-14AB-43B1-EBF3-8D9704B6BB11}"/>
              </a:ext>
            </a:extLst>
          </p:cNvPr>
          <p:cNvSpPr/>
          <p:nvPr/>
        </p:nvSpPr>
        <p:spPr>
          <a:xfrm>
            <a:off x="1134415" y="4146914"/>
            <a:ext cx="502920" cy="475488"/>
          </a:xfrm>
          <a:prstGeom prst="roundRect">
            <a:avLst>
              <a:gd name="adj" fmla="val 11538"/>
            </a:avLst>
          </a:prstGeom>
          <a:solidFill>
            <a:srgbClr val="1E2761"/>
          </a:solidFill>
          <a:ln w="12700">
            <a:solidFill>
              <a:srgbClr val="1E2761"/>
            </a:solidFill>
            <a:prstDash val="solid"/>
          </a:ln>
        </p:spPr>
        <p:txBody>
          <a:bodyPr anchor="ctr"/>
          <a:lstStyle/>
          <a:p>
            <a:pPr algn="ctr"/>
            <a:r>
              <a:rPr lang="en-US" altLang="ja-JP" sz="1400" b="1" dirty="0">
                <a:solidFill>
                  <a:srgbClr val="CADCFC"/>
                </a:solidFill>
                <a:latin typeface="メイリオ" panose="020B0604030504040204" pitchFamily="50" charset="-128"/>
                <a:ea typeface="メイリオ" panose="020B0604030504040204" pitchFamily="50" charset="-128"/>
                <a:cs typeface="メイリオ" pitchFamily="34" charset="-120"/>
              </a:rPr>
              <a:t>05</a:t>
            </a:r>
            <a:endParaRPr lang="en-US" altLang="ja-JP" sz="1400" dirty="0">
              <a:latin typeface="メイリオ" panose="020B0604030504040204" pitchFamily="50" charset="-128"/>
              <a:ea typeface="メイリオ" panose="020B0604030504040204" pitchFamily="50" charset="-128"/>
              <a:cs typeface="メイリオ"/>
            </a:endParaRPr>
          </a:p>
        </p:txBody>
      </p:sp>
      <p:sp>
        <p:nvSpPr>
          <p:cNvPr id="41" name="テキスト ボックス 40">
            <a:extLst>
              <a:ext uri="{FF2B5EF4-FFF2-40B4-BE49-F238E27FC236}">
                <a16:creationId xmlns:a16="http://schemas.microsoft.com/office/drawing/2014/main" id="{B64D3BA7-9F12-14DB-A4FB-CDB1ED52D238}"/>
              </a:ext>
            </a:extLst>
          </p:cNvPr>
          <p:cNvSpPr txBox="1"/>
          <p:nvPr/>
        </p:nvSpPr>
        <p:spPr>
          <a:xfrm>
            <a:off x="850134" y="4251844"/>
            <a:ext cx="2789430" cy="738664"/>
          </a:xfrm>
          <a:prstGeom prst="rect">
            <a:avLst/>
          </a:prstGeom>
          <a:noFill/>
        </p:spPr>
        <p:txBody>
          <a:bodyPr wrap="square">
            <a:spAutoFit/>
          </a:bodyPr>
          <a:lstStyle/>
          <a:p>
            <a:r>
              <a:rPr kumimoji="1" lang="ja-JP" altLang="en-US" sz="1400" b="1" dirty="0">
                <a:latin typeface="メイリオ" panose="020B0604030504040204" pitchFamily="50" charset="-128"/>
                <a:ea typeface="メイリオ" panose="020B0604030504040204" pitchFamily="50" charset="-128"/>
                <a:cs typeface="メイリオ"/>
              </a:rPr>
              <a:t>～　　　 の修正・調整も</a:t>
            </a:r>
            <a:endParaRPr lang="en-US" altLang="ja-JP" sz="1400" b="1" dirty="0">
              <a:latin typeface="メイリオ" panose="020B0604030504040204" pitchFamily="50" charset="-128"/>
              <a:ea typeface="メイリオ" panose="020B0604030504040204" pitchFamily="50" charset="-128"/>
              <a:cs typeface="メイリオ"/>
            </a:endParaRPr>
          </a:p>
          <a:p>
            <a:endParaRPr kumimoji="1" lang="en-US" altLang="ja-JP" sz="1400" b="1" dirty="0">
              <a:latin typeface="メイリオ" panose="020B0604030504040204" pitchFamily="50" charset="-128"/>
              <a:ea typeface="メイリオ" panose="020B0604030504040204" pitchFamily="50" charset="-128"/>
              <a:cs typeface="メイリオ"/>
            </a:endParaRPr>
          </a:p>
          <a:p>
            <a:r>
              <a:rPr lang="ja-JP" altLang="en-US" sz="1400" b="1" dirty="0">
                <a:latin typeface="メイリオ" panose="020B0604030504040204" pitchFamily="50" charset="-128"/>
                <a:ea typeface="メイリオ" panose="020B0604030504040204" pitchFamily="50" charset="-128"/>
                <a:cs typeface="メイリオ"/>
              </a:rPr>
              <a:t>月次対応内に含んでおります。</a:t>
            </a:r>
            <a:endParaRPr kumimoji="1" lang="en-US" altLang="ja-JP" sz="1400" b="1" dirty="0">
              <a:latin typeface="メイリオ" panose="020B0604030504040204" pitchFamily="50" charset="-128"/>
              <a:ea typeface="メイリオ" panose="020B0604030504040204" pitchFamily="50" charset="-128"/>
              <a:cs typeface="メイリオ"/>
            </a:endParaRPr>
          </a:p>
        </p:txBody>
      </p:sp>
    </p:spTree>
    <p:extLst>
      <p:ext uri="{BB962C8B-B14F-4D97-AF65-F5344CB8AC3E}">
        <p14:creationId xmlns:p14="http://schemas.microsoft.com/office/powerpoint/2010/main" val="236935309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883023-AF7C-336C-849B-8B85A9ACB9B9}"/>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8445BC53-89DD-A84D-9D16-6634A99161D2}"/>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弊社からご提供できる運用プラン</a:t>
            </a:r>
          </a:p>
        </p:txBody>
      </p:sp>
      <p:sp>
        <p:nvSpPr>
          <p:cNvPr id="9" name="正方形/長方形 8">
            <a:extLst>
              <a:ext uri="{FF2B5EF4-FFF2-40B4-BE49-F238E27FC236}">
                <a16:creationId xmlns:a16="http://schemas.microsoft.com/office/drawing/2014/main" id="{9AB03A73-8782-5833-4EC4-7EE6E67551BB}"/>
              </a:ext>
            </a:extLst>
          </p:cNvPr>
          <p:cNvSpPr/>
          <p:nvPr/>
        </p:nvSpPr>
        <p:spPr>
          <a:xfrm>
            <a:off x="0" y="777240"/>
            <a:ext cx="2914650"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dirty="0">
                <a:latin typeface="メイリオ" panose="020B0604030504040204" pitchFamily="50" charset="-128"/>
                <a:ea typeface="メイリオ" panose="020B0604030504040204" pitchFamily="50" charset="-128"/>
                <a:cs typeface="メイリオ"/>
              </a:rPr>
              <a:t>都度発注プラン</a:t>
            </a:r>
          </a:p>
        </p:txBody>
      </p:sp>
      <p:sp>
        <p:nvSpPr>
          <p:cNvPr id="3" name="Google Shape;752;p28">
            <a:extLst>
              <a:ext uri="{FF2B5EF4-FFF2-40B4-BE49-F238E27FC236}">
                <a16:creationId xmlns:a16="http://schemas.microsoft.com/office/drawing/2014/main" id="{028B53B5-690E-5899-171E-A9074171D6E9}"/>
              </a:ext>
            </a:extLst>
          </p:cNvPr>
          <p:cNvSpPr txBox="1"/>
          <p:nvPr/>
        </p:nvSpPr>
        <p:spPr>
          <a:xfrm>
            <a:off x="3036570" y="859443"/>
            <a:ext cx="6276325" cy="338514"/>
          </a:xfrm>
          <a:prstGeom prst="rect">
            <a:avLst/>
          </a:prstGeom>
          <a:noFill/>
          <a:ln>
            <a:noFill/>
          </a:ln>
        </p:spPr>
        <p:txBody>
          <a:bodyPr spcFirstLastPara="1" wrap="square" lIns="91425" tIns="45700" rIns="91425" bIns="45700" anchor="ctr" anchorCtr="0">
            <a:spAutoFit/>
          </a:bodyPr>
          <a:lstStyle/>
          <a:p>
            <a:r>
              <a:rPr lang="en-US" altLang="ja-JP" sz="1600" b="1" dirty="0">
                <a:latin typeface="メイリオ" panose="020B0604030504040204" pitchFamily="50" charset="-128"/>
                <a:ea typeface="メイリオ" panose="020B0604030504040204" pitchFamily="50" charset="-128"/>
                <a:cs typeface="メイリオ"/>
                <a:sym typeface="Meiryo"/>
              </a:rPr>
              <a:t>LINEOA</a:t>
            </a:r>
            <a:r>
              <a:rPr lang="ja-JP" altLang="en-US" sz="1600" b="1" dirty="0">
                <a:latin typeface="メイリオ" panose="020B0604030504040204" pitchFamily="50" charset="-128"/>
                <a:ea typeface="メイリオ" panose="020B0604030504040204" pitchFamily="50" charset="-128"/>
                <a:cs typeface="メイリオ"/>
                <a:sym typeface="Meiryo"/>
              </a:rPr>
              <a:t>の運用業務・</a:t>
            </a:r>
            <a:r>
              <a:rPr lang="en-US" altLang="ja-JP" sz="1600" b="1" dirty="0">
                <a:latin typeface="メイリオ" panose="020B0604030504040204" pitchFamily="50" charset="-128"/>
                <a:ea typeface="メイリオ" panose="020B0604030504040204" pitchFamily="50" charset="-128"/>
                <a:cs typeface="メイリオ"/>
                <a:sym typeface="Meiryo"/>
              </a:rPr>
              <a:t>CR</a:t>
            </a:r>
            <a:r>
              <a:rPr lang="ja-JP" altLang="en-US" sz="1600" b="1" dirty="0">
                <a:latin typeface="メイリオ" panose="020B0604030504040204" pitchFamily="50" charset="-128"/>
                <a:ea typeface="メイリオ" panose="020B0604030504040204" pitchFamily="50" charset="-128"/>
                <a:cs typeface="メイリオ"/>
                <a:sym typeface="Meiryo"/>
              </a:rPr>
              <a:t>制作業務を一部外出ししてご依頼依頼も。</a:t>
            </a:r>
            <a:endParaRPr lang="en-US" altLang="ja-JP" sz="1600" b="1" dirty="0">
              <a:latin typeface="メイリオ" panose="020B0604030504040204" pitchFamily="50" charset="-128"/>
              <a:ea typeface="メイリオ" panose="020B0604030504040204" pitchFamily="50" charset="-128"/>
              <a:cs typeface="メイリオ"/>
              <a:sym typeface="Meiryo"/>
            </a:endParaRPr>
          </a:p>
        </p:txBody>
      </p:sp>
      <p:sp>
        <p:nvSpPr>
          <p:cNvPr id="12" name="正方形/長方形 11">
            <a:extLst>
              <a:ext uri="{FF2B5EF4-FFF2-40B4-BE49-F238E27FC236}">
                <a16:creationId xmlns:a16="http://schemas.microsoft.com/office/drawing/2014/main" id="{E2BC9744-CCD5-D85B-03E7-5884310FE6EE}"/>
              </a:ext>
            </a:extLst>
          </p:cNvPr>
          <p:cNvSpPr/>
          <p:nvPr/>
        </p:nvSpPr>
        <p:spPr>
          <a:xfrm>
            <a:off x="548883" y="1380214"/>
            <a:ext cx="8859613" cy="5081546"/>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050" dirty="0">
              <a:solidFill>
                <a:schemeClr val="tx1">
                  <a:lumMod val="65000"/>
                  <a:lumOff val="35000"/>
                </a:schemeClr>
              </a:solidFill>
              <a:latin typeface="メイリオ" panose="020B0604030504040204" pitchFamily="50" charset="-128"/>
              <a:ea typeface="メイリオ" panose="020B0604030504040204" pitchFamily="50" charset="-128"/>
              <a:cs typeface="メイリオ"/>
            </a:endParaRPr>
          </a:p>
        </p:txBody>
      </p:sp>
      <p:sp>
        <p:nvSpPr>
          <p:cNvPr id="13" name="テキスト ボックス 12">
            <a:extLst>
              <a:ext uri="{FF2B5EF4-FFF2-40B4-BE49-F238E27FC236}">
                <a16:creationId xmlns:a16="http://schemas.microsoft.com/office/drawing/2014/main" id="{B88E2B73-305C-9688-214C-1EF768E484BD}"/>
              </a:ext>
            </a:extLst>
          </p:cNvPr>
          <p:cNvSpPr txBox="1"/>
          <p:nvPr/>
        </p:nvSpPr>
        <p:spPr>
          <a:xfrm>
            <a:off x="706726" y="1569462"/>
            <a:ext cx="4963884" cy="253916"/>
          </a:xfrm>
          <a:prstGeom prst="rect">
            <a:avLst/>
          </a:prstGeom>
          <a:noFill/>
        </p:spPr>
        <p:txBody>
          <a:bodyPr wrap="square">
            <a:spAutoFit/>
          </a:bodyPr>
          <a:lstStyle/>
          <a:p>
            <a:r>
              <a:rPr lang="en-US" altLang="ja-JP" sz="1050" dirty="0">
                <a:solidFill>
                  <a:schemeClr val="tx1">
                    <a:lumMod val="65000"/>
                    <a:lumOff val="35000"/>
                  </a:schemeClr>
                </a:solidFill>
                <a:latin typeface="メイリオ" panose="020B0604030504040204" pitchFamily="50" charset="-128"/>
                <a:ea typeface="メイリオ" panose="020B0604030504040204" pitchFamily="50" charset="-128"/>
                <a:cs typeface="メイリオ"/>
                <a:sym typeface="Meiryo"/>
              </a:rPr>
              <a:t>&lt;</a:t>
            </a:r>
            <a:r>
              <a:rPr lang="ja-JP" altLang="en-US" sz="1050" dirty="0">
                <a:solidFill>
                  <a:schemeClr val="tx1">
                    <a:lumMod val="65000"/>
                    <a:lumOff val="35000"/>
                  </a:schemeClr>
                </a:solidFill>
                <a:latin typeface="メイリオ" panose="020B0604030504040204" pitchFamily="50" charset="-128"/>
                <a:ea typeface="メイリオ" panose="020B0604030504040204" pitchFamily="50" charset="-128"/>
                <a:cs typeface="メイリオ"/>
                <a:sym typeface="Meiryo"/>
              </a:rPr>
              <a:t>追加作業における費用感　</a:t>
            </a:r>
            <a:r>
              <a:rPr lang="en-US" altLang="ja-JP" sz="900" dirty="0">
                <a:solidFill>
                  <a:srgbClr val="1F2A5C"/>
                </a:solidFill>
                <a:latin typeface="メイリオ" panose="020B0604030504040204" pitchFamily="50" charset="-128"/>
                <a:ea typeface="メイリオ" panose="020B0604030504040204" pitchFamily="50" charset="-128"/>
                <a:cs typeface="メイリオ"/>
                <a:sym typeface="Meiryo"/>
              </a:rPr>
              <a:t>※</a:t>
            </a:r>
            <a:r>
              <a:rPr lang="ja-JP" altLang="en-US" sz="900" dirty="0">
                <a:solidFill>
                  <a:srgbClr val="1F2A5C"/>
                </a:solidFill>
                <a:latin typeface="メイリオ" panose="020B0604030504040204" pitchFamily="50" charset="-128"/>
                <a:ea typeface="メイリオ" panose="020B0604030504040204" pitchFamily="50" charset="-128"/>
                <a:cs typeface="メイリオ"/>
                <a:sym typeface="Meiryo"/>
              </a:rPr>
              <a:t>作業量により変動する可能性がございます</a:t>
            </a:r>
            <a:r>
              <a:rPr lang="en-US" altLang="ja-JP" sz="1050" dirty="0">
                <a:solidFill>
                  <a:schemeClr val="tx1">
                    <a:lumMod val="65000"/>
                    <a:lumOff val="35000"/>
                  </a:schemeClr>
                </a:solidFill>
                <a:latin typeface="メイリオ" panose="020B0604030504040204" pitchFamily="50" charset="-128"/>
                <a:ea typeface="メイリオ" panose="020B0604030504040204" pitchFamily="50" charset="-128"/>
                <a:cs typeface="メイリオ"/>
                <a:sym typeface="Meiryo"/>
              </a:rPr>
              <a:t>&gt;</a:t>
            </a:r>
            <a:endParaRPr lang="ja-JP" altLang="en-US" sz="1050" dirty="0">
              <a:solidFill>
                <a:schemeClr val="tx1">
                  <a:lumMod val="65000"/>
                  <a:lumOff val="35000"/>
                </a:schemeClr>
              </a:solidFill>
              <a:latin typeface="メイリオ"/>
              <a:ea typeface="メイリオ"/>
              <a:cs typeface="メイリオ"/>
            </a:endParaRPr>
          </a:p>
        </p:txBody>
      </p:sp>
      <p:graphicFrame>
        <p:nvGraphicFramePr>
          <p:cNvPr id="14" name="表 13">
            <a:extLst>
              <a:ext uri="{FF2B5EF4-FFF2-40B4-BE49-F238E27FC236}">
                <a16:creationId xmlns:a16="http://schemas.microsoft.com/office/drawing/2014/main" id="{09C77DA6-2F75-12F7-39C7-7A6997364857}"/>
              </a:ext>
            </a:extLst>
          </p:cNvPr>
          <p:cNvGraphicFramePr>
            <a:graphicFrameLocks noGrp="1"/>
          </p:cNvGraphicFramePr>
          <p:nvPr/>
        </p:nvGraphicFramePr>
        <p:xfrm>
          <a:off x="706726" y="1862534"/>
          <a:ext cx="8543925" cy="4069730"/>
        </p:xfrm>
        <a:graphic>
          <a:graphicData uri="http://schemas.openxmlformats.org/drawingml/2006/table">
            <a:tbl>
              <a:tblPr/>
              <a:tblGrid>
                <a:gridCol w="1832575">
                  <a:extLst>
                    <a:ext uri="{9D8B030D-6E8A-4147-A177-3AD203B41FA5}">
                      <a16:colId xmlns:a16="http://schemas.microsoft.com/office/drawing/2014/main" val="861741390"/>
                    </a:ext>
                  </a:extLst>
                </a:gridCol>
                <a:gridCol w="1140808">
                  <a:extLst>
                    <a:ext uri="{9D8B030D-6E8A-4147-A177-3AD203B41FA5}">
                      <a16:colId xmlns:a16="http://schemas.microsoft.com/office/drawing/2014/main" val="2023292695"/>
                    </a:ext>
                  </a:extLst>
                </a:gridCol>
                <a:gridCol w="1140808">
                  <a:extLst>
                    <a:ext uri="{9D8B030D-6E8A-4147-A177-3AD203B41FA5}">
                      <a16:colId xmlns:a16="http://schemas.microsoft.com/office/drawing/2014/main" val="3807194112"/>
                    </a:ext>
                  </a:extLst>
                </a:gridCol>
                <a:gridCol w="315543">
                  <a:extLst>
                    <a:ext uri="{9D8B030D-6E8A-4147-A177-3AD203B41FA5}">
                      <a16:colId xmlns:a16="http://schemas.microsoft.com/office/drawing/2014/main" val="1897046241"/>
                    </a:ext>
                  </a:extLst>
                </a:gridCol>
                <a:gridCol w="1832575">
                  <a:extLst>
                    <a:ext uri="{9D8B030D-6E8A-4147-A177-3AD203B41FA5}">
                      <a16:colId xmlns:a16="http://schemas.microsoft.com/office/drawing/2014/main" val="286895173"/>
                    </a:ext>
                  </a:extLst>
                </a:gridCol>
                <a:gridCol w="1140808">
                  <a:extLst>
                    <a:ext uri="{9D8B030D-6E8A-4147-A177-3AD203B41FA5}">
                      <a16:colId xmlns:a16="http://schemas.microsoft.com/office/drawing/2014/main" val="241768133"/>
                    </a:ext>
                  </a:extLst>
                </a:gridCol>
                <a:gridCol w="1140808">
                  <a:extLst>
                    <a:ext uri="{9D8B030D-6E8A-4147-A177-3AD203B41FA5}">
                      <a16:colId xmlns:a16="http://schemas.microsoft.com/office/drawing/2014/main" val="3498780203"/>
                    </a:ext>
                  </a:extLst>
                </a:gridCol>
              </a:tblGrid>
              <a:tr h="290695">
                <a:tc>
                  <a:txBody>
                    <a:bodyPr/>
                    <a:lstStyle/>
                    <a:p>
                      <a:pPr algn="ctr" fontAlgn="ctr">
                        <a:buNone/>
                      </a:pPr>
                      <a:r>
                        <a:rPr lang="ja-JP" altLang="en-US" sz="1100" b="1" i="0" u="none" strike="noStrike" dirty="0">
                          <a:solidFill>
                            <a:srgbClr val="FFFFFF"/>
                          </a:solidFill>
                          <a:effectLst/>
                          <a:latin typeface="メイリオ" panose="020B0604030504040204" pitchFamily="50" charset="-128"/>
                          <a:ea typeface="メイリオ" panose="020B0604030504040204" pitchFamily="50" charset="-128"/>
                          <a:cs typeface="メイリオ"/>
                        </a:rPr>
                        <a:t>対応項目</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E2841"/>
                    </a:solidFill>
                  </a:tcPr>
                </a:tc>
                <a:tc>
                  <a:txBody>
                    <a:bodyPr/>
                    <a:lstStyle/>
                    <a:p>
                      <a:pPr algn="ctr" fontAlgn="ctr">
                        <a:buNone/>
                      </a:pPr>
                      <a:r>
                        <a:rPr lang="ja-JP" altLang="en-US" sz="1100" b="1" i="0" u="none" strike="noStrike">
                          <a:solidFill>
                            <a:srgbClr val="FFFFFF"/>
                          </a:solidFill>
                          <a:effectLst/>
                          <a:latin typeface="メイリオ" panose="020B0604030504040204" pitchFamily="50" charset="-128"/>
                          <a:ea typeface="メイリオ" panose="020B0604030504040204" pitchFamily="50" charset="-128"/>
                          <a:cs typeface="メイリオ"/>
                        </a:rPr>
                        <a:t>初期</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E2841"/>
                    </a:solidFill>
                  </a:tcPr>
                </a:tc>
                <a:tc>
                  <a:txBody>
                    <a:bodyPr/>
                    <a:lstStyle/>
                    <a:p>
                      <a:pPr algn="ctr" fontAlgn="ctr">
                        <a:buNone/>
                      </a:pPr>
                      <a:r>
                        <a:rPr lang="ja-JP" altLang="en-US" sz="1100" b="1" i="0" u="none" strike="noStrike" dirty="0">
                          <a:solidFill>
                            <a:srgbClr val="FFFFFF"/>
                          </a:solidFill>
                          <a:effectLst/>
                          <a:latin typeface="メイリオ" panose="020B0604030504040204" pitchFamily="50" charset="-128"/>
                          <a:ea typeface="メイリオ" panose="020B0604030504040204" pitchFamily="50" charset="-128"/>
                          <a:cs typeface="メイリオ"/>
                        </a:rPr>
                        <a:t>内容</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E2841"/>
                    </a:solidFill>
                  </a:tcPr>
                </a:tc>
                <a:tc>
                  <a:txBody>
                    <a:bodyPr/>
                    <a:lstStyle/>
                    <a:p>
                      <a:pPr algn="l" fontAlgn="ctr">
                        <a:buNone/>
                      </a:pPr>
                      <a:endParaRPr lang="ja-JP" altLang="en-US" sz="1100" b="1" i="0" u="none" strike="noStrike">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1100" b="1" i="0" u="none" strike="noStrike">
                          <a:solidFill>
                            <a:srgbClr val="FFFFFF"/>
                          </a:solidFill>
                          <a:effectLst/>
                          <a:latin typeface="メイリオ" panose="020B0604030504040204" pitchFamily="50" charset="-128"/>
                          <a:ea typeface="メイリオ" panose="020B0604030504040204" pitchFamily="50" charset="-128"/>
                          <a:cs typeface="メイリオ"/>
                        </a:rPr>
                        <a:t>対応項目</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E2841"/>
                    </a:solidFill>
                  </a:tcPr>
                </a:tc>
                <a:tc>
                  <a:txBody>
                    <a:bodyPr/>
                    <a:lstStyle/>
                    <a:p>
                      <a:pPr algn="ctr" fontAlgn="ctr">
                        <a:buNone/>
                      </a:pPr>
                      <a:r>
                        <a:rPr lang="ja-JP" altLang="en-US" sz="1100" b="1" i="0" u="none" strike="noStrike" dirty="0">
                          <a:solidFill>
                            <a:srgbClr val="FFFFFF"/>
                          </a:solidFill>
                          <a:effectLst/>
                          <a:latin typeface="メイリオ" panose="020B0604030504040204" pitchFamily="50" charset="-128"/>
                          <a:ea typeface="メイリオ" panose="020B0604030504040204" pitchFamily="50" charset="-128"/>
                          <a:cs typeface="メイリオ"/>
                        </a:rPr>
                        <a:t>初期</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E2841"/>
                    </a:solidFill>
                  </a:tcPr>
                </a:tc>
                <a:tc>
                  <a:txBody>
                    <a:bodyPr/>
                    <a:lstStyle/>
                    <a:p>
                      <a:pPr algn="ctr" fontAlgn="ctr">
                        <a:buNone/>
                      </a:pPr>
                      <a:r>
                        <a:rPr lang="ja-JP" altLang="en-US" sz="1100" b="1" i="0" u="none" strike="noStrike" dirty="0">
                          <a:solidFill>
                            <a:srgbClr val="FFFFFF"/>
                          </a:solidFill>
                          <a:effectLst/>
                          <a:latin typeface="メイリオ" panose="020B0604030504040204" pitchFamily="50" charset="-128"/>
                          <a:ea typeface="メイリオ" panose="020B0604030504040204" pitchFamily="50" charset="-128"/>
                          <a:cs typeface="メイリオ"/>
                        </a:rPr>
                        <a:t>月額</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E2841"/>
                    </a:solidFill>
                  </a:tcPr>
                </a:tc>
                <a:extLst>
                  <a:ext uri="{0D108BD9-81ED-4DB2-BD59-A6C34878D82A}">
                    <a16:rowId xmlns:a16="http://schemas.microsoft.com/office/drawing/2014/main" val="1564040789"/>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アカウント開設</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API</a:t>
                      </a: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ツール導入</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¥50,000~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420324702"/>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プロフィール</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sz="1100" b="0" i="0" u="none" strike="noStrike">
                          <a:solidFill>
                            <a:srgbClr val="000000"/>
                          </a:solidFill>
                          <a:effectLst/>
                          <a:latin typeface="メイリオ" panose="020B0604030504040204" pitchFamily="50" charset="-128"/>
                          <a:ea typeface="メイリオ" panose="020B0604030504040204" pitchFamily="50" charset="-128"/>
                          <a:cs typeface="メイリオ"/>
                        </a:rPr>
                        <a:t>ID</a:t>
                      </a:r>
                      <a:r>
                        <a:rPr lang="ja-JP" altLang="en-US" sz="1100" b="0" i="0" u="none" strike="noStrike">
                          <a:solidFill>
                            <a:srgbClr val="000000"/>
                          </a:solidFill>
                          <a:effectLst/>
                          <a:latin typeface="メイリオ" panose="020B0604030504040204" pitchFamily="50" charset="-128"/>
                          <a:ea typeface="メイリオ" panose="020B0604030504040204" pitchFamily="50" charset="-128"/>
                          <a:cs typeface="メイリオ"/>
                        </a:rPr>
                        <a:t>連携</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algn="ctr" rtl="0" eaLnBrk="1" fontAlgn="ctr" latinLnBrk="0" hangingPunct="1">
                        <a:buNone/>
                      </a:pPr>
                      <a:r>
                        <a:rPr kumimoji="1" lang="en-US" sz="1050" b="0" i="0" u="none" strike="noStrike" kern="1200" dirty="0">
                          <a:solidFill>
                            <a:schemeClr val="tx1">
                              <a:lumMod val="50000"/>
                              <a:lumOff val="50000"/>
                            </a:schemeClr>
                          </a:solidFill>
                          <a:effectLst/>
                          <a:latin typeface="メイリオ" panose="020B0604030504040204" pitchFamily="50" charset="-128"/>
                          <a:ea typeface="メイリオ" panose="020B0604030504040204" pitchFamily="50" charset="-128"/>
                          <a:cs typeface="メイリオ"/>
                        </a:rPr>
                        <a:t>¥200,000~</a:t>
                      </a:r>
                      <a:endParaRPr lang="en-US" altLang="ja-JP" sz="2800" b="0" i="0" u="none" strike="noStrike" dirty="0">
                        <a:solidFill>
                          <a:schemeClr val="tx1">
                            <a:lumMod val="50000"/>
                            <a:lumOff val="50000"/>
                          </a:schemeClr>
                        </a:solidFill>
                        <a:effectLst/>
                        <a:latin typeface="メイリオ" panose="020B0604020202020204" pitchFamily="34" charset="0"/>
                        <a:ea typeface="メイリオ"/>
                        <a:cs typeface="メイリオ"/>
                      </a:endParaRPr>
                    </a:p>
                  </a:txBody>
                  <a:tcPr marL="9144" marR="9144" marT="914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272466269"/>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リッチメニュー</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sz="1100" b="0" i="0" u="none" strike="noStrike">
                          <a:solidFill>
                            <a:srgbClr val="000000"/>
                          </a:solidFill>
                          <a:effectLst/>
                          <a:latin typeface="メイリオ" panose="020B0604030504040204" pitchFamily="50" charset="-128"/>
                          <a:ea typeface="メイリオ" panose="020B0604030504040204" pitchFamily="50" charset="-128"/>
                          <a:cs typeface="メイリオ"/>
                        </a:rPr>
                        <a:t>LINE</a:t>
                      </a:r>
                      <a:r>
                        <a:rPr lang="ja-JP" altLang="en-US" sz="1100" b="0" i="0" u="none" strike="noStrike">
                          <a:solidFill>
                            <a:srgbClr val="000000"/>
                          </a:solidFill>
                          <a:effectLst/>
                          <a:latin typeface="メイリオ" panose="020B0604030504040204" pitchFamily="50" charset="-128"/>
                          <a:ea typeface="メイリオ" panose="020B0604030504040204" pitchFamily="50" charset="-128"/>
                          <a:cs typeface="メイリオ"/>
                        </a:rPr>
                        <a:t>ログイン</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algn="ctr" rtl="0" eaLnBrk="1" fontAlgn="ctr" latinLnBrk="0" hangingPunct="1">
                        <a:buNone/>
                      </a:pPr>
                      <a:r>
                        <a:rPr kumimoji="1" lang="en-US" sz="1050" b="0" i="0" u="none" strike="noStrike" kern="1200" dirty="0">
                          <a:solidFill>
                            <a:schemeClr val="tx1">
                              <a:lumMod val="50000"/>
                              <a:lumOff val="50000"/>
                            </a:schemeClr>
                          </a:solidFill>
                          <a:effectLst/>
                          <a:latin typeface="メイリオ" panose="020B0604030504040204" pitchFamily="50" charset="-128"/>
                          <a:ea typeface="メイリオ" panose="020B0604030504040204" pitchFamily="50" charset="-128"/>
                          <a:cs typeface="メイリオ"/>
                        </a:rPr>
                        <a:t>¥0</a:t>
                      </a:r>
                      <a:endParaRPr lang="en-US" altLang="ja-JP" sz="2800" b="0" i="0" u="none" strike="noStrike" dirty="0">
                        <a:solidFill>
                          <a:schemeClr val="tx1">
                            <a:lumMod val="50000"/>
                            <a:lumOff val="50000"/>
                          </a:schemeClr>
                        </a:solidFill>
                        <a:effectLst/>
                        <a:latin typeface="メイリオ" panose="020B0604020202020204" pitchFamily="34" charset="0"/>
                        <a:ea typeface="メイリオ"/>
                        <a:cs typeface="メイリオ"/>
                      </a:endParaRPr>
                    </a:p>
                  </a:txBody>
                  <a:tcPr marL="9144" marR="9144" marT="914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843180495"/>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あいさつメッセージ</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1100" b="0" i="0" u="none" strike="noStrike">
                          <a:solidFill>
                            <a:srgbClr val="000000"/>
                          </a:solidFill>
                          <a:effectLst/>
                          <a:latin typeface="メイリオ" panose="020B0604030504040204" pitchFamily="50" charset="-128"/>
                          <a:ea typeface="メイリオ" panose="020B0604030504040204" pitchFamily="50" charset="-128"/>
                          <a:cs typeface="メイリオ"/>
                        </a:rPr>
                        <a:t>通知メッセージ</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¥200,000~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295619942"/>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初期アンケート</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¥50,000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チャットボット機能</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¥50,000~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498230469"/>
                  </a:ext>
                </a:extLst>
              </a:tr>
              <a:tr h="290695">
                <a:tc>
                  <a:txBody>
                    <a:bodyPr/>
                    <a:lstStyle/>
                    <a:p>
                      <a:pPr algn="ctr" fontAlgn="ctr">
                        <a:buNone/>
                      </a:pPr>
                      <a:r>
                        <a:rPr 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KW</a:t>
                      </a: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の自動応答</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Chat Plus</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¥30,000~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41305542"/>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ステップ配信</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¥50,000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sz="1100" b="0" i="0" u="none" strike="noStrike">
                          <a:solidFill>
                            <a:srgbClr val="000000"/>
                          </a:solidFill>
                          <a:effectLst/>
                          <a:latin typeface="メイリオ" panose="020B0604030504040204" pitchFamily="50" charset="-128"/>
                          <a:ea typeface="メイリオ" panose="020B0604030504040204" pitchFamily="50" charset="-128"/>
                          <a:cs typeface="メイリオ"/>
                        </a:rPr>
                        <a:t>Call Plus</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¥200,000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4011135084"/>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セグメント配信</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sz="1100" b="0" i="0" u="none" strike="noStrike">
                          <a:solidFill>
                            <a:srgbClr val="000000"/>
                          </a:solidFill>
                          <a:effectLst/>
                          <a:latin typeface="メイリオ" panose="020B0604030504040204" pitchFamily="50" charset="-128"/>
                          <a:ea typeface="メイリオ" panose="020B0604030504040204" pitchFamily="50" charset="-128"/>
                          <a:cs typeface="メイリオ"/>
                        </a:rPr>
                        <a:t>LINE</a:t>
                      </a:r>
                      <a:r>
                        <a:rPr lang="ja-JP" altLang="en-US" sz="1100" b="0" i="0" u="none" strike="noStrike">
                          <a:solidFill>
                            <a:srgbClr val="000000"/>
                          </a:solidFill>
                          <a:effectLst/>
                          <a:latin typeface="メイリオ" panose="020B0604030504040204" pitchFamily="50" charset="-128"/>
                          <a:ea typeface="メイリオ" panose="020B0604030504040204" pitchFamily="50" charset="-128"/>
                          <a:cs typeface="メイリオ"/>
                        </a:rPr>
                        <a:t>決済</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¥50,000~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989714401"/>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チャットタグ管理</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予約管理</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¥20,000~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160214931"/>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チャット対応</a:t>
                      </a:r>
                      <a:r>
                        <a:rPr lang="ja-JP" altLang="en-US" sz="700" b="0" i="0" u="none" strike="noStrike" dirty="0">
                          <a:solidFill>
                            <a:srgbClr val="1F2A5C"/>
                          </a:solidFill>
                          <a:effectLst/>
                          <a:latin typeface="メイリオ" panose="020B0604030504040204" pitchFamily="50" charset="-128"/>
                          <a:ea typeface="メイリオ" panose="020B0604030504040204" pitchFamily="50" charset="-128"/>
                          <a:cs typeface="メイリオ"/>
                        </a:rPr>
                        <a:t> </a:t>
                      </a:r>
                      <a:r>
                        <a:rPr lang="en-US" altLang="ja-JP" sz="700" b="0" i="0" u="none" strike="noStrike" dirty="0">
                          <a:solidFill>
                            <a:srgbClr val="1F2A5C"/>
                          </a:solidFill>
                          <a:effectLst/>
                          <a:latin typeface="メイリオ" panose="020B0604030504040204" pitchFamily="50" charset="-128"/>
                          <a:ea typeface="メイリオ" panose="020B0604030504040204" pitchFamily="50" charset="-128"/>
                          <a:cs typeface="メイリオ"/>
                        </a:rPr>
                        <a:t>※</a:t>
                      </a:r>
                      <a:r>
                        <a:rPr lang="ja-JP" altLang="en-US" sz="700" b="0" i="0" u="none" strike="noStrike" dirty="0">
                          <a:solidFill>
                            <a:srgbClr val="1F2A5C"/>
                          </a:solidFill>
                          <a:effectLst/>
                          <a:latin typeface="メイリオ" panose="020B0604030504040204" pitchFamily="50" charset="-128"/>
                          <a:ea typeface="メイリオ" panose="020B0604030504040204" pitchFamily="50" charset="-128"/>
                          <a:cs typeface="メイリオ"/>
                        </a:rPr>
                        <a:t>サポートは可能</a:t>
                      </a:r>
                      <a:endParaRPr lang="ja-JP" altLang="en-US" sz="1100" b="0" i="0" u="none" strike="noStrike" dirty="0">
                        <a:solidFill>
                          <a:srgbClr val="1F2A5C"/>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¥100,000</a:t>
                      </a:r>
                      <a:r>
                        <a:rPr lang="ja-JP" altLang="en-US"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a:t>
                      </a:r>
                      <a:endPar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altLang="en-US" sz="600" b="0" i="0" u="none" strike="noStrike" dirty="0">
                          <a:solidFill>
                            <a:srgbClr val="000000"/>
                          </a:solidFill>
                          <a:effectLst/>
                          <a:latin typeface="メイリオ" panose="020B0604030504040204" pitchFamily="50" charset="-128"/>
                          <a:ea typeface="メイリオ" panose="020B0604030504040204" pitchFamily="50" charset="-128"/>
                          <a:cs typeface="メイリオ"/>
                        </a:rPr>
                        <a:t>件数により変動</a:t>
                      </a: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altLang="ja-JP"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919396613"/>
                  </a:ext>
                </a:extLst>
              </a:tr>
              <a:tr h="290695">
                <a:tc>
                  <a:txBody>
                    <a:bodyPr/>
                    <a:lstStyle/>
                    <a:p>
                      <a:pPr algn="ctr" fontAlgn="ctr">
                        <a:buNone/>
                      </a:pPr>
                      <a:r>
                        <a:rPr lang="en-US" altLang="ja-JP"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GA(CRM)</a:t>
                      </a: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レポート連携</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altLang="ja-JP"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802321774"/>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クリエイティブ</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¥15,000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latin typeface="メイリオ"/>
                          <a:ea typeface="メイリオ"/>
                          <a:cs typeface="メイリオ"/>
                        </a:defRPr>
                      </a:pPr>
                      <a:r>
                        <a:rPr lang="ja-JP" altLang="en-US" sz="600" b="0" i="0" u="none" strike="noStrike" dirty="0">
                          <a:solidFill>
                            <a:srgbClr val="000000"/>
                          </a:solidFill>
                          <a:effectLst/>
                          <a:latin typeface="メイリオ" panose="020B0604030504040204" pitchFamily="50" charset="-128"/>
                          <a:ea typeface="メイリオ" panose="020B0604030504040204" pitchFamily="50" charset="-128"/>
                          <a:cs typeface="メイリオ"/>
                        </a:rPr>
                        <a:t>画像</a:t>
                      </a:r>
                      <a:r>
                        <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rPr>
                        <a:t>1</a:t>
                      </a:r>
                      <a:r>
                        <a:rPr lang="ja-JP" altLang="en-US" sz="600" b="0" i="0" u="none" strike="noStrike" dirty="0">
                          <a:solidFill>
                            <a:srgbClr val="000000"/>
                          </a:solidFill>
                          <a:effectLst/>
                          <a:latin typeface="メイリオ" panose="020B0604030504040204" pitchFamily="50" charset="-128"/>
                          <a:ea typeface="メイリオ" panose="020B0604030504040204" pitchFamily="50" charset="-128"/>
                          <a:cs typeface="メイリオ"/>
                        </a:rPr>
                        <a:t>枚での想定</a:t>
                      </a: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p>
                      <a:pPr marL="0" marR="0" lvl="0" indent="0" algn="ctr" defTabSz="914400" rtl="0" eaLnBrk="1" fontAlgn="ctr" latinLnBrk="0" hangingPunct="1">
                        <a:lnSpc>
                          <a:spcPct val="100000"/>
                        </a:lnSpc>
                        <a:spcBef>
                          <a:spcPts val="0"/>
                        </a:spcBef>
                        <a:spcAft>
                          <a:spcPts val="0"/>
                        </a:spcAft>
                        <a:buClrTx/>
                        <a:buSzTx/>
                        <a:buFontTx/>
                        <a:buNone/>
                        <a:tabLst/>
                        <a:defRPr>
                          <a:latin typeface="メイリオ"/>
                          <a:ea typeface="メイリオ"/>
                          <a:cs typeface="メイリオ"/>
                        </a:defRPr>
                      </a:pPr>
                      <a:r>
                        <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rPr>
                        <a:t>※</a:t>
                      </a:r>
                      <a:r>
                        <a:rPr lang="ja-JP" altLang="en-US" sz="6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バナー、</a:t>
                      </a:r>
                      <a:r>
                        <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rPr>
                        <a:t>HTML</a:t>
                      </a:r>
                      <a:r>
                        <a:rPr lang="ja-JP" altLang="en-US" sz="6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メール等</a:t>
                      </a: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離脱防止ツール</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¥15,000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298905920"/>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投稿作成</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サンクス</a:t>
                      </a:r>
                      <a:r>
                        <a:rPr lang="en-US" altLang="ja-JP"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LINE</a:t>
                      </a: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誘導ツール</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¥150,000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¥30,000〜</a:t>
                      </a: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2117655704"/>
                  </a:ext>
                </a:extLst>
              </a:tr>
            </a:tbl>
          </a:graphicData>
        </a:graphic>
      </p:graphicFrame>
      <p:sp>
        <p:nvSpPr>
          <p:cNvPr id="5" name="テキスト ボックス 4">
            <a:extLst>
              <a:ext uri="{FF2B5EF4-FFF2-40B4-BE49-F238E27FC236}">
                <a16:creationId xmlns:a16="http://schemas.microsoft.com/office/drawing/2014/main" id="{F7D704DA-4ADC-402A-12BC-1D923B1E3B20}"/>
              </a:ext>
            </a:extLst>
          </p:cNvPr>
          <p:cNvSpPr txBox="1"/>
          <p:nvPr/>
        </p:nvSpPr>
        <p:spPr>
          <a:xfrm>
            <a:off x="1344877" y="6045252"/>
            <a:ext cx="7267622" cy="307777"/>
          </a:xfrm>
          <a:prstGeom prst="rect">
            <a:avLst/>
          </a:prstGeom>
          <a:noFill/>
        </p:spPr>
        <p:txBody>
          <a:bodyPr wrap="square">
            <a:spAutoFit/>
          </a:bodyPr>
          <a:lstStyle/>
          <a:p>
            <a:pPr algn="ctr"/>
            <a:r>
              <a:rPr lang="ja-JP" altLang="en-US" sz="1400" dirty="0">
                <a:solidFill>
                  <a:srgbClr val="1F2A5C"/>
                </a:solidFill>
                <a:latin typeface="メイリオ" panose="020B0604030504040204" pitchFamily="50" charset="-128"/>
                <a:ea typeface="メイリオ" panose="020B0604030504040204" pitchFamily="50" charset="-128"/>
                <a:cs typeface="メイリオ"/>
                <a:sym typeface="Meiryo"/>
              </a:rPr>
              <a:t>貴社リソースの状況に応じて都度発注でのご依頼も各単価で受けさせていただきます。</a:t>
            </a:r>
            <a:endParaRPr lang="ja-JP" altLang="en-US" sz="1400" dirty="0">
              <a:latin typeface="メイリオ"/>
              <a:ea typeface="メイリオ"/>
              <a:cs typeface="メイリオ"/>
            </a:endParaRPr>
          </a:p>
        </p:txBody>
      </p:sp>
      <p:sp>
        <p:nvSpPr>
          <p:cNvPr id="2" name="正方形/長方形 1">
            <a:extLst>
              <a:ext uri="{FF2B5EF4-FFF2-40B4-BE49-F238E27FC236}">
                <a16:creationId xmlns:a16="http://schemas.microsoft.com/office/drawing/2014/main" id="{80B84980-B4D9-2F75-F253-D767EB0FFCF5}"/>
              </a:ext>
            </a:extLst>
          </p:cNvPr>
          <p:cNvSpPr/>
          <p:nvPr/>
        </p:nvSpPr>
        <p:spPr>
          <a:xfrm>
            <a:off x="378823" y="1329288"/>
            <a:ext cx="9183188" cy="5219557"/>
          </a:xfrm>
          <a:prstGeom prst="rect">
            <a:avLst/>
          </a:prstGeom>
          <a:solidFill>
            <a:schemeClr val="bg1">
              <a:alpha val="4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400" dirty="0">
              <a:latin typeface="メイリオ" panose="020B0604030504040204" pitchFamily="50" charset="-128"/>
              <a:ea typeface="メイリオ" panose="020B0604030504040204" pitchFamily="50" charset="-128"/>
              <a:cs typeface="メイリオ"/>
            </a:endParaRPr>
          </a:p>
        </p:txBody>
      </p:sp>
    </p:spTree>
    <p:extLst>
      <p:ext uri="{BB962C8B-B14F-4D97-AF65-F5344CB8AC3E}">
        <p14:creationId xmlns:p14="http://schemas.microsoft.com/office/powerpoint/2010/main" val="28808819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A94FE7-6D4B-4888-997F-23D957A67FBD}"/>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5E998200-CD1E-9377-8F8E-91B67A682AED}"/>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提供施策について　</a:t>
            </a:r>
            <a:r>
              <a:rPr lang="en-US" altLang="ja-JP" sz="1400" b="1" dirty="0">
                <a:solidFill>
                  <a:srgbClr val="1F2A5C"/>
                </a:solidFill>
                <a:latin typeface="メイリオ" panose="020B0604030504040204" pitchFamily="50" charset="-128"/>
                <a:ea typeface="メイリオ" panose="020B0604030504040204" pitchFamily="50" charset="-128"/>
                <a:cs typeface="メイリオ"/>
                <a:sym typeface="Meiryo"/>
              </a:rPr>
              <a:t>[CRM</a:t>
            </a:r>
            <a:r>
              <a:rPr lang="ja-JP" altLang="en-US" sz="1400" b="1" dirty="0">
                <a:solidFill>
                  <a:srgbClr val="1F2A5C"/>
                </a:solidFill>
                <a:latin typeface="メイリオ" panose="020B0604030504040204" pitchFamily="50" charset="-128"/>
                <a:ea typeface="メイリオ" panose="020B0604030504040204" pitchFamily="50" charset="-128"/>
                <a:cs typeface="メイリオ"/>
                <a:sym typeface="Meiryo"/>
              </a:rPr>
              <a:t>及び</a:t>
            </a:r>
            <a:r>
              <a:rPr lang="en-US" altLang="ja-JP" sz="1400" b="1" dirty="0">
                <a:solidFill>
                  <a:srgbClr val="1F2A5C"/>
                </a:solidFill>
                <a:latin typeface="メイリオ" panose="020B0604030504040204" pitchFamily="50" charset="-128"/>
                <a:ea typeface="メイリオ" panose="020B0604030504040204" pitchFamily="50" charset="-128"/>
                <a:cs typeface="メイリオ"/>
                <a:sym typeface="Meiryo"/>
              </a:rPr>
              <a:t>API</a:t>
            </a:r>
            <a:r>
              <a:rPr lang="ja-JP" altLang="en-US" sz="1400" b="1" dirty="0">
                <a:solidFill>
                  <a:srgbClr val="1F2A5C"/>
                </a:solidFill>
                <a:latin typeface="メイリオ" panose="020B0604030504040204" pitchFamily="50" charset="-128"/>
                <a:ea typeface="メイリオ" panose="020B0604030504040204" pitchFamily="50" charset="-128"/>
                <a:cs typeface="メイリオ"/>
                <a:sym typeface="Meiryo"/>
              </a:rPr>
              <a:t>ツールとの連携</a:t>
            </a:r>
            <a:r>
              <a:rPr lang="en-US" altLang="ja-JP" sz="1400" b="1" dirty="0">
                <a:solidFill>
                  <a:srgbClr val="1F2A5C"/>
                </a:solidFill>
                <a:latin typeface="メイリオ" panose="020B0604030504040204" pitchFamily="50" charset="-128"/>
                <a:ea typeface="メイリオ" panose="020B0604030504040204" pitchFamily="50" charset="-128"/>
                <a:cs typeface="メイリオ"/>
                <a:sym typeface="Meiryo"/>
              </a:rPr>
              <a:t>]</a:t>
            </a:r>
            <a:endParaRPr lang="ja-JP" altLang="en-US" sz="1600" b="1" dirty="0">
              <a:solidFill>
                <a:srgbClr val="1F2A5C"/>
              </a:solidFill>
              <a:latin typeface="メイリオ" panose="020B0604030504040204" pitchFamily="50" charset="-128"/>
              <a:ea typeface="メイリオ" panose="020B0604030504040204" pitchFamily="50" charset="-128"/>
              <a:cs typeface="メイリオ"/>
              <a:sym typeface="Meiryo"/>
            </a:endParaRPr>
          </a:p>
        </p:txBody>
      </p:sp>
      <p:sp>
        <p:nvSpPr>
          <p:cNvPr id="2" name="正方形/長方形 1">
            <a:extLst>
              <a:ext uri="{FF2B5EF4-FFF2-40B4-BE49-F238E27FC236}">
                <a16:creationId xmlns:a16="http://schemas.microsoft.com/office/drawing/2014/main" id="{529B047E-CF1E-2AB0-E618-76435731185A}"/>
              </a:ext>
            </a:extLst>
          </p:cNvPr>
          <p:cNvSpPr/>
          <p:nvPr/>
        </p:nvSpPr>
        <p:spPr>
          <a:xfrm>
            <a:off x="804889" y="5113292"/>
            <a:ext cx="3834166" cy="825268"/>
          </a:xfrm>
          <a:prstGeom prst="rect">
            <a:avLst/>
          </a:prstGeom>
          <a:solidFill>
            <a:schemeClr val="accent1">
              <a:lumMod val="20000"/>
              <a:lumOff val="80000"/>
            </a:schemeClr>
          </a:solid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pPr algn="ctr"/>
            <a:r>
              <a:rPr lang="ja-JP" altLang="en-US" sz="1400" dirty="0">
                <a:solidFill>
                  <a:srgbClr val="073763"/>
                </a:solidFill>
                <a:latin typeface="メイリオ" panose="020B0604030504040204" pitchFamily="50" charset="-128"/>
                <a:ea typeface="メイリオ" panose="020B0604030504040204" pitchFamily="50" charset="-128"/>
                <a:cs typeface="メイリオ"/>
              </a:rPr>
              <a:t>「</a:t>
            </a:r>
            <a:r>
              <a:rPr kumimoji="1" lang="en-US" altLang="ja-JP" sz="1400" dirty="0">
                <a:solidFill>
                  <a:srgbClr val="073763"/>
                </a:solidFill>
                <a:latin typeface="メイリオ" panose="020B0604030504040204" pitchFamily="50" charset="-128"/>
                <a:ea typeface="メイリオ" panose="020B0604030504040204" pitchFamily="50" charset="-128"/>
                <a:cs typeface="メイリオ"/>
              </a:rPr>
              <a:t>CRM</a:t>
            </a:r>
            <a:r>
              <a:rPr kumimoji="1" lang="ja-JP" altLang="en-US" sz="1400" dirty="0">
                <a:solidFill>
                  <a:srgbClr val="073763"/>
                </a:solidFill>
                <a:latin typeface="メイリオ" panose="020B0604030504040204" pitchFamily="50" charset="-128"/>
                <a:ea typeface="メイリオ" panose="020B0604030504040204" pitchFamily="50" charset="-128"/>
                <a:cs typeface="メイリオ"/>
              </a:rPr>
              <a:t>側でどんな情報を取りたいか」</a:t>
            </a:r>
            <a:r>
              <a:rPr lang="ja-JP" altLang="en-US" sz="1400" dirty="0">
                <a:solidFill>
                  <a:srgbClr val="073763"/>
                </a:solidFill>
                <a:latin typeface="メイリオ" panose="020B0604030504040204" pitchFamily="50" charset="-128"/>
                <a:ea typeface="メイリオ" panose="020B0604030504040204" pitchFamily="50" charset="-128"/>
                <a:cs typeface="メイリオ"/>
              </a:rPr>
              <a:t>が重要</a:t>
            </a:r>
            <a:br>
              <a:rPr lang="en-US" altLang="ja-JP" sz="1400" dirty="0">
                <a:solidFill>
                  <a:srgbClr val="073763"/>
                </a:solidFill>
                <a:latin typeface="メイリオ" panose="020B0604030504040204" pitchFamily="50" charset="-128"/>
                <a:ea typeface="メイリオ" panose="020B0604030504040204" pitchFamily="50" charset="-128"/>
                <a:cs typeface="メイリオ"/>
              </a:rPr>
            </a:br>
            <a:r>
              <a:rPr lang="ja-JP" altLang="en-US" sz="1400" b="1" dirty="0">
                <a:solidFill>
                  <a:srgbClr val="073763"/>
                </a:solidFill>
                <a:latin typeface="メイリオ" panose="020B0604030504040204" pitchFamily="50" charset="-128"/>
                <a:ea typeface="メイリオ" panose="020B0604030504040204" pitchFamily="50" charset="-128"/>
                <a:cs typeface="メイリオ"/>
              </a:rPr>
              <a:t>要件定義</a:t>
            </a:r>
            <a:r>
              <a:rPr lang="ja-JP" altLang="en-US" sz="1400" dirty="0">
                <a:solidFill>
                  <a:srgbClr val="073763"/>
                </a:solidFill>
                <a:latin typeface="メイリオ" panose="020B0604030504040204" pitchFamily="50" charset="-128"/>
                <a:ea typeface="メイリオ" panose="020B0604030504040204" pitchFamily="50" charset="-128"/>
                <a:cs typeface="メイリオ"/>
              </a:rPr>
              <a:t>を先にする必要がある</a:t>
            </a:r>
            <a:endParaRPr kumimoji="1" lang="ja-JP" altLang="en-US" sz="1400" dirty="0">
              <a:solidFill>
                <a:srgbClr val="073763"/>
              </a:solidFill>
              <a:latin typeface="メイリオ" panose="020B0604030504040204" pitchFamily="50" charset="-128"/>
              <a:ea typeface="メイリオ" panose="020B0604030504040204" pitchFamily="50" charset="-128"/>
              <a:cs typeface="メイリオ"/>
            </a:endParaRPr>
          </a:p>
        </p:txBody>
      </p:sp>
      <p:sp>
        <p:nvSpPr>
          <p:cNvPr id="3" name="正方形/長方形 2">
            <a:extLst>
              <a:ext uri="{FF2B5EF4-FFF2-40B4-BE49-F238E27FC236}">
                <a16:creationId xmlns:a16="http://schemas.microsoft.com/office/drawing/2014/main" id="{C7D9704D-BB8D-31FA-D577-9838EADFB52F}"/>
              </a:ext>
            </a:extLst>
          </p:cNvPr>
          <p:cNvSpPr/>
          <p:nvPr/>
        </p:nvSpPr>
        <p:spPr>
          <a:xfrm>
            <a:off x="548883" y="1746891"/>
            <a:ext cx="2809027" cy="254724"/>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r>
              <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a:t>
            </a:r>
            <a:r>
              <a:rPr kumimoji="1" lang="en-US" altLang="ja-JP"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CR</a:t>
            </a:r>
            <a:r>
              <a:rPr lang="en-US" altLang="ja-JP"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M</a:t>
            </a:r>
            <a:r>
              <a:rPr lang="ja-JP" altLang="en-US"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によるセグメント配信の違い</a:t>
            </a:r>
            <a:endPar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endParaRPr>
          </a:p>
        </p:txBody>
      </p:sp>
      <p:sp>
        <p:nvSpPr>
          <p:cNvPr id="5" name="正方形/長方形 4">
            <a:extLst>
              <a:ext uri="{FF2B5EF4-FFF2-40B4-BE49-F238E27FC236}">
                <a16:creationId xmlns:a16="http://schemas.microsoft.com/office/drawing/2014/main" id="{DEDA1867-168F-C6E6-0B48-C791330A0A1C}"/>
              </a:ext>
            </a:extLst>
          </p:cNvPr>
          <p:cNvSpPr/>
          <p:nvPr/>
        </p:nvSpPr>
        <p:spPr>
          <a:xfrm>
            <a:off x="4855489" y="1681759"/>
            <a:ext cx="1637212" cy="254724"/>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pPr algn="ctr"/>
            <a:endPar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endParaRPr>
          </a:p>
        </p:txBody>
      </p:sp>
      <p:pic>
        <p:nvPicPr>
          <p:cNvPr id="6" name="図 5">
            <a:extLst>
              <a:ext uri="{FF2B5EF4-FFF2-40B4-BE49-F238E27FC236}">
                <a16:creationId xmlns:a16="http://schemas.microsoft.com/office/drawing/2014/main" id="{3E9A497F-26C3-7713-AA96-7B5A48F56252}"/>
              </a:ext>
            </a:extLst>
          </p:cNvPr>
          <p:cNvPicPr>
            <a:picLocks noChangeAspect="1"/>
          </p:cNvPicPr>
          <p:nvPr/>
        </p:nvPicPr>
        <p:blipFill>
          <a:blip r:embed="rId2"/>
          <a:stretch>
            <a:fillRect/>
          </a:stretch>
        </p:blipFill>
        <p:spPr>
          <a:xfrm>
            <a:off x="767879" y="2097602"/>
            <a:ext cx="1748922" cy="1226856"/>
          </a:xfrm>
          <a:prstGeom prst="rect">
            <a:avLst/>
          </a:prstGeom>
        </p:spPr>
      </p:pic>
      <p:pic>
        <p:nvPicPr>
          <p:cNvPr id="7" name="図 6">
            <a:extLst>
              <a:ext uri="{FF2B5EF4-FFF2-40B4-BE49-F238E27FC236}">
                <a16:creationId xmlns:a16="http://schemas.microsoft.com/office/drawing/2014/main" id="{AAF48BB3-9A38-696F-FC70-5DEE4C4078CF}"/>
              </a:ext>
            </a:extLst>
          </p:cNvPr>
          <p:cNvPicPr>
            <a:picLocks noChangeAspect="1"/>
          </p:cNvPicPr>
          <p:nvPr/>
        </p:nvPicPr>
        <p:blipFill>
          <a:blip r:embed="rId3"/>
          <a:stretch>
            <a:fillRect/>
          </a:stretch>
        </p:blipFill>
        <p:spPr>
          <a:xfrm>
            <a:off x="2629285" y="2290287"/>
            <a:ext cx="2166018" cy="762483"/>
          </a:xfrm>
          <a:prstGeom prst="rect">
            <a:avLst/>
          </a:prstGeom>
        </p:spPr>
      </p:pic>
      <p:pic>
        <p:nvPicPr>
          <p:cNvPr id="8" name="図 7">
            <a:extLst>
              <a:ext uri="{FF2B5EF4-FFF2-40B4-BE49-F238E27FC236}">
                <a16:creationId xmlns:a16="http://schemas.microsoft.com/office/drawing/2014/main" id="{84D1E44E-92B8-B060-DC73-7A65C3C6173F}"/>
              </a:ext>
            </a:extLst>
          </p:cNvPr>
          <p:cNvPicPr>
            <a:picLocks noChangeAspect="1"/>
          </p:cNvPicPr>
          <p:nvPr/>
        </p:nvPicPr>
        <p:blipFill>
          <a:blip r:embed="rId4"/>
          <a:stretch>
            <a:fillRect/>
          </a:stretch>
        </p:blipFill>
        <p:spPr>
          <a:xfrm>
            <a:off x="732463" y="3382653"/>
            <a:ext cx="1896822" cy="592757"/>
          </a:xfrm>
          <a:prstGeom prst="rect">
            <a:avLst/>
          </a:prstGeom>
        </p:spPr>
      </p:pic>
      <p:pic>
        <p:nvPicPr>
          <p:cNvPr id="10" name="図 9">
            <a:extLst>
              <a:ext uri="{FF2B5EF4-FFF2-40B4-BE49-F238E27FC236}">
                <a16:creationId xmlns:a16="http://schemas.microsoft.com/office/drawing/2014/main" id="{41BDD745-D379-657E-EEF9-DAE4405410CE}"/>
              </a:ext>
            </a:extLst>
          </p:cNvPr>
          <p:cNvPicPr>
            <a:picLocks noChangeAspect="1"/>
          </p:cNvPicPr>
          <p:nvPr/>
        </p:nvPicPr>
        <p:blipFill>
          <a:blip r:embed="rId5"/>
          <a:stretch>
            <a:fillRect/>
          </a:stretch>
        </p:blipFill>
        <p:spPr>
          <a:xfrm>
            <a:off x="2774924" y="3271855"/>
            <a:ext cx="1980643" cy="825268"/>
          </a:xfrm>
          <a:prstGeom prst="rect">
            <a:avLst/>
          </a:prstGeom>
        </p:spPr>
      </p:pic>
      <p:sp>
        <p:nvSpPr>
          <p:cNvPr id="11" name="二等辺三角形 10">
            <a:extLst>
              <a:ext uri="{FF2B5EF4-FFF2-40B4-BE49-F238E27FC236}">
                <a16:creationId xmlns:a16="http://schemas.microsoft.com/office/drawing/2014/main" id="{DE45D7C0-7CD3-BE83-DB56-A8A9A887F251}"/>
              </a:ext>
            </a:extLst>
          </p:cNvPr>
          <p:cNvSpPr/>
          <p:nvPr/>
        </p:nvSpPr>
        <p:spPr>
          <a:xfrm flipV="1">
            <a:off x="2404365" y="4661972"/>
            <a:ext cx="635214" cy="243054"/>
          </a:xfrm>
          <a:prstGeom prst="triangl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pPr algn="ctr"/>
            <a:endParaRPr kumimoji="1" lang="ja-JP" altLang="en-US">
              <a:latin typeface="メイリオ"/>
              <a:ea typeface="メイリオ"/>
              <a:cs typeface="メイリオ"/>
            </a:endParaRPr>
          </a:p>
        </p:txBody>
      </p:sp>
      <p:sp>
        <p:nvSpPr>
          <p:cNvPr id="12" name="正方形/長方形 11">
            <a:extLst>
              <a:ext uri="{FF2B5EF4-FFF2-40B4-BE49-F238E27FC236}">
                <a16:creationId xmlns:a16="http://schemas.microsoft.com/office/drawing/2014/main" id="{7FB401AD-59C1-FD46-42C1-D7E7B4A5CBEF}"/>
              </a:ext>
            </a:extLst>
          </p:cNvPr>
          <p:cNvSpPr/>
          <p:nvPr/>
        </p:nvSpPr>
        <p:spPr>
          <a:xfrm>
            <a:off x="5088187" y="1746891"/>
            <a:ext cx="2809027" cy="254724"/>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r>
              <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▼参考：</a:t>
            </a:r>
            <a:r>
              <a:rPr kumimoji="1" lang="en-US" altLang="ja-JP"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L</a:t>
            </a:r>
            <a:r>
              <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ステップ</a:t>
            </a:r>
            <a:r>
              <a:rPr kumimoji="1" lang="en-US" altLang="ja-JP"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API</a:t>
            </a:r>
            <a:r>
              <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連携機能</a:t>
            </a:r>
          </a:p>
        </p:txBody>
      </p:sp>
      <p:pic>
        <p:nvPicPr>
          <p:cNvPr id="13" name="図 12">
            <a:extLst>
              <a:ext uri="{FF2B5EF4-FFF2-40B4-BE49-F238E27FC236}">
                <a16:creationId xmlns:a16="http://schemas.microsoft.com/office/drawing/2014/main" id="{CAF63C84-7FEF-612A-E123-4983B7F28BAA}"/>
              </a:ext>
            </a:extLst>
          </p:cNvPr>
          <p:cNvPicPr>
            <a:picLocks noChangeAspect="1"/>
          </p:cNvPicPr>
          <p:nvPr/>
        </p:nvPicPr>
        <p:blipFill>
          <a:blip r:embed="rId6"/>
          <a:stretch>
            <a:fillRect/>
          </a:stretch>
        </p:blipFill>
        <p:spPr>
          <a:xfrm>
            <a:off x="5088187" y="2053900"/>
            <a:ext cx="4493959" cy="4306708"/>
          </a:xfrm>
          <a:prstGeom prst="rect">
            <a:avLst/>
          </a:prstGeom>
        </p:spPr>
      </p:pic>
      <p:sp>
        <p:nvSpPr>
          <p:cNvPr id="14" name="Google Shape;752;p28">
            <a:extLst>
              <a:ext uri="{FF2B5EF4-FFF2-40B4-BE49-F238E27FC236}">
                <a16:creationId xmlns:a16="http://schemas.microsoft.com/office/drawing/2014/main" id="{87B68C46-3A5D-A74F-1932-7FA2CEB38DBA}"/>
              </a:ext>
            </a:extLst>
          </p:cNvPr>
          <p:cNvSpPr txBox="1"/>
          <p:nvPr/>
        </p:nvSpPr>
        <p:spPr>
          <a:xfrm>
            <a:off x="776105" y="864423"/>
            <a:ext cx="8353789" cy="523180"/>
          </a:xfrm>
          <a:prstGeom prst="rect">
            <a:avLst/>
          </a:prstGeom>
          <a:noFill/>
          <a:ln>
            <a:noFill/>
          </a:ln>
        </p:spPr>
        <p:txBody>
          <a:bodyPr spcFirstLastPara="1" wrap="square" lIns="91425" tIns="45700" rIns="91425" bIns="45700" anchor="ctr" anchorCtr="0">
            <a:spAutoFit/>
          </a:bodyPr>
          <a:lstStyle/>
          <a:p>
            <a:pPr lvl="0" algn="ctr"/>
            <a:r>
              <a:rPr lang="en-US" altLang="ja-JP" sz="1400" dirty="0">
                <a:latin typeface="メイリオ" panose="020B0604030504040204" pitchFamily="50" charset="-128"/>
                <a:ea typeface="メイリオ" panose="020B0604030504040204" pitchFamily="50" charset="-128"/>
                <a:cs typeface="メイリオ"/>
                <a:sym typeface="Meiryo"/>
              </a:rPr>
              <a:t>CRM</a:t>
            </a:r>
            <a:r>
              <a:rPr lang="ja-JP" altLang="en-US" sz="1400" dirty="0">
                <a:latin typeface="メイリオ" panose="020B0604030504040204" pitchFamily="50" charset="-128"/>
                <a:ea typeface="メイリオ" panose="020B0604030504040204" pitchFamily="50" charset="-128"/>
                <a:cs typeface="メイリオ"/>
                <a:sym typeface="Meiryo"/>
              </a:rPr>
              <a:t>、</a:t>
            </a:r>
            <a:r>
              <a:rPr lang="en-US" altLang="ja-JP" sz="1400" dirty="0">
                <a:latin typeface="メイリオ" panose="020B0604030504040204" pitchFamily="50" charset="-128"/>
                <a:ea typeface="メイリオ" panose="020B0604030504040204" pitchFamily="50" charset="-128"/>
                <a:cs typeface="メイリオ"/>
                <a:sym typeface="Meiryo"/>
              </a:rPr>
              <a:t>API</a:t>
            </a:r>
            <a:r>
              <a:rPr lang="ja-JP" altLang="en-US" sz="1400" dirty="0">
                <a:latin typeface="メイリオ" panose="020B0604030504040204" pitchFamily="50" charset="-128"/>
                <a:ea typeface="メイリオ" panose="020B0604030504040204" pitchFamily="50" charset="-128"/>
                <a:cs typeface="メイリオ"/>
                <a:sym typeface="Meiryo"/>
              </a:rPr>
              <a:t>ツールで要件定義を行いつつ、効率化及び詳細なセグメント設計を目的として、</a:t>
            </a:r>
            <a:endParaRPr lang="en-US" altLang="ja-JP" sz="1400" dirty="0">
              <a:latin typeface="メイリオ" panose="020B0604030504040204" pitchFamily="50" charset="-128"/>
              <a:ea typeface="メイリオ" panose="020B0604030504040204" pitchFamily="50" charset="-128"/>
              <a:cs typeface="メイリオ"/>
              <a:sym typeface="Meiryo"/>
            </a:endParaRPr>
          </a:p>
          <a:p>
            <a:pPr lvl="0" algn="ctr"/>
            <a:r>
              <a:rPr lang="ja-JP" altLang="en-US" sz="1400" dirty="0">
                <a:latin typeface="メイリオ" panose="020B0604030504040204" pitchFamily="50" charset="-128"/>
                <a:ea typeface="メイリオ" panose="020B0604030504040204" pitchFamily="50" charset="-128"/>
                <a:cs typeface="メイリオ"/>
                <a:sym typeface="Meiryo"/>
              </a:rPr>
              <a:t>貴社内の顧客管理（</a:t>
            </a:r>
            <a:r>
              <a:rPr lang="en-US" altLang="ja-JP" sz="1400" dirty="0">
                <a:latin typeface="メイリオ" panose="020B0604030504040204" pitchFamily="50" charset="-128"/>
                <a:ea typeface="メイリオ" panose="020B0604030504040204" pitchFamily="50" charset="-128"/>
                <a:cs typeface="メイリオ"/>
                <a:sym typeface="Meiryo"/>
              </a:rPr>
              <a:t>CRM</a:t>
            </a:r>
            <a:r>
              <a:rPr lang="ja-JP" altLang="en-US" sz="1400" dirty="0">
                <a:latin typeface="メイリオ" panose="020B0604030504040204" pitchFamily="50" charset="-128"/>
                <a:ea typeface="メイリオ" panose="020B0604030504040204" pitchFamily="50" charset="-128"/>
                <a:cs typeface="メイリオ"/>
                <a:sym typeface="Meiryo"/>
              </a:rPr>
              <a:t>）ツールとの連携の実施も可能です。</a:t>
            </a:r>
            <a:r>
              <a:rPr lang="ja-JP" altLang="en-US" sz="1100" dirty="0">
                <a:solidFill>
                  <a:srgbClr val="1F2A5C"/>
                </a:solidFill>
                <a:latin typeface="メイリオ" panose="020B0604030504040204" pitchFamily="50" charset="-128"/>
                <a:ea typeface="メイリオ" panose="020B0604030504040204" pitchFamily="50" charset="-128"/>
                <a:cs typeface="メイリオ"/>
                <a:sym typeface="Meiryo"/>
              </a:rPr>
              <a:t> </a:t>
            </a:r>
            <a:r>
              <a:rPr lang="en-US" altLang="ja-JP" sz="1100" dirty="0">
                <a:solidFill>
                  <a:srgbClr val="1F2A5C"/>
                </a:solidFill>
                <a:latin typeface="メイリオ" panose="020B0604030504040204" pitchFamily="50" charset="-128"/>
                <a:ea typeface="メイリオ" panose="020B0604030504040204" pitchFamily="50" charset="-128"/>
                <a:cs typeface="メイリオ"/>
                <a:sym typeface="Meiryo"/>
              </a:rPr>
              <a:t>※</a:t>
            </a:r>
            <a:r>
              <a:rPr lang="ja-JP" altLang="en-US" sz="1100" dirty="0">
                <a:solidFill>
                  <a:srgbClr val="1F2A5C"/>
                </a:solidFill>
                <a:latin typeface="メイリオ" panose="020B0604030504040204" pitchFamily="50" charset="-128"/>
                <a:ea typeface="メイリオ" panose="020B0604030504040204" pitchFamily="50" charset="-128"/>
                <a:cs typeface="メイリオ"/>
                <a:sym typeface="Meiryo"/>
              </a:rPr>
              <a:t>開発は別途費用</a:t>
            </a:r>
            <a:endParaRPr lang="en-US" altLang="ja-JP" sz="1400" dirty="0">
              <a:solidFill>
                <a:srgbClr val="1F2A5C"/>
              </a:solidFill>
              <a:latin typeface="メイリオ" panose="020B0604030504040204" pitchFamily="50" charset="-128"/>
              <a:ea typeface="メイリオ" panose="020B0604030504040204" pitchFamily="50" charset="-128"/>
              <a:cs typeface="メイリオ"/>
              <a:sym typeface="Meiryo"/>
            </a:endParaRPr>
          </a:p>
        </p:txBody>
      </p:sp>
      <p:pic>
        <p:nvPicPr>
          <p:cNvPr id="16" name="図 15">
            <a:extLst>
              <a:ext uri="{FF2B5EF4-FFF2-40B4-BE49-F238E27FC236}">
                <a16:creationId xmlns:a16="http://schemas.microsoft.com/office/drawing/2014/main" id="{03191DAC-E9A0-5CCA-8AC1-DD7587146EC0}"/>
              </a:ext>
            </a:extLst>
          </p:cNvPr>
          <p:cNvPicPr>
            <a:picLocks noChangeAspect="1"/>
          </p:cNvPicPr>
          <p:nvPr/>
        </p:nvPicPr>
        <p:blipFill>
          <a:blip r:embed="rId7"/>
          <a:stretch>
            <a:fillRect/>
          </a:stretch>
        </p:blipFill>
        <p:spPr>
          <a:xfrm>
            <a:off x="8356962" y="3138694"/>
            <a:ext cx="1225184" cy="371527"/>
          </a:xfrm>
          <a:prstGeom prst="rect">
            <a:avLst/>
          </a:prstGeom>
        </p:spPr>
      </p:pic>
      <p:sp>
        <p:nvSpPr>
          <p:cNvPr id="18" name="正方形/長方形 17">
            <a:extLst>
              <a:ext uri="{FF2B5EF4-FFF2-40B4-BE49-F238E27FC236}">
                <a16:creationId xmlns:a16="http://schemas.microsoft.com/office/drawing/2014/main" id="{6556E7C3-00CD-61AD-290A-ADC705BB4ED2}"/>
              </a:ext>
            </a:extLst>
          </p:cNvPr>
          <p:cNvSpPr/>
          <p:nvPr/>
        </p:nvSpPr>
        <p:spPr>
          <a:xfrm>
            <a:off x="7392816" y="2667912"/>
            <a:ext cx="1404514" cy="704678"/>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r>
              <a:rPr kumimoji="1" lang="en-US" altLang="ja-JP"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LINE</a:t>
            </a:r>
            <a:r>
              <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公式と</a:t>
            </a:r>
            <a:r>
              <a:rPr kumimoji="1" lang="en-US" altLang="ja-JP"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API</a:t>
            </a:r>
            <a:r>
              <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ツール間の</a:t>
            </a:r>
            <a:endParaRPr kumimoji="1" lang="en-US" altLang="ja-JP"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endParaRPr>
          </a:p>
          <a:p>
            <a:r>
              <a:rPr lang="ja-JP" altLang="en-US"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情報連携</a:t>
            </a:r>
            <a:endPar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endParaRPr>
          </a:p>
        </p:txBody>
      </p:sp>
      <p:sp>
        <p:nvSpPr>
          <p:cNvPr id="19" name="正方形/長方形 18">
            <a:extLst>
              <a:ext uri="{FF2B5EF4-FFF2-40B4-BE49-F238E27FC236}">
                <a16:creationId xmlns:a16="http://schemas.microsoft.com/office/drawing/2014/main" id="{ECFC83DD-87A7-DC53-4B5A-DD088FDF4D20}"/>
              </a:ext>
            </a:extLst>
          </p:cNvPr>
          <p:cNvSpPr/>
          <p:nvPr/>
        </p:nvSpPr>
        <p:spPr>
          <a:xfrm>
            <a:off x="5873920" y="2711430"/>
            <a:ext cx="989184" cy="423766"/>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r>
              <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メッセ送信</a:t>
            </a:r>
          </a:p>
        </p:txBody>
      </p:sp>
    </p:spTree>
    <p:extLst>
      <p:ext uri="{BB962C8B-B14F-4D97-AF65-F5344CB8AC3E}">
        <p14:creationId xmlns:p14="http://schemas.microsoft.com/office/powerpoint/2010/main" val="98264973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Google Shape;156;p7"/>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その他 代表的な活用機能</a:t>
            </a:r>
            <a:endParaRPr sz="1600" b="1" dirty="0">
              <a:solidFill>
                <a:srgbClr val="002060"/>
              </a:solidFill>
              <a:latin typeface="メイリオ"/>
              <a:ea typeface="メイリオ"/>
              <a:cs typeface="メイリオ"/>
              <a:sym typeface="Meiryo"/>
            </a:endParaRPr>
          </a:p>
        </p:txBody>
      </p:sp>
      <p:sp>
        <p:nvSpPr>
          <p:cNvPr id="8" name="正方形/長方形 7"/>
          <p:cNvSpPr/>
          <p:nvPr/>
        </p:nvSpPr>
        <p:spPr>
          <a:xfrm>
            <a:off x="295583" y="823033"/>
            <a:ext cx="2541320" cy="485775"/>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600" b="1" dirty="0">
                <a:latin typeface="メイリオ" panose="020B0604030504040204" pitchFamily="50" charset="-128"/>
                <a:ea typeface="メイリオ" panose="020B0604030504040204" pitchFamily="50" charset="-128"/>
                <a:cs typeface="メイリオ"/>
              </a:rPr>
              <a:t>ミニアプリ</a:t>
            </a:r>
            <a:endParaRPr lang="en-US" altLang="ja-JP" sz="1600" b="1" dirty="0">
              <a:latin typeface="メイリオ" panose="020B0604030504040204" pitchFamily="50" charset="-128"/>
              <a:ea typeface="メイリオ" panose="020B0604030504040204" pitchFamily="50" charset="-128"/>
              <a:cs typeface="メイリオ"/>
            </a:endParaRPr>
          </a:p>
        </p:txBody>
      </p:sp>
      <p:pic>
        <p:nvPicPr>
          <p:cNvPr id="15" name="図 14"/>
          <p:cNvPicPr>
            <a:picLocks noChangeAspect="1"/>
          </p:cNvPicPr>
          <p:nvPr/>
        </p:nvPicPr>
        <p:blipFill>
          <a:blip r:embed="rId2"/>
          <a:stretch>
            <a:fillRect/>
          </a:stretch>
        </p:blipFill>
        <p:spPr>
          <a:xfrm>
            <a:off x="395078" y="4223656"/>
            <a:ext cx="4883652" cy="2255298"/>
          </a:xfrm>
          <a:prstGeom prst="rect">
            <a:avLst/>
          </a:prstGeom>
        </p:spPr>
      </p:pic>
      <p:pic>
        <p:nvPicPr>
          <p:cNvPr id="16" name="図 15"/>
          <p:cNvPicPr>
            <a:picLocks noChangeAspect="1"/>
          </p:cNvPicPr>
          <p:nvPr/>
        </p:nvPicPr>
        <p:blipFill>
          <a:blip r:embed="rId3"/>
          <a:stretch>
            <a:fillRect/>
          </a:stretch>
        </p:blipFill>
        <p:spPr>
          <a:xfrm>
            <a:off x="5447610" y="4291935"/>
            <a:ext cx="4377759" cy="1962444"/>
          </a:xfrm>
          <a:prstGeom prst="rect">
            <a:avLst/>
          </a:prstGeom>
        </p:spPr>
      </p:pic>
      <p:pic>
        <p:nvPicPr>
          <p:cNvPr id="17" name="図 16"/>
          <p:cNvPicPr>
            <a:picLocks noChangeAspect="1"/>
          </p:cNvPicPr>
          <p:nvPr/>
        </p:nvPicPr>
        <p:blipFill>
          <a:blip r:embed="rId4"/>
          <a:stretch>
            <a:fillRect/>
          </a:stretch>
        </p:blipFill>
        <p:spPr>
          <a:xfrm>
            <a:off x="295583" y="1824445"/>
            <a:ext cx="5881033" cy="2266757"/>
          </a:xfrm>
          <a:prstGeom prst="rect">
            <a:avLst/>
          </a:prstGeom>
        </p:spPr>
      </p:pic>
      <p:sp>
        <p:nvSpPr>
          <p:cNvPr id="2" name="正方形/長方形 1"/>
          <p:cNvSpPr/>
          <p:nvPr/>
        </p:nvSpPr>
        <p:spPr>
          <a:xfrm>
            <a:off x="2971109" y="823033"/>
            <a:ext cx="6669279" cy="584775"/>
          </a:xfrm>
          <a:prstGeom prst="rect">
            <a:avLst/>
          </a:prstGeom>
        </p:spPr>
        <p:txBody>
          <a:bodyPr wrap="square">
            <a:spAutoFit/>
          </a:bodyPr>
          <a:lstStyle/>
          <a:p>
            <a:pPr lvl="0">
              <a:buClr>
                <a:srgbClr val="002060"/>
              </a:buClr>
              <a:buSzPts val="1600"/>
            </a:pPr>
            <a:r>
              <a:rPr lang="en-US" altLang="ja-JP" sz="1600" b="1" dirty="0">
                <a:solidFill>
                  <a:schemeClr val="tx1">
                    <a:lumMod val="65000"/>
                    <a:lumOff val="35000"/>
                  </a:schemeClr>
                </a:solidFill>
                <a:latin typeface="メイリオ"/>
                <a:ea typeface="メイリオ"/>
                <a:cs typeface="メイリオ"/>
                <a:sym typeface="Meiryo"/>
              </a:rPr>
              <a:t>LINE</a:t>
            </a:r>
            <a:r>
              <a:rPr lang="ja-JP" altLang="en-US" sz="1600" b="1" dirty="0">
                <a:solidFill>
                  <a:schemeClr val="tx1">
                    <a:lumMod val="65000"/>
                    <a:lumOff val="35000"/>
                  </a:schemeClr>
                </a:solidFill>
                <a:latin typeface="メイリオ"/>
                <a:ea typeface="メイリオ"/>
                <a:cs typeface="メイリオ"/>
                <a:sym typeface="Meiryo"/>
              </a:rPr>
              <a:t>内で活用できるミニアプリでは、ゲームや抽選といった機能を</a:t>
            </a:r>
            <a:endParaRPr lang="en-US" altLang="ja-JP" sz="1600" b="1" dirty="0">
              <a:solidFill>
                <a:schemeClr val="tx1">
                  <a:lumMod val="65000"/>
                  <a:lumOff val="35000"/>
                </a:schemeClr>
              </a:solidFill>
              <a:latin typeface="メイリオ"/>
              <a:ea typeface="メイリオ"/>
              <a:cs typeface="メイリオ"/>
              <a:sym typeface="Meiryo"/>
            </a:endParaRPr>
          </a:p>
          <a:p>
            <a:pPr lvl="0">
              <a:buClr>
                <a:srgbClr val="002060"/>
              </a:buClr>
              <a:buSzPts val="1600"/>
            </a:pPr>
            <a:r>
              <a:rPr lang="ja-JP" altLang="en-US" sz="1600" b="1" dirty="0">
                <a:solidFill>
                  <a:schemeClr val="tx1">
                    <a:lumMod val="65000"/>
                    <a:lumOff val="35000"/>
                  </a:schemeClr>
                </a:solidFill>
                <a:latin typeface="メイリオ"/>
                <a:ea typeface="メイリオ"/>
                <a:cs typeface="メイリオ"/>
                <a:sym typeface="Meiryo"/>
              </a:rPr>
              <a:t>アプリ開発よりも大幅に格安な価格帯で利用できるサービス。</a:t>
            </a:r>
            <a:endParaRPr lang="en-US" altLang="ja-JP" sz="1600" b="1" dirty="0">
              <a:solidFill>
                <a:schemeClr val="tx1">
                  <a:lumMod val="65000"/>
                  <a:lumOff val="35000"/>
                </a:schemeClr>
              </a:solidFill>
              <a:latin typeface="メイリオ"/>
              <a:ea typeface="メイリオ"/>
              <a:cs typeface="メイリオ"/>
              <a:sym typeface="Meiryo"/>
            </a:endParaRPr>
          </a:p>
        </p:txBody>
      </p:sp>
    </p:spTree>
    <p:extLst>
      <p:ext uri="{BB962C8B-B14F-4D97-AF65-F5344CB8AC3E}">
        <p14:creationId xmlns:p14="http://schemas.microsoft.com/office/powerpoint/2010/main" val="393999798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D5022E-E793-10B7-A063-757EDCFFDB08}"/>
            </a:ext>
          </a:extLst>
        </p:cNvPr>
        <p:cNvGrpSpPr/>
        <p:nvPr/>
      </p:nvGrpSpPr>
      <p:grpSpPr>
        <a:xfrm>
          <a:off x="0" y="0"/>
          <a:ext cx="0" cy="0"/>
          <a:chOff x="0" y="0"/>
          <a:chExt cx="0" cy="0"/>
        </a:xfrm>
      </p:grpSpPr>
      <p:sp>
        <p:nvSpPr>
          <p:cNvPr id="43" name="Google Shape;156;p7"/>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lvl="0">
              <a:buClr>
                <a:srgbClr val="002060"/>
              </a:buClr>
              <a:buSzPts val="1600"/>
            </a:pPr>
            <a:r>
              <a:rPr lang="ja-JP" altLang="en-US" sz="1600" b="1" dirty="0">
                <a:solidFill>
                  <a:srgbClr val="002060"/>
                </a:solidFill>
                <a:latin typeface="メイリオ"/>
                <a:ea typeface="メイリオ"/>
                <a:cs typeface="メイリオ"/>
                <a:sym typeface="Meiryo"/>
              </a:rPr>
              <a:t>その他 代表的な活用機能</a:t>
            </a:r>
          </a:p>
        </p:txBody>
      </p:sp>
      <p:sp>
        <p:nvSpPr>
          <p:cNvPr id="28" name="正方形/長方形 27"/>
          <p:cNvSpPr/>
          <p:nvPr/>
        </p:nvSpPr>
        <p:spPr>
          <a:xfrm>
            <a:off x="209578" y="1455366"/>
            <a:ext cx="7160935" cy="584775"/>
          </a:xfrm>
          <a:prstGeom prst="rect">
            <a:avLst/>
          </a:prstGeom>
        </p:spPr>
        <p:txBody>
          <a:bodyPr wrap="none">
            <a:spAutoFit/>
          </a:bodyPr>
          <a:lstStyle/>
          <a:p>
            <a:pPr lvl="0">
              <a:buClr>
                <a:srgbClr val="002060"/>
              </a:buClr>
              <a:buSzPts val="1600"/>
            </a:pPr>
            <a:r>
              <a:rPr lang="ja-JP" altLang="en-US" sz="1600" b="1" dirty="0">
                <a:solidFill>
                  <a:schemeClr val="tx1">
                    <a:lumMod val="65000"/>
                    <a:lumOff val="35000"/>
                  </a:schemeClr>
                </a:solidFill>
                <a:latin typeface="メイリオ"/>
                <a:ea typeface="メイリオ"/>
                <a:cs typeface="メイリオ"/>
                <a:sym typeface="Meiryo"/>
              </a:rPr>
              <a:t>「</a:t>
            </a:r>
            <a:r>
              <a:rPr lang="en-US" altLang="ja-JP" sz="1600" b="1" dirty="0">
                <a:solidFill>
                  <a:schemeClr val="tx1">
                    <a:lumMod val="65000"/>
                    <a:lumOff val="35000"/>
                  </a:schemeClr>
                </a:solidFill>
                <a:latin typeface="メイリオ"/>
                <a:ea typeface="メイリオ"/>
                <a:cs typeface="メイリオ"/>
                <a:sym typeface="Meiryo"/>
              </a:rPr>
              <a:t>LINE</a:t>
            </a:r>
            <a:r>
              <a:rPr lang="ja-JP" altLang="en-US" sz="1600" b="1" dirty="0">
                <a:solidFill>
                  <a:schemeClr val="tx1">
                    <a:lumMod val="65000"/>
                    <a:lumOff val="35000"/>
                  </a:schemeClr>
                </a:solidFill>
                <a:latin typeface="メイリオ"/>
                <a:ea typeface="メイリオ"/>
                <a:cs typeface="メイリオ"/>
                <a:sym typeface="Meiryo"/>
              </a:rPr>
              <a:t>チャット</a:t>
            </a:r>
            <a:r>
              <a:rPr lang="en-US" altLang="ja-JP" sz="1600" b="1" dirty="0">
                <a:solidFill>
                  <a:schemeClr val="tx1">
                    <a:lumMod val="65000"/>
                    <a:lumOff val="35000"/>
                  </a:schemeClr>
                </a:solidFill>
                <a:latin typeface="メイリオ"/>
                <a:ea typeface="メイリオ"/>
                <a:cs typeface="メイリオ"/>
                <a:sym typeface="Meiryo"/>
              </a:rPr>
              <a:t>Plus</a:t>
            </a:r>
            <a:r>
              <a:rPr lang="ja-JP" altLang="en-US" sz="1600" b="1" dirty="0">
                <a:solidFill>
                  <a:schemeClr val="tx1">
                    <a:lumMod val="65000"/>
                    <a:lumOff val="35000"/>
                  </a:schemeClr>
                </a:solidFill>
                <a:latin typeface="メイリオ"/>
                <a:ea typeface="メイリオ"/>
                <a:cs typeface="メイリオ"/>
                <a:sym typeface="Meiryo"/>
              </a:rPr>
              <a:t>」は、</a:t>
            </a:r>
            <a:r>
              <a:rPr lang="en-US" altLang="ja-JP" sz="1600" b="1" dirty="0">
                <a:solidFill>
                  <a:schemeClr val="tx1">
                    <a:lumMod val="65000"/>
                    <a:lumOff val="35000"/>
                  </a:schemeClr>
                </a:solidFill>
                <a:latin typeface="メイリオ"/>
                <a:ea typeface="メイリオ"/>
                <a:cs typeface="メイリオ"/>
                <a:sym typeface="Meiryo"/>
              </a:rPr>
              <a:t>FAQ</a:t>
            </a:r>
            <a:r>
              <a:rPr lang="ja-JP" altLang="en-US" sz="1600" b="1" dirty="0">
                <a:solidFill>
                  <a:schemeClr val="tx1">
                    <a:lumMod val="65000"/>
                    <a:lumOff val="35000"/>
                  </a:schemeClr>
                </a:solidFill>
                <a:latin typeface="メイリオ"/>
                <a:ea typeface="メイリオ"/>
                <a:cs typeface="メイリオ"/>
                <a:sym typeface="Meiryo"/>
              </a:rPr>
              <a:t>をもとにした</a:t>
            </a:r>
            <a:r>
              <a:rPr lang="en-US" altLang="ja-JP" sz="1600" b="1" dirty="0">
                <a:solidFill>
                  <a:schemeClr val="tx1">
                    <a:lumMod val="65000"/>
                    <a:lumOff val="35000"/>
                  </a:schemeClr>
                </a:solidFill>
                <a:latin typeface="メイリオ"/>
                <a:ea typeface="メイリオ"/>
                <a:cs typeface="メイリオ"/>
                <a:sym typeface="Meiryo"/>
              </a:rPr>
              <a:t>AI</a:t>
            </a:r>
            <a:r>
              <a:rPr lang="ja-JP" altLang="en-US" sz="1600" b="1" dirty="0">
                <a:solidFill>
                  <a:schemeClr val="tx1">
                    <a:lumMod val="65000"/>
                    <a:lumOff val="35000"/>
                  </a:schemeClr>
                </a:solidFill>
                <a:latin typeface="メイリオ"/>
                <a:ea typeface="メイリオ"/>
                <a:cs typeface="メイリオ"/>
                <a:sym typeface="Meiryo"/>
              </a:rPr>
              <a:t>による自動応答や、</a:t>
            </a:r>
            <a:endParaRPr lang="en-US" altLang="ja-JP" sz="1600" b="1" dirty="0">
              <a:solidFill>
                <a:schemeClr val="tx1">
                  <a:lumMod val="65000"/>
                  <a:lumOff val="35000"/>
                </a:schemeClr>
              </a:solidFill>
              <a:latin typeface="メイリオ"/>
              <a:ea typeface="メイリオ"/>
              <a:cs typeface="メイリオ"/>
              <a:sym typeface="Meiryo"/>
            </a:endParaRPr>
          </a:p>
          <a:p>
            <a:pPr lvl="0">
              <a:buClr>
                <a:srgbClr val="002060"/>
              </a:buClr>
              <a:buSzPts val="1600"/>
            </a:pPr>
            <a:r>
              <a:rPr lang="ja-JP" altLang="en-US" sz="1600" b="1" dirty="0">
                <a:solidFill>
                  <a:schemeClr val="tx1">
                    <a:lumMod val="65000"/>
                    <a:lumOff val="35000"/>
                  </a:schemeClr>
                </a:solidFill>
                <a:latin typeface="メイリオ"/>
                <a:ea typeface="メイリオ"/>
                <a:cs typeface="メイリオ"/>
                <a:sym typeface="Meiryo"/>
              </a:rPr>
              <a:t>有人でのチャット対応による細かなサポートを可能にするオプション機能。</a:t>
            </a:r>
            <a:endParaRPr lang="en-US" altLang="ja-JP" sz="1600" b="1" dirty="0">
              <a:solidFill>
                <a:schemeClr val="tx1">
                  <a:lumMod val="65000"/>
                  <a:lumOff val="35000"/>
                </a:schemeClr>
              </a:solidFill>
              <a:latin typeface="メイリオ"/>
              <a:ea typeface="メイリオ"/>
              <a:cs typeface="メイリオ"/>
              <a:sym typeface="Meiryo"/>
            </a:endParaRPr>
          </a:p>
        </p:txBody>
      </p:sp>
      <p:sp>
        <p:nvSpPr>
          <p:cNvPr id="29" name="正方形/長方形 28"/>
          <p:cNvSpPr/>
          <p:nvPr/>
        </p:nvSpPr>
        <p:spPr>
          <a:xfrm>
            <a:off x="295583" y="823033"/>
            <a:ext cx="2541320" cy="485775"/>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600" b="1" dirty="0">
                <a:latin typeface="メイリオ" panose="020B0604030504040204" pitchFamily="50" charset="-128"/>
                <a:ea typeface="メイリオ" panose="020B0604030504040204" pitchFamily="50" charset="-128"/>
                <a:cs typeface="メイリオ"/>
              </a:rPr>
              <a:t>【</a:t>
            </a:r>
            <a:r>
              <a:rPr lang="en-US" altLang="ja-JP" sz="1600" b="1" dirty="0" err="1">
                <a:latin typeface="メイリオ" panose="020B0604030504040204" pitchFamily="50" charset="-128"/>
                <a:ea typeface="メイリオ" panose="020B0604030504040204" pitchFamily="50" charset="-128"/>
                <a:cs typeface="メイリオ"/>
              </a:rPr>
              <a:t>LINE】Chat</a:t>
            </a:r>
            <a:r>
              <a:rPr lang="en-US" altLang="ja-JP" sz="1600" b="1" dirty="0">
                <a:latin typeface="メイリオ" panose="020B0604030504040204" pitchFamily="50" charset="-128"/>
                <a:ea typeface="メイリオ" panose="020B0604030504040204" pitchFamily="50" charset="-128"/>
                <a:cs typeface="メイリオ"/>
              </a:rPr>
              <a:t> Plus</a:t>
            </a:r>
          </a:p>
        </p:txBody>
      </p:sp>
      <p:sp>
        <p:nvSpPr>
          <p:cNvPr id="30" name="角丸四角形 29"/>
          <p:cNvSpPr/>
          <p:nvPr/>
        </p:nvSpPr>
        <p:spPr>
          <a:xfrm>
            <a:off x="548883" y="2287502"/>
            <a:ext cx="4031506" cy="4199137"/>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lang="ja-JP" altLang="en-US" sz="1400" b="0" i="0" u="none" strike="noStrike" kern="0" cap="none" spc="0" normalizeH="0" baseline="0" noProof="0">
              <a:ln>
                <a:noFill/>
              </a:ln>
              <a:solidFill>
                <a:srgbClr val="FFFFFF"/>
              </a:solidFill>
              <a:effectLst/>
              <a:uLnTx/>
              <a:uFillTx/>
              <a:latin typeface="メイリオ"/>
              <a:ea typeface="メイリオ" panose="020B0600070205080204" pitchFamily="50" charset="-128"/>
              <a:cs typeface="メイリオ"/>
              <a:sym typeface="Arial"/>
            </a:endParaRPr>
          </a:p>
        </p:txBody>
      </p:sp>
      <p:pic>
        <p:nvPicPr>
          <p:cNvPr id="3" name="図 2"/>
          <p:cNvPicPr>
            <a:picLocks noChangeAspect="1"/>
          </p:cNvPicPr>
          <p:nvPr/>
        </p:nvPicPr>
        <p:blipFill rotWithShape="1">
          <a:blip r:embed="rId2" cstate="print">
            <a:extLst>
              <a:ext uri="{28A0092B-C50C-407E-A947-70E740481C1C}">
                <a14:useLocalDpi xmlns:a14="http://schemas.microsoft.com/office/drawing/2010/main" val="0"/>
              </a:ext>
            </a:extLst>
          </a:blip>
          <a:srcRect t="34310" b="34334"/>
          <a:stretch/>
        </p:blipFill>
        <p:spPr>
          <a:xfrm>
            <a:off x="683491" y="2611441"/>
            <a:ext cx="3762290" cy="2097249"/>
          </a:xfrm>
          <a:prstGeom prst="rect">
            <a:avLst/>
          </a:prstGeom>
        </p:spPr>
      </p:pic>
      <p:sp>
        <p:nvSpPr>
          <p:cNvPr id="33" name="正方形/長方形 32"/>
          <p:cNvSpPr/>
          <p:nvPr/>
        </p:nvSpPr>
        <p:spPr>
          <a:xfrm>
            <a:off x="830828" y="5032628"/>
            <a:ext cx="3467616" cy="830997"/>
          </a:xfrm>
          <a:prstGeom prst="rect">
            <a:avLst/>
          </a:prstGeom>
        </p:spPr>
        <p:txBody>
          <a:bodyPr wrap="none">
            <a:spAutoFit/>
          </a:bodyPr>
          <a:lstStyle/>
          <a:p>
            <a:pPr lvl="0">
              <a:buClr>
                <a:srgbClr val="002060"/>
              </a:buClr>
              <a:buSzPts val="1600"/>
            </a:pPr>
            <a:r>
              <a:rPr lang="ja-JP" altLang="en-US" sz="1600" b="1" dirty="0">
                <a:solidFill>
                  <a:schemeClr val="tx1">
                    <a:lumMod val="65000"/>
                    <a:lumOff val="35000"/>
                  </a:schemeClr>
                </a:solidFill>
                <a:latin typeface="メイリオ"/>
                <a:ea typeface="メイリオ"/>
                <a:cs typeface="メイリオ"/>
                <a:sym typeface="Meiryo"/>
              </a:rPr>
              <a:t>ホームページから気軽にチャットで</a:t>
            </a:r>
            <a:endParaRPr lang="en-US" altLang="ja-JP" sz="1600" b="1" dirty="0">
              <a:solidFill>
                <a:schemeClr val="tx1">
                  <a:lumMod val="65000"/>
                  <a:lumOff val="35000"/>
                </a:schemeClr>
              </a:solidFill>
              <a:latin typeface="メイリオ"/>
              <a:ea typeface="メイリオ"/>
              <a:cs typeface="メイリオ"/>
              <a:sym typeface="Meiryo"/>
            </a:endParaRPr>
          </a:p>
          <a:p>
            <a:pPr lvl="0">
              <a:buClr>
                <a:srgbClr val="002060"/>
              </a:buClr>
              <a:buSzPts val="1600"/>
            </a:pPr>
            <a:r>
              <a:rPr lang="ja-JP" altLang="en-US" sz="1600" b="1" dirty="0">
                <a:solidFill>
                  <a:schemeClr val="tx1">
                    <a:lumMod val="65000"/>
                    <a:lumOff val="35000"/>
                  </a:schemeClr>
                </a:solidFill>
                <a:latin typeface="メイリオ"/>
                <a:ea typeface="メイリオ"/>
                <a:cs typeface="メイリオ"/>
                <a:sym typeface="Meiryo"/>
              </a:rPr>
              <a:t>問い合わせができるようになり</a:t>
            </a:r>
            <a:endParaRPr lang="en-US" altLang="ja-JP" sz="1600" b="1" dirty="0">
              <a:solidFill>
                <a:schemeClr val="tx1">
                  <a:lumMod val="65000"/>
                  <a:lumOff val="35000"/>
                </a:schemeClr>
              </a:solidFill>
              <a:latin typeface="メイリオ"/>
              <a:ea typeface="メイリオ"/>
              <a:cs typeface="メイリオ"/>
              <a:sym typeface="Meiryo"/>
            </a:endParaRPr>
          </a:p>
          <a:p>
            <a:pPr lvl="0">
              <a:buClr>
                <a:srgbClr val="002060"/>
              </a:buClr>
              <a:buSzPts val="1600"/>
            </a:pPr>
            <a:r>
              <a:rPr lang="ja-JP" altLang="en-US" sz="1600" b="1" dirty="0">
                <a:solidFill>
                  <a:schemeClr val="tx1">
                    <a:lumMod val="65000"/>
                    <a:lumOff val="35000"/>
                  </a:schemeClr>
                </a:solidFill>
                <a:latin typeface="メイリオ"/>
                <a:ea typeface="メイリオ"/>
                <a:cs typeface="メイリオ"/>
                <a:sym typeface="Meiryo"/>
              </a:rPr>
              <a:t>資料請求や商品の購入に繋がる。</a:t>
            </a:r>
            <a:endParaRPr lang="en-US" altLang="ja-JP" sz="1600" b="1" dirty="0">
              <a:solidFill>
                <a:schemeClr val="tx1">
                  <a:lumMod val="65000"/>
                  <a:lumOff val="35000"/>
                </a:schemeClr>
              </a:solidFill>
              <a:latin typeface="メイリオ"/>
              <a:ea typeface="メイリオ"/>
              <a:cs typeface="メイリオ"/>
              <a:sym typeface="Meiryo"/>
            </a:endParaRPr>
          </a:p>
        </p:txBody>
      </p:sp>
      <p:grpSp>
        <p:nvGrpSpPr>
          <p:cNvPr id="34" name="Group 25">
            <a:extLst>
              <a:ext uri="{FF2B5EF4-FFF2-40B4-BE49-F238E27FC236}">
                <a16:creationId xmlns:a16="http://schemas.microsoft.com/office/drawing/2014/main" id="{269BA4E8-CBA1-17CF-4B27-5586E44C9042}"/>
              </a:ext>
            </a:extLst>
          </p:cNvPr>
          <p:cNvGrpSpPr/>
          <p:nvPr/>
        </p:nvGrpSpPr>
        <p:grpSpPr>
          <a:xfrm rot="5400000">
            <a:off x="5120631" y="2997089"/>
            <a:ext cx="301414" cy="601358"/>
            <a:chOff x="0" y="0"/>
            <a:chExt cx="452282" cy="902360"/>
          </a:xfrm>
        </p:grpSpPr>
        <p:sp>
          <p:nvSpPr>
            <p:cNvPr id="35" name="Freeform 26">
              <a:extLst>
                <a:ext uri="{FF2B5EF4-FFF2-40B4-BE49-F238E27FC236}">
                  <a16:creationId xmlns:a16="http://schemas.microsoft.com/office/drawing/2014/main" id="{F979CAEC-8CC8-5992-6164-138369941BE6}"/>
                </a:ext>
              </a:extLst>
            </p:cNvPr>
            <p:cNvSpPr/>
            <p:nvPr/>
          </p:nvSpPr>
          <p:spPr>
            <a:xfrm>
              <a:off x="0" y="0"/>
              <a:ext cx="452282" cy="902360"/>
            </a:xfrm>
            <a:custGeom>
              <a:avLst/>
              <a:gdLst/>
              <a:ahLst/>
              <a:cxnLst/>
              <a:rect l="l" t="t" r="r" b="b"/>
              <a:pathLst>
                <a:path w="452282" h="902360">
                  <a:moveTo>
                    <a:pt x="226141" y="0"/>
                  </a:moveTo>
                  <a:lnTo>
                    <a:pt x="452282" y="902360"/>
                  </a:lnTo>
                  <a:lnTo>
                    <a:pt x="0" y="902360"/>
                  </a:lnTo>
                  <a:lnTo>
                    <a:pt x="226141" y="0"/>
                  </a:lnTo>
                  <a:close/>
                </a:path>
              </a:pathLst>
            </a:custGeom>
            <a:solidFill>
              <a:srgbClr val="D9D9D9"/>
            </a:solid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36" name="TextBox 27">
              <a:extLst>
                <a:ext uri="{FF2B5EF4-FFF2-40B4-BE49-F238E27FC236}">
                  <a16:creationId xmlns:a16="http://schemas.microsoft.com/office/drawing/2014/main" id="{35EF9994-DB9A-78E5-055F-3AFF8481CE16}"/>
                </a:ext>
              </a:extLst>
            </p:cNvPr>
            <p:cNvSpPr txBox="1"/>
            <p:nvPr/>
          </p:nvSpPr>
          <p:spPr>
            <a:xfrm>
              <a:off x="70669" y="380853"/>
              <a:ext cx="310944" cy="457053"/>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cs typeface="メイリオ"/>
              </a:endParaRPr>
            </a:p>
          </p:txBody>
        </p:sp>
      </p:grpSp>
      <p:sp>
        <p:nvSpPr>
          <p:cNvPr id="37" name="TextBox 38">
            <a:extLst>
              <a:ext uri="{FF2B5EF4-FFF2-40B4-BE49-F238E27FC236}">
                <a16:creationId xmlns:a16="http://schemas.microsoft.com/office/drawing/2014/main" id="{5DBC0D5A-D55C-257A-51E2-CC2A6B58B8CE}"/>
              </a:ext>
            </a:extLst>
          </p:cNvPr>
          <p:cNvSpPr txBox="1"/>
          <p:nvPr/>
        </p:nvSpPr>
        <p:spPr>
          <a:xfrm>
            <a:off x="5836651" y="3018835"/>
            <a:ext cx="3788946" cy="564257"/>
          </a:xfrm>
          <a:prstGeom prst="rect">
            <a:avLst/>
          </a:prstGeom>
        </p:spPr>
        <p:txBody>
          <a:bodyPr wrap="square" lIns="0" tIns="0" rIns="0" bIns="0" rtlCol="0" anchor="t">
            <a:spAutoFit/>
          </a:bodyPr>
          <a:lstStyle/>
          <a:p>
            <a:pPr>
              <a:lnSpc>
                <a:spcPts val="2176"/>
              </a:lnSpc>
            </a:pPr>
            <a:r>
              <a:rPr lang="ja-JP" altLang="en-US" sz="1554" b="1" dirty="0">
                <a:solidFill>
                  <a:srgbClr val="494848"/>
                </a:solidFill>
                <a:latin typeface="メイリオ" panose="020B0604030504040204" pitchFamily="50" charset="-128"/>
                <a:ea typeface="メイリオ" panose="020B0604030504040204" pitchFamily="50" charset="-128"/>
                <a:cs typeface="メイリオ"/>
              </a:rPr>
              <a:t>自動応答と有人応答を使い分けることが</a:t>
            </a:r>
            <a:endParaRPr lang="en-US" altLang="ja-JP" sz="1554" b="1" dirty="0">
              <a:solidFill>
                <a:srgbClr val="494848"/>
              </a:solidFill>
              <a:latin typeface="メイリオ" panose="020B0604030504040204" pitchFamily="50" charset="-128"/>
              <a:ea typeface="メイリオ" panose="020B0604030504040204" pitchFamily="50" charset="-128"/>
              <a:cs typeface="メイリオ"/>
            </a:endParaRPr>
          </a:p>
          <a:p>
            <a:pPr>
              <a:lnSpc>
                <a:spcPts val="2176"/>
              </a:lnSpc>
            </a:pPr>
            <a:r>
              <a:rPr lang="ja-JP" altLang="en-US" sz="1554" b="1" dirty="0">
                <a:solidFill>
                  <a:srgbClr val="494848"/>
                </a:solidFill>
                <a:latin typeface="メイリオ" panose="020B0604030504040204" pitchFamily="50" charset="-128"/>
                <a:ea typeface="メイリオ" panose="020B0604030504040204" pitchFamily="50" charset="-128"/>
                <a:cs typeface="メイリオ"/>
              </a:rPr>
              <a:t>できる</a:t>
            </a:r>
            <a:endParaRPr lang="en-US" sz="1554" b="1" dirty="0">
              <a:solidFill>
                <a:srgbClr val="494848"/>
              </a:solidFill>
              <a:latin typeface="メイリオ" panose="020B0604030504040204" pitchFamily="50" charset="-128"/>
              <a:ea typeface="メイリオ" panose="020B0604030504040204" pitchFamily="50" charset="-128"/>
              <a:cs typeface="メイリオ"/>
            </a:endParaRPr>
          </a:p>
        </p:txBody>
      </p:sp>
      <p:grpSp>
        <p:nvGrpSpPr>
          <p:cNvPr id="38" name="Group 25">
            <a:extLst>
              <a:ext uri="{FF2B5EF4-FFF2-40B4-BE49-F238E27FC236}">
                <a16:creationId xmlns:a16="http://schemas.microsoft.com/office/drawing/2014/main" id="{269BA4E8-CBA1-17CF-4B27-5586E44C9042}"/>
              </a:ext>
            </a:extLst>
          </p:cNvPr>
          <p:cNvGrpSpPr/>
          <p:nvPr/>
        </p:nvGrpSpPr>
        <p:grpSpPr>
          <a:xfrm rot="5400000">
            <a:off x="5120631" y="3995552"/>
            <a:ext cx="301414" cy="601358"/>
            <a:chOff x="0" y="0"/>
            <a:chExt cx="452282" cy="902360"/>
          </a:xfrm>
        </p:grpSpPr>
        <p:sp>
          <p:nvSpPr>
            <p:cNvPr id="39" name="Freeform 26">
              <a:extLst>
                <a:ext uri="{FF2B5EF4-FFF2-40B4-BE49-F238E27FC236}">
                  <a16:creationId xmlns:a16="http://schemas.microsoft.com/office/drawing/2014/main" id="{F979CAEC-8CC8-5992-6164-138369941BE6}"/>
                </a:ext>
              </a:extLst>
            </p:cNvPr>
            <p:cNvSpPr/>
            <p:nvPr/>
          </p:nvSpPr>
          <p:spPr>
            <a:xfrm>
              <a:off x="0" y="0"/>
              <a:ext cx="452282" cy="902360"/>
            </a:xfrm>
            <a:custGeom>
              <a:avLst/>
              <a:gdLst/>
              <a:ahLst/>
              <a:cxnLst/>
              <a:rect l="l" t="t" r="r" b="b"/>
              <a:pathLst>
                <a:path w="452282" h="902360">
                  <a:moveTo>
                    <a:pt x="226141" y="0"/>
                  </a:moveTo>
                  <a:lnTo>
                    <a:pt x="452282" y="902360"/>
                  </a:lnTo>
                  <a:lnTo>
                    <a:pt x="0" y="902360"/>
                  </a:lnTo>
                  <a:lnTo>
                    <a:pt x="226141" y="0"/>
                  </a:lnTo>
                  <a:close/>
                </a:path>
              </a:pathLst>
            </a:custGeom>
            <a:solidFill>
              <a:srgbClr val="D9D9D9"/>
            </a:solid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40" name="TextBox 27">
              <a:extLst>
                <a:ext uri="{FF2B5EF4-FFF2-40B4-BE49-F238E27FC236}">
                  <a16:creationId xmlns:a16="http://schemas.microsoft.com/office/drawing/2014/main" id="{35EF9994-DB9A-78E5-055F-3AFF8481CE16}"/>
                </a:ext>
              </a:extLst>
            </p:cNvPr>
            <p:cNvSpPr txBox="1"/>
            <p:nvPr/>
          </p:nvSpPr>
          <p:spPr>
            <a:xfrm>
              <a:off x="70669" y="380853"/>
              <a:ext cx="310944" cy="457053"/>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cs typeface="メイリオ"/>
              </a:endParaRPr>
            </a:p>
          </p:txBody>
        </p:sp>
      </p:grpSp>
      <p:sp>
        <p:nvSpPr>
          <p:cNvPr id="41" name="TextBox 38">
            <a:extLst>
              <a:ext uri="{FF2B5EF4-FFF2-40B4-BE49-F238E27FC236}">
                <a16:creationId xmlns:a16="http://schemas.microsoft.com/office/drawing/2014/main" id="{5DBC0D5A-D55C-257A-51E2-CC2A6B58B8CE}"/>
              </a:ext>
            </a:extLst>
          </p:cNvPr>
          <p:cNvSpPr txBox="1"/>
          <p:nvPr/>
        </p:nvSpPr>
        <p:spPr>
          <a:xfrm>
            <a:off x="5836651" y="4017298"/>
            <a:ext cx="3788946" cy="564257"/>
          </a:xfrm>
          <a:prstGeom prst="rect">
            <a:avLst/>
          </a:prstGeom>
        </p:spPr>
        <p:txBody>
          <a:bodyPr wrap="square" lIns="0" tIns="0" rIns="0" bIns="0" rtlCol="0" anchor="t">
            <a:spAutoFit/>
          </a:bodyPr>
          <a:lstStyle/>
          <a:p>
            <a:pPr>
              <a:lnSpc>
                <a:spcPts val="2176"/>
              </a:lnSpc>
            </a:pPr>
            <a:r>
              <a:rPr lang="ja-JP" altLang="en-US" sz="1554" b="1" dirty="0">
                <a:solidFill>
                  <a:srgbClr val="494848"/>
                </a:solidFill>
                <a:latin typeface="メイリオ" panose="020B0604030504040204" pitchFamily="50" charset="-128"/>
                <a:ea typeface="メイリオ" panose="020B0604030504040204" pitchFamily="50" charset="-128"/>
                <a:cs typeface="メイリオ"/>
              </a:rPr>
              <a:t>「訪問者管理機能」により、ホームページに訪れたユーザーを一覧で見ることが可能</a:t>
            </a:r>
            <a:endParaRPr lang="en-US" sz="1554" b="1" dirty="0">
              <a:solidFill>
                <a:srgbClr val="494848"/>
              </a:solidFill>
              <a:latin typeface="メイリオ" panose="020B0604030504040204" pitchFamily="50" charset="-128"/>
              <a:ea typeface="メイリオ" panose="020B0604030504040204" pitchFamily="50" charset="-128"/>
              <a:cs typeface="メイリオ"/>
            </a:endParaRPr>
          </a:p>
        </p:txBody>
      </p:sp>
      <p:grpSp>
        <p:nvGrpSpPr>
          <p:cNvPr id="42" name="Group 25">
            <a:extLst>
              <a:ext uri="{FF2B5EF4-FFF2-40B4-BE49-F238E27FC236}">
                <a16:creationId xmlns:a16="http://schemas.microsoft.com/office/drawing/2014/main" id="{269BA4E8-CBA1-17CF-4B27-5586E44C9042}"/>
              </a:ext>
            </a:extLst>
          </p:cNvPr>
          <p:cNvGrpSpPr/>
          <p:nvPr/>
        </p:nvGrpSpPr>
        <p:grpSpPr>
          <a:xfrm rot="5400000">
            <a:off x="5120631" y="4994015"/>
            <a:ext cx="301414" cy="601358"/>
            <a:chOff x="0" y="0"/>
            <a:chExt cx="452282" cy="902360"/>
          </a:xfrm>
        </p:grpSpPr>
        <p:sp>
          <p:nvSpPr>
            <p:cNvPr id="44" name="Freeform 26">
              <a:extLst>
                <a:ext uri="{FF2B5EF4-FFF2-40B4-BE49-F238E27FC236}">
                  <a16:creationId xmlns:a16="http://schemas.microsoft.com/office/drawing/2014/main" id="{F979CAEC-8CC8-5992-6164-138369941BE6}"/>
                </a:ext>
              </a:extLst>
            </p:cNvPr>
            <p:cNvSpPr/>
            <p:nvPr/>
          </p:nvSpPr>
          <p:spPr>
            <a:xfrm>
              <a:off x="0" y="0"/>
              <a:ext cx="452282" cy="902360"/>
            </a:xfrm>
            <a:custGeom>
              <a:avLst/>
              <a:gdLst/>
              <a:ahLst/>
              <a:cxnLst/>
              <a:rect l="l" t="t" r="r" b="b"/>
              <a:pathLst>
                <a:path w="452282" h="902360">
                  <a:moveTo>
                    <a:pt x="226141" y="0"/>
                  </a:moveTo>
                  <a:lnTo>
                    <a:pt x="452282" y="902360"/>
                  </a:lnTo>
                  <a:lnTo>
                    <a:pt x="0" y="902360"/>
                  </a:lnTo>
                  <a:lnTo>
                    <a:pt x="226141" y="0"/>
                  </a:lnTo>
                  <a:close/>
                </a:path>
              </a:pathLst>
            </a:custGeom>
            <a:solidFill>
              <a:srgbClr val="D9D9D9"/>
            </a:solid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45" name="TextBox 27">
              <a:extLst>
                <a:ext uri="{FF2B5EF4-FFF2-40B4-BE49-F238E27FC236}">
                  <a16:creationId xmlns:a16="http://schemas.microsoft.com/office/drawing/2014/main" id="{35EF9994-DB9A-78E5-055F-3AFF8481CE16}"/>
                </a:ext>
              </a:extLst>
            </p:cNvPr>
            <p:cNvSpPr txBox="1"/>
            <p:nvPr/>
          </p:nvSpPr>
          <p:spPr>
            <a:xfrm>
              <a:off x="70669" y="380853"/>
              <a:ext cx="310944" cy="457053"/>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cs typeface="メイリオ"/>
              </a:endParaRPr>
            </a:p>
          </p:txBody>
        </p:sp>
      </p:grpSp>
      <p:sp>
        <p:nvSpPr>
          <p:cNvPr id="46" name="TextBox 38">
            <a:extLst>
              <a:ext uri="{FF2B5EF4-FFF2-40B4-BE49-F238E27FC236}">
                <a16:creationId xmlns:a16="http://schemas.microsoft.com/office/drawing/2014/main" id="{5DBC0D5A-D55C-257A-51E2-CC2A6B58B8CE}"/>
              </a:ext>
            </a:extLst>
          </p:cNvPr>
          <p:cNvSpPr txBox="1"/>
          <p:nvPr/>
        </p:nvSpPr>
        <p:spPr>
          <a:xfrm>
            <a:off x="5836651" y="5015761"/>
            <a:ext cx="3788946" cy="846386"/>
          </a:xfrm>
          <a:prstGeom prst="rect">
            <a:avLst/>
          </a:prstGeom>
        </p:spPr>
        <p:txBody>
          <a:bodyPr wrap="square" lIns="0" tIns="0" rIns="0" bIns="0" rtlCol="0" anchor="t">
            <a:spAutoFit/>
          </a:bodyPr>
          <a:lstStyle/>
          <a:p>
            <a:pPr>
              <a:lnSpc>
                <a:spcPts val="2176"/>
              </a:lnSpc>
            </a:pPr>
            <a:r>
              <a:rPr lang="ja-JP" altLang="en-US" sz="1554" b="1" dirty="0">
                <a:solidFill>
                  <a:srgbClr val="494848"/>
                </a:solidFill>
                <a:latin typeface="メイリオ" panose="020B0604030504040204" pitchFamily="50" charset="-128"/>
                <a:ea typeface="メイリオ" panose="020B0604030504040204" pitchFamily="50" charset="-128"/>
                <a:cs typeface="メイリオ"/>
              </a:rPr>
              <a:t>公式</a:t>
            </a:r>
            <a:r>
              <a:rPr lang="en-US" altLang="ja-JP" sz="1554" b="1" dirty="0">
                <a:solidFill>
                  <a:srgbClr val="494848"/>
                </a:solidFill>
                <a:latin typeface="メイリオ" panose="020B0604030504040204" pitchFamily="50" charset="-128"/>
                <a:ea typeface="メイリオ" panose="020B0604030504040204" pitchFamily="50" charset="-128"/>
                <a:cs typeface="メイリオ"/>
              </a:rPr>
              <a:t>LINE</a:t>
            </a:r>
            <a:r>
              <a:rPr lang="ja-JP" altLang="en-US" sz="1554" b="1" dirty="0">
                <a:solidFill>
                  <a:srgbClr val="494848"/>
                </a:solidFill>
                <a:latin typeface="メイリオ" panose="020B0604030504040204" pitchFamily="50" charset="-128"/>
                <a:ea typeface="メイリオ" panose="020B0604030504040204" pitchFamily="50" charset="-128"/>
                <a:cs typeface="メイリオ"/>
              </a:rPr>
              <a:t>とチャットボットを連携し</a:t>
            </a:r>
            <a:endParaRPr lang="en-US" altLang="ja-JP" sz="1554" b="1" dirty="0">
              <a:solidFill>
                <a:srgbClr val="494848"/>
              </a:solidFill>
              <a:latin typeface="メイリオ" panose="020B0604030504040204" pitchFamily="50" charset="-128"/>
              <a:ea typeface="メイリオ" panose="020B0604030504040204" pitchFamily="50" charset="-128"/>
              <a:cs typeface="メイリオ"/>
            </a:endParaRPr>
          </a:p>
          <a:p>
            <a:pPr>
              <a:lnSpc>
                <a:spcPts val="2176"/>
              </a:lnSpc>
            </a:pPr>
            <a:r>
              <a:rPr lang="en-US" altLang="ja-JP" sz="1554" b="1" dirty="0">
                <a:solidFill>
                  <a:srgbClr val="494848"/>
                </a:solidFill>
                <a:latin typeface="メイリオ" panose="020B0604030504040204" pitchFamily="50" charset="-128"/>
                <a:ea typeface="メイリオ" panose="020B0604030504040204" pitchFamily="50" charset="-128"/>
                <a:cs typeface="メイリオ"/>
              </a:rPr>
              <a:t>LINE</a:t>
            </a:r>
            <a:r>
              <a:rPr lang="ja-JP" altLang="en-US" sz="1554" b="1" dirty="0">
                <a:solidFill>
                  <a:srgbClr val="494848"/>
                </a:solidFill>
                <a:latin typeface="メイリオ" panose="020B0604030504040204" pitchFamily="50" charset="-128"/>
                <a:ea typeface="メイリオ" panose="020B0604030504040204" pitchFamily="50" charset="-128"/>
                <a:cs typeface="メイリオ"/>
              </a:rPr>
              <a:t>上でも同じチャットボットを活用</a:t>
            </a:r>
            <a:endParaRPr lang="en-US" altLang="ja-JP" sz="1554" b="1" dirty="0">
              <a:solidFill>
                <a:srgbClr val="494848"/>
              </a:solidFill>
              <a:latin typeface="メイリオ" panose="020B0604030504040204" pitchFamily="50" charset="-128"/>
              <a:ea typeface="メイリオ" panose="020B0604030504040204" pitchFamily="50" charset="-128"/>
              <a:cs typeface="メイリオ"/>
            </a:endParaRPr>
          </a:p>
          <a:p>
            <a:pPr>
              <a:lnSpc>
                <a:spcPts val="2176"/>
              </a:lnSpc>
            </a:pPr>
            <a:r>
              <a:rPr lang="ja-JP" altLang="en-US" sz="1554" b="1" dirty="0">
                <a:solidFill>
                  <a:srgbClr val="494848"/>
                </a:solidFill>
                <a:latin typeface="メイリオ" panose="020B0604030504040204" pitchFamily="50" charset="-128"/>
                <a:ea typeface="メイリオ" panose="020B0604030504040204" pitchFamily="50" charset="-128"/>
                <a:cs typeface="メイリオ"/>
              </a:rPr>
              <a:t>できる</a:t>
            </a:r>
            <a:endParaRPr lang="en-US" sz="1554" b="1" dirty="0">
              <a:solidFill>
                <a:srgbClr val="494848"/>
              </a:solidFill>
              <a:latin typeface="メイリオ" panose="020B0604030504040204" pitchFamily="50" charset="-128"/>
              <a:ea typeface="メイリオ" panose="020B0604030504040204" pitchFamily="50" charset="-128"/>
              <a:cs typeface="メイリオ"/>
            </a:endParaRPr>
          </a:p>
        </p:txBody>
      </p:sp>
    </p:spTree>
    <p:extLst>
      <p:ext uri="{BB962C8B-B14F-4D97-AF65-F5344CB8AC3E}">
        <p14:creationId xmlns:p14="http://schemas.microsoft.com/office/powerpoint/2010/main" val="269276659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20026D-0FAA-76C0-699F-5C95EE2044C4}"/>
            </a:ext>
          </a:extLst>
        </p:cNvPr>
        <p:cNvGrpSpPr/>
        <p:nvPr/>
      </p:nvGrpSpPr>
      <p:grpSpPr>
        <a:xfrm>
          <a:off x="0" y="0"/>
          <a:ext cx="0" cy="0"/>
          <a:chOff x="0" y="0"/>
          <a:chExt cx="0" cy="0"/>
        </a:xfrm>
      </p:grpSpPr>
      <p:sp>
        <p:nvSpPr>
          <p:cNvPr id="2" name="Google Shape;156;p7">
            <a:extLst>
              <a:ext uri="{FF2B5EF4-FFF2-40B4-BE49-F238E27FC236}">
                <a16:creationId xmlns:a16="http://schemas.microsoft.com/office/drawing/2014/main" id="{C5E2E585-BC17-9ECA-2598-27E9D406C15A}"/>
              </a:ext>
            </a:extLst>
          </p:cNvPr>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lvl="0">
              <a:buClr>
                <a:srgbClr val="002060"/>
              </a:buClr>
              <a:buSzPts val="1600"/>
            </a:pPr>
            <a:r>
              <a:rPr lang="ja-JP" altLang="en-US" sz="1600" b="1" dirty="0">
                <a:solidFill>
                  <a:srgbClr val="002060"/>
                </a:solidFill>
                <a:latin typeface="メイリオ"/>
                <a:ea typeface="メイリオ"/>
                <a:cs typeface="メイリオ"/>
                <a:sym typeface="Meiryo"/>
              </a:rPr>
              <a:t>その他 代表的な活用機能</a:t>
            </a:r>
          </a:p>
        </p:txBody>
      </p:sp>
      <p:sp>
        <p:nvSpPr>
          <p:cNvPr id="4" name="正方形/長方形 3">
            <a:extLst>
              <a:ext uri="{FF2B5EF4-FFF2-40B4-BE49-F238E27FC236}">
                <a16:creationId xmlns:a16="http://schemas.microsoft.com/office/drawing/2014/main" id="{E05B90A4-AED6-B19A-AEE0-64B5142381A5}"/>
              </a:ext>
            </a:extLst>
          </p:cNvPr>
          <p:cNvSpPr/>
          <p:nvPr/>
        </p:nvSpPr>
        <p:spPr>
          <a:xfrm>
            <a:off x="209578" y="1455366"/>
            <a:ext cx="7689926" cy="584775"/>
          </a:xfrm>
          <a:prstGeom prst="rect">
            <a:avLst/>
          </a:prstGeom>
        </p:spPr>
        <p:txBody>
          <a:bodyPr wrap="none">
            <a:spAutoFit/>
          </a:bodyPr>
          <a:lstStyle/>
          <a:p>
            <a:pPr lvl="0">
              <a:buClr>
                <a:srgbClr val="002060"/>
              </a:buClr>
              <a:buSzPts val="1600"/>
            </a:pPr>
            <a:r>
              <a:rPr lang="ja-JP" altLang="en-US" sz="1600" b="1" dirty="0">
                <a:solidFill>
                  <a:schemeClr val="tx1">
                    <a:lumMod val="65000"/>
                    <a:lumOff val="35000"/>
                  </a:schemeClr>
                </a:solidFill>
                <a:latin typeface="メイリオ"/>
                <a:ea typeface="メイリオ"/>
                <a:cs typeface="メイリオ"/>
                <a:sym typeface="Meiryo"/>
              </a:rPr>
              <a:t>「</a:t>
            </a:r>
            <a:r>
              <a:rPr lang="en-US" altLang="ja-JP" sz="1600" b="1" dirty="0">
                <a:solidFill>
                  <a:schemeClr val="tx1">
                    <a:lumMod val="65000"/>
                    <a:lumOff val="35000"/>
                  </a:schemeClr>
                </a:solidFill>
                <a:latin typeface="メイリオ"/>
                <a:ea typeface="メイリオ"/>
                <a:cs typeface="メイリオ"/>
                <a:sym typeface="Meiryo"/>
              </a:rPr>
              <a:t>LINE</a:t>
            </a:r>
            <a:r>
              <a:rPr lang="ja-JP" altLang="en-US" sz="1600" b="1" dirty="0">
                <a:solidFill>
                  <a:schemeClr val="tx1">
                    <a:lumMod val="65000"/>
                    <a:lumOff val="35000"/>
                  </a:schemeClr>
                </a:solidFill>
                <a:latin typeface="メイリオ"/>
                <a:ea typeface="メイリオ"/>
                <a:cs typeface="メイリオ"/>
                <a:sym typeface="Meiryo"/>
              </a:rPr>
              <a:t>コール</a:t>
            </a:r>
            <a:r>
              <a:rPr lang="en-US" altLang="ja-JP" sz="1600" b="1" dirty="0">
                <a:solidFill>
                  <a:schemeClr val="tx1">
                    <a:lumMod val="65000"/>
                    <a:lumOff val="35000"/>
                  </a:schemeClr>
                </a:solidFill>
                <a:latin typeface="メイリオ"/>
                <a:ea typeface="メイリオ"/>
                <a:cs typeface="メイリオ"/>
                <a:sym typeface="Meiryo"/>
              </a:rPr>
              <a:t>Plus</a:t>
            </a:r>
            <a:r>
              <a:rPr lang="ja-JP" altLang="en-US" sz="1600" b="1" dirty="0">
                <a:solidFill>
                  <a:schemeClr val="tx1">
                    <a:lumMod val="65000"/>
                    <a:lumOff val="35000"/>
                  </a:schemeClr>
                </a:solidFill>
                <a:latin typeface="メイリオ"/>
                <a:ea typeface="メイリオ"/>
                <a:cs typeface="メイリオ"/>
                <a:sym typeface="Meiryo"/>
              </a:rPr>
              <a:t>」は、</a:t>
            </a:r>
            <a:r>
              <a:rPr lang="en-US" altLang="ja-JP" sz="1600" b="1" dirty="0">
                <a:solidFill>
                  <a:schemeClr val="tx1">
                    <a:lumMod val="65000"/>
                    <a:lumOff val="35000"/>
                  </a:schemeClr>
                </a:solidFill>
                <a:latin typeface="メイリオ"/>
                <a:ea typeface="メイリオ"/>
                <a:cs typeface="メイリオ"/>
                <a:sym typeface="Meiryo"/>
              </a:rPr>
              <a:t>LINE</a:t>
            </a:r>
            <a:r>
              <a:rPr lang="ja-JP" altLang="en-US" sz="1600" b="1" dirty="0">
                <a:solidFill>
                  <a:schemeClr val="tx1">
                    <a:lumMod val="65000"/>
                    <a:lumOff val="35000"/>
                  </a:schemeClr>
                </a:solidFill>
                <a:latin typeface="メイリオ"/>
                <a:ea typeface="メイリオ"/>
                <a:cs typeface="メイリオ"/>
                <a:sym typeface="Meiryo"/>
              </a:rPr>
              <a:t>公式アカウントの有料オプション機能で、</a:t>
            </a:r>
            <a:endParaRPr lang="en-US" altLang="ja-JP" sz="1600" b="1" dirty="0">
              <a:solidFill>
                <a:schemeClr val="tx1">
                  <a:lumMod val="65000"/>
                  <a:lumOff val="35000"/>
                </a:schemeClr>
              </a:solidFill>
              <a:latin typeface="メイリオ"/>
              <a:ea typeface="メイリオ"/>
              <a:cs typeface="メイリオ"/>
              <a:sym typeface="Meiryo"/>
            </a:endParaRPr>
          </a:p>
          <a:p>
            <a:pPr lvl="0">
              <a:buClr>
                <a:srgbClr val="002060"/>
              </a:buClr>
              <a:buSzPts val="1600"/>
            </a:pPr>
            <a:r>
              <a:rPr lang="en-US" altLang="ja-JP" sz="1600" b="1" dirty="0">
                <a:solidFill>
                  <a:schemeClr val="tx1">
                    <a:lumMod val="65000"/>
                    <a:lumOff val="35000"/>
                  </a:schemeClr>
                </a:solidFill>
                <a:latin typeface="メイリオ"/>
                <a:ea typeface="メイリオ"/>
                <a:cs typeface="メイリオ"/>
                <a:sym typeface="Meiryo"/>
              </a:rPr>
              <a:t>LINE</a:t>
            </a:r>
            <a:r>
              <a:rPr lang="ja-JP" altLang="en-US" sz="1600" b="1" dirty="0">
                <a:solidFill>
                  <a:schemeClr val="tx1">
                    <a:lumMod val="65000"/>
                    <a:lumOff val="35000"/>
                  </a:schemeClr>
                </a:solidFill>
                <a:latin typeface="メイリオ"/>
                <a:ea typeface="メイリオ"/>
                <a:cs typeface="メイリオ"/>
                <a:sym typeface="Meiryo"/>
              </a:rPr>
              <a:t>公式アカウントからユーザーがカスタマーサポートに電話できるサービス。</a:t>
            </a:r>
            <a:endParaRPr lang="en-US" altLang="ja-JP" sz="1600" b="1" dirty="0">
              <a:solidFill>
                <a:schemeClr val="tx1">
                  <a:lumMod val="65000"/>
                  <a:lumOff val="35000"/>
                </a:schemeClr>
              </a:solidFill>
              <a:latin typeface="メイリオ"/>
              <a:ea typeface="メイリオ"/>
              <a:cs typeface="メイリオ"/>
              <a:sym typeface="Meiryo"/>
            </a:endParaRPr>
          </a:p>
        </p:txBody>
      </p:sp>
      <p:sp>
        <p:nvSpPr>
          <p:cNvPr id="5" name="正方形/長方形 4">
            <a:extLst>
              <a:ext uri="{FF2B5EF4-FFF2-40B4-BE49-F238E27FC236}">
                <a16:creationId xmlns:a16="http://schemas.microsoft.com/office/drawing/2014/main" id="{381E56F1-6DB4-770A-F040-6633F4E7E2B0}"/>
              </a:ext>
            </a:extLst>
          </p:cNvPr>
          <p:cNvSpPr/>
          <p:nvPr/>
        </p:nvSpPr>
        <p:spPr>
          <a:xfrm>
            <a:off x="295583" y="823033"/>
            <a:ext cx="2541320" cy="485775"/>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600" b="1" dirty="0">
                <a:latin typeface="メイリオ" panose="020B0604030504040204" pitchFamily="50" charset="-128"/>
                <a:ea typeface="メイリオ" panose="020B0604030504040204" pitchFamily="50" charset="-128"/>
                <a:cs typeface="メイリオ"/>
              </a:rPr>
              <a:t>【</a:t>
            </a:r>
            <a:r>
              <a:rPr lang="en-US" altLang="ja-JP" sz="1600" b="1" dirty="0" err="1">
                <a:latin typeface="メイリオ" panose="020B0604030504040204" pitchFamily="50" charset="-128"/>
                <a:ea typeface="メイリオ" panose="020B0604030504040204" pitchFamily="50" charset="-128"/>
                <a:cs typeface="メイリオ"/>
              </a:rPr>
              <a:t>LINE】Call</a:t>
            </a:r>
            <a:r>
              <a:rPr lang="en-US" altLang="ja-JP" sz="1600" b="1" dirty="0">
                <a:latin typeface="メイリオ" panose="020B0604030504040204" pitchFamily="50" charset="-128"/>
                <a:ea typeface="メイリオ" panose="020B0604030504040204" pitchFamily="50" charset="-128"/>
                <a:cs typeface="メイリオ"/>
              </a:rPr>
              <a:t> Plus</a:t>
            </a:r>
          </a:p>
        </p:txBody>
      </p:sp>
      <p:pic>
        <p:nvPicPr>
          <p:cNvPr id="6" name="図 5">
            <a:extLst>
              <a:ext uri="{FF2B5EF4-FFF2-40B4-BE49-F238E27FC236}">
                <a16:creationId xmlns:a16="http://schemas.microsoft.com/office/drawing/2014/main" id="{A4DCE6F0-EC2D-892A-88B0-8516B660CB73}"/>
              </a:ext>
            </a:extLst>
          </p:cNvPr>
          <p:cNvPicPr>
            <a:picLocks noChangeAspect="1"/>
          </p:cNvPicPr>
          <p:nvPr/>
        </p:nvPicPr>
        <p:blipFill>
          <a:blip r:embed="rId2"/>
          <a:stretch>
            <a:fillRect/>
          </a:stretch>
        </p:blipFill>
        <p:spPr>
          <a:xfrm>
            <a:off x="668697" y="2287502"/>
            <a:ext cx="8332001" cy="2953508"/>
          </a:xfrm>
          <a:prstGeom prst="rect">
            <a:avLst/>
          </a:prstGeom>
        </p:spPr>
      </p:pic>
      <p:sp>
        <p:nvSpPr>
          <p:cNvPr id="7" name="角丸四角形 7">
            <a:extLst>
              <a:ext uri="{FF2B5EF4-FFF2-40B4-BE49-F238E27FC236}">
                <a16:creationId xmlns:a16="http://schemas.microsoft.com/office/drawing/2014/main" id="{D9E83488-E9DE-A2BA-7266-DA0D65822773}"/>
              </a:ext>
            </a:extLst>
          </p:cNvPr>
          <p:cNvSpPr/>
          <p:nvPr/>
        </p:nvSpPr>
        <p:spPr>
          <a:xfrm>
            <a:off x="548883" y="5241010"/>
            <a:ext cx="8720952" cy="1245629"/>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lang="ja-JP" altLang="en-US" sz="1400" b="0" i="0" u="none" strike="noStrike" kern="0" cap="none" spc="0" normalizeH="0" baseline="0" noProof="0">
              <a:ln>
                <a:noFill/>
              </a:ln>
              <a:solidFill>
                <a:srgbClr val="FFFFFF"/>
              </a:solidFill>
              <a:effectLst/>
              <a:uLnTx/>
              <a:uFillTx/>
              <a:latin typeface="メイリオ"/>
              <a:ea typeface="メイリオ" panose="020B0600070205080204" pitchFamily="50" charset="-128"/>
              <a:cs typeface="メイリオ"/>
              <a:sym typeface="Arial"/>
            </a:endParaRPr>
          </a:p>
        </p:txBody>
      </p:sp>
      <p:sp>
        <p:nvSpPr>
          <p:cNvPr id="8" name="正方形/長方形 7">
            <a:extLst>
              <a:ext uri="{FF2B5EF4-FFF2-40B4-BE49-F238E27FC236}">
                <a16:creationId xmlns:a16="http://schemas.microsoft.com/office/drawing/2014/main" id="{71E1C361-AEEF-C8A2-A1E4-44AF984285D5}"/>
              </a:ext>
            </a:extLst>
          </p:cNvPr>
          <p:cNvSpPr/>
          <p:nvPr/>
        </p:nvSpPr>
        <p:spPr>
          <a:xfrm>
            <a:off x="4642710" y="6545362"/>
            <a:ext cx="5046574" cy="246221"/>
          </a:xfrm>
          <a:prstGeom prst="rect">
            <a:avLst/>
          </a:prstGeom>
        </p:spPr>
        <p:txBody>
          <a:bodyPr wrap="none">
            <a:spAutoFit/>
          </a:bodyPr>
          <a:lstStyle/>
          <a:p>
            <a:pPr lvl="0">
              <a:buClr>
                <a:srgbClr val="002060"/>
              </a:buClr>
              <a:buSzPts val="1600"/>
            </a:pPr>
            <a:r>
              <a:rPr lang="ja-JP" altLang="en-US" sz="1000" b="1" dirty="0">
                <a:solidFill>
                  <a:schemeClr val="tx1">
                    <a:lumMod val="65000"/>
                    <a:lumOff val="35000"/>
                  </a:schemeClr>
                </a:solidFill>
                <a:latin typeface="メイリオ"/>
                <a:ea typeface="メイリオ"/>
                <a:cs typeface="メイリオ"/>
                <a:sym typeface="Meiryo"/>
              </a:rPr>
              <a:t>引用：</a:t>
            </a:r>
            <a:r>
              <a:rPr lang="en-US" altLang="ja-JP" sz="1000" b="1" dirty="0">
                <a:solidFill>
                  <a:schemeClr val="tx1">
                    <a:lumMod val="65000"/>
                    <a:lumOff val="35000"/>
                  </a:schemeClr>
                </a:solidFill>
                <a:latin typeface="メイリオ"/>
                <a:ea typeface="メイリオ"/>
                <a:cs typeface="メイリオ"/>
                <a:sym typeface="Meiryo"/>
              </a:rPr>
              <a:t>https://prtimes.jp/main/html/rd/p/000003920.000001594.html</a:t>
            </a:r>
          </a:p>
        </p:txBody>
      </p:sp>
      <p:sp>
        <p:nvSpPr>
          <p:cNvPr id="9" name="正方形/長方形 8">
            <a:extLst>
              <a:ext uri="{FF2B5EF4-FFF2-40B4-BE49-F238E27FC236}">
                <a16:creationId xmlns:a16="http://schemas.microsoft.com/office/drawing/2014/main" id="{F798F716-4AF6-5FA7-044B-E98F33F1C04B}"/>
              </a:ext>
            </a:extLst>
          </p:cNvPr>
          <p:cNvSpPr/>
          <p:nvPr/>
        </p:nvSpPr>
        <p:spPr>
          <a:xfrm>
            <a:off x="859212" y="5571436"/>
            <a:ext cx="7989495" cy="584775"/>
          </a:xfrm>
          <a:prstGeom prst="rect">
            <a:avLst/>
          </a:prstGeom>
        </p:spPr>
        <p:txBody>
          <a:bodyPr wrap="none">
            <a:spAutoFit/>
          </a:bodyPr>
          <a:lstStyle/>
          <a:p>
            <a:pPr lvl="0">
              <a:buClr>
                <a:srgbClr val="002060"/>
              </a:buClr>
              <a:buSzPts val="1600"/>
            </a:pPr>
            <a:r>
              <a:rPr lang="ja-JP" altLang="en-US" sz="1600" b="1" dirty="0">
                <a:solidFill>
                  <a:schemeClr val="tx1">
                    <a:lumMod val="65000"/>
                    <a:lumOff val="35000"/>
                  </a:schemeClr>
                </a:solidFill>
                <a:latin typeface="メイリオ"/>
                <a:ea typeface="メイリオ"/>
                <a:cs typeface="メイリオ"/>
                <a:sym typeface="Meiryo"/>
              </a:rPr>
              <a:t>さらに「</a:t>
            </a:r>
            <a:r>
              <a:rPr lang="en-US" altLang="ja-JP" sz="1600" b="1" dirty="0">
                <a:solidFill>
                  <a:schemeClr val="tx1">
                    <a:lumMod val="65000"/>
                    <a:lumOff val="35000"/>
                  </a:schemeClr>
                </a:solidFill>
                <a:latin typeface="メイリオ"/>
                <a:ea typeface="メイリオ"/>
                <a:cs typeface="メイリオ"/>
                <a:sym typeface="Meiryo"/>
              </a:rPr>
              <a:t>LINE Ai Call</a:t>
            </a:r>
            <a:r>
              <a:rPr lang="ja-JP" altLang="en-US" sz="1600" b="1" dirty="0">
                <a:solidFill>
                  <a:schemeClr val="tx1">
                    <a:lumMod val="65000"/>
                    <a:lumOff val="35000"/>
                  </a:schemeClr>
                </a:solidFill>
                <a:latin typeface="メイリオ"/>
                <a:ea typeface="メイリオ"/>
                <a:cs typeface="メイリオ"/>
                <a:sym typeface="Meiryo"/>
              </a:rPr>
              <a:t>」を活用するとユーザーの要望に対して</a:t>
            </a:r>
            <a:r>
              <a:rPr lang="en-US" altLang="ja-JP" sz="1600" b="1" dirty="0">
                <a:solidFill>
                  <a:schemeClr val="tx1">
                    <a:lumMod val="65000"/>
                    <a:lumOff val="35000"/>
                  </a:schemeClr>
                </a:solidFill>
                <a:latin typeface="メイリオ"/>
                <a:ea typeface="メイリオ"/>
                <a:cs typeface="メイリオ"/>
                <a:sym typeface="Meiryo"/>
              </a:rPr>
              <a:t>AI</a:t>
            </a:r>
            <a:r>
              <a:rPr lang="ja-JP" altLang="en-US" sz="1600" b="1" dirty="0">
                <a:solidFill>
                  <a:schemeClr val="tx1">
                    <a:lumMod val="65000"/>
                    <a:lumOff val="35000"/>
                  </a:schemeClr>
                </a:solidFill>
                <a:latin typeface="メイリオ"/>
                <a:ea typeface="メイリオ"/>
                <a:cs typeface="メイリオ"/>
                <a:sym typeface="Meiryo"/>
              </a:rPr>
              <a:t>による自然な</a:t>
            </a:r>
            <a:endParaRPr lang="en-US" altLang="ja-JP" sz="1600" b="1" dirty="0">
              <a:solidFill>
                <a:schemeClr val="tx1">
                  <a:lumMod val="65000"/>
                  <a:lumOff val="35000"/>
                </a:schemeClr>
              </a:solidFill>
              <a:latin typeface="メイリオ"/>
              <a:ea typeface="メイリオ"/>
              <a:cs typeface="メイリオ"/>
              <a:sym typeface="Meiryo"/>
            </a:endParaRPr>
          </a:p>
          <a:p>
            <a:pPr lvl="0">
              <a:buClr>
                <a:srgbClr val="002060"/>
              </a:buClr>
              <a:buSzPts val="1600"/>
            </a:pPr>
            <a:r>
              <a:rPr lang="ja-JP" altLang="en-US" sz="1600" b="1" dirty="0">
                <a:solidFill>
                  <a:schemeClr val="tx1">
                    <a:lumMod val="65000"/>
                    <a:lumOff val="35000"/>
                  </a:schemeClr>
                </a:solidFill>
                <a:latin typeface="メイリオ"/>
                <a:ea typeface="メイリオ"/>
                <a:cs typeface="メイリオ"/>
                <a:sym typeface="Meiryo"/>
              </a:rPr>
              <a:t>対話応答が可能に。要件に応じて</a:t>
            </a:r>
            <a:r>
              <a:rPr lang="en-US" altLang="ja-JP" sz="1600" b="1" dirty="0">
                <a:solidFill>
                  <a:schemeClr val="tx1">
                    <a:lumMod val="65000"/>
                    <a:lumOff val="35000"/>
                  </a:schemeClr>
                </a:solidFill>
                <a:latin typeface="メイリオ"/>
                <a:ea typeface="メイリオ"/>
                <a:cs typeface="メイリオ"/>
                <a:sym typeface="Meiryo"/>
              </a:rPr>
              <a:t>Ai</a:t>
            </a:r>
            <a:r>
              <a:rPr lang="ja-JP" altLang="en-US" sz="1600" b="1" dirty="0">
                <a:solidFill>
                  <a:schemeClr val="tx1">
                    <a:lumMod val="65000"/>
                    <a:lumOff val="35000"/>
                  </a:schemeClr>
                </a:solidFill>
                <a:latin typeface="メイリオ"/>
                <a:ea typeface="メイリオ"/>
                <a:cs typeface="メイリオ"/>
                <a:sym typeface="Meiryo"/>
              </a:rPr>
              <a:t>と有人オペレータの振り分け業務効率化を支援。</a:t>
            </a:r>
            <a:endParaRPr lang="en-US" altLang="ja-JP" sz="1600" b="1" dirty="0">
              <a:solidFill>
                <a:schemeClr val="tx1">
                  <a:lumMod val="65000"/>
                  <a:lumOff val="35000"/>
                </a:schemeClr>
              </a:solidFill>
              <a:latin typeface="メイリオ"/>
              <a:ea typeface="メイリオ"/>
              <a:cs typeface="メイリオ"/>
              <a:sym typeface="Meiryo"/>
            </a:endParaRPr>
          </a:p>
        </p:txBody>
      </p:sp>
    </p:spTree>
    <p:extLst>
      <p:ext uri="{BB962C8B-B14F-4D97-AF65-F5344CB8AC3E}">
        <p14:creationId xmlns:p14="http://schemas.microsoft.com/office/powerpoint/2010/main" val="252455410"/>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11520D-5D7C-2BDD-908B-6251C4BD5729}"/>
            </a:ext>
          </a:extLst>
        </p:cNvPr>
        <p:cNvGrpSpPr/>
        <p:nvPr/>
      </p:nvGrpSpPr>
      <p:grpSpPr>
        <a:xfrm>
          <a:off x="0" y="0"/>
          <a:ext cx="0" cy="0"/>
          <a:chOff x="0" y="0"/>
          <a:chExt cx="0" cy="0"/>
        </a:xfrm>
      </p:grpSpPr>
      <p:sp>
        <p:nvSpPr>
          <p:cNvPr id="2" name="Google Shape;156;p7">
            <a:extLst>
              <a:ext uri="{FF2B5EF4-FFF2-40B4-BE49-F238E27FC236}">
                <a16:creationId xmlns:a16="http://schemas.microsoft.com/office/drawing/2014/main" id="{D9975C92-DB69-EFCA-815F-DEDCC99A793F}"/>
              </a:ext>
            </a:extLst>
          </p:cNvPr>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lvl="0">
              <a:buClr>
                <a:srgbClr val="002060"/>
              </a:buClr>
              <a:buSzPts val="1600"/>
            </a:pPr>
            <a:r>
              <a:rPr lang="ja-JP" altLang="en-US" sz="1600" b="1" dirty="0">
                <a:solidFill>
                  <a:srgbClr val="002060"/>
                </a:solidFill>
                <a:latin typeface="メイリオ"/>
                <a:ea typeface="メイリオ"/>
                <a:cs typeface="メイリオ"/>
                <a:sym typeface="Meiryo"/>
              </a:rPr>
              <a:t>その他 代表的な活用機能</a:t>
            </a:r>
          </a:p>
        </p:txBody>
      </p:sp>
      <p:sp>
        <p:nvSpPr>
          <p:cNvPr id="5" name="正方形/長方形 4">
            <a:extLst>
              <a:ext uri="{FF2B5EF4-FFF2-40B4-BE49-F238E27FC236}">
                <a16:creationId xmlns:a16="http://schemas.microsoft.com/office/drawing/2014/main" id="{B925A5A4-A739-9AD7-5D18-2E4781D36898}"/>
              </a:ext>
            </a:extLst>
          </p:cNvPr>
          <p:cNvSpPr/>
          <p:nvPr/>
        </p:nvSpPr>
        <p:spPr>
          <a:xfrm>
            <a:off x="295583" y="823033"/>
            <a:ext cx="2541320" cy="485775"/>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600" b="1" dirty="0">
                <a:latin typeface="メイリオ" panose="020B0604030504040204" pitchFamily="50" charset="-128"/>
                <a:ea typeface="メイリオ" panose="020B0604030504040204" pitchFamily="50" charset="-128"/>
                <a:cs typeface="メイリオ"/>
              </a:rPr>
              <a:t>LINE</a:t>
            </a:r>
            <a:r>
              <a:rPr lang="ja-JP" altLang="en-US" sz="1600" b="1" dirty="0">
                <a:latin typeface="メイリオ" panose="020B0604030504040204" pitchFamily="50" charset="-128"/>
                <a:ea typeface="メイリオ" panose="020B0604030504040204" pitchFamily="50" charset="-128"/>
                <a:cs typeface="メイリオ"/>
              </a:rPr>
              <a:t>でログイン</a:t>
            </a:r>
            <a:endParaRPr lang="en-US" altLang="ja-JP" sz="1600" b="1" dirty="0">
              <a:latin typeface="メイリオ" panose="020B0604030504040204" pitchFamily="50" charset="-128"/>
              <a:ea typeface="メイリオ" panose="020B0604030504040204" pitchFamily="50" charset="-128"/>
              <a:cs typeface="メイリオ"/>
            </a:endParaRPr>
          </a:p>
        </p:txBody>
      </p:sp>
      <p:sp>
        <p:nvSpPr>
          <p:cNvPr id="8" name="正方形/長方形 7">
            <a:extLst>
              <a:ext uri="{FF2B5EF4-FFF2-40B4-BE49-F238E27FC236}">
                <a16:creationId xmlns:a16="http://schemas.microsoft.com/office/drawing/2014/main" id="{7C64DE5F-370C-8EB5-6D0C-7DDEB12A3E16}"/>
              </a:ext>
            </a:extLst>
          </p:cNvPr>
          <p:cNvSpPr/>
          <p:nvPr/>
        </p:nvSpPr>
        <p:spPr>
          <a:xfrm>
            <a:off x="4642710" y="6545362"/>
            <a:ext cx="5046574" cy="246221"/>
          </a:xfrm>
          <a:prstGeom prst="rect">
            <a:avLst/>
          </a:prstGeom>
        </p:spPr>
        <p:txBody>
          <a:bodyPr wrap="none">
            <a:spAutoFit/>
          </a:bodyPr>
          <a:lstStyle/>
          <a:p>
            <a:pPr lvl="0">
              <a:buClr>
                <a:srgbClr val="002060"/>
              </a:buClr>
              <a:buSzPts val="1600"/>
            </a:pPr>
            <a:r>
              <a:rPr lang="ja-JP" altLang="en-US" sz="1000" b="1" dirty="0">
                <a:solidFill>
                  <a:schemeClr val="tx1">
                    <a:lumMod val="65000"/>
                    <a:lumOff val="35000"/>
                  </a:schemeClr>
                </a:solidFill>
                <a:latin typeface="メイリオ"/>
                <a:ea typeface="メイリオ"/>
                <a:cs typeface="メイリオ"/>
                <a:sym typeface="Meiryo"/>
              </a:rPr>
              <a:t>引用：</a:t>
            </a:r>
            <a:r>
              <a:rPr lang="en-US" altLang="ja-JP" sz="1000" b="1" dirty="0">
                <a:solidFill>
                  <a:schemeClr val="tx1">
                    <a:lumMod val="65000"/>
                    <a:lumOff val="35000"/>
                  </a:schemeClr>
                </a:solidFill>
                <a:latin typeface="メイリオ"/>
                <a:ea typeface="メイリオ"/>
                <a:cs typeface="メイリオ"/>
                <a:sym typeface="Meiryo"/>
              </a:rPr>
              <a:t>https://prtimes.jp/main/html/rd/p/000003920.000001594.html</a:t>
            </a:r>
          </a:p>
        </p:txBody>
      </p:sp>
      <p:pic>
        <p:nvPicPr>
          <p:cNvPr id="3" name="図 2">
            <a:extLst>
              <a:ext uri="{FF2B5EF4-FFF2-40B4-BE49-F238E27FC236}">
                <a16:creationId xmlns:a16="http://schemas.microsoft.com/office/drawing/2014/main" id="{2F4170E7-BAC4-FD12-01C2-903FF75F192F}"/>
              </a:ext>
            </a:extLst>
          </p:cNvPr>
          <p:cNvPicPr>
            <a:picLocks noChangeAspect="1"/>
          </p:cNvPicPr>
          <p:nvPr/>
        </p:nvPicPr>
        <p:blipFill>
          <a:blip r:embed="rId2"/>
          <a:stretch>
            <a:fillRect/>
          </a:stretch>
        </p:blipFill>
        <p:spPr>
          <a:xfrm>
            <a:off x="414007" y="1995020"/>
            <a:ext cx="9077986" cy="4550342"/>
          </a:xfrm>
          <a:prstGeom prst="rect">
            <a:avLst/>
          </a:prstGeom>
        </p:spPr>
      </p:pic>
      <p:sp>
        <p:nvSpPr>
          <p:cNvPr id="4" name="正方形/長方形 3">
            <a:extLst>
              <a:ext uri="{FF2B5EF4-FFF2-40B4-BE49-F238E27FC236}">
                <a16:creationId xmlns:a16="http://schemas.microsoft.com/office/drawing/2014/main" id="{33EC1AF8-7A08-D8F6-3DC4-3EBE18410E78}"/>
              </a:ext>
            </a:extLst>
          </p:cNvPr>
          <p:cNvSpPr/>
          <p:nvPr/>
        </p:nvSpPr>
        <p:spPr>
          <a:xfrm>
            <a:off x="209578" y="1455366"/>
            <a:ext cx="8925841" cy="584775"/>
          </a:xfrm>
          <a:prstGeom prst="rect">
            <a:avLst/>
          </a:prstGeom>
        </p:spPr>
        <p:txBody>
          <a:bodyPr wrap="none">
            <a:spAutoFit/>
          </a:bodyPr>
          <a:lstStyle/>
          <a:p>
            <a:pPr lvl="0">
              <a:buClr>
                <a:srgbClr val="002060"/>
              </a:buClr>
              <a:buSzPts val="1600"/>
            </a:pPr>
            <a:r>
              <a:rPr lang="ja-JP" altLang="en-US" sz="1600" b="1" dirty="0">
                <a:solidFill>
                  <a:schemeClr val="tx1">
                    <a:lumMod val="65000"/>
                    <a:lumOff val="35000"/>
                  </a:schemeClr>
                </a:solidFill>
                <a:latin typeface="メイリオ"/>
                <a:ea typeface="メイリオ"/>
                <a:cs typeface="メイリオ"/>
                <a:sym typeface="Meiryo"/>
              </a:rPr>
              <a:t>「</a:t>
            </a:r>
            <a:r>
              <a:rPr lang="en-US" altLang="ja-JP" sz="1600" b="1" dirty="0">
                <a:solidFill>
                  <a:schemeClr val="tx1">
                    <a:lumMod val="65000"/>
                    <a:lumOff val="35000"/>
                  </a:schemeClr>
                </a:solidFill>
                <a:latin typeface="メイリオ"/>
                <a:ea typeface="メイリオ"/>
                <a:cs typeface="メイリオ"/>
                <a:sym typeface="Meiryo"/>
              </a:rPr>
              <a:t>LINE</a:t>
            </a:r>
            <a:r>
              <a:rPr lang="ja-JP" altLang="en-US" sz="1600" b="1" dirty="0">
                <a:solidFill>
                  <a:schemeClr val="tx1">
                    <a:lumMod val="65000"/>
                    <a:lumOff val="35000"/>
                  </a:schemeClr>
                </a:solidFill>
                <a:latin typeface="メイリオ"/>
                <a:ea typeface="メイリオ"/>
                <a:cs typeface="メイリオ"/>
                <a:sym typeface="Meiryo"/>
              </a:rPr>
              <a:t>でログイン」は、</a:t>
            </a:r>
            <a:r>
              <a:rPr lang="en-US" altLang="ja-JP" sz="1600" b="1" dirty="0">
                <a:solidFill>
                  <a:schemeClr val="tx1">
                    <a:lumMod val="65000"/>
                    <a:lumOff val="35000"/>
                  </a:schemeClr>
                </a:solidFill>
                <a:latin typeface="メイリオ"/>
                <a:ea typeface="メイリオ"/>
                <a:cs typeface="メイリオ"/>
                <a:sym typeface="Meiryo"/>
              </a:rPr>
              <a:t>LINE</a:t>
            </a:r>
            <a:r>
              <a:rPr lang="ja-JP" altLang="en-US" sz="1600" b="1" dirty="0">
                <a:solidFill>
                  <a:schemeClr val="tx1">
                    <a:lumMod val="65000"/>
                    <a:lumOff val="35000"/>
                  </a:schemeClr>
                </a:solidFill>
                <a:latin typeface="メイリオ"/>
                <a:ea typeface="メイリオ"/>
                <a:cs typeface="メイリオ"/>
                <a:sym typeface="Meiryo"/>
              </a:rPr>
              <a:t>上のユーザー情報を活用して</a:t>
            </a:r>
            <a:r>
              <a:rPr lang="en-US" altLang="ja-JP" sz="1600" b="1" dirty="0">
                <a:solidFill>
                  <a:schemeClr val="tx1">
                    <a:lumMod val="65000"/>
                    <a:lumOff val="35000"/>
                  </a:schemeClr>
                </a:solidFill>
                <a:latin typeface="メイリオ"/>
                <a:ea typeface="メイリオ"/>
                <a:cs typeface="メイリオ"/>
                <a:sym typeface="Meiryo"/>
              </a:rPr>
              <a:t>WEB</a:t>
            </a:r>
            <a:r>
              <a:rPr lang="ja-JP" altLang="en-US" sz="1600" b="1" dirty="0">
                <a:solidFill>
                  <a:schemeClr val="tx1">
                    <a:lumMod val="65000"/>
                    <a:lumOff val="35000"/>
                  </a:schemeClr>
                </a:solidFill>
                <a:latin typeface="メイリオ"/>
                <a:ea typeface="メイリオ"/>
                <a:cs typeface="メイリオ"/>
                <a:sym typeface="Meiryo"/>
              </a:rPr>
              <a:t>サイト登録が出来る仕組み。</a:t>
            </a:r>
            <a:endParaRPr lang="en-US" altLang="ja-JP" sz="1600" b="1" dirty="0">
              <a:solidFill>
                <a:schemeClr val="tx1">
                  <a:lumMod val="65000"/>
                  <a:lumOff val="35000"/>
                </a:schemeClr>
              </a:solidFill>
              <a:latin typeface="メイリオ"/>
              <a:ea typeface="メイリオ"/>
              <a:cs typeface="メイリオ"/>
              <a:sym typeface="Meiryo"/>
            </a:endParaRPr>
          </a:p>
          <a:p>
            <a:pPr lvl="0">
              <a:buClr>
                <a:srgbClr val="002060"/>
              </a:buClr>
              <a:buSzPts val="1600"/>
            </a:pPr>
            <a:r>
              <a:rPr lang="en-US" altLang="ja-JP" sz="1600" b="1" dirty="0">
                <a:solidFill>
                  <a:schemeClr val="tx1">
                    <a:lumMod val="65000"/>
                    <a:lumOff val="35000"/>
                  </a:schemeClr>
                </a:solidFill>
                <a:latin typeface="メイリオ"/>
                <a:ea typeface="メイリオ"/>
                <a:cs typeface="メイリオ"/>
                <a:sym typeface="Meiryo"/>
              </a:rPr>
              <a:t>ID</a:t>
            </a:r>
            <a:r>
              <a:rPr lang="ja-JP" altLang="en-US" sz="1600" b="1" dirty="0">
                <a:solidFill>
                  <a:schemeClr val="tx1">
                    <a:lumMod val="65000"/>
                    <a:lumOff val="35000"/>
                  </a:schemeClr>
                </a:solidFill>
                <a:latin typeface="メイリオ"/>
                <a:ea typeface="メイリオ"/>
                <a:cs typeface="メイリオ"/>
                <a:sym typeface="Meiryo"/>
              </a:rPr>
              <a:t>連携を完了することにより、サービス</a:t>
            </a:r>
            <a:r>
              <a:rPr lang="en-US" altLang="ja-JP" sz="1600" b="1" dirty="0">
                <a:solidFill>
                  <a:schemeClr val="tx1">
                    <a:lumMod val="65000"/>
                    <a:lumOff val="35000"/>
                  </a:schemeClr>
                </a:solidFill>
                <a:latin typeface="メイリオ"/>
                <a:ea typeface="メイリオ"/>
                <a:cs typeface="メイリオ"/>
                <a:sym typeface="Meiryo"/>
              </a:rPr>
              <a:t>(WEB) </a:t>
            </a:r>
            <a:r>
              <a:rPr lang="ja-JP" altLang="en-US" sz="1600" b="1" dirty="0">
                <a:solidFill>
                  <a:schemeClr val="tx1">
                    <a:lumMod val="65000"/>
                    <a:lumOff val="35000"/>
                  </a:schemeClr>
                </a:solidFill>
                <a:latin typeface="メイリオ"/>
                <a:ea typeface="メイリオ"/>
                <a:cs typeface="メイリオ"/>
                <a:sym typeface="Meiryo"/>
              </a:rPr>
              <a:t>⇔ </a:t>
            </a:r>
            <a:r>
              <a:rPr lang="en-US" altLang="ja-JP" sz="1600" b="1" dirty="0">
                <a:solidFill>
                  <a:schemeClr val="tx1">
                    <a:lumMod val="65000"/>
                    <a:lumOff val="35000"/>
                  </a:schemeClr>
                </a:solidFill>
                <a:latin typeface="メイリオ"/>
                <a:ea typeface="メイリオ"/>
                <a:cs typeface="メイリオ"/>
                <a:sym typeface="Meiryo"/>
              </a:rPr>
              <a:t>LINE </a:t>
            </a:r>
            <a:r>
              <a:rPr lang="ja-JP" altLang="en-US" sz="1600" b="1" dirty="0">
                <a:solidFill>
                  <a:schemeClr val="tx1">
                    <a:lumMod val="65000"/>
                    <a:lumOff val="35000"/>
                  </a:schemeClr>
                </a:solidFill>
                <a:latin typeface="メイリオ"/>
                <a:ea typeface="メイリオ"/>
                <a:cs typeface="メイリオ"/>
                <a:sym typeface="Meiryo"/>
              </a:rPr>
              <a:t>での効果的なメッセージが可能に。</a:t>
            </a:r>
            <a:endParaRPr lang="en-US" altLang="ja-JP" sz="1600" b="1" dirty="0">
              <a:solidFill>
                <a:schemeClr val="tx1">
                  <a:lumMod val="65000"/>
                  <a:lumOff val="35000"/>
                </a:schemeClr>
              </a:solidFill>
              <a:latin typeface="メイリオ"/>
              <a:ea typeface="メイリオ"/>
              <a:cs typeface="メイリオ"/>
              <a:sym typeface="Meiryo"/>
            </a:endParaRPr>
          </a:p>
        </p:txBody>
      </p:sp>
    </p:spTree>
    <p:extLst>
      <p:ext uri="{BB962C8B-B14F-4D97-AF65-F5344CB8AC3E}">
        <p14:creationId xmlns:p14="http://schemas.microsoft.com/office/powerpoint/2010/main" val="4194068336"/>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752;p28">
            <a:extLst>
              <a:ext uri="{FF2B5EF4-FFF2-40B4-BE49-F238E27FC236}">
                <a16:creationId xmlns:a16="http://schemas.microsoft.com/office/drawing/2014/main" id="{E371F4F6-3F93-7830-595E-799AA69EA971}"/>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提供施策について</a:t>
            </a:r>
          </a:p>
        </p:txBody>
      </p:sp>
      <p:sp>
        <p:nvSpPr>
          <p:cNvPr id="2" name="角丸四角形 8">
            <a:extLst>
              <a:ext uri="{FF2B5EF4-FFF2-40B4-BE49-F238E27FC236}">
                <a16:creationId xmlns:a16="http://schemas.microsoft.com/office/drawing/2014/main" id="{FD5318E5-8B5E-2D7D-A660-11170C412EF2}"/>
              </a:ext>
            </a:extLst>
          </p:cNvPr>
          <p:cNvSpPr/>
          <p:nvPr/>
        </p:nvSpPr>
        <p:spPr>
          <a:xfrm>
            <a:off x="6663036" y="4093029"/>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lang="ja-JP" altLang="en-US" sz="1400" b="0" i="0" u="none" strike="noStrike" kern="0" cap="none" spc="0" normalizeH="0" baseline="0" noProof="0">
              <a:ln>
                <a:noFill/>
              </a:ln>
              <a:solidFill>
                <a:srgbClr val="FFFFFF"/>
              </a:solidFill>
              <a:effectLst/>
              <a:uLnTx/>
              <a:uFillTx/>
              <a:latin typeface="メイリオ"/>
              <a:ea typeface="メイリオ" panose="020B0600070205080204" pitchFamily="50" charset="-128"/>
              <a:cs typeface="メイリオ"/>
              <a:sym typeface="Arial"/>
            </a:endParaRPr>
          </a:p>
        </p:txBody>
      </p:sp>
      <p:sp>
        <p:nvSpPr>
          <p:cNvPr id="3" name="Google Shape;178;p7">
            <a:extLst>
              <a:ext uri="{FF2B5EF4-FFF2-40B4-BE49-F238E27FC236}">
                <a16:creationId xmlns:a16="http://schemas.microsoft.com/office/drawing/2014/main" id="{5B7BDCE2-F32C-98D5-860A-09F3912D9718}"/>
              </a:ext>
            </a:extLst>
          </p:cNvPr>
          <p:cNvSpPr txBox="1"/>
          <p:nvPr/>
        </p:nvSpPr>
        <p:spPr>
          <a:xfrm>
            <a:off x="6756034" y="4153224"/>
            <a:ext cx="2800326" cy="675392"/>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メイリオ"/>
                <a:ea typeface="メイリオ"/>
                <a:cs typeface="メイリオ"/>
                <a:sym typeface="Meiryo"/>
              </a:rPr>
              <a:t>オフライン動線</a:t>
            </a:r>
            <a:endParaRPr lang="en-US" altLang="ja-JP" sz="2000" b="1" dirty="0">
              <a:solidFill>
                <a:srgbClr val="002060"/>
              </a:solidFill>
              <a:latin typeface="メイリオ"/>
              <a:ea typeface="メイリオ"/>
              <a:cs typeface="メイリオ"/>
              <a:sym typeface="Meiryo"/>
            </a:endParaRPr>
          </a:p>
          <a:p>
            <a:pPr lvl="0" algn="ctr">
              <a:buClr>
                <a:schemeClr val="dk1"/>
              </a:buClr>
              <a:buSzPts val="1500"/>
            </a:pPr>
            <a:r>
              <a:rPr lang="ja-JP" altLang="en-US" sz="1400" b="1" dirty="0">
                <a:solidFill>
                  <a:srgbClr val="002060"/>
                </a:solidFill>
                <a:latin typeface="メイリオ"/>
                <a:ea typeface="メイリオ"/>
                <a:cs typeface="メイリオ"/>
                <a:sym typeface="Meiryo"/>
              </a:rPr>
              <a:t>ニュースリリース等</a:t>
            </a:r>
            <a:endParaRPr lang="en-US" altLang="ja-JP" sz="1400" b="1" dirty="0">
              <a:solidFill>
                <a:srgbClr val="002060"/>
              </a:solidFill>
              <a:latin typeface="メイリオ"/>
              <a:ea typeface="メイリオ"/>
              <a:cs typeface="メイリオ"/>
              <a:sym typeface="Meiryo"/>
            </a:endParaRPr>
          </a:p>
        </p:txBody>
      </p:sp>
      <p:sp>
        <p:nvSpPr>
          <p:cNvPr id="5" name="角丸四角形 7">
            <a:extLst>
              <a:ext uri="{FF2B5EF4-FFF2-40B4-BE49-F238E27FC236}">
                <a16:creationId xmlns:a16="http://schemas.microsoft.com/office/drawing/2014/main" id="{467076C6-3952-617E-47B1-6B2C5D00137B}"/>
              </a:ext>
            </a:extLst>
          </p:cNvPr>
          <p:cNvSpPr/>
          <p:nvPr/>
        </p:nvSpPr>
        <p:spPr>
          <a:xfrm>
            <a:off x="3462784" y="4090156"/>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lang="ja-JP" altLang="en-US" sz="1400" b="0" i="0" u="none" strike="noStrike" kern="0" cap="none" spc="0" normalizeH="0" baseline="0" noProof="0">
              <a:ln>
                <a:noFill/>
              </a:ln>
              <a:solidFill>
                <a:srgbClr val="FFFFFF"/>
              </a:solidFill>
              <a:effectLst/>
              <a:uLnTx/>
              <a:uFillTx/>
              <a:latin typeface="メイリオ"/>
              <a:ea typeface="メイリオ" panose="020B0600070205080204" pitchFamily="50" charset="-128"/>
              <a:cs typeface="メイリオ"/>
              <a:sym typeface="Arial"/>
            </a:endParaRPr>
          </a:p>
        </p:txBody>
      </p:sp>
      <p:sp>
        <p:nvSpPr>
          <p:cNvPr id="6" name="Google Shape;178;p7">
            <a:extLst>
              <a:ext uri="{FF2B5EF4-FFF2-40B4-BE49-F238E27FC236}">
                <a16:creationId xmlns:a16="http://schemas.microsoft.com/office/drawing/2014/main" id="{421A0D53-7019-D33A-B0BD-DBDF4AAB2FEE}"/>
              </a:ext>
            </a:extLst>
          </p:cNvPr>
          <p:cNvSpPr txBox="1"/>
          <p:nvPr/>
        </p:nvSpPr>
        <p:spPr>
          <a:xfrm>
            <a:off x="3563068" y="4245557"/>
            <a:ext cx="2800326"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en-US" altLang="ja-JP" sz="2000" b="1" dirty="0">
                <a:solidFill>
                  <a:srgbClr val="002060"/>
                </a:solidFill>
                <a:latin typeface="メイリオ"/>
                <a:ea typeface="メイリオ"/>
                <a:cs typeface="メイリオ"/>
                <a:sym typeface="Meiryo"/>
              </a:rPr>
              <a:t>WEB</a:t>
            </a:r>
            <a:r>
              <a:rPr lang="ja-JP" altLang="en-US" sz="2000" b="1" dirty="0">
                <a:solidFill>
                  <a:srgbClr val="002060"/>
                </a:solidFill>
                <a:latin typeface="メイリオ"/>
                <a:ea typeface="メイリオ"/>
                <a:cs typeface="メイリオ"/>
                <a:sym typeface="Meiryo"/>
              </a:rPr>
              <a:t>サイト動線整備</a:t>
            </a:r>
            <a:endParaRPr lang="en-US" altLang="ja-JP" sz="2000" b="1" dirty="0">
              <a:solidFill>
                <a:srgbClr val="002060"/>
              </a:solidFill>
              <a:latin typeface="メイリオ"/>
              <a:ea typeface="メイリオ"/>
              <a:cs typeface="メイリオ"/>
              <a:sym typeface="Meiryo"/>
            </a:endParaRPr>
          </a:p>
        </p:txBody>
      </p:sp>
      <p:sp>
        <p:nvSpPr>
          <p:cNvPr id="7" name="角丸四角形 8">
            <a:extLst>
              <a:ext uri="{FF2B5EF4-FFF2-40B4-BE49-F238E27FC236}">
                <a16:creationId xmlns:a16="http://schemas.microsoft.com/office/drawing/2014/main" id="{6248FCF3-6E9E-CB4D-40D9-251911AC2CEF}"/>
              </a:ext>
            </a:extLst>
          </p:cNvPr>
          <p:cNvSpPr/>
          <p:nvPr/>
        </p:nvSpPr>
        <p:spPr>
          <a:xfrm>
            <a:off x="262251" y="4093029"/>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lang="ja-JP" altLang="en-US" sz="1400" b="0" i="0" u="none" strike="noStrike" kern="0" cap="none" spc="0" normalizeH="0" baseline="0" noProof="0">
              <a:ln>
                <a:noFill/>
              </a:ln>
              <a:solidFill>
                <a:srgbClr val="FFFFFF"/>
              </a:solidFill>
              <a:effectLst/>
              <a:uLnTx/>
              <a:uFillTx/>
              <a:latin typeface="メイリオ"/>
              <a:ea typeface="メイリオ" panose="020B0600070205080204" pitchFamily="50" charset="-128"/>
              <a:cs typeface="メイリオ"/>
              <a:sym typeface="Arial"/>
            </a:endParaRPr>
          </a:p>
        </p:txBody>
      </p:sp>
      <p:sp>
        <p:nvSpPr>
          <p:cNvPr id="8" name="Google Shape;178;p7">
            <a:extLst>
              <a:ext uri="{FF2B5EF4-FFF2-40B4-BE49-F238E27FC236}">
                <a16:creationId xmlns:a16="http://schemas.microsoft.com/office/drawing/2014/main" id="{E5C2AF7A-FA8D-3471-762D-FC84F5818E88}"/>
              </a:ext>
            </a:extLst>
          </p:cNvPr>
          <p:cNvSpPr txBox="1"/>
          <p:nvPr/>
        </p:nvSpPr>
        <p:spPr>
          <a:xfrm>
            <a:off x="598393" y="4153224"/>
            <a:ext cx="2314319" cy="644614"/>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メイリオ"/>
                <a:ea typeface="メイリオ"/>
                <a:cs typeface="メイリオ"/>
                <a:sym typeface="Meiryo"/>
              </a:rPr>
              <a:t>友だち紹介</a:t>
            </a:r>
            <a:endParaRPr lang="en-US" altLang="ja-JP" sz="2000" b="1" dirty="0">
              <a:solidFill>
                <a:srgbClr val="002060"/>
              </a:solidFill>
              <a:latin typeface="メイリオ"/>
              <a:ea typeface="メイリオ"/>
              <a:cs typeface="メイリオ"/>
              <a:sym typeface="Meiryo"/>
            </a:endParaRPr>
          </a:p>
          <a:p>
            <a:pPr lvl="0" algn="ctr">
              <a:buClr>
                <a:schemeClr val="dk1"/>
              </a:buClr>
              <a:buSzPts val="1500"/>
            </a:pPr>
            <a:r>
              <a:rPr lang="ja-JP" altLang="en-US" sz="1200" b="1" dirty="0">
                <a:solidFill>
                  <a:srgbClr val="002060"/>
                </a:solidFill>
                <a:latin typeface="メイリオ"/>
                <a:ea typeface="メイリオ"/>
                <a:cs typeface="メイリオ"/>
                <a:sym typeface="Meiryo"/>
              </a:rPr>
              <a:t>（</a:t>
            </a:r>
            <a:r>
              <a:rPr lang="en-US" altLang="ja-JP" sz="1200" b="1" dirty="0">
                <a:solidFill>
                  <a:srgbClr val="002060"/>
                </a:solidFill>
                <a:latin typeface="メイリオ"/>
                <a:ea typeface="メイリオ"/>
                <a:cs typeface="メイリオ"/>
                <a:sym typeface="Meiryo"/>
              </a:rPr>
              <a:t>LINE</a:t>
            </a:r>
            <a:r>
              <a:rPr lang="ja-JP" altLang="en-US" sz="1200" b="1" dirty="0">
                <a:solidFill>
                  <a:srgbClr val="002060"/>
                </a:solidFill>
                <a:latin typeface="メイリオ"/>
                <a:ea typeface="メイリオ"/>
                <a:cs typeface="メイリオ"/>
                <a:sym typeface="Meiryo"/>
              </a:rPr>
              <a:t>ポイントコネクト）</a:t>
            </a:r>
            <a:endParaRPr lang="en-US" altLang="ja-JP" sz="1200" b="1" dirty="0">
              <a:solidFill>
                <a:srgbClr val="002060"/>
              </a:solidFill>
              <a:latin typeface="メイリオ"/>
              <a:ea typeface="メイリオ"/>
              <a:cs typeface="メイリオ"/>
              <a:sym typeface="Meiryo"/>
            </a:endParaRPr>
          </a:p>
        </p:txBody>
      </p:sp>
      <p:sp>
        <p:nvSpPr>
          <p:cNvPr id="9" name="角丸四角形 8">
            <a:extLst>
              <a:ext uri="{FF2B5EF4-FFF2-40B4-BE49-F238E27FC236}">
                <a16:creationId xmlns:a16="http://schemas.microsoft.com/office/drawing/2014/main" id="{B44E38B3-9697-65AF-1E0A-CE143B30BA15}"/>
              </a:ext>
            </a:extLst>
          </p:cNvPr>
          <p:cNvSpPr/>
          <p:nvPr/>
        </p:nvSpPr>
        <p:spPr>
          <a:xfrm>
            <a:off x="6663036" y="1859432"/>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lang="ja-JP" altLang="en-US" sz="1400" b="0" i="0" u="none" strike="noStrike" kern="0" cap="none" spc="0" normalizeH="0" baseline="0" noProof="0">
              <a:ln>
                <a:noFill/>
              </a:ln>
              <a:solidFill>
                <a:srgbClr val="FFFFFF"/>
              </a:solidFill>
              <a:effectLst/>
              <a:uLnTx/>
              <a:uFillTx/>
              <a:latin typeface="メイリオ"/>
              <a:ea typeface="メイリオ" panose="020B0600070205080204" pitchFamily="50" charset="-128"/>
              <a:cs typeface="メイリオ"/>
              <a:sym typeface="Arial"/>
            </a:endParaRPr>
          </a:p>
        </p:txBody>
      </p:sp>
      <p:sp>
        <p:nvSpPr>
          <p:cNvPr id="10" name="Google Shape;178;p7">
            <a:extLst>
              <a:ext uri="{FF2B5EF4-FFF2-40B4-BE49-F238E27FC236}">
                <a16:creationId xmlns:a16="http://schemas.microsoft.com/office/drawing/2014/main" id="{227F189E-B3B2-1E1B-232D-81C3B9F95AF9}"/>
              </a:ext>
            </a:extLst>
          </p:cNvPr>
          <p:cNvSpPr txBox="1"/>
          <p:nvPr/>
        </p:nvSpPr>
        <p:spPr>
          <a:xfrm>
            <a:off x="6756034" y="2011960"/>
            <a:ext cx="2800326"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en-US" altLang="ja-JP" sz="2000" b="1" dirty="0">
                <a:solidFill>
                  <a:srgbClr val="002060"/>
                </a:solidFill>
                <a:latin typeface="メイリオ"/>
                <a:ea typeface="メイリオ"/>
                <a:cs typeface="メイリオ"/>
                <a:sym typeface="Meiryo"/>
              </a:rPr>
              <a:t>LINE</a:t>
            </a:r>
            <a:r>
              <a:rPr lang="ja-JP" altLang="en-US" sz="2000" b="1" dirty="0">
                <a:solidFill>
                  <a:srgbClr val="002060"/>
                </a:solidFill>
                <a:latin typeface="メイリオ"/>
                <a:ea typeface="メイリオ"/>
                <a:cs typeface="メイリオ"/>
                <a:sym typeface="Meiryo"/>
              </a:rPr>
              <a:t>ポイント</a:t>
            </a:r>
            <a:r>
              <a:rPr lang="en-US" altLang="ja-JP" sz="2000" b="1" dirty="0">
                <a:solidFill>
                  <a:srgbClr val="002060"/>
                </a:solidFill>
                <a:latin typeface="メイリオ"/>
                <a:ea typeface="メイリオ"/>
                <a:cs typeface="メイリオ"/>
                <a:sym typeface="Meiryo"/>
              </a:rPr>
              <a:t>Ads</a:t>
            </a:r>
            <a:endParaRPr lang="en-US" altLang="ja-JP" sz="1400" b="1" dirty="0">
              <a:solidFill>
                <a:srgbClr val="002060"/>
              </a:solidFill>
              <a:latin typeface="メイリオ"/>
              <a:ea typeface="メイリオ"/>
              <a:cs typeface="メイリオ"/>
              <a:sym typeface="Meiryo"/>
            </a:endParaRPr>
          </a:p>
        </p:txBody>
      </p:sp>
      <p:sp>
        <p:nvSpPr>
          <p:cNvPr id="11" name="角丸四角形 7">
            <a:extLst>
              <a:ext uri="{FF2B5EF4-FFF2-40B4-BE49-F238E27FC236}">
                <a16:creationId xmlns:a16="http://schemas.microsoft.com/office/drawing/2014/main" id="{246EA7DE-13D3-9A9C-9E03-EF6250D306DC}"/>
              </a:ext>
            </a:extLst>
          </p:cNvPr>
          <p:cNvSpPr/>
          <p:nvPr/>
        </p:nvSpPr>
        <p:spPr>
          <a:xfrm>
            <a:off x="3462784" y="1856559"/>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lang="ja-JP" altLang="en-US" sz="1400" b="0" i="0" u="none" strike="noStrike" kern="0" cap="none" spc="0" normalizeH="0" baseline="0" noProof="0">
              <a:ln>
                <a:noFill/>
              </a:ln>
              <a:solidFill>
                <a:srgbClr val="FFFFFF"/>
              </a:solidFill>
              <a:effectLst/>
              <a:uLnTx/>
              <a:uFillTx/>
              <a:latin typeface="メイリオ"/>
              <a:ea typeface="メイリオ" panose="020B0600070205080204" pitchFamily="50" charset="-128"/>
              <a:cs typeface="メイリオ"/>
              <a:sym typeface="Arial"/>
            </a:endParaRPr>
          </a:p>
        </p:txBody>
      </p:sp>
      <p:sp>
        <p:nvSpPr>
          <p:cNvPr id="12" name="Google Shape;178;p7">
            <a:extLst>
              <a:ext uri="{FF2B5EF4-FFF2-40B4-BE49-F238E27FC236}">
                <a16:creationId xmlns:a16="http://schemas.microsoft.com/office/drawing/2014/main" id="{5045D5F0-5F86-568D-455F-0F514426CF62}"/>
              </a:ext>
            </a:extLst>
          </p:cNvPr>
          <p:cNvSpPr txBox="1"/>
          <p:nvPr/>
        </p:nvSpPr>
        <p:spPr>
          <a:xfrm>
            <a:off x="3563068" y="2011960"/>
            <a:ext cx="2800326"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メイリオ"/>
                <a:ea typeface="メイリオ"/>
                <a:cs typeface="メイリオ"/>
                <a:sym typeface="Meiryo"/>
              </a:rPr>
              <a:t>スタンプ施策</a:t>
            </a:r>
            <a:endParaRPr lang="en-US" altLang="ja-JP" sz="2000" b="1" dirty="0">
              <a:solidFill>
                <a:srgbClr val="002060"/>
              </a:solidFill>
              <a:latin typeface="メイリオ"/>
              <a:ea typeface="メイリオ"/>
              <a:cs typeface="メイリオ"/>
              <a:sym typeface="Meiryo"/>
            </a:endParaRPr>
          </a:p>
        </p:txBody>
      </p:sp>
      <p:sp>
        <p:nvSpPr>
          <p:cNvPr id="13" name="角丸四角形 8">
            <a:extLst>
              <a:ext uri="{FF2B5EF4-FFF2-40B4-BE49-F238E27FC236}">
                <a16:creationId xmlns:a16="http://schemas.microsoft.com/office/drawing/2014/main" id="{3600FC78-1A6B-42D9-C939-11449F5EA1D7}"/>
              </a:ext>
            </a:extLst>
          </p:cNvPr>
          <p:cNvSpPr/>
          <p:nvPr/>
        </p:nvSpPr>
        <p:spPr>
          <a:xfrm>
            <a:off x="262251" y="1859432"/>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lang="ja-JP" altLang="en-US" sz="1400" b="0" i="0" u="none" strike="noStrike" kern="0" cap="none" spc="0" normalizeH="0" baseline="0" noProof="0">
              <a:ln>
                <a:noFill/>
              </a:ln>
              <a:solidFill>
                <a:srgbClr val="FFFFFF"/>
              </a:solidFill>
              <a:effectLst/>
              <a:uLnTx/>
              <a:uFillTx/>
              <a:latin typeface="メイリオ"/>
              <a:ea typeface="メイリオ" panose="020B0600070205080204" pitchFamily="50" charset="-128"/>
              <a:cs typeface="メイリオ"/>
              <a:sym typeface="Arial"/>
            </a:endParaRPr>
          </a:p>
        </p:txBody>
      </p:sp>
      <p:sp>
        <p:nvSpPr>
          <p:cNvPr id="14" name="Google Shape;178;p7">
            <a:extLst>
              <a:ext uri="{FF2B5EF4-FFF2-40B4-BE49-F238E27FC236}">
                <a16:creationId xmlns:a16="http://schemas.microsoft.com/office/drawing/2014/main" id="{DE80A45D-1C7E-C6F5-E8EB-2D7BDFC995E0}"/>
              </a:ext>
            </a:extLst>
          </p:cNvPr>
          <p:cNvSpPr txBox="1"/>
          <p:nvPr/>
        </p:nvSpPr>
        <p:spPr>
          <a:xfrm>
            <a:off x="598393" y="2011960"/>
            <a:ext cx="2314319"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en-US" altLang="ja-JP" sz="2000" b="1" dirty="0">
                <a:solidFill>
                  <a:srgbClr val="002060"/>
                </a:solidFill>
                <a:latin typeface="メイリオ"/>
                <a:ea typeface="メイリオ"/>
                <a:cs typeface="メイリオ"/>
                <a:sym typeface="Meiryo"/>
              </a:rPr>
              <a:t>CPF</a:t>
            </a:r>
            <a:r>
              <a:rPr lang="ja-JP" altLang="en-US" sz="2000" b="1" dirty="0">
                <a:solidFill>
                  <a:srgbClr val="002060"/>
                </a:solidFill>
                <a:latin typeface="メイリオ"/>
                <a:ea typeface="メイリオ"/>
                <a:cs typeface="メイリオ"/>
                <a:sym typeface="Meiryo"/>
              </a:rPr>
              <a:t>広告</a:t>
            </a:r>
            <a:endParaRPr lang="en-US" altLang="ja-JP" sz="1200" b="1" dirty="0">
              <a:solidFill>
                <a:srgbClr val="002060"/>
              </a:solidFill>
              <a:latin typeface="メイリオ"/>
              <a:ea typeface="メイリオ"/>
              <a:cs typeface="メイリオ"/>
              <a:sym typeface="Meiryo"/>
            </a:endParaRPr>
          </a:p>
        </p:txBody>
      </p:sp>
      <p:sp>
        <p:nvSpPr>
          <p:cNvPr id="16" name="テキスト ボックス 15">
            <a:extLst>
              <a:ext uri="{FF2B5EF4-FFF2-40B4-BE49-F238E27FC236}">
                <a16:creationId xmlns:a16="http://schemas.microsoft.com/office/drawing/2014/main" id="{E2BE065C-FC2C-F8DB-8D4D-6A6CF2961B74}"/>
              </a:ext>
            </a:extLst>
          </p:cNvPr>
          <p:cNvSpPr txBox="1"/>
          <p:nvPr/>
        </p:nvSpPr>
        <p:spPr>
          <a:xfrm>
            <a:off x="6663036" y="5212007"/>
            <a:ext cx="2980713" cy="369332"/>
          </a:xfrm>
          <a:prstGeom prst="rect">
            <a:avLst/>
          </a:prstGeom>
          <a:noFill/>
        </p:spPr>
        <p:txBody>
          <a:bodyPr wrap="square">
            <a:spAutoFit/>
          </a:bodyPr>
          <a:lstStyle/>
          <a:p>
            <a:pPr algn="ctr"/>
            <a:r>
              <a:rPr lang="ja-JP" altLang="en-US" sz="1600" dirty="0">
                <a:latin typeface="メイリオ"/>
                <a:ea typeface="メイリオ"/>
                <a:cs typeface="メイリオ"/>
                <a:sym typeface="Meiryo"/>
              </a:rPr>
              <a:t>コンサル発注</a:t>
            </a:r>
            <a:r>
              <a:rPr lang="ja-JP" altLang="en-US" sz="1200" dirty="0">
                <a:latin typeface="メイリオ"/>
                <a:ea typeface="メイリオ"/>
                <a:cs typeface="メイリオ"/>
                <a:sym typeface="Meiryo"/>
              </a:rPr>
              <a:t>であれば </a:t>
            </a:r>
            <a:r>
              <a:rPr lang="ja-JP" altLang="en-US" b="1" dirty="0">
                <a:solidFill>
                  <a:srgbClr val="1F2A5C"/>
                </a:solidFill>
                <a:latin typeface="メイリオ"/>
                <a:ea typeface="メイリオ"/>
                <a:cs typeface="メイリオ"/>
                <a:sym typeface="Meiryo"/>
              </a:rPr>
              <a:t>無償</a:t>
            </a:r>
            <a:endParaRPr lang="ja-JP" altLang="en-US" dirty="0">
              <a:solidFill>
                <a:srgbClr val="1F2A5C"/>
              </a:solidFill>
              <a:latin typeface="メイリオ"/>
              <a:ea typeface="メイリオ"/>
              <a:cs typeface="メイリオ"/>
            </a:endParaRPr>
          </a:p>
        </p:txBody>
      </p:sp>
      <p:sp>
        <p:nvSpPr>
          <p:cNvPr id="18" name="正方形/長方形 17">
            <a:extLst>
              <a:ext uri="{FF2B5EF4-FFF2-40B4-BE49-F238E27FC236}">
                <a16:creationId xmlns:a16="http://schemas.microsoft.com/office/drawing/2014/main" id="{6E06F22F-E0C7-5FD3-4405-6102987BD5DF}"/>
              </a:ext>
            </a:extLst>
          </p:cNvPr>
          <p:cNvSpPr/>
          <p:nvPr/>
        </p:nvSpPr>
        <p:spPr>
          <a:xfrm>
            <a:off x="519852" y="4164059"/>
            <a:ext cx="2453983"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19" name="正方形/長方形 18">
            <a:extLst>
              <a:ext uri="{FF2B5EF4-FFF2-40B4-BE49-F238E27FC236}">
                <a16:creationId xmlns:a16="http://schemas.microsoft.com/office/drawing/2014/main" id="{B0050C1C-B390-1662-9BFB-21BE29D83F9A}"/>
              </a:ext>
            </a:extLst>
          </p:cNvPr>
          <p:cNvSpPr/>
          <p:nvPr/>
        </p:nvSpPr>
        <p:spPr>
          <a:xfrm>
            <a:off x="3613540" y="4162491"/>
            <a:ext cx="2699381"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20" name="正方形/長方形 19">
            <a:extLst>
              <a:ext uri="{FF2B5EF4-FFF2-40B4-BE49-F238E27FC236}">
                <a16:creationId xmlns:a16="http://schemas.microsoft.com/office/drawing/2014/main" id="{D5EE4289-C478-AD62-AE99-69AE5A069F77}"/>
              </a:ext>
            </a:extLst>
          </p:cNvPr>
          <p:cNvSpPr/>
          <p:nvPr/>
        </p:nvSpPr>
        <p:spPr>
          <a:xfrm>
            <a:off x="6825208" y="4153224"/>
            <a:ext cx="2699381"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21" name="正方形/長方形 20">
            <a:extLst>
              <a:ext uri="{FF2B5EF4-FFF2-40B4-BE49-F238E27FC236}">
                <a16:creationId xmlns:a16="http://schemas.microsoft.com/office/drawing/2014/main" id="{1396C237-CE79-2CD6-FC3A-C050A56E6C7C}"/>
              </a:ext>
            </a:extLst>
          </p:cNvPr>
          <p:cNvSpPr/>
          <p:nvPr/>
        </p:nvSpPr>
        <p:spPr>
          <a:xfrm>
            <a:off x="6825208" y="1936348"/>
            <a:ext cx="2699381"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22" name="正方形/長方形 21">
            <a:extLst>
              <a:ext uri="{FF2B5EF4-FFF2-40B4-BE49-F238E27FC236}">
                <a16:creationId xmlns:a16="http://schemas.microsoft.com/office/drawing/2014/main" id="{4F441C91-30FF-B254-D31A-0BF09A82F0CC}"/>
              </a:ext>
            </a:extLst>
          </p:cNvPr>
          <p:cNvSpPr/>
          <p:nvPr/>
        </p:nvSpPr>
        <p:spPr>
          <a:xfrm>
            <a:off x="405862" y="1938891"/>
            <a:ext cx="2699381"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23" name="正方形/長方形 22">
            <a:extLst>
              <a:ext uri="{FF2B5EF4-FFF2-40B4-BE49-F238E27FC236}">
                <a16:creationId xmlns:a16="http://schemas.microsoft.com/office/drawing/2014/main" id="{0444B2FB-B600-A32F-FC5C-CA7414D41D09}"/>
              </a:ext>
            </a:extLst>
          </p:cNvPr>
          <p:cNvSpPr/>
          <p:nvPr/>
        </p:nvSpPr>
        <p:spPr>
          <a:xfrm>
            <a:off x="3627794" y="1936348"/>
            <a:ext cx="2699381"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25" name="テキスト ボックス 24">
            <a:extLst>
              <a:ext uri="{FF2B5EF4-FFF2-40B4-BE49-F238E27FC236}">
                <a16:creationId xmlns:a16="http://schemas.microsoft.com/office/drawing/2014/main" id="{0EB1A30C-0F7E-2CA8-AFC7-86F4D2F0F62E}"/>
              </a:ext>
            </a:extLst>
          </p:cNvPr>
          <p:cNvSpPr txBox="1"/>
          <p:nvPr/>
        </p:nvSpPr>
        <p:spPr>
          <a:xfrm>
            <a:off x="3457175" y="5206261"/>
            <a:ext cx="2980713" cy="369332"/>
          </a:xfrm>
          <a:prstGeom prst="rect">
            <a:avLst/>
          </a:prstGeom>
          <a:noFill/>
        </p:spPr>
        <p:txBody>
          <a:bodyPr wrap="square">
            <a:spAutoFit/>
          </a:bodyPr>
          <a:lstStyle/>
          <a:p>
            <a:pPr algn="ctr"/>
            <a:r>
              <a:rPr lang="ja-JP" altLang="en-US" sz="1600" dirty="0">
                <a:latin typeface="メイリオ"/>
                <a:ea typeface="メイリオ"/>
                <a:cs typeface="メイリオ"/>
                <a:sym typeface="Meiryo"/>
              </a:rPr>
              <a:t>コンサル発注</a:t>
            </a:r>
            <a:r>
              <a:rPr lang="ja-JP" altLang="en-US" sz="1200" dirty="0">
                <a:latin typeface="メイリオ"/>
                <a:ea typeface="メイリオ"/>
                <a:cs typeface="メイリオ"/>
                <a:sym typeface="Meiryo"/>
              </a:rPr>
              <a:t>であれば </a:t>
            </a:r>
            <a:r>
              <a:rPr lang="ja-JP" altLang="en-US" b="1" dirty="0">
                <a:solidFill>
                  <a:srgbClr val="1F2A5C"/>
                </a:solidFill>
                <a:latin typeface="メイリオ"/>
                <a:ea typeface="メイリオ"/>
                <a:cs typeface="メイリオ"/>
                <a:sym typeface="Meiryo"/>
              </a:rPr>
              <a:t>無償</a:t>
            </a:r>
            <a:endParaRPr lang="ja-JP" altLang="en-US" dirty="0">
              <a:solidFill>
                <a:srgbClr val="1F2A5C"/>
              </a:solidFill>
              <a:latin typeface="メイリオ"/>
              <a:ea typeface="メイリオ"/>
              <a:cs typeface="メイリオ"/>
            </a:endParaRPr>
          </a:p>
        </p:txBody>
      </p:sp>
      <p:sp>
        <p:nvSpPr>
          <p:cNvPr id="27" name="テキスト ボックス 26">
            <a:extLst>
              <a:ext uri="{FF2B5EF4-FFF2-40B4-BE49-F238E27FC236}">
                <a16:creationId xmlns:a16="http://schemas.microsoft.com/office/drawing/2014/main" id="{E132920A-5E9A-4275-387D-200CCBF9F676}"/>
              </a:ext>
            </a:extLst>
          </p:cNvPr>
          <p:cNvSpPr txBox="1"/>
          <p:nvPr/>
        </p:nvSpPr>
        <p:spPr>
          <a:xfrm>
            <a:off x="251033" y="5206261"/>
            <a:ext cx="2980713" cy="369332"/>
          </a:xfrm>
          <a:prstGeom prst="rect">
            <a:avLst/>
          </a:prstGeom>
          <a:noFill/>
        </p:spPr>
        <p:txBody>
          <a:bodyPr wrap="square">
            <a:spAutoFit/>
          </a:bodyPr>
          <a:lstStyle/>
          <a:p>
            <a:pPr algn="ctr"/>
            <a:r>
              <a:rPr lang="ja-JP" altLang="en-US" b="1" dirty="0">
                <a:solidFill>
                  <a:schemeClr val="tx1">
                    <a:lumMod val="50000"/>
                    <a:lumOff val="50000"/>
                  </a:schemeClr>
                </a:solidFill>
                <a:latin typeface="メイリオ"/>
                <a:ea typeface="メイリオ"/>
                <a:cs typeface="メイリオ"/>
                <a:sym typeface="Meiryo"/>
              </a:rPr>
              <a:t>サービス停止中</a:t>
            </a:r>
            <a:endParaRPr lang="ja-JP" altLang="en-US" b="1" dirty="0">
              <a:solidFill>
                <a:schemeClr val="tx1">
                  <a:lumMod val="50000"/>
                  <a:lumOff val="50000"/>
                </a:schemeClr>
              </a:solidFill>
              <a:latin typeface="メイリオ"/>
              <a:ea typeface="メイリオ"/>
              <a:cs typeface="メイリオ"/>
            </a:endParaRPr>
          </a:p>
        </p:txBody>
      </p:sp>
      <p:sp>
        <p:nvSpPr>
          <p:cNvPr id="28" name="テキスト ボックス 27">
            <a:extLst>
              <a:ext uri="{FF2B5EF4-FFF2-40B4-BE49-F238E27FC236}">
                <a16:creationId xmlns:a16="http://schemas.microsoft.com/office/drawing/2014/main" id="{F730E614-90C4-E99C-1611-CBB84BD8881C}"/>
              </a:ext>
            </a:extLst>
          </p:cNvPr>
          <p:cNvSpPr txBox="1"/>
          <p:nvPr/>
        </p:nvSpPr>
        <p:spPr>
          <a:xfrm>
            <a:off x="6680454" y="2978410"/>
            <a:ext cx="2980713" cy="400110"/>
          </a:xfrm>
          <a:prstGeom prst="rect">
            <a:avLst/>
          </a:prstGeom>
          <a:noFill/>
        </p:spPr>
        <p:txBody>
          <a:bodyPr wrap="square">
            <a:spAutoFit/>
          </a:bodyPr>
          <a:lstStyle/>
          <a:p>
            <a:pPr algn="ctr"/>
            <a:r>
              <a:rPr lang="en-US" altLang="ja-JP" sz="2000" b="1" dirty="0">
                <a:solidFill>
                  <a:srgbClr val="1F2A5C"/>
                </a:solidFill>
                <a:latin typeface="メイリオ"/>
                <a:ea typeface="メイリオ"/>
                <a:cs typeface="メイリオ"/>
                <a:sym typeface="Meiryo"/>
              </a:rPr>
              <a:t>200</a:t>
            </a:r>
            <a:r>
              <a:rPr lang="ja-JP" altLang="en-US" sz="2000" b="1" dirty="0">
                <a:solidFill>
                  <a:srgbClr val="1F2A5C"/>
                </a:solidFill>
                <a:latin typeface="メイリオ"/>
                <a:ea typeface="メイリオ"/>
                <a:cs typeface="メイリオ"/>
                <a:sym typeface="Meiryo"/>
              </a:rPr>
              <a:t>万円</a:t>
            </a:r>
            <a:r>
              <a:rPr lang="en-US" altLang="ja-JP" sz="2000" b="1" dirty="0">
                <a:solidFill>
                  <a:srgbClr val="1F2A5C"/>
                </a:solidFill>
                <a:latin typeface="メイリオ"/>
                <a:ea typeface="メイリオ"/>
                <a:cs typeface="メイリオ"/>
                <a:sym typeface="Meiryo"/>
              </a:rPr>
              <a:t>~</a:t>
            </a:r>
            <a:r>
              <a:rPr lang="ja-JP" altLang="en-US" sz="1200" dirty="0">
                <a:latin typeface="メイリオ"/>
                <a:ea typeface="メイリオ"/>
                <a:cs typeface="メイリオ"/>
                <a:sym typeface="Meiryo"/>
              </a:rPr>
              <a:t>（期間合計）</a:t>
            </a:r>
            <a:endParaRPr lang="ja-JP" altLang="en-US" sz="2000" dirty="0">
              <a:solidFill>
                <a:srgbClr val="1F2A5C"/>
              </a:solidFill>
              <a:latin typeface="メイリオ"/>
              <a:ea typeface="メイリオ"/>
              <a:cs typeface="メイリオ"/>
            </a:endParaRPr>
          </a:p>
        </p:txBody>
      </p:sp>
      <p:sp>
        <p:nvSpPr>
          <p:cNvPr id="29" name="テキスト ボックス 28">
            <a:extLst>
              <a:ext uri="{FF2B5EF4-FFF2-40B4-BE49-F238E27FC236}">
                <a16:creationId xmlns:a16="http://schemas.microsoft.com/office/drawing/2014/main" id="{BD4CB354-FCE0-FE83-2308-4BB89D24B9EE}"/>
              </a:ext>
            </a:extLst>
          </p:cNvPr>
          <p:cNvSpPr txBox="1"/>
          <p:nvPr/>
        </p:nvSpPr>
        <p:spPr>
          <a:xfrm>
            <a:off x="3474593" y="2972664"/>
            <a:ext cx="2980713" cy="400110"/>
          </a:xfrm>
          <a:prstGeom prst="rect">
            <a:avLst/>
          </a:prstGeom>
          <a:noFill/>
        </p:spPr>
        <p:txBody>
          <a:bodyPr wrap="square">
            <a:spAutoFit/>
          </a:bodyPr>
          <a:lstStyle/>
          <a:p>
            <a:pPr algn="ctr"/>
            <a:r>
              <a:rPr lang="en-US" altLang="ja-JP" sz="2000" b="1" dirty="0">
                <a:solidFill>
                  <a:srgbClr val="1F2A5C"/>
                </a:solidFill>
                <a:latin typeface="メイリオ"/>
                <a:ea typeface="メイリオ"/>
                <a:cs typeface="メイリオ"/>
                <a:sym typeface="Meiryo"/>
              </a:rPr>
              <a:t>200</a:t>
            </a:r>
            <a:r>
              <a:rPr lang="ja-JP" altLang="en-US" sz="2000" b="1" dirty="0">
                <a:solidFill>
                  <a:srgbClr val="1F2A5C"/>
                </a:solidFill>
                <a:latin typeface="メイリオ"/>
                <a:ea typeface="メイリオ"/>
                <a:cs typeface="メイリオ"/>
                <a:sym typeface="Meiryo"/>
              </a:rPr>
              <a:t>万円</a:t>
            </a:r>
            <a:r>
              <a:rPr lang="en-US" altLang="ja-JP" sz="2000" b="1" dirty="0">
                <a:solidFill>
                  <a:srgbClr val="1F2A5C"/>
                </a:solidFill>
                <a:latin typeface="メイリオ"/>
                <a:ea typeface="メイリオ"/>
                <a:cs typeface="メイリオ"/>
                <a:sym typeface="Meiryo"/>
              </a:rPr>
              <a:t>~</a:t>
            </a:r>
            <a:r>
              <a:rPr lang="ja-JP" altLang="en-US" sz="1200" dirty="0">
                <a:latin typeface="メイリオ"/>
                <a:ea typeface="メイリオ"/>
                <a:cs typeface="メイリオ"/>
                <a:sym typeface="Meiryo"/>
              </a:rPr>
              <a:t>（期間合計）</a:t>
            </a:r>
            <a:endParaRPr lang="ja-JP" altLang="en-US" sz="2000" dirty="0">
              <a:solidFill>
                <a:srgbClr val="1F2A5C"/>
              </a:solidFill>
              <a:latin typeface="メイリオ"/>
              <a:ea typeface="メイリオ"/>
              <a:cs typeface="メイリオ"/>
            </a:endParaRPr>
          </a:p>
        </p:txBody>
      </p:sp>
      <p:sp>
        <p:nvSpPr>
          <p:cNvPr id="30" name="テキスト ボックス 29">
            <a:extLst>
              <a:ext uri="{FF2B5EF4-FFF2-40B4-BE49-F238E27FC236}">
                <a16:creationId xmlns:a16="http://schemas.microsoft.com/office/drawing/2014/main" id="{409CCF04-7F2B-649D-F219-27BCA34C2D62}"/>
              </a:ext>
            </a:extLst>
          </p:cNvPr>
          <p:cNvSpPr txBox="1"/>
          <p:nvPr/>
        </p:nvSpPr>
        <p:spPr>
          <a:xfrm>
            <a:off x="268451" y="2972664"/>
            <a:ext cx="2980713" cy="400110"/>
          </a:xfrm>
          <a:prstGeom prst="rect">
            <a:avLst/>
          </a:prstGeom>
          <a:noFill/>
        </p:spPr>
        <p:txBody>
          <a:bodyPr wrap="square">
            <a:spAutoFit/>
          </a:bodyPr>
          <a:lstStyle/>
          <a:p>
            <a:pPr algn="ctr"/>
            <a:r>
              <a:rPr lang="en-US" altLang="ja-JP" sz="2000" b="1" dirty="0">
                <a:solidFill>
                  <a:srgbClr val="1F2A5C"/>
                </a:solidFill>
                <a:latin typeface="メイリオ"/>
                <a:ea typeface="メイリオ"/>
                <a:cs typeface="メイリオ"/>
                <a:sym typeface="Meiryo"/>
              </a:rPr>
              <a:t>20</a:t>
            </a:r>
            <a:r>
              <a:rPr lang="ja-JP" altLang="en-US" sz="2000" b="1" dirty="0">
                <a:solidFill>
                  <a:srgbClr val="1F2A5C"/>
                </a:solidFill>
                <a:latin typeface="メイリオ"/>
                <a:ea typeface="メイリオ"/>
                <a:cs typeface="メイリオ"/>
                <a:sym typeface="Meiryo"/>
              </a:rPr>
              <a:t>万円</a:t>
            </a:r>
            <a:r>
              <a:rPr lang="en-US" altLang="ja-JP" sz="2000" b="1" dirty="0">
                <a:solidFill>
                  <a:srgbClr val="1F2A5C"/>
                </a:solidFill>
                <a:latin typeface="メイリオ"/>
                <a:ea typeface="メイリオ"/>
                <a:cs typeface="メイリオ"/>
                <a:sym typeface="Meiryo"/>
              </a:rPr>
              <a:t>~</a:t>
            </a:r>
            <a:r>
              <a:rPr lang="ja-JP" altLang="en-US" sz="1200" dirty="0">
                <a:latin typeface="メイリオ"/>
                <a:ea typeface="メイリオ"/>
                <a:cs typeface="メイリオ"/>
                <a:sym typeface="Meiryo"/>
              </a:rPr>
              <a:t>（</a:t>
            </a:r>
            <a:r>
              <a:rPr lang="en-US" altLang="ja-JP" sz="1200" dirty="0">
                <a:latin typeface="メイリオ"/>
                <a:ea typeface="メイリオ"/>
                <a:cs typeface="メイリオ"/>
                <a:sym typeface="Meiryo"/>
              </a:rPr>
              <a:t>1</a:t>
            </a:r>
            <a:r>
              <a:rPr lang="ja-JP" altLang="en-US" sz="1200" dirty="0">
                <a:latin typeface="メイリオ"/>
                <a:ea typeface="メイリオ"/>
                <a:cs typeface="メイリオ"/>
                <a:sym typeface="Meiryo"/>
              </a:rPr>
              <a:t>ヶ月</a:t>
            </a:r>
            <a:r>
              <a:rPr lang="en-US" altLang="ja-JP" sz="1200" dirty="0">
                <a:latin typeface="メイリオ"/>
                <a:ea typeface="メイリオ"/>
                <a:cs typeface="メイリオ"/>
                <a:sym typeface="Meiryo"/>
              </a:rPr>
              <a:t>~</a:t>
            </a:r>
            <a:r>
              <a:rPr lang="ja-JP" altLang="en-US" sz="1200" dirty="0">
                <a:latin typeface="メイリオ"/>
                <a:ea typeface="メイリオ"/>
                <a:cs typeface="メイリオ"/>
                <a:sym typeface="Meiryo"/>
              </a:rPr>
              <a:t>）</a:t>
            </a:r>
            <a:endParaRPr lang="ja-JP" altLang="en-US" sz="2000" dirty="0">
              <a:solidFill>
                <a:srgbClr val="1F2A5C"/>
              </a:solidFill>
              <a:latin typeface="メイリオ"/>
              <a:ea typeface="メイリオ"/>
              <a:cs typeface="メイリオ"/>
            </a:endParaRPr>
          </a:p>
        </p:txBody>
      </p:sp>
      <p:sp>
        <p:nvSpPr>
          <p:cNvPr id="31" name="正方形/長方形 30">
            <a:extLst>
              <a:ext uri="{FF2B5EF4-FFF2-40B4-BE49-F238E27FC236}">
                <a16:creationId xmlns:a16="http://schemas.microsoft.com/office/drawing/2014/main" id="{48479E1B-BB51-2C74-9251-6EC7A8EFC419}"/>
              </a:ext>
            </a:extLst>
          </p:cNvPr>
          <p:cNvSpPr/>
          <p:nvPr/>
        </p:nvSpPr>
        <p:spPr>
          <a:xfrm>
            <a:off x="663410" y="899253"/>
            <a:ext cx="8628148" cy="584775"/>
          </a:xfrm>
          <a:prstGeom prst="rect">
            <a:avLst/>
          </a:prstGeom>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lvl="0" algn="ctr">
              <a:buClr>
                <a:srgbClr val="002060"/>
              </a:buClr>
              <a:buSzPts val="1600"/>
            </a:pPr>
            <a:r>
              <a:rPr lang="ja-JP" altLang="en-US" sz="1600" b="1" dirty="0">
                <a:solidFill>
                  <a:schemeClr val="tx1">
                    <a:lumMod val="65000"/>
                    <a:lumOff val="35000"/>
                  </a:schemeClr>
                </a:solidFill>
                <a:latin typeface="メイリオ"/>
                <a:ea typeface="メイリオ"/>
                <a:cs typeface="メイリオ"/>
                <a:sym typeface="Meiryo"/>
              </a:rPr>
              <a:t>各拡張施策についても</a:t>
            </a:r>
            <a:r>
              <a:rPr lang="en-US" altLang="ja-JP" sz="1600" b="1" dirty="0">
                <a:solidFill>
                  <a:schemeClr val="tx1">
                    <a:lumMod val="65000"/>
                    <a:lumOff val="35000"/>
                  </a:schemeClr>
                </a:solidFill>
                <a:latin typeface="メイリオ"/>
                <a:ea typeface="メイリオ"/>
                <a:cs typeface="メイリオ"/>
                <a:sym typeface="Meiryo"/>
              </a:rPr>
              <a:t>MIN</a:t>
            </a:r>
            <a:r>
              <a:rPr lang="ja-JP" altLang="en-US" sz="1600" b="1" dirty="0">
                <a:solidFill>
                  <a:schemeClr val="tx1">
                    <a:lumMod val="65000"/>
                    <a:lumOff val="35000"/>
                  </a:schemeClr>
                </a:solidFill>
                <a:latin typeface="メイリオ"/>
                <a:ea typeface="メイリオ"/>
                <a:cs typeface="メイリオ"/>
                <a:sym typeface="Meiryo"/>
              </a:rPr>
              <a:t>金額からの発注、動線設計が可能です。</a:t>
            </a:r>
            <a:endParaRPr lang="en-US" altLang="ja-JP" sz="1600" b="1" dirty="0">
              <a:solidFill>
                <a:schemeClr val="tx1">
                  <a:lumMod val="65000"/>
                  <a:lumOff val="35000"/>
                </a:schemeClr>
              </a:solidFill>
              <a:latin typeface="メイリオ"/>
              <a:ea typeface="メイリオ"/>
              <a:cs typeface="メイリオ"/>
              <a:sym typeface="Meiryo"/>
            </a:endParaRPr>
          </a:p>
          <a:p>
            <a:pPr lvl="0" algn="ctr">
              <a:buClr>
                <a:srgbClr val="002060"/>
              </a:buClr>
              <a:buSzPts val="1600"/>
            </a:pPr>
            <a:r>
              <a:rPr lang="en-US" altLang="ja-JP" sz="1600" b="1" dirty="0">
                <a:solidFill>
                  <a:schemeClr val="tx1">
                    <a:lumMod val="65000"/>
                    <a:lumOff val="35000"/>
                  </a:schemeClr>
                </a:solidFill>
                <a:latin typeface="メイリオ"/>
                <a:ea typeface="メイリオ"/>
                <a:cs typeface="メイリオ"/>
                <a:sym typeface="Meiryo"/>
              </a:rPr>
              <a:t>LINE</a:t>
            </a:r>
            <a:r>
              <a:rPr lang="ja-JP" altLang="en-US" sz="1600" b="1" dirty="0">
                <a:solidFill>
                  <a:schemeClr val="tx1">
                    <a:lumMod val="65000"/>
                    <a:lumOff val="35000"/>
                  </a:schemeClr>
                </a:solidFill>
                <a:latin typeface="メイリオ"/>
                <a:ea typeface="メイリオ"/>
                <a:cs typeface="メイリオ"/>
                <a:sym typeface="Meiryo"/>
              </a:rPr>
              <a:t>友だち追加後の動線設計（特に友だち追加後すぐ）の検証後の拡大施策として用意。</a:t>
            </a:r>
            <a:endParaRPr lang="en-US" altLang="ja-JP" sz="1600" b="1" dirty="0">
              <a:solidFill>
                <a:schemeClr val="tx1">
                  <a:lumMod val="65000"/>
                  <a:lumOff val="35000"/>
                </a:schemeClr>
              </a:solidFill>
              <a:latin typeface="メイリオ"/>
              <a:ea typeface="メイリオ"/>
              <a:cs typeface="メイリオ"/>
              <a:sym typeface="Meiryo"/>
            </a:endParaRPr>
          </a:p>
        </p:txBody>
      </p:sp>
    </p:spTree>
    <p:extLst>
      <p:ext uri="{BB962C8B-B14F-4D97-AF65-F5344CB8AC3E}">
        <p14:creationId xmlns:p14="http://schemas.microsoft.com/office/powerpoint/2010/main" val="3006703471"/>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40CEAE-3814-32E7-D45E-2C4EC8610FFA}"/>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6CD37268-DB4A-D96C-3487-68A9F7301931}"/>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提供施策について</a:t>
            </a:r>
          </a:p>
        </p:txBody>
      </p:sp>
      <p:pic>
        <p:nvPicPr>
          <p:cNvPr id="52" name="図 51">
            <a:extLst>
              <a:ext uri="{FF2B5EF4-FFF2-40B4-BE49-F238E27FC236}">
                <a16:creationId xmlns:a16="http://schemas.microsoft.com/office/drawing/2014/main" id="{190D62DD-D102-4473-AB6A-16C880141BF8}"/>
              </a:ext>
            </a:extLst>
          </p:cNvPr>
          <p:cNvPicPr>
            <a:picLocks noChangeAspect="1"/>
          </p:cNvPicPr>
          <p:nvPr/>
        </p:nvPicPr>
        <p:blipFill>
          <a:blip r:embed="rId2"/>
          <a:stretch>
            <a:fillRect/>
          </a:stretch>
        </p:blipFill>
        <p:spPr>
          <a:xfrm>
            <a:off x="554449" y="1858069"/>
            <a:ext cx="4461381" cy="1873780"/>
          </a:xfrm>
          <a:prstGeom prst="rect">
            <a:avLst/>
          </a:prstGeom>
        </p:spPr>
      </p:pic>
      <p:sp>
        <p:nvSpPr>
          <p:cNvPr id="53" name="正方形/長方形 52">
            <a:extLst>
              <a:ext uri="{FF2B5EF4-FFF2-40B4-BE49-F238E27FC236}">
                <a16:creationId xmlns:a16="http://schemas.microsoft.com/office/drawing/2014/main" id="{1E454A9D-8A4D-3389-458B-9DC647A79863}"/>
              </a:ext>
            </a:extLst>
          </p:cNvPr>
          <p:cNvSpPr/>
          <p:nvPr/>
        </p:nvSpPr>
        <p:spPr>
          <a:xfrm>
            <a:off x="419696" y="732614"/>
            <a:ext cx="2365444" cy="67326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9pPr>
          </a:lstStyle>
          <a:p>
            <a:pPr algn="ctr"/>
            <a:r>
              <a:rPr lang="en-US" altLang="ja-JP" sz="1600" b="1" dirty="0">
                <a:latin typeface="メイリオ" panose="020B0604030504040204" pitchFamily="50" charset="-128"/>
                <a:ea typeface="メイリオ" panose="020B0604030504040204" pitchFamily="50" charset="-128"/>
                <a:cs typeface="メイリオ"/>
              </a:rPr>
              <a:t>LINE</a:t>
            </a:r>
            <a:r>
              <a:rPr lang="ja-JP" altLang="en-US" sz="1600" b="1" dirty="0">
                <a:latin typeface="メイリオ" panose="020B0604030504040204" pitchFamily="50" charset="-128"/>
                <a:ea typeface="メイリオ" panose="020B0604030504040204" pitchFamily="50" charset="-128"/>
                <a:cs typeface="メイリオ"/>
              </a:rPr>
              <a:t>広告</a:t>
            </a:r>
            <a:r>
              <a:rPr lang="ja-JP" altLang="en-US" sz="1200" b="1" dirty="0">
                <a:latin typeface="メイリオ" panose="020B0604030504040204" pitchFamily="50" charset="-128"/>
                <a:ea typeface="メイリオ" panose="020B0604030504040204" pitchFamily="50" charset="-128"/>
                <a:cs typeface="メイリオ"/>
              </a:rPr>
              <a:t>（友だち追加）</a:t>
            </a:r>
            <a:endParaRPr lang="en-US" altLang="ja-JP" sz="1200" b="1" dirty="0">
              <a:latin typeface="メイリオ" panose="020B0604030504040204" pitchFamily="50" charset="-128"/>
              <a:ea typeface="メイリオ" panose="020B0604030504040204" pitchFamily="50" charset="-128"/>
              <a:cs typeface="メイリオ"/>
            </a:endParaRPr>
          </a:p>
          <a:p>
            <a:pPr algn="ctr"/>
            <a:r>
              <a:rPr lang="en-US" altLang="ja-JP" sz="1200" b="1" dirty="0">
                <a:solidFill>
                  <a:srgbClr val="FFFFFF"/>
                </a:solidFill>
                <a:latin typeface="メイリオ" panose="020B0604030504040204" pitchFamily="50" charset="-128"/>
                <a:ea typeface="メイリオ" panose="020B0604030504040204" pitchFamily="50" charset="-128"/>
                <a:cs typeface="メイリオ"/>
              </a:rPr>
              <a:t>※CPF</a:t>
            </a:r>
            <a:r>
              <a:rPr lang="ja-JP" altLang="en-US" sz="1200" b="1" dirty="0">
                <a:solidFill>
                  <a:srgbClr val="FFFFFF"/>
                </a:solidFill>
                <a:latin typeface="メイリオ" panose="020B0604030504040204" pitchFamily="50" charset="-128"/>
                <a:ea typeface="メイリオ" panose="020B0604030504040204" pitchFamily="50" charset="-128"/>
                <a:cs typeface="メイリオ"/>
              </a:rPr>
              <a:t>広告</a:t>
            </a:r>
            <a:r>
              <a:rPr lang="en-US" altLang="ja-JP" sz="1200" b="1" dirty="0">
                <a:solidFill>
                  <a:srgbClr val="FFFFFF"/>
                </a:solidFill>
                <a:latin typeface="メイリオ" panose="020B0604030504040204" pitchFamily="50" charset="-128"/>
                <a:ea typeface="メイリオ" panose="020B0604030504040204" pitchFamily="50" charset="-128"/>
                <a:cs typeface="メイリオ"/>
              </a:rPr>
              <a:t>※</a:t>
            </a:r>
          </a:p>
        </p:txBody>
      </p:sp>
      <p:sp>
        <p:nvSpPr>
          <p:cNvPr id="54" name="正方形/長方形 53">
            <a:extLst>
              <a:ext uri="{FF2B5EF4-FFF2-40B4-BE49-F238E27FC236}">
                <a16:creationId xmlns:a16="http://schemas.microsoft.com/office/drawing/2014/main" id="{CBF7AEFA-2BE6-4972-0C9D-4ED6780F0997}"/>
              </a:ext>
            </a:extLst>
          </p:cNvPr>
          <p:cNvSpPr/>
          <p:nvPr/>
        </p:nvSpPr>
        <p:spPr>
          <a:xfrm>
            <a:off x="2938369" y="776858"/>
            <a:ext cx="6482455" cy="584775"/>
          </a:xfrm>
          <a:prstGeom prst="rect">
            <a:avLst/>
          </a:prstGeom>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lvl="0">
              <a:buClr>
                <a:srgbClr val="002060"/>
              </a:buClr>
              <a:buSzPts val="1600"/>
            </a:pPr>
            <a:r>
              <a:rPr lang="en-US" altLang="ja-JP" sz="1600" b="1" dirty="0">
                <a:solidFill>
                  <a:schemeClr val="tx1">
                    <a:lumMod val="65000"/>
                    <a:lumOff val="35000"/>
                  </a:schemeClr>
                </a:solidFill>
                <a:latin typeface="メイリオ"/>
                <a:ea typeface="メイリオ"/>
                <a:cs typeface="メイリオ"/>
                <a:sym typeface="Meiryo"/>
              </a:rPr>
              <a:t>LINE</a:t>
            </a:r>
            <a:r>
              <a:rPr lang="ja-JP" altLang="en-US" sz="1600" b="1" dirty="0">
                <a:solidFill>
                  <a:schemeClr val="tx1">
                    <a:lumMod val="65000"/>
                    <a:lumOff val="35000"/>
                  </a:schemeClr>
                </a:solidFill>
                <a:latin typeface="メイリオ"/>
                <a:ea typeface="メイリオ"/>
                <a:cs typeface="メイリオ"/>
                <a:sym typeface="Meiryo"/>
              </a:rPr>
              <a:t>公式アカウントの友だちを増やすための広告を、</a:t>
            </a:r>
            <a:br>
              <a:rPr lang="en-US" altLang="ja-JP" sz="1600" b="1" dirty="0">
                <a:solidFill>
                  <a:schemeClr val="tx1">
                    <a:lumMod val="65000"/>
                    <a:lumOff val="35000"/>
                  </a:schemeClr>
                </a:solidFill>
                <a:latin typeface="メイリオ"/>
                <a:ea typeface="メイリオ"/>
                <a:cs typeface="メイリオ"/>
                <a:sym typeface="Meiryo"/>
              </a:rPr>
            </a:br>
            <a:r>
              <a:rPr lang="en-US" altLang="ja-JP" sz="1600" b="1" dirty="0">
                <a:solidFill>
                  <a:schemeClr val="tx1">
                    <a:lumMod val="65000"/>
                    <a:lumOff val="35000"/>
                  </a:schemeClr>
                </a:solidFill>
                <a:latin typeface="メイリオ"/>
                <a:ea typeface="メイリオ"/>
                <a:cs typeface="メイリオ"/>
                <a:sym typeface="Meiryo"/>
              </a:rPr>
              <a:t>LINE</a:t>
            </a:r>
            <a:r>
              <a:rPr lang="ja-JP" altLang="en-US" sz="1600" b="1" dirty="0">
                <a:solidFill>
                  <a:schemeClr val="tx1">
                    <a:lumMod val="65000"/>
                    <a:lumOff val="35000"/>
                  </a:schemeClr>
                </a:solidFill>
                <a:latin typeface="メイリオ"/>
                <a:ea typeface="メイリオ"/>
                <a:cs typeface="メイリオ"/>
                <a:sym typeface="Meiryo"/>
              </a:rPr>
              <a:t>広告の管理画面より</a:t>
            </a:r>
            <a:r>
              <a:rPr lang="en-US" altLang="ja-JP" sz="1600" b="1" dirty="0">
                <a:solidFill>
                  <a:schemeClr val="tx1">
                    <a:lumMod val="65000"/>
                    <a:lumOff val="35000"/>
                  </a:schemeClr>
                </a:solidFill>
                <a:latin typeface="メイリオ"/>
                <a:ea typeface="メイリオ"/>
                <a:cs typeface="メイリオ"/>
                <a:sym typeface="Meiryo"/>
              </a:rPr>
              <a:t>LINE</a:t>
            </a:r>
            <a:r>
              <a:rPr lang="ja-JP" altLang="en-US" sz="1600" b="1" dirty="0">
                <a:solidFill>
                  <a:schemeClr val="tx1">
                    <a:lumMod val="65000"/>
                    <a:lumOff val="35000"/>
                  </a:schemeClr>
                </a:solidFill>
                <a:latin typeface="メイリオ"/>
                <a:ea typeface="メイリオ"/>
                <a:cs typeface="メイリオ"/>
                <a:sym typeface="Meiryo"/>
              </a:rPr>
              <a:t>アプリ内で掲載できる機能。</a:t>
            </a:r>
            <a:endParaRPr lang="en-US" altLang="ja-JP" sz="1600" b="1" dirty="0">
              <a:solidFill>
                <a:schemeClr val="tx1">
                  <a:lumMod val="65000"/>
                  <a:lumOff val="35000"/>
                </a:schemeClr>
              </a:solidFill>
              <a:latin typeface="メイリオ"/>
              <a:ea typeface="メイリオ"/>
              <a:cs typeface="メイリオ"/>
              <a:sym typeface="Meiryo"/>
            </a:endParaRPr>
          </a:p>
        </p:txBody>
      </p:sp>
      <p:grpSp>
        <p:nvGrpSpPr>
          <p:cNvPr id="55" name="グループ化 54">
            <a:extLst>
              <a:ext uri="{FF2B5EF4-FFF2-40B4-BE49-F238E27FC236}">
                <a16:creationId xmlns:a16="http://schemas.microsoft.com/office/drawing/2014/main" id="{AA1E2469-A533-1A69-9E3E-DCA5ECAE64F8}"/>
              </a:ext>
            </a:extLst>
          </p:cNvPr>
          <p:cNvGrpSpPr/>
          <p:nvPr/>
        </p:nvGrpSpPr>
        <p:grpSpPr>
          <a:xfrm>
            <a:off x="516143" y="1563631"/>
            <a:ext cx="2696339" cy="312276"/>
            <a:chOff x="548883" y="1619331"/>
            <a:chExt cx="2696339" cy="312276"/>
          </a:xfrm>
        </p:grpSpPr>
        <p:sp>
          <p:nvSpPr>
            <p:cNvPr id="56" name="四角形: 角を丸くする 55">
              <a:extLst>
                <a:ext uri="{FF2B5EF4-FFF2-40B4-BE49-F238E27FC236}">
                  <a16:creationId xmlns:a16="http://schemas.microsoft.com/office/drawing/2014/main" id="{A2BD085E-2BC4-9C8E-5DC8-B72B3DDB8E8D}"/>
                </a:ext>
              </a:extLst>
            </p:cNvPr>
            <p:cNvSpPr/>
            <p:nvPr/>
          </p:nvSpPr>
          <p:spPr>
            <a:xfrm>
              <a:off x="548883" y="1619331"/>
              <a:ext cx="2696339" cy="302592"/>
            </a:xfrm>
            <a:prstGeom prst="round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9pPr>
            </a:lstStyle>
            <a:p>
              <a:pPr algn="ctr"/>
              <a:endParaRPr kumimoji="1" lang="ja-JP" altLang="en-US">
                <a:latin typeface="メイリオ"/>
                <a:ea typeface="メイリオ"/>
                <a:cs typeface="メイリオ"/>
              </a:endParaRPr>
            </a:p>
          </p:txBody>
        </p:sp>
        <p:sp>
          <p:nvSpPr>
            <p:cNvPr id="57" name="正方形/長方形 56">
              <a:extLst>
                <a:ext uri="{FF2B5EF4-FFF2-40B4-BE49-F238E27FC236}">
                  <a16:creationId xmlns:a16="http://schemas.microsoft.com/office/drawing/2014/main" id="{560B246B-790F-6D05-28ED-13ABB1AF3BEC}"/>
                </a:ext>
              </a:extLst>
            </p:cNvPr>
            <p:cNvSpPr/>
            <p:nvPr/>
          </p:nvSpPr>
          <p:spPr>
            <a:xfrm>
              <a:off x="548883" y="1654608"/>
              <a:ext cx="2696339" cy="276999"/>
            </a:xfrm>
            <a:prstGeom prst="rect">
              <a:avLst/>
            </a:prstGeom>
            <a:noFill/>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lvl="0" algn="ctr">
                <a:buClr>
                  <a:srgbClr val="002060"/>
                </a:buClr>
                <a:buSzPts val="1600"/>
              </a:pPr>
              <a:r>
                <a:rPr lang="en-US" altLang="ja-JP" sz="1200" b="1" dirty="0">
                  <a:solidFill>
                    <a:srgbClr val="0070C0"/>
                  </a:solidFill>
                  <a:latin typeface="メイリオ"/>
                  <a:ea typeface="メイリオ"/>
                  <a:cs typeface="メイリオ"/>
                  <a:sym typeface="Meiryo"/>
                </a:rPr>
                <a:t>LINE</a:t>
              </a:r>
              <a:r>
                <a:rPr lang="ja-JP" altLang="en-US" sz="1200" b="1" dirty="0">
                  <a:solidFill>
                    <a:srgbClr val="0070C0"/>
                  </a:solidFill>
                  <a:latin typeface="メイリオ"/>
                  <a:ea typeface="メイリオ"/>
                  <a:cs typeface="メイリオ"/>
                  <a:sym typeface="Meiryo"/>
                </a:rPr>
                <a:t>公式アカウントまでの導線</a:t>
              </a:r>
              <a:endParaRPr lang="en-US" altLang="ja-JP" sz="1200" b="1" dirty="0">
                <a:solidFill>
                  <a:srgbClr val="0070C0"/>
                </a:solidFill>
                <a:latin typeface="メイリオ"/>
                <a:ea typeface="メイリオ"/>
                <a:cs typeface="メイリオ"/>
                <a:sym typeface="Meiryo"/>
              </a:endParaRPr>
            </a:p>
          </p:txBody>
        </p:sp>
      </p:grpSp>
      <p:grpSp>
        <p:nvGrpSpPr>
          <p:cNvPr id="58" name="グループ化 57">
            <a:extLst>
              <a:ext uri="{FF2B5EF4-FFF2-40B4-BE49-F238E27FC236}">
                <a16:creationId xmlns:a16="http://schemas.microsoft.com/office/drawing/2014/main" id="{27EC4882-F1F7-3407-18D9-449D2F776799}"/>
              </a:ext>
            </a:extLst>
          </p:cNvPr>
          <p:cNvGrpSpPr/>
          <p:nvPr/>
        </p:nvGrpSpPr>
        <p:grpSpPr>
          <a:xfrm>
            <a:off x="516142" y="3819645"/>
            <a:ext cx="2696339" cy="312276"/>
            <a:chOff x="548883" y="1619331"/>
            <a:chExt cx="2696339" cy="312276"/>
          </a:xfrm>
        </p:grpSpPr>
        <p:sp>
          <p:nvSpPr>
            <p:cNvPr id="59" name="四角形: 角を丸くする 58">
              <a:extLst>
                <a:ext uri="{FF2B5EF4-FFF2-40B4-BE49-F238E27FC236}">
                  <a16:creationId xmlns:a16="http://schemas.microsoft.com/office/drawing/2014/main" id="{6B1769D7-5324-51AE-1D2D-802E7FFC46C9}"/>
                </a:ext>
              </a:extLst>
            </p:cNvPr>
            <p:cNvSpPr/>
            <p:nvPr/>
          </p:nvSpPr>
          <p:spPr>
            <a:xfrm>
              <a:off x="548883" y="1619331"/>
              <a:ext cx="2696339" cy="302592"/>
            </a:xfrm>
            <a:prstGeom prst="round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9pPr>
            </a:lstStyle>
            <a:p>
              <a:pPr algn="ctr"/>
              <a:endParaRPr kumimoji="1" lang="ja-JP" altLang="en-US">
                <a:latin typeface="メイリオ"/>
                <a:ea typeface="メイリオ"/>
                <a:cs typeface="メイリオ"/>
              </a:endParaRPr>
            </a:p>
          </p:txBody>
        </p:sp>
        <p:sp>
          <p:nvSpPr>
            <p:cNvPr id="60" name="正方形/長方形 59">
              <a:extLst>
                <a:ext uri="{FF2B5EF4-FFF2-40B4-BE49-F238E27FC236}">
                  <a16:creationId xmlns:a16="http://schemas.microsoft.com/office/drawing/2014/main" id="{A0FD1FD7-9083-04AC-7FC2-C1EDD68A2FCA}"/>
                </a:ext>
              </a:extLst>
            </p:cNvPr>
            <p:cNvSpPr/>
            <p:nvPr/>
          </p:nvSpPr>
          <p:spPr>
            <a:xfrm>
              <a:off x="548883" y="1654608"/>
              <a:ext cx="2696339" cy="276999"/>
            </a:xfrm>
            <a:prstGeom prst="rect">
              <a:avLst/>
            </a:prstGeom>
            <a:noFill/>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lvl="0" algn="ctr">
                <a:buClr>
                  <a:srgbClr val="002060"/>
                </a:buClr>
                <a:buSzPts val="1600"/>
              </a:pPr>
              <a:r>
                <a:rPr lang="ja-JP" altLang="en-US" sz="1200" b="1" dirty="0">
                  <a:solidFill>
                    <a:srgbClr val="0070C0"/>
                  </a:solidFill>
                  <a:latin typeface="メイリオ"/>
                  <a:ea typeface="メイリオ"/>
                  <a:cs typeface="メイリオ"/>
                  <a:sym typeface="Meiryo"/>
                </a:rPr>
                <a:t>「友だち追加広告」との違い</a:t>
              </a:r>
              <a:endParaRPr lang="en-US" altLang="ja-JP" sz="1200" b="1" dirty="0">
                <a:solidFill>
                  <a:srgbClr val="0070C0"/>
                </a:solidFill>
                <a:latin typeface="メイリオ"/>
                <a:ea typeface="メイリオ"/>
                <a:cs typeface="メイリオ"/>
                <a:sym typeface="Meiryo"/>
              </a:endParaRPr>
            </a:p>
          </p:txBody>
        </p:sp>
      </p:grpSp>
      <p:pic>
        <p:nvPicPr>
          <p:cNvPr id="61" name="table">
            <a:extLst>
              <a:ext uri="{FF2B5EF4-FFF2-40B4-BE49-F238E27FC236}">
                <a16:creationId xmlns:a16="http://schemas.microsoft.com/office/drawing/2014/main" id="{9AC26B4B-6733-A76D-2762-4EE39F3BE270}"/>
              </a:ext>
            </a:extLst>
          </p:cNvPr>
          <p:cNvPicPr>
            <a:picLocks noChangeAspect="1"/>
          </p:cNvPicPr>
          <p:nvPr/>
        </p:nvPicPr>
        <p:blipFill>
          <a:blip r:embed="rId3"/>
          <a:stretch>
            <a:fillRect/>
          </a:stretch>
        </p:blipFill>
        <p:spPr>
          <a:xfrm>
            <a:off x="787611" y="4201880"/>
            <a:ext cx="8672139" cy="2202180"/>
          </a:xfrm>
          <a:prstGeom prst="rect">
            <a:avLst/>
          </a:prstGeom>
        </p:spPr>
      </p:pic>
      <p:sp>
        <p:nvSpPr>
          <p:cNvPr id="62" name="矢印: 右 61">
            <a:extLst>
              <a:ext uri="{FF2B5EF4-FFF2-40B4-BE49-F238E27FC236}">
                <a16:creationId xmlns:a16="http://schemas.microsoft.com/office/drawing/2014/main" id="{FAA46C63-E291-C5BA-59B1-5AA6EB934DE7}"/>
              </a:ext>
            </a:extLst>
          </p:cNvPr>
          <p:cNvSpPr/>
          <p:nvPr/>
        </p:nvSpPr>
        <p:spPr>
          <a:xfrm>
            <a:off x="5232623" y="2618810"/>
            <a:ext cx="430306" cy="352298"/>
          </a:xfrm>
          <a:prstGeom prst="rightArrow">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9pPr>
          </a:lstStyle>
          <a:p>
            <a:pPr algn="ctr"/>
            <a:endParaRPr kumimoji="1" lang="ja-JP" altLang="en-US">
              <a:latin typeface="メイリオ"/>
              <a:ea typeface="メイリオ"/>
              <a:cs typeface="メイリオ"/>
            </a:endParaRPr>
          </a:p>
        </p:txBody>
      </p:sp>
      <p:pic>
        <p:nvPicPr>
          <p:cNvPr id="63" name="図 62">
            <a:extLst>
              <a:ext uri="{FF2B5EF4-FFF2-40B4-BE49-F238E27FC236}">
                <a16:creationId xmlns:a16="http://schemas.microsoft.com/office/drawing/2014/main" id="{15AB3743-9D18-6CD5-EBAE-3179EFAD1455}"/>
              </a:ext>
            </a:extLst>
          </p:cNvPr>
          <p:cNvPicPr>
            <a:picLocks noChangeAspect="1"/>
          </p:cNvPicPr>
          <p:nvPr/>
        </p:nvPicPr>
        <p:blipFill>
          <a:blip r:embed="rId4"/>
          <a:srcRect l="35517" r="35515"/>
          <a:stretch>
            <a:fillRect/>
          </a:stretch>
        </p:blipFill>
        <p:spPr>
          <a:xfrm>
            <a:off x="6038472" y="1875907"/>
            <a:ext cx="917480" cy="1779333"/>
          </a:xfrm>
          <a:prstGeom prst="rect">
            <a:avLst/>
          </a:prstGeom>
        </p:spPr>
      </p:pic>
      <p:sp>
        <p:nvSpPr>
          <p:cNvPr id="64" name="テキスト ボックス 34">
            <a:extLst>
              <a:ext uri="{FF2B5EF4-FFF2-40B4-BE49-F238E27FC236}">
                <a16:creationId xmlns:a16="http://schemas.microsoft.com/office/drawing/2014/main" id="{F684D30B-FB35-7D4D-6BE2-919C8EE56C1F}"/>
              </a:ext>
            </a:extLst>
          </p:cNvPr>
          <p:cNvSpPr txBox="1"/>
          <p:nvPr/>
        </p:nvSpPr>
        <p:spPr>
          <a:xfrm>
            <a:off x="6868291" y="2618810"/>
            <a:ext cx="2705100" cy="523220"/>
          </a:xfrm>
          <a:prstGeom prst="rect">
            <a:avLst/>
          </a:prstGeom>
          <a:noFill/>
        </p:spPr>
        <p:txBody>
          <a:bodyPr wrap="squar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algn="ctr"/>
            <a:r>
              <a:rPr kumimoji="1" lang="en-US" altLang="ja-JP" sz="1200" dirty="0">
                <a:latin typeface="メイリオ" panose="020B0604030504040204" pitchFamily="50" charset="-128"/>
                <a:ea typeface="メイリオ" panose="020B0604030504040204" pitchFamily="50" charset="-128"/>
                <a:cs typeface="メイリオ"/>
              </a:rPr>
              <a:t>LINE</a:t>
            </a:r>
            <a:r>
              <a:rPr kumimoji="1" lang="ja-JP" altLang="en-US" sz="1200" dirty="0">
                <a:latin typeface="メイリオ" panose="020B0604030504040204" pitchFamily="50" charset="-128"/>
                <a:ea typeface="メイリオ" panose="020B0604030504040204" pitchFamily="50" charset="-128"/>
                <a:cs typeface="メイリオ"/>
              </a:rPr>
              <a:t>アプリ内から</a:t>
            </a:r>
            <a:br>
              <a:rPr kumimoji="1" lang="en-US" altLang="ja-JP" sz="1200" dirty="0">
                <a:latin typeface="メイリオ" panose="020B0604030504040204" pitchFamily="50" charset="-128"/>
                <a:ea typeface="メイリオ" panose="020B0604030504040204" pitchFamily="50" charset="-128"/>
                <a:cs typeface="メイリオ"/>
              </a:rPr>
            </a:br>
            <a:r>
              <a:rPr kumimoji="1" lang="ja-JP" altLang="en-US" sz="1200" dirty="0">
                <a:latin typeface="メイリオ" panose="020B0604030504040204" pitchFamily="50" charset="-128"/>
                <a:ea typeface="メイリオ" panose="020B0604030504040204" pitchFamily="50" charset="-128"/>
                <a:cs typeface="メイリオ"/>
              </a:rPr>
              <a:t>自社アカウントに</a:t>
            </a:r>
            <a:r>
              <a:rPr kumimoji="1" lang="en-US" altLang="ja-JP" sz="1600" b="1" dirty="0">
                <a:solidFill>
                  <a:srgbClr val="33CC33"/>
                </a:solidFill>
                <a:latin typeface="メイリオ" panose="020B0604030504040204" pitchFamily="50" charset="-128"/>
                <a:ea typeface="メイリオ" panose="020B0604030504040204" pitchFamily="50" charset="-128"/>
                <a:cs typeface="メイリオ"/>
              </a:rPr>
              <a:t>“</a:t>
            </a:r>
            <a:r>
              <a:rPr kumimoji="1" lang="ja-JP" altLang="en-US" sz="1600" b="1" dirty="0">
                <a:solidFill>
                  <a:srgbClr val="33CC33"/>
                </a:solidFill>
                <a:latin typeface="メイリオ" panose="020B0604030504040204" pitchFamily="50" charset="-128"/>
                <a:ea typeface="メイリオ" panose="020B0604030504040204" pitchFamily="50" charset="-128"/>
                <a:cs typeface="メイリオ"/>
              </a:rPr>
              <a:t>直接</a:t>
            </a:r>
            <a:r>
              <a:rPr kumimoji="1" lang="en-US" altLang="ja-JP" sz="1600" b="1" dirty="0">
                <a:solidFill>
                  <a:srgbClr val="33CC33"/>
                </a:solidFill>
                <a:latin typeface="メイリオ" panose="020B0604030504040204" pitchFamily="50" charset="-128"/>
                <a:ea typeface="メイリオ" panose="020B0604030504040204" pitchFamily="50" charset="-128"/>
                <a:cs typeface="メイリオ"/>
              </a:rPr>
              <a:t>”</a:t>
            </a:r>
            <a:r>
              <a:rPr kumimoji="1" lang="ja-JP" altLang="en-US" sz="1200" dirty="0">
                <a:latin typeface="メイリオ" panose="020B0604030504040204" pitchFamily="50" charset="-128"/>
                <a:ea typeface="メイリオ" panose="020B0604030504040204" pitchFamily="50" charset="-128"/>
                <a:cs typeface="メイリオ"/>
              </a:rPr>
              <a:t>誘導</a:t>
            </a:r>
            <a:endParaRPr kumimoji="1" lang="en-US" altLang="ja-JP" sz="1200" dirty="0">
              <a:latin typeface="メイリオ" panose="020B0604030504040204" pitchFamily="50" charset="-128"/>
              <a:ea typeface="メイリオ" panose="020B0604030504040204" pitchFamily="50" charset="-128"/>
              <a:cs typeface="メイリオ"/>
            </a:endParaRPr>
          </a:p>
        </p:txBody>
      </p:sp>
    </p:spTree>
    <p:extLst>
      <p:ext uri="{BB962C8B-B14F-4D97-AF65-F5344CB8AC3E}">
        <p14:creationId xmlns:p14="http://schemas.microsoft.com/office/powerpoint/2010/main" val="2706008177"/>
      </p:ext>
    </p:extLst>
  </p:cSld>
  <p:clrMapOvr>
    <a:masterClrMapping/>
  </p:clrMapOvr>
</p:sld>
</file>

<file path=ppt/theme/theme1.xml><?xml version="1.0" encoding="utf-8"?>
<a:theme xmlns:a="http://schemas.openxmlformats.org/drawingml/2006/main" name="テーマ1">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テーマ1" id="{8EA1701B-0E00-4167-9612-575199E01EDB}" vid="{8EF6575E-BB77-44AE-AF00-801DE4CAFB82}"/>
    </a:ext>
  </a:extLst>
</a:theme>
</file>

<file path=ppt/theme/theme2.xml><?xml version="1.0" encoding="utf-8"?>
<a:theme xmlns:a="http://schemas.openxmlformats.org/drawingml/2006/main" name="DYMJAPA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Default Theme</Template>
  <TotalTime>142313</TotalTime>
  <Words>7860</Words>
  <Application>Microsoft Office PowerPoint</Application>
  <PresentationFormat>A4 210 x 297 mm</PresentationFormat>
  <Paragraphs>1329</Paragraphs>
  <Slides>59</Slides>
  <Notes>19</Notes>
  <HiddenSlides>0</HiddenSlides>
  <MMClips>0</MMClips>
  <ScaleCrop>false</ScaleCrop>
  <HeadingPairs>
    <vt:vector size="6" baseType="variant">
      <vt:variant>
        <vt:lpstr>使用されているフォント</vt:lpstr>
      </vt:variant>
      <vt:variant>
        <vt:i4>4</vt:i4>
      </vt:variant>
      <vt:variant>
        <vt:lpstr>テーマ</vt:lpstr>
      </vt:variant>
      <vt:variant>
        <vt:i4>2</vt:i4>
      </vt:variant>
      <vt:variant>
        <vt:lpstr>スライド タイトル</vt:lpstr>
      </vt:variant>
      <vt:variant>
        <vt:i4>59</vt:i4>
      </vt:variant>
    </vt:vector>
  </HeadingPairs>
  <TitlesOfParts>
    <vt:vector size="65" baseType="lpstr">
      <vt:lpstr>メイリオ</vt:lpstr>
      <vt:lpstr>Arial</vt:lpstr>
      <vt:lpstr>Calibri</vt:lpstr>
      <vt:lpstr>Century Gothic</vt:lpstr>
      <vt:lpstr>テーマ1</vt:lpstr>
      <vt:lpstr>DYMJAPAN</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中村 駿</dc:creator>
  <cp:lastModifiedBy>殿村 亮太</cp:lastModifiedBy>
  <cp:revision>1955</cp:revision>
  <cp:lastPrinted>2022-11-01T11:38:14Z</cp:lastPrinted>
  <dcterms:created xsi:type="dcterms:W3CDTF">2015-09-04T09:21:15Z</dcterms:created>
  <dcterms:modified xsi:type="dcterms:W3CDTF">2026-10-22T00:32:51Z</dcterms:modified>
</cp:coreProperties>
</file>