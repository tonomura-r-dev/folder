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49"/>
  </p:notesMasterIdLst>
  <p:handoutMasterIdLst>
    <p:handoutMasterId r:id="rId50"/>
  </p:handoutMasterIdLst>
  <p:sldIdLst>
    <p:sldId id="2363" r:id="rId3"/>
    <p:sldId id="3151" r:id="rId4"/>
    <p:sldId id="2935" r:id="rId5"/>
    <p:sldId id="2908" r:id="rId6"/>
    <p:sldId id="2950" r:id="rId7"/>
    <p:sldId id="2937" r:id="rId8"/>
    <p:sldId id="2966" r:id="rId9"/>
    <p:sldId id="2939" r:id="rId10"/>
    <p:sldId id="3140" r:id="rId11"/>
    <p:sldId id="3141" r:id="rId12"/>
    <p:sldId id="3142" r:id="rId13"/>
    <p:sldId id="2997" r:id="rId14"/>
    <p:sldId id="2956" r:id="rId15"/>
    <p:sldId id="2988" r:id="rId16"/>
    <p:sldId id="2972" r:id="rId17"/>
    <p:sldId id="3139" r:id="rId18"/>
    <p:sldId id="3147" r:id="rId19"/>
    <p:sldId id="3138" r:id="rId20"/>
    <p:sldId id="267" r:id="rId21"/>
    <p:sldId id="3148" r:id="rId22"/>
    <p:sldId id="2736" r:id="rId23"/>
    <p:sldId id="2983" r:id="rId24"/>
    <p:sldId id="2996" r:id="rId25"/>
    <p:sldId id="3143" r:id="rId26"/>
    <p:sldId id="3153" r:id="rId27"/>
    <p:sldId id="3144" r:id="rId28"/>
    <p:sldId id="3149" r:id="rId29"/>
    <p:sldId id="3145" r:id="rId30"/>
    <p:sldId id="3150" r:id="rId31"/>
    <p:sldId id="2984" r:id="rId32"/>
    <p:sldId id="2985" r:id="rId33"/>
    <p:sldId id="2962" r:id="rId34"/>
    <p:sldId id="2942" r:id="rId35"/>
    <p:sldId id="2941" r:id="rId36"/>
    <p:sldId id="2943" r:id="rId37"/>
    <p:sldId id="2944" r:id="rId38"/>
    <p:sldId id="3146" r:id="rId39"/>
    <p:sldId id="3154" r:id="rId55"/>
    <p:sldId id="3155" r:id="rId56"/>
    <p:sldId id="3156" r:id="rId57"/>
    <p:sldId id="3157" r:id="rId58"/>
    <p:sldId id="2990" r:id="rId40"/>
    <p:sldId id="2991" r:id="rId41"/>
    <p:sldId id="2967" r:id="rId42"/>
    <p:sldId id="3152" r:id="rId43"/>
    <p:sldId id="2946" r:id="rId44"/>
    <p:sldId id="2947" r:id="rId45"/>
    <p:sldId id="2948" r:id="rId46"/>
    <p:sldId id="2958" r:id="rId47"/>
    <p:sldId id="1169" r:id="rId4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2D6CB9"/>
    <a:srgbClr val="173559"/>
    <a:srgbClr val="04FA0A"/>
    <a:srgbClr val="2080FF"/>
    <a:srgbClr val="1D8DFF"/>
    <a:srgbClr val="515457"/>
    <a:srgbClr val="F6A454"/>
    <a:srgbClr val="EAEEF4"/>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905" autoAdjust="0"/>
    <p:restoredTop sz="94424" autoAdjust="0"/>
  </p:normalViewPr>
  <p:slideViewPr>
    <p:cSldViewPr snapToGrid="0">
      <p:cViewPr>
        <p:scale>
          <a:sx n="100" d="100"/>
          <a:sy n="100" d="100"/>
        </p:scale>
        <p:origin x="1830" y="318"/>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42.xml"/><Relationship Id="rId41" Type="http://schemas.openxmlformats.org/officeDocument/2006/relationships/slide" Target="slides/slide43.xml"/><Relationship Id="rId42" Type="http://schemas.openxmlformats.org/officeDocument/2006/relationships/slide" Target="slides/slide44.xml"/><Relationship Id="rId43" Type="http://schemas.openxmlformats.org/officeDocument/2006/relationships/slide" Target="slides/slide45.xml"/><Relationship Id="rId44" Type="http://schemas.openxmlformats.org/officeDocument/2006/relationships/slide" Target="slides/slide46.xml"/><Relationship Id="rId45" Type="http://schemas.openxmlformats.org/officeDocument/2006/relationships/slide" Target="slides/slide47.xml"/><Relationship Id="rId46" Type="http://schemas.openxmlformats.org/officeDocument/2006/relationships/slide" Target="slides/slide48.xml"/><Relationship Id="rId47" Type="http://schemas.openxmlformats.org/officeDocument/2006/relationships/slide" Target="slides/slide49.xml"/><Relationship Id="rId48" Type="http://schemas.openxmlformats.org/officeDocument/2006/relationships/slide" Target="slides/slide50.xml"/><Relationship Id="rId49" Type="http://schemas.openxmlformats.org/officeDocument/2006/relationships/notesMaster" Target="notesMasters/notesMaster1.xml"/><Relationship Id="rId50" Type="http://schemas.openxmlformats.org/officeDocument/2006/relationships/handoutMaster" Target="handoutMasters/handout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55" Type="http://schemas.openxmlformats.org/officeDocument/2006/relationships/slide" Target="slides/slide38.xml"/><Relationship Id="rId56" Type="http://schemas.openxmlformats.org/officeDocument/2006/relationships/slide" Target="slides/slide39.xml"/><Relationship Id="rId57" Type="http://schemas.openxmlformats.org/officeDocument/2006/relationships/slide" Target="slides/slide40.xml"/><Relationship Id="rId58" Type="http://schemas.openxmlformats.org/officeDocument/2006/relationships/slide" Target="slides/slide4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2026/9/8</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メイリオ"/>
        <a:ea typeface="メイリオ"/>
        <a:cs typeface="+mn-cs"/>
      </a:defRPr>
    </a:lvl1pPr>
    <a:lvl2pPr marL="457200" algn="l" defTabSz="914400" rtl="0" eaLnBrk="1" latinLnBrk="0" hangingPunct="1">
      <a:defRPr kumimoji="1" sz="1200" kern="1200">
        <a:solidFill>
          <a:schemeClr val="tx1"/>
        </a:solidFill>
        <a:latin typeface="メイリオ"/>
        <a:ea typeface="メイリオ"/>
        <a:cs typeface="+mn-cs"/>
      </a:defRPr>
    </a:lvl2pPr>
    <a:lvl3pPr marL="914400" algn="l" defTabSz="914400" rtl="0" eaLnBrk="1" latinLnBrk="0" hangingPunct="1">
      <a:defRPr kumimoji="1" sz="1200" kern="1200">
        <a:solidFill>
          <a:schemeClr val="tx1"/>
        </a:solidFill>
        <a:latin typeface="メイリオ"/>
        <a:ea typeface="メイリオ"/>
        <a:cs typeface="+mn-cs"/>
      </a:defRPr>
    </a:lvl3pPr>
    <a:lvl4pPr marL="1371600" algn="l" defTabSz="914400" rtl="0" eaLnBrk="1" latinLnBrk="0" hangingPunct="1">
      <a:defRPr kumimoji="1" sz="1200" kern="1200">
        <a:solidFill>
          <a:schemeClr val="tx1"/>
        </a:solidFill>
        <a:latin typeface="メイリオ"/>
        <a:ea typeface="メイリオ"/>
        <a:cs typeface="+mn-cs"/>
      </a:defRPr>
    </a:lvl4pPr>
    <a:lvl5pPr marL="1828800" algn="l" defTabSz="914400" rtl="0" eaLnBrk="1" latinLnBrk="0" hangingPunct="1">
      <a:defRPr kumimoji="1" sz="1200" kern="1200">
        <a:solidFill>
          <a:schemeClr val="tx1"/>
        </a:solidFill>
        <a:latin typeface="メイリオ"/>
        <a:ea typeface="メイリオ"/>
        <a:cs typeface="+mn-cs"/>
      </a:defRPr>
    </a:lvl5pPr>
    <a:lvl6pPr marL="2286000" algn="l" defTabSz="914400" rtl="0" eaLnBrk="1" latinLnBrk="0" hangingPunct="1">
      <a:defRPr kumimoji="1" sz="1200" kern="1200">
        <a:solidFill>
          <a:schemeClr val="tx1"/>
        </a:solidFill>
        <a:latin typeface="メイリオ"/>
        <a:ea typeface="メイリオ"/>
        <a:cs typeface="+mn-cs"/>
      </a:defRPr>
    </a:lvl6pPr>
    <a:lvl7pPr marL="2743200" algn="l" defTabSz="914400" rtl="0" eaLnBrk="1" latinLnBrk="0" hangingPunct="1">
      <a:defRPr kumimoji="1" sz="1200" kern="1200">
        <a:solidFill>
          <a:schemeClr val="tx1"/>
        </a:solidFill>
        <a:latin typeface="メイリオ"/>
        <a:ea typeface="メイリオ"/>
        <a:cs typeface="+mn-cs"/>
      </a:defRPr>
    </a:lvl7pPr>
    <a:lvl8pPr marL="3200400" algn="l" defTabSz="914400" rtl="0" eaLnBrk="1" latinLnBrk="0" hangingPunct="1">
      <a:defRPr kumimoji="1" sz="1200" kern="1200">
        <a:solidFill>
          <a:schemeClr val="tx1"/>
        </a:solidFill>
        <a:latin typeface="メイリオ"/>
        <a:ea typeface="メイリオ"/>
        <a:cs typeface="+mn-cs"/>
      </a:defRPr>
    </a:lvl8pPr>
    <a:lvl9pPr marL="3657600" algn="l" defTabSz="914400" rtl="0" eaLnBrk="1" latinLnBrk="0" hangingPunct="1">
      <a:defRPr kumimoji="1" sz="1200" kern="1200">
        <a:solidFill>
          <a:schemeClr val="tx1"/>
        </a:solidFill>
        <a:latin typeface="メイリオ"/>
        <a:ea typeface="メイリオ"/>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1125421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6156830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p12:notes"/>
          <p:cNvSpPr txBox="1">
            <a:spLocks noGrp="1"/>
          </p:cNvSpPr>
          <p:nvPr>
            <p:ph type="body" idx="1"/>
          </p:nvPr>
        </p:nvSpPr>
        <p:spPr>
          <a:xfrm>
            <a:off x="992030" y="3229651"/>
            <a:ext cx="7945755" cy="3059669"/>
          </a:xfrm>
          <a:prstGeom prst="rect">
            <a:avLst/>
          </a:prstGeom>
        </p:spPr>
        <p:txBody>
          <a:bodyPr spcFirstLastPara="1" wrap="square" lIns="95525" tIns="47750" rIns="95525" bIns="47750" anchor="t" anchorCtr="0">
            <a:noAutofit/>
          </a:bodyPr>
          <a:lstStyle/>
          <a:p>
            <a:pPr marL="0" lvl="0" indent="0" algn="l" rtl="0">
              <a:spcBef>
                <a:spcPts val="360"/>
              </a:spcBef>
              <a:spcAft>
                <a:spcPts val="0"/>
              </a:spcAft>
              <a:buNone/>
            </a:pPr>
            <a:endParaRPr/>
          </a:p>
        </p:txBody>
      </p:sp>
      <p:sp>
        <p:nvSpPr>
          <p:cNvPr id="468" name="Google Shape;468;p12:notes"/>
          <p:cNvSpPr>
            <a:spLocks noGrp="1" noRot="1" noChangeAspect="1"/>
          </p:cNvSpPr>
          <p:nvPr>
            <p:ph type="sldImg" idx="2"/>
          </p:nvPr>
        </p:nvSpPr>
        <p:spPr>
          <a:xfrm>
            <a:off x="3124200" y="509588"/>
            <a:ext cx="3681413" cy="25495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172251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A0FCE-2B60-6073-0196-9BECEBB48CB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7CFE8D6-363C-C197-3C60-88A1849108C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E45DC0-523A-3D00-326B-F7335CED0B2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781AB6B-D743-8208-3F8A-0CEEC635A50D}"/>
              </a:ext>
            </a:extLst>
          </p:cNvPr>
          <p:cNvSpPr>
            <a:spLocks noGrp="1"/>
          </p:cNvSpPr>
          <p:nvPr>
            <p:ph type="sldNum" sz="quarter" idx="10"/>
          </p:nvPr>
        </p:nvSpPr>
        <p:spPr/>
        <p:txBody>
          <a:bodyPr/>
          <a:lstStyle/>
          <a:p>
            <a:fld id="{022E43C0-6795-4B13-B37C-259C826D4B6A}" type="slidenum">
              <a:rPr kumimoji="1" lang="ja-JP" altLang="en-US" smtClean="0"/>
              <a:t>23</a:t>
            </a:fld>
            <a:endParaRPr kumimoji="1" lang="ja-JP" altLang="en-US"/>
          </a:p>
        </p:txBody>
      </p:sp>
    </p:spTree>
    <p:extLst>
      <p:ext uri="{BB962C8B-B14F-4D97-AF65-F5344CB8AC3E}">
        <p14:creationId xmlns:p14="http://schemas.microsoft.com/office/powerpoint/2010/main" val="12930765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30</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31</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メイリオ"/>
              <a:ea typeface="メイリオ"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メイリオ"/>
                <a:ea typeface="メイリオ" panose="020B0600070205080204" pitchFamily="50" charset="-128"/>
              </a:rPr>
              <a:pPr defTabSz="956886">
                <a:defRPr/>
              </a:pPr>
              <a:t>46</a:t>
            </a:fld>
            <a:endParaRPr lang="ja-JP" altLang="en-US">
              <a:solidFill>
                <a:prstClr val="black"/>
              </a:solidFill>
              <a:latin typeface="メイリオ"/>
              <a:ea typeface="メイリオ"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メイリオ" charset="0"/>
                <a:ea typeface="メイリオ" charset="0"/>
                <a:cs typeface="ＭＳ Ｐゴシック" charset="0"/>
              </a:defRPr>
            </a:lvl1pPr>
            <a:lvl2pPr marL="742950" indent="-285750">
              <a:defRPr kumimoji="1" sz="2400">
                <a:solidFill>
                  <a:schemeClr val="tx1"/>
                </a:solidFill>
                <a:latin typeface="メイリオ" charset="0"/>
                <a:ea typeface="メイリオ" charset="0"/>
              </a:defRPr>
            </a:lvl2pPr>
            <a:lvl3pPr marL="1143000" indent="-228600">
              <a:defRPr kumimoji="1" sz="2400">
                <a:solidFill>
                  <a:schemeClr val="tx1"/>
                </a:solidFill>
                <a:latin typeface="メイリオ" charset="0"/>
                <a:ea typeface="メイリオ" charset="0"/>
              </a:defRPr>
            </a:lvl3pPr>
            <a:lvl4pPr marL="1600200" indent="-228600">
              <a:defRPr kumimoji="1" sz="2400">
                <a:solidFill>
                  <a:schemeClr val="tx1"/>
                </a:solidFill>
                <a:latin typeface="メイリオ" charset="0"/>
                <a:ea typeface="メイリオ" charset="0"/>
              </a:defRPr>
            </a:lvl4pPr>
            <a:lvl5pPr marL="2057400" indent="-228600">
              <a:defRPr kumimoji="1" sz="2400">
                <a:solidFill>
                  <a:schemeClr val="tx1"/>
                </a:solidFill>
                <a:latin typeface="メイリオ" charset="0"/>
                <a:ea typeface="メイリオ" charset="0"/>
              </a:defRPr>
            </a:lvl5pPr>
            <a:lvl6pPr marL="2514600" indent="-228600" fontAlgn="base">
              <a:spcBef>
                <a:spcPct val="0"/>
              </a:spcBef>
              <a:spcAft>
                <a:spcPct val="0"/>
              </a:spcAft>
              <a:defRPr kumimoji="1" sz="2400">
                <a:solidFill>
                  <a:schemeClr val="tx1"/>
                </a:solidFill>
                <a:latin typeface="メイリオ" charset="0"/>
                <a:ea typeface="メイリオ" charset="0"/>
              </a:defRPr>
            </a:lvl6pPr>
            <a:lvl7pPr marL="2971800" indent="-228600" fontAlgn="base">
              <a:spcBef>
                <a:spcPct val="0"/>
              </a:spcBef>
              <a:spcAft>
                <a:spcPct val="0"/>
              </a:spcAft>
              <a:defRPr kumimoji="1" sz="2400">
                <a:solidFill>
                  <a:schemeClr val="tx1"/>
                </a:solidFill>
                <a:latin typeface="メイリオ" charset="0"/>
                <a:ea typeface="メイリオ" charset="0"/>
              </a:defRPr>
            </a:lvl7pPr>
            <a:lvl8pPr marL="3429000" indent="-228600" fontAlgn="base">
              <a:spcBef>
                <a:spcPct val="0"/>
              </a:spcBef>
              <a:spcAft>
                <a:spcPct val="0"/>
              </a:spcAft>
              <a:defRPr kumimoji="1" sz="2400">
                <a:solidFill>
                  <a:schemeClr val="tx1"/>
                </a:solidFill>
                <a:latin typeface="メイリオ" charset="0"/>
                <a:ea typeface="メイリオ" charset="0"/>
              </a:defRPr>
            </a:lvl8pPr>
            <a:lvl9pPr marL="3886200" indent="-228600" fontAlgn="base">
              <a:spcBef>
                <a:spcPct val="0"/>
              </a:spcBef>
              <a:spcAft>
                <a:spcPct val="0"/>
              </a:spcAft>
              <a:defRPr kumimoji="1" sz="2400">
                <a:solidFill>
                  <a:schemeClr val="tx1"/>
                </a:solidFill>
                <a:latin typeface="メイリオ" charset="0"/>
                <a:ea typeface="メイリオ"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メイリオ"/>
          <a:ea typeface="メイリオ"/>
          <a:cs typeface="+mj-cs"/>
        </a:defRPr>
      </a:lvl1pPr>
      <a:lvl2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2pPr>
      <a:lvl3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3pPr>
      <a:lvl4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4pPr>
      <a:lvl5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5pPr>
      <a:lvl6pPr marL="4572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6pPr>
      <a:lvl7pPr marL="9144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7pPr>
      <a:lvl8pPr marL="13716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8pPr>
      <a:lvl9pPr marL="18288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メイリオ"/>
          <a:ea typeface="メイリオ"/>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メイリオ"/>
          <a:ea typeface="メイリオ"/>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メイリオ"/>
          <a:ea typeface="メイリオ"/>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9pPr>
    </p:bodyStyle>
    <p:other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メイリオ" charset="0"/>
                <a:ea typeface="メイリオ" charset="0"/>
                <a:cs typeface="ＭＳ Ｐゴシック" charset="0"/>
              </a:defRPr>
            </a:lvl1pPr>
            <a:lvl2pPr marL="742950" indent="-285750">
              <a:defRPr kumimoji="1" sz="2400">
                <a:solidFill>
                  <a:schemeClr val="tx1"/>
                </a:solidFill>
                <a:latin typeface="メイリオ" charset="0"/>
                <a:ea typeface="メイリオ" charset="0"/>
              </a:defRPr>
            </a:lvl2pPr>
            <a:lvl3pPr marL="1143000" indent="-228600">
              <a:defRPr kumimoji="1" sz="2400">
                <a:solidFill>
                  <a:schemeClr val="tx1"/>
                </a:solidFill>
                <a:latin typeface="メイリオ" charset="0"/>
                <a:ea typeface="メイリオ" charset="0"/>
              </a:defRPr>
            </a:lvl3pPr>
            <a:lvl4pPr marL="1600200" indent="-228600">
              <a:defRPr kumimoji="1" sz="2400">
                <a:solidFill>
                  <a:schemeClr val="tx1"/>
                </a:solidFill>
                <a:latin typeface="メイリオ" charset="0"/>
                <a:ea typeface="メイリオ" charset="0"/>
              </a:defRPr>
            </a:lvl4pPr>
            <a:lvl5pPr marL="2057400" indent="-228600">
              <a:defRPr kumimoji="1" sz="2400">
                <a:solidFill>
                  <a:schemeClr val="tx1"/>
                </a:solidFill>
                <a:latin typeface="メイリオ" charset="0"/>
                <a:ea typeface="メイリオ" charset="0"/>
              </a:defRPr>
            </a:lvl5pPr>
            <a:lvl6pPr marL="2514600" indent="-228600" fontAlgn="base">
              <a:spcBef>
                <a:spcPct val="0"/>
              </a:spcBef>
              <a:spcAft>
                <a:spcPct val="0"/>
              </a:spcAft>
              <a:defRPr kumimoji="1" sz="2400">
                <a:solidFill>
                  <a:schemeClr val="tx1"/>
                </a:solidFill>
                <a:latin typeface="メイリオ" charset="0"/>
                <a:ea typeface="メイリオ" charset="0"/>
              </a:defRPr>
            </a:lvl6pPr>
            <a:lvl7pPr marL="2971800" indent="-228600" fontAlgn="base">
              <a:spcBef>
                <a:spcPct val="0"/>
              </a:spcBef>
              <a:spcAft>
                <a:spcPct val="0"/>
              </a:spcAft>
              <a:defRPr kumimoji="1" sz="2400">
                <a:solidFill>
                  <a:schemeClr val="tx1"/>
                </a:solidFill>
                <a:latin typeface="メイリオ" charset="0"/>
                <a:ea typeface="メイリオ" charset="0"/>
              </a:defRPr>
            </a:lvl7pPr>
            <a:lvl8pPr marL="3429000" indent="-228600" fontAlgn="base">
              <a:spcBef>
                <a:spcPct val="0"/>
              </a:spcBef>
              <a:spcAft>
                <a:spcPct val="0"/>
              </a:spcAft>
              <a:defRPr kumimoji="1" sz="2400">
                <a:solidFill>
                  <a:schemeClr val="tx1"/>
                </a:solidFill>
                <a:latin typeface="メイリオ" charset="0"/>
                <a:ea typeface="メイリオ" charset="0"/>
              </a:defRPr>
            </a:lvl8pPr>
            <a:lvl9pPr marL="3886200" indent="-228600" fontAlgn="base">
              <a:spcBef>
                <a:spcPct val="0"/>
              </a:spcBef>
              <a:spcAft>
                <a:spcPct val="0"/>
              </a:spcAft>
              <a:defRPr kumimoji="1" sz="2400">
                <a:solidFill>
                  <a:schemeClr val="tx1"/>
                </a:solidFill>
                <a:latin typeface="メイリオ" charset="0"/>
                <a:ea typeface="メイリオ"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r"/>
            <a:fld id="{9FC100E3-15F5-4145-A942-47DB1D8B776D}" type="slidenum">
              <a:rPr lang="ja-JP" altLang="en-US" sz="1400" i="1" smtClean="0">
                <a:solidFill>
                  <a:prstClr val="white"/>
                </a:solidFill>
                <a:latin typeface="メイリオ" panose="020B0502020202020204" pitchFamily="34" charset="0"/>
                <a:ea typeface="メイリオ"/>
              </a:rPr>
              <a:pPr algn="r"/>
              <a:t>‹#›</a:t>
            </a:fld>
            <a:endParaRPr lang="ja-JP" altLang="en-US" sz="1400" i="1" dirty="0">
              <a:solidFill>
                <a:prstClr val="white"/>
              </a:solidFill>
              <a:latin typeface="メイリオ" panose="020B0502020202020204" pitchFamily="34" charset="0"/>
              <a:ea typeface="メイリオ"/>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メイリオ"/>
          <a:ea typeface="メイリオ"/>
          <a:cs typeface="ＭＳ Ｐゴシック" charset="0"/>
        </a:defRPr>
      </a:lvl1pPr>
      <a:lvl2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メイリオ"/>
          <a:ea typeface="メイリオ"/>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メイリオ"/>
          <a:ea typeface="メイリオ"/>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メイリオ"/>
          <a:ea typeface="メイリオ"/>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9pPr>
    </p:bodyStyle>
    <p:otherStyle>
      <a:defPPr>
        <a:defRPr lang="ja-JP"/>
      </a:defPPr>
      <a:lvl1pPr marL="0" algn="l" defTabSz="457200" rtl="0" eaLnBrk="1" latinLnBrk="0" hangingPunct="1">
        <a:defRPr kumimoji="1" sz="1800" kern="1200">
          <a:solidFill>
            <a:schemeClr val="tx1"/>
          </a:solidFill>
          <a:latin typeface="メイリオ"/>
          <a:ea typeface="メイリオ"/>
          <a:cs typeface="+mn-cs"/>
        </a:defRPr>
      </a:lvl1pPr>
      <a:lvl2pPr marL="457200" algn="l" defTabSz="457200" rtl="0" eaLnBrk="1" latinLnBrk="0" hangingPunct="1">
        <a:defRPr kumimoji="1" sz="1800" kern="1200">
          <a:solidFill>
            <a:schemeClr val="tx1"/>
          </a:solidFill>
          <a:latin typeface="メイリオ"/>
          <a:ea typeface="メイリオ"/>
          <a:cs typeface="+mn-cs"/>
        </a:defRPr>
      </a:lvl2pPr>
      <a:lvl3pPr marL="914400" algn="l" defTabSz="457200" rtl="0" eaLnBrk="1" latinLnBrk="0" hangingPunct="1">
        <a:defRPr kumimoji="1" sz="1800" kern="1200">
          <a:solidFill>
            <a:schemeClr val="tx1"/>
          </a:solidFill>
          <a:latin typeface="メイリオ"/>
          <a:ea typeface="メイリオ"/>
          <a:cs typeface="+mn-cs"/>
        </a:defRPr>
      </a:lvl3pPr>
      <a:lvl4pPr marL="1371600" algn="l" defTabSz="457200" rtl="0" eaLnBrk="1" latinLnBrk="0" hangingPunct="1">
        <a:defRPr kumimoji="1" sz="1800" kern="1200">
          <a:solidFill>
            <a:schemeClr val="tx1"/>
          </a:solidFill>
          <a:latin typeface="メイリオ"/>
          <a:ea typeface="メイリオ"/>
          <a:cs typeface="+mn-cs"/>
        </a:defRPr>
      </a:lvl4pPr>
      <a:lvl5pPr marL="1828800" algn="l" defTabSz="457200" rtl="0" eaLnBrk="1" latinLnBrk="0" hangingPunct="1">
        <a:defRPr kumimoji="1" sz="1800" kern="1200">
          <a:solidFill>
            <a:schemeClr val="tx1"/>
          </a:solidFill>
          <a:latin typeface="メイリオ"/>
          <a:ea typeface="メイリオ"/>
          <a:cs typeface="+mn-cs"/>
        </a:defRPr>
      </a:lvl5pPr>
      <a:lvl6pPr marL="2286000" algn="l" defTabSz="457200" rtl="0" eaLnBrk="1" latinLnBrk="0" hangingPunct="1">
        <a:defRPr kumimoji="1" sz="1800" kern="1200">
          <a:solidFill>
            <a:schemeClr val="tx1"/>
          </a:solidFill>
          <a:latin typeface="メイリオ"/>
          <a:ea typeface="メイリオ"/>
          <a:cs typeface="+mn-cs"/>
        </a:defRPr>
      </a:lvl6pPr>
      <a:lvl7pPr marL="2743200" algn="l" defTabSz="457200" rtl="0" eaLnBrk="1" latinLnBrk="0" hangingPunct="1">
        <a:defRPr kumimoji="1" sz="1800" kern="1200">
          <a:solidFill>
            <a:schemeClr val="tx1"/>
          </a:solidFill>
          <a:latin typeface="メイリオ"/>
          <a:ea typeface="メイリオ"/>
          <a:cs typeface="+mn-cs"/>
        </a:defRPr>
      </a:lvl7pPr>
      <a:lvl8pPr marL="3200400" algn="l" defTabSz="457200" rtl="0" eaLnBrk="1" latinLnBrk="0" hangingPunct="1">
        <a:defRPr kumimoji="1" sz="1800" kern="1200">
          <a:solidFill>
            <a:schemeClr val="tx1"/>
          </a:solidFill>
          <a:latin typeface="メイリオ"/>
          <a:ea typeface="メイリオ"/>
          <a:cs typeface="+mn-cs"/>
        </a:defRPr>
      </a:lvl8pPr>
      <a:lvl9pPr marL="3657600" algn="l" defTabSz="457200" rtl="0" eaLnBrk="1" latinLnBrk="0" hangingPunct="1">
        <a:defRPr kumimoji="1" sz="1800" kern="1200">
          <a:solidFill>
            <a:schemeClr val="tx1"/>
          </a:solidFill>
          <a:latin typeface="メイリオ"/>
          <a:ea typeface="メイリオ"/>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jpeg"/><Relationship Id="rId4" Type="http://schemas.openxmlformats.org/officeDocument/2006/relationships/image" Target="../media/image7.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image" Target="../media/image30.png"/><Relationship Id="rId4" Type="http://schemas.openxmlformats.org/officeDocument/2006/relationships/image" Target="../media/image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2.png"/><Relationship Id="rId5" Type="http://schemas.openxmlformats.org/officeDocument/2006/relationships/image" Target="../media/image3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3.emf"/><Relationship Id="rId4" Type="http://schemas.openxmlformats.org/officeDocument/2006/relationships/image" Target="../media/image25.jpeg"/><Relationship Id="rId5" Type="http://schemas.openxmlformats.org/officeDocument/2006/relationships/image" Target="../media/image26.jpeg"/><Relationship Id="rId6" Type="http://schemas.openxmlformats.org/officeDocument/2006/relationships/image" Target="../media/image27.jpeg"/><Relationship Id="rId7" Type="http://schemas.openxmlformats.org/officeDocument/2006/relationships/image" Target="../media/image28.jpeg"/><Relationship Id="rId8" Type="http://schemas.openxmlformats.org/officeDocument/2006/relationships/image" Target="../media/image29.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729823"/>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rPr>
              <a:t>業界：学校法人（大学・専門学校）</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ED39001-ACC7-138F-6DD5-C2073D5DE829}"/>
              </a:ext>
            </a:extLst>
          </p:cNvPr>
          <p:cNvSpPr txBox="1"/>
          <p:nvPr/>
        </p:nvSpPr>
        <p:spPr>
          <a:xfrm>
            <a:off x="595223" y="129396"/>
            <a:ext cx="1620957" cy="338554"/>
          </a:xfrm>
          <a:prstGeom prst="rect">
            <a:avLst/>
          </a:prstGeom>
          <a:noFill/>
        </p:spPr>
        <p:txBody>
          <a:bodyPr wrap="none" rtlCol="0">
            <a:spAutoFit/>
          </a:bodyPr>
          <a:lstStyle/>
          <a:p>
            <a:r>
              <a:rPr kumimoji="1" lang="ja-JP" altLang="en-US" sz="1600" b="1" dirty="0">
                <a:solidFill>
                  <a:srgbClr val="002060"/>
                </a:solidFill>
                <a:latin typeface="+mj-ea"/>
                <a:ea typeface="+mj-ea"/>
              </a:rPr>
              <a:t>アジェンダ構成</a:t>
            </a:r>
            <a:endParaRPr kumimoji="1" lang="en-US" altLang="ja-JP" sz="1600" b="1" dirty="0">
              <a:solidFill>
                <a:srgbClr val="002060"/>
              </a:solidFill>
              <a:latin typeface="+mj-ea"/>
              <a:ea typeface="+mj-ea"/>
            </a:endParaRPr>
          </a:p>
        </p:txBody>
      </p:sp>
      <p:sp>
        <p:nvSpPr>
          <p:cNvPr id="7" name="テキスト ボックス 6">
            <a:extLst>
              <a:ext uri="{FF2B5EF4-FFF2-40B4-BE49-F238E27FC236}">
                <a16:creationId xmlns:a16="http://schemas.microsoft.com/office/drawing/2014/main" id="{AFD80AAF-7C29-1B7B-BAD5-38BB2C055EA4}"/>
              </a:ext>
            </a:extLst>
          </p:cNvPr>
          <p:cNvSpPr txBox="1"/>
          <p:nvPr/>
        </p:nvSpPr>
        <p:spPr>
          <a:xfrm>
            <a:off x="664235" y="2406770"/>
            <a:ext cx="8143335" cy="1938992"/>
          </a:xfrm>
          <a:prstGeom prst="rect">
            <a:avLst/>
          </a:prstGeom>
          <a:noFill/>
        </p:spPr>
        <p:txBody>
          <a:bodyPr wrap="square" rtlCol="0">
            <a:spAutoFit/>
          </a:bodyPr>
          <a:lstStyle/>
          <a:p>
            <a:r>
              <a:rPr lang="en-US" altLang="ja-JP" sz="2400" dirty="0"/>
              <a:t>1. LINE公式アカウントを検討する背景</a:t>
            </a:r>
            <a:endParaRPr lang="en-US" altLang="ja-JP" sz="2400" dirty="0"/>
          </a:p>
          <a:p>
            <a:r>
              <a:rPr lang="en-US" altLang="ja-JP" sz="2400" dirty="0"/>
              <a:t>2. 配信の考え方 ── 市場・需要の実態</a:t>
            </a:r>
            <a:endParaRPr lang="en-US" altLang="ja-JP" sz="2400" dirty="0"/>
          </a:p>
          <a:p>
            <a:r>
              <a:rPr lang="en-US" altLang="ja-JP" sz="2400" dirty="0"/>
              <a:t>3. 施策の詳細（配信の効率化）── 設計と改善モデル</a:t>
            </a:r>
            <a:endParaRPr lang="en-US" altLang="ja-JP" sz="2400" dirty="0"/>
          </a:p>
          <a:p>
            <a:r>
              <a:rPr lang="en-US" altLang="ja-JP" sz="2400" dirty="0"/>
              <a:t>4. 具体プラン提示</a:t>
            </a:r>
            <a:endParaRPr lang="en-US" altLang="ja-JP" sz="2400" dirty="0"/>
          </a:p>
          <a:p>
            <a:r>
              <a:rPr lang="en-US" altLang="ja-JP" sz="2400" dirty="0"/>
              <a:t>5. ご提案にあたり（施策紹介・企画案）</a:t>
            </a:r>
            <a:endParaRPr lang="en-US" altLang="ja-JP" sz="2400" dirty="0"/>
          </a:p>
        </p:txBody>
      </p:sp>
    </p:spTree>
    <p:extLst>
      <p:ext uri="{BB962C8B-B14F-4D97-AF65-F5344CB8AC3E}">
        <p14:creationId xmlns:p14="http://schemas.microsoft.com/office/powerpoint/2010/main" val="3283623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資料請求・オープンキャンパス予約に対して、”ハードルが高く感じる”高校生が増えている状況。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LINEで学部学科診断・OC予約 &gt;&gt; 出願 の導線設計でハードルを抑える。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「LINE学部診断・OC予約」にてLINEリードを獲得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入学後の定着・中退防止</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在学生／保護者／卒業生へ</a:t>
            </a:r>
            <a:endParaRPr kumimoji="1" lang="en-US" altLang="ja-JP"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志望領域・通学圏</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en-US" altLang="ja-JP"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
        <p:nvSpPr>
          <p:cNvPr id="59" name="TextBox 58"/>
          <p:cNvSpPr txBox="1"/>
          <p:nvPr/>
        </p:nvSpPr>
        <p:spPr>
          <a:xfrm>
            <a:off x="360000" y="6426000"/>
            <a:ext cx="7128000" cy="180000"/>
          </a:xfrm>
          <a:prstGeom prst="rect">
            <a:avLst/>
          </a:prstGeom>
          <a:noFill/>
        </p:spPr>
        <p:txBody>
          <a:bodyPr wrap="square" lIns="18000" tIns="0" rIns="18000" bIns="0">
            <a:spAutoFit/>
          </a:bodyPr>
          <a:lstStyle/>
          <a:p>
            <a:r>
              <a:rPr sz="800">
                <a:solidFill>
                  <a:srgbClr val="646C82"/>
                </a:solidFill>
                <a:latin typeface="メイリオ"/>
                <a:ea typeface="メイリオ"/>
              </a:rPr>
              <a:t>※ 高校生の進路検討は約18ヶ月（高2春〜高3秋）。募集のチャンスは年1回で、取りこぼした1人は翌年戻らない（1名の入学＝4年間で約470万円）</a:t>
            </a:r>
          </a:p>
        </p:txBody>
      </p:sp>
    </p:spTree>
    <p:extLst>
      <p:ext uri="{BB962C8B-B14F-4D97-AF65-F5344CB8AC3E}">
        <p14:creationId xmlns:p14="http://schemas.microsoft.com/office/powerpoint/2010/main" val="99384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Meiryo"/>
                <a:sym typeface="Meiryo"/>
              </a:rPr>
              <a:t>LINE</a:t>
            </a:r>
            <a:r>
              <a:rPr lang="ja-JP" altLang="en-US" sz="1600" b="1" dirty="0">
                <a:solidFill>
                  <a:schemeClr val="tx1">
                    <a:lumMod val="50000"/>
                    <a:lumOff val="50000"/>
                  </a:schemeClr>
                </a:solidFill>
                <a:latin typeface="メイリオ"/>
                <a:ea typeface="メイリオ"/>
                <a:cs typeface="Meiryo"/>
                <a:sym typeface="Meiryo"/>
              </a:rPr>
              <a:t>施策における重要な考え方</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2646504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30秒 学部学科診断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ステップ配信（7〜14通）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オープンキャンパス予約への誘導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BF4E0E"/>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BF4E0E"/>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BF4E0E"/>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（4問）→ 学年・志望度で分類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サンクス自動MSG＋</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OC当日の流れ・持ち物案内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前日リマインド配信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出願スケジュール案内</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スクリーニング（4問）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志望度・通学圏の把握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OC参加・出願への誘導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アンケートで学年・志望把握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入試方式別・時期別の企画配信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(資料請求者・OC参加者を友だち化)</a:t>
            </a: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入学後もLINEで接点維持</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中退防止・在学生・卒業生へ</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5B1FD88-3B25-D76E-99D7-CDD7E800E78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709B81B2-1251-DE55-B4B3-220553E132F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1E8D898A-0AF4-2505-8EE3-9F12824F6A59}"/>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施策においては、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動線</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が重要。</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011C5FFF-B61A-EB8E-326E-072A0E269233}"/>
              </a:ext>
            </a:extLst>
          </p:cNvPr>
          <p:cNvSpPr/>
          <p:nvPr/>
        </p:nvSpPr>
        <p:spPr>
          <a:xfrm>
            <a:off x="3587358" y="1747110"/>
            <a:ext cx="860817" cy="143296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初期</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（初動）</a:t>
            </a:r>
            <a:endParaRPr kumimoji="1" lang="ja-JP" altLang="en-US" sz="12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1F32D58-29FF-60A6-17B5-A41ACCBE9449}"/>
              </a:ext>
            </a:extLst>
          </p:cNvPr>
          <p:cNvSpPr/>
          <p:nvPr/>
        </p:nvSpPr>
        <p:spPr>
          <a:xfrm>
            <a:off x="3587358" y="3321847"/>
            <a:ext cx="860817" cy="292127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月次</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（定例）</a:t>
            </a:r>
            <a:endParaRPr kumimoji="1" lang="ja-JP" altLang="en-US" sz="1200" b="1" dirty="0">
              <a:latin typeface="メイリオ" panose="020B0604030504040204" pitchFamily="50" charset="-128"/>
              <a:ea typeface="メイリオ" panose="020B0604030504040204" pitchFamily="50" charset="-128"/>
            </a:endParaRPr>
          </a:p>
        </p:txBody>
      </p:sp>
      <p:sp>
        <p:nvSpPr>
          <p:cNvPr id="8" name="四角形: 角を丸くする 7">
            <a:extLst>
              <a:ext uri="{FF2B5EF4-FFF2-40B4-BE49-F238E27FC236}">
                <a16:creationId xmlns:a16="http://schemas.microsoft.com/office/drawing/2014/main" id="{22EC6943-AA14-49EA-30CF-5D813BA45BFD}"/>
              </a:ext>
            </a:extLst>
          </p:cNvPr>
          <p:cNvSpPr/>
          <p:nvPr/>
        </p:nvSpPr>
        <p:spPr>
          <a:xfrm>
            <a:off x="336942" y="172938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離脱防止・ポップアップ</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HP/LP</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滞在時に、条件を満たすと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ポップアップバナーを表示する</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0" name="四角形: 角を丸くする 9">
            <a:extLst>
              <a:ext uri="{FF2B5EF4-FFF2-40B4-BE49-F238E27FC236}">
                <a16:creationId xmlns:a16="http://schemas.microsoft.com/office/drawing/2014/main" id="{3436AF3F-C2E7-3494-0B01-4BC00578C5FF}"/>
              </a:ext>
            </a:extLst>
          </p:cNvPr>
          <p:cNvSpPr/>
          <p:nvPr/>
        </p:nvSpPr>
        <p:spPr>
          <a:xfrm>
            <a:off x="336942" y="2642195"/>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通知メッセージ</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ユーザーアクション時に</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API</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連携で</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にメッセ送付</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1" name="四角形: 角を丸くする 10">
            <a:extLst>
              <a:ext uri="{FF2B5EF4-FFF2-40B4-BE49-F238E27FC236}">
                <a16:creationId xmlns:a16="http://schemas.microsoft.com/office/drawing/2014/main" id="{6B8D9E5A-638C-EACC-4E99-235D769FBAB5}"/>
              </a:ext>
            </a:extLst>
          </p:cNvPr>
          <p:cNvSpPr/>
          <p:nvPr/>
        </p:nvSpPr>
        <p:spPr>
          <a:xfrm>
            <a:off x="336942" y="3555007"/>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サンクス</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誘導ツール</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WEB</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サイトの</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CV</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ページから</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入力情報を引き継ぎ</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へ自動遷移</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340447B4-FBD9-E81D-7902-7B3BF84ED83A}"/>
              </a:ext>
            </a:extLst>
          </p:cNvPr>
          <p:cNvSpPr/>
          <p:nvPr/>
        </p:nvSpPr>
        <p:spPr>
          <a:xfrm>
            <a:off x="336942" y="445829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ログイン・</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ID</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連携等</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ログインに</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 </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を使用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サイトユーザー</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と</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を連携</a:t>
            </a:r>
            <a:endParaRPr kumimoji="1" lang="ja-JP" altLang="en-US" sz="105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四角形: 角を丸くする 13">
            <a:extLst>
              <a:ext uri="{FF2B5EF4-FFF2-40B4-BE49-F238E27FC236}">
                <a16:creationId xmlns:a16="http://schemas.microsoft.com/office/drawing/2014/main" id="{BD6C1FC9-285C-AE02-A175-C7061E1A753F}"/>
              </a:ext>
            </a:extLst>
          </p:cNvPr>
          <p:cNvSpPr/>
          <p:nvPr/>
        </p:nvSpPr>
        <p:spPr>
          <a:xfrm>
            <a:off x="336942" y="5361315"/>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CPF</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広告</a:t>
            </a:r>
            <a:endPar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5" name="四角形: 角を丸くする 14">
            <a:extLst>
              <a:ext uri="{FF2B5EF4-FFF2-40B4-BE49-F238E27FC236}">
                <a16:creationId xmlns:a16="http://schemas.microsoft.com/office/drawing/2014/main" id="{74F6F515-C9A5-F22C-3E1C-CF4380DB9991}"/>
              </a:ext>
            </a:extLst>
          </p:cNvPr>
          <p:cNvSpPr/>
          <p:nvPr/>
        </p:nvSpPr>
        <p:spPr>
          <a:xfrm>
            <a:off x="336942" y="5829843"/>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スタンプ・</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Pt</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施策</a:t>
            </a:r>
          </a:p>
        </p:txBody>
      </p:sp>
      <p:sp>
        <p:nvSpPr>
          <p:cNvPr id="16" name="正方形/長方形 15">
            <a:extLst>
              <a:ext uri="{FF2B5EF4-FFF2-40B4-BE49-F238E27FC236}">
                <a16:creationId xmlns:a16="http://schemas.microsoft.com/office/drawing/2014/main" id="{0156D598-0831-CD8B-6A89-EE3DAF51A5E9}"/>
              </a:ext>
            </a:extLst>
          </p:cNvPr>
          <p:cNvSpPr/>
          <p:nvPr/>
        </p:nvSpPr>
        <p:spPr>
          <a:xfrm>
            <a:off x="4482711" y="1756635"/>
            <a:ext cx="3233084" cy="143296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・リッチメニュー</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・プロフ動線</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・あいさつ</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MSG</a:t>
            </a: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KW</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自動応答設定</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・友だち登録直後アンケート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・再引上げ</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・ステップ配信</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：特定アクション後◯日での自動配信</a:t>
            </a:r>
            <a:endParaRPr kumimoji="1" lang="ja-JP" altLang="en-US" sz="12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24F01906-5193-F098-3B58-BDCC26D568EA}"/>
              </a:ext>
            </a:extLst>
          </p:cNvPr>
          <p:cNvSpPr/>
          <p:nvPr/>
        </p:nvSpPr>
        <p:spPr>
          <a:xfrm>
            <a:off x="4482711" y="3331372"/>
            <a:ext cx="3233084" cy="29212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新規</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ja-JP" altLang="en-US" sz="1200" b="1" dirty="0">
                <a:solidFill>
                  <a:srgbClr val="FF0000"/>
                </a:solidFill>
                <a:latin typeface="メイリオ" panose="020B0604030504040204" pitchFamily="50" charset="-128"/>
                <a:ea typeface="メイリオ" panose="020B0604030504040204" pitchFamily="50" charset="-128"/>
              </a:rPr>
              <a:t>→ 月間投稿数</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・イベント配信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・クーポン配信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・企画配信（特定ターゲット）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・診断型配信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・お役立ちコラム・コンテンツ配信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・季節／時事ネタ配信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a:t>
            </a:r>
          </a:p>
          <a:p>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調整</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・アンケート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・自動応答</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a:t>
            </a:r>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QA</a:t>
            </a: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集</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・リッチメニュー</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・ステップ配信</a:t>
            </a:r>
          </a:p>
        </p:txBody>
      </p:sp>
      <p:sp>
        <p:nvSpPr>
          <p:cNvPr id="19" name="左大かっこ 18">
            <a:extLst>
              <a:ext uri="{FF2B5EF4-FFF2-40B4-BE49-F238E27FC236}">
                <a16:creationId xmlns:a16="http://schemas.microsoft.com/office/drawing/2014/main" id="{B9FF3DCE-9B05-09FE-7C2F-B104CD0105BE}"/>
              </a:ext>
            </a:extLst>
          </p:cNvPr>
          <p:cNvSpPr/>
          <p:nvPr/>
        </p:nvSpPr>
        <p:spPr>
          <a:xfrm>
            <a:off x="3210542" y="1800836"/>
            <a:ext cx="215932" cy="4398089"/>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4" name="左大かっこ 23">
            <a:extLst>
              <a:ext uri="{FF2B5EF4-FFF2-40B4-BE49-F238E27FC236}">
                <a16:creationId xmlns:a16="http://schemas.microsoft.com/office/drawing/2014/main" id="{61357E78-5BD2-BBD8-1F18-B1985600E22B}"/>
              </a:ext>
            </a:extLst>
          </p:cNvPr>
          <p:cNvSpPr/>
          <p:nvPr/>
        </p:nvSpPr>
        <p:spPr>
          <a:xfrm flipH="1">
            <a:off x="2892035" y="1756635"/>
            <a:ext cx="215932" cy="4486491"/>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pic>
        <p:nvPicPr>
          <p:cNvPr id="26" name="図 25">
            <a:extLst>
              <a:ext uri="{FF2B5EF4-FFF2-40B4-BE49-F238E27FC236}">
                <a16:creationId xmlns:a16="http://schemas.microsoft.com/office/drawing/2014/main" id="{56E6CFC0-FB45-E508-C7ED-E0F29C95F377}"/>
              </a:ext>
            </a:extLst>
          </p:cNvPr>
          <p:cNvPicPr>
            <a:picLocks noChangeAspect="1"/>
          </p:cNvPicPr>
          <p:nvPr/>
        </p:nvPicPr>
        <p:blipFill>
          <a:blip r:embed="rId2"/>
          <a:stretch>
            <a:fillRect/>
          </a:stretch>
        </p:blipFill>
        <p:spPr>
          <a:xfrm>
            <a:off x="2862090" y="2173993"/>
            <a:ext cx="582602" cy="543237"/>
          </a:xfrm>
          <a:prstGeom prst="rect">
            <a:avLst/>
          </a:prstGeom>
        </p:spPr>
      </p:pic>
      <p:cxnSp>
        <p:nvCxnSpPr>
          <p:cNvPr id="27" name="直線矢印コネクタ 26">
            <a:extLst>
              <a:ext uri="{FF2B5EF4-FFF2-40B4-BE49-F238E27FC236}">
                <a16:creationId xmlns:a16="http://schemas.microsoft.com/office/drawing/2014/main" id="{38D782E3-91EF-D26A-1906-21A51865A939}"/>
              </a:ext>
            </a:extLst>
          </p:cNvPr>
          <p:cNvCxnSpPr>
            <a:cxnSpLocks/>
          </p:cNvCxnSpPr>
          <p:nvPr/>
        </p:nvCxnSpPr>
        <p:spPr>
          <a:xfrm>
            <a:off x="231756" y="1521490"/>
            <a:ext cx="2654192" cy="0"/>
          </a:xfrm>
          <a:prstGeom prst="straightConnector1">
            <a:avLst/>
          </a:prstGeom>
          <a:ln w="28575">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39D8C8E0-0854-5217-A7F3-DBD2104BDFAF}"/>
              </a:ext>
            </a:extLst>
          </p:cNvPr>
          <p:cNvSpPr txBox="1"/>
          <p:nvPr/>
        </p:nvSpPr>
        <p:spPr>
          <a:xfrm>
            <a:off x="857833" y="1390138"/>
            <a:ext cx="1306788" cy="261610"/>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友だちの新規追加</a:t>
            </a:r>
            <a:endParaRPr lang="ja-JP" altLang="en-US" sz="1050" dirty="0"/>
          </a:p>
        </p:txBody>
      </p:sp>
      <p:cxnSp>
        <p:nvCxnSpPr>
          <p:cNvPr id="29" name="直線矢印コネクタ 28">
            <a:extLst>
              <a:ext uri="{FF2B5EF4-FFF2-40B4-BE49-F238E27FC236}">
                <a16:creationId xmlns:a16="http://schemas.microsoft.com/office/drawing/2014/main" id="{745F1B07-4D2C-4794-DAEA-D76D3E0CA8CF}"/>
              </a:ext>
            </a:extLst>
          </p:cNvPr>
          <p:cNvCxnSpPr>
            <a:cxnSpLocks/>
          </p:cNvCxnSpPr>
          <p:nvPr/>
        </p:nvCxnSpPr>
        <p:spPr>
          <a:xfrm>
            <a:off x="3248447" y="1521490"/>
            <a:ext cx="6173147" cy="0"/>
          </a:xfrm>
          <a:prstGeom prst="straightConnector1">
            <a:avLst/>
          </a:prstGeom>
          <a:ln w="28575">
            <a:solidFill>
              <a:schemeClr val="accent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D5E48196-7DAD-4F3E-ADDE-E36FAC475508}"/>
              </a:ext>
            </a:extLst>
          </p:cNvPr>
          <p:cNvSpPr txBox="1"/>
          <p:nvPr/>
        </p:nvSpPr>
        <p:spPr>
          <a:xfrm>
            <a:off x="5411256" y="1390138"/>
            <a:ext cx="1913269" cy="253916"/>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a:t>
            </a:r>
            <a:r>
              <a:rPr lang="ja-JP" altLang="en-US" sz="1050" b="1" dirty="0">
                <a:latin typeface="メイリオ" panose="020B0604030504040204" pitchFamily="50" charset="-128"/>
                <a:ea typeface="メイリオ" panose="020B0604030504040204" pitchFamily="50" charset="-128"/>
                <a:cs typeface="Meiryo"/>
                <a:sym typeface="Meiryo"/>
              </a:rPr>
              <a:t>友だちの育成・</a:t>
            </a:r>
            <a:r>
              <a:rPr lang="en-US" altLang="ja-JP" sz="1050" b="1" dirty="0">
                <a:latin typeface="メイリオ" panose="020B0604030504040204" pitchFamily="50" charset="-128"/>
                <a:ea typeface="メイリオ" panose="020B0604030504040204" pitchFamily="50" charset="-128"/>
                <a:cs typeface="Meiryo"/>
                <a:sym typeface="Meiryo"/>
              </a:rPr>
              <a:t>CV</a:t>
            </a:r>
            <a:r>
              <a:rPr lang="ja-JP" altLang="en-US" sz="1050" b="1" dirty="0">
                <a:latin typeface="メイリオ" panose="020B0604030504040204" pitchFamily="50" charset="-128"/>
                <a:ea typeface="メイリオ" panose="020B0604030504040204" pitchFamily="50" charset="-128"/>
                <a:cs typeface="Meiryo"/>
                <a:sym typeface="Meiryo"/>
              </a:rPr>
              <a:t>化</a:t>
            </a:r>
            <a:endParaRPr lang="en-US" altLang="ja-JP" sz="1050" b="1" dirty="0">
              <a:latin typeface="メイリオ" panose="020B0604030504040204" pitchFamily="50" charset="-128"/>
              <a:ea typeface="メイリオ" panose="020B0604030504040204" pitchFamily="50" charset="-128"/>
              <a:cs typeface="Meiryo"/>
              <a:sym typeface="Meiryo"/>
            </a:endParaRPr>
          </a:p>
        </p:txBody>
      </p:sp>
      <p:sp>
        <p:nvSpPr>
          <p:cNvPr id="32" name="正方形/長方形 31">
            <a:extLst>
              <a:ext uri="{FF2B5EF4-FFF2-40B4-BE49-F238E27FC236}">
                <a16:creationId xmlns:a16="http://schemas.microsoft.com/office/drawing/2014/main" id="{4EA6E8F1-E33D-1FB9-E4AA-6AD1A2F6B651}"/>
              </a:ext>
            </a:extLst>
          </p:cNvPr>
          <p:cNvSpPr/>
          <p:nvPr/>
        </p:nvSpPr>
        <p:spPr>
          <a:xfrm>
            <a:off x="7750331" y="1748432"/>
            <a:ext cx="1818728" cy="4494694"/>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200" b="1" dirty="0">
                <a:solidFill>
                  <a:schemeClr val="tx1"/>
                </a:solidFill>
                <a:latin typeface="メイリオ" panose="020B0604030504040204" pitchFamily="50" charset="-128"/>
                <a:ea typeface="メイリオ" panose="020B0604030504040204" pitchFamily="50" charset="-128"/>
              </a:rPr>
              <a:t>[</a:t>
            </a:r>
            <a:r>
              <a:rPr kumimoji="1" lang="ja-JP" altLang="en-US" sz="1200" b="1" dirty="0">
                <a:solidFill>
                  <a:schemeClr val="tx1"/>
                </a:solidFill>
                <a:latin typeface="メイリオ" panose="020B0604030504040204" pitchFamily="50" charset="-128"/>
                <a:ea typeface="メイリオ" panose="020B0604030504040204" pitchFamily="50" charset="-128"/>
              </a:rPr>
              <a:t>ターゲット設定</a:t>
            </a:r>
            <a:r>
              <a:rPr lang="en-US" altLang="ja-JP" sz="1200" b="1" dirty="0">
                <a:solidFill>
                  <a:schemeClr val="tx1"/>
                </a:solidFill>
                <a:latin typeface="メイリオ" panose="020B0604030504040204" pitchFamily="50" charset="-128"/>
                <a:ea typeface="メイリオ" panose="020B0604030504040204" pitchFamily="50" charset="-128"/>
              </a:rPr>
              <a:t>]</a:t>
            </a: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r>
              <a:rPr kumimoji="1" lang="en-US" altLang="ja-JP" sz="1200" b="1" dirty="0">
                <a:solidFill>
                  <a:schemeClr val="tx1"/>
                </a:solidFill>
                <a:latin typeface="メイリオ" panose="020B0604030504040204" pitchFamily="50" charset="-128"/>
                <a:ea typeface="メイリオ" panose="020B0604030504040204" pitchFamily="50" charset="-128"/>
              </a:rPr>
              <a:t>LINEOA</a:t>
            </a:r>
            <a:r>
              <a:rPr kumimoji="1" lang="ja-JP" altLang="en-US" sz="1200" b="1" dirty="0">
                <a:solidFill>
                  <a:schemeClr val="tx1"/>
                </a:solidFill>
                <a:latin typeface="メイリオ" panose="020B0604030504040204" pitchFamily="50" charset="-128"/>
                <a:ea typeface="メイリオ" panose="020B0604030504040204" pitchFamily="50" charset="-128"/>
              </a:rPr>
              <a:t>オーガニック</a:t>
            </a:r>
            <a:endParaRPr kumimoji="1" lang="en-US" altLang="ja-JP" sz="120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年齢</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性別</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地域</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(MSG</a:t>
            </a:r>
            <a:r>
              <a:rPr lang="ja-JP" altLang="en-US" sz="1050" dirty="0">
                <a:solidFill>
                  <a:schemeClr val="tx1"/>
                </a:solidFill>
                <a:latin typeface="メイリオ" panose="020B0604030504040204" pitchFamily="50" charset="-128"/>
                <a:ea typeface="メイリオ" panose="020B0604030504040204" pitchFamily="50" charset="-128"/>
              </a:rPr>
              <a:t>の</a:t>
            </a:r>
            <a:r>
              <a:rPr lang="en-US" altLang="ja-JP" sz="1050" dirty="0" err="1">
                <a:solidFill>
                  <a:schemeClr val="tx1"/>
                </a:solidFill>
                <a:latin typeface="メイリオ" panose="020B0604030504040204" pitchFamily="50" charset="-128"/>
                <a:ea typeface="メイリオ" panose="020B0604030504040204" pitchFamily="50" charset="-128"/>
              </a:rPr>
              <a:t>Imp,Click</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700" dirty="0">
              <a:solidFill>
                <a:schemeClr val="tx1"/>
              </a:solidFill>
              <a:latin typeface="メイリオ" panose="020B0604030504040204" pitchFamily="50" charset="-128"/>
              <a:ea typeface="メイリオ" panose="020B0604030504040204" pitchFamily="50" charset="-128"/>
            </a:endParaRPr>
          </a:p>
          <a:p>
            <a:r>
              <a:rPr lang="en-US" altLang="ja-JP" sz="1200" b="1" dirty="0">
                <a:solidFill>
                  <a:schemeClr val="tx1"/>
                </a:solidFill>
                <a:latin typeface="メイリオ" panose="020B0604030504040204" pitchFamily="50" charset="-128"/>
                <a:ea typeface="メイリオ" panose="020B0604030504040204" pitchFamily="50" charset="-128"/>
              </a:rPr>
              <a:t>LINE_API</a:t>
            </a:r>
            <a:r>
              <a:rPr lang="ja-JP" altLang="en-US" sz="1200" b="1" dirty="0">
                <a:solidFill>
                  <a:schemeClr val="tx1"/>
                </a:solidFill>
                <a:latin typeface="メイリオ" panose="020B0604030504040204" pitchFamily="50" charset="-128"/>
                <a:ea typeface="メイリオ" panose="020B0604030504040204" pitchFamily="50" charset="-128"/>
              </a:rPr>
              <a:t>ツール</a:t>
            </a:r>
            <a:r>
              <a:rPr lang="ja-JP" altLang="en-US" sz="900" b="1" dirty="0">
                <a:solidFill>
                  <a:schemeClr val="tx1"/>
                </a:solidFill>
                <a:latin typeface="メイリオ" panose="020B0604030504040204" pitchFamily="50" charset="-128"/>
                <a:ea typeface="メイリオ" panose="020B0604030504040204" pitchFamily="50" charset="-128"/>
              </a:rPr>
              <a:t> </a:t>
            </a:r>
            <a:r>
              <a:rPr lang="en-US" altLang="ja-JP" sz="900" b="1" dirty="0">
                <a:solidFill>
                  <a:srgbClr val="FF0000"/>
                </a:solidFill>
                <a:latin typeface="メイリオ" panose="020B0604030504040204" pitchFamily="50" charset="-128"/>
                <a:ea typeface="メイリオ" panose="020B0604030504040204" pitchFamily="50" charset="-128"/>
              </a:rPr>
              <a:t>※</a:t>
            </a:r>
            <a:r>
              <a:rPr lang="ja-JP" altLang="en-US" sz="900" b="1" dirty="0">
                <a:solidFill>
                  <a:srgbClr val="FF0000"/>
                </a:solidFill>
                <a:latin typeface="メイリオ" panose="020B0604030504040204" pitchFamily="50" charset="-128"/>
                <a:ea typeface="メイリオ" panose="020B0604030504040204" pitchFamily="50" charset="-128"/>
              </a:rPr>
              <a:t>有料</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アンケート結果）</a:t>
            </a:r>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(WEB</a:t>
            </a:r>
            <a:r>
              <a:rPr lang="ja-JP" altLang="en-US" sz="1050" dirty="0">
                <a:solidFill>
                  <a:schemeClr val="tx1"/>
                </a:solidFill>
                <a:latin typeface="メイリオ" panose="020B0604030504040204" pitchFamily="50" charset="-128"/>
                <a:ea typeface="メイリオ" panose="020B0604030504040204" pitchFamily="50" charset="-128"/>
              </a:rPr>
              <a:t>サイトアクション</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リマインド</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再通知</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連携した情報ベース</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ユーザー一覧を取得</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a:t>
            </a:r>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アップロード</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地点別スコアリング</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b="1" dirty="0">
                <a:solidFill>
                  <a:schemeClr val="tx1"/>
                </a:solidFill>
                <a:latin typeface="メイリオ" panose="020B0604030504040204" pitchFamily="50" charset="-128"/>
                <a:ea typeface="メイリオ" panose="020B0604030504040204" pitchFamily="50" charset="-128"/>
              </a:rPr>
              <a:t>※MA</a:t>
            </a:r>
            <a:r>
              <a:rPr lang="ja-JP" altLang="en-US" sz="1050" b="1" dirty="0">
                <a:solidFill>
                  <a:schemeClr val="tx1"/>
                </a:solidFill>
                <a:latin typeface="メイリオ" panose="020B0604030504040204" pitchFamily="50" charset="-128"/>
                <a:ea typeface="メイリオ" panose="020B0604030504040204" pitchFamily="50" charset="-128"/>
              </a:rPr>
              <a:t>、</a:t>
            </a:r>
            <a:r>
              <a:rPr lang="en-US" altLang="ja-JP" sz="1050" b="1" dirty="0">
                <a:solidFill>
                  <a:schemeClr val="tx1"/>
                </a:solidFill>
                <a:latin typeface="メイリオ" panose="020B0604030504040204" pitchFamily="50" charset="-128"/>
                <a:ea typeface="メイリオ" panose="020B0604030504040204" pitchFamily="50" charset="-128"/>
              </a:rPr>
              <a:t>CRM</a:t>
            </a:r>
            <a:r>
              <a:rPr lang="ja-JP" altLang="en-US" sz="1050" b="1" dirty="0">
                <a:solidFill>
                  <a:schemeClr val="tx1"/>
                </a:solidFill>
                <a:latin typeface="メイリオ" panose="020B0604030504040204" pitchFamily="50" charset="-128"/>
                <a:ea typeface="メイリオ" panose="020B0604030504040204" pitchFamily="50" charset="-128"/>
              </a:rPr>
              <a:t>との連携</a:t>
            </a:r>
            <a:endParaRPr lang="en-US" altLang="ja-JP" sz="105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購入・リードデータ</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ユーザー情報</a:t>
            </a:r>
            <a:r>
              <a:rPr lang="ja-JP" altLang="en-US" sz="900" dirty="0">
                <a:solidFill>
                  <a:schemeClr val="tx1"/>
                </a:solidFill>
                <a:latin typeface="メイリオ" panose="020B0604030504040204" pitchFamily="50" charset="-128"/>
                <a:ea typeface="メイリオ" panose="020B0604030504040204" pitchFamily="50" charset="-128"/>
              </a:rPr>
              <a:t> </a:t>
            </a: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詳細</a:t>
            </a:r>
            <a:r>
              <a:rPr lang="en-US" altLang="ja-JP" sz="1050" dirty="0">
                <a:solidFill>
                  <a:schemeClr val="tx1"/>
                </a:solidFill>
                <a:latin typeface="メイリオ" panose="020B0604030504040204" pitchFamily="50" charset="-128"/>
                <a:ea typeface="メイリオ" panose="020B0604030504040204" pitchFamily="50" charset="-128"/>
              </a:rPr>
              <a:t>)</a:t>
            </a:r>
          </a:p>
        </p:txBody>
      </p:sp>
      <p:sp>
        <p:nvSpPr>
          <p:cNvPr id="36" name="テキスト ボックス 35">
            <a:extLst>
              <a:ext uri="{FF2B5EF4-FFF2-40B4-BE49-F238E27FC236}">
                <a16:creationId xmlns:a16="http://schemas.microsoft.com/office/drawing/2014/main" id="{F47CAADD-ECBD-1DCC-19D6-6433C921622E}"/>
              </a:ext>
            </a:extLst>
          </p:cNvPr>
          <p:cNvSpPr txBox="1"/>
          <p:nvPr/>
        </p:nvSpPr>
        <p:spPr>
          <a:xfrm>
            <a:off x="2178040" y="2694449"/>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7" name="テキスト ボックス 46">
            <a:extLst>
              <a:ext uri="{FF2B5EF4-FFF2-40B4-BE49-F238E27FC236}">
                <a16:creationId xmlns:a16="http://schemas.microsoft.com/office/drawing/2014/main" id="{00802062-F552-1DFA-430A-41800E76A220}"/>
              </a:ext>
            </a:extLst>
          </p:cNvPr>
          <p:cNvSpPr txBox="1"/>
          <p:nvPr/>
        </p:nvSpPr>
        <p:spPr>
          <a:xfrm>
            <a:off x="2370382" y="177323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9" name="テキスト ボックス 48">
            <a:extLst>
              <a:ext uri="{FF2B5EF4-FFF2-40B4-BE49-F238E27FC236}">
                <a16:creationId xmlns:a16="http://schemas.microsoft.com/office/drawing/2014/main" id="{CDCAB868-C79D-2212-70C3-9EF559F32C21}"/>
              </a:ext>
            </a:extLst>
          </p:cNvPr>
          <p:cNvSpPr txBox="1"/>
          <p:nvPr/>
        </p:nvSpPr>
        <p:spPr>
          <a:xfrm>
            <a:off x="2456844" y="3619396"/>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1" name="テキスト ボックス 50">
            <a:extLst>
              <a:ext uri="{FF2B5EF4-FFF2-40B4-BE49-F238E27FC236}">
                <a16:creationId xmlns:a16="http://schemas.microsoft.com/office/drawing/2014/main" id="{E2ECFC3F-A285-F105-30CE-9144EBB24A11}"/>
              </a:ext>
            </a:extLst>
          </p:cNvPr>
          <p:cNvSpPr txBox="1"/>
          <p:nvPr/>
        </p:nvSpPr>
        <p:spPr>
          <a:xfrm>
            <a:off x="2518621" y="457656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3" name="テキスト ボックス 52">
            <a:extLst>
              <a:ext uri="{FF2B5EF4-FFF2-40B4-BE49-F238E27FC236}">
                <a16:creationId xmlns:a16="http://schemas.microsoft.com/office/drawing/2014/main" id="{39AB193A-8274-ABE1-CD3D-54790C3264F6}"/>
              </a:ext>
            </a:extLst>
          </p:cNvPr>
          <p:cNvSpPr txBox="1"/>
          <p:nvPr/>
        </p:nvSpPr>
        <p:spPr>
          <a:xfrm>
            <a:off x="2210158" y="5478733"/>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6" name="テキスト ボックス 55">
            <a:extLst>
              <a:ext uri="{FF2B5EF4-FFF2-40B4-BE49-F238E27FC236}">
                <a16:creationId xmlns:a16="http://schemas.microsoft.com/office/drawing/2014/main" id="{096A37B9-CA3D-92C9-1405-86C6FFCD8C5A}"/>
              </a:ext>
            </a:extLst>
          </p:cNvPr>
          <p:cNvSpPr txBox="1"/>
          <p:nvPr/>
        </p:nvSpPr>
        <p:spPr>
          <a:xfrm>
            <a:off x="2214724" y="5963211"/>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8" name="テキスト ボックス 57">
            <a:extLst>
              <a:ext uri="{FF2B5EF4-FFF2-40B4-BE49-F238E27FC236}">
                <a16:creationId xmlns:a16="http://schemas.microsoft.com/office/drawing/2014/main" id="{AA71FB07-E583-8196-5077-2EAA10A61A0F}"/>
              </a:ext>
            </a:extLst>
          </p:cNvPr>
          <p:cNvSpPr txBox="1"/>
          <p:nvPr/>
        </p:nvSpPr>
        <p:spPr>
          <a:xfrm>
            <a:off x="285223" y="6291679"/>
            <a:ext cx="2547258" cy="215444"/>
          </a:xfrm>
          <a:prstGeom prst="rect">
            <a:avLst/>
          </a:prstGeom>
          <a:noFill/>
        </p:spPr>
        <p:txBody>
          <a:bodyPr wrap="square">
            <a:spAutoFit/>
          </a:bodyPr>
          <a:lstStyle/>
          <a:p>
            <a:pPr algn="ct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その他</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WEB</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サイト動線整備、プレスリリース等</a:t>
            </a:r>
            <a:endParaRPr lang="ja-JP" altLang="en-US" sz="800" dirty="0">
              <a:solidFill>
                <a:schemeClr val="bg1">
                  <a:lumMod val="50000"/>
                </a:schemeClr>
              </a:solidFill>
            </a:endParaRPr>
          </a:p>
        </p:txBody>
      </p:sp>
      <p:sp>
        <p:nvSpPr>
          <p:cNvPr id="6" name="テキスト ボックス 5">
            <a:extLst>
              <a:ext uri="{FF2B5EF4-FFF2-40B4-BE49-F238E27FC236}">
                <a16:creationId xmlns:a16="http://schemas.microsoft.com/office/drawing/2014/main" id="{F3BE3835-FB68-0C7D-7CED-C40A02A19AB2}"/>
              </a:ext>
            </a:extLst>
          </p:cNvPr>
          <p:cNvSpPr txBox="1"/>
          <p:nvPr/>
        </p:nvSpPr>
        <p:spPr>
          <a:xfrm>
            <a:off x="6149585" y="3424747"/>
            <a:ext cx="1174939"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数量により変動</a:t>
            </a:r>
            <a:endParaRPr lang="ja-JP" altLang="en-US" sz="800" dirty="0"/>
          </a:p>
        </p:txBody>
      </p:sp>
      <p:sp>
        <p:nvSpPr>
          <p:cNvPr id="7" name="テキスト ボックス 6">
            <a:extLst>
              <a:ext uri="{FF2B5EF4-FFF2-40B4-BE49-F238E27FC236}">
                <a16:creationId xmlns:a16="http://schemas.microsoft.com/office/drawing/2014/main" id="{F47E1216-C9D3-60D3-B3E8-43E38B5791F4}"/>
              </a:ext>
            </a:extLst>
          </p:cNvPr>
          <p:cNvSpPr txBox="1"/>
          <p:nvPr/>
        </p:nvSpPr>
        <p:spPr>
          <a:xfrm>
            <a:off x="3587357" y="6286698"/>
            <a:ext cx="4128437" cy="215444"/>
          </a:xfrm>
          <a:prstGeom prst="rect">
            <a:avLst/>
          </a:prstGeom>
          <a:noFill/>
        </p:spPr>
        <p:txBody>
          <a:bodyPr wrap="square">
            <a:spAutoFit/>
          </a:bodyPr>
          <a:lstStyle/>
          <a:p>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　</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クリエイティブ費用は基本的に内包、開発費用は別途見積もりとなります。</a:t>
            </a:r>
            <a:endParaRPr lang="ja-JP" altLang="en-US" sz="800" dirty="0">
              <a:solidFill>
                <a:schemeClr val="bg1">
                  <a:lumMod val="50000"/>
                </a:schemeClr>
              </a:solidFill>
            </a:endParaRPr>
          </a:p>
        </p:txBody>
      </p:sp>
      <p:sp>
        <p:nvSpPr>
          <p:cNvPr id="13" name="正方形/長方形 12">
            <a:extLst>
              <a:ext uri="{FF2B5EF4-FFF2-40B4-BE49-F238E27FC236}">
                <a16:creationId xmlns:a16="http://schemas.microsoft.com/office/drawing/2014/main" id="{9256C170-205B-2224-D69D-D964BF991C26}"/>
              </a:ext>
            </a:extLst>
          </p:cNvPr>
          <p:cNvSpPr/>
          <p:nvPr/>
        </p:nvSpPr>
        <p:spPr>
          <a:xfrm>
            <a:off x="7664076" y="1733928"/>
            <a:ext cx="1904982" cy="4562295"/>
          </a:xfrm>
          <a:prstGeom prst="rect">
            <a:avLst/>
          </a:prstGeom>
          <a:solidFill>
            <a:schemeClr val="bg1">
              <a:alpha val="5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solidFill>
            </a:endParaRPr>
          </a:p>
        </p:txBody>
      </p:sp>
    </p:spTree>
    <p:extLst>
      <p:ext uri="{BB962C8B-B14F-4D97-AF65-F5344CB8AC3E}">
        <p14:creationId xmlns:p14="http://schemas.microsoft.com/office/powerpoint/2010/main" val="9050068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55786A2-F100-6AA6-4BA2-C612ABD2107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友だち追加～</a:t>
            </a:r>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日を境に大きくアクティブ率が下がる（ブロック率が上がる）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為、追加から</a:t>
            </a:r>
            <a:r>
              <a:rPr lang="en-US" altLang="ja-JP" sz="1600" b="1" dirty="0">
                <a:latin typeface="メイリオ" panose="020B0604030504040204" pitchFamily="50" charset="-128"/>
                <a:ea typeface="メイリオ" panose="020B0604030504040204" pitchFamily="50" charset="-128"/>
                <a:cs typeface="Meiryo"/>
                <a:sym typeface="Meiryo"/>
              </a:rPr>
              <a:t>20‐30</a:t>
            </a:r>
            <a:r>
              <a:rPr lang="ja-JP" altLang="en-US" sz="1600" b="1" dirty="0">
                <a:latin typeface="メイリオ" panose="020B0604030504040204" pitchFamily="50" charset="-128"/>
                <a:ea typeface="メイリオ" panose="020B0604030504040204" pitchFamily="50" charset="-128"/>
                <a:cs typeface="Meiryo"/>
                <a:sym typeface="Meiryo"/>
              </a:rPr>
              <a:t>日間のステップ配信構築とユーザビリティの改善が必要に。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bg1"/>
                </a:solidFill>
                <a:latin typeface="メイリオ" panose="020B0604030504040204" pitchFamily="50" charset="-128"/>
                <a:ea typeface="メイリオ" panose="020B0604030504040204" pitchFamily="50" charset="-128"/>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15</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30</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FF0000"/>
                </a:solidFill>
                <a:latin typeface="メイリオ" panose="020B0604030504040204" pitchFamily="50" charset="-128"/>
                <a:ea typeface="メイリオ" panose="020B0604030504040204" pitchFamily="50" charset="-128"/>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2484261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A8856EBE-32D8-42F5-9D61-C53BF60EF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A6340BD7-9269-59A1-EA69-7426F07778B6}"/>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7C701305-F75E-4087-21C2-FA3CCCA8FB67}"/>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着地</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の動線が重要。</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企画投稿（毎月）とステップ配信（定常的に運営）を組み合わせて最適動線に。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5" name="正方形/長方形 24">
            <a:extLst>
              <a:ext uri="{FF2B5EF4-FFF2-40B4-BE49-F238E27FC236}">
                <a16:creationId xmlns:a16="http://schemas.microsoft.com/office/drawing/2014/main" id="{1A40E6EC-1B5E-5E46-EF89-1167C08649BA}"/>
              </a:ext>
            </a:extLst>
          </p:cNvPr>
          <p:cNvSpPr/>
          <p:nvPr/>
        </p:nvSpPr>
        <p:spPr>
          <a:xfrm>
            <a:off x="963202" y="3662763"/>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友だち追加後</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1" name="図 30">
            <a:extLst>
              <a:ext uri="{FF2B5EF4-FFF2-40B4-BE49-F238E27FC236}">
                <a16:creationId xmlns:a16="http://schemas.microsoft.com/office/drawing/2014/main" id="{2FE26F6B-D35B-6A6B-42D2-794437452752}"/>
              </a:ext>
            </a:extLst>
          </p:cNvPr>
          <p:cNvPicPr>
            <a:picLocks noChangeAspect="1"/>
          </p:cNvPicPr>
          <p:nvPr/>
        </p:nvPicPr>
        <p:blipFill>
          <a:blip r:embed="rId2"/>
          <a:stretch>
            <a:fillRect/>
          </a:stretch>
        </p:blipFill>
        <p:spPr>
          <a:xfrm>
            <a:off x="776401" y="3566663"/>
            <a:ext cx="582602" cy="543237"/>
          </a:xfrm>
          <a:prstGeom prst="rect">
            <a:avLst/>
          </a:prstGeom>
        </p:spPr>
      </p:pic>
      <p:sp>
        <p:nvSpPr>
          <p:cNvPr id="34" name="正方形/長方形 33">
            <a:extLst>
              <a:ext uri="{FF2B5EF4-FFF2-40B4-BE49-F238E27FC236}">
                <a16:creationId xmlns:a16="http://schemas.microsoft.com/office/drawing/2014/main" id="{39403F1B-B20A-C75C-8FCB-74AAD1581A2F}"/>
              </a:ext>
            </a:extLst>
          </p:cNvPr>
          <p:cNvSpPr/>
          <p:nvPr/>
        </p:nvSpPr>
        <p:spPr>
          <a:xfrm>
            <a:off x="686977" y="2019915"/>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LP</a:t>
            </a: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HP</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5" name="図 34" descr="lpデザインイラスト｜無料イラスト・フリー素材なら「イラストAC」">
            <a:extLst>
              <a:ext uri="{FF2B5EF4-FFF2-40B4-BE49-F238E27FC236}">
                <a16:creationId xmlns:a16="http://schemas.microsoft.com/office/drawing/2014/main" id="{EA2CF7EC-851A-10FF-17B6-E422C43BD10B}"/>
              </a:ext>
            </a:extLst>
          </p:cNvPr>
          <p:cNvPicPr>
            <a:picLocks noChangeAspect="1"/>
          </p:cNvPicPr>
          <p:nvPr/>
        </p:nvPicPr>
        <p:blipFill>
          <a:blip r:embed="rId3"/>
          <a:stretch>
            <a:fillRect/>
          </a:stretch>
        </p:blipFill>
        <p:spPr>
          <a:xfrm>
            <a:off x="272658" y="1875286"/>
            <a:ext cx="853665" cy="640720"/>
          </a:xfrm>
          <a:prstGeom prst="rect">
            <a:avLst/>
          </a:prstGeom>
        </p:spPr>
      </p:pic>
      <p:sp>
        <p:nvSpPr>
          <p:cNvPr id="40" name="矢印: 下 39">
            <a:extLst>
              <a:ext uri="{FF2B5EF4-FFF2-40B4-BE49-F238E27FC236}">
                <a16:creationId xmlns:a16="http://schemas.microsoft.com/office/drawing/2014/main" id="{0D54B1A9-3944-66DE-F219-BB4192EDE144}"/>
              </a:ext>
            </a:extLst>
          </p:cNvPr>
          <p:cNvSpPr/>
          <p:nvPr/>
        </p:nvSpPr>
        <p:spPr>
          <a:xfrm>
            <a:off x="3290805"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矢印: 下 40">
            <a:extLst>
              <a:ext uri="{FF2B5EF4-FFF2-40B4-BE49-F238E27FC236}">
                <a16:creationId xmlns:a16="http://schemas.microsoft.com/office/drawing/2014/main" id="{781A5984-3599-DC05-2E88-6BB61F188EB3}"/>
              </a:ext>
            </a:extLst>
          </p:cNvPr>
          <p:cNvSpPr/>
          <p:nvPr/>
        </p:nvSpPr>
        <p:spPr>
          <a:xfrm>
            <a:off x="5657443"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矢印: 下 41">
            <a:extLst>
              <a:ext uri="{FF2B5EF4-FFF2-40B4-BE49-F238E27FC236}">
                <a16:creationId xmlns:a16="http://schemas.microsoft.com/office/drawing/2014/main" id="{1C76D7C3-BFEE-8DA3-57FA-033BD7E35285}"/>
              </a:ext>
            </a:extLst>
          </p:cNvPr>
          <p:cNvSpPr/>
          <p:nvPr/>
        </p:nvSpPr>
        <p:spPr>
          <a:xfrm>
            <a:off x="5657443" y="201991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矢印: 下 42">
            <a:extLst>
              <a:ext uri="{FF2B5EF4-FFF2-40B4-BE49-F238E27FC236}">
                <a16:creationId xmlns:a16="http://schemas.microsoft.com/office/drawing/2014/main" id="{4E9F9DC2-BA49-A440-DA89-D45BC9E52C3A}"/>
              </a:ext>
            </a:extLst>
          </p:cNvPr>
          <p:cNvSpPr/>
          <p:nvPr/>
        </p:nvSpPr>
        <p:spPr>
          <a:xfrm>
            <a:off x="3290805" y="5241933"/>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矢印: 下 43">
            <a:extLst>
              <a:ext uri="{FF2B5EF4-FFF2-40B4-BE49-F238E27FC236}">
                <a16:creationId xmlns:a16="http://schemas.microsoft.com/office/drawing/2014/main" id="{6915D3B6-2B4C-5707-CB40-2696B722BA40}"/>
              </a:ext>
            </a:extLst>
          </p:cNvPr>
          <p:cNvSpPr/>
          <p:nvPr/>
        </p:nvSpPr>
        <p:spPr>
          <a:xfrm>
            <a:off x="5657443" y="5241933"/>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正方形/長方形 45">
            <a:extLst>
              <a:ext uri="{FF2B5EF4-FFF2-40B4-BE49-F238E27FC236}">
                <a16:creationId xmlns:a16="http://schemas.microsoft.com/office/drawing/2014/main" id="{D988BB36-5119-99B1-DF59-D4B80D30745C}"/>
              </a:ext>
            </a:extLst>
          </p:cNvPr>
          <p:cNvSpPr/>
          <p:nvPr/>
        </p:nvSpPr>
        <p:spPr>
          <a:xfrm>
            <a:off x="963202" y="5305611"/>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具体アクション</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48" name="図 47">
            <a:extLst>
              <a:ext uri="{FF2B5EF4-FFF2-40B4-BE49-F238E27FC236}">
                <a16:creationId xmlns:a16="http://schemas.microsoft.com/office/drawing/2014/main" id="{FE05BA15-FE69-7259-F5B1-7935A92DDFC1}"/>
              </a:ext>
            </a:extLst>
          </p:cNvPr>
          <p:cNvPicPr>
            <a:picLocks noChangeAspect="1"/>
          </p:cNvPicPr>
          <p:nvPr/>
        </p:nvPicPr>
        <p:blipFill>
          <a:blip r:embed="rId2"/>
          <a:stretch>
            <a:fillRect/>
          </a:stretch>
        </p:blipFill>
        <p:spPr>
          <a:xfrm>
            <a:off x="776401" y="5203250"/>
            <a:ext cx="582602" cy="543237"/>
          </a:xfrm>
          <a:prstGeom prst="rect">
            <a:avLst/>
          </a:prstGeom>
        </p:spPr>
      </p:pic>
      <p:sp>
        <p:nvSpPr>
          <p:cNvPr id="68" name="矢印: 下 67">
            <a:extLst>
              <a:ext uri="{FF2B5EF4-FFF2-40B4-BE49-F238E27FC236}">
                <a16:creationId xmlns:a16="http://schemas.microsoft.com/office/drawing/2014/main" id="{552BBE13-4EF3-7D14-9401-EE47B669E0A1}"/>
              </a:ext>
            </a:extLst>
          </p:cNvPr>
          <p:cNvSpPr/>
          <p:nvPr/>
        </p:nvSpPr>
        <p:spPr>
          <a:xfrm>
            <a:off x="8023941" y="3630924"/>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矢印: 下 68">
            <a:extLst>
              <a:ext uri="{FF2B5EF4-FFF2-40B4-BE49-F238E27FC236}">
                <a16:creationId xmlns:a16="http://schemas.microsoft.com/office/drawing/2014/main" id="{1CE2AD45-B81D-8C9E-9BEA-EE8F41408D09}"/>
              </a:ext>
            </a:extLst>
          </p:cNvPr>
          <p:cNvSpPr/>
          <p:nvPr/>
        </p:nvSpPr>
        <p:spPr>
          <a:xfrm>
            <a:off x="8023941" y="5241933"/>
            <a:ext cx="792480" cy="1246418"/>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矢印: 下 69">
            <a:extLst>
              <a:ext uri="{FF2B5EF4-FFF2-40B4-BE49-F238E27FC236}">
                <a16:creationId xmlns:a16="http://schemas.microsoft.com/office/drawing/2014/main" id="{841F38E6-682B-0593-E7F1-B970924D2312}"/>
              </a:ext>
            </a:extLst>
          </p:cNvPr>
          <p:cNvSpPr/>
          <p:nvPr/>
        </p:nvSpPr>
        <p:spPr>
          <a:xfrm>
            <a:off x="8007886" y="202849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正方形/長方形 71">
            <a:extLst>
              <a:ext uri="{FF2B5EF4-FFF2-40B4-BE49-F238E27FC236}">
                <a16:creationId xmlns:a16="http://schemas.microsoft.com/office/drawing/2014/main" id="{EB9A5047-E824-A278-1DE7-38BCB5F653E4}"/>
              </a:ext>
            </a:extLst>
          </p:cNvPr>
          <p:cNvSpPr/>
          <p:nvPr/>
        </p:nvSpPr>
        <p:spPr>
          <a:xfrm>
            <a:off x="2835604" y="2013850"/>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その他動線</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grpSp>
        <p:nvGrpSpPr>
          <p:cNvPr id="18" name="グループ化 17">
            <a:extLst>
              <a:ext uri="{FF2B5EF4-FFF2-40B4-BE49-F238E27FC236}">
                <a16:creationId xmlns:a16="http://schemas.microsoft.com/office/drawing/2014/main" id="{D0BB931D-9C48-0F74-78B7-B39FB7567FB3}"/>
              </a:ext>
            </a:extLst>
          </p:cNvPr>
          <p:cNvGrpSpPr/>
          <p:nvPr/>
        </p:nvGrpSpPr>
        <p:grpSpPr>
          <a:xfrm>
            <a:off x="2497445" y="1791214"/>
            <a:ext cx="885030" cy="827297"/>
            <a:chOff x="2497445" y="1791214"/>
            <a:chExt cx="885030" cy="827297"/>
          </a:xfrm>
        </p:grpSpPr>
        <p:pic>
          <p:nvPicPr>
            <p:cNvPr id="73" name="図 72">
              <a:extLst>
                <a:ext uri="{FF2B5EF4-FFF2-40B4-BE49-F238E27FC236}">
                  <a16:creationId xmlns:a16="http://schemas.microsoft.com/office/drawing/2014/main" id="{95316F7A-1FC1-3A66-5456-79F5F636388C}"/>
                </a:ext>
              </a:extLst>
            </p:cNvPr>
            <p:cNvPicPr>
              <a:picLocks noChangeAspect="1"/>
            </p:cNvPicPr>
            <p:nvPr/>
          </p:nvPicPr>
          <p:blipFill>
            <a:blip r:embed="rId4"/>
            <a:stretch>
              <a:fillRect/>
            </a:stretch>
          </p:blipFill>
          <p:spPr>
            <a:xfrm>
              <a:off x="2497445" y="1791214"/>
              <a:ext cx="420559" cy="556499"/>
            </a:xfrm>
            <a:prstGeom prst="rect">
              <a:avLst/>
            </a:prstGeom>
          </p:spPr>
        </p:pic>
        <p:pic>
          <p:nvPicPr>
            <p:cNvPr id="74" name="図 73" descr="生活・その他】SNSとスマホのかわいいフリーイラスト | フタバのフリーイラスト">
              <a:extLst>
                <a:ext uri="{FF2B5EF4-FFF2-40B4-BE49-F238E27FC236}">
                  <a16:creationId xmlns:a16="http://schemas.microsoft.com/office/drawing/2014/main" id="{425A3C52-3D63-0CC5-2649-471F74876F03}"/>
                </a:ext>
              </a:extLst>
            </p:cNvPr>
            <p:cNvPicPr>
              <a:picLocks noChangeAspect="1"/>
            </p:cNvPicPr>
            <p:nvPr/>
          </p:nvPicPr>
          <p:blipFill>
            <a:blip r:embed="rId5"/>
            <a:stretch>
              <a:fillRect/>
            </a:stretch>
          </p:blipFill>
          <p:spPr>
            <a:xfrm>
              <a:off x="2610493" y="1846529"/>
              <a:ext cx="771982" cy="771982"/>
            </a:xfrm>
            <a:prstGeom prst="rect">
              <a:avLst/>
            </a:prstGeom>
          </p:spPr>
        </p:pic>
      </p:grpSp>
      <p:sp>
        <p:nvSpPr>
          <p:cNvPr id="76" name="テキスト ボックス 75">
            <a:extLst>
              <a:ext uri="{FF2B5EF4-FFF2-40B4-BE49-F238E27FC236}">
                <a16:creationId xmlns:a16="http://schemas.microsoft.com/office/drawing/2014/main" id="{A26D9D0D-8E50-52D9-7E65-8B19393671D2}"/>
              </a:ext>
            </a:extLst>
          </p:cNvPr>
          <p:cNvSpPr txBox="1"/>
          <p:nvPr/>
        </p:nvSpPr>
        <p:spPr>
          <a:xfrm>
            <a:off x="4820619" y="2013850"/>
            <a:ext cx="2466126"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◯LINE友だち追加によるメリット提示</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✓デジタルパンフ　✓OC優先予約</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◯LINE上でのコミュニケーション誘導</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✓LINEで学部診断　✓LINEでOC予約</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sp>
        <p:nvSpPr>
          <p:cNvPr id="77" name="テキスト ボックス 76">
            <a:extLst>
              <a:ext uri="{FF2B5EF4-FFF2-40B4-BE49-F238E27FC236}">
                <a16:creationId xmlns:a16="http://schemas.microsoft.com/office/drawing/2014/main" id="{CFFD44FF-E632-A42A-AFD2-C978D5EB4382}"/>
              </a:ext>
            </a:extLst>
          </p:cNvPr>
          <p:cNvSpPr txBox="1"/>
          <p:nvPr/>
        </p:nvSpPr>
        <p:spPr>
          <a:xfrm>
            <a:off x="7498219" y="2013850"/>
            <a:ext cx="1852837"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でのナーチャリング</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✓アンケート回答</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で診断</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✓おすすめプランの提示</a:t>
            </a:r>
            <a:endParaRPr lang="ja-JP" altLang="en-US" sz="1000" dirty="0">
              <a:solidFill>
                <a:schemeClr val="bg1">
                  <a:lumMod val="50000"/>
                </a:schemeClr>
              </a:solidFill>
            </a:endParaRPr>
          </a:p>
        </p:txBody>
      </p:sp>
      <p:sp>
        <p:nvSpPr>
          <p:cNvPr id="78" name="テキスト ボックス 77">
            <a:extLst>
              <a:ext uri="{FF2B5EF4-FFF2-40B4-BE49-F238E27FC236}">
                <a16:creationId xmlns:a16="http://schemas.microsoft.com/office/drawing/2014/main" id="{2A92B9D2-AE81-B8F1-2775-9BABDBB2FB72}"/>
              </a:ext>
            </a:extLst>
          </p:cNvPr>
          <p:cNvSpPr txBox="1"/>
          <p:nvPr/>
        </p:nvSpPr>
        <p:spPr>
          <a:xfrm>
            <a:off x="4820619" y="3575596"/>
            <a:ext cx="2466126"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◯企画投稿</a:t>
            </a: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（月間投稿数）</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✓〇〇の季節、〇〇の日にちなんだ</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年齢→目的・悩み、よくある不安</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アンケ回答例→学習コンテンツ</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79" name="テキスト ボックス 78">
            <a:extLst>
              <a:ext uri="{FF2B5EF4-FFF2-40B4-BE49-F238E27FC236}">
                <a16:creationId xmlns:a16="http://schemas.microsoft.com/office/drawing/2014/main" id="{3F5D2439-D550-34BB-53D6-091E9B32BF3C}"/>
              </a:ext>
            </a:extLst>
          </p:cNvPr>
          <p:cNvSpPr txBox="1"/>
          <p:nvPr/>
        </p:nvSpPr>
        <p:spPr>
          <a:xfrm>
            <a:off x="7303671" y="3575596"/>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✓友だち追加後◯日で</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（前後検索ニーズを調査）</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✓学習が進行する導線設計</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特典等</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興味</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共感</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信頼</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オファー</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p>
        </p:txBody>
      </p:sp>
      <p:sp>
        <p:nvSpPr>
          <p:cNvPr id="82" name="テキスト ボックス 81">
            <a:extLst>
              <a:ext uri="{FF2B5EF4-FFF2-40B4-BE49-F238E27FC236}">
                <a16:creationId xmlns:a16="http://schemas.microsoft.com/office/drawing/2014/main" id="{F966D387-7E84-4F68-9C81-89F870210C79}"/>
              </a:ext>
            </a:extLst>
          </p:cNvPr>
          <p:cNvSpPr txBox="1"/>
          <p:nvPr/>
        </p:nvSpPr>
        <p:spPr>
          <a:xfrm>
            <a:off x="2772451" y="3575596"/>
            <a:ext cx="1852837"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◯あいさつメッセージ</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情報収集</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配信セグメントに活用</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◯プロフ・リッチメニュー</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sp>
        <p:nvSpPr>
          <p:cNvPr id="83" name="テキスト ボックス 82">
            <a:extLst>
              <a:ext uri="{FF2B5EF4-FFF2-40B4-BE49-F238E27FC236}">
                <a16:creationId xmlns:a16="http://schemas.microsoft.com/office/drawing/2014/main" id="{DCCA9A41-7AF8-A7E5-C05D-3CCE4D53D056}"/>
              </a:ext>
            </a:extLst>
          </p:cNvPr>
          <p:cNvSpPr txBox="1"/>
          <p:nvPr/>
        </p:nvSpPr>
        <p:spPr>
          <a:xfrm>
            <a:off x="7493762" y="5192489"/>
            <a:ext cx="1852837" cy="969496"/>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アフター</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フォロー</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✓よくある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QA</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集の自動化</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✓チャット定型文の作成</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7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◯友だち紹介斡旋</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✓紹介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CP</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などに誘導</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4" name="テキスト ボックス 83">
            <a:extLst>
              <a:ext uri="{FF2B5EF4-FFF2-40B4-BE49-F238E27FC236}">
                <a16:creationId xmlns:a16="http://schemas.microsoft.com/office/drawing/2014/main" id="{51666C25-34AB-775A-D360-970178A01029}"/>
              </a:ext>
            </a:extLst>
          </p:cNvPr>
          <p:cNvSpPr txBox="1"/>
          <p:nvPr/>
        </p:nvSpPr>
        <p:spPr>
          <a:xfrm>
            <a:off x="5015076" y="5197869"/>
            <a:ext cx="2038121"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◯アクション済</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✓応答メッセージ等で満足度↑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sym typeface="Meiryo"/>
              </a:rPr>
              <a:t>◯再購入・クロスセル</a:t>
            </a:r>
            <a:endParaRPr lang="en-US" altLang="ja-JP" sz="1000" b="1"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65000"/>
                  </a:schemeClr>
                </a:solidFill>
                <a:latin typeface="メイリオ" panose="020B0604030504040204" pitchFamily="50" charset="-128"/>
                <a:ea typeface="メイリオ" panose="020B0604030504040204" pitchFamily="50" charset="-128"/>
                <a:sym typeface="Meiryo"/>
              </a:rPr>
              <a:t>✓PT・物販・継続の提案時期を設定</a:t>
            </a:r>
            <a:endParaRPr lang="en-US" altLang="ja-JP" sz="1000" dirty="0">
              <a:solidFill>
                <a:schemeClr val="bg1">
                  <a:lumMod val="65000"/>
                </a:schemeClr>
              </a:solidFill>
              <a:latin typeface="メイリオ" panose="020B0604030504040204" pitchFamily="50" charset="-128"/>
              <a:ea typeface="メイリオ" panose="020B0604030504040204" pitchFamily="50" charset="-128"/>
              <a:sym typeface="Meiryo"/>
            </a:endParaRPr>
          </a:p>
        </p:txBody>
      </p:sp>
      <p:sp>
        <p:nvSpPr>
          <p:cNvPr id="85" name="テキスト ボックス 84">
            <a:extLst>
              <a:ext uri="{FF2B5EF4-FFF2-40B4-BE49-F238E27FC236}">
                <a16:creationId xmlns:a16="http://schemas.microsoft.com/office/drawing/2014/main" id="{E36E01A8-5E8D-6868-5242-258854A6C11E}"/>
              </a:ext>
            </a:extLst>
          </p:cNvPr>
          <p:cNvSpPr txBox="1"/>
          <p:nvPr/>
        </p:nvSpPr>
        <p:spPr>
          <a:xfrm>
            <a:off x="2577903" y="5197869"/>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◯再・簡易アンケート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診断</a:t>
            </a:r>
            <a:r>
              <a:rPr lang="en-US" altLang="ja-JP" sz="1000" b="1" dirty="0">
                <a:latin typeface="メイリオ" panose="020B0604030504040204" pitchFamily="50" charset="-128"/>
                <a:ea typeface="メイリオ" panose="020B0604030504040204" pitchFamily="50" charset="-128"/>
                <a:cs typeface="Meiryo"/>
                <a:sym typeface="Meiryo"/>
              </a:rPr>
              <a:t>)</a:t>
            </a: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✓休眠層に対して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サービス軸と異なる診断軸を用意</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◯商品訴求を再押し</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✓再度サービス訴求を実施</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 name="矢印: 下 7">
            <a:extLst>
              <a:ext uri="{FF2B5EF4-FFF2-40B4-BE49-F238E27FC236}">
                <a16:creationId xmlns:a16="http://schemas.microsoft.com/office/drawing/2014/main" id="{BE6FB710-6D0D-A062-5DC4-E7437CE5BDE1}"/>
              </a:ext>
            </a:extLst>
          </p:cNvPr>
          <p:cNvSpPr/>
          <p:nvPr/>
        </p:nvSpPr>
        <p:spPr>
          <a:xfrm>
            <a:off x="8045609" y="1409403"/>
            <a:ext cx="871728" cy="395993"/>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92FDFDEB-CB5F-8A45-29AB-C10FC6580A7C}"/>
              </a:ext>
            </a:extLst>
          </p:cNvPr>
          <p:cNvSpPr/>
          <p:nvPr/>
        </p:nvSpPr>
        <p:spPr>
          <a:xfrm>
            <a:off x="8919666" y="1412851"/>
            <a:ext cx="871728" cy="395993"/>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矢印: 下 10">
            <a:extLst>
              <a:ext uri="{FF2B5EF4-FFF2-40B4-BE49-F238E27FC236}">
                <a16:creationId xmlns:a16="http://schemas.microsoft.com/office/drawing/2014/main" id="{218212FE-3645-DB9F-3397-0748130F1AF8}"/>
              </a:ext>
            </a:extLst>
          </p:cNvPr>
          <p:cNvSpPr/>
          <p:nvPr/>
        </p:nvSpPr>
        <p:spPr>
          <a:xfrm>
            <a:off x="7180483" y="1412851"/>
            <a:ext cx="871728" cy="395993"/>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2D2D0860-25E1-93CE-4600-A1274BD77509}"/>
              </a:ext>
            </a:extLst>
          </p:cNvPr>
          <p:cNvSpPr txBox="1"/>
          <p:nvPr/>
        </p:nvSpPr>
        <p:spPr>
          <a:xfrm>
            <a:off x="7180483" y="1445284"/>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cs typeface="Meiryo"/>
                <a:sym typeface="Meiryo"/>
              </a:rPr>
              <a:t>企画</a:t>
            </a:r>
            <a:endParaRPr lang="en-US" altLang="ja-JP" sz="800" dirty="0">
              <a:latin typeface="メイリオ" panose="020B0604030504040204" pitchFamily="50" charset="-128"/>
              <a:ea typeface="メイリオ" panose="020B0604030504040204" pitchFamily="50" charset="-128"/>
              <a:cs typeface="Meiryo"/>
              <a:sym typeface="Meiryo"/>
            </a:endParaRPr>
          </a:p>
          <a:p>
            <a:pPr algn="ctr"/>
            <a:r>
              <a:rPr lang="ja-JP" altLang="en-US" sz="800" dirty="0">
                <a:latin typeface="メイリオ" panose="020B0604030504040204" pitchFamily="50" charset="-128"/>
                <a:ea typeface="メイリオ" panose="020B0604030504040204" pitchFamily="50" charset="-128"/>
                <a:sym typeface="Meiryo"/>
              </a:rPr>
              <a:t>投稿</a:t>
            </a:r>
            <a:endParaRPr lang="ja-JP" altLang="en-US" sz="800" dirty="0"/>
          </a:p>
        </p:txBody>
      </p:sp>
      <p:sp>
        <p:nvSpPr>
          <p:cNvPr id="13" name="テキスト ボックス 12">
            <a:extLst>
              <a:ext uri="{FF2B5EF4-FFF2-40B4-BE49-F238E27FC236}">
                <a16:creationId xmlns:a16="http://schemas.microsoft.com/office/drawing/2014/main" id="{A87B802C-245D-9C6E-1C33-7190F3073124}"/>
              </a:ext>
            </a:extLst>
          </p:cNvPr>
          <p:cNvSpPr txBox="1"/>
          <p:nvPr/>
        </p:nvSpPr>
        <p:spPr>
          <a:xfrm>
            <a:off x="8050075" y="1452197"/>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ステップ</a:t>
            </a:r>
            <a:endParaRPr lang="en-US" altLang="ja-JP" sz="800" dirty="0">
              <a:latin typeface="メイリオ" panose="020B0604030504040204" pitchFamily="50" charset="-128"/>
              <a:ea typeface="メイリオ" panose="020B0604030504040204" pitchFamily="50" charset="-128"/>
            </a:endParaRPr>
          </a:p>
          <a:p>
            <a:pPr algn="ctr"/>
            <a:r>
              <a:rPr lang="ja-JP" altLang="en-US" sz="800" dirty="0">
                <a:latin typeface="メイリオ" panose="020B0604030504040204" pitchFamily="50" charset="-128"/>
                <a:ea typeface="メイリオ" panose="020B0604030504040204" pitchFamily="50" charset="-128"/>
              </a:rPr>
              <a:t>配信</a:t>
            </a:r>
          </a:p>
        </p:txBody>
      </p:sp>
      <p:sp>
        <p:nvSpPr>
          <p:cNvPr id="14" name="テキスト ボックス 13">
            <a:extLst>
              <a:ext uri="{FF2B5EF4-FFF2-40B4-BE49-F238E27FC236}">
                <a16:creationId xmlns:a16="http://schemas.microsoft.com/office/drawing/2014/main" id="{D775BACA-B985-5029-1E70-8D28879E88EC}"/>
              </a:ext>
            </a:extLst>
          </p:cNvPr>
          <p:cNvSpPr txBox="1"/>
          <p:nvPr/>
        </p:nvSpPr>
        <p:spPr>
          <a:xfrm>
            <a:off x="8910735" y="1438122"/>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貴社対応</a:t>
            </a:r>
            <a:endParaRPr lang="en-US" altLang="ja-JP" sz="800" dirty="0">
              <a:latin typeface="メイリオ" panose="020B0604030504040204" pitchFamily="50" charset="-128"/>
              <a:ea typeface="メイリオ" panose="020B0604030504040204" pitchFamily="50" charset="-128"/>
            </a:endParaRPr>
          </a:p>
          <a:p>
            <a:pPr algn="ctr"/>
            <a:r>
              <a:rPr lang="en-US" altLang="ja-JP" sz="800" dirty="0">
                <a:latin typeface="メイリオ" panose="020B0604030504040204" pitchFamily="50" charset="-128"/>
                <a:ea typeface="メイリオ" panose="020B0604030504040204" pitchFamily="50" charset="-128"/>
              </a:rPr>
              <a:t>※</a:t>
            </a:r>
            <a:r>
              <a:rPr lang="ja-JP" altLang="en-US" sz="800" dirty="0">
                <a:latin typeface="メイリオ" panose="020B0604030504040204" pitchFamily="50" charset="-128"/>
                <a:ea typeface="メイリオ" panose="020B0604030504040204" pitchFamily="50" charset="-128"/>
              </a:rPr>
              <a:t>軽減</a:t>
            </a:r>
          </a:p>
        </p:txBody>
      </p:sp>
      <p:sp>
        <p:nvSpPr>
          <p:cNvPr id="15" name="正方形/長方形 14">
            <a:extLst>
              <a:ext uri="{FF2B5EF4-FFF2-40B4-BE49-F238E27FC236}">
                <a16:creationId xmlns:a16="http://schemas.microsoft.com/office/drawing/2014/main" id="{B0439D32-FABC-CA34-F07C-587F509AEF1D}"/>
              </a:ext>
            </a:extLst>
          </p:cNvPr>
          <p:cNvSpPr/>
          <p:nvPr/>
        </p:nvSpPr>
        <p:spPr>
          <a:xfrm>
            <a:off x="7116723" y="1367434"/>
            <a:ext cx="2725750" cy="483252"/>
          </a:xfrm>
          <a:prstGeom prst="rect">
            <a:avLst/>
          </a:prstGeom>
          <a:no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コネクタ: カギ線 19">
            <a:extLst>
              <a:ext uri="{FF2B5EF4-FFF2-40B4-BE49-F238E27FC236}">
                <a16:creationId xmlns:a16="http://schemas.microsoft.com/office/drawing/2014/main" id="{B6880BFB-9CE8-682D-5E73-400E7A9D4984}"/>
              </a:ext>
            </a:extLst>
          </p:cNvPr>
          <p:cNvCxnSpPr>
            <a:cxnSpLocks/>
            <a:stCxn id="74" idx="2"/>
            <a:endCxn id="25" idx="0"/>
          </p:cNvCxnSpPr>
          <p:nvPr/>
        </p:nvCxnSpPr>
        <p:spPr>
          <a:xfrm rot="5400000">
            <a:off x="1884437" y="2550716"/>
            <a:ext cx="1044252" cy="1179842"/>
          </a:xfrm>
          <a:prstGeom prst="bentConnector3">
            <a:avLst>
              <a:gd name="adj1" fmla="val 50000"/>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コネクタ: カギ線 26">
            <a:extLst>
              <a:ext uri="{FF2B5EF4-FFF2-40B4-BE49-F238E27FC236}">
                <a16:creationId xmlns:a16="http://schemas.microsoft.com/office/drawing/2014/main" id="{EF07FDA7-6FC7-C204-99A4-DB47A6724969}"/>
              </a:ext>
            </a:extLst>
          </p:cNvPr>
          <p:cNvCxnSpPr>
            <a:cxnSpLocks/>
            <a:endCxn id="25" idx="0"/>
          </p:cNvCxnSpPr>
          <p:nvPr/>
        </p:nvCxnSpPr>
        <p:spPr>
          <a:xfrm rot="16200000" flipH="1">
            <a:off x="693395" y="2539516"/>
            <a:ext cx="1138050" cy="1108444"/>
          </a:xfrm>
          <a:prstGeom prst="bentConnector3">
            <a:avLst>
              <a:gd name="adj1" fmla="val 54185"/>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B79B5748-0A9B-B2A8-36EE-9B6743393A50}"/>
              </a:ext>
            </a:extLst>
          </p:cNvPr>
          <p:cNvCxnSpPr>
            <a:stCxn id="25" idx="2"/>
            <a:endCxn id="46" idx="0"/>
          </p:cNvCxnSpPr>
          <p:nvPr/>
        </p:nvCxnSpPr>
        <p:spPr>
          <a:xfrm>
            <a:off x="1816642" y="4001277"/>
            <a:ext cx="0" cy="1304334"/>
          </a:xfrm>
          <a:prstGeom prst="straightConnector1">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58905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現状分析｜大学・専門学校のLINE公式アカウント実態</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友だち数は page.line.me（LINEヤフー社公式ページ）で実測済み（2026-09-20取得）。</a:t>
            </a:r>
          </a:p>
        </p:txBody>
      </p:sp>
      <p:graphicFrame>
        <p:nvGraphicFramePr>
          <p:cNvPr id="4" name="Table 3"/>
          <p:cNvGraphicFramePr>
            <a:graphicFrameLocks noGrp="1"/>
          </p:cNvGraphicFramePr>
          <p:nvPr/>
        </p:nvGraphicFramePr>
        <p:xfrm>
          <a:off x="396000" y="1224000"/>
          <a:ext cx="9143998" cy="2721600"/>
        </p:xfrm>
        <a:graphic>
          <a:graphicData uri="http://schemas.openxmlformats.org/drawingml/2006/table">
            <a:tbl>
              <a:tblPr firstRow="1" bandRow="1">
                <a:tableStyleId>{5C22544A-7EE6-4342-B048-85BDC9FD1C3A}</a:tableStyleId>
              </a:tblPr>
              <a:tblGrid>
                <a:gridCol w="2304000"/>
                <a:gridCol w="792000"/>
                <a:gridCol w="1296000"/>
                <a:gridCol w="1655999"/>
                <a:gridCol w="1655999"/>
                <a:gridCol w="1440000"/>
              </a:tblGrid>
              <a:tr h="302400">
                <a:tc>
                  <a:txBody>
                    <a:bodyPr wrap="square" lIns="50400" rIns="50400" tIns="10800" bIns="10800" anchor="ctr"/>
                    <a:lstStyle/>
                    <a:p>
                      <a:pPr algn="l"/>
                      <a:r>
                        <a:rPr sz="1200" b="1">
                          <a:solidFill>
                            <a:srgbClr val="FFFFFF"/>
                          </a:solidFill>
                          <a:latin typeface="メイリオ"/>
                          <a:ea typeface="メイリオ"/>
                          <a:cs typeface="メイリオ"/>
                        </a:rPr>
                        <a:t>調査対象</a:t>
                      </a:r>
                    </a:p>
                  </a:txBody>
                  <a:tcPr anchor="ctr">
                    <a:solidFill>
                      <a:srgbClr val="1F285A"/>
                    </a:solidFill>
                  </a:tcPr>
                </a:tc>
                <a:tc>
                  <a:txBody>
                    <a:bodyPr wrap="square" lIns="50400" rIns="50400" tIns="10800" bIns="10800" anchor="ctr"/>
                    <a:lstStyle/>
                    <a:p>
                      <a:pPr algn="ctr"/>
                      <a:r>
                        <a:rPr sz="1200" b="1">
                          <a:solidFill>
                            <a:srgbClr val="FFFFFF"/>
                          </a:solidFill>
                          <a:latin typeface="メイリオ"/>
                          <a:ea typeface="メイリオ"/>
                          <a:cs typeface="メイリオ"/>
                        </a:rPr>
                        <a:t>区分</a:t>
                      </a:r>
                    </a:p>
                  </a:txBody>
                  <a:tcPr anchor="ctr">
                    <a:solidFill>
                      <a:srgbClr val="1F285A"/>
                    </a:solidFill>
                  </a:tcPr>
                </a:tc>
                <a:tc>
                  <a:txBody>
                    <a:bodyPr wrap="square" lIns="50400" rIns="50400" tIns="10800" bIns="10800" anchor="ctr"/>
                    <a:lstStyle/>
                    <a:p>
                      <a:pPr algn="ctr"/>
                      <a:r>
                        <a:rPr sz="1200" b="1">
                          <a:solidFill>
                            <a:srgbClr val="FFFFFF"/>
                          </a:solidFill>
                          <a:latin typeface="メイリオ"/>
                          <a:ea typeface="メイリオ"/>
                          <a:cs typeface="メイリオ"/>
                        </a:rPr>
                        <a:t>受験生向けか</a:t>
                      </a:r>
                    </a:p>
                  </a:txBody>
                  <a:tcPr anchor="ctr">
                    <a:solidFill>
                      <a:srgbClr val="1F285A"/>
                    </a:solidFill>
                  </a:tcPr>
                </a:tc>
                <a:tc>
                  <a:txBody>
                    <a:bodyPr wrap="square" lIns="50400" rIns="50400" tIns="10800" bIns="10800" anchor="ctr"/>
                    <a:lstStyle/>
                    <a:p>
                      <a:pPr algn="r"/>
                      <a:r>
                        <a:rPr sz="1200" b="1">
                          <a:solidFill>
                            <a:srgbClr val="FFFFFF"/>
                          </a:solidFill>
                          <a:latin typeface="メイリオ"/>
                          <a:ea typeface="メイリオ"/>
                          <a:cs typeface="メイリオ"/>
                        </a:rPr>
                        <a:t>友だち数 実測</a:t>
                      </a:r>
                    </a:p>
                  </a:txBody>
                  <a:tcPr anchor="ctr">
                    <a:solidFill>
                      <a:srgbClr val="1F285A"/>
                    </a:solidFill>
                  </a:tcPr>
                </a:tc>
                <a:tc>
                  <a:txBody>
                    <a:bodyPr wrap="square" lIns="50400" rIns="50400" tIns="10800" bIns="10800" anchor="ctr"/>
                    <a:lstStyle/>
                    <a:p>
                      <a:pPr algn="ctr"/>
                      <a:r>
                        <a:rPr sz="1200" b="1">
                          <a:solidFill>
                            <a:srgbClr val="FFFFFF"/>
                          </a:solidFill>
                          <a:latin typeface="メイリオ"/>
                          <a:ea typeface="メイリオ"/>
                          <a:cs typeface="メイリオ"/>
                        </a:rPr>
                        <a:t>リッチメニュー</a:t>
                      </a:r>
                    </a:p>
                  </a:txBody>
                  <a:tcPr anchor="ctr">
                    <a:solidFill>
                      <a:srgbClr val="1F285A"/>
                    </a:solidFill>
                  </a:tcPr>
                </a:tc>
                <a:tc>
                  <a:txBody>
                    <a:bodyPr wrap="square" lIns="50400" rIns="50400" tIns="10800" bIns="10800" anchor="ctr"/>
                    <a:lstStyle/>
                    <a:p>
                      <a:pPr algn="ctr"/>
                      <a:r>
                        <a:rPr sz="1200" b="1">
                          <a:solidFill>
                            <a:srgbClr val="FFFFFF"/>
                          </a:solidFill>
                          <a:latin typeface="メイリオ"/>
                          <a:ea typeface="メイリオ"/>
                          <a:cs typeface="メイリオ"/>
                        </a:rPr>
                        <a:t>診断の有無</a:t>
                      </a:r>
                    </a:p>
                  </a:txBody>
                  <a:tcPr anchor="ctr">
                    <a:solidFill>
                      <a:srgbClr val="1F285A"/>
                    </a:solidFill>
                  </a:tcPr>
                </a:tc>
              </a:tr>
              <a:tr h="302400">
                <a:tc>
                  <a:txBody>
                    <a:bodyPr wrap="square" lIns="50400" rIns="50400" tIns="10800" bIns="10800" anchor="ctr"/>
                    <a:lstStyle/>
                    <a:p>
                      <a:pPr algn="l"/>
                      <a:r>
                        <a:rPr sz="1100">
                          <a:solidFill>
                            <a:srgbClr val="1C2233"/>
                          </a:solidFill>
                          <a:latin typeface="メイリオ"/>
                          <a:ea typeface="メイリオ"/>
                          <a:cs typeface="メイリオ"/>
                        </a:rPr>
                        <a:t>立命館大学 入学センター</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大学</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a:t>
                      </a:r>
                    </a:p>
                  </a:txBody>
                  <a:tcPr anchor="ctr">
                    <a:solidFill>
                      <a:srgbClr val="FFFFFF"/>
                    </a:solidFill>
                  </a:tcPr>
                </a:tc>
                <a:tc>
                  <a:txBody>
                    <a:bodyPr wrap="square" lIns="50400" rIns="50400" tIns="10800" bIns="10800" anchor="ctr"/>
                    <a:lstStyle/>
                    <a:p>
                      <a:pPr algn="r"/>
                      <a:r>
                        <a:rPr sz="1100">
                          <a:solidFill>
                            <a:srgbClr val="1C2233"/>
                          </a:solidFill>
                          <a:latin typeface="メイリオ"/>
                          <a:ea typeface="メイリオ"/>
                          <a:cs typeface="メイリオ"/>
                        </a:rPr>
                        <a:t>139,406</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資料請求・OC申込</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a:t>
                      </a:r>
                    </a:p>
                  </a:txBody>
                  <a:tcPr anchor="ctr">
                    <a:solidFill>
                      <a:srgbClr val="FFFFFF"/>
                    </a:solidFill>
                  </a:tcPr>
                </a:tc>
              </a:tr>
              <a:tr h="302400">
                <a:tc>
                  <a:txBody>
                    <a:bodyPr wrap="square" lIns="50400" rIns="50400" tIns="10800" bIns="10800" anchor="ctr"/>
                    <a:lstStyle/>
                    <a:p>
                      <a:pPr algn="l"/>
                      <a:r>
                        <a:rPr sz="1100">
                          <a:solidFill>
                            <a:srgbClr val="1C2233"/>
                          </a:solidFill>
                          <a:latin typeface="メイリオ"/>
                          <a:ea typeface="メイリオ"/>
                          <a:cs typeface="メイリオ"/>
                        </a:rPr>
                        <a:t>近畿大学</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大学</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a:t>
                      </a:r>
                    </a:p>
                  </a:txBody>
                  <a:tcPr anchor="ctr">
                    <a:solidFill>
                      <a:srgbClr val="F4F7FF"/>
                    </a:solidFill>
                  </a:tcPr>
                </a:tc>
                <a:tc>
                  <a:txBody>
                    <a:bodyPr wrap="square" lIns="50400" rIns="50400" tIns="10800" bIns="10800" anchor="ctr"/>
                    <a:lstStyle/>
                    <a:p>
                      <a:pPr algn="r"/>
                      <a:r>
                        <a:rPr sz="1100">
                          <a:solidFill>
                            <a:srgbClr val="1C2233"/>
                          </a:solidFill>
                          <a:latin typeface="メイリオ"/>
                          <a:ea typeface="メイリオ"/>
                          <a:cs typeface="メイリオ"/>
                        </a:rPr>
                        <a:t>137,996</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イベント・クーポン</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a:t>
                      </a:r>
                    </a:p>
                  </a:txBody>
                  <a:tcPr anchor="ctr">
                    <a:solidFill>
                      <a:srgbClr val="F4F7FF"/>
                    </a:solidFill>
                  </a:tcPr>
                </a:tc>
              </a:tr>
              <a:tr h="302400">
                <a:tc>
                  <a:txBody>
                    <a:bodyPr wrap="square" lIns="50400" rIns="50400" tIns="10800" bIns="10800" anchor="ctr"/>
                    <a:lstStyle/>
                    <a:p>
                      <a:pPr algn="l"/>
                      <a:r>
                        <a:rPr sz="1100">
                          <a:solidFill>
                            <a:srgbClr val="1C2233"/>
                          </a:solidFill>
                          <a:latin typeface="メイリオ"/>
                          <a:ea typeface="メイリオ"/>
                          <a:cs typeface="メイリオ"/>
                        </a:rPr>
                        <a:t>龍谷大学 入試部</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大学</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a:t>
                      </a:r>
                    </a:p>
                  </a:txBody>
                  <a:tcPr anchor="ctr">
                    <a:solidFill>
                      <a:srgbClr val="FFFFFF"/>
                    </a:solidFill>
                  </a:tcPr>
                </a:tc>
                <a:tc>
                  <a:txBody>
                    <a:bodyPr wrap="square" lIns="50400" rIns="50400" tIns="10800" bIns="10800" anchor="ctr"/>
                    <a:lstStyle/>
                    <a:p>
                      <a:pPr algn="r"/>
                      <a:r>
                        <a:rPr sz="1100">
                          <a:solidFill>
                            <a:srgbClr val="1C2233"/>
                          </a:solidFill>
                          <a:latin typeface="メイリオ"/>
                          <a:ea typeface="メイリオ"/>
                          <a:cs typeface="メイリオ"/>
                        </a:rPr>
                        <a:t>95,199</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OC予約・入試対策講座</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a:t>
                      </a:r>
                    </a:p>
                  </a:txBody>
                  <a:tcPr anchor="ctr">
                    <a:solidFill>
                      <a:srgbClr val="FFFFFF"/>
                    </a:solidFill>
                  </a:tcPr>
                </a:tc>
              </a:tr>
              <a:tr h="302400">
                <a:tc>
                  <a:txBody>
                    <a:bodyPr wrap="square" lIns="50400" rIns="50400" tIns="10800" bIns="10800" anchor="ctr"/>
                    <a:lstStyle/>
                    <a:p>
                      <a:pPr algn="l"/>
                      <a:r>
                        <a:rPr sz="1100">
                          <a:solidFill>
                            <a:srgbClr val="1C2233"/>
                          </a:solidFill>
                          <a:latin typeface="メイリオ"/>
                          <a:ea typeface="メイリオ"/>
                          <a:cs typeface="メイリオ"/>
                        </a:rPr>
                        <a:t>日本工学院</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専門</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a:t>
                      </a:r>
                    </a:p>
                  </a:txBody>
                  <a:tcPr anchor="ctr">
                    <a:solidFill>
                      <a:srgbClr val="F4F7FF"/>
                    </a:solidFill>
                  </a:tcPr>
                </a:tc>
                <a:tc>
                  <a:txBody>
                    <a:bodyPr wrap="square" lIns="50400" rIns="50400" tIns="10800" bIns="10800" anchor="ctr"/>
                    <a:lstStyle/>
                    <a:p>
                      <a:pPr algn="r"/>
                      <a:r>
                        <a:rPr sz="1100">
                          <a:solidFill>
                            <a:srgbClr val="1C2233"/>
                          </a:solidFill>
                          <a:latin typeface="メイリオ"/>
                          <a:ea typeface="メイリオ"/>
                          <a:cs typeface="メイリオ"/>
                        </a:rPr>
                        <a:t>42,075</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OC・体験入学</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未確認</a:t>
                      </a:r>
                    </a:p>
                  </a:txBody>
                  <a:tcPr anchor="ctr">
                    <a:solidFill>
                      <a:srgbClr val="F4F7FF"/>
                    </a:solidFill>
                  </a:tcPr>
                </a:tc>
              </a:tr>
              <a:tr h="302400">
                <a:tc>
                  <a:txBody>
                    <a:bodyPr wrap="square" lIns="50400" rIns="50400" tIns="10800" bIns="10800" anchor="ctr"/>
                    <a:lstStyle/>
                    <a:p>
                      <a:pPr algn="l"/>
                      <a:r>
                        <a:rPr sz="1100">
                          <a:solidFill>
                            <a:srgbClr val="1C2233"/>
                          </a:solidFill>
                          <a:latin typeface="メイリオ"/>
                          <a:ea typeface="メイリオ"/>
                          <a:cs typeface="メイリオ"/>
                        </a:rPr>
                        <a:t>NSGカレッジリーグ</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専門</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a:t>
                      </a:r>
                    </a:p>
                  </a:txBody>
                  <a:tcPr anchor="ctr">
                    <a:solidFill>
                      <a:srgbClr val="FFFFFF"/>
                    </a:solidFill>
                  </a:tcPr>
                </a:tc>
                <a:tc>
                  <a:txBody>
                    <a:bodyPr wrap="square" lIns="50400" rIns="50400" tIns="10800" bIns="10800" anchor="ctr"/>
                    <a:lstStyle/>
                    <a:p>
                      <a:pPr algn="r"/>
                      <a:r>
                        <a:rPr sz="1100">
                          <a:solidFill>
                            <a:srgbClr val="1C2233"/>
                          </a:solidFill>
                          <a:latin typeface="メイリオ"/>
                          <a:ea typeface="メイリオ"/>
                          <a:cs typeface="メイリオ"/>
                        </a:rPr>
                        <a:t>34,659</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診断・資料請求</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a:t>
                      </a:r>
                    </a:p>
                  </a:txBody>
                  <a:tcPr anchor="ctr">
                    <a:solidFill>
                      <a:srgbClr val="FFFFFF"/>
                    </a:solidFill>
                  </a:tcPr>
                </a:tc>
              </a:tr>
              <a:tr h="302400">
                <a:tc>
                  <a:txBody>
                    <a:bodyPr wrap="square" lIns="50400" rIns="50400" tIns="10800" bIns="10800" anchor="ctr"/>
                    <a:lstStyle/>
                    <a:p>
                      <a:pPr algn="l"/>
                      <a:r>
                        <a:rPr sz="1100">
                          <a:solidFill>
                            <a:srgbClr val="1C2233"/>
                          </a:solidFill>
                          <a:latin typeface="メイリオ"/>
                          <a:ea typeface="メイリオ"/>
                          <a:cs typeface="メイリオ"/>
                        </a:rPr>
                        <a:t>大原学園</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専門</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a:t>
                      </a:r>
                    </a:p>
                  </a:txBody>
                  <a:tcPr anchor="ctr">
                    <a:solidFill>
                      <a:srgbClr val="F4F7FF"/>
                    </a:solidFill>
                  </a:tcPr>
                </a:tc>
                <a:tc>
                  <a:txBody>
                    <a:bodyPr wrap="square" lIns="50400" rIns="50400" tIns="10800" bIns="10800" anchor="ctr"/>
                    <a:lstStyle/>
                    <a:p>
                      <a:pPr algn="r"/>
                      <a:r>
                        <a:rPr sz="1100">
                          <a:solidFill>
                            <a:srgbClr val="1C2233"/>
                          </a:solidFill>
                          <a:latin typeface="メイリオ"/>
                          <a:ea typeface="メイリオ"/>
                          <a:cs typeface="メイリオ"/>
                        </a:rPr>
                        <a:t>24,428</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個別相談・AO連絡</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a:t>
                      </a:r>
                    </a:p>
                  </a:txBody>
                  <a:tcPr anchor="ctr">
                    <a:solidFill>
                      <a:srgbClr val="F4F7FF"/>
                    </a:solidFill>
                  </a:tcPr>
                </a:tc>
              </a:tr>
              <a:tr h="302400">
                <a:tc>
                  <a:txBody>
                    <a:bodyPr wrap="square" lIns="50400" rIns="50400" tIns="10800" bIns="10800" anchor="ctr"/>
                    <a:lstStyle/>
                    <a:p>
                      <a:pPr algn="l"/>
                      <a:r>
                        <a:rPr sz="1100">
                          <a:solidFill>
                            <a:srgbClr val="1C2233"/>
                          </a:solidFill>
                          <a:latin typeface="メイリオ"/>
                          <a:ea typeface="メイリオ"/>
                          <a:cs typeface="メイリオ"/>
                        </a:rPr>
                        <a:t>HAL東京</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専門</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a:t>
                      </a:r>
                    </a:p>
                  </a:txBody>
                  <a:tcPr anchor="ctr">
                    <a:solidFill>
                      <a:srgbClr val="FFFFFF"/>
                    </a:solidFill>
                  </a:tcPr>
                </a:tc>
                <a:tc>
                  <a:txBody>
                    <a:bodyPr wrap="square" lIns="50400" rIns="50400" tIns="10800" bIns="10800" anchor="ctr"/>
                    <a:lstStyle/>
                    <a:p>
                      <a:pPr algn="r"/>
                      <a:r>
                        <a:rPr sz="1100">
                          <a:solidFill>
                            <a:srgbClr val="1C2233"/>
                          </a:solidFill>
                          <a:latin typeface="メイリオ"/>
                          <a:ea typeface="メイリオ"/>
                          <a:cs typeface="メイリオ"/>
                        </a:rPr>
                        <a:t>14,661</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OC情報・チャット</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a:t>
                      </a:r>
                    </a:p>
                  </a:txBody>
                  <a:tcPr anchor="ctr">
                    <a:solidFill>
                      <a:srgbClr val="FFFFFF"/>
                    </a:solidFill>
                  </a:tcPr>
                </a:tc>
              </a:tr>
              <a:tr h="302400">
                <a:tc>
                  <a:txBody>
                    <a:bodyPr wrap="square" lIns="50400" rIns="50400" tIns="10800" bIns="10800" anchor="ctr"/>
                    <a:lstStyle/>
                    <a:p>
                      <a:pPr algn="l"/>
                      <a:r>
                        <a:rPr sz="1100">
                          <a:solidFill>
                            <a:srgbClr val="1C2233"/>
                          </a:solidFill>
                          <a:latin typeface="メイリオ"/>
                          <a:ea typeface="メイリオ"/>
                          <a:cs typeface="メイリオ"/>
                        </a:rPr>
                        <a:t>大阪モード学園</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専門</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a:t>
                      </a:r>
                    </a:p>
                  </a:txBody>
                  <a:tcPr anchor="ctr">
                    <a:solidFill>
                      <a:srgbClr val="F4F7FF"/>
                    </a:solidFill>
                  </a:tcPr>
                </a:tc>
                <a:tc>
                  <a:txBody>
                    <a:bodyPr wrap="square" lIns="50400" rIns="50400" tIns="10800" bIns="10800" anchor="ctr"/>
                    <a:lstStyle/>
                    <a:p>
                      <a:pPr algn="r"/>
                      <a:r>
                        <a:rPr sz="1100">
                          <a:solidFill>
                            <a:srgbClr val="1C2233"/>
                          </a:solidFill>
                          <a:latin typeface="メイリオ"/>
                          <a:ea typeface="メイリオ"/>
                          <a:cs typeface="メイリオ"/>
                        </a:rPr>
                        <a:t>3,206</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OC情報</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a:t>
                      </a:r>
                    </a:p>
                  </a:txBody>
                  <a:tcPr anchor="ctr">
                    <a:solidFill>
                      <a:srgbClr val="F4F7FF"/>
                    </a:solidFill>
                  </a:tcPr>
                </a:tc>
              </a:tr>
            </a:tbl>
          </a:graphicData>
        </a:graphic>
      </p:graphicFrame>
      <p:sp>
        <p:nvSpPr>
          <p:cNvPr id="5" name="Rounded Rectangle 4"/>
          <p:cNvSpPr/>
          <p:nvPr/>
        </p:nvSpPr>
        <p:spPr>
          <a:xfrm>
            <a:off x="396000" y="4068000"/>
            <a:ext cx="2951999" cy="133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1F285A"/>
                </a:solidFill>
                <a:latin typeface="メイリオ"/>
                <a:ea typeface="メイリオ"/>
                <a:cs typeface="メイリオ"/>
              </a:rPr>
              <a:t>① 大学は「在学生向け」が多い</a:t>
            </a:r>
          </a:p>
          <a:p>
            <a:pPr algn="l">
              <a:lnSpc>
                <a:spcPct val="120000"/>
              </a:lnSpc>
              <a:spcAft>
                <a:spcPts val="200"/>
              </a:spcAft>
            </a:pPr>
            <a:r>
              <a:rPr sz="1100">
                <a:solidFill>
                  <a:srgbClr val="1C2233"/>
                </a:solidFill>
                <a:latin typeface="メイリオ"/>
                <a:ea typeface="メイリオ"/>
                <a:cs typeface="メイリオ"/>
              </a:rPr>
              <a:t>受験生向けと在学生向けを分けているか、</a:t>
            </a:r>
          </a:p>
          <a:p>
            <a:pPr algn="l">
              <a:lnSpc>
                <a:spcPct val="120000"/>
              </a:lnSpc>
              <a:spcAft>
                <a:spcPts val="200"/>
              </a:spcAft>
            </a:pPr>
            <a:r>
              <a:rPr sz="1100">
                <a:solidFill>
                  <a:srgbClr val="1C2233"/>
                </a:solidFill>
                <a:latin typeface="メイリオ"/>
                <a:ea typeface="メイリオ"/>
                <a:cs typeface="メイリオ"/>
              </a:rPr>
              <a:t>タグで出し分けているかを必ず確認する。</a:t>
            </a:r>
          </a:p>
          <a:p>
            <a:pPr algn="l">
              <a:lnSpc>
                <a:spcPct val="120000"/>
              </a:lnSpc>
              <a:spcAft>
                <a:spcPts val="200"/>
              </a:spcAft>
            </a:pPr>
            <a:r>
              <a:rPr sz="1100">
                <a:solidFill>
                  <a:srgbClr val="1C2233"/>
                </a:solidFill>
                <a:latin typeface="メイリオ"/>
                <a:ea typeface="メイリオ"/>
                <a:cs typeface="メイリオ"/>
              </a:rPr>
              <a:t>混在していると配信精度が落ちる。</a:t>
            </a:r>
          </a:p>
        </p:txBody>
      </p:sp>
      <p:sp>
        <p:nvSpPr>
          <p:cNvPr id="6" name="Rounded Rectangle 5"/>
          <p:cNvSpPr/>
          <p:nvPr/>
        </p:nvSpPr>
        <p:spPr>
          <a:xfrm>
            <a:off x="3491999" y="4068000"/>
            <a:ext cx="2951999" cy="133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1F285A"/>
                </a:solidFill>
                <a:latin typeface="メイリオ"/>
                <a:ea typeface="メイリオ"/>
                <a:cs typeface="メイリオ"/>
              </a:rPr>
              <a:t>② 見るのは友だち数ではない</a:t>
            </a:r>
          </a:p>
          <a:p>
            <a:pPr algn="l">
              <a:lnSpc>
                <a:spcPct val="120000"/>
              </a:lnSpc>
              <a:spcAft>
                <a:spcPts val="200"/>
              </a:spcAft>
            </a:pPr>
            <a:r>
              <a:rPr sz="1100">
                <a:solidFill>
                  <a:srgbClr val="1C2233"/>
                </a:solidFill>
                <a:latin typeface="メイリオ"/>
                <a:ea typeface="メイリオ"/>
                <a:cs typeface="メイリオ"/>
              </a:rPr>
              <a:t>学部数が多いほど「出し分け」の必要が高い。</a:t>
            </a:r>
          </a:p>
          <a:p>
            <a:pPr algn="l">
              <a:lnSpc>
                <a:spcPct val="120000"/>
              </a:lnSpc>
              <a:spcAft>
                <a:spcPts val="200"/>
              </a:spcAft>
            </a:pPr>
            <a:r>
              <a:rPr sz="1100">
                <a:solidFill>
                  <a:srgbClr val="1C2233"/>
                </a:solidFill>
                <a:latin typeface="メイリオ"/>
                <a:ea typeface="メイリオ"/>
                <a:cs typeface="メイリオ"/>
              </a:rPr>
              <a:t>リッチメニューが学部別か機能別かで、</a:t>
            </a:r>
          </a:p>
          <a:p>
            <a:pPr algn="l">
              <a:lnSpc>
                <a:spcPct val="120000"/>
              </a:lnSpc>
              <a:spcAft>
                <a:spcPts val="200"/>
              </a:spcAft>
            </a:pPr>
            <a:r>
              <a:rPr sz="1100">
                <a:solidFill>
                  <a:srgbClr val="1C2233"/>
                </a:solidFill>
                <a:latin typeface="メイリオ"/>
                <a:ea typeface="メイリオ"/>
                <a:cs typeface="メイリオ"/>
              </a:rPr>
              <a:t>その学校の設計思想が分かる。</a:t>
            </a:r>
          </a:p>
        </p:txBody>
      </p:sp>
      <p:sp>
        <p:nvSpPr>
          <p:cNvPr id="7" name="Rounded Rectangle 6"/>
          <p:cNvSpPr/>
          <p:nvPr/>
        </p:nvSpPr>
        <p:spPr>
          <a:xfrm>
            <a:off x="6588000" y="4068000"/>
            <a:ext cx="2951999" cy="133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ED7D31"/>
                </a:solidFill>
                <a:latin typeface="メイリオ"/>
                <a:ea typeface="メイリオ"/>
                <a:cs typeface="メイリオ"/>
              </a:rPr>
              <a:t>③ 空白は「診断」</a:t>
            </a:r>
          </a:p>
          <a:p>
            <a:pPr algn="l">
              <a:lnSpc>
                <a:spcPct val="120000"/>
              </a:lnSpc>
              <a:spcAft>
                <a:spcPts val="200"/>
              </a:spcAft>
            </a:pPr>
            <a:r>
              <a:rPr sz="1100">
                <a:solidFill>
                  <a:srgbClr val="1C2233"/>
                </a:solidFill>
                <a:latin typeface="メイリオ"/>
                <a:ea typeface="メイリオ"/>
                <a:cs typeface="メイリオ"/>
              </a:rPr>
              <a:t>塾業界の実測では、大手8社すべてが</a:t>
            </a:r>
          </a:p>
          <a:p>
            <a:pPr algn="l">
              <a:lnSpc>
                <a:spcPct val="120000"/>
              </a:lnSpc>
              <a:spcAft>
                <a:spcPts val="200"/>
              </a:spcAft>
            </a:pPr>
            <a:r>
              <a:rPr sz="1100">
                <a:solidFill>
                  <a:srgbClr val="1C2233"/>
                </a:solidFill>
                <a:latin typeface="メイリオ"/>
                <a:ea typeface="メイリオ"/>
                <a:cs typeface="メイリオ"/>
              </a:rPr>
              <a:t>LINEを新規集客に使っていた。差がつくのは</a:t>
            </a:r>
          </a:p>
          <a:p>
            <a:pPr algn="l">
              <a:lnSpc>
                <a:spcPct val="120000"/>
              </a:lnSpc>
              <a:spcAft>
                <a:spcPts val="200"/>
              </a:spcAft>
            </a:pPr>
            <a:r>
              <a:rPr sz="1100">
                <a:solidFill>
                  <a:srgbClr val="1C2233"/>
                </a:solidFill>
                <a:latin typeface="メイリオ"/>
                <a:ea typeface="メイリオ"/>
                <a:cs typeface="メイリオ"/>
              </a:rPr>
              <a:t>「診断で適合を見せているか」だけだった。</a:t>
            </a:r>
          </a:p>
        </p:txBody>
      </p:sp>
      <p:sp>
        <p:nvSpPr>
          <p:cNvPr id="8" name="Rectangle 7"/>
          <p:cNvSpPr/>
          <p:nvPr/>
        </p:nvSpPr>
        <p:spPr>
          <a:xfrm>
            <a:off x="396000" y="5544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2000" y="5544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5623200"/>
            <a:ext cx="8820000" cy="324000"/>
          </a:xfrm>
          <a:prstGeom prst="rect">
            <a:avLst/>
          </a:prstGeom>
          <a:noFill/>
        </p:spPr>
        <p:txBody>
          <a:bodyPr wrap="square" lIns="0" rIns="0" tIns="21600" bIns="21600" anchor="ctr">
            <a:spAutoFit/>
          </a:bodyPr>
          <a:lstStyle/>
          <a:p>
            <a:pPr algn="l"/>
            <a:r>
              <a:rPr sz="1400" b="1">
                <a:solidFill>
                  <a:srgbClr val="1C2233"/>
                </a:solidFill>
                <a:latin typeface="メイリオ"/>
                <a:ea typeface="メイリオ"/>
                <a:cs typeface="メイリオ"/>
              </a:rPr>
              <a:t>友だちは広告で買える。でも運用設計がなければ、リストは資産にならない。</a:t>
            </a:r>
          </a:p>
        </p:txBody>
      </p:sp>
      <p:sp>
        <p:nvSpPr>
          <p:cNvPr id="11" name="TextBox 10"/>
          <p:cNvSpPr txBox="1"/>
          <p:nvPr/>
        </p:nvSpPr>
        <p:spPr>
          <a:xfrm>
            <a:off x="396000" y="6138000"/>
            <a:ext cx="9144000" cy="518400"/>
          </a:xfrm>
          <a:prstGeom prst="rect">
            <a:avLst/>
          </a:prstGeom>
          <a:noFill/>
        </p:spPr>
        <p:txBody>
          <a:bodyPr wrap="square" lIns="0" rIns="0" tIns="21600" bIns="21600" anchor="t">
            <a:spAutoFit/>
          </a:bodyPr>
          <a:lstStyle/>
          <a:p>
            <a:pPr algn="l">
              <a:lnSpc>
                <a:spcPct val="120000"/>
              </a:lnSpc>
            </a:pPr>
            <a:r>
              <a:rPr sz="900">
                <a:solidFill>
                  <a:srgbClr val="646C82"/>
                </a:solidFill>
                <a:latin typeface="メイリオ"/>
                <a:ea typeface="メイリオ"/>
                <a:cs typeface="メイリオ"/>
              </a:rPr>
              <a:t>※ 友だち数は 2026-09-20 に page.line.me（公式）で実測。機能はWeb公開情報から（リッチメニュー内部は外部から未確認のため断定しない）。</a:t>
            </a:r>
          </a:p>
          <a:p>
            <a:pPr algn="l">
              <a:lnSpc>
                <a:spcPct val="120000"/>
              </a:lnSpc>
            </a:pPr>
            <a:r>
              <a:rPr sz="900">
                <a:solidFill>
                  <a:srgbClr val="646C82"/>
                </a:solidFill>
                <a:latin typeface="メイリオ"/>
                <a:ea typeface="メイリオ"/>
                <a:cs typeface="メイリオ"/>
              </a:rPr>
              <a:t>※ 第三者サイト（lineoa.jp）の数値は当たり付け専用。本資料には載せない。実名掲載の最終可否は学内確認事項。</a:t>
            </a:r>
          </a:p>
        </p:txBody>
      </p:sp>
    </p:spTree>
    <p:extLst>
      <p:ext uri="{BB962C8B-B14F-4D97-AF65-F5344CB8AC3E}">
        <p14:creationId xmlns:p14="http://schemas.microsoft.com/office/powerpoint/2010/main" val="2250220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現状分析｜LINE運用は4つの型に分類できる</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「集めている学校」と「育てている学校」に、はっきり分かれる。</a:t>
            </a:r>
          </a:p>
        </p:txBody>
      </p:sp>
      <p:graphicFrame>
        <p:nvGraphicFramePr>
          <p:cNvPr id="4" name="Table 3"/>
          <p:cNvGraphicFramePr>
            <a:graphicFrameLocks noGrp="1"/>
          </p:cNvGraphicFramePr>
          <p:nvPr/>
        </p:nvGraphicFramePr>
        <p:xfrm>
          <a:off x="396000" y="1224000"/>
          <a:ext cx="9143999" cy="3960000"/>
        </p:xfrm>
        <a:graphic>
          <a:graphicData uri="http://schemas.openxmlformats.org/drawingml/2006/table">
            <a:tbl>
              <a:tblPr firstRow="1" bandRow="1">
                <a:tableStyleId>{5C22544A-7EE6-4342-B048-85BDC9FD1C3A}</a:tableStyleId>
              </a:tblPr>
              <a:tblGrid>
                <a:gridCol w="1872000"/>
                <a:gridCol w="4320000"/>
                <a:gridCol w="2951999"/>
              </a:tblGrid>
              <a:tr h="792000">
                <a:tc>
                  <a:txBody>
                    <a:bodyPr wrap="square" lIns="50400" rIns="50400" tIns="10800" bIns="10800" anchor="ctr"/>
                    <a:lstStyle/>
                    <a:p>
                      <a:pPr algn="l"/>
                      <a:r>
                        <a:rPr sz="1200" b="1">
                          <a:solidFill>
                            <a:srgbClr val="FFFFFF"/>
                          </a:solidFill>
                          <a:latin typeface="メイリオ"/>
                          <a:ea typeface="メイリオ"/>
                          <a:cs typeface="メイリオ"/>
                        </a:rPr>
                        <a:t>型</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運用の中身</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強み／弱み</a:t>
                      </a:r>
                    </a:p>
                  </a:txBody>
                  <a:tcPr anchor="ctr">
                    <a:solidFill>
                      <a:srgbClr val="1F285A"/>
                    </a:solidFill>
                  </a:tcPr>
                </a:tc>
              </a:tr>
              <a:tr h="792000">
                <a:tc>
                  <a:txBody>
                    <a:bodyPr wrap="square" lIns="50400" rIns="50400" tIns="10800" bIns="10800" anchor="ctr"/>
                    <a:lstStyle/>
                    <a:p>
                      <a:pPr algn="l"/>
                      <a:r>
                        <a:rPr sz="1100">
                          <a:solidFill>
                            <a:srgbClr val="1C2233"/>
                          </a:solidFill>
                          <a:latin typeface="メイリオ"/>
                          <a:ea typeface="メイリオ"/>
                          <a:cs typeface="メイリオ"/>
                        </a:rPr>
                        <a:t>① 診断ドリブン型</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学部学科診断・適性診断で属性を取得し、学年・志望度別に配信を出し分ける</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本提案の型。実装している学校が少なく、空白地帯</a:t>
                      </a:r>
                    </a:p>
                  </a:txBody>
                  <a:tcPr anchor="ctr">
                    <a:solidFill>
                      <a:srgbClr val="FFFFFF"/>
                    </a:solidFill>
                  </a:tcPr>
                </a:tc>
              </a:tr>
              <a:tr h="792000">
                <a:tc>
                  <a:txBody>
                    <a:bodyPr wrap="square" lIns="50400" rIns="50400" tIns="10800" bIns="10800" anchor="ctr"/>
                    <a:lstStyle/>
                    <a:p>
                      <a:pPr algn="l"/>
                      <a:r>
                        <a:rPr sz="1100">
                          <a:solidFill>
                            <a:srgbClr val="1C2233"/>
                          </a:solidFill>
                          <a:latin typeface="メイリオ"/>
                          <a:ea typeface="メイリオ"/>
                          <a:cs typeface="メイリオ"/>
                        </a:rPr>
                        <a:t>② 相談カウンター型</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有人チャットでの個別相談が中心。配信はほとんどしない</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相談に来た子には強い。来ない子は拾えない</a:t>
                      </a:r>
                    </a:p>
                  </a:txBody>
                  <a:tcPr anchor="ctr">
                    <a:solidFill>
                      <a:srgbClr val="F4F7FF"/>
                    </a:solidFill>
                  </a:tcPr>
                </a:tc>
              </a:tr>
              <a:tr h="792000">
                <a:tc>
                  <a:txBody>
                    <a:bodyPr wrap="square" lIns="50400" rIns="50400" tIns="10800" bIns="10800" anchor="ctr"/>
                    <a:lstStyle/>
                    <a:p>
                      <a:pPr algn="l"/>
                      <a:r>
                        <a:rPr sz="1100">
                          <a:solidFill>
                            <a:srgbClr val="1C2233"/>
                          </a:solidFill>
                          <a:latin typeface="メイリオ"/>
                          <a:ea typeface="メイリオ"/>
                          <a:cs typeface="メイリオ"/>
                        </a:rPr>
                        <a:t>③ カタログ型</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学部一覧・OC日程・資料請求のリンクを並べただけ。押すとWebへ飛ぶ</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最も多い。LINEを使っているのではなくリンク集にしている</a:t>
                      </a:r>
                    </a:p>
                  </a:txBody>
                  <a:tcPr anchor="ctr">
                    <a:solidFill>
                      <a:srgbClr val="FFFFFF"/>
                    </a:solidFill>
                  </a:tcPr>
                </a:tc>
              </a:tr>
              <a:tr h="792000">
                <a:tc>
                  <a:txBody>
                    <a:bodyPr wrap="square" lIns="50400" rIns="50400" tIns="10800" bIns="10800" anchor="ctr"/>
                    <a:lstStyle/>
                    <a:p>
                      <a:pPr algn="l"/>
                      <a:r>
                        <a:rPr sz="1100">
                          <a:solidFill>
                            <a:srgbClr val="1C2233"/>
                          </a:solidFill>
                          <a:latin typeface="メイリオ"/>
                          <a:ea typeface="メイリオ"/>
                          <a:cs typeface="メイリオ"/>
                        </a:rPr>
                        <a:t>④ 連絡網型</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在学生への休講連絡・事務連絡が中心。受験生向けには使っていない</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友だち数は多いが、募集には一切効いていない</a:t>
                      </a:r>
                    </a:p>
                  </a:txBody>
                  <a:tcPr anchor="ctr">
                    <a:solidFill>
                      <a:srgbClr val="F4F7FF"/>
                    </a:solidFill>
                  </a:tcPr>
                </a:tc>
              </a:tr>
            </a:tbl>
          </a:graphicData>
        </a:graphic>
      </p:graphicFrame>
      <p:sp>
        <p:nvSpPr>
          <p:cNvPr id="5" name="Rectangle 4"/>
          <p:cNvSpPr/>
          <p:nvPr/>
        </p:nvSpPr>
        <p:spPr>
          <a:xfrm>
            <a:off x="396000" y="5544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32000" y="5544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00" y="5623200"/>
            <a:ext cx="8820000" cy="324000"/>
          </a:xfrm>
          <a:prstGeom prst="rect">
            <a:avLst/>
          </a:prstGeom>
          <a:noFill/>
        </p:spPr>
        <p:txBody>
          <a:bodyPr wrap="square" lIns="0" rIns="0" tIns="21600" bIns="21600" anchor="ctr">
            <a:spAutoFit/>
          </a:bodyPr>
          <a:lstStyle/>
          <a:p>
            <a:pPr algn="l"/>
            <a:r>
              <a:rPr sz="1400" b="1">
                <a:solidFill>
                  <a:srgbClr val="1C2233"/>
                </a:solidFill>
                <a:latin typeface="メイリオ"/>
                <a:ea typeface="メイリオ"/>
                <a:cs typeface="メイリオ"/>
              </a:rPr>
              <a:t>目指すのは ①診断 × 出し分け × 入学後まで の三点セット。どれか1つだけでは必ず頭打ちになる。</a:t>
            </a:r>
          </a:p>
        </p:txBody>
      </p:sp>
      <p:sp>
        <p:nvSpPr>
          <p:cNvPr id="8" name="TextBox 7"/>
          <p:cNvSpPr txBox="1"/>
          <p:nvPr/>
        </p:nvSpPr>
        <p:spPr>
          <a:xfrm>
            <a:off x="396000" y="6138000"/>
            <a:ext cx="9144000" cy="331200"/>
          </a:xfrm>
          <a:prstGeom prst="rect">
            <a:avLst/>
          </a:prstGeom>
          <a:noFill/>
        </p:spPr>
        <p:txBody>
          <a:bodyPr wrap="square" lIns="0" rIns="0" tIns="21600" bIns="21600" anchor="t">
            <a:spAutoFit/>
          </a:bodyPr>
          <a:lstStyle/>
          <a:p>
            <a:pPr algn="l">
              <a:lnSpc>
                <a:spcPct val="120000"/>
              </a:lnSpc>
            </a:pPr>
            <a:r>
              <a:rPr sz="900">
                <a:solidFill>
                  <a:srgbClr val="646C82"/>
                </a:solidFill>
                <a:latin typeface="メイリオ"/>
                <a:ea typeface="メイリオ"/>
                <a:cs typeface="メイリオ"/>
              </a:rPr>
              <a:t>※ 型分類は塾業界（2026-09-15実測）で検証したフレーム。学校法人での各校の当てはめは実機調査（page.line.me・PC実査）で確定する。</a:t>
            </a:r>
          </a:p>
        </p:txBody>
      </p:sp>
    </p:spTree>
    <p:extLst>
      <p:ext uri="{BB962C8B-B14F-4D97-AF65-F5344CB8AC3E}">
        <p14:creationId xmlns:p14="http://schemas.microsoft.com/office/powerpoint/2010/main" val="4354317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現状分析｜各校のリッチメニュー・あいさつメッセージ</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実機の画面を並べると、型の違いが一目で伝わる。</a:t>
            </a:r>
          </a:p>
        </p:txBody>
      </p:sp>
      <p:sp>
        <p:nvSpPr>
          <p:cNvPr id="4" name="Rounded Rectangle 3"/>
          <p:cNvSpPr/>
          <p:nvPr/>
        </p:nvSpPr>
        <p:spPr>
          <a:xfrm>
            <a:off x="396000" y="1224000"/>
            <a:ext cx="1692000" cy="396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21600" rIns="21600" tIns="0" bIns="0"/>
          <a:lstStyle/>
          <a:p>
            <a:pPr algn="ctr"/>
            <a:r>
              <a:rPr sz="1000" b="1">
                <a:solidFill>
                  <a:srgbClr val="1F285A"/>
                </a:solidFill>
                <a:latin typeface="メイリオ"/>
                <a:ea typeface="メイリオ"/>
                <a:cs typeface="メイリオ"/>
              </a:rPr>
              <a:t>大規模総合大（首都圏）</a:t>
            </a:r>
          </a:p>
        </p:txBody>
      </p:sp>
      <p:sp>
        <p:nvSpPr>
          <p:cNvPr id="5" name="Rounded Rectangle 4"/>
          <p:cNvSpPr/>
          <p:nvPr/>
        </p:nvSpPr>
        <p:spPr>
          <a:xfrm>
            <a:off x="396000" y="1655999"/>
            <a:ext cx="1692000" cy="3096000"/>
          </a:xfrm>
          <a:prstGeom prst="roundRect">
            <a:avLst>
              <a:gd name="adj" fmla="val 6000"/>
            </a:avLst>
          </a:prstGeom>
          <a:solidFill>
            <a:srgbClr val="FFFFFF"/>
          </a:solidFill>
          <a:ln w="1587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36000" bIns="36000"/>
          <a:lstStyle/>
          <a:p>
            <a:pPr algn="ctr">
              <a:spcAft>
                <a:spcPts val="500"/>
              </a:spcAft>
            </a:pPr>
            <a:r>
              <a:rPr sz="1200" b="1">
                <a:solidFill>
                  <a:srgbClr val="7F7F7F"/>
                </a:solidFill>
                <a:latin typeface="メイリオ"/>
                <a:ea typeface="メイリオ"/>
                <a:cs typeface="メイリオ"/>
              </a:rPr>
              <a:t>▧ 実機トーク画面
差込予定</a:t>
            </a:r>
          </a:p>
          <a:p>
            <a:pPr algn="ctr">
              <a:lnSpc>
                <a:spcPct val="125000"/>
              </a:lnSpc>
            </a:pPr>
            <a:r>
              <a:rPr sz="1000">
                <a:solidFill>
                  <a:srgbClr val="7F7F7F"/>
                </a:solidFill>
                <a:latin typeface="メイリオ"/>
                <a:ea typeface="メイリオ"/>
                <a:cs typeface="メイリオ"/>
              </a:rPr>
              <a:t>・リッチメニュー全体</a:t>
            </a:r>
          </a:p>
          <a:p>
            <a:pPr algn="ctr">
              <a:lnSpc>
                <a:spcPct val="125000"/>
              </a:lnSpc>
            </a:pPr>
            <a:r>
              <a:rPr sz="1000">
                <a:solidFill>
                  <a:srgbClr val="7F7F7F"/>
                </a:solidFill>
                <a:latin typeface="メイリオ"/>
                <a:ea typeface="メイリオ"/>
                <a:cs typeface="メイリオ"/>
              </a:rPr>
              <a:t>・あいさつメッセージ</a:t>
            </a:r>
          </a:p>
          <a:p>
            <a:pPr algn="ctr">
              <a:lnSpc>
                <a:spcPct val="125000"/>
              </a:lnSpc>
            </a:pPr>
            <a:r>
              <a:rPr sz="1000">
                <a:solidFill>
                  <a:srgbClr val="7F7F7F"/>
                </a:solidFill>
                <a:latin typeface="メイリオ"/>
                <a:ea typeface="メイリオ"/>
                <a:cs typeface="メイリオ"/>
              </a:rPr>
              <a:t>・2週間分の配信</a:t>
            </a:r>
          </a:p>
        </p:txBody>
      </p:sp>
      <p:sp>
        <p:nvSpPr>
          <p:cNvPr id="6" name="Rounded Rectangle 5"/>
          <p:cNvSpPr/>
          <p:nvPr/>
        </p:nvSpPr>
        <p:spPr>
          <a:xfrm>
            <a:off x="396000" y="4824000"/>
            <a:ext cx="1692000" cy="503999"/>
          </a:xfrm>
          <a:prstGeom prst="roundRect">
            <a:avLst>
              <a:gd name="adj" fmla="val 6000"/>
            </a:avLst>
          </a:prstGeom>
          <a:solidFill>
            <a:srgbClr val="F2F2F2"/>
          </a:solidFill>
          <a:ln w="12700">
            <a:solidFill>
              <a:srgbClr val="1C2233"/>
            </a:solidFill>
          </a:ln>
          <a:effectLst/>
        </p:spPr>
        <p:style>
          <a:lnRef idx="1">
            <a:schemeClr val="accent1"/>
          </a:lnRef>
          <a:fillRef idx="3">
            <a:schemeClr val="accent1"/>
          </a:fillRef>
          <a:effectRef idx="2">
            <a:schemeClr val="accent1"/>
          </a:effectRef>
          <a:fontRef idx="minor">
            <a:schemeClr val="lt1"/>
          </a:fontRef>
        </p:style>
        <p:txBody>
          <a:bodyPr rtlCol="0" anchor="ctr" wrap="square" lIns="21600" rIns="21600" tIns="0" bIns="0"/>
          <a:lstStyle/>
          <a:p>
            <a:pPr algn="ctr"/>
            <a:r>
              <a:rPr sz="1000" b="1">
                <a:solidFill>
                  <a:srgbClr val="1C2233"/>
                </a:solidFill>
                <a:latin typeface="メイリオ"/>
                <a:ea typeface="メイリオ"/>
                <a:cs typeface="メイリオ"/>
              </a:rPr>
              <a:t>学部別か機能別か</a:t>
            </a:r>
          </a:p>
        </p:txBody>
      </p:sp>
      <p:sp>
        <p:nvSpPr>
          <p:cNvPr id="7" name="Rounded Rectangle 6"/>
          <p:cNvSpPr/>
          <p:nvPr/>
        </p:nvSpPr>
        <p:spPr>
          <a:xfrm>
            <a:off x="2231999" y="1224000"/>
            <a:ext cx="1692000" cy="396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21600" rIns="21600" tIns="0" bIns="0"/>
          <a:lstStyle/>
          <a:p>
            <a:pPr algn="ctr"/>
            <a:r>
              <a:rPr sz="1000" b="1">
                <a:solidFill>
                  <a:srgbClr val="1F285A"/>
                </a:solidFill>
                <a:latin typeface="メイリオ"/>
                <a:ea typeface="メイリオ"/>
                <a:cs typeface="メイリオ"/>
              </a:rPr>
              <a:t>大規模総合大（関西）</a:t>
            </a:r>
          </a:p>
        </p:txBody>
      </p:sp>
      <p:sp>
        <p:nvSpPr>
          <p:cNvPr id="8" name="Rounded Rectangle 7"/>
          <p:cNvSpPr/>
          <p:nvPr/>
        </p:nvSpPr>
        <p:spPr>
          <a:xfrm>
            <a:off x="2231999" y="1655999"/>
            <a:ext cx="1692000" cy="3096000"/>
          </a:xfrm>
          <a:prstGeom prst="roundRect">
            <a:avLst>
              <a:gd name="adj" fmla="val 6000"/>
            </a:avLst>
          </a:prstGeom>
          <a:solidFill>
            <a:srgbClr val="FFFFFF"/>
          </a:solidFill>
          <a:ln w="1587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36000" bIns="36000"/>
          <a:lstStyle/>
          <a:p>
            <a:pPr algn="ctr">
              <a:spcAft>
                <a:spcPts val="500"/>
              </a:spcAft>
            </a:pPr>
            <a:r>
              <a:rPr sz="1200" b="1">
                <a:solidFill>
                  <a:srgbClr val="7F7F7F"/>
                </a:solidFill>
                <a:latin typeface="メイリオ"/>
                <a:ea typeface="メイリオ"/>
                <a:cs typeface="メイリオ"/>
              </a:rPr>
              <a:t>▧ 実機トーク画面
差込予定</a:t>
            </a:r>
          </a:p>
          <a:p>
            <a:pPr algn="ctr">
              <a:lnSpc>
                <a:spcPct val="125000"/>
              </a:lnSpc>
            </a:pPr>
            <a:r>
              <a:rPr sz="1000">
                <a:solidFill>
                  <a:srgbClr val="7F7F7F"/>
                </a:solidFill>
                <a:latin typeface="メイリオ"/>
                <a:ea typeface="メイリオ"/>
                <a:cs typeface="メイリオ"/>
              </a:rPr>
              <a:t>・リッチメニュー全体</a:t>
            </a:r>
          </a:p>
          <a:p>
            <a:pPr algn="ctr">
              <a:lnSpc>
                <a:spcPct val="125000"/>
              </a:lnSpc>
            </a:pPr>
            <a:r>
              <a:rPr sz="1000">
                <a:solidFill>
                  <a:srgbClr val="7F7F7F"/>
                </a:solidFill>
                <a:latin typeface="メイリオ"/>
                <a:ea typeface="メイリオ"/>
                <a:cs typeface="メイリオ"/>
              </a:rPr>
              <a:t>・あいさつメッセージ</a:t>
            </a:r>
          </a:p>
          <a:p>
            <a:pPr algn="ctr">
              <a:lnSpc>
                <a:spcPct val="125000"/>
              </a:lnSpc>
            </a:pPr>
            <a:r>
              <a:rPr sz="1000">
                <a:solidFill>
                  <a:srgbClr val="7F7F7F"/>
                </a:solidFill>
                <a:latin typeface="メイリオ"/>
                <a:ea typeface="メイリオ"/>
                <a:cs typeface="メイリオ"/>
              </a:rPr>
              <a:t>・2週間分の配信</a:t>
            </a:r>
          </a:p>
        </p:txBody>
      </p:sp>
      <p:sp>
        <p:nvSpPr>
          <p:cNvPr id="9" name="Rounded Rectangle 8"/>
          <p:cNvSpPr/>
          <p:nvPr/>
        </p:nvSpPr>
        <p:spPr>
          <a:xfrm>
            <a:off x="2231999" y="4824000"/>
            <a:ext cx="1692000" cy="503999"/>
          </a:xfrm>
          <a:prstGeom prst="roundRect">
            <a:avLst>
              <a:gd name="adj" fmla="val 6000"/>
            </a:avLst>
          </a:prstGeom>
          <a:solidFill>
            <a:srgbClr val="F2F2F2"/>
          </a:solidFill>
          <a:ln w="12700">
            <a:solidFill>
              <a:srgbClr val="1C2233"/>
            </a:solidFill>
          </a:ln>
          <a:effectLst/>
        </p:spPr>
        <p:style>
          <a:lnRef idx="1">
            <a:schemeClr val="accent1"/>
          </a:lnRef>
          <a:fillRef idx="3">
            <a:schemeClr val="accent1"/>
          </a:fillRef>
          <a:effectRef idx="2">
            <a:schemeClr val="accent1"/>
          </a:effectRef>
          <a:fontRef idx="minor">
            <a:schemeClr val="lt1"/>
          </a:fontRef>
        </p:style>
        <p:txBody>
          <a:bodyPr rtlCol="0" anchor="ctr" wrap="square" lIns="21600" rIns="21600" tIns="0" bIns="0"/>
          <a:lstStyle/>
          <a:p>
            <a:pPr algn="ctr"/>
            <a:r>
              <a:rPr sz="1000" b="1">
                <a:solidFill>
                  <a:srgbClr val="1C2233"/>
                </a:solidFill>
                <a:latin typeface="メイリオ"/>
                <a:ea typeface="メイリオ"/>
                <a:cs typeface="メイリオ"/>
              </a:rPr>
              <a:t>受験生／在学生の分離</a:t>
            </a:r>
          </a:p>
        </p:txBody>
      </p:sp>
      <p:sp>
        <p:nvSpPr>
          <p:cNvPr id="10" name="Rounded Rectangle 9"/>
          <p:cNvSpPr/>
          <p:nvPr/>
        </p:nvSpPr>
        <p:spPr>
          <a:xfrm>
            <a:off x="4067999" y="1224000"/>
            <a:ext cx="1692000" cy="396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21600" rIns="21600" tIns="0" bIns="0"/>
          <a:lstStyle/>
          <a:p>
            <a:pPr algn="ctr"/>
            <a:r>
              <a:rPr sz="1000" b="1">
                <a:solidFill>
                  <a:srgbClr val="1F285A"/>
                </a:solidFill>
                <a:latin typeface="メイリオ"/>
                <a:ea typeface="メイリオ"/>
                <a:cs typeface="メイリオ"/>
              </a:rPr>
              <a:t>中規模私立大（地方）</a:t>
            </a:r>
          </a:p>
        </p:txBody>
      </p:sp>
      <p:sp>
        <p:nvSpPr>
          <p:cNvPr id="11" name="Rounded Rectangle 10"/>
          <p:cNvSpPr/>
          <p:nvPr/>
        </p:nvSpPr>
        <p:spPr>
          <a:xfrm>
            <a:off x="4067999" y="1655999"/>
            <a:ext cx="1692000" cy="3096000"/>
          </a:xfrm>
          <a:prstGeom prst="roundRect">
            <a:avLst>
              <a:gd name="adj" fmla="val 6000"/>
            </a:avLst>
          </a:prstGeom>
          <a:solidFill>
            <a:srgbClr val="FFFFFF"/>
          </a:solidFill>
          <a:ln w="1587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36000" bIns="36000"/>
          <a:lstStyle/>
          <a:p>
            <a:pPr algn="ctr">
              <a:spcAft>
                <a:spcPts val="500"/>
              </a:spcAft>
            </a:pPr>
            <a:r>
              <a:rPr sz="1200" b="1">
                <a:solidFill>
                  <a:srgbClr val="7F7F7F"/>
                </a:solidFill>
                <a:latin typeface="メイリオ"/>
                <a:ea typeface="メイリオ"/>
                <a:cs typeface="メイリオ"/>
              </a:rPr>
              <a:t>▧ 実機トーク画面
差込予定</a:t>
            </a:r>
          </a:p>
          <a:p>
            <a:pPr algn="ctr">
              <a:lnSpc>
                <a:spcPct val="125000"/>
              </a:lnSpc>
            </a:pPr>
            <a:r>
              <a:rPr sz="1000">
                <a:solidFill>
                  <a:srgbClr val="7F7F7F"/>
                </a:solidFill>
                <a:latin typeface="メイリオ"/>
                <a:ea typeface="メイリオ"/>
                <a:cs typeface="メイリオ"/>
              </a:rPr>
              <a:t>・リッチメニュー全体</a:t>
            </a:r>
          </a:p>
          <a:p>
            <a:pPr algn="ctr">
              <a:lnSpc>
                <a:spcPct val="125000"/>
              </a:lnSpc>
            </a:pPr>
            <a:r>
              <a:rPr sz="1000">
                <a:solidFill>
                  <a:srgbClr val="7F7F7F"/>
                </a:solidFill>
                <a:latin typeface="メイリオ"/>
                <a:ea typeface="メイリオ"/>
                <a:cs typeface="メイリオ"/>
              </a:rPr>
              <a:t>・あいさつメッセージ</a:t>
            </a:r>
          </a:p>
          <a:p>
            <a:pPr algn="ctr">
              <a:lnSpc>
                <a:spcPct val="125000"/>
              </a:lnSpc>
            </a:pPr>
            <a:r>
              <a:rPr sz="1000">
                <a:solidFill>
                  <a:srgbClr val="7F7F7F"/>
                </a:solidFill>
                <a:latin typeface="メイリオ"/>
                <a:ea typeface="メイリオ"/>
                <a:cs typeface="メイリオ"/>
              </a:rPr>
              <a:t>・2週間分の配信</a:t>
            </a:r>
          </a:p>
        </p:txBody>
      </p:sp>
      <p:sp>
        <p:nvSpPr>
          <p:cNvPr id="12" name="Rounded Rectangle 11"/>
          <p:cNvSpPr/>
          <p:nvPr/>
        </p:nvSpPr>
        <p:spPr>
          <a:xfrm>
            <a:off x="4067999" y="4824000"/>
            <a:ext cx="1692000" cy="503999"/>
          </a:xfrm>
          <a:prstGeom prst="roundRect">
            <a:avLst>
              <a:gd name="adj" fmla="val 6000"/>
            </a:avLst>
          </a:prstGeom>
          <a:solidFill>
            <a:srgbClr val="F2F2F2"/>
          </a:solidFill>
          <a:ln w="12700">
            <a:solidFill>
              <a:srgbClr val="1C2233"/>
            </a:solidFill>
          </a:ln>
          <a:effectLst/>
        </p:spPr>
        <p:style>
          <a:lnRef idx="1">
            <a:schemeClr val="accent1"/>
          </a:lnRef>
          <a:fillRef idx="3">
            <a:schemeClr val="accent1"/>
          </a:fillRef>
          <a:effectRef idx="2">
            <a:schemeClr val="accent1"/>
          </a:effectRef>
          <a:fontRef idx="minor">
            <a:schemeClr val="lt1"/>
          </a:fontRef>
        </p:style>
        <p:txBody>
          <a:bodyPr rtlCol="0" anchor="ctr" wrap="square" lIns="21600" rIns="21600" tIns="0" bIns="0"/>
          <a:lstStyle/>
          <a:p>
            <a:pPr algn="ctr"/>
            <a:r>
              <a:rPr sz="1000" b="1">
                <a:solidFill>
                  <a:srgbClr val="1C2233"/>
                </a:solidFill>
                <a:latin typeface="メイリオ"/>
                <a:ea typeface="メイリオ"/>
                <a:cs typeface="メイリオ"/>
              </a:rPr>
              <a:t>本モデル校に最も近い</a:t>
            </a:r>
          </a:p>
        </p:txBody>
      </p:sp>
      <p:sp>
        <p:nvSpPr>
          <p:cNvPr id="13" name="Rounded Rectangle 12"/>
          <p:cNvSpPr/>
          <p:nvPr/>
        </p:nvSpPr>
        <p:spPr>
          <a:xfrm>
            <a:off x="5903999" y="1224000"/>
            <a:ext cx="1692000" cy="396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21600" rIns="21600" tIns="0" bIns="0"/>
          <a:lstStyle/>
          <a:p>
            <a:pPr algn="ctr"/>
            <a:r>
              <a:rPr sz="1000" b="1">
                <a:solidFill>
                  <a:srgbClr val="1F285A"/>
                </a:solidFill>
                <a:latin typeface="メイリオ"/>
                <a:ea typeface="メイリオ"/>
                <a:cs typeface="メイリオ"/>
              </a:rPr>
              <a:t>大手専門学校</a:t>
            </a:r>
          </a:p>
        </p:txBody>
      </p:sp>
      <p:sp>
        <p:nvSpPr>
          <p:cNvPr id="14" name="Rounded Rectangle 13"/>
          <p:cNvSpPr/>
          <p:nvPr/>
        </p:nvSpPr>
        <p:spPr>
          <a:xfrm>
            <a:off x="5903999" y="1655999"/>
            <a:ext cx="1692000" cy="3096000"/>
          </a:xfrm>
          <a:prstGeom prst="roundRect">
            <a:avLst>
              <a:gd name="adj" fmla="val 6000"/>
            </a:avLst>
          </a:prstGeom>
          <a:solidFill>
            <a:srgbClr val="FFFFFF"/>
          </a:solidFill>
          <a:ln w="1587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36000" bIns="36000"/>
          <a:lstStyle/>
          <a:p>
            <a:pPr algn="ctr">
              <a:spcAft>
                <a:spcPts val="500"/>
              </a:spcAft>
            </a:pPr>
            <a:r>
              <a:rPr sz="1200" b="1">
                <a:solidFill>
                  <a:srgbClr val="7F7F7F"/>
                </a:solidFill>
                <a:latin typeface="メイリオ"/>
                <a:ea typeface="メイリオ"/>
                <a:cs typeface="メイリオ"/>
              </a:rPr>
              <a:t>▧ 実機トーク画面
差込予定</a:t>
            </a:r>
          </a:p>
          <a:p>
            <a:pPr algn="ctr">
              <a:lnSpc>
                <a:spcPct val="125000"/>
              </a:lnSpc>
            </a:pPr>
            <a:r>
              <a:rPr sz="1000">
                <a:solidFill>
                  <a:srgbClr val="7F7F7F"/>
                </a:solidFill>
                <a:latin typeface="メイリオ"/>
                <a:ea typeface="メイリオ"/>
                <a:cs typeface="メイリオ"/>
              </a:rPr>
              <a:t>・リッチメニュー全体</a:t>
            </a:r>
          </a:p>
          <a:p>
            <a:pPr algn="ctr">
              <a:lnSpc>
                <a:spcPct val="125000"/>
              </a:lnSpc>
            </a:pPr>
            <a:r>
              <a:rPr sz="1000">
                <a:solidFill>
                  <a:srgbClr val="7F7F7F"/>
                </a:solidFill>
                <a:latin typeface="メイリオ"/>
                <a:ea typeface="メイリオ"/>
                <a:cs typeface="メイリオ"/>
              </a:rPr>
              <a:t>・あいさつメッセージ</a:t>
            </a:r>
          </a:p>
          <a:p>
            <a:pPr algn="ctr">
              <a:lnSpc>
                <a:spcPct val="125000"/>
              </a:lnSpc>
            </a:pPr>
            <a:r>
              <a:rPr sz="1000">
                <a:solidFill>
                  <a:srgbClr val="7F7F7F"/>
                </a:solidFill>
                <a:latin typeface="メイリオ"/>
                <a:ea typeface="メイリオ"/>
                <a:cs typeface="メイリオ"/>
              </a:rPr>
              <a:t>・2週間分の配信</a:t>
            </a:r>
          </a:p>
        </p:txBody>
      </p:sp>
      <p:sp>
        <p:nvSpPr>
          <p:cNvPr id="15" name="Rounded Rectangle 14"/>
          <p:cNvSpPr/>
          <p:nvPr/>
        </p:nvSpPr>
        <p:spPr>
          <a:xfrm>
            <a:off x="5903999" y="4824000"/>
            <a:ext cx="1692000" cy="503999"/>
          </a:xfrm>
          <a:prstGeom prst="roundRect">
            <a:avLst>
              <a:gd name="adj" fmla="val 6000"/>
            </a:avLst>
          </a:prstGeom>
          <a:solidFill>
            <a:srgbClr val="F2F2F2"/>
          </a:solidFill>
          <a:ln w="12700">
            <a:solidFill>
              <a:srgbClr val="1C2233"/>
            </a:solidFill>
          </a:ln>
          <a:effectLst/>
        </p:spPr>
        <p:style>
          <a:lnRef idx="1">
            <a:schemeClr val="accent1"/>
          </a:lnRef>
          <a:fillRef idx="3">
            <a:schemeClr val="accent1"/>
          </a:fillRef>
          <a:effectRef idx="2">
            <a:schemeClr val="accent1"/>
          </a:effectRef>
          <a:fontRef idx="minor">
            <a:schemeClr val="lt1"/>
          </a:fontRef>
        </p:style>
        <p:txBody>
          <a:bodyPr rtlCol="0" anchor="ctr" wrap="square" lIns="21600" rIns="21600" tIns="0" bIns="0"/>
          <a:lstStyle/>
          <a:p>
            <a:pPr algn="ctr"/>
            <a:r>
              <a:rPr sz="1000" b="1">
                <a:solidFill>
                  <a:srgbClr val="1C2233"/>
                </a:solidFill>
                <a:latin typeface="メイリオ"/>
                <a:ea typeface="メイリオ"/>
                <a:cs typeface="メイリオ"/>
              </a:rPr>
              <a:t>体験入学の予約導線</a:t>
            </a:r>
          </a:p>
        </p:txBody>
      </p:sp>
      <p:sp>
        <p:nvSpPr>
          <p:cNvPr id="16" name="Rounded Rectangle 15"/>
          <p:cNvSpPr/>
          <p:nvPr/>
        </p:nvSpPr>
        <p:spPr>
          <a:xfrm>
            <a:off x="7740000" y="1224000"/>
            <a:ext cx="1692000" cy="396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21600" rIns="21600" tIns="0" bIns="0"/>
          <a:lstStyle/>
          <a:p>
            <a:pPr algn="ctr"/>
            <a:r>
              <a:rPr sz="1000" b="1">
                <a:solidFill>
                  <a:srgbClr val="1F285A"/>
                </a:solidFill>
                <a:latin typeface="メイリオ"/>
                <a:ea typeface="メイリオ"/>
                <a:cs typeface="メイリオ"/>
              </a:rPr>
              <a:t>医療・看護系専門</a:t>
            </a:r>
          </a:p>
        </p:txBody>
      </p:sp>
      <p:sp>
        <p:nvSpPr>
          <p:cNvPr id="17" name="Rounded Rectangle 16"/>
          <p:cNvSpPr/>
          <p:nvPr/>
        </p:nvSpPr>
        <p:spPr>
          <a:xfrm>
            <a:off x="7740000" y="1655999"/>
            <a:ext cx="1692000" cy="3096000"/>
          </a:xfrm>
          <a:prstGeom prst="roundRect">
            <a:avLst>
              <a:gd name="adj" fmla="val 6000"/>
            </a:avLst>
          </a:prstGeom>
          <a:solidFill>
            <a:srgbClr val="FFFFFF"/>
          </a:solidFill>
          <a:ln w="1587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36000" bIns="36000"/>
          <a:lstStyle/>
          <a:p>
            <a:pPr algn="ctr">
              <a:spcAft>
                <a:spcPts val="500"/>
              </a:spcAft>
            </a:pPr>
            <a:r>
              <a:rPr sz="1200" b="1">
                <a:solidFill>
                  <a:srgbClr val="7F7F7F"/>
                </a:solidFill>
                <a:latin typeface="メイリオ"/>
                <a:ea typeface="メイリオ"/>
                <a:cs typeface="メイリオ"/>
              </a:rPr>
              <a:t>▧ 実機トーク画面
差込予定</a:t>
            </a:r>
          </a:p>
          <a:p>
            <a:pPr algn="ctr">
              <a:lnSpc>
                <a:spcPct val="125000"/>
              </a:lnSpc>
            </a:pPr>
            <a:r>
              <a:rPr sz="1000">
                <a:solidFill>
                  <a:srgbClr val="7F7F7F"/>
                </a:solidFill>
                <a:latin typeface="メイリオ"/>
                <a:ea typeface="メイリオ"/>
                <a:cs typeface="メイリオ"/>
              </a:rPr>
              <a:t>・リッチメニュー全体</a:t>
            </a:r>
          </a:p>
          <a:p>
            <a:pPr algn="ctr">
              <a:lnSpc>
                <a:spcPct val="125000"/>
              </a:lnSpc>
            </a:pPr>
            <a:r>
              <a:rPr sz="1000">
                <a:solidFill>
                  <a:srgbClr val="7F7F7F"/>
                </a:solidFill>
                <a:latin typeface="メイリオ"/>
                <a:ea typeface="メイリオ"/>
                <a:cs typeface="メイリオ"/>
              </a:rPr>
              <a:t>・あいさつメッセージ</a:t>
            </a:r>
          </a:p>
          <a:p>
            <a:pPr algn="ctr">
              <a:lnSpc>
                <a:spcPct val="125000"/>
              </a:lnSpc>
            </a:pPr>
            <a:r>
              <a:rPr sz="1000">
                <a:solidFill>
                  <a:srgbClr val="7F7F7F"/>
                </a:solidFill>
                <a:latin typeface="メイリオ"/>
                <a:ea typeface="メイリオ"/>
                <a:cs typeface="メイリオ"/>
              </a:rPr>
              <a:t>・2週間分の配信</a:t>
            </a:r>
          </a:p>
        </p:txBody>
      </p:sp>
      <p:sp>
        <p:nvSpPr>
          <p:cNvPr id="18" name="Rounded Rectangle 17"/>
          <p:cNvSpPr/>
          <p:nvPr/>
        </p:nvSpPr>
        <p:spPr>
          <a:xfrm>
            <a:off x="7740000" y="4824000"/>
            <a:ext cx="1692000" cy="503999"/>
          </a:xfrm>
          <a:prstGeom prst="roundRect">
            <a:avLst>
              <a:gd name="adj" fmla="val 6000"/>
            </a:avLst>
          </a:prstGeom>
          <a:solidFill>
            <a:srgbClr val="F2F2F2"/>
          </a:solidFill>
          <a:ln w="12700">
            <a:solidFill>
              <a:srgbClr val="1C2233"/>
            </a:solidFill>
          </a:ln>
          <a:effectLst/>
        </p:spPr>
        <p:style>
          <a:lnRef idx="1">
            <a:schemeClr val="accent1"/>
          </a:lnRef>
          <a:fillRef idx="3">
            <a:schemeClr val="accent1"/>
          </a:fillRef>
          <a:effectRef idx="2">
            <a:schemeClr val="accent1"/>
          </a:effectRef>
          <a:fontRef idx="minor">
            <a:schemeClr val="lt1"/>
          </a:fontRef>
        </p:style>
        <p:txBody>
          <a:bodyPr rtlCol="0" anchor="ctr" wrap="square" lIns="21600" rIns="21600" tIns="0" bIns="0"/>
          <a:lstStyle/>
          <a:p>
            <a:pPr algn="ctr"/>
            <a:r>
              <a:rPr sz="1000" b="1">
                <a:solidFill>
                  <a:srgbClr val="1C2233"/>
                </a:solidFill>
                <a:latin typeface="メイリオ"/>
                <a:ea typeface="メイリオ"/>
                <a:cs typeface="メイリオ"/>
              </a:rPr>
              <a:t>保護者向け情報の出し方</a:t>
            </a:r>
          </a:p>
        </p:txBody>
      </p:sp>
      <p:sp>
        <p:nvSpPr>
          <p:cNvPr id="19" name="Rectangle 18"/>
          <p:cNvSpPr/>
          <p:nvPr/>
        </p:nvSpPr>
        <p:spPr>
          <a:xfrm>
            <a:off x="396000" y="5544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2000" y="5544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5623200"/>
            <a:ext cx="8820000" cy="324000"/>
          </a:xfrm>
          <a:prstGeom prst="rect">
            <a:avLst/>
          </a:prstGeom>
          <a:noFill/>
        </p:spPr>
        <p:txBody>
          <a:bodyPr wrap="square" lIns="0" rIns="0" tIns="21600" bIns="21600" anchor="ctr">
            <a:spAutoFit/>
          </a:bodyPr>
          <a:lstStyle/>
          <a:p>
            <a:pPr algn="l"/>
            <a:r>
              <a:rPr sz="1400" b="1">
                <a:solidFill>
                  <a:srgbClr val="1C2233"/>
                </a:solidFill>
                <a:latin typeface="メイリオ"/>
                <a:ea typeface="メイリオ"/>
                <a:cs typeface="メイリオ"/>
              </a:rPr>
              <a:t>撮影は調査用の捨てアカウントで。取得日を画面ごとに記録する。</a:t>
            </a:r>
          </a:p>
        </p:txBody>
      </p:sp>
      <p:sp>
        <p:nvSpPr>
          <p:cNvPr id="22" name="TextBox 21"/>
          <p:cNvSpPr txBox="1"/>
          <p:nvPr/>
        </p:nvSpPr>
        <p:spPr>
          <a:xfrm>
            <a:off x="396000" y="6138000"/>
            <a:ext cx="9144000" cy="518400"/>
          </a:xfrm>
          <a:prstGeom prst="rect">
            <a:avLst/>
          </a:prstGeom>
          <a:noFill/>
        </p:spPr>
        <p:txBody>
          <a:bodyPr wrap="square" lIns="0" rIns="0" tIns="21600" bIns="21600" anchor="t">
            <a:spAutoFit/>
          </a:bodyPr>
          <a:lstStyle/>
          <a:p>
            <a:pPr algn="l">
              <a:lnSpc>
                <a:spcPct val="120000"/>
              </a:lnSpc>
            </a:pPr>
            <a:r>
              <a:rPr sz="900">
                <a:solidFill>
                  <a:srgbClr val="646C82"/>
                </a:solidFill>
                <a:latin typeface="メイリオ"/>
                <a:ea typeface="メイリオ"/>
                <a:cs typeface="メイリオ"/>
              </a:rPr>
              <a:t>※ 撮影対象：リッチメニュー全体／友だち追加直後のあいさつメッセージ／2週間分の配信トーク画面。</a:t>
            </a:r>
          </a:p>
          <a:p>
            <a:pPr algn="l">
              <a:lnSpc>
                <a:spcPct val="120000"/>
              </a:lnSpc>
            </a:pPr>
            <a:r>
              <a:rPr sz="900">
                <a:solidFill>
                  <a:srgbClr val="646C82"/>
                </a:solidFill>
                <a:latin typeface="メイリオ"/>
                <a:ea typeface="メイリオ"/>
                <a:cs typeface="メイリオ"/>
              </a:rPr>
              <a:t>※ クラウド環境からは page.line.me が参照できないため、PC側で取得する。</a:t>
            </a:r>
          </a:p>
        </p:txBody>
      </p:sp>
    </p:spTree>
    <p:extLst>
      <p:ext uri="{BB962C8B-B14F-4D97-AF65-F5344CB8AC3E}">
        <p14:creationId xmlns:p14="http://schemas.microsoft.com/office/powerpoint/2010/main" val="1532125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2809366-14CD-B7C0-993B-02E7731659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4AF9D62-76E2-92FA-477E-9FC9FEFA77D6}"/>
              </a:ext>
            </a:extLst>
          </p:cNvPr>
          <p:cNvSpPr/>
          <p:nvPr/>
        </p:nvSpPr>
        <p:spPr>
          <a:xfrm>
            <a:off x="3629577"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配信の考え方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364786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a:t>
            </a:r>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具体的な業界におけるリード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有効リード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マネタイズ については下記にて仮定</a:t>
            </a:r>
            <a:r>
              <a:rPr lang="ja-JP" altLang="en-US" sz="1600" b="1" dirty="0">
                <a:latin typeface="メイリオ" panose="020B0604030504040204" pitchFamily="50" charset="-128"/>
                <a:ea typeface="メイリオ" panose="020B0604030504040204" pitchFamily="50" charset="-128"/>
                <a:cs typeface="Meiryo"/>
                <a:sym typeface="Meiryo"/>
              </a:rPr>
              <a:t>。</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F2ACC73-0643-27D8-F1B3-1B871FCEF141}"/>
              </a:ext>
            </a:extLst>
          </p:cNvPr>
          <p:cNvCxnSpPr>
            <a:cxnSpLocks/>
          </p:cNvCxnSpPr>
          <p:nvPr/>
        </p:nvCxnSpPr>
        <p:spPr>
          <a:xfrm>
            <a:off x="334303" y="3515795"/>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69C05BA8-18F6-F344-3C54-A5E03AFE2368}"/>
              </a:ext>
            </a:extLst>
          </p:cNvPr>
          <p:cNvCxnSpPr>
            <a:cxnSpLocks/>
          </p:cNvCxnSpPr>
          <p:nvPr/>
        </p:nvCxnSpPr>
        <p:spPr>
          <a:xfrm>
            <a:off x="3122098" y="4928015"/>
            <a:ext cx="6619128"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E77786FC-857A-BA29-36E6-9A41C2E99F31}"/>
              </a:ext>
            </a:extLst>
          </p:cNvPr>
          <p:cNvSpPr txBox="1"/>
          <p:nvPr/>
        </p:nvSpPr>
        <p:spPr>
          <a:xfrm>
            <a:off x="1268358" y="3383509"/>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6" name="テキスト ボックス 25">
            <a:extLst>
              <a:ext uri="{FF2B5EF4-FFF2-40B4-BE49-F238E27FC236}">
                <a16:creationId xmlns:a16="http://schemas.microsoft.com/office/drawing/2014/main" id="{5B6D9466-EC9E-4057-AB18-8974D147F3E8}"/>
              </a:ext>
            </a:extLst>
          </p:cNvPr>
          <p:cNvSpPr txBox="1"/>
          <p:nvPr/>
        </p:nvSpPr>
        <p:spPr>
          <a:xfrm>
            <a:off x="5558554" y="4804166"/>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27" name="直線矢印コネクタ 26">
            <a:extLst>
              <a:ext uri="{FF2B5EF4-FFF2-40B4-BE49-F238E27FC236}">
                <a16:creationId xmlns:a16="http://schemas.microsoft.com/office/drawing/2014/main" id="{C2DCC080-98CE-945F-96A2-C42DE7E0C936}"/>
              </a:ext>
            </a:extLst>
          </p:cNvPr>
          <p:cNvCxnSpPr>
            <a:cxnSpLocks/>
          </p:cNvCxnSpPr>
          <p:nvPr/>
        </p:nvCxnSpPr>
        <p:spPr>
          <a:xfrm>
            <a:off x="3609975" y="3504789"/>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EA293A6D-CB27-A495-B2B6-10D3182B0B70}"/>
              </a:ext>
            </a:extLst>
          </p:cNvPr>
          <p:cNvSpPr txBox="1"/>
          <p:nvPr/>
        </p:nvSpPr>
        <p:spPr>
          <a:xfrm>
            <a:off x="3908480" y="3397243"/>
            <a:ext cx="1913269" cy="234537"/>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オフライン→</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3" name="正方形/長方形 32">
            <a:extLst>
              <a:ext uri="{FF2B5EF4-FFF2-40B4-BE49-F238E27FC236}">
                <a16:creationId xmlns:a16="http://schemas.microsoft.com/office/drawing/2014/main" id="{BF6CFDE9-CDE8-1133-47F9-90F22773AF32}"/>
              </a:ext>
            </a:extLst>
          </p:cNvPr>
          <p:cNvSpPr/>
          <p:nvPr/>
        </p:nvSpPr>
        <p:spPr>
          <a:xfrm>
            <a:off x="315939" y="3613966"/>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WEB</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a:t>
            </a:r>
          </a:p>
        </p:txBody>
      </p:sp>
      <p:sp>
        <p:nvSpPr>
          <p:cNvPr id="34" name="正方形/長方形 33">
            <a:extLst>
              <a:ext uri="{FF2B5EF4-FFF2-40B4-BE49-F238E27FC236}">
                <a16:creationId xmlns:a16="http://schemas.microsoft.com/office/drawing/2014/main" id="{39DCB4B6-9411-CC10-0D34-9F40EC11AD82}"/>
              </a:ext>
            </a:extLst>
          </p:cNvPr>
          <p:cNvSpPr/>
          <p:nvPr/>
        </p:nvSpPr>
        <p:spPr>
          <a:xfrm>
            <a:off x="3122098" y="505122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→反響）</a:t>
            </a:r>
          </a:p>
        </p:txBody>
      </p:sp>
      <p:cxnSp>
        <p:nvCxnSpPr>
          <p:cNvPr id="35" name="直線矢印コネクタ 34">
            <a:extLst>
              <a:ext uri="{FF2B5EF4-FFF2-40B4-BE49-F238E27FC236}">
                <a16:creationId xmlns:a16="http://schemas.microsoft.com/office/drawing/2014/main" id="{B94F8848-87A6-4A24-C2DE-D4A5BD2787D7}"/>
              </a:ext>
            </a:extLst>
          </p:cNvPr>
          <p:cNvCxnSpPr>
            <a:cxnSpLocks/>
          </p:cNvCxnSpPr>
          <p:nvPr/>
        </p:nvCxnSpPr>
        <p:spPr>
          <a:xfrm>
            <a:off x="484665" y="396479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13A35DD7-3CE1-ABA2-45A4-29A5F6D013E2}"/>
              </a:ext>
            </a:extLst>
          </p:cNvPr>
          <p:cNvSpPr txBox="1"/>
          <p:nvPr/>
        </p:nvSpPr>
        <p:spPr>
          <a:xfrm>
            <a:off x="853704" y="3860734"/>
            <a:ext cx="822746"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cs typeface="Meiryo"/>
                <a:sym typeface="Meiryo"/>
              </a:rPr>
              <a:t>CPF</a:t>
            </a:r>
            <a:r>
              <a:rPr lang="ja-JP" altLang="en-US" sz="1000" b="1" dirty="0">
                <a:latin typeface="メイリオ" panose="020B0604030504040204" pitchFamily="50" charset="-128"/>
                <a:ea typeface="メイリオ" panose="020B0604030504040204" pitchFamily="50" charset="-128"/>
                <a:cs typeface="Meiryo"/>
                <a:sym typeface="Meiryo"/>
              </a:rPr>
              <a:t>広告</a:t>
            </a:r>
            <a:endParaRPr lang="ja-JP" altLang="en-US" sz="1000" b="1" dirty="0"/>
          </a:p>
        </p:txBody>
      </p:sp>
      <p:cxnSp>
        <p:nvCxnSpPr>
          <p:cNvPr id="37" name="直線矢印コネクタ 36">
            <a:extLst>
              <a:ext uri="{FF2B5EF4-FFF2-40B4-BE49-F238E27FC236}">
                <a16:creationId xmlns:a16="http://schemas.microsoft.com/office/drawing/2014/main" id="{4DD36FC2-6468-F5B5-EFB8-BBFB2CF7F452}"/>
              </a:ext>
            </a:extLst>
          </p:cNvPr>
          <p:cNvCxnSpPr>
            <a:cxnSpLocks/>
          </p:cNvCxnSpPr>
          <p:nvPr/>
        </p:nvCxnSpPr>
        <p:spPr>
          <a:xfrm>
            <a:off x="3442595" y="43324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52205788-B1CC-5FF9-ED78-B6DD32267E17}"/>
              </a:ext>
            </a:extLst>
          </p:cNvPr>
          <p:cNvSpPr txBox="1"/>
          <p:nvPr/>
        </p:nvSpPr>
        <p:spPr>
          <a:xfrm>
            <a:off x="3811634" y="41986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39" name="直線矢印コネクタ 38">
            <a:extLst>
              <a:ext uri="{FF2B5EF4-FFF2-40B4-BE49-F238E27FC236}">
                <a16:creationId xmlns:a16="http://schemas.microsoft.com/office/drawing/2014/main" id="{923E43E2-8157-8C38-4A7C-C186793E6650}"/>
              </a:ext>
            </a:extLst>
          </p:cNvPr>
          <p:cNvCxnSpPr>
            <a:cxnSpLocks/>
          </p:cNvCxnSpPr>
          <p:nvPr/>
        </p:nvCxnSpPr>
        <p:spPr>
          <a:xfrm>
            <a:off x="3442595" y="458569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9B46B511-7630-9D21-552D-BAD1DCEC8387}"/>
              </a:ext>
            </a:extLst>
          </p:cNvPr>
          <p:cNvSpPr txBox="1"/>
          <p:nvPr/>
        </p:nvSpPr>
        <p:spPr>
          <a:xfrm>
            <a:off x="3811634" y="4451915"/>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41" name="直線矢印コネクタ 40">
            <a:extLst>
              <a:ext uri="{FF2B5EF4-FFF2-40B4-BE49-F238E27FC236}">
                <a16:creationId xmlns:a16="http://schemas.microsoft.com/office/drawing/2014/main" id="{64D8562C-014D-DFB4-2D01-7479448659D1}"/>
              </a:ext>
            </a:extLst>
          </p:cNvPr>
          <p:cNvCxnSpPr>
            <a:cxnSpLocks/>
          </p:cNvCxnSpPr>
          <p:nvPr/>
        </p:nvCxnSpPr>
        <p:spPr>
          <a:xfrm>
            <a:off x="1351697" y="415316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540E1D19-5457-9319-2789-430F63EC5A42}"/>
              </a:ext>
            </a:extLst>
          </p:cNvPr>
          <p:cNvSpPr txBox="1"/>
          <p:nvPr/>
        </p:nvSpPr>
        <p:spPr>
          <a:xfrm>
            <a:off x="1720736" y="4019384"/>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3" name="直線矢印コネクタ 42">
            <a:extLst>
              <a:ext uri="{FF2B5EF4-FFF2-40B4-BE49-F238E27FC236}">
                <a16:creationId xmlns:a16="http://schemas.microsoft.com/office/drawing/2014/main" id="{490155E9-25FB-3090-382A-CA0B7F87F965}"/>
              </a:ext>
            </a:extLst>
          </p:cNvPr>
          <p:cNvCxnSpPr>
            <a:cxnSpLocks/>
          </p:cNvCxnSpPr>
          <p:nvPr/>
        </p:nvCxnSpPr>
        <p:spPr>
          <a:xfrm>
            <a:off x="1351697" y="438431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 name="テキスト ボックス 43">
            <a:extLst>
              <a:ext uri="{FF2B5EF4-FFF2-40B4-BE49-F238E27FC236}">
                <a16:creationId xmlns:a16="http://schemas.microsoft.com/office/drawing/2014/main" id="{08D35021-E114-E4DF-FF22-BF7BE0CDF4D8}"/>
              </a:ext>
            </a:extLst>
          </p:cNvPr>
          <p:cNvSpPr txBox="1"/>
          <p:nvPr/>
        </p:nvSpPr>
        <p:spPr>
          <a:xfrm>
            <a:off x="1720736" y="4250529"/>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サイト動線の整備</a:t>
            </a:r>
          </a:p>
        </p:txBody>
      </p:sp>
      <p:cxnSp>
        <p:nvCxnSpPr>
          <p:cNvPr id="45" name="直線矢印コネクタ 44">
            <a:extLst>
              <a:ext uri="{FF2B5EF4-FFF2-40B4-BE49-F238E27FC236}">
                <a16:creationId xmlns:a16="http://schemas.microsoft.com/office/drawing/2014/main" id="{6840C346-E790-A413-26C5-79129D6F5FB7}"/>
              </a:ext>
            </a:extLst>
          </p:cNvPr>
          <p:cNvCxnSpPr>
            <a:cxnSpLocks/>
          </p:cNvCxnSpPr>
          <p:nvPr/>
        </p:nvCxnSpPr>
        <p:spPr>
          <a:xfrm>
            <a:off x="3900757" y="402215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 name="テキスト ボックス 45">
            <a:extLst>
              <a:ext uri="{FF2B5EF4-FFF2-40B4-BE49-F238E27FC236}">
                <a16:creationId xmlns:a16="http://schemas.microsoft.com/office/drawing/2014/main" id="{715CC99E-9A08-159E-0120-31020FC33D0F}"/>
              </a:ext>
            </a:extLst>
          </p:cNvPr>
          <p:cNvSpPr txBox="1"/>
          <p:nvPr/>
        </p:nvSpPr>
        <p:spPr>
          <a:xfrm>
            <a:off x="4269796" y="388836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cxnSp>
        <p:nvCxnSpPr>
          <p:cNvPr id="47" name="直線矢印コネクタ 46">
            <a:extLst>
              <a:ext uri="{FF2B5EF4-FFF2-40B4-BE49-F238E27FC236}">
                <a16:creationId xmlns:a16="http://schemas.microsoft.com/office/drawing/2014/main" id="{C26FDFF8-ECDB-0D20-5A53-4F74EF6D93F8}"/>
              </a:ext>
            </a:extLst>
          </p:cNvPr>
          <p:cNvCxnSpPr>
            <a:cxnSpLocks/>
          </p:cNvCxnSpPr>
          <p:nvPr/>
        </p:nvCxnSpPr>
        <p:spPr>
          <a:xfrm>
            <a:off x="5494489" y="432853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テキスト ボックス 47">
            <a:extLst>
              <a:ext uri="{FF2B5EF4-FFF2-40B4-BE49-F238E27FC236}">
                <a16:creationId xmlns:a16="http://schemas.microsoft.com/office/drawing/2014/main" id="{03517788-8A00-3CE9-B8A0-DC9904CB9E29}"/>
              </a:ext>
            </a:extLst>
          </p:cNvPr>
          <p:cNvSpPr txBox="1"/>
          <p:nvPr/>
        </p:nvSpPr>
        <p:spPr>
          <a:xfrm>
            <a:off x="5863528" y="419474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9" name="直線矢印コネクタ 48">
            <a:extLst>
              <a:ext uri="{FF2B5EF4-FFF2-40B4-BE49-F238E27FC236}">
                <a16:creationId xmlns:a16="http://schemas.microsoft.com/office/drawing/2014/main" id="{8A08B47D-236B-D58F-E880-0E520352BC81}"/>
              </a:ext>
            </a:extLst>
          </p:cNvPr>
          <p:cNvCxnSpPr>
            <a:cxnSpLocks/>
          </p:cNvCxnSpPr>
          <p:nvPr/>
        </p:nvCxnSpPr>
        <p:spPr>
          <a:xfrm>
            <a:off x="5494489" y="45913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8376E216-AB77-BC34-74BE-9C14746155C3}"/>
              </a:ext>
            </a:extLst>
          </p:cNvPr>
          <p:cNvSpPr txBox="1"/>
          <p:nvPr/>
        </p:nvSpPr>
        <p:spPr>
          <a:xfrm>
            <a:off x="5863528" y="44575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51" name="直線矢印コネクタ 50">
            <a:extLst>
              <a:ext uri="{FF2B5EF4-FFF2-40B4-BE49-F238E27FC236}">
                <a16:creationId xmlns:a16="http://schemas.microsoft.com/office/drawing/2014/main" id="{D6F7AD1E-A403-6C2E-4207-BA25C2D7BCC6}"/>
              </a:ext>
            </a:extLst>
          </p:cNvPr>
          <p:cNvCxnSpPr>
            <a:cxnSpLocks/>
          </p:cNvCxnSpPr>
          <p:nvPr/>
        </p:nvCxnSpPr>
        <p:spPr>
          <a:xfrm>
            <a:off x="751071" y="4630661"/>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D798DBD-5393-6131-8034-EC789105D05B}"/>
              </a:ext>
            </a:extLst>
          </p:cNvPr>
          <p:cNvSpPr txBox="1"/>
          <p:nvPr/>
        </p:nvSpPr>
        <p:spPr>
          <a:xfrm>
            <a:off x="983946" y="4526600"/>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53" name="直線矢印コネクタ 52">
            <a:extLst>
              <a:ext uri="{FF2B5EF4-FFF2-40B4-BE49-F238E27FC236}">
                <a16:creationId xmlns:a16="http://schemas.microsoft.com/office/drawing/2014/main" id="{527AED14-C910-4D3E-987F-EA62ABD18D90}"/>
              </a:ext>
            </a:extLst>
          </p:cNvPr>
          <p:cNvCxnSpPr>
            <a:cxnSpLocks/>
          </p:cNvCxnSpPr>
          <p:nvPr/>
        </p:nvCxnSpPr>
        <p:spPr>
          <a:xfrm>
            <a:off x="747965" y="4897406"/>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4" name="テキスト ボックス 53">
            <a:extLst>
              <a:ext uri="{FF2B5EF4-FFF2-40B4-BE49-F238E27FC236}">
                <a16:creationId xmlns:a16="http://schemas.microsoft.com/office/drawing/2014/main" id="{9644DD32-D05B-DE83-7791-37895274BDE9}"/>
              </a:ext>
            </a:extLst>
          </p:cNvPr>
          <p:cNvSpPr txBox="1"/>
          <p:nvPr/>
        </p:nvSpPr>
        <p:spPr>
          <a:xfrm>
            <a:off x="969834" y="4806108"/>
            <a:ext cx="1117086" cy="191105"/>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55" name="直線矢印コネクタ 54">
            <a:extLst>
              <a:ext uri="{FF2B5EF4-FFF2-40B4-BE49-F238E27FC236}">
                <a16:creationId xmlns:a16="http://schemas.microsoft.com/office/drawing/2014/main" id="{D3D532EE-6712-DE63-E452-E8BEAA167260}"/>
              </a:ext>
            </a:extLst>
          </p:cNvPr>
          <p:cNvCxnSpPr>
            <a:cxnSpLocks/>
          </p:cNvCxnSpPr>
          <p:nvPr/>
        </p:nvCxnSpPr>
        <p:spPr>
          <a:xfrm>
            <a:off x="7259810" y="444458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6" name="テキスト ボックス 55">
            <a:extLst>
              <a:ext uri="{FF2B5EF4-FFF2-40B4-BE49-F238E27FC236}">
                <a16:creationId xmlns:a16="http://schemas.microsoft.com/office/drawing/2014/main" id="{DCDD6E46-B8C3-8536-41F9-F39EB73CBD24}"/>
              </a:ext>
            </a:extLst>
          </p:cNvPr>
          <p:cNvSpPr txBox="1"/>
          <p:nvPr/>
        </p:nvSpPr>
        <p:spPr>
          <a:xfrm>
            <a:off x="7740673" y="4310804"/>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1000" b="1" dirty="0">
              <a:solidFill>
                <a:schemeClr val="tx1">
                  <a:lumMod val="50000"/>
                  <a:lumOff val="50000"/>
                </a:schemeClr>
              </a:solidFill>
            </a:endParaRPr>
          </a:p>
        </p:txBody>
      </p:sp>
      <p:cxnSp>
        <p:nvCxnSpPr>
          <p:cNvPr id="57" name="直線矢印コネクタ 56">
            <a:extLst>
              <a:ext uri="{FF2B5EF4-FFF2-40B4-BE49-F238E27FC236}">
                <a16:creationId xmlns:a16="http://schemas.microsoft.com/office/drawing/2014/main" id="{B9C84515-E6C9-A256-421E-9C3EFEBBFF17}"/>
              </a:ext>
            </a:extLst>
          </p:cNvPr>
          <p:cNvCxnSpPr>
            <a:cxnSpLocks/>
          </p:cNvCxnSpPr>
          <p:nvPr/>
        </p:nvCxnSpPr>
        <p:spPr>
          <a:xfrm>
            <a:off x="7697737" y="549519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8" name="テキスト ボックス 57">
            <a:extLst>
              <a:ext uri="{FF2B5EF4-FFF2-40B4-BE49-F238E27FC236}">
                <a16:creationId xmlns:a16="http://schemas.microsoft.com/office/drawing/2014/main" id="{7E002B77-EFC0-55F3-D3E6-100837F9B195}"/>
              </a:ext>
            </a:extLst>
          </p:cNvPr>
          <p:cNvSpPr txBox="1"/>
          <p:nvPr/>
        </p:nvSpPr>
        <p:spPr>
          <a:xfrm>
            <a:off x="8178600" y="536140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1000" b="1" dirty="0">
              <a:solidFill>
                <a:schemeClr val="tx1">
                  <a:lumMod val="50000"/>
                  <a:lumOff val="50000"/>
                </a:schemeClr>
              </a:solidFill>
            </a:endParaRPr>
          </a:p>
        </p:txBody>
      </p:sp>
      <p:cxnSp>
        <p:nvCxnSpPr>
          <p:cNvPr id="67" name="直線矢印コネクタ 66">
            <a:extLst>
              <a:ext uri="{FF2B5EF4-FFF2-40B4-BE49-F238E27FC236}">
                <a16:creationId xmlns:a16="http://schemas.microsoft.com/office/drawing/2014/main" id="{03BD82C1-8BEC-3E49-C1DA-A1C214DB1C8C}"/>
              </a:ext>
            </a:extLst>
          </p:cNvPr>
          <p:cNvCxnSpPr>
            <a:cxnSpLocks/>
          </p:cNvCxnSpPr>
          <p:nvPr/>
        </p:nvCxnSpPr>
        <p:spPr>
          <a:xfrm>
            <a:off x="4519454" y="549372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1" name="テキスト ボックス 80">
            <a:extLst>
              <a:ext uri="{FF2B5EF4-FFF2-40B4-BE49-F238E27FC236}">
                <a16:creationId xmlns:a16="http://schemas.microsoft.com/office/drawing/2014/main" id="{919F797F-1B6A-876C-B468-E147B3D97E8A}"/>
              </a:ext>
            </a:extLst>
          </p:cNvPr>
          <p:cNvSpPr txBox="1"/>
          <p:nvPr/>
        </p:nvSpPr>
        <p:spPr>
          <a:xfrm>
            <a:off x="5267281" y="535993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ja-JP" altLang="en-US" sz="1000" b="1" dirty="0"/>
          </a:p>
        </p:txBody>
      </p:sp>
      <p:cxnSp>
        <p:nvCxnSpPr>
          <p:cNvPr id="86" name="直線矢印コネクタ 85">
            <a:extLst>
              <a:ext uri="{FF2B5EF4-FFF2-40B4-BE49-F238E27FC236}">
                <a16:creationId xmlns:a16="http://schemas.microsoft.com/office/drawing/2014/main" id="{C96E67E6-B364-7DED-CDB8-DDCEEFB96AD2}"/>
              </a:ext>
            </a:extLst>
          </p:cNvPr>
          <p:cNvCxnSpPr>
            <a:cxnSpLocks/>
          </p:cNvCxnSpPr>
          <p:nvPr/>
        </p:nvCxnSpPr>
        <p:spPr>
          <a:xfrm>
            <a:off x="4519295" y="576683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91" name="テキスト ボックス 90">
            <a:extLst>
              <a:ext uri="{FF2B5EF4-FFF2-40B4-BE49-F238E27FC236}">
                <a16:creationId xmlns:a16="http://schemas.microsoft.com/office/drawing/2014/main" id="{335DB4AB-DEFA-E356-751F-7106100F929E}"/>
              </a:ext>
            </a:extLst>
          </p:cNvPr>
          <p:cNvSpPr txBox="1"/>
          <p:nvPr/>
        </p:nvSpPr>
        <p:spPr>
          <a:xfrm>
            <a:off x="5267122" y="5633055"/>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企画配信</a:t>
            </a:r>
            <a:endParaRPr lang="ja-JP" altLang="en-US" sz="1000" b="1" dirty="0"/>
          </a:p>
        </p:txBody>
      </p:sp>
      <p:cxnSp>
        <p:nvCxnSpPr>
          <p:cNvPr id="100" name="直線矢印コネクタ 99">
            <a:extLst>
              <a:ext uri="{FF2B5EF4-FFF2-40B4-BE49-F238E27FC236}">
                <a16:creationId xmlns:a16="http://schemas.microsoft.com/office/drawing/2014/main" id="{7884810E-3E89-4CCB-C00C-B386A34717E4}"/>
              </a:ext>
            </a:extLst>
          </p:cNvPr>
          <p:cNvCxnSpPr>
            <a:cxnSpLocks/>
          </p:cNvCxnSpPr>
          <p:nvPr/>
        </p:nvCxnSpPr>
        <p:spPr>
          <a:xfrm>
            <a:off x="3798688" y="5981626"/>
            <a:ext cx="2464861"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1" name="テキスト ボックス 100">
            <a:extLst>
              <a:ext uri="{FF2B5EF4-FFF2-40B4-BE49-F238E27FC236}">
                <a16:creationId xmlns:a16="http://schemas.microsoft.com/office/drawing/2014/main" id="{6FD45AC0-2372-776F-6D16-846C0FB7AC64}"/>
              </a:ext>
            </a:extLst>
          </p:cNvPr>
          <p:cNvSpPr txBox="1"/>
          <p:nvPr/>
        </p:nvSpPr>
        <p:spPr>
          <a:xfrm>
            <a:off x="4258152" y="5863519"/>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アンケート回収</a:t>
            </a:r>
            <a:endParaRPr lang="ja-JP" altLang="en-US" sz="1000" b="1" dirty="0"/>
          </a:p>
        </p:txBody>
      </p:sp>
      <p:cxnSp>
        <p:nvCxnSpPr>
          <p:cNvPr id="102" name="直線矢印コネクタ 101">
            <a:extLst>
              <a:ext uri="{FF2B5EF4-FFF2-40B4-BE49-F238E27FC236}">
                <a16:creationId xmlns:a16="http://schemas.microsoft.com/office/drawing/2014/main" id="{5BF3558A-EBED-81EE-B158-28A7CA5D6693}"/>
              </a:ext>
            </a:extLst>
          </p:cNvPr>
          <p:cNvCxnSpPr>
            <a:cxnSpLocks/>
          </p:cNvCxnSpPr>
          <p:nvPr/>
        </p:nvCxnSpPr>
        <p:spPr>
          <a:xfrm>
            <a:off x="3797428" y="6223951"/>
            <a:ext cx="2452867"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0" name="テキスト ボックス 109">
            <a:extLst>
              <a:ext uri="{FF2B5EF4-FFF2-40B4-BE49-F238E27FC236}">
                <a16:creationId xmlns:a16="http://schemas.microsoft.com/office/drawing/2014/main" id="{001266CB-AC56-8914-0ACE-8B554DB19B76}"/>
              </a:ext>
            </a:extLst>
          </p:cNvPr>
          <p:cNvSpPr txBox="1"/>
          <p:nvPr/>
        </p:nvSpPr>
        <p:spPr>
          <a:xfrm>
            <a:off x="4273398" y="613356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スコアリング等</a:t>
            </a:r>
            <a:endParaRPr lang="ja-JP" altLang="en-US" sz="1000" b="1" dirty="0"/>
          </a:p>
        </p:txBody>
      </p:sp>
      <p:cxnSp>
        <p:nvCxnSpPr>
          <p:cNvPr id="111" name="直線矢印コネクタ 110">
            <a:extLst>
              <a:ext uri="{FF2B5EF4-FFF2-40B4-BE49-F238E27FC236}">
                <a16:creationId xmlns:a16="http://schemas.microsoft.com/office/drawing/2014/main" id="{1B403718-ABF2-11BC-1A05-A9E208B7C0F7}"/>
              </a:ext>
            </a:extLst>
          </p:cNvPr>
          <p:cNvCxnSpPr>
            <a:cxnSpLocks/>
          </p:cNvCxnSpPr>
          <p:nvPr/>
        </p:nvCxnSpPr>
        <p:spPr>
          <a:xfrm>
            <a:off x="7118366" y="598554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6" name="テキスト ボックス 115">
            <a:extLst>
              <a:ext uri="{FF2B5EF4-FFF2-40B4-BE49-F238E27FC236}">
                <a16:creationId xmlns:a16="http://schemas.microsoft.com/office/drawing/2014/main" id="{B9061E8E-8F76-24D8-6F4C-BBBCDEB37FE0}"/>
              </a:ext>
            </a:extLst>
          </p:cNvPr>
          <p:cNvSpPr txBox="1"/>
          <p:nvPr/>
        </p:nvSpPr>
        <p:spPr>
          <a:xfrm>
            <a:off x="7397140" y="5871116"/>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1000" b="1" dirty="0">
              <a:solidFill>
                <a:schemeClr val="tx1">
                  <a:lumMod val="50000"/>
                  <a:lumOff val="50000"/>
                </a:schemeClr>
              </a:solidFill>
            </a:endParaRPr>
          </a:p>
        </p:txBody>
      </p:sp>
      <p:cxnSp>
        <p:nvCxnSpPr>
          <p:cNvPr id="117" name="直線矢印コネクタ 116">
            <a:extLst>
              <a:ext uri="{FF2B5EF4-FFF2-40B4-BE49-F238E27FC236}">
                <a16:creationId xmlns:a16="http://schemas.microsoft.com/office/drawing/2014/main" id="{B31EBA12-BB45-627B-A1FD-F44E077537B1}"/>
              </a:ext>
            </a:extLst>
          </p:cNvPr>
          <p:cNvCxnSpPr>
            <a:cxnSpLocks/>
          </p:cNvCxnSpPr>
          <p:nvPr/>
        </p:nvCxnSpPr>
        <p:spPr>
          <a:xfrm>
            <a:off x="7048606" y="62430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8" name="テキスト ボックス 117">
            <a:extLst>
              <a:ext uri="{FF2B5EF4-FFF2-40B4-BE49-F238E27FC236}">
                <a16:creationId xmlns:a16="http://schemas.microsoft.com/office/drawing/2014/main" id="{B0C05E5D-44B4-DA5D-7C04-0BDC8A4602CE}"/>
              </a:ext>
            </a:extLst>
          </p:cNvPr>
          <p:cNvSpPr txBox="1"/>
          <p:nvPr/>
        </p:nvSpPr>
        <p:spPr>
          <a:xfrm>
            <a:off x="7336089" y="6137342"/>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1000" b="1" dirty="0">
              <a:solidFill>
                <a:schemeClr val="tx1">
                  <a:lumMod val="50000"/>
                  <a:lumOff val="50000"/>
                </a:schemeClr>
              </a:solidFill>
            </a:endParaRPr>
          </a:p>
        </p:txBody>
      </p:sp>
      <p:pic>
        <p:nvPicPr>
          <p:cNvPr id="119" name="図 118">
            <a:extLst>
              <a:ext uri="{FF2B5EF4-FFF2-40B4-BE49-F238E27FC236}">
                <a16:creationId xmlns:a16="http://schemas.microsoft.com/office/drawing/2014/main" id="{2F4B65BB-B8AA-5045-2074-C574F9423E61}"/>
              </a:ext>
            </a:extLst>
          </p:cNvPr>
          <p:cNvPicPr>
            <a:picLocks noChangeAspect="1"/>
          </p:cNvPicPr>
          <p:nvPr/>
        </p:nvPicPr>
        <p:blipFill>
          <a:blip r:embed="rId2" cstate="print">
            <a:extLst>
              <a:ext uri="{28A0092B-C50C-407E-A947-70E740481C1C}">
                <a14:useLocalDpi xmlns:a14="http://schemas.microsoft.com/office/drawing/2010/main" val="0"/>
              </a:ext>
            </a:extLst>
          </a:blip>
          <a:srcRect t="4981" b="4075"/>
          <a:stretch>
            <a:fillRect/>
          </a:stretch>
        </p:blipFill>
        <p:spPr>
          <a:xfrm>
            <a:off x="3005614" y="5048188"/>
            <a:ext cx="703970" cy="1385346"/>
          </a:xfrm>
          <a:prstGeom prst="rect">
            <a:avLst/>
          </a:prstGeom>
        </p:spPr>
      </p:pic>
      <p:sp>
        <p:nvSpPr>
          <p:cNvPr id="66" name="正方形/長方形 65">
            <a:extLst>
              <a:ext uri="{FF2B5EF4-FFF2-40B4-BE49-F238E27FC236}">
                <a16:creationId xmlns:a16="http://schemas.microsoft.com/office/drawing/2014/main" id="{D22C9FBF-7B93-079A-E87E-A4C967CD0194}"/>
              </a:ext>
            </a:extLst>
          </p:cNvPr>
          <p:cNvSpPr/>
          <p:nvPr/>
        </p:nvSpPr>
        <p:spPr>
          <a:xfrm>
            <a:off x="3908480" y="533637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89B35388-9C44-6C01-ACAA-2E691617E119}"/>
              </a:ext>
            </a:extLst>
          </p:cNvPr>
          <p:cNvSpPr txBox="1"/>
          <p:nvPr/>
        </p:nvSpPr>
        <p:spPr>
          <a:xfrm>
            <a:off x="5723341" y="630303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6762304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6673A-9013-9BC2-61FD-9A9839050AB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71EE9A-D0AE-5095-DE93-A92C03C21A4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B8DDD632-F5E1-35AD-0F8F-0079C4BE2BD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904F8023-0A36-6BE3-62EE-D51070498B24}"/>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カスタマージャーニーマップにあわせてLINE投稿を配置。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※一般的な8フェーズを、学校法人（大学・専門学校）に置き換えます。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5" name="正方形/長方形 34">
            <a:extLst>
              <a:ext uri="{FF2B5EF4-FFF2-40B4-BE49-F238E27FC236}">
                <a16:creationId xmlns:a16="http://schemas.microsoft.com/office/drawing/2014/main" id="{39216026-B745-2CB7-2300-596DBF29255E}"/>
              </a:ext>
            </a:extLst>
          </p:cNvPr>
          <p:cNvSpPr/>
          <p:nvPr/>
        </p:nvSpPr>
        <p:spPr>
          <a:xfrm>
            <a:off x="334302" y="3490277"/>
            <a:ext cx="9425943" cy="196342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5" name="直線コネクタ 44">
            <a:extLst>
              <a:ext uri="{FF2B5EF4-FFF2-40B4-BE49-F238E27FC236}">
                <a16:creationId xmlns:a16="http://schemas.microsoft.com/office/drawing/2014/main" id="{C4F647CC-1C37-666A-4F18-40C733C21920}"/>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a16:creationId xmlns:a16="http://schemas.microsoft.com/office/drawing/2014/main" id="{1EB69D6F-91F5-BD58-0BEA-AAD8176883F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BE98E184-2577-3AAE-D2B8-72B4FDAC37BE}"/>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3FF32B18-EF78-43E6-F85B-06022F6E0B76}"/>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972D4A84-F812-745D-8012-250B4552B997}"/>
              </a:ext>
            </a:extLst>
          </p:cNvPr>
          <p:cNvCxnSpPr>
            <a:cxnSpLocks/>
          </p:cNvCxnSpPr>
          <p:nvPr/>
        </p:nvCxnSpPr>
        <p:spPr>
          <a:xfrm>
            <a:off x="3541980" y="2217939"/>
            <a:ext cx="0" cy="3657614"/>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844AC577-5EFA-CB60-B4CF-22AC71B2AE31}"/>
              </a:ext>
            </a:extLst>
          </p:cNvPr>
          <p:cNvCxnSpPr>
            <a:cxnSpLocks/>
          </p:cNvCxnSpPr>
          <p:nvPr/>
        </p:nvCxnSpPr>
        <p:spPr>
          <a:xfrm flipH="1">
            <a:off x="4830459" y="2229802"/>
            <a:ext cx="3322" cy="364575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2F10844F-FFBB-F47D-A888-4E74272E000D}"/>
              </a:ext>
            </a:extLst>
          </p:cNvPr>
          <p:cNvCxnSpPr>
            <a:cxnSpLocks/>
          </p:cNvCxnSpPr>
          <p:nvPr/>
        </p:nvCxnSpPr>
        <p:spPr>
          <a:xfrm>
            <a:off x="6125582" y="2227160"/>
            <a:ext cx="0" cy="3648393"/>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7A83D6DE-2FDB-43D7-254C-963478133303}"/>
              </a:ext>
            </a:extLst>
          </p:cNvPr>
          <p:cNvCxnSpPr>
            <a:cxnSpLocks/>
          </p:cNvCxnSpPr>
          <p:nvPr/>
        </p:nvCxnSpPr>
        <p:spPr>
          <a:xfrm>
            <a:off x="7417384" y="2217938"/>
            <a:ext cx="0" cy="3657615"/>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53" name="テキスト ボックス 52">
            <a:extLst>
              <a:ext uri="{FF2B5EF4-FFF2-40B4-BE49-F238E27FC236}">
                <a16:creationId xmlns:a16="http://schemas.microsoft.com/office/drawing/2014/main" id="{51F88B17-D24B-2FBF-DD4F-ACEDA2F1108B}"/>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13CCD889-9CB5-A25E-FF4C-285CF082C6EB}"/>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5" name="テキスト ボックス 54">
            <a:extLst>
              <a:ext uri="{FF2B5EF4-FFF2-40B4-BE49-F238E27FC236}">
                <a16:creationId xmlns:a16="http://schemas.microsoft.com/office/drawing/2014/main" id="{752D241B-7DDC-C05A-C891-858C99F0C81E}"/>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56" name="テキスト ボックス 55">
            <a:extLst>
              <a:ext uri="{FF2B5EF4-FFF2-40B4-BE49-F238E27FC236}">
                <a16:creationId xmlns:a16="http://schemas.microsoft.com/office/drawing/2014/main" id="{093F3B9E-1884-4283-7D47-92DF224DA02A}"/>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7" name="テキスト ボックス 56">
            <a:extLst>
              <a:ext uri="{FF2B5EF4-FFF2-40B4-BE49-F238E27FC236}">
                <a16:creationId xmlns:a16="http://schemas.microsoft.com/office/drawing/2014/main" id="{4B719D4F-60B6-01FD-6088-ACFD3B9EC8DD}"/>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58" name="テキスト ボックス 57">
            <a:extLst>
              <a:ext uri="{FF2B5EF4-FFF2-40B4-BE49-F238E27FC236}">
                <a16:creationId xmlns:a16="http://schemas.microsoft.com/office/drawing/2014/main" id="{71407A20-3836-331E-F2F0-E75DDCF73BA0}"/>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60" name="テキスト ボックス 59">
            <a:extLst>
              <a:ext uri="{FF2B5EF4-FFF2-40B4-BE49-F238E27FC236}">
                <a16:creationId xmlns:a16="http://schemas.microsoft.com/office/drawing/2014/main" id="{F491CCB4-D02F-C3F5-CFB9-18B13F066C52}"/>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62" name="テキスト ボックス 61">
            <a:extLst>
              <a:ext uri="{FF2B5EF4-FFF2-40B4-BE49-F238E27FC236}">
                <a16:creationId xmlns:a16="http://schemas.microsoft.com/office/drawing/2014/main" id="{B68B9CA1-0E61-C60C-128F-E80096EDD924}"/>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64" name="コネクタ: カギ線 63">
            <a:extLst>
              <a:ext uri="{FF2B5EF4-FFF2-40B4-BE49-F238E27FC236}">
                <a16:creationId xmlns:a16="http://schemas.microsoft.com/office/drawing/2014/main" id="{56D3FA3C-F4ED-9DF1-7620-D677AB1A2177}"/>
              </a:ext>
            </a:extLst>
          </p:cNvPr>
          <p:cNvCxnSpPr>
            <a:cxnSpLocks/>
            <a:stCxn id="62" idx="0"/>
            <a:endCxn id="53"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44C83840-BFD9-E321-B4A5-19CD2533BF03}"/>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7" name="直線矢印コネクタ 66">
            <a:extLst>
              <a:ext uri="{FF2B5EF4-FFF2-40B4-BE49-F238E27FC236}">
                <a16:creationId xmlns:a16="http://schemas.microsoft.com/office/drawing/2014/main" id="{A1D5B73B-C438-03CD-3074-9F6465469319}"/>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8" name="テキスト ボックス 67">
            <a:extLst>
              <a:ext uri="{FF2B5EF4-FFF2-40B4-BE49-F238E27FC236}">
                <a16:creationId xmlns:a16="http://schemas.microsoft.com/office/drawing/2014/main" id="{221EB000-BCEE-D984-49E6-5421F03CC7D6}"/>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70" name="テキスト ボックス 69">
            <a:extLst>
              <a:ext uri="{FF2B5EF4-FFF2-40B4-BE49-F238E27FC236}">
                <a16:creationId xmlns:a16="http://schemas.microsoft.com/office/drawing/2014/main" id="{BF3977E5-B33C-C6FC-10BA-8F52ECFB03CA}"/>
              </a:ext>
            </a:extLst>
          </p:cNvPr>
          <p:cNvSpPr txBox="1"/>
          <p:nvPr/>
        </p:nvSpPr>
        <p:spPr>
          <a:xfrm>
            <a:off x="3541822" y="4078050"/>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オープンキャンパス参加</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2" name="テキスト ボックス 71">
            <a:extLst>
              <a:ext uri="{FF2B5EF4-FFF2-40B4-BE49-F238E27FC236}">
                <a16:creationId xmlns:a16="http://schemas.microsoft.com/office/drawing/2014/main" id="{D6206F79-4BB4-7551-FF37-4057DB323042}"/>
              </a:ext>
            </a:extLst>
          </p:cNvPr>
          <p:cNvSpPr txBox="1"/>
          <p:nvPr/>
        </p:nvSpPr>
        <p:spPr>
          <a:xfrm>
            <a:off x="6119096" y="4771047"/>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⑦出願・入学手続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4" name="テキスト ボックス 73">
            <a:extLst>
              <a:ext uri="{FF2B5EF4-FFF2-40B4-BE49-F238E27FC236}">
                <a16:creationId xmlns:a16="http://schemas.microsoft.com/office/drawing/2014/main" id="{2D803312-8977-E9CF-359E-78896D5177A7}"/>
              </a:ext>
            </a:extLst>
          </p:cNvPr>
          <p:cNvSpPr txBox="1"/>
          <p:nvPr/>
        </p:nvSpPr>
        <p:spPr>
          <a:xfrm>
            <a:off x="4830459" y="4424547"/>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6" name="テキスト ボックス 75">
            <a:extLst>
              <a:ext uri="{FF2B5EF4-FFF2-40B4-BE49-F238E27FC236}">
                <a16:creationId xmlns:a16="http://schemas.microsoft.com/office/drawing/2014/main" id="{EC4FAF12-FDAC-B48D-B571-CC028A01229C}"/>
              </a:ext>
            </a:extLst>
          </p:cNvPr>
          <p:cNvSpPr txBox="1"/>
          <p:nvPr/>
        </p:nvSpPr>
        <p:spPr>
          <a:xfrm>
            <a:off x="7408050" y="5126260"/>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⑧入学後の定着・中退防止</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在学生／保護者／卒業生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77" name="テキスト ボックス 76">
            <a:extLst>
              <a:ext uri="{FF2B5EF4-FFF2-40B4-BE49-F238E27FC236}">
                <a16:creationId xmlns:a16="http://schemas.microsoft.com/office/drawing/2014/main" id="{78DCEB5B-FCE6-A4B7-134E-DC51AE101C96}"/>
              </a:ext>
            </a:extLst>
          </p:cNvPr>
          <p:cNvSpPr txBox="1"/>
          <p:nvPr/>
        </p:nvSpPr>
        <p:spPr>
          <a:xfrm>
            <a:off x="334303" y="372812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489B5AC-E8EC-12A6-77B1-767D57C6C111}"/>
              </a:ext>
            </a:extLst>
          </p:cNvPr>
          <p:cNvSpPr txBox="1"/>
          <p:nvPr/>
        </p:nvSpPr>
        <p:spPr>
          <a:xfrm>
            <a:off x="1268358" y="4078050"/>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3C51428D-94BF-DEDC-89ED-6FC6DD5D8DDB}"/>
              </a:ext>
            </a:extLst>
          </p:cNvPr>
          <p:cNvSpPr txBox="1"/>
          <p:nvPr/>
        </p:nvSpPr>
        <p:spPr>
          <a:xfrm>
            <a:off x="2202413" y="44192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70A8450A-EBDB-52BF-A9C2-03CB7CC3C8E9}"/>
              </a:ext>
            </a:extLst>
          </p:cNvPr>
          <p:cNvSpPr txBox="1"/>
          <p:nvPr/>
        </p:nvSpPr>
        <p:spPr>
          <a:xfrm>
            <a:off x="3132447" y="4760482"/>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④資料請求・友だち追加(web/LINE)</a:t>
            </a:r>
          </a:p>
        </p:txBody>
      </p:sp>
      <p:cxnSp>
        <p:nvCxnSpPr>
          <p:cNvPr id="81" name="コネクタ: カギ線 80">
            <a:extLst>
              <a:ext uri="{FF2B5EF4-FFF2-40B4-BE49-F238E27FC236}">
                <a16:creationId xmlns:a16="http://schemas.microsoft.com/office/drawing/2014/main" id="{769329CD-26D3-6976-EDB8-825AA2A0377F}"/>
              </a:ext>
            </a:extLst>
          </p:cNvPr>
          <p:cNvCxnSpPr>
            <a:cxnSpLocks/>
            <a:stCxn id="80" idx="0"/>
            <a:endCxn id="70" idx="2"/>
          </p:cNvCxnSpPr>
          <p:nvPr/>
        </p:nvCxnSpPr>
        <p:spPr>
          <a:xfrm rot="5400000" flipH="1" flipV="1">
            <a:off x="4181800" y="4411939"/>
            <a:ext cx="420822" cy="276264"/>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83" name="正方形/長方形 82">
            <a:extLst>
              <a:ext uri="{FF2B5EF4-FFF2-40B4-BE49-F238E27FC236}">
                <a16:creationId xmlns:a16="http://schemas.microsoft.com/office/drawing/2014/main" id="{E8127D07-4E85-C0E9-8B4C-7D62F671E28E}"/>
              </a:ext>
            </a:extLst>
          </p:cNvPr>
          <p:cNvSpPr/>
          <p:nvPr/>
        </p:nvSpPr>
        <p:spPr>
          <a:xfrm>
            <a:off x="315939" y="5602451"/>
            <a:ext cx="9444306" cy="27310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 --- 学校法人（大学・専門学校）の場合 --- →</a:t>
            </a:r>
          </a:p>
        </p:txBody>
      </p:sp>
      <p:sp>
        <p:nvSpPr>
          <p:cNvPr id="85" name="正方形/長方形 84">
            <a:extLst>
              <a:ext uri="{FF2B5EF4-FFF2-40B4-BE49-F238E27FC236}">
                <a16:creationId xmlns:a16="http://schemas.microsoft.com/office/drawing/2014/main" id="{66C41415-042E-E9AD-6C7B-92F406CC1EBB}"/>
              </a:ext>
            </a:extLst>
          </p:cNvPr>
          <p:cNvSpPr/>
          <p:nvPr/>
        </p:nvSpPr>
        <p:spPr>
          <a:xfrm>
            <a:off x="315939" y="3491120"/>
            <a:ext cx="9444306" cy="65379"/>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1C950DF6-576B-3B15-68F7-F01A709B2429}"/>
              </a:ext>
            </a:extLst>
          </p:cNvPr>
          <p:cNvSpPr txBox="1"/>
          <p:nvPr/>
        </p:nvSpPr>
        <p:spPr>
          <a:xfrm>
            <a:off x="2544451" y="6031135"/>
            <a:ext cx="5359159" cy="461665"/>
          </a:xfrm>
          <a:prstGeom prst="rect">
            <a:avLst/>
          </a:prstGeom>
          <a:noFill/>
        </p:spPr>
        <p:txBody>
          <a:bodyPr wrap="none" rtlCol="0">
            <a:spAutoFit/>
          </a:bodyPr>
          <a:lstStyle/>
          <a:p>
            <a:r>
              <a:rPr lang="ja-JP" altLang="en-US" sz="1200" dirty="0">
                <a:latin typeface="+mn-ea"/>
              </a:rPr>
              <a:t>一般的な8フェーズを、学校法人（大学・専門学校）に置き換えるとこうなります。</a:t>
            </a:r>
          </a:p>
          <a:p>
            <a:r>
              <a:rPr lang="ja-JP" altLang="en-US" sz="1200" dirty="0">
                <a:latin typeface="+mn-ea"/>
              </a:rPr>
              <a:t>④資料請求・友だち追加 → ⑤オープンキャンパス参加 → ⑦出願・入学手続 が、この業界のCV地点です。</a:t>
            </a:r>
          </a:p>
        </p:txBody>
      </p:sp>
    </p:spTree>
    <p:extLst>
      <p:ext uri="{BB962C8B-B14F-4D97-AF65-F5344CB8AC3E}">
        <p14:creationId xmlns:p14="http://schemas.microsoft.com/office/powerpoint/2010/main" val="3509480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市場の構造｜18歳人口は30年で半減。私立大の約半数が定員割れ</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母数が減っても学校は減らない。＝1人を取り合う競争だけが激化する構造。</a:t>
            </a:r>
          </a:p>
          <a:p>
            <a:pPr algn="l">
              <a:lnSpc>
                <a:spcPct val="122000"/>
              </a:lnSpc>
            </a:pPr>
            <a:r>
              <a:rPr sz="1500">
                <a:solidFill>
                  <a:srgbClr val="646C82"/>
                </a:solidFill>
                <a:latin typeface="メイリオ"/>
                <a:ea typeface="メイリオ"/>
                <a:cs typeface="メイリオ"/>
              </a:rPr>
              <a:t>だから入札で勝つ設計ではなく、取りこぼしを拾う設計に寄せる。</a:t>
            </a:r>
          </a:p>
        </p:txBody>
      </p:sp>
      <p:sp>
        <p:nvSpPr>
          <p:cNvPr id="4" name="Rounded Rectangle 3"/>
          <p:cNvSpPr/>
          <p:nvPr/>
        </p:nvSpPr>
        <p:spPr>
          <a:xfrm>
            <a:off x="396000" y="1332000"/>
            <a:ext cx="2160000" cy="2304000"/>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64800" rIns="64800" tIns="43200" bIns="43200"/>
          <a:lstStyle/>
          <a:p>
            <a:pPr algn="ctr">
              <a:lnSpc>
                <a:spcPct val="130000"/>
              </a:lnSpc>
            </a:pPr>
            <a:r>
              <a:rPr sz="1250" b="1">
                <a:solidFill>
                  <a:srgbClr val="C00000"/>
                </a:solidFill>
                <a:latin typeface="メイリオ"/>
                <a:ea typeface="メイリオ"/>
                <a:cs typeface="メイリオ"/>
              </a:rPr>
              <a:t>【18歳人口】</a:t>
            </a:r>
          </a:p>
          <a:p>
            <a:pPr algn="ctr">
              <a:lnSpc>
                <a:spcPct val="130000"/>
              </a:lnSpc>
            </a:pPr>
            <a:r>
              <a:rPr sz="1250" b="1">
                <a:solidFill>
                  <a:srgbClr val="C00000"/>
                </a:solidFill>
                <a:latin typeface="メイリオ"/>
                <a:ea typeface="メイリオ"/>
                <a:cs typeface="メイリオ"/>
              </a:rPr>
              <a:t>205万人 → 106万人</a:t>
            </a:r>
          </a:p>
          <a:p>
            <a:pPr algn="ctr">
              <a:lnSpc>
                <a:spcPct val="130000"/>
              </a:lnSpc>
            </a:pPr>
            <a:r>
              <a:rPr sz="1250" b="1">
                <a:solidFill>
                  <a:srgbClr val="C00000"/>
                </a:solidFill>
                <a:latin typeface="メイリオ"/>
                <a:ea typeface="メイリオ"/>
                <a:cs typeface="メイリオ"/>
              </a:rPr>
              <a:t>（1992年 → 2024年）</a:t>
            </a:r>
          </a:p>
          <a:p>
            <a:pPr algn="ctr">
              <a:lnSpc>
                <a:spcPct val="130000"/>
              </a:lnSpc>
            </a:pPr>
            <a:r>
              <a:rPr sz="1250" b="1">
                <a:solidFill>
                  <a:srgbClr val="C00000"/>
                </a:solidFill>
                <a:latin typeface="メイリオ"/>
                <a:ea typeface="メイリオ"/>
                <a:cs typeface="メイリオ"/>
              </a:rPr>
              <a:t>⇊</a:t>
            </a:r>
          </a:p>
          <a:p>
            <a:pPr algn="ctr">
              <a:lnSpc>
                <a:spcPct val="130000"/>
              </a:lnSpc>
            </a:pPr>
            <a:r>
              <a:rPr sz="1250" b="1">
                <a:solidFill>
                  <a:srgbClr val="C00000"/>
                </a:solidFill>
                <a:latin typeface="メイリオ"/>
                <a:ea typeface="メイリオ"/>
                <a:cs typeface="メイリオ"/>
              </a:rPr>
              <a:t>30年で ▲48%</a:t>
            </a:r>
          </a:p>
        </p:txBody>
      </p:sp>
      <p:sp>
        <p:nvSpPr>
          <p:cNvPr id="5" name="Rounded Rectangle 4"/>
          <p:cNvSpPr/>
          <p:nvPr/>
        </p:nvSpPr>
        <p:spPr>
          <a:xfrm>
            <a:off x="2707200" y="1332000"/>
            <a:ext cx="2160000" cy="2304000"/>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64800" rIns="64800" tIns="43200" bIns="43200"/>
          <a:lstStyle/>
          <a:p>
            <a:pPr algn="ctr">
              <a:lnSpc>
                <a:spcPct val="130000"/>
              </a:lnSpc>
            </a:pPr>
            <a:r>
              <a:rPr sz="1250" b="1">
                <a:solidFill>
                  <a:srgbClr val="C00000"/>
                </a:solidFill>
                <a:latin typeface="メイリオ"/>
                <a:ea typeface="メイリオ"/>
                <a:cs typeface="メイリオ"/>
              </a:rPr>
              <a:t>【私立大の定員割れ】</a:t>
            </a:r>
          </a:p>
          <a:p>
            <a:pPr algn="ctr">
              <a:lnSpc>
                <a:spcPct val="130000"/>
              </a:lnSpc>
            </a:pPr>
            <a:r>
              <a:rPr sz="1250" b="1">
                <a:solidFill>
                  <a:srgbClr val="C00000"/>
                </a:solidFill>
                <a:latin typeface="メイリオ"/>
                <a:ea typeface="メイリオ"/>
                <a:cs typeface="メイリオ"/>
              </a:rPr>
              <a:t>46.2%（275校／595校）</a:t>
            </a:r>
          </a:p>
          <a:p>
            <a:pPr algn="ctr">
              <a:lnSpc>
                <a:spcPct val="130000"/>
              </a:lnSpc>
            </a:pPr>
            <a:r>
              <a:rPr sz="1250" b="1">
                <a:solidFill>
                  <a:srgbClr val="C00000"/>
                </a:solidFill>
                <a:latin typeface="メイリオ"/>
                <a:ea typeface="メイリオ"/>
                <a:cs typeface="メイリオ"/>
              </a:rPr>
              <a:t>（令和8年度・速報値）</a:t>
            </a:r>
          </a:p>
          <a:p>
            <a:pPr algn="ctr">
              <a:lnSpc>
                <a:spcPct val="130000"/>
              </a:lnSpc>
            </a:pPr>
            <a:r>
              <a:rPr sz="1250" b="1">
                <a:solidFill>
                  <a:srgbClr val="C00000"/>
                </a:solidFill>
                <a:latin typeface="メイリオ"/>
                <a:ea typeface="メイリオ"/>
                <a:cs typeface="メイリオ"/>
              </a:rPr>
              <a:t>⇊</a:t>
            </a:r>
          </a:p>
          <a:p>
            <a:pPr algn="ctr">
              <a:lnSpc>
                <a:spcPct val="130000"/>
              </a:lnSpc>
            </a:pPr>
            <a:r>
              <a:rPr sz="1250" b="1">
                <a:solidFill>
                  <a:srgbClr val="C00000"/>
                </a:solidFill>
                <a:latin typeface="メイリオ"/>
                <a:ea typeface="メイリオ"/>
                <a:cs typeface="メイリオ"/>
              </a:rPr>
              <a:t>約半数が定員を埋められない</a:t>
            </a:r>
          </a:p>
        </p:txBody>
      </p:sp>
      <p:sp>
        <p:nvSpPr>
          <p:cNvPr id="6" name="Rounded Rectangle 5"/>
          <p:cNvSpPr/>
          <p:nvPr/>
        </p:nvSpPr>
        <p:spPr>
          <a:xfrm>
            <a:off x="5018400" y="1332000"/>
            <a:ext cx="2160000" cy="2304000"/>
          </a:xfrm>
          <a:prstGeom prst="roundRect">
            <a:avLst>
              <a:gd name="adj" fmla="val 6000"/>
            </a:avLst>
          </a:prstGeom>
          <a:solidFill>
            <a:srgbClr val="F2F2F2"/>
          </a:solidFill>
          <a:ln w="15875">
            <a:solidFill>
              <a:srgbClr val="1C2233"/>
            </a:solidFill>
          </a:ln>
          <a:effectLst/>
        </p:spPr>
        <p:style>
          <a:lnRef idx="1">
            <a:schemeClr val="accent1"/>
          </a:lnRef>
          <a:fillRef idx="3">
            <a:schemeClr val="accent1"/>
          </a:fillRef>
          <a:effectRef idx="2">
            <a:schemeClr val="accent1"/>
          </a:effectRef>
          <a:fontRef idx="minor">
            <a:schemeClr val="lt1"/>
          </a:fontRef>
        </p:style>
        <p:txBody>
          <a:bodyPr rtlCol="0" anchor="ctr" wrap="square" lIns="64800" rIns="64800" tIns="43200" bIns="43200"/>
          <a:lstStyle/>
          <a:p>
            <a:pPr algn="ctr">
              <a:lnSpc>
                <a:spcPct val="130000"/>
              </a:lnSpc>
            </a:pPr>
            <a:r>
              <a:rPr sz="1250" b="1">
                <a:solidFill>
                  <a:srgbClr val="1C2233"/>
                </a:solidFill>
                <a:latin typeface="メイリオ"/>
                <a:ea typeface="メイリオ"/>
                <a:cs typeface="メイリオ"/>
              </a:rPr>
              <a:t>【大学進学率】</a:t>
            </a:r>
          </a:p>
          <a:p>
            <a:pPr algn="ctr">
              <a:lnSpc>
                <a:spcPct val="130000"/>
              </a:lnSpc>
            </a:pPr>
            <a:r>
              <a:rPr sz="1250" b="1">
                <a:solidFill>
                  <a:srgbClr val="1C2233"/>
                </a:solidFill>
                <a:latin typeface="メイリオ"/>
                <a:ea typeface="メイリオ"/>
                <a:cs typeface="メイリオ"/>
              </a:rPr>
              <a:t>約59%（過去最高圏）</a:t>
            </a:r>
          </a:p>
          <a:p>
            <a:pPr algn="ctr">
              <a:lnSpc>
                <a:spcPct val="130000"/>
              </a:lnSpc>
            </a:pPr>
            <a:r>
              <a:rPr sz="1250" b="1">
                <a:solidFill>
                  <a:srgbClr val="1C2233"/>
                </a:solidFill>
                <a:latin typeface="メイリオ"/>
                <a:ea typeface="メイリオ"/>
                <a:cs typeface="メイリオ"/>
              </a:rPr>
              <a:t>⇊</a:t>
            </a:r>
          </a:p>
          <a:p>
            <a:pPr algn="ctr">
              <a:lnSpc>
                <a:spcPct val="130000"/>
              </a:lnSpc>
            </a:pPr>
            <a:r>
              <a:rPr sz="1250" b="1">
                <a:solidFill>
                  <a:srgbClr val="1C2233"/>
                </a:solidFill>
                <a:latin typeface="メイリオ"/>
                <a:ea typeface="メイリオ"/>
                <a:cs typeface="メイリオ"/>
              </a:rPr>
              <a:t>進学率の伸びで</a:t>
            </a:r>
          </a:p>
          <a:p>
            <a:pPr algn="ctr">
              <a:lnSpc>
                <a:spcPct val="130000"/>
              </a:lnSpc>
            </a:pPr>
            <a:r>
              <a:rPr sz="1250" b="1">
                <a:solidFill>
                  <a:srgbClr val="1C2233"/>
                </a:solidFill>
                <a:latin typeface="メイリオ"/>
                <a:ea typeface="メイリオ"/>
                <a:cs typeface="メイリオ"/>
              </a:rPr>
              <a:t>母数減を吸収する余地はない</a:t>
            </a:r>
          </a:p>
        </p:txBody>
      </p:sp>
      <p:sp>
        <p:nvSpPr>
          <p:cNvPr id="7" name="Rounded Rectangle 6"/>
          <p:cNvSpPr/>
          <p:nvPr/>
        </p:nvSpPr>
        <p:spPr>
          <a:xfrm>
            <a:off x="7329600" y="1332000"/>
            <a:ext cx="2160000" cy="2304000"/>
          </a:xfrm>
          <a:prstGeom prst="roundRect">
            <a:avLst>
              <a:gd name="adj" fmla="val 6000"/>
            </a:avLst>
          </a:prstGeom>
          <a:solidFill>
            <a:srgbClr val="FCE4D6"/>
          </a:solidFill>
          <a:ln w="15875">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wrap="square" lIns="64800" rIns="64800" tIns="43200" bIns="43200"/>
          <a:lstStyle/>
          <a:p>
            <a:pPr algn="ctr">
              <a:lnSpc>
                <a:spcPct val="130000"/>
              </a:lnSpc>
            </a:pPr>
            <a:r>
              <a:rPr sz="1250" b="1">
                <a:solidFill>
                  <a:srgbClr val="ED7D31"/>
                </a:solidFill>
                <a:latin typeface="メイリオ"/>
                <a:ea typeface="メイリオ"/>
                <a:cs typeface="メイリオ"/>
              </a:rPr>
              <a:t>【1名の入学の重さ】</a:t>
            </a:r>
          </a:p>
          <a:p>
            <a:pPr algn="ctr">
              <a:lnSpc>
                <a:spcPct val="130000"/>
              </a:lnSpc>
            </a:pPr>
            <a:r>
              <a:rPr sz="1250" b="1">
                <a:solidFill>
                  <a:srgbClr val="ED7D31"/>
                </a:solidFill>
                <a:latin typeface="メイリオ"/>
                <a:ea typeface="メイリオ"/>
                <a:cs typeface="メイリオ"/>
              </a:rPr>
              <a:t>初年度納付金 約150.8万円</a:t>
            </a:r>
          </a:p>
          <a:p>
            <a:pPr algn="ctr">
              <a:lnSpc>
                <a:spcPct val="130000"/>
              </a:lnSpc>
            </a:pPr>
            <a:r>
              <a:rPr sz="1250" b="1">
                <a:solidFill>
                  <a:srgbClr val="ED7D31"/>
                </a:solidFill>
                <a:latin typeface="メイリオ"/>
                <a:ea typeface="メイリオ"/>
                <a:cs typeface="メイリオ"/>
              </a:rPr>
              <a:t>4年間で 約470万円</a:t>
            </a:r>
          </a:p>
          <a:p>
            <a:pPr algn="ctr">
              <a:lnSpc>
                <a:spcPct val="130000"/>
              </a:lnSpc>
            </a:pPr>
            <a:r>
              <a:rPr sz="1250" b="1">
                <a:solidFill>
                  <a:srgbClr val="ED7D31"/>
                </a:solidFill>
                <a:latin typeface="メイリオ"/>
                <a:ea typeface="メイリオ"/>
                <a:cs typeface="メイリオ"/>
              </a:rPr>
              <a:t>⇊</a:t>
            </a:r>
          </a:p>
          <a:p>
            <a:pPr algn="ctr">
              <a:lnSpc>
                <a:spcPct val="130000"/>
              </a:lnSpc>
            </a:pPr>
            <a:r>
              <a:rPr sz="1250" b="1">
                <a:solidFill>
                  <a:srgbClr val="ED7D31"/>
                </a:solidFill>
                <a:latin typeface="メイリオ"/>
                <a:ea typeface="メイリオ"/>
                <a:cs typeface="メイリオ"/>
              </a:rPr>
              <a:t>取りこぼしの単価が桁違い</a:t>
            </a:r>
          </a:p>
        </p:txBody>
      </p:sp>
      <p:sp>
        <p:nvSpPr>
          <p:cNvPr id="8" name="Rounded Rectangle 7"/>
          <p:cNvSpPr/>
          <p:nvPr/>
        </p:nvSpPr>
        <p:spPr>
          <a:xfrm>
            <a:off x="396000" y="3816000"/>
            <a:ext cx="4464000" cy="154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1F285A"/>
                </a:solidFill>
                <a:latin typeface="メイリオ"/>
                <a:ea typeface="メイリオ"/>
                <a:cs typeface="メイリオ"/>
              </a:rPr>
              <a:t>母数の減り方は、これから加速する</a:t>
            </a:r>
          </a:p>
          <a:p>
            <a:pPr algn="l">
              <a:lnSpc>
                <a:spcPct val="120000"/>
              </a:lnSpc>
              <a:spcAft>
                <a:spcPts val="200"/>
              </a:spcAft>
            </a:pPr>
            <a:r>
              <a:rPr sz="1100">
                <a:solidFill>
                  <a:srgbClr val="1C2233"/>
                </a:solidFill>
                <a:latin typeface="メイリオ"/>
                <a:ea typeface="メイリオ"/>
                <a:cs typeface="メイリオ"/>
              </a:rPr>
              <a:t>2040年の18歳人口は約80万人まで減る見通し（国推計）。2026年の約111万人は一時的な踊り場で、以降は本格減少。</a:t>
            </a:r>
          </a:p>
          <a:p>
            <a:pPr algn="l">
              <a:lnSpc>
                <a:spcPct val="120000"/>
              </a:lnSpc>
              <a:spcAft>
                <a:spcPts val="200"/>
              </a:spcAft>
            </a:pPr>
            <a:r>
              <a:rPr sz="1100">
                <a:solidFill>
                  <a:srgbClr val="1C2233"/>
                </a:solidFill>
                <a:latin typeface="メイリオ"/>
                <a:ea typeface="メイリオ"/>
                <a:cs typeface="メイリオ"/>
              </a:rPr>
              <a:t>いま在籍している小中高生の数がそのまま波及するため、</a:t>
            </a:r>
          </a:p>
          <a:p>
            <a:pPr algn="l">
              <a:lnSpc>
                <a:spcPct val="120000"/>
              </a:lnSpc>
              <a:spcAft>
                <a:spcPts val="200"/>
              </a:spcAft>
            </a:pPr>
            <a:r>
              <a:rPr sz="1100">
                <a:solidFill>
                  <a:srgbClr val="1C2233"/>
                </a:solidFill>
                <a:latin typeface="メイリオ"/>
                <a:ea typeface="メイリオ"/>
                <a:cs typeface="メイリオ"/>
              </a:rPr>
              <a:t>競争密度は今がピークではない。</a:t>
            </a:r>
          </a:p>
        </p:txBody>
      </p:sp>
      <p:sp>
        <p:nvSpPr>
          <p:cNvPr id="9" name="Rounded Rectangle 8"/>
          <p:cNvSpPr/>
          <p:nvPr/>
        </p:nvSpPr>
        <p:spPr>
          <a:xfrm>
            <a:off x="5076000" y="3816000"/>
            <a:ext cx="4464000" cy="1548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ED7D31"/>
                </a:solidFill>
                <a:latin typeface="メイリオ"/>
                <a:ea typeface="メイリオ"/>
                <a:cs typeface="メイリオ"/>
              </a:rPr>
              <a:t>だから「取りこぼしを拾う」が最も効く</a:t>
            </a:r>
          </a:p>
          <a:p>
            <a:pPr algn="l">
              <a:lnSpc>
                <a:spcPct val="120000"/>
              </a:lnSpc>
              <a:spcAft>
                <a:spcPts val="200"/>
              </a:spcAft>
            </a:pPr>
            <a:r>
              <a:rPr sz="1100">
                <a:solidFill>
                  <a:srgbClr val="1C2233"/>
                </a:solidFill>
                <a:latin typeface="メイリオ"/>
                <a:ea typeface="メイリオ"/>
                <a:cs typeface="メイリオ"/>
              </a:rPr>
              <a:t>広告の入札を強めても、母数が半分の市場では単価が上がるだけ。</a:t>
            </a:r>
          </a:p>
          <a:p>
            <a:pPr algn="l">
              <a:lnSpc>
                <a:spcPct val="120000"/>
              </a:lnSpc>
              <a:spcAft>
                <a:spcPts val="200"/>
              </a:spcAft>
            </a:pPr>
            <a:r>
              <a:rPr sz="1100">
                <a:solidFill>
                  <a:srgbClr val="1C2233"/>
                </a:solidFill>
                <a:latin typeface="メイリオ"/>
                <a:ea typeface="メイリオ"/>
                <a:cs typeface="メイリオ"/>
              </a:rPr>
              <a:t>一度でも手を挙げた高校生（資料請求者・OC参加者）を</a:t>
            </a:r>
          </a:p>
          <a:p>
            <a:pPr algn="l">
              <a:lnSpc>
                <a:spcPct val="120000"/>
              </a:lnSpc>
              <a:spcAft>
                <a:spcPts val="200"/>
              </a:spcAft>
            </a:pPr>
            <a:r>
              <a:rPr sz="1100">
                <a:solidFill>
                  <a:srgbClr val="1C2233"/>
                </a:solidFill>
                <a:latin typeface="メイリオ"/>
                <a:ea typeface="メイリオ"/>
                <a:cs typeface="メイリオ"/>
              </a:rPr>
              <a:t>出願まで落とさない仕組みのほうが、費用対効果が高い。</a:t>
            </a:r>
          </a:p>
        </p:txBody>
      </p:sp>
      <p:sp>
        <p:nvSpPr>
          <p:cNvPr id="10" name="Rectangle 9"/>
          <p:cNvSpPr/>
          <p:nvPr/>
        </p:nvSpPr>
        <p:spPr>
          <a:xfrm>
            <a:off x="396000" y="5544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000" y="5544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00" y="5623200"/>
            <a:ext cx="8820000" cy="324000"/>
          </a:xfrm>
          <a:prstGeom prst="rect">
            <a:avLst/>
          </a:prstGeom>
          <a:noFill/>
        </p:spPr>
        <p:txBody>
          <a:bodyPr wrap="square" lIns="0" rIns="0" tIns="21600" bIns="21600" anchor="ctr">
            <a:spAutoFit/>
          </a:bodyPr>
          <a:lstStyle/>
          <a:p>
            <a:pPr algn="l"/>
            <a:r>
              <a:rPr sz="1400" b="1">
                <a:solidFill>
                  <a:srgbClr val="1C2233"/>
                </a:solidFill>
                <a:latin typeface="メイリオ"/>
                <a:ea typeface="メイリオ"/>
                <a:cs typeface="メイリオ"/>
              </a:rPr>
              <a:t>入札で勝つ設計ではなく、取りこぼしを拾う設計へ。</a:t>
            </a:r>
          </a:p>
        </p:txBody>
      </p:sp>
      <p:sp>
        <p:nvSpPr>
          <p:cNvPr id="13" name="TextBox 12"/>
          <p:cNvSpPr txBox="1"/>
          <p:nvPr/>
        </p:nvSpPr>
        <p:spPr>
          <a:xfrm>
            <a:off x="396000" y="6138000"/>
            <a:ext cx="9144000" cy="518400"/>
          </a:xfrm>
          <a:prstGeom prst="rect">
            <a:avLst/>
          </a:prstGeom>
          <a:noFill/>
        </p:spPr>
        <p:txBody>
          <a:bodyPr wrap="square" lIns="0" rIns="0" tIns="21600" bIns="21600" anchor="t">
            <a:spAutoFit/>
          </a:bodyPr>
          <a:lstStyle/>
          <a:p>
            <a:pPr algn="l">
              <a:lnSpc>
                <a:spcPct val="120000"/>
              </a:lnSpc>
            </a:pPr>
            <a:r>
              <a:rPr sz="900">
                <a:solidFill>
                  <a:srgbClr val="646C82"/>
                </a:solidFill>
                <a:latin typeface="メイリオ"/>
                <a:ea typeface="メイリオ"/>
                <a:cs typeface="メイリオ"/>
              </a:rPr>
              <a:t>※ 出典：文部科学省「学校基本調査」／日本私立学校振興・共済事業団「私立大学・短期大学等入学志願動向」／文部科学省「私立大学等入学者に係る初年度学生納付金等調査」。【提出前に最新年度で原典照合すること】※定員割れ46.2%は令和8年度速報（前年53.2%・定員削減等の影響含む）</a:t>
            </a:r>
          </a:p>
          <a:p>
            <a:pPr algn="l">
              <a:lnSpc>
                <a:spcPct val="120000"/>
              </a:lnSpc>
            </a:pPr>
            <a:r>
              <a:rPr sz="900">
                <a:solidFill>
                  <a:srgbClr val="646C82"/>
                </a:solidFill>
                <a:latin typeface="メイリオ"/>
                <a:ea typeface="メイリオ"/>
                <a:cs typeface="メイリオ"/>
              </a:rPr>
              <a:t>※ 2040年推計は中央教育審議会の答申の版によって82万人／88万人と異なる。引用する版を確定してから提出する。</a:t>
            </a:r>
          </a:p>
        </p:txBody>
      </p:sp>
    </p:spTree>
    <p:extLst>
      <p:ext uri="{BB962C8B-B14F-4D97-AF65-F5344CB8AC3E}">
        <p14:creationId xmlns:p14="http://schemas.microsoft.com/office/powerpoint/2010/main" val="11875947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ニーズ調査（シーズナリティ）｜OCは7月末、総合型選抜は8月末</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オープンキャンパスのピークと、総合型選抜の出願準備のピークは1ヶ月しか離れていない。</a:t>
            </a:r>
          </a:p>
          <a:p>
            <a:pPr algn="l">
              <a:lnSpc>
                <a:spcPct val="122000"/>
              </a:lnSpc>
            </a:pPr>
            <a:r>
              <a:rPr sz="1500">
                <a:solidFill>
                  <a:srgbClr val="646C82"/>
                </a:solidFill>
                <a:latin typeface="メイリオ"/>
                <a:ea typeface="メイリオ"/>
                <a:cs typeface="メイリオ"/>
              </a:rPr>
              <a:t>＝ 夏のOCで接点を持てなかった学校は、8月末には候補から消えている。</a:t>
            </a:r>
          </a:p>
        </p:txBody>
      </p:sp>
      <p:pic>
        <p:nvPicPr>
          <p:cNvPr id="4" name="Picture 3" descr="gakkou_trend_oc_weekly.png"/>
          <p:cNvPicPr>
            <a:picLocks noChangeAspect="1"/>
          </p:cNvPicPr>
          <p:nvPr/>
        </p:nvPicPr>
        <p:blipFill>
          <a:blip r:embed="rId3"/>
          <a:stretch>
            <a:fillRect/>
          </a:stretch>
        </p:blipFill>
        <p:spPr>
          <a:xfrm>
            <a:off x="396000" y="1224000"/>
            <a:ext cx="4464000" cy="1595293"/>
          </a:xfrm>
          <a:prstGeom prst="rect">
            <a:avLst/>
          </a:prstGeom>
        </p:spPr>
      </p:pic>
      <p:pic>
        <p:nvPicPr>
          <p:cNvPr id="5" name="Picture 4" descr="gakkou_trend_nyushi_weekly.png"/>
          <p:cNvPicPr>
            <a:picLocks noChangeAspect="1"/>
          </p:cNvPicPr>
          <p:nvPr/>
        </p:nvPicPr>
        <p:blipFill>
          <a:blip r:embed="rId4"/>
          <a:stretch>
            <a:fillRect/>
          </a:stretch>
        </p:blipFill>
        <p:spPr>
          <a:xfrm>
            <a:off x="5040000" y="1224000"/>
            <a:ext cx="4464000" cy="1595293"/>
          </a:xfrm>
          <a:prstGeom prst="rect">
            <a:avLst/>
          </a:prstGeom>
        </p:spPr>
      </p:pic>
      <p:sp>
        <p:nvSpPr>
          <p:cNvPr id="6" name="Rounded Rectangle 5"/>
          <p:cNvSpPr/>
          <p:nvPr/>
        </p:nvSpPr>
        <p:spPr>
          <a:xfrm>
            <a:off x="396000" y="3168000"/>
            <a:ext cx="2951999"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1F285A"/>
                </a:solidFill>
                <a:latin typeface="メイリオ"/>
                <a:ea typeface="メイリオ"/>
                <a:cs typeface="メイリオ"/>
              </a:rPr>
              <a:t>① 動き出しは5月下旬</a:t>
            </a:r>
          </a:p>
          <a:p>
            <a:pPr algn="l">
              <a:lnSpc>
                <a:spcPct val="120000"/>
              </a:lnSpc>
              <a:spcAft>
                <a:spcPts val="200"/>
              </a:spcAft>
            </a:pPr>
            <a:r>
              <a:rPr sz="1100">
                <a:solidFill>
                  <a:srgbClr val="1C2233"/>
                </a:solidFill>
                <a:latin typeface="メイリオ"/>
                <a:ea typeface="メイリオ"/>
                <a:cs typeface="メイリオ"/>
              </a:rPr>
              <a:t>「オープンキャンパス」の検索が20を超えるのが5/25週。</a:t>
            </a:r>
          </a:p>
          <a:p>
            <a:pPr algn="l">
              <a:lnSpc>
                <a:spcPct val="120000"/>
              </a:lnSpc>
              <a:spcAft>
                <a:spcPts val="200"/>
              </a:spcAft>
            </a:pPr>
            <a:r>
              <a:rPr sz="1100">
                <a:solidFill>
                  <a:srgbClr val="1C2233"/>
                </a:solidFill>
                <a:latin typeface="メイリオ"/>
                <a:ea typeface="メイリオ"/>
                <a:cs typeface="メイリオ"/>
              </a:rPr>
              <a:t>6/29週にはもう年間ピークの半分（51）。</a:t>
            </a:r>
          </a:p>
          <a:p>
            <a:pPr algn="l">
              <a:lnSpc>
                <a:spcPct val="120000"/>
              </a:lnSpc>
              <a:spcAft>
                <a:spcPts val="200"/>
              </a:spcAft>
            </a:pPr>
            <a:r>
              <a:rPr sz="1100">
                <a:solidFill>
                  <a:srgbClr val="1C2233"/>
                </a:solidFill>
                <a:latin typeface="メイリオ"/>
                <a:ea typeface="メイリオ"/>
                <a:cs typeface="メイリオ"/>
              </a:rPr>
              <a:t>6月に広報を始めたら、もう遅い。</a:t>
            </a:r>
          </a:p>
        </p:txBody>
      </p:sp>
      <p:sp>
        <p:nvSpPr>
          <p:cNvPr id="7" name="Rounded Rectangle 6"/>
          <p:cNvSpPr/>
          <p:nvPr/>
        </p:nvSpPr>
        <p:spPr>
          <a:xfrm>
            <a:off x="3491999" y="3168000"/>
            <a:ext cx="2951999"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1F285A"/>
                </a:solidFill>
                <a:latin typeface="メイリオ"/>
                <a:ea typeface="メイリオ"/>
                <a:cs typeface="メイリオ"/>
              </a:rPr>
              <a:t>② 総合型のピークは8/31週</a:t>
            </a:r>
          </a:p>
          <a:p>
            <a:pPr algn="l">
              <a:lnSpc>
                <a:spcPct val="120000"/>
              </a:lnSpc>
              <a:spcAft>
                <a:spcPts val="200"/>
              </a:spcAft>
            </a:pPr>
            <a:r>
              <a:rPr sz="1100">
                <a:solidFill>
                  <a:srgbClr val="1C2233"/>
                </a:solidFill>
                <a:latin typeface="メイリオ"/>
                <a:ea typeface="メイリオ"/>
                <a:cs typeface="メイリオ"/>
              </a:rPr>
              <a:t>9/1の出願解禁を含む週が年間最大（100）。</a:t>
            </a:r>
          </a:p>
          <a:p>
            <a:pPr algn="l">
              <a:lnSpc>
                <a:spcPct val="120000"/>
              </a:lnSpc>
              <a:spcAft>
                <a:spcPts val="200"/>
              </a:spcAft>
            </a:pPr>
            <a:r>
              <a:rPr sz="1100">
                <a:solidFill>
                  <a:srgbClr val="1C2233"/>
                </a:solidFill>
                <a:latin typeface="メイリオ"/>
                <a:ea typeface="メイリオ"/>
                <a:cs typeface="メイリオ"/>
              </a:rPr>
              <a:t>指定校推薦は8月末と11月中旬の二山、</a:t>
            </a:r>
          </a:p>
          <a:p>
            <a:pPr algn="l">
              <a:lnSpc>
                <a:spcPct val="120000"/>
              </a:lnSpc>
              <a:spcAft>
                <a:spcPts val="200"/>
              </a:spcAft>
            </a:pPr>
            <a:r>
              <a:rPr sz="1100">
                <a:solidFill>
                  <a:srgbClr val="1C2233"/>
                </a:solidFill>
                <a:latin typeface="メイリオ"/>
                <a:ea typeface="メイリオ"/>
                <a:cs typeface="メイリオ"/>
              </a:rPr>
              <a:t>学校推薦型は11月の単峰。3方式で時期が違う。</a:t>
            </a:r>
          </a:p>
        </p:txBody>
      </p:sp>
      <p:sp>
        <p:nvSpPr>
          <p:cNvPr id="8" name="Rounded Rectangle 7"/>
          <p:cNvSpPr/>
          <p:nvPr/>
        </p:nvSpPr>
        <p:spPr>
          <a:xfrm>
            <a:off x="6588000" y="3168000"/>
            <a:ext cx="2951999" cy="2160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ED7D31"/>
                </a:solidFill>
                <a:latin typeface="メイリオ"/>
                <a:ea typeface="メイリオ"/>
                <a:cs typeface="メイリオ"/>
              </a:rPr>
              <a:t>③ 仕込みの窓は5週間</a:t>
            </a:r>
          </a:p>
          <a:p>
            <a:pPr algn="l">
              <a:lnSpc>
                <a:spcPct val="120000"/>
              </a:lnSpc>
              <a:spcAft>
                <a:spcPts val="200"/>
              </a:spcAft>
            </a:pPr>
            <a:r>
              <a:rPr sz="1100">
                <a:solidFill>
                  <a:srgbClr val="1C2233"/>
                </a:solidFill>
                <a:latin typeface="メイリオ"/>
                <a:ea typeface="メイリオ"/>
                <a:cs typeface="メイリオ"/>
              </a:rPr>
              <a:t>5/25週〜6/29週の5週間が、友だち化の窓。</a:t>
            </a:r>
          </a:p>
          <a:p>
            <a:pPr algn="l">
              <a:lnSpc>
                <a:spcPct val="120000"/>
              </a:lnSpc>
              <a:spcAft>
                <a:spcPts val="200"/>
              </a:spcAft>
            </a:pPr>
            <a:r>
              <a:rPr sz="1100">
                <a:solidFill>
                  <a:srgbClr val="1C2233"/>
                </a:solidFill>
                <a:latin typeface="メイリオ"/>
                <a:ea typeface="メイリオ"/>
                <a:cs typeface="メイリオ"/>
              </a:rPr>
              <a:t>ここまでに友だちになっていない高校生は、</a:t>
            </a:r>
          </a:p>
          <a:p>
            <a:pPr algn="l">
              <a:lnSpc>
                <a:spcPct val="120000"/>
              </a:lnSpc>
              <a:spcAft>
                <a:spcPts val="200"/>
              </a:spcAft>
            </a:pPr>
            <a:r>
              <a:rPr sz="1100">
                <a:solidFill>
                  <a:srgbClr val="1C2233"/>
                </a:solidFill>
                <a:latin typeface="メイリオ"/>
                <a:ea typeface="メイリオ"/>
                <a:cs typeface="メイリオ"/>
              </a:rPr>
              <a:t>夏のOCの候補リストに入らない。</a:t>
            </a:r>
          </a:p>
        </p:txBody>
      </p:sp>
      <p:sp>
        <p:nvSpPr>
          <p:cNvPr id="9" name="TextBox 8"/>
          <p:cNvSpPr txBox="1"/>
          <p:nvPr/>
        </p:nvSpPr>
        <p:spPr>
          <a:xfrm>
            <a:off x="396000" y="6138000"/>
            <a:ext cx="9144000" cy="518400"/>
          </a:xfrm>
          <a:prstGeom prst="rect">
            <a:avLst/>
          </a:prstGeom>
          <a:noFill/>
        </p:spPr>
        <p:txBody>
          <a:bodyPr wrap="square" lIns="0" rIns="0" tIns="21600" bIns="21600" anchor="t">
            <a:spAutoFit/>
          </a:bodyPr>
          <a:lstStyle/>
          <a:p>
            <a:pPr algn="l">
              <a:lnSpc>
                <a:spcPct val="120000"/>
              </a:lnSpc>
            </a:pPr>
            <a:r>
              <a:rPr sz="900">
                <a:solidFill>
                  <a:srgbClr val="646C82"/>
                </a:solidFill>
                <a:latin typeface="メイリオ"/>
                <a:ea typeface="メイリオ"/>
                <a:cs typeface="メイリオ"/>
              </a:rPr>
              <a:t>※ 出典：Googleトレンド（日本・ウェブ検索・2026-09-15取得）。週次データは2025年（2024-12-29〜2025-12-28）の実測。</a:t>
            </a:r>
          </a:p>
          <a:p>
            <a:pPr algn="l">
              <a:lnSpc>
                <a:spcPct val="120000"/>
              </a:lnSpc>
            </a:pPr>
            <a:r>
              <a:rPr sz="900">
                <a:solidFill>
                  <a:srgbClr val="646C82"/>
                </a:solidFill>
                <a:latin typeface="メイリオ"/>
                <a:ea typeface="メイリオ"/>
                <a:cs typeface="メイリオ"/>
              </a:rPr>
              <a:t>※ 入試日程は文部科学省「大学入学者選抜実施要項」（総合型＝9/1出願・11/1発表／学校推薦型＝11/1出願・12/1発表／一般＝2/1〜）。</a:t>
            </a:r>
          </a:p>
        </p:txBody>
      </p:sp>
    </p:spTree>
    <p:extLst>
      <p:ext uri="{BB962C8B-B14F-4D97-AF65-F5344CB8AC3E}">
        <p14:creationId xmlns:p14="http://schemas.microsoft.com/office/powerpoint/2010/main" val="11339163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ニーズ調査（5年トレンド）｜総合型選抜は5年で3.3倍</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オープンキャンパスの形は5年間まったく変わらない＝予定を立てられる需要。</a:t>
            </a:r>
          </a:p>
          <a:p>
            <a:pPr algn="l">
              <a:lnSpc>
                <a:spcPct val="122000"/>
              </a:lnSpc>
            </a:pPr>
            <a:r>
              <a:rPr sz="1500">
                <a:solidFill>
                  <a:srgbClr val="646C82"/>
                </a:solidFill>
                <a:latin typeface="メイリオ"/>
                <a:ea typeface="メイリオ"/>
                <a:cs typeface="メイリオ"/>
              </a:rPr>
              <a:t>一方で入試方式の主役は入れ替わっており、2023年9月に総合型が指定校推薦を抜いた。</a:t>
            </a:r>
          </a:p>
        </p:txBody>
      </p:sp>
      <p:pic>
        <p:nvPicPr>
          <p:cNvPr id="4" name="Picture 3" descr="gakkou_trend_oc_5y.png"/>
          <p:cNvPicPr>
            <a:picLocks noChangeAspect="1"/>
          </p:cNvPicPr>
          <p:nvPr/>
        </p:nvPicPr>
        <p:blipFill>
          <a:blip r:embed="rId4"/>
          <a:stretch>
            <a:fillRect/>
          </a:stretch>
        </p:blipFill>
        <p:spPr>
          <a:xfrm>
            <a:off x="396000" y="1224000"/>
            <a:ext cx="4464000" cy="1545954"/>
          </a:xfrm>
          <a:prstGeom prst="rect">
            <a:avLst/>
          </a:prstGeom>
        </p:spPr>
      </p:pic>
      <p:pic>
        <p:nvPicPr>
          <p:cNvPr id="5" name="Picture 4" descr="gakkou_trend_nyushi_5y.png"/>
          <p:cNvPicPr>
            <a:picLocks noChangeAspect="1"/>
          </p:cNvPicPr>
          <p:nvPr/>
        </p:nvPicPr>
        <p:blipFill>
          <a:blip r:embed="rId5"/>
          <a:stretch>
            <a:fillRect/>
          </a:stretch>
        </p:blipFill>
        <p:spPr>
          <a:xfrm>
            <a:off x="5040000" y="1224000"/>
            <a:ext cx="4464000" cy="1595293"/>
          </a:xfrm>
          <a:prstGeom prst="rect">
            <a:avLst/>
          </a:prstGeom>
        </p:spPr>
      </p:pic>
      <p:sp>
        <p:nvSpPr>
          <p:cNvPr id="6" name="Rounded Rectangle 5"/>
          <p:cNvSpPr/>
          <p:nvPr/>
        </p:nvSpPr>
        <p:spPr>
          <a:xfrm>
            <a:off x="396000" y="3168000"/>
            <a:ext cx="2951999"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1F285A"/>
                </a:solidFill>
                <a:latin typeface="メイリオ"/>
                <a:ea typeface="メイリオ"/>
                <a:cs typeface="メイリオ"/>
              </a:rPr>
              <a:t>① OCは5年連続で7月ピーク</a:t>
            </a:r>
          </a:p>
          <a:p>
            <a:pPr algn="l">
              <a:lnSpc>
                <a:spcPct val="120000"/>
              </a:lnSpc>
              <a:spcAft>
                <a:spcPts val="200"/>
              </a:spcAft>
            </a:pPr>
            <a:r>
              <a:rPr sz="1100">
                <a:solidFill>
                  <a:srgbClr val="1C2233"/>
                </a:solidFill>
                <a:latin typeface="メイリオ"/>
                <a:ea typeface="メイリオ"/>
                <a:cs typeface="メイリオ"/>
              </a:rPr>
              <a:t>2022→2026年の7月値は 100 / 94 / 80 / 85 / 90。</a:t>
            </a:r>
          </a:p>
          <a:p>
            <a:pPr algn="l">
              <a:lnSpc>
                <a:spcPct val="120000"/>
              </a:lnSpc>
              <a:spcAft>
                <a:spcPts val="200"/>
              </a:spcAft>
            </a:pPr>
            <a:r>
              <a:rPr sz="1100">
                <a:solidFill>
                  <a:srgbClr val="1C2233"/>
                </a:solidFill>
                <a:latin typeface="メイリオ"/>
                <a:ea typeface="メイリオ"/>
                <a:cs typeface="メイリオ"/>
              </a:rPr>
              <a:t>谷は12〜1月（3〜5）でピークの約1/20。</a:t>
            </a:r>
          </a:p>
          <a:p>
            <a:pPr algn="l">
              <a:lnSpc>
                <a:spcPct val="120000"/>
              </a:lnSpc>
              <a:spcAft>
                <a:spcPts val="200"/>
              </a:spcAft>
            </a:pPr>
            <a:r>
              <a:rPr sz="1100">
                <a:solidFill>
                  <a:srgbClr val="1C2233"/>
                </a:solidFill>
                <a:latin typeface="メイリオ"/>
                <a:ea typeface="メイリオ"/>
                <a:cs typeface="メイリオ"/>
              </a:rPr>
              <a:t>形が変わらない＝毎年同じ日程で仕込める。</a:t>
            </a:r>
          </a:p>
        </p:txBody>
      </p:sp>
      <p:sp>
        <p:nvSpPr>
          <p:cNvPr id="7" name="Rounded Rectangle 6"/>
          <p:cNvSpPr/>
          <p:nvPr/>
        </p:nvSpPr>
        <p:spPr>
          <a:xfrm>
            <a:off x="3491999" y="3168000"/>
            <a:ext cx="2951999" cy="2160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ED7D31"/>
                </a:solidFill>
                <a:latin typeface="メイリオ"/>
                <a:ea typeface="メイリオ"/>
                <a:cs typeface="メイリオ"/>
              </a:rPr>
              <a:t>② 総合型選抜 5年で3.3倍</a:t>
            </a:r>
          </a:p>
          <a:p>
            <a:pPr algn="l">
              <a:lnSpc>
                <a:spcPct val="120000"/>
              </a:lnSpc>
              <a:spcAft>
                <a:spcPts val="200"/>
              </a:spcAft>
            </a:pPr>
            <a:r>
              <a:rPr sz="1100">
                <a:solidFill>
                  <a:srgbClr val="1C2233"/>
                </a:solidFill>
                <a:latin typeface="メイリオ"/>
                <a:ea typeface="メイリオ"/>
                <a:cs typeface="メイリオ"/>
              </a:rPr>
              <a:t>9月値の比較：総合型 30 → 100（3.3倍・5年連続増）。</a:t>
            </a:r>
          </a:p>
          <a:p>
            <a:pPr algn="l">
              <a:lnSpc>
                <a:spcPct val="120000"/>
              </a:lnSpc>
              <a:spcAft>
                <a:spcPts val="200"/>
              </a:spcAft>
            </a:pPr>
            <a:r>
              <a:rPr sz="1100">
                <a:solidFill>
                  <a:srgbClr val="1C2233"/>
                </a:solidFill>
                <a:latin typeface="メイリオ"/>
                <a:ea typeface="メイリオ"/>
                <a:cs typeface="メイリオ"/>
              </a:rPr>
              <a:t>指定校推薦は 64 → 57（▲11%）で横ばい。</a:t>
            </a:r>
          </a:p>
          <a:p>
            <a:pPr algn="l">
              <a:lnSpc>
                <a:spcPct val="120000"/>
              </a:lnSpc>
              <a:spcAft>
                <a:spcPts val="200"/>
              </a:spcAft>
            </a:pPr>
            <a:r>
              <a:rPr sz="1100">
                <a:solidFill>
                  <a:srgbClr val="1C2233"/>
                </a:solidFill>
                <a:latin typeface="メイリオ"/>
                <a:ea typeface="メイリオ"/>
                <a:cs typeface="メイリオ"/>
              </a:rPr>
              <a:t>2023年9月に逆転し、いまは総合型が1.75倍。</a:t>
            </a:r>
          </a:p>
        </p:txBody>
      </p:sp>
      <p:sp>
        <p:nvSpPr>
          <p:cNvPr id="8" name="Rounded Rectangle 7"/>
          <p:cNvSpPr/>
          <p:nvPr/>
        </p:nvSpPr>
        <p:spPr>
          <a:xfrm>
            <a:off x="6588000" y="3168000"/>
            <a:ext cx="2951999"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1F285A"/>
                </a:solidFill>
                <a:latin typeface="メイリオ"/>
                <a:ea typeface="メイリオ"/>
                <a:cs typeface="メイリオ"/>
              </a:rPr>
              <a:t>③ 専門学校は年中フラット</a:t>
            </a:r>
          </a:p>
          <a:p>
            <a:pPr algn="l">
              <a:lnSpc>
                <a:spcPct val="120000"/>
              </a:lnSpc>
              <a:spcAft>
                <a:spcPts val="200"/>
              </a:spcAft>
            </a:pPr>
            <a:r>
              <a:rPr sz="1100">
                <a:solidFill>
                  <a:srgbClr val="1C2233"/>
                </a:solidFill>
                <a:latin typeface="メイリオ"/>
                <a:ea typeface="メイリオ"/>
                <a:cs typeface="メイリオ"/>
              </a:rPr>
              <a:t>「専門学校」は5年間ずっと22〜40のレンジ。</a:t>
            </a:r>
          </a:p>
          <a:p>
            <a:pPr algn="l">
              <a:lnSpc>
                <a:spcPct val="120000"/>
              </a:lnSpc>
              <a:spcAft>
                <a:spcPts val="200"/>
              </a:spcAft>
            </a:pPr>
            <a:r>
              <a:rPr sz="1100">
                <a:solidFill>
                  <a:srgbClr val="1C2233"/>
                </a:solidFill>
                <a:latin typeface="メイリオ"/>
                <a:ea typeface="メイリオ"/>
                <a:cs typeface="メイリオ"/>
              </a:rPr>
              <a:t>大学（夏に集中）とは需要曲線がまったく違う。</a:t>
            </a:r>
          </a:p>
          <a:p>
            <a:pPr algn="l">
              <a:lnSpc>
                <a:spcPct val="120000"/>
              </a:lnSpc>
              <a:spcAft>
                <a:spcPts val="200"/>
              </a:spcAft>
            </a:pPr>
            <a:r>
              <a:rPr sz="1100">
                <a:solidFill>
                  <a:srgbClr val="1C2233"/>
                </a:solidFill>
                <a:latin typeface="メイリオ"/>
                <a:ea typeface="メイリオ"/>
                <a:cs typeface="メイリオ"/>
              </a:rPr>
              <a:t>→ 大学と専門学校は別の配信設計が要る。</a:t>
            </a:r>
          </a:p>
        </p:txBody>
      </p:sp>
      <p:sp>
        <p:nvSpPr>
          <p:cNvPr id="9" name="TextBox 8"/>
          <p:cNvSpPr txBox="1"/>
          <p:nvPr/>
        </p:nvSpPr>
        <p:spPr>
          <a:xfrm>
            <a:off x="396000" y="6138000"/>
            <a:ext cx="9144000" cy="518400"/>
          </a:xfrm>
          <a:prstGeom prst="rect">
            <a:avLst/>
          </a:prstGeom>
          <a:noFill/>
        </p:spPr>
        <p:txBody>
          <a:bodyPr wrap="square" lIns="0" rIns="0" tIns="21600" bIns="21600" anchor="t">
            <a:spAutoFit/>
          </a:bodyPr>
          <a:lstStyle/>
          <a:p>
            <a:pPr algn="l">
              <a:lnSpc>
                <a:spcPct val="120000"/>
              </a:lnSpc>
            </a:pPr>
            <a:r>
              <a:rPr sz="900">
                <a:solidFill>
                  <a:srgbClr val="646C82"/>
                </a:solidFill>
                <a:latin typeface="メイリオ"/>
                <a:ea typeface="メイリオ"/>
                <a:cs typeface="メイリオ"/>
              </a:rPr>
              <a:t>※ 出典：Googleトレンド（日本・ウェブ検索・2021/9〜2026/9・2026-09-15取得）。2026年9月は月途中（9/15まで）の参考値。</a:t>
            </a:r>
          </a:p>
          <a:p>
            <a:pPr algn="l">
              <a:lnSpc>
                <a:spcPct val="120000"/>
              </a:lnSpc>
            </a:pPr>
            <a:r>
              <a:rPr sz="900">
                <a:solidFill>
                  <a:srgbClr val="646C82"/>
                </a:solidFill>
                <a:latin typeface="メイリオ"/>
                <a:ea typeface="メイリオ"/>
                <a:cs typeface="メイリオ"/>
              </a:rPr>
              <a:t>※ 「共通テスト」は1月に100・他月は10以下と桁が違うため、同一グラフに混ぜていない（混ぜると小さい方が潰れる）。</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年間の配信設計マトリクス（時期 × 対象 × 訴求 × CV）</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需要の波と入試日程が動かせない業界。時期ごとに「誰に・何を言い・どこへ着地させるか」を先に決める。</a:t>
            </a:r>
          </a:p>
        </p:txBody>
      </p:sp>
      <p:graphicFrame>
        <p:nvGraphicFramePr>
          <p:cNvPr id="4" name="Table 3"/>
          <p:cNvGraphicFramePr>
            <a:graphicFrameLocks noGrp="1"/>
          </p:cNvGraphicFramePr>
          <p:nvPr/>
        </p:nvGraphicFramePr>
        <p:xfrm>
          <a:off x="396000" y="1224000"/>
          <a:ext cx="9143999" cy="3780000"/>
        </p:xfrm>
        <a:graphic>
          <a:graphicData uri="http://schemas.openxmlformats.org/drawingml/2006/table">
            <a:tbl>
              <a:tblPr firstRow="1" bandRow="1">
                <a:tableStyleId>{5C22544A-7EE6-4342-B048-85BDC9FD1C3A}</a:tableStyleId>
              </a:tblPr>
              <a:tblGrid>
                <a:gridCol w="1080000"/>
                <a:gridCol w="2664000"/>
                <a:gridCol w="3384000"/>
                <a:gridCol w="2015999"/>
              </a:tblGrid>
              <a:tr h="540000">
                <a:tc>
                  <a:txBody>
                    <a:bodyPr wrap="square" lIns="50400" rIns="50400" tIns="10800" bIns="10800" anchor="ctr"/>
                    <a:lstStyle/>
                    <a:p>
                      <a:pPr algn="ctr"/>
                      <a:r>
                        <a:rPr sz="1200" b="1">
                          <a:solidFill>
                            <a:srgbClr val="FFFFFF"/>
                          </a:solidFill>
                          <a:latin typeface="メイリオ"/>
                          <a:ea typeface="メイリオ"/>
                          <a:cs typeface="メイリオ"/>
                        </a:rPr>
                        <a:t>時期</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対象（学年・状態）</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訴求</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着地させるCV</a:t>
                      </a:r>
                    </a:p>
                  </a:txBody>
                  <a:tcPr anchor="ctr">
                    <a:solidFill>
                      <a:srgbClr val="1F285A"/>
                    </a:solidFill>
                  </a:tcPr>
                </a:tc>
              </a:tr>
              <a:tr h="540000">
                <a:tc>
                  <a:txBody>
                    <a:bodyPr wrap="square" lIns="50400" rIns="50400" tIns="10800" bIns="10800" anchor="ctr"/>
                    <a:lstStyle/>
                    <a:p>
                      <a:pPr algn="ctr"/>
                      <a:r>
                        <a:rPr sz="1100">
                          <a:solidFill>
                            <a:srgbClr val="1C2233"/>
                          </a:solidFill>
                          <a:latin typeface="メイリオ"/>
                          <a:ea typeface="メイリオ"/>
                          <a:cs typeface="メイリオ"/>
                        </a:rPr>
                        <a:t>3〜4月</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新高2・新高3／進路意識が立ち上がる層</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「まだ決まっていなくていい」30秒 学部学科診断</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友だち追加・診断完了【CV①】</a:t>
                      </a:r>
                    </a:p>
                  </a:txBody>
                  <a:tcPr anchor="ctr">
                    <a:solidFill>
                      <a:srgbClr val="FFFFFF"/>
                    </a:solidFill>
                  </a:tcPr>
                </a:tc>
              </a:tr>
              <a:tr h="540000">
                <a:tc>
                  <a:txBody>
                    <a:bodyPr wrap="square" lIns="50400" rIns="50400" tIns="10800" bIns="10800" anchor="ctr"/>
                    <a:lstStyle/>
                    <a:p>
                      <a:pPr algn="ctr"/>
                      <a:r>
                        <a:rPr sz="1100">
                          <a:solidFill>
                            <a:srgbClr val="1C2233"/>
                          </a:solidFill>
                          <a:latin typeface="メイリオ"/>
                          <a:ea typeface="メイリオ"/>
                          <a:cs typeface="メイリオ"/>
                        </a:rPr>
                        <a:t>5月下旬〜6月</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高3／OC検索が動き出す層　※検索実測：5/25週</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OC日程の先行案内・1人参加OK・当日の流れ</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オープンキャンパス予約【CV②】</a:t>
                      </a:r>
                    </a:p>
                  </a:txBody>
                  <a:tcPr anchor="ctr">
                    <a:solidFill>
                      <a:srgbClr val="F4F7FF"/>
                    </a:solidFill>
                  </a:tcPr>
                </a:tc>
              </a:tr>
              <a:tr h="540000">
                <a:tc>
                  <a:txBody>
                    <a:bodyPr wrap="square" lIns="50400" rIns="50400" tIns="10800" bIns="10800" anchor="ctr"/>
                    <a:lstStyle/>
                    <a:p>
                      <a:pPr algn="ctr"/>
                      <a:r>
                        <a:rPr sz="1100">
                          <a:solidFill>
                            <a:srgbClr val="1C2233"/>
                          </a:solidFill>
                          <a:latin typeface="メイリオ"/>
                          <a:ea typeface="メイリオ"/>
                          <a:cs typeface="メイリオ"/>
                        </a:rPr>
                        <a:t>7〜8月</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OC予約者・参加者</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前日リマインド／参加後アンケート／学部の深掘り</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OC参加・再訪【CV②】</a:t>
                      </a:r>
                    </a:p>
                  </a:txBody>
                  <a:tcPr anchor="ctr">
                    <a:solidFill>
                      <a:srgbClr val="FFFFFF"/>
                    </a:solidFill>
                  </a:tcPr>
                </a:tc>
              </a:tr>
              <a:tr h="540000">
                <a:tc>
                  <a:txBody>
                    <a:bodyPr wrap="square" lIns="50400" rIns="50400" tIns="10800" bIns="10800" anchor="ctr"/>
                    <a:lstStyle/>
                    <a:p>
                      <a:pPr algn="ctr"/>
                      <a:r>
                        <a:rPr sz="1100">
                          <a:solidFill>
                            <a:srgbClr val="1C2233"/>
                          </a:solidFill>
                          <a:latin typeface="メイリオ"/>
                          <a:ea typeface="メイリオ"/>
                          <a:cs typeface="メイリオ"/>
                        </a:rPr>
                        <a:t>9〜11月</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OC参加者・年内入試層　※総合型9/1・学校推薦型11/1</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志望理由書の書き方・面接10問・締切カウントダウン</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出願【CV③】</a:t>
                      </a:r>
                    </a:p>
                  </a:txBody>
                  <a:tcPr anchor="ctr">
                    <a:solidFill>
                      <a:srgbClr val="F4F7FF"/>
                    </a:solidFill>
                  </a:tcPr>
                </a:tc>
              </a:tr>
              <a:tr h="540000">
                <a:tc>
                  <a:txBody>
                    <a:bodyPr wrap="square" lIns="50400" rIns="50400" tIns="10800" bIns="10800" anchor="ctr"/>
                    <a:lstStyle/>
                    <a:p>
                      <a:pPr algn="ctr"/>
                      <a:r>
                        <a:rPr sz="1100">
                          <a:solidFill>
                            <a:srgbClr val="1C2233"/>
                          </a:solidFill>
                          <a:latin typeface="メイリオ"/>
                          <a:ea typeface="メイリオ"/>
                          <a:cs typeface="メイリオ"/>
                        </a:rPr>
                        <a:t>12〜2月</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一般選抜層・併願検討層　※共通テスト1月中旬</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入試方式の違い・過去問・入試説明会</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出願【CV③】</a:t>
                      </a:r>
                    </a:p>
                  </a:txBody>
                  <a:tcPr anchor="ctr">
                    <a:solidFill>
                      <a:srgbClr val="FFFFFF"/>
                    </a:solidFill>
                  </a:tcPr>
                </a:tc>
              </a:tr>
              <a:tr h="540000">
                <a:tc>
                  <a:txBody>
                    <a:bodyPr wrap="square" lIns="50400" rIns="50400" tIns="10800" bIns="10800" anchor="ctr"/>
                    <a:lstStyle/>
                    <a:p>
                      <a:pPr algn="ctr"/>
                      <a:r>
                        <a:rPr sz="1100">
                          <a:solidFill>
                            <a:srgbClr val="1C2233"/>
                          </a:solidFill>
                          <a:latin typeface="メイリオ"/>
                          <a:ea typeface="メイリオ"/>
                          <a:cs typeface="メイリオ"/>
                        </a:rPr>
                        <a:t>2〜3月</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合格者・入学手続前</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入学前オリエンテーション・先輩との交流・一人暮らし準備</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入学手続【CV③】・定着</a:t>
                      </a:r>
                    </a:p>
                  </a:txBody>
                  <a:tcPr anchor="ctr">
                    <a:solidFill>
                      <a:srgbClr val="F4F7FF"/>
                    </a:solidFill>
                  </a:tcPr>
                </a:tc>
              </a:tr>
            </a:tbl>
          </a:graphicData>
        </a:graphic>
      </p:graphicFrame>
      <p:sp>
        <p:nvSpPr>
          <p:cNvPr id="5" name="TextBox 4"/>
          <p:cNvSpPr txBox="1"/>
          <p:nvPr/>
        </p:nvSpPr>
        <p:spPr>
          <a:xfrm>
            <a:off x="396000" y="5950800"/>
            <a:ext cx="9144000" cy="705600"/>
          </a:xfrm>
          <a:prstGeom prst="rect">
            <a:avLst/>
          </a:prstGeom>
          <a:noFill/>
        </p:spPr>
        <p:txBody>
          <a:bodyPr wrap="square" lIns="0" rIns="0" tIns="21600" bIns="21600" anchor="t">
            <a:spAutoFit/>
          </a:bodyPr>
          <a:lstStyle/>
          <a:p>
            <a:pPr algn="l">
              <a:lnSpc>
                <a:spcPct val="120000"/>
              </a:lnSpc>
            </a:pPr>
            <a:r>
              <a:rPr sz="900">
                <a:solidFill>
                  <a:srgbClr val="646C82"/>
                </a:solidFill>
                <a:latin typeface="メイリオ"/>
                <a:ea typeface="メイリオ"/>
                <a:cs typeface="メイリオ"/>
              </a:rPr>
              <a:t>※ 時期の根拠：Googleトレンド実測（2026-09-15取得）＋文部科学省「大学入学者選抜実施要項」。</a:t>
            </a:r>
          </a:p>
          <a:p>
            <a:pPr algn="l">
              <a:lnSpc>
                <a:spcPct val="120000"/>
              </a:lnSpc>
            </a:pPr>
            <a:r>
              <a:rPr sz="900">
                <a:solidFill>
                  <a:srgbClr val="646C82"/>
                </a:solidFill>
                <a:latin typeface="メイリオ"/>
                <a:ea typeface="メイリオ"/>
                <a:cs typeface="メイリオ"/>
              </a:rPr>
              <a:t>※ 専門学校はAOエントリー6/1・出願10/1解禁（全国専修学校各種学校総連合会の申し合わせ・要確認）のため、上記より前倒しになる。</a:t>
            </a:r>
          </a:p>
          <a:p>
            <a:pPr algn="l">
              <a:lnSpc>
                <a:spcPct val="120000"/>
              </a:lnSpc>
            </a:pPr>
            <a:r>
              <a:rPr sz="900">
                <a:solidFill>
                  <a:srgbClr val="646C82"/>
                </a:solidFill>
                <a:latin typeface="メイリオ"/>
                <a:ea typeface="メイリオ"/>
                <a:cs typeface="メイリオ"/>
              </a:rPr>
              <a:t>※ 各時期の広告単価・CVRは貴学の実績値で埋める（進学領域の公開統計は存在しない）。</a:t>
            </a:r>
          </a:p>
        </p:txBody>
      </p:sp>
    </p:spTree>
    <p:extLst>
      <p:ext uri="{BB962C8B-B14F-4D97-AF65-F5344CB8AC3E}">
        <p14:creationId xmlns:p14="http://schemas.microsoft.com/office/powerpoint/2010/main" val="7965261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前後検索｜検討は「偏差値」で動く。オープンキャンパスは「後」に来る</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LINEヤフー media Journey の実データ。0日前後の密集帯は、ほぼ全部「大学名＋偏差値」だった。</a:t>
            </a:r>
          </a:p>
          <a:p>
            <a:pPr algn="l">
              <a:lnSpc>
                <a:spcPct val="122000"/>
              </a:lnSpc>
            </a:pPr>
            <a:r>
              <a:rPr sz="1500">
                <a:solidFill>
                  <a:srgbClr val="646C82"/>
                </a:solidFill>
                <a:latin typeface="メイリオ"/>
                <a:ea typeface="メイリオ"/>
                <a:cs typeface="メイリオ"/>
              </a:rPr>
              <a:t>学部でも、やりたいことでもない。</a:t>
            </a:r>
          </a:p>
        </p:txBody>
      </p:sp>
      <p:sp>
        <p:nvSpPr>
          <p:cNvPr id="4" name="Rounded Rectangle 3"/>
          <p:cNvSpPr/>
          <p:nvPr/>
        </p:nvSpPr>
        <p:spPr>
          <a:xfrm>
            <a:off x="396000" y="1224000"/>
            <a:ext cx="2951999" cy="2736000"/>
          </a:xfrm>
          <a:prstGeom prst="roundRect">
            <a:avLst>
              <a:gd name="adj" fmla="val 6000"/>
            </a:avLst>
          </a:prstGeom>
          <a:solidFill>
            <a:srgbClr val="F2F2F2"/>
          </a:solidFill>
          <a:ln w="15875">
            <a:solidFill>
              <a:srgbClr val="1C2233"/>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72000" bIns="43200"/>
          <a:lstStyle/>
          <a:p>
            <a:pPr algn="ctr">
              <a:spcAft>
                <a:spcPts val="300"/>
              </a:spcAft>
            </a:pPr>
            <a:r>
              <a:rPr sz="1200" b="1">
                <a:solidFill>
                  <a:srgbClr val="1C2233"/>
                </a:solidFill>
                <a:latin typeface="メイリオ"/>
                <a:ea typeface="メイリオ"/>
                <a:cs typeface="メイリオ"/>
              </a:rPr>
              <a:t>検索前（−15〜−4日）</a:t>
            </a:r>
          </a:p>
          <a:p>
            <a:pPr algn="ctr">
              <a:spcAft>
                <a:spcPts val="700"/>
              </a:spcAft>
            </a:pPr>
            <a:r>
              <a:rPr sz="1100" b="1">
                <a:solidFill>
                  <a:srgbClr val="1C2233"/>
                </a:solidFill>
                <a:latin typeface="メイリオ"/>
                <a:ea typeface="メイリオ"/>
                <a:cs typeface="メイリオ"/>
              </a:rPr>
              <a:t>上位〜中位の大学名</a:t>
            </a:r>
          </a:p>
          <a:p>
            <a:pPr algn="l">
              <a:lnSpc>
                <a:spcPct val="130000"/>
              </a:lnSpc>
              <a:spcAft>
                <a:spcPts val="200"/>
              </a:spcAft>
            </a:pPr>
            <a:r>
              <a:rPr sz="1050">
                <a:solidFill>
                  <a:srgbClr val="1C2233"/>
                </a:solidFill>
                <a:latin typeface="メイリオ"/>
                <a:ea typeface="メイリオ"/>
                <a:cs typeface="メイリオ"/>
              </a:rPr>
              <a:t>・東洋大学／立教大学／中央大学／明治大学</a:t>
            </a:r>
          </a:p>
          <a:p>
            <a:pPr algn="l">
              <a:lnSpc>
                <a:spcPct val="130000"/>
              </a:lnSpc>
              <a:spcAft>
                <a:spcPts val="200"/>
              </a:spcAft>
            </a:pPr>
            <a:r>
              <a:rPr sz="1050">
                <a:solidFill>
                  <a:srgbClr val="1C2233"/>
                </a:solidFill>
                <a:latin typeface="メイリオ"/>
                <a:ea typeface="メイリオ"/>
                <a:cs typeface="メイリオ"/>
              </a:rPr>
              <a:t>・明治学院大学／學習院大學／成蹊大学</a:t>
            </a:r>
          </a:p>
          <a:p>
            <a:pPr algn="l">
              <a:lnSpc>
                <a:spcPct val="130000"/>
              </a:lnSpc>
              <a:spcAft>
                <a:spcPts val="200"/>
              </a:spcAft>
            </a:pPr>
            <a:r>
              <a:rPr sz="1050">
                <a:solidFill>
                  <a:srgbClr val="1C2233"/>
                </a:solidFill>
                <a:latin typeface="メイリオ"/>
                <a:ea typeface="メイリオ"/>
                <a:cs typeface="メイリオ"/>
              </a:rPr>
              <a:t>・日東駒専／法政大学 偏差値／駒澤大学 偏差値</a:t>
            </a:r>
          </a:p>
          <a:p>
            <a:pPr algn="l">
              <a:lnSpc>
                <a:spcPct val="130000"/>
              </a:lnSpc>
              <a:spcAft>
                <a:spcPts val="200"/>
              </a:spcAft>
            </a:pPr>
            <a:r>
              <a:rPr sz="1050">
                <a:solidFill>
                  <a:srgbClr val="1C2233"/>
                </a:solidFill>
                <a:latin typeface="メイリオ"/>
                <a:ea typeface="メイリオ"/>
                <a:cs typeface="メイリオ"/>
              </a:rPr>
              <a:t>・成成明学 序列／オープンキャンパス 東京</a:t>
            </a:r>
          </a:p>
        </p:txBody>
      </p:sp>
      <p:sp>
        <p:nvSpPr>
          <p:cNvPr id="5" name="Rounded Rectangle 4"/>
          <p:cNvSpPr/>
          <p:nvPr/>
        </p:nvSpPr>
        <p:spPr>
          <a:xfrm>
            <a:off x="3491999" y="1224000"/>
            <a:ext cx="2951999" cy="2736000"/>
          </a:xfrm>
          <a:prstGeom prst="roundRect">
            <a:avLst>
              <a:gd name="adj" fmla="val 6000"/>
            </a:avLst>
          </a:prstGeom>
          <a:solidFill>
            <a:srgbClr val="FCE4D6"/>
          </a:solidFill>
          <a:ln w="15875">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72000" bIns="43200"/>
          <a:lstStyle/>
          <a:p>
            <a:pPr algn="ctr">
              <a:spcAft>
                <a:spcPts val="300"/>
              </a:spcAft>
            </a:pPr>
            <a:r>
              <a:rPr sz="1200" b="1">
                <a:solidFill>
                  <a:srgbClr val="ED7D31"/>
                </a:solidFill>
                <a:latin typeface="メイリオ"/>
                <a:ea typeface="メイリオ"/>
                <a:cs typeface="メイリオ"/>
              </a:rPr>
              <a:t>0日（起点付近）</a:t>
            </a:r>
          </a:p>
          <a:p>
            <a:pPr algn="ctr">
              <a:spcAft>
                <a:spcPts val="700"/>
              </a:spcAft>
            </a:pPr>
            <a:r>
              <a:rPr sz="1100" b="1">
                <a:solidFill>
                  <a:srgbClr val="1C2233"/>
                </a:solidFill>
                <a:latin typeface="メイリオ"/>
                <a:ea typeface="メイリオ"/>
                <a:cs typeface="メイリオ"/>
              </a:rPr>
              <a:t>中堅〜下位の大学名＋偏差値</a:t>
            </a:r>
          </a:p>
          <a:p>
            <a:pPr algn="l">
              <a:lnSpc>
                <a:spcPct val="130000"/>
              </a:lnSpc>
              <a:spcAft>
                <a:spcPts val="200"/>
              </a:spcAft>
            </a:pPr>
            <a:r>
              <a:rPr sz="1050">
                <a:solidFill>
                  <a:srgbClr val="1C2233"/>
                </a:solidFill>
                <a:latin typeface="メイリオ"/>
                <a:ea typeface="メイリオ"/>
                <a:cs typeface="メイリオ"/>
              </a:rPr>
              <a:t>・東京国際大学 偏差値／亜細亜大学</a:t>
            </a:r>
          </a:p>
          <a:p>
            <a:pPr algn="l">
              <a:lnSpc>
                <a:spcPct val="130000"/>
              </a:lnSpc>
              <a:spcAft>
                <a:spcPts val="200"/>
              </a:spcAft>
            </a:pPr>
            <a:r>
              <a:rPr sz="1050">
                <a:solidFill>
                  <a:srgbClr val="1C2233"/>
                </a:solidFill>
                <a:latin typeface="メイリオ"/>
                <a:ea typeface="メイリオ"/>
                <a:cs typeface="メイリオ"/>
              </a:rPr>
              <a:t>・帝京平成大学／東京経済大学／駿河台大学</a:t>
            </a:r>
          </a:p>
          <a:p>
            <a:pPr algn="l">
              <a:lnSpc>
                <a:spcPct val="130000"/>
              </a:lnSpc>
              <a:spcAft>
                <a:spcPts val="200"/>
              </a:spcAft>
            </a:pPr>
            <a:r>
              <a:rPr sz="1050">
                <a:solidFill>
                  <a:srgbClr val="1C2233"/>
                </a:solidFill>
                <a:latin typeface="メイリオ"/>
                <a:ea typeface="メイリオ"/>
                <a:cs typeface="メイリオ"/>
              </a:rPr>
              <a:t>・大東亜帝国／共栄大学／聖学院大学</a:t>
            </a:r>
          </a:p>
          <a:p>
            <a:pPr algn="l">
              <a:lnSpc>
                <a:spcPct val="130000"/>
              </a:lnSpc>
              <a:spcAft>
                <a:spcPts val="200"/>
              </a:spcAft>
            </a:pPr>
            <a:r>
              <a:rPr sz="1050">
                <a:solidFill>
                  <a:srgbClr val="1C2233"/>
                </a:solidFill>
                <a:latin typeface="メイリオ"/>
                <a:ea typeface="メイリオ"/>
                <a:cs typeface="メイリオ"/>
              </a:rPr>
              <a:t>・定員割れの大学一覧（−2日）</a:t>
            </a:r>
          </a:p>
        </p:txBody>
      </p:sp>
      <p:sp>
        <p:nvSpPr>
          <p:cNvPr id="6" name="Rounded Rectangle 5"/>
          <p:cNvSpPr/>
          <p:nvPr/>
        </p:nvSpPr>
        <p:spPr>
          <a:xfrm>
            <a:off x="6588000" y="1224000"/>
            <a:ext cx="2951999" cy="2736000"/>
          </a:xfrm>
          <a:prstGeom prst="roundRect">
            <a:avLst>
              <a:gd name="adj" fmla="val 6000"/>
            </a:avLst>
          </a:prstGeom>
          <a:solidFill>
            <a:srgbClr val="F4F7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72000" bIns="43200"/>
          <a:lstStyle/>
          <a:p>
            <a:pPr algn="ctr">
              <a:spcAft>
                <a:spcPts val="300"/>
              </a:spcAft>
            </a:pPr>
            <a:r>
              <a:rPr sz="1200" b="1">
                <a:solidFill>
                  <a:srgbClr val="1F285A"/>
                </a:solidFill>
                <a:latin typeface="メイリオ"/>
                <a:ea typeface="メイリオ"/>
                <a:cs typeface="メイリオ"/>
              </a:rPr>
              <a:t>検索後（+1〜+15日）</a:t>
            </a:r>
          </a:p>
          <a:p>
            <a:pPr algn="ctr">
              <a:spcAft>
                <a:spcPts val="700"/>
              </a:spcAft>
            </a:pPr>
            <a:r>
              <a:rPr sz="1100" b="1">
                <a:solidFill>
                  <a:srgbClr val="1C2233"/>
                </a:solidFill>
                <a:latin typeface="メイリオ"/>
                <a:ea typeface="メイリオ"/>
                <a:cs typeface="メイリオ"/>
              </a:rPr>
              <a:t>オープンキャンパス・学部・キャンパス</a:t>
            </a:r>
          </a:p>
          <a:p>
            <a:pPr algn="l">
              <a:lnSpc>
                <a:spcPct val="130000"/>
              </a:lnSpc>
              <a:spcAft>
                <a:spcPts val="200"/>
              </a:spcAft>
            </a:pPr>
            <a:r>
              <a:rPr sz="1050">
                <a:solidFill>
                  <a:srgbClr val="1C2233"/>
                </a:solidFill>
                <a:latin typeface="メイリオ"/>
                <a:ea typeface="メイリオ"/>
                <a:cs typeface="メイリオ"/>
              </a:rPr>
              <a:t>・東洋大学 オープンキャンパス2025</a:t>
            </a:r>
          </a:p>
          <a:p>
            <a:pPr algn="l">
              <a:lnSpc>
                <a:spcPct val="130000"/>
              </a:lnSpc>
              <a:spcAft>
                <a:spcPts val="200"/>
              </a:spcAft>
            </a:pPr>
            <a:r>
              <a:rPr sz="1050">
                <a:solidFill>
                  <a:srgbClr val="1C2233"/>
                </a:solidFill>
                <a:latin typeface="メイリオ"/>
                <a:ea typeface="メイリオ"/>
                <a:cs typeface="メイリオ"/>
              </a:rPr>
              <a:t>・成蹊大学・日本大学 オープンキャンパス</a:t>
            </a:r>
          </a:p>
          <a:p>
            <a:pPr algn="l">
              <a:lnSpc>
                <a:spcPct val="130000"/>
              </a:lnSpc>
              <a:spcAft>
                <a:spcPts val="200"/>
              </a:spcAft>
            </a:pPr>
            <a:r>
              <a:rPr sz="1050">
                <a:solidFill>
                  <a:srgbClr val="1C2233"/>
                </a:solidFill>
                <a:latin typeface="メイリオ"/>
                <a:ea typeface="メイリオ"/>
                <a:cs typeface="メイリオ"/>
              </a:rPr>
              <a:t>・東洋大学 学部／専修大学 生田キャンパス</a:t>
            </a:r>
          </a:p>
          <a:p>
            <a:pPr algn="l">
              <a:lnSpc>
                <a:spcPct val="130000"/>
              </a:lnSpc>
              <a:spcAft>
                <a:spcPts val="200"/>
              </a:spcAft>
            </a:pPr>
            <a:r>
              <a:rPr sz="1050">
                <a:solidFill>
                  <a:srgbClr val="1C2233"/>
                </a:solidFill>
                <a:latin typeface="メイリオ"/>
                <a:ea typeface="メイリオ"/>
                <a:cs typeface="メイリオ"/>
              </a:rPr>
              <a:t>・城西大学駅伝部／国士舘大学 野球部（スポーツ推薦の導線）</a:t>
            </a:r>
          </a:p>
        </p:txBody>
      </p:sp>
      <p:sp>
        <p:nvSpPr>
          <p:cNvPr id="7" name="Rounded Rectangle 6"/>
          <p:cNvSpPr/>
          <p:nvPr/>
        </p:nvSpPr>
        <p:spPr>
          <a:xfrm>
            <a:off x="522000" y="3491999"/>
            <a:ext cx="2700000" cy="360000"/>
          </a:xfrm>
          <a:prstGeom prst="roundRect">
            <a:avLst>
              <a:gd name="adj" fmla="val 1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2000" y="3491999"/>
            <a:ext cx="2700000" cy="360000"/>
          </a:xfrm>
          <a:prstGeom prst="rect">
            <a:avLst/>
          </a:prstGeom>
          <a:noFill/>
        </p:spPr>
        <p:txBody>
          <a:bodyPr wrap="square" lIns="0" rIns="0" tIns="21600" bIns="21600" anchor="ctr">
            <a:spAutoFit/>
          </a:bodyPr>
          <a:lstStyle/>
          <a:p>
            <a:pPr algn="ctr"/>
            <a:r>
              <a:rPr sz="1200" b="1">
                <a:solidFill>
                  <a:srgbClr val="FFFFFF"/>
                </a:solidFill>
                <a:latin typeface="メイリオ"/>
                <a:ea typeface="メイリオ"/>
                <a:cs typeface="メイリオ"/>
              </a:rPr>
              <a:t>▶ 仕掛けるのはここ（友だち化）</a:t>
            </a:r>
          </a:p>
        </p:txBody>
      </p:sp>
      <p:sp>
        <p:nvSpPr>
          <p:cNvPr id="9" name="Rounded Rectangle 8"/>
          <p:cNvSpPr/>
          <p:nvPr/>
        </p:nvSpPr>
        <p:spPr>
          <a:xfrm>
            <a:off x="396000" y="4104000"/>
            <a:ext cx="4464000" cy="129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1F285A"/>
                </a:solidFill>
                <a:latin typeface="メイリオ"/>
                <a:ea typeface="メイリオ"/>
                <a:cs typeface="メイリオ"/>
              </a:rPr>
              <a:t>① 志望校は「下方修正の過程」で決まる</a:t>
            </a:r>
          </a:p>
          <a:p>
            <a:pPr algn="l">
              <a:lnSpc>
                <a:spcPct val="120000"/>
              </a:lnSpc>
              <a:spcAft>
                <a:spcPts val="200"/>
              </a:spcAft>
            </a:pPr>
            <a:r>
              <a:rPr sz="1100">
                <a:solidFill>
                  <a:srgbClr val="1C2233"/>
                </a:solidFill>
                <a:latin typeface="メイリオ"/>
                <a:ea typeface="メイリオ"/>
                <a:cs typeface="メイリオ"/>
              </a:rPr>
              <a:t>−7日＝MARCH・成成明学 → 0日＝大東亜帝国・地方中小私大。</a:t>
            </a:r>
          </a:p>
          <a:p>
            <a:pPr algn="l">
              <a:lnSpc>
                <a:spcPct val="120000"/>
              </a:lnSpc>
              <a:spcAft>
                <a:spcPts val="200"/>
              </a:spcAft>
            </a:pPr>
            <a:r>
              <a:rPr sz="1100">
                <a:solidFill>
                  <a:srgbClr val="1C2233"/>
                </a:solidFill>
                <a:latin typeface="メイリオ"/>
                <a:ea typeface="メイリオ"/>
                <a:cs typeface="メイリオ"/>
              </a:rPr>
              <a:t>時間が経つほど偏差値帯が下がっていく。上から順に降りてきている。</a:t>
            </a:r>
          </a:p>
        </p:txBody>
      </p:sp>
      <p:sp>
        <p:nvSpPr>
          <p:cNvPr id="10" name="Rounded Rectangle 9"/>
          <p:cNvSpPr/>
          <p:nvPr/>
        </p:nvSpPr>
        <p:spPr>
          <a:xfrm>
            <a:off x="5076000" y="4104000"/>
            <a:ext cx="4464000" cy="1296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ED7D31"/>
                </a:solidFill>
                <a:latin typeface="メイリオ"/>
                <a:ea typeface="メイリオ"/>
                <a:cs typeface="メイリオ"/>
              </a:rPr>
              <a:t>② OCは入口ではなく「絞り込み後の確認」</a:t>
            </a:r>
          </a:p>
          <a:p>
            <a:pPr algn="l">
              <a:lnSpc>
                <a:spcPct val="120000"/>
              </a:lnSpc>
              <a:spcAft>
                <a:spcPts val="200"/>
              </a:spcAft>
            </a:pPr>
            <a:r>
              <a:rPr sz="1100">
                <a:solidFill>
                  <a:srgbClr val="1C2233"/>
                </a:solidFill>
                <a:latin typeface="メイリオ"/>
                <a:ea typeface="メイリオ"/>
                <a:cs typeface="メイリオ"/>
              </a:rPr>
              <a:t>大学名のOC検索が立つのは +1〜+7日。</a:t>
            </a:r>
          </a:p>
          <a:p>
            <a:pPr algn="l">
              <a:lnSpc>
                <a:spcPct val="120000"/>
              </a:lnSpc>
              <a:spcAft>
                <a:spcPts val="200"/>
              </a:spcAft>
            </a:pPr>
            <a:r>
              <a:rPr sz="1100">
                <a:solidFill>
                  <a:srgbClr val="1C2233"/>
                </a:solidFill>
                <a:latin typeface="メイリオ"/>
                <a:ea typeface="メイリオ"/>
                <a:cs typeface="メイリオ"/>
              </a:rPr>
              <a:t>＝ OC予約を取る勝負は、偏差値で群に仕分けられる「前」に始まっている。</a:t>
            </a:r>
          </a:p>
        </p:txBody>
      </p:sp>
      <p:sp>
        <p:nvSpPr>
          <p:cNvPr id="11" name="TextBox 10"/>
          <p:cNvSpPr txBox="1"/>
          <p:nvPr/>
        </p:nvSpPr>
        <p:spPr>
          <a:xfrm>
            <a:off x="396000" y="5950800"/>
            <a:ext cx="9144000" cy="705600"/>
          </a:xfrm>
          <a:prstGeom prst="rect">
            <a:avLst/>
          </a:prstGeom>
          <a:noFill/>
        </p:spPr>
        <p:txBody>
          <a:bodyPr wrap="square" lIns="0" rIns="0" tIns="21600" bIns="21600" anchor="t">
            <a:spAutoFit/>
          </a:bodyPr>
          <a:lstStyle/>
          <a:p>
            <a:pPr algn="l">
              <a:lnSpc>
                <a:spcPct val="120000"/>
              </a:lnSpc>
            </a:pPr>
            <a:r>
              <a:rPr sz="900">
                <a:solidFill>
                  <a:srgbClr val="646C82"/>
                </a:solidFill>
                <a:latin typeface="メイリオ"/>
                <a:ea typeface="メイリオ"/>
                <a:cs typeface="メイリオ"/>
              </a:rPr>
              <a:t>※ 出典：LINEヤフー media Journey（2026-09-15取得）。【起点KWが未確認。確定後に本ページを更新する】</a:t>
            </a:r>
          </a:p>
          <a:p>
            <a:pPr algn="l">
              <a:lnSpc>
                <a:spcPct val="120000"/>
              </a:lnSpc>
            </a:pPr>
            <a:r>
              <a:rPr sz="900">
                <a:solidFill>
                  <a:srgbClr val="646C82"/>
                </a:solidFill>
                <a:latin typeface="メイリオ"/>
                <a:ea typeface="メイリオ"/>
                <a:cs typeface="メイリオ"/>
              </a:rPr>
              <a:t>※ 地域は埼玉西部〜北部の高校生が中心（川越・所沢・大宮・春日部・熊谷・坂戸・東松山）＝通学圏が検討の主軸であることの裏付け。</a:t>
            </a:r>
          </a:p>
          <a:p>
            <a:pPr algn="l">
              <a:lnSpc>
                <a:spcPct val="120000"/>
              </a:lnSpc>
            </a:pPr>
            <a:r>
              <a:rPr sz="900">
                <a:solidFill>
                  <a:srgbClr val="646C82"/>
                </a:solidFill>
                <a:latin typeface="メイリオ"/>
                <a:ea typeface="メイリオ"/>
                <a:cs typeface="メイリオ"/>
              </a:rPr>
              <a:t>※ 競合実名を含むため、社外提示は学内確認のうえ。</a:t>
            </a:r>
          </a:p>
        </p:txBody>
      </p:sp>
    </p:spTree>
    <p:extLst>
      <p:ext uri="{BB962C8B-B14F-4D97-AF65-F5344CB8AC3E}">
        <p14:creationId xmlns:p14="http://schemas.microsoft.com/office/powerpoint/2010/main" val="36910070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前後検索（補足）｜学費の検索は「後」に来る。ただし専門学校は「前」にも来る</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教育4業界（塾・通信制高校・大学・専門学校）の前後検索で確認。ただし専門学校は例外がある。</a:t>
            </a:r>
          </a:p>
          <a:p>
            <a:pPr algn="l">
              <a:lnSpc>
                <a:spcPct val="122000"/>
              </a:lnSpc>
            </a:pPr>
            <a:r>
              <a:rPr sz="1500">
                <a:solidFill>
                  <a:srgbClr val="646C82"/>
                </a:solidFill>
                <a:latin typeface="メイリオ"/>
                <a:ea typeface="メイリオ"/>
                <a:cs typeface="メイリオ"/>
              </a:rPr>
              <a:t>＝ 専門学校は「奨学金」が起点の7日前にも最大級で立つ。お金の不安が検討を前後から挟む。</a:t>
            </a:r>
          </a:p>
        </p:txBody>
      </p:sp>
      <p:graphicFrame>
        <p:nvGraphicFramePr>
          <p:cNvPr id="4" name="Table 3"/>
          <p:cNvGraphicFramePr>
            <a:graphicFrameLocks noGrp="1"/>
          </p:cNvGraphicFramePr>
          <p:nvPr/>
        </p:nvGraphicFramePr>
        <p:xfrm>
          <a:off x="396000" y="1224000"/>
          <a:ext cx="9144000" cy="2448000"/>
        </p:xfrm>
        <a:graphic>
          <a:graphicData uri="http://schemas.openxmlformats.org/drawingml/2006/table">
            <a:tbl>
              <a:tblPr firstRow="1" bandRow="1">
                <a:tableStyleId>{5C22544A-7EE6-4342-B048-85BDC9FD1C3A}</a:tableStyleId>
              </a:tblPr>
              <a:tblGrid>
                <a:gridCol w="1296000"/>
                <a:gridCol w="1584000"/>
                <a:gridCol w="1944000"/>
                <a:gridCol w="4320000"/>
              </a:tblGrid>
              <a:tr h="612000">
                <a:tc>
                  <a:txBody>
                    <a:bodyPr wrap="square" lIns="50400" rIns="50400" tIns="10800" bIns="10800" anchor="ctr"/>
                    <a:lstStyle/>
                    <a:p>
                      <a:pPr algn="ctr"/>
                      <a:r>
                        <a:rPr sz="1200" b="1">
                          <a:solidFill>
                            <a:srgbClr val="FFFFFF"/>
                          </a:solidFill>
                          <a:latin typeface="メイリオ"/>
                          <a:ea typeface="メイリオ"/>
                          <a:cs typeface="メイリオ"/>
                        </a:rPr>
                        <a:t>業界</a:t>
                      </a:r>
                    </a:p>
                  </a:txBody>
                  <a:tcPr anchor="ctr">
                    <a:solidFill>
                      <a:srgbClr val="1F285A"/>
                    </a:solidFill>
                  </a:tcPr>
                </a:tc>
                <a:tc>
                  <a:txBody>
                    <a:bodyPr wrap="square" lIns="50400" rIns="50400" tIns="10800" bIns="10800" anchor="ctr"/>
                    <a:lstStyle/>
                    <a:p>
                      <a:pPr algn="ctr"/>
                      <a:r>
                        <a:rPr sz="1200" b="1">
                          <a:solidFill>
                            <a:srgbClr val="FFFFFF"/>
                          </a:solidFill>
                          <a:latin typeface="メイリオ"/>
                          <a:ea typeface="メイリオ"/>
                          <a:cs typeface="メイリオ"/>
                        </a:rPr>
                        <a:t>起点KW</a:t>
                      </a:r>
                    </a:p>
                  </a:txBody>
                  <a:tcPr anchor="ctr">
                    <a:solidFill>
                      <a:srgbClr val="1F285A"/>
                    </a:solidFill>
                  </a:tcPr>
                </a:tc>
                <a:tc>
                  <a:txBody>
                    <a:bodyPr wrap="square" lIns="50400" rIns="50400" tIns="10800" bIns="10800" anchor="ctr"/>
                    <a:lstStyle/>
                    <a:p>
                      <a:pPr algn="ctr"/>
                      <a:r>
                        <a:rPr sz="1200" b="1">
                          <a:solidFill>
                            <a:srgbClr val="FFFFFF"/>
                          </a:solidFill>
                          <a:latin typeface="メイリオ"/>
                          <a:ea typeface="メイリオ"/>
                          <a:cs typeface="メイリオ"/>
                        </a:rPr>
                        <a:t>お金の検索が立つ位置</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示唆</a:t>
                      </a:r>
                    </a:p>
                  </a:txBody>
                  <a:tcPr anchor="ctr">
                    <a:solidFill>
                      <a:srgbClr val="1F285A"/>
                    </a:solidFill>
                  </a:tcPr>
                </a:tc>
              </a:tr>
              <a:tr h="612000">
                <a:tc>
                  <a:txBody>
                    <a:bodyPr wrap="square" lIns="50400" rIns="50400" tIns="10800" bIns="10800" anchor="ctr"/>
                    <a:lstStyle/>
                    <a:p>
                      <a:pPr algn="ctr"/>
                      <a:r>
                        <a:rPr sz="1100">
                          <a:solidFill>
                            <a:srgbClr val="1C2233"/>
                          </a:solidFill>
                          <a:latin typeface="メイリオ"/>
                          <a:ea typeface="メイリオ"/>
                          <a:cs typeface="メイリオ"/>
                        </a:rPr>
                        <a:t>教育（塾）</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塾 費用</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+1.6日（決断の後）</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最初の問いは「いくら」ではなく「いつから」。関連度1位は「塾 いつから通わせる」4.98</a:t>
                      </a:r>
                    </a:p>
                  </a:txBody>
                  <a:tcPr anchor="ctr">
                    <a:solidFill>
                      <a:srgbClr val="FFFFFF"/>
                    </a:solidFill>
                  </a:tcPr>
                </a:tc>
              </a:tr>
              <a:tr h="612000">
                <a:tc>
                  <a:txBody>
                    <a:bodyPr wrap="square" lIns="50400" rIns="50400" tIns="10800" bIns="10800" anchor="ctr"/>
                    <a:lstStyle/>
                    <a:p>
                      <a:pPr algn="ctr"/>
                      <a:r>
                        <a:rPr sz="1100">
                          <a:solidFill>
                            <a:srgbClr val="1C2233"/>
                          </a:solidFill>
                          <a:latin typeface="メイリオ"/>
                          <a:ea typeface="メイリオ"/>
                          <a:cs typeface="メイリオ"/>
                        </a:rPr>
                        <a:t>通信制高校</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通信制高校</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学校名の直後（+1日以降）</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前半15日は学校選びですらない（不登校・起立性調節障害＝医療と心理の悩み）</a:t>
                      </a:r>
                    </a:p>
                  </a:txBody>
                  <a:tcPr anchor="ctr">
                    <a:solidFill>
                      <a:srgbClr val="F4F7FF"/>
                    </a:solidFill>
                  </a:tcPr>
                </a:tc>
              </a:tr>
              <a:tr h="612000">
                <a:tc>
                  <a:txBody>
                    <a:bodyPr wrap="square" lIns="50400" rIns="50400" tIns="10800" bIns="10800" anchor="ctr"/>
                    <a:lstStyle/>
                    <a:p>
                      <a:pPr algn="ctr"/>
                      <a:r>
                        <a:rPr sz="1100">
                          <a:solidFill>
                            <a:srgbClr val="1C2233"/>
                          </a:solidFill>
                          <a:latin typeface="メイリオ"/>
                          <a:ea typeface="メイリオ"/>
                          <a:cs typeface="メイリオ"/>
                        </a:rPr>
                        <a:t>大学</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大学名・偏差値系</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学校名を調べた後</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0日前後は「大学名＋偏差値」。学費は絞り込みの後に確認される</a:t>
                      </a:r>
                    </a:p>
                  </a:txBody>
                  <a:tcPr anchor="ctr">
                    <a:solidFill>
                      <a:srgbClr val="FFFFFF"/>
                    </a:solidFill>
                  </a:tcPr>
                </a:tc>
              </a:tr>
            </a:tbl>
          </a:graphicData>
        </a:graphic>
      </p:graphicFrame>
      <p:sp>
        <p:nvSpPr>
          <p:cNvPr id="5" name="Rounded Rectangle 4"/>
          <p:cNvSpPr/>
          <p:nvPr/>
        </p:nvSpPr>
        <p:spPr>
          <a:xfrm>
            <a:off x="396000" y="3528000"/>
            <a:ext cx="4464000" cy="1800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ED7D31"/>
                </a:solidFill>
                <a:latin typeface="メイリオ"/>
                <a:ea typeface="メイリオ"/>
                <a:cs typeface="メイリオ"/>
              </a:rPr>
              <a:t>打ち手：入口は「いつ・自分に合うか」で開く</a:t>
            </a:r>
          </a:p>
          <a:p>
            <a:pPr algn="l">
              <a:lnSpc>
                <a:spcPct val="120000"/>
              </a:lnSpc>
              <a:spcAft>
                <a:spcPts val="200"/>
              </a:spcAft>
            </a:pPr>
            <a:r>
              <a:rPr sz="1100">
                <a:solidFill>
                  <a:srgbClr val="1C2233"/>
                </a:solidFill>
                <a:latin typeface="メイリオ"/>
                <a:ea typeface="メイリオ"/>
                <a:cs typeface="メイリオ"/>
              </a:rPr>
              <a:t>入口＝30秒の学部学科診断（名前も電話番号も入力しない）。</a:t>
            </a:r>
          </a:p>
          <a:p>
            <a:pPr algn="l">
              <a:lnSpc>
                <a:spcPct val="120000"/>
              </a:lnSpc>
              <a:spcAft>
                <a:spcPts val="200"/>
              </a:spcAft>
            </a:pPr>
            <a:r>
              <a:rPr sz="1100">
                <a:solidFill>
                  <a:srgbClr val="1C2233"/>
                </a:solidFill>
                <a:latin typeface="メイリオ"/>
                <a:ea typeface="メイリオ"/>
                <a:cs typeface="メイリオ"/>
              </a:rPr>
              <a:t>学費・奨学金は、診断結果の「後半」に置く。</a:t>
            </a:r>
          </a:p>
          <a:p>
            <a:pPr algn="l">
              <a:lnSpc>
                <a:spcPct val="120000"/>
              </a:lnSpc>
              <a:spcAft>
                <a:spcPts val="200"/>
              </a:spcAft>
            </a:pPr>
            <a:r>
              <a:rPr sz="1100">
                <a:solidFill>
                  <a:srgbClr val="1C2233"/>
                </a:solidFill>
                <a:latin typeface="メイリオ"/>
                <a:ea typeface="メイリオ"/>
                <a:cs typeface="メイリオ"/>
              </a:rPr>
              <a:t>先に費用を出すと、比較の土俵に乗る前に離脱する。</a:t>
            </a:r>
          </a:p>
        </p:txBody>
      </p:sp>
      <p:sp>
        <p:nvSpPr>
          <p:cNvPr id="6" name="Rounded Rectangle 5"/>
          <p:cNvSpPr/>
          <p:nvPr/>
        </p:nvSpPr>
        <p:spPr>
          <a:xfrm>
            <a:off x="5076000" y="3528000"/>
            <a:ext cx="4464000" cy="180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1F285A"/>
                </a:solidFill>
                <a:latin typeface="メイリオ"/>
                <a:ea typeface="メイリオ"/>
                <a:cs typeface="メイリオ"/>
              </a:rPr>
              <a:t>ただし保護者には「先に」出す</a:t>
            </a:r>
          </a:p>
          <a:p>
            <a:pPr algn="l">
              <a:lnSpc>
                <a:spcPct val="120000"/>
              </a:lnSpc>
              <a:spcAft>
                <a:spcPts val="200"/>
              </a:spcAft>
            </a:pPr>
            <a:r>
              <a:rPr sz="1100">
                <a:solidFill>
                  <a:srgbClr val="1C2233"/>
                </a:solidFill>
                <a:latin typeface="メイリオ"/>
                <a:ea typeface="メイリオ"/>
                <a:cs typeface="メイリオ"/>
              </a:rPr>
              <a:t>この業界は決める人（高校生）と払う人（保護者）が違う。</a:t>
            </a:r>
          </a:p>
          <a:p>
            <a:pPr algn="l">
              <a:lnSpc>
                <a:spcPct val="120000"/>
              </a:lnSpc>
              <a:spcAft>
                <a:spcPts val="200"/>
              </a:spcAft>
            </a:pPr>
            <a:r>
              <a:rPr sz="1100">
                <a:solidFill>
                  <a:srgbClr val="1C2233"/>
                </a:solidFill>
                <a:latin typeface="メイリオ"/>
                <a:ea typeface="メイリオ"/>
                <a:cs typeface="メイリオ"/>
              </a:rPr>
              <a:t>リッチメニューの保護者タブは、左上に</a:t>
            </a:r>
          </a:p>
          <a:p>
            <a:pPr algn="l">
              <a:lnSpc>
                <a:spcPct val="120000"/>
              </a:lnSpc>
              <a:spcAft>
                <a:spcPts val="200"/>
              </a:spcAft>
            </a:pPr>
            <a:r>
              <a:rPr sz="1100">
                <a:solidFill>
                  <a:srgbClr val="1C2233"/>
                </a:solidFill>
                <a:latin typeface="メイリオ"/>
                <a:ea typeface="メイリオ"/>
                <a:cs typeface="メイリオ"/>
              </a:rPr>
              <a:t>「4年間の学費シミュレーション」を置く。順番が逆になる。</a:t>
            </a:r>
          </a:p>
        </p:txBody>
      </p:sp>
      <p:sp>
        <p:nvSpPr>
          <p:cNvPr id="7" name="Rectangle 6"/>
          <p:cNvSpPr/>
          <p:nvPr/>
        </p:nvSpPr>
        <p:spPr>
          <a:xfrm>
            <a:off x="396000" y="5544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2000" y="5544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00" y="5623200"/>
            <a:ext cx="8820000" cy="324000"/>
          </a:xfrm>
          <a:prstGeom prst="rect">
            <a:avLst/>
          </a:prstGeom>
          <a:noFill/>
        </p:spPr>
        <p:txBody>
          <a:bodyPr wrap="square" lIns="0" rIns="0" tIns="21600" bIns="21600" anchor="ctr">
            <a:spAutoFit/>
          </a:bodyPr>
          <a:lstStyle/>
          <a:p>
            <a:pPr algn="l"/>
            <a:r>
              <a:rPr sz="1400" b="1">
                <a:solidFill>
                  <a:srgbClr val="1C2233"/>
                </a:solidFill>
                <a:latin typeface="メイリオ"/>
                <a:ea typeface="メイリオ"/>
                <a:cs typeface="メイリオ"/>
              </a:rPr>
              <a:t>本人には「合うか」を、保護者には「総額」を。同じアカウントで、出し分ける。</a:t>
            </a:r>
          </a:p>
        </p:txBody>
      </p:sp>
      <p:sp>
        <p:nvSpPr>
          <p:cNvPr id="10" name="TextBox 9"/>
          <p:cNvSpPr txBox="1"/>
          <p:nvPr/>
        </p:nvSpPr>
        <p:spPr>
          <a:xfrm>
            <a:off x="396000" y="6138000"/>
            <a:ext cx="9144000" cy="518400"/>
          </a:xfrm>
          <a:prstGeom prst="rect">
            <a:avLst/>
          </a:prstGeom>
          <a:noFill/>
        </p:spPr>
        <p:txBody>
          <a:bodyPr wrap="square" lIns="0" rIns="0" tIns="21600" bIns="21600" anchor="t">
            <a:spAutoFit/>
          </a:bodyPr>
          <a:lstStyle/>
          <a:p>
            <a:pPr algn="l">
              <a:lnSpc>
                <a:spcPct val="120000"/>
              </a:lnSpc>
            </a:pPr>
            <a:r>
              <a:rPr sz="900">
                <a:solidFill>
                  <a:srgbClr val="646C82"/>
                </a:solidFill>
                <a:latin typeface="メイリオ"/>
                <a:ea typeface="メイリオ"/>
                <a:cs typeface="メイリオ"/>
              </a:rPr>
              <a:t>※ 出典：LINEヤフー media Journey（塾＝2026-09-15取得・起点「塾 費用」／通信制高校・大学＝2026-09-15取得）。</a:t>
            </a:r>
          </a:p>
          <a:p>
            <a:pPr algn="l">
              <a:lnSpc>
                <a:spcPct val="120000"/>
              </a:lnSpc>
            </a:pPr>
            <a:r>
              <a:rPr sz="900">
                <a:solidFill>
                  <a:srgbClr val="646C82"/>
                </a:solidFill>
                <a:latin typeface="メイリオ"/>
                <a:ea typeface="メイリオ"/>
                <a:cs typeface="メイリオ"/>
              </a:rPr>
              <a:t>※ 専門学校・柔道整復師ほか8KWを2026-09-23に追加取得。専門学校は奨学金・教育ローンが起点前にも立つ（詳細は分析メモ）。</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A5BF9CF-DABE-18D1-6B28-2A955BBABF7C}"/>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8521066C-FFDA-B384-2E51-56A4C461EF3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600" dirty="0">
                <a:solidFill>
                  <a:srgbClr val="343434"/>
                </a:solidFill>
                <a:latin typeface="メイリオ" panose="020B0604030504040204" pitchFamily="50" charset="-128"/>
                <a:ea typeface="メイリオ" panose="020B0604030504040204" pitchFamily="50" charset="-128"/>
              </a:rPr>
              <a:t>一般的な8フェーズを、学校法人（大学・専門学校）に当てはめるとこうなる。</a:t>
            </a:r>
          </a:p>
          <a:p>
            <a:pPr algn="ctr">
              <a:lnSpc>
                <a:spcPts val="2455"/>
              </a:lnSpc>
            </a:pPr>
            <a:r>
              <a:rPr lang="ja-JP" altLang="en-US" sz="1600" dirty="0">
                <a:solidFill>
                  <a:srgbClr val="343434"/>
                </a:solidFill>
                <a:latin typeface="メイリオ" panose="020B0604030504040204" pitchFamily="50" charset="-128"/>
                <a:ea typeface="メイリオ" panose="020B0604030504040204" pitchFamily="50" charset="-128"/>
              </a:rPr>
              <a:t>④資料請求と⑤オープンキャンパス参加の間が最も落ちる。ここに「匿名で聞ける」入口を置く。</a:t>
            </a:r>
          </a:p>
        </p:txBody>
      </p:sp>
      <p:cxnSp>
        <p:nvCxnSpPr>
          <p:cNvPr id="5" name="直線コネクタ 4">
            <a:extLst>
              <a:ext uri="{FF2B5EF4-FFF2-40B4-BE49-F238E27FC236}">
                <a16:creationId xmlns:a16="http://schemas.microsoft.com/office/drawing/2014/main" id="{B43B9AF0-6B1E-A342-438B-2E30C285E29D}"/>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F4F417D4-4BDF-E609-F703-DA8A26BF0E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想定のユーザーニーズ・インサイトの変化と施策方針</a:t>
            </a:r>
            <a:endParaRPr sz="1600" b="1" dirty="0">
              <a:solidFill>
                <a:srgbClr val="002060"/>
              </a:solidFill>
              <a:latin typeface="メイリオ"/>
              <a:ea typeface="メイリオ"/>
              <a:cs typeface="Meiryo"/>
              <a:sym typeface="Meiryo"/>
            </a:endParaRPr>
          </a:p>
        </p:txBody>
      </p:sp>
      <p:sp>
        <p:nvSpPr>
          <p:cNvPr id="31" name="正方形/長方形 30">
            <a:extLst>
              <a:ext uri="{FF2B5EF4-FFF2-40B4-BE49-F238E27FC236}">
                <a16:creationId xmlns:a16="http://schemas.microsoft.com/office/drawing/2014/main" id="{028C25A8-9FA6-9871-A97E-771FBA04FEF8}"/>
              </a:ext>
            </a:extLst>
          </p:cNvPr>
          <p:cNvSpPr/>
          <p:nvPr/>
        </p:nvSpPr>
        <p:spPr>
          <a:xfrm>
            <a:off x="334302" y="2523617"/>
            <a:ext cx="9425943" cy="231294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2" name="直線コネクタ 31">
            <a:extLst>
              <a:ext uri="{FF2B5EF4-FFF2-40B4-BE49-F238E27FC236}">
                <a16:creationId xmlns:a16="http://schemas.microsoft.com/office/drawing/2014/main" id="{3488C4F8-93FE-6F57-E3A9-E7EB0E334B73}"/>
              </a:ext>
            </a:extLst>
          </p:cNvPr>
          <p:cNvCxnSpPr>
            <a:cxnSpLocks/>
          </p:cNvCxnSpPr>
          <p:nvPr/>
        </p:nvCxnSpPr>
        <p:spPr>
          <a:xfrm>
            <a:off x="315939" y="155179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C419B618-60A9-3C77-5074-3E01A065FABD}"/>
              </a:ext>
            </a:extLst>
          </p:cNvPr>
          <p:cNvCxnSpPr>
            <a:cxnSpLocks/>
          </p:cNvCxnSpPr>
          <p:nvPr/>
        </p:nvCxnSpPr>
        <p:spPr>
          <a:xfrm>
            <a:off x="1265077" y="156366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65065F05-BC5D-01D1-5CD8-171A7D29CE07}"/>
              </a:ext>
            </a:extLst>
          </p:cNvPr>
          <p:cNvCxnSpPr>
            <a:cxnSpLocks/>
          </p:cNvCxnSpPr>
          <p:nvPr/>
        </p:nvCxnSpPr>
        <p:spPr>
          <a:xfrm>
            <a:off x="2202413" y="156101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C3335872-8B1B-0399-4819-4550CFCC7F3A}"/>
              </a:ext>
            </a:extLst>
          </p:cNvPr>
          <p:cNvCxnSpPr>
            <a:cxnSpLocks/>
          </p:cNvCxnSpPr>
          <p:nvPr/>
        </p:nvCxnSpPr>
        <p:spPr>
          <a:xfrm>
            <a:off x="3136468" y="158033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3385A133-7C08-9BB7-4412-7F7648A79076}"/>
              </a:ext>
            </a:extLst>
          </p:cNvPr>
          <p:cNvCxnSpPr>
            <a:cxnSpLocks/>
          </p:cNvCxnSpPr>
          <p:nvPr/>
        </p:nvCxnSpPr>
        <p:spPr>
          <a:xfrm>
            <a:off x="3541980" y="159091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712B341B-CA1A-5342-6C1D-E3CA48B9C87C}"/>
              </a:ext>
            </a:extLst>
          </p:cNvPr>
          <p:cNvCxnSpPr>
            <a:cxnSpLocks/>
          </p:cNvCxnSpPr>
          <p:nvPr/>
        </p:nvCxnSpPr>
        <p:spPr>
          <a:xfrm>
            <a:off x="4833781" y="160278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a16:creationId xmlns:a16="http://schemas.microsoft.com/office/drawing/2014/main" id="{7A4BA556-4AA0-E77F-1F32-D7CAE4E43670}"/>
              </a:ext>
            </a:extLst>
          </p:cNvPr>
          <p:cNvCxnSpPr>
            <a:cxnSpLocks/>
          </p:cNvCxnSpPr>
          <p:nvPr/>
        </p:nvCxnSpPr>
        <p:spPr>
          <a:xfrm>
            <a:off x="6125582" y="160014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a16:creationId xmlns:a16="http://schemas.microsoft.com/office/drawing/2014/main" id="{13E90D95-9004-7E47-BB2D-FC12AD86943C}"/>
              </a:ext>
            </a:extLst>
          </p:cNvPr>
          <p:cNvCxnSpPr>
            <a:cxnSpLocks/>
          </p:cNvCxnSpPr>
          <p:nvPr/>
        </p:nvCxnSpPr>
        <p:spPr>
          <a:xfrm>
            <a:off x="7417384" y="159091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DB945B56-A37B-98FE-70DB-6E3D5E2DF966}"/>
              </a:ext>
            </a:extLst>
          </p:cNvPr>
          <p:cNvSpPr txBox="1"/>
          <p:nvPr/>
        </p:nvSpPr>
        <p:spPr>
          <a:xfrm>
            <a:off x="3542139" y="149714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B3932B8-37B9-C510-A29E-82B1B3579B1F}"/>
              </a:ext>
            </a:extLst>
          </p:cNvPr>
          <p:cNvSpPr txBox="1"/>
          <p:nvPr/>
        </p:nvSpPr>
        <p:spPr>
          <a:xfrm>
            <a:off x="6119413" y="190630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⑦マネタイズ</a:t>
            </a:r>
            <a:r>
              <a:rPr lang="en-US" altLang="ja-JP" sz="1000" b="1" dirty="0">
                <a:solidFill/>
                <a:latin typeface="メイリオ" panose="020B0604030504040204" pitchFamily="50" charset="-128"/>
                <a:ea typeface="メイリオ" panose="020B0604030504040204" pitchFamily="50" charset="-128"/>
              </a:rPr>
              <a:t>(</a:t>
            </a:r>
            <a:r>
              <a:rPr lang="ja-JP" altLang="en-US" sz="1000" b="1" dirty="0">
                <a:solidFill/>
                <a:latin typeface="メイリオ" panose="020B0604030504040204" pitchFamily="50" charset="-128"/>
                <a:ea typeface="メイリオ" panose="020B0604030504040204" pitchFamily="50" charset="-128"/>
              </a:rPr>
              <a:t>成約</a:t>
            </a:r>
            <a:r>
              <a:rPr lang="en-US" altLang="ja-JP" sz="1000" b="1" dirty="0">
                <a:solidFill/>
                <a:latin typeface="メイリオ" panose="020B0604030504040204" pitchFamily="50" charset="-128"/>
                <a:ea typeface="メイリオ" panose="020B0604030504040204" pitchFamily="50" charset="-128"/>
              </a:rPr>
              <a:t>/</a:t>
            </a:r>
            <a:r>
              <a:rPr lang="ja-JP" altLang="en-US" sz="1000" b="1" dirty="0">
                <a:solidFill/>
                <a:latin typeface="メイリオ" panose="020B0604030504040204" pitchFamily="50" charset="-128"/>
                <a:ea typeface="メイリオ" panose="020B0604030504040204" pitchFamily="50" charset="-128"/>
              </a:rPr>
              <a:t>購入</a:t>
            </a:r>
            <a:r>
              <a:rPr lang="en-US" altLang="ja-JP" sz="1000" b="1" dirty="0">
                <a:solidFill/>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2" name="テキスト ボックス 41">
            <a:extLst>
              <a:ext uri="{FF2B5EF4-FFF2-40B4-BE49-F238E27FC236}">
                <a16:creationId xmlns:a16="http://schemas.microsoft.com/office/drawing/2014/main" id="{086E832F-3BBB-2CF0-1185-3504E5F70EA5}"/>
              </a:ext>
            </a:extLst>
          </p:cNvPr>
          <p:cNvSpPr txBox="1"/>
          <p:nvPr/>
        </p:nvSpPr>
        <p:spPr>
          <a:xfrm>
            <a:off x="4830776" y="170172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B0222B3E-A030-A236-36E8-0ECC1151DC85}"/>
              </a:ext>
            </a:extLst>
          </p:cNvPr>
          <p:cNvSpPr txBox="1"/>
          <p:nvPr/>
        </p:nvSpPr>
        <p:spPr>
          <a:xfrm>
            <a:off x="7408050" y="211088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⑧</a:t>
            </a:r>
            <a:r>
              <a:rPr lang="en-US" altLang="ja-JP" sz="1100" b="1" dirty="0">
                <a:solidFill/>
                <a:latin typeface="メイリオ" panose="020B0604030504040204" pitchFamily="50" charset="-128"/>
                <a:ea typeface="メイリオ" panose="020B0604030504040204" pitchFamily="50" charset="-128"/>
              </a:rPr>
              <a:t>LTV</a:t>
            </a:r>
            <a:r>
              <a:rPr lang="ja-JP" altLang="en-US" sz="1100" b="1" dirty="0">
                <a:solidFill/>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44" name="テキスト ボックス 43">
            <a:extLst>
              <a:ext uri="{FF2B5EF4-FFF2-40B4-BE49-F238E27FC236}">
                <a16:creationId xmlns:a16="http://schemas.microsoft.com/office/drawing/2014/main" id="{4F86D14D-93C8-99A3-B6C5-21288DA1D94A}"/>
              </a:ext>
            </a:extLst>
          </p:cNvPr>
          <p:cNvSpPr txBox="1"/>
          <p:nvPr/>
        </p:nvSpPr>
        <p:spPr>
          <a:xfrm>
            <a:off x="334303" y="150323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① 接触（認知・流入）</a:t>
            </a:r>
          </a:p>
        </p:txBody>
      </p:sp>
      <p:sp>
        <p:nvSpPr>
          <p:cNvPr id="46" name="テキスト ボックス 45">
            <a:extLst>
              <a:ext uri="{FF2B5EF4-FFF2-40B4-BE49-F238E27FC236}">
                <a16:creationId xmlns:a16="http://schemas.microsoft.com/office/drawing/2014/main" id="{BA84F83D-F1A1-6470-779C-27806FDFF300}"/>
              </a:ext>
            </a:extLst>
          </p:cNvPr>
          <p:cNvSpPr txBox="1"/>
          <p:nvPr/>
        </p:nvSpPr>
        <p:spPr>
          <a:xfrm>
            <a:off x="1268358" y="171389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② サイト離脱</a:t>
            </a:r>
            <a:r>
              <a:rPr lang="ja-JP" altLang="en-US" sz="1100" b="1" dirty="0">
                <a:solidFill/>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47" name="テキスト ボックス 46">
            <a:extLst>
              <a:ext uri="{FF2B5EF4-FFF2-40B4-BE49-F238E27FC236}">
                <a16:creationId xmlns:a16="http://schemas.microsoft.com/office/drawing/2014/main" id="{80A2BF3B-2FDE-B47D-649A-453EE42A9D9C}"/>
              </a:ext>
            </a:extLst>
          </p:cNvPr>
          <p:cNvSpPr txBox="1"/>
          <p:nvPr/>
        </p:nvSpPr>
        <p:spPr>
          <a:xfrm>
            <a:off x="2202413" y="190800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③ 育成（興味</a:t>
            </a:r>
            <a:r>
              <a:rPr lang="ja-JP" altLang="en-US" sz="1100" b="1" dirty="0">
                <a:solidFill/>
                <a:latin typeface="メイリオ" panose="020B0604030504040204" pitchFamily="50" charset="-128"/>
                <a:ea typeface="メイリオ" panose="020B0604030504040204" pitchFamily="50" charset="-128"/>
              </a:rPr>
              <a:t>喚起</a:t>
            </a:r>
            <a:r>
              <a:rPr lang="ja-JP" altLang="ja-JP" sz="1100" b="1" dirty="0">
                <a:solidFill/>
                <a:latin typeface="メイリオ" panose="020B0604030504040204" pitchFamily="50" charset="-128"/>
                <a:ea typeface="メイリオ" panose="020B0604030504040204" pitchFamily="50" charset="-128"/>
              </a:rPr>
              <a:t>）</a:t>
            </a:r>
          </a:p>
        </p:txBody>
      </p:sp>
      <p:sp>
        <p:nvSpPr>
          <p:cNvPr id="48" name="テキスト ボックス 47">
            <a:extLst>
              <a:ext uri="{FF2B5EF4-FFF2-40B4-BE49-F238E27FC236}">
                <a16:creationId xmlns:a16="http://schemas.microsoft.com/office/drawing/2014/main" id="{B01E2583-B2F6-85CA-2360-912ACCEBF216}"/>
              </a:ext>
            </a:extLst>
          </p:cNvPr>
          <p:cNvSpPr txBox="1"/>
          <p:nvPr/>
        </p:nvSpPr>
        <p:spPr>
          <a:xfrm>
            <a:off x="3136468" y="210435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④リード獲得 </a:t>
            </a:r>
            <a:r>
              <a:rPr lang="en-US" altLang="ja-JP" sz="900" b="1" dirty="0">
                <a:solidFill/>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49" name="コネクタ: カギ線 48">
            <a:extLst>
              <a:ext uri="{FF2B5EF4-FFF2-40B4-BE49-F238E27FC236}">
                <a16:creationId xmlns:a16="http://schemas.microsoft.com/office/drawing/2014/main" id="{71187418-C8FB-7199-9042-5CCD9D9C501B}"/>
              </a:ext>
            </a:extLst>
          </p:cNvPr>
          <p:cNvCxnSpPr>
            <a:cxnSpLocks/>
            <a:stCxn id="48" idx="0"/>
            <a:endCxn id="40" idx="2"/>
          </p:cNvCxnSpPr>
          <p:nvPr/>
        </p:nvCxnSpPr>
        <p:spPr>
          <a:xfrm rot="5400000" flipH="1" flipV="1">
            <a:off x="4282287" y="186740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EFAD0D5D-8F39-2C2D-8164-9F443F6130D5}"/>
              </a:ext>
            </a:extLst>
          </p:cNvPr>
          <p:cNvSpPr txBox="1"/>
          <p:nvPr/>
        </p:nvSpPr>
        <p:spPr>
          <a:xfrm>
            <a:off x="3541822" y="298946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オープンキャンパス参加</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64894078-BE3D-9354-2498-B57C29F97778}"/>
              </a:ext>
            </a:extLst>
          </p:cNvPr>
          <p:cNvSpPr txBox="1"/>
          <p:nvPr/>
        </p:nvSpPr>
        <p:spPr>
          <a:xfrm>
            <a:off x="6119096" y="3682465"/>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⑦出願・入学手続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CECA121C-4B75-60CF-8CEF-29B9ADAFA7F9}"/>
              </a:ext>
            </a:extLst>
          </p:cNvPr>
          <p:cNvSpPr txBox="1"/>
          <p:nvPr/>
        </p:nvSpPr>
        <p:spPr>
          <a:xfrm>
            <a:off x="4830459" y="3335965"/>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panose="020B0604030504040204" pitchFamily="50" charset="-128"/>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B8720EB6-81E9-1161-4F3E-6F303807D2EF}"/>
              </a:ext>
            </a:extLst>
          </p:cNvPr>
          <p:cNvSpPr txBox="1"/>
          <p:nvPr/>
        </p:nvSpPr>
        <p:spPr>
          <a:xfrm>
            <a:off x="7408050" y="4037678"/>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⑧入学後の定着・中退防止</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在学生／保護者／卒業生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A604636C-372E-EDB9-A524-8AA68EA7677B}"/>
              </a:ext>
            </a:extLst>
          </p:cNvPr>
          <p:cNvSpPr txBox="1"/>
          <p:nvPr/>
        </p:nvSpPr>
        <p:spPr>
          <a:xfrm>
            <a:off x="334303" y="2639541"/>
            <a:ext cx="1868111" cy="261610"/>
          </a:xfrm>
          <a:prstGeom prst="rect">
            <a:avLst/>
          </a:prstGeom>
          <a:solidFill>
            <a:srgbClr val="FFC000"/>
          </a:solidFill>
          <a:ln>
            <a:noFill/>
          </a:ln>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① </a:t>
            </a:r>
            <a:r>
              <a:rPr lang="ja-JP" altLang="en-US" sz="1100" b="1" dirty="0">
                <a:solidFill/>
                <a:latin typeface="メイリオ" panose="020B0604030504040204" pitchFamily="50" charset="-128"/>
                <a:ea typeface="メイリオ" panose="020B0604030504040204" pitchFamily="50" charset="-128"/>
              </a:rPr>
              <a:t>広告</a:t>
            </a:r>
            <a:r>
              <a:rPr lang="ja-JP" altLang="ja-JP" sz="1100" b="1" dirty="0">
                <a:solidFill/>
                <a:latin typeface="メイリオ" panose="020B0604030504040204" pitchFamily="50" charset="-128"/>
                <a:ea typeface="メイリオ" panose="020B0604030504040204" pitchFamily="50" charset="-128"/>
              </a:rPr>
              <a:t>接触</a:t>
            </a:r>
            <a:r>
              <a:rPr lang="ja-JP" altLang="ja-JP" sz="1050" b="1" dirty="0">
                <a:solidFill/>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55" name="テキスト ボックス 54">
            <a:extLst>
              <a:ext uri="{FF2B5EF4-FFF2-40B4-BE49-F238E27FC236}">
                <a16:creationId xmlns:a16="http://schemas.microsoft.com/office/drawing/2014/main" id="{E9843A80-62F9-BE8D-3B74-6147295AB946}"/>
              </a:ext>
            </a:extLst>
          </p:cNvPr>
          <p:cNvSpPr txBox="1"/>
          <p:nvPr/>
        </p:nvSpPr>
        <p:spPr>
          <a:xfrm>
            <a:off x="1268358" y="2989468"/>
            <a:ext cx="1868111" cy="261610"/>
          </a:xfrm>
          <a:prstGeom prst="rect">
            <a:avLst/>
          </a:prstGeom>
          <a:solidFill>
            <a:srgbClr val="FFC000"/>
          </a:solidFill>
          <a:ln>
            <a:noFill/>
          </a:ln>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② サイト離脱</a:t>
            </a:r>
            <a:r>
              <a:rPr lang="ja-JP" altLang="en-US" sz="1050" b="1" dirty="0">
                <a:solidFill/>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56" name="テキスト ボックス 55">
            <a:extLst>
              <a:ext uri="{FF2B5EF4-FFF2-40B4-BE49-F238E27FC236}">
                <a16:creationId xmlns:a16="http://schemas.microsoft.com/office/drawing/2014/main" id="{562C0E19-F3C8-BFEB-41BA-01C231F6AB68}"/>
              </a:ext>
            </a:extLst>
          </p:cNvPr>
          <p:cNvSpPr txBox="1"/>
          <p:nvPr/>
        </p:nvSpPr>
        <p:spPr>
          <a:xfrm>
            <a:off x="2202413" y="3330682"/>
            <a:ext cx="1868111" cy="261610"/>
          </a:xfrm>
          <a:prstGeom prst="rect">
            <a:avLst/>
          </a:prstGeom>
          <a:solidFill>
            <a:srgbClr val="FFC000"/>
          </a:solidFill>
          <a:ln>
            <a:noFill/>
          </a:ln>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③ 育成</a:t>
            </a:r>
            <a:r>
              <a:rPr lang="ja-JP" altLang="ja-JP" sz="1050" b="1" dirty="0">
                <a:solidFill/>
                <a:latin typeface="メイリオ" panose="020B0604030504040204" pitchFamily="50" charset="-128"/>
                <a:ea typeface="メイリオ" panose="020B0604030504040204" pitchFamily="50" charset="-128"/>
              </a:rPr>
              <a:t>（興味</a:t>
            </a:r>
            <a:r>
              <a:rPr lang="ja-JP" altLang="en-US" sz="1050" b="1" dirty="0">
                <a:solidFill/>
                <a:latin typeface="メイリオ" panose="020B0604030504040204" pitchFamily="50" charset="-128"/>
                <a:ea typeface="メイリオ" panose="020B0604030504040204" pitchFamily="50" charset="-128"/>
              </a:rPr>
              <a:t>喚起</a:t>
            </a:r>
            <a:r>
              <a:rPr lang="ja-JP" altLang="ja-JP" sz="1050" b="1" dirty="0">
                <a:solidFill/>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57" name="テキスト ボックス 56">
            <a:extLst>
              <a:ext uri="{FF2B5EF4-FFF2-40B4-BE49-F238E27FC236}">
                <a16:creationId xmlns:a16="http://schemas.microsoft.com/office/drawing/2014/main" id="{61BD8381-B930-1D8E-9096-0F86535FE580}"/>
              </a:ext>
            </a:extLst>
          </p:cNvPr>
          <p:cNvSpPr txBox="1"/>
          <p:nvPr/>
        </p:nvSpPr>
        <p:spPr>
          <a:xfrm>
            <a:off x="3132447" y="3671900"/>
            <a:ext cx="1868111" cy="261610"/>
          </a:xfrm>
          <a:prstGeom prst="rect">
            <a:avLst/>
          </a:prstGeom>
          <a:solidFill>
            <a:srgbClr val="FFC000"/>
          </a:solidFill>
          <a:ln>
            <a:noFill/>
          </a:ln>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④資料請求・友だち追加(web/LINE)</a:t>
            </a:r>
          </a:p>
        </p:txBody>
      </p:sp>
      <p:cxnSp>
        <p:nvCxnSpPr>
          <p:cNvPr id="58" name="コネクタ: カギ線 57">
            <a:extLst>
              <a:ext uri="{FF2B5EF4-FFF2-40B4-BE49-F238E27FC236}">
                <a16:creationId xmlns:a16="http://schemas.microsoft.com/office/drawing/2014/main" id="{6AB3A35A-B8AD-A5D7-2BCC-1432533F7764}"/>
              </a:ext>
            </a:extLst>
          </p:cNvPr>
          <p:cNvCxnSpPr>
            <a:cxnSpLocks/>
            <a:stCxn id="57" idx="0"/>
            <a:endCxn id="50" idx="2"/>
          </p:cNvCxnSpPr>
          <p:nvPr/>
        </p:nvCxnSpPr>
        <p:spPr>
          <a:xfrm rot="5400000" flipH="1" flipV="1">
            <a:off x="4181800" y="3323357"/>
            <a:ext cx="420822" cy="276264"/>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9" name="正方形/長方形 58">
            <a:extLst>
              <a:ext uri="{FF2B5EF4-FFF2-40B4-BE49-F238E27FC236}">
                <a16:creationId xmlns:a16="http://schemas.microsoft.com/office/drawing/2014/main" id="{03772BBA-2A8E-B8A9-3F32-9241614071ED}"/>
              </a:ext>
            </a:extLst>
          </p:cNvPr>
          <p:cNvSpPr/>
          <p:nvPr/>
        </p:nvSpPr>
        <p:spPr>
          <a:xfrm>
            <a:off x="315939" y="4519036"/>
            <a:ext cx="9444306" cy="24171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latin typeface="メイリオ" panose="020B0604030504040204" pitchFamily="50" charset="-128"/>
                <a:ea typeface="メイリオ" panose="020B0604030504040204" pitchFamily="50" charset="-128"/>
              </a:rPr>
              <a:t>← --- 学校法人（大学・専門学校）の場合 --- →</a:t>
            </a:r>
          </a:p>
        </p:txBody>
      </p:sp>
      <p:sp>
        <p:nvSpPr>
          <p:cNvPr id="60" name="正方形/長方形 59">
            <a:extLst>
              <a:ext uri="{FF2B5EF4-FFF2-40B4-BE49-F238E27FC236}">
                <a16:creationId xmlns:a16="http://schemas.microsoft.com/office/drawing/2014/main" id="{90F34AC0-04C2-BAE1-6A8D-54D45A4A3391}"/>
              </a:ext>
            </a:extLst>
          </p:cNvPr>
          <p:cNvSpPr/>
          <p:nvPr/>
        </p:nvSpPr>
        <p:spPr>
          <a:xfrm>
            <a:off x="315939" y="2524461"/>
            <a:ext cx="9444306" cy="77017"/>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34501BD4-D0A1-1204-F1B6-3FF9DB9008B8}"/>
              </a:ext>
            </a:extLst>
          </p:cNvPr>
          <p:cNvSpPr/>
          <p:nvPr/>
        </p:nvSpPr>
        <p:spPr>
          <a:xfrm>
            <a:off x="307230" y="4760748"/>
            <a:ext cx="9444306" cy="15120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E33006BF-A7D4-677C-BC5C-604742DCB0AC}"/>
              </a:ext>
            </a:extLst>
          </p:cNvPr>
          <p:cNvSpPr/>
          <p:nvPr/>
        </p:nvSpPr>
        <p:spPr>
          <a:xfrm>
            <a:off x="307072" y="4846499"/>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latin typeface="メイリオ" panose="020B0604030504040204" pitchFamily="50" charset="-128"/>
                <a:ea typeface="メイリオ" panose="020B0604030504040204" pitchFamily="50" charset="-128"/>
              </a:rPr>
              <a:t>ニーズ</a:t>
            </a:r>
          </a:p>
        </p:txBody>
      </p:sp>
      <p:sp>
        <p:nvSpPr>
          <p:cNvPr id="71" name="四角形: 角を丸くする 70">
            <a:extLst>
              <a:ext uri="{FF2B5EF4-FFF2-40B4-BE49-F238E27FC236}">
                <a16:creationId xmlns:a16="http://schemas.microsoft.com/office/drawing/2014/main" id="{CB83D143-466E-0FF2-D6C5-E5909077F6A0}"/>
              </a:ext>
            </a:extLst>
          </p:cNvPr>
          <p:cNvSpPr/>
          <p:nvPr/>
        </p:nvSpPr>
        <p:spPr>
          <a:xfrm>
            <a:off x="315939" y="5584525"/>
            <a:ext cx="1185818" cy="253916"/>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latin typeface="メイリオ" panose="020B0604030504040204" pitchFamily="50" charset="-128"/>
                <a:ea typeface="メイリオ" panose="020B0604030504040204" pitchFamily="50" charset="-128"/>
              </a:rPr>
              <a:t>インサイト</a:t>
            </a:r>
          </a:p>
        </p:txBody>
      </p:sp>
      <p:sp>
        <p:nvSpPr>
          <p:cNvPr id="73" name="TextBox 72"/>
          <p:cNvSpPr txBox="1"/>
          <p:nvPr/>
        </p:nvSpPr>
        <p:spPr>
          <a:xfrm>
            <a:off x="158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どの学校が自分に合うか分からない</a:t>
            </a:r>
          </a:p>
          <a:p>
            <a:r>
              <a:rPr sz="1200">
                <a:solidFill>
                  <a:srgbClr val="1C2233"/>
                </a:solidFill>
                <a:latin typeface="メイリオ"/>
                <a:ea typeface="メイリオ"/>
              </a:rPr>
              <a:t>まだ漠然。偏差値で調べている</a:t>
            </a:r>
          </a:p>
        </p:txBody>
      </p:sp>
      <p:sp>
        <p:nvSpPr>
          <p:cNvPr id="74" name="TextBox 73"/>
          <p:cNvSpPr txBox="1"/>
          <p:nvPr/>
        </p:nvSpPr>
        <p:spPr>
          <a:xfrm>
            <a:off x="365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比較して失敗したくない</a:t>
            </a:r>
          </a:p>
          <a:p>
            <a:r>
              <a:rPr sz="1200">
                <a:solidFill>
                  <a:srgbClr val="1C2233"/>
                </a:solidFill>
                <a:latin typeface="メイリオ"/>
                <a:ea typeface="メイリオ"/>
              </a:rPr>
              <a:t>フォーム入力・電話は重い</a:t>
            </a:r>
          </a:p>
        </p:txBody>
      </p:sp>
      <p:sp>
        <p:nvSpPr>
          <p:cNvPr id="75" name="TextBox 74"/>
          <p:cNvSpPr txBox="1"/>
          <p:nvPr/>
        </p:nvSpPr>
        <p:spPr>
          <a:xfrm>
            <a:off x="572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電話がかかってこないか不安</a:t>
            </a:r>
          </a:p>
          <a:p>
            <a:r>
              <a:rPr sz="1200">
                <a:solidFill>
                  <a:srgbClr val="1C2233"/>
                </a:solidFill>
                <a:latin typeface="メイリオ"/>
                <a:ea typeface="メイリオ"/>
              </a:rPr>
              <a:t>1人で行って大丈夫か知りたい</a:t>
            </a:r>
          </a:p>
        </p:txBody>
      </p:sp>
      <p:sp>
        <p:nvSpPr>
          <p:cNvPr id="76" name="TextBox 75"/>
          <p:cNvSpPr txBox="1"/>
          <p:nvPr/>
        </p:nvSpPr>
        <p:spPr>
          <a:xfrm>
            <a:off x="7776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成果を実感したい</a:t>
            </a:r>
          </a:p>
          <a:p>
            <a:r>
              <a:rPr sz="1200">
                <a:solidFill>
                  <a:srgbClr val="1C2233"/>
                </a:solidFill>
                <a:latin typeface="メイリオ"/>
                <a:ea typeface="メイリオ"/>
              </a:rPr>
              <a:t>飽きと中だるみで離脱</a:t>
            </a:r>
          </a:p>
        </p:txBody>
      </p:sp>
      <p:sp>
        <p:nvSpPr>
          <p:cNvPr id="77" name="TextBox 76"/>
          <p:cNvSpPr txBox="1"/>
          <p:nvPr/>
        </p:nvSpPr>
        <p:spPr>
          <a:xfrm>
            <a:off x="1584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続かなかった過去がある</a:t>
            </a:r>
          </a:p>
          <a:p>
            <a:r>
              <a:rPr sz="1200">
                <a:solidFill>
                  <a:srgbClr val="BF4E0E"/>
                </a:solidFill>
                <a:latin typeface="メイリオ"/>
                <a:ea typeface="メイリオ"/>
              </a:rPr>
              <a:t>＝失敗の再体験が怖い</a:t>
            </a:r>
          </a:p>
        </p:txBody>
      </p:sp>
      <p:sp>
        <p:nvSpPr>
          <p:cNvPr id="78" name="TextBox 77"/>
          <p:cNvSpPr txBox="1"/>
          <p:nvPr/>
        </p:nvSpPr>
        <p:spPr>
          <a:xfrm>
            <a:off x="3654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匿名で聞けるなら動ける</a:t>
            </a:r>
          </a:p>
          <a:p>
            <a:r>
              <a:rPr sz="1200">
                <a:solidFill>
                  <a:srgbClr val="BF4E0E"/>
                </a:solidFill>
                <a:latin typeface="メイリオ"/>
                <a:ea typeface="メイリオ"/>
              </a:rPr>
              <a:t>→LINE診断が受け皿</a:t>
            </a:r>
          </a:p>
        </p:txBody>
      </p:sp>
      <p:sp>
        <p:nvSpPr>
          <p:cNvPr id="79" name="TextBox 78"/>
          <p:cNvSpPr txBox="1"/>
          <p:nvPr/>
        </p:nvSpPr>
        <p:spPr>
          <a:xfrm>
            <a:off x="5724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「迫りません」の一言で</a:t>
            </a:r>
          </a:p>
          <a:p>
            <a:r>
              <a:rPr sz="1200">
                <a:solidFill>
                  <a:srgbClr val="BF4E0E"/>
                </a:solidFill>
                <a:latin typeface="メイリオ"/>
                <a:ea typeface="メイリオ"/>
              </a:rPr>
              <a:t>来店ハードルが下がる</a:t>
            </a:r>
          </a:p>
        </p:txBody>
      </p:sp>
      <p:sp>
        <p:nvSpPr>
          <p:cNvPr id="80" name="TextBox 79"/>
          <p:cNvSpPr txBox="1"/>
          <p:nvPr/>
        </p:nvSpPr>
        <p:spPr>
          <a:xfrm>
            <a:off x="7776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「見てもらえている感」が</a:t>
            </a:r>
          </a:p>
          <a:p>
            <a:r>
              <a:rPr sz="1200">
                <a:solidFill>
                  <a:srgbClr val="BF4E0E"/>
                </a:solidFill>
                <a:latin typeface="メイリオ"/>
                <a:ea typeface="メイリオ"/>
              </a:rPr>
              <a:t>継続と紹介の鍵になる</a:t>
            </a:r>
          </a:p>
        </p:txBody>
      </p:sp>
      <p:sp>
        <p:nvSpPr>
          <p:cNvPr id="2" name="テキスト ボックス 1">
            <a:extLst>
              <a:ext uri="{FF2B5EF4-FFF2-40B4-BE49-F238E27FC236}">
                <a16:creationId xmlns:a16="http://schemas.microsoft.com/office/drawing/2014/main" id="{451FFC26-7816-250A-591E-C953B9FABA67}"/>
              </a:ext>
            </a:extLst>
          </p:cNvPr>
          <p:cNvSpPr txBox="1"/>
          <p:nvPr/>
        </p:nvSpPr>
        <p:spPr>
          <a:xfrm>
            <a:off x="2363638" y="1147313"/>
            <a:ext cx="184731" cy="369332"/>
          </a:xfrm>
          <a:prstGeom prst="rect">
            <a:avLst/>
          </a:prstGeom>
          <a:noFill/>
        </p:spPr>
        <p:txBody>
          <a:bodyPr wrap="none" rtlCol="0">
            <a:spAutoFit/>
          </a:bodyPr>
          <a:lstStyle/>
          <a:p>
            <a:endParaRPr kumimoji="1" lang="ja-JP" altLang="en-US" dirty="0">
              <a:latin typeface="+mj-lt"/>
            </a:endParaRPr>
          </a:p>
        </p:txBody>
      </p:sp>
    </p:spTree>
    <p:extLst>
      <p:ext uri="{BB962C8B-B14F-4D97-AF65-F5344CB8AC3E}">
        <p14:creationId xmlns:p14="http://schemas.microsoft.com/office/powerpoint/2010/main" val="4069324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0ED90-F5DA-CFD4-A3DA-114442B93132}"/>
            </a:ext>
          </a:extLst>
        </p:cNvPr>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前後検索から導いた仕掛けどころ｜名前を調べられる前に友だちになる</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高校生が学校名を検索し始めた時点で、もう比較の土俵。そこで広告に出ても1校にしかなれない。</a:t>
            </a:r>
          </a:p>
          <a:p>
            <a:pPr algn="l">
              <a:lnSpc>
                <a:spcPct val="122000"/>
              </a:lnSpc>
            </a:pPr>
            <a:r>
              <a:rPr sz="1500">
                <a:solidFill>
                  <a:srgbClr val="646C82"/>
                </a:solidFill>
                <a:latin typeface="メイリオ"/>
                <a:ea typeface="メイリオ"/>
                <a:cs typeface="メイリオ"/>
              </a:rPr>
              <a:t>仕掛けるのは、偏差値で群に仕分けられる手前。</a:t>
            </a:r>
          </a:p>
        </p:txBody>
      </p:sp>
      <p:sp>
        <p:nvSpPr>
          <p:cNvPr id="4" name="Rectangle 3"/>
          <p:cNvSpPr/>
          <p:nvPr/>
        </p:nvSpPr>
        <p:spPr>
          <a:xfrm>
            <a:off x="612000" y="1908000"/>
            <a:ext cx="8712000" cy="396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12000" y="1908000"/>
            <a:ext cx="4007520" cy="396000"/>
          </a:xfrm>
          <a:prstGeom prst="rect">
            <a:avLst/>
          </a:prstGeom>
          <a:solidFill>
            <a:srgbClr val="F4F7FF"/>
          </a:solidFill>
          <a:ln w="15875">
            <a:solidFill>
              <a:srgbClr val="1F285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13440" y="1908000"/>
            <a:ext cx="3310560" cy="396000"/>
          </a:xfrm>
          <a:prstGeom prst="rect">
            <a:avLst/>
          </a:prstGeom>
          <a:solidFill>
            <a:srgbClr val="FCE4D6"/>
          </a:solidFill>
          <a:ln w="19050">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000" y="1972799"/>
            <a:ext cx="4007520" cy="288000"/>
          </a:xfrm>
          <a:prstGeom prst="rect">
            <a:avLst/>
          </a:prstGeom>
          <a:noFill/>
        </p:spPr>
        <p:txBody>
          <a:bodyPr wrap="square" lIns="0" rIns="0" tIns="21600" bIns="21600" anchor="ctr">
            <a:spAutoFit/>
          </a:bodyPr>
          <a:lstStyle/>
          <a:p>
            <a:pPr algn="ctr"/>
            <a:r>
              <a:rPr sz="1150" b="1">
                <a:solidFill>
                  <a:srgbClr val="1F285A"/>
                </a:solidFill>
                <a:latin typeface="メイリオ"/>
                <a:ea typeface="メイリオ"/>
                <a:cs typeface="メイリオ"/>
              </a:rPr>
              <a:t>学校名がまだ出てこない期間（＝ここが空白）</a:t>
            </a:r>
          </a:p>
        </p:txBody>
      </p:sp>
      <p:sp>
        <p:nvSpPr>
          <p:cNvPr id="8" name="TextBox 7"/>
          <p:cNvSpPr txBox="1"/>
          <p:nvPr/>
        </p:nvSpPr>
        <p:spPr>
          <a:xfrm>
            <a:off x="6013440" y="1972799"/>
            <a:ext cx="3310560" cy="288000"/>
          </a:xfrm>
          <a:prstGeom prst="rect">
            <a:avLst/>
          </a:prstGeom>
          <a:noFill/>
        </p:spPr>
        <p:txBody>
          <a:bodyPr wrap="square" lIns="0" rIns="0" tIns="21600" bIns="21600" anchor="ctr">
            <a:spAutoFit/>
          </a:bodyPr>
          <a:lstStyle/>
          <a:p>
            <a:pPr algn="ctr"/>
            <a:r>
              <a:rPr sz="1150" b="1">
                <a:solidFill>
                  <a:srgbClr val="ED7D31"/>
                </a:solidFill>
                <a:latin typeface="メイリオ"/>
                <a:ea typeface="メイリオ"/>
                <a:cs typeface="メイリオ"/>
              </a:rPr>
              <a:t>比較の土俵（もう1校にしかなれない）</a:t>
            </a:r>
          </a:p>
        </p:txBody>
      </p:sp>
      <p:sp>
        <p:nvSpPr>
          <p:cNvPr id="9" name="TextBox 8"/>
          <p:cNvSpPr txBox="1"/>
          <p:nvPr/>
        </p:nvSpPr>
        <p:spPr>
          <a:xfrm>
            <a:off x="216000" y="2347200"/>
            <a:ext cx="792000" cy="216000"/>
          </a:xfrm>
          <a:prstGeom prst="rect">
            <a:avLst/>
          </a:prstGeom>
          <a:noFill/>
        </p:spPr>
        <p:txBody>
          <a:bodyPr wrap="square" lIns="0" rIns="0" tIns="21600" bIns="21600" anchor="ctr">
            <a:spAutoFit/>
          </a:bodyPr>
          <a:lstStyle/>
          <a:p>
            <a:pPr algn="ctr"/>
            <a:r>
              <a:rPr sz="1050" b="1">
                <a:solidFill>
                  <a:srgbClr val="7F7F7F"/>
                </a:solidFill>
                <a:latin typeface="メイリオ"/>
                <a:ea typeface="メイリオ"/>
                <a:cs typeface="メイリオ"/>
              </a:rPr>
              <a:t>−15日</a:t>
            </a:r>
          </a:p>
        </p:txBody>
      </p:sp>
      <p:sp>
        <p:nvSpPr>
          <p:cNvPr id="10" name="TextBox 9"/>
          <p:cNvSpPr txBox="1"/>
          <p:nvPr/>
        </p:nvSpPr>
        <p:spPr>
          <a:xfrm>
            <a:off x="4223520" y="2347200"/>
            <a:ext cx="792000" cy="216000"/>
          </a:xfrm>
          <a:prstGeom prst="rect">
            <a:avLst/>
          </a:prstGeom>
          <a:noFill/>
        </p:spPr>
        <p:txBody>
          <a:bodyPr wrap="square" lIns="0" rIns="0" tIns="21600" bIns="21600" anchor="ctr">
            <a:spAutoFit/>
          </a:bodyPr>
          <a:lstStyle/>
          <a:p>
            <a:pPr algn="ctr"/>
            <a:r>
              <a:rPr sz="1050" b="1">
                <a:solidFill>
                  <a:srgbClr val="7F7F7F"/>
                </a:solidFill>
                <a:latin typeface="メイリオ"/>
                <a:ea typeface="メイリオ"/>
                <a:cs typeface="メイリオ"/>
              </a:rPr>
              <a:t>0日</a:t>
            </a:r>
          </a:p>
        </p:txBody>
      </p:sp>
      <p:sp>
        <p:nvSpPr>
          <p:cNvPr id="11" name="TextBox 10"/>
          <p:cNvSpPr txBox="1"/>
          <p:nvPr/>
        </p:nvSpPr>
        <p:spPr>
          <a:xfrm>
            <a:off x="5617440" y="2347200"/>
            <a:ext cx="792000" cy="216000"/>
          </a:xfrm>
          <a:prstGeom prst="rect">
            <a:avLst/>
          </a:prstGeom>
          <a:noFill/>
        </p:spPr>
        <p:txBody>
          <a:bodyPr wrap="square" lIns="0" rIns="0" tIns="21600" bIns="21600" anchor="ctr">
            <a:spAutoFit/>
          </a:bodyPr>
          <a:lstStyle/>
          <a:p>
            <a:pPr algn="ctr"/>
            <a:r>
              <a:rPr sz="1050" b="1">
                <a:solidFill>
                  <a:srgbClr val="7F7F7F"/>
                </a:solidFill>
                <a:latin typeface="メイリオ"/>
                <a:ea typeface="メイリオ"/>
                <a:cs typeface="メイリオ"/>
              </a:rPr>
              <a:t>+2日</a:t>
            </a:r>
          </a:p>
        </p:txBody>
      </p:sp>
      <p:sp>
        <p:nvSpPr>
          <p:cNvPr id="12" name="TextBox 11"/>
          <p:cNvSpPr txBox="1"/>
          <p:nvPr/>
        </p:nvSpPr>
        <p:spPr>
          <a:xfrm>
            <a:off x="8927999" y="2347200"/>
            <a:ext cx="792000" cy="216000"/>
          </a:xfrm>
          <a:prstGeom prst="rect">
            <a:avLst/>
          </a:prstGeom>
          <a:noFill/>
        </p:spPr>
        <p:txBody>
          <a:bodyPr wrap="square" lIns="0" rIns="0" tIns="21600" bIns="21600" anchor="ctr">
            <a:spAutoFit/>
          </a:bodyPr>
          <a:lstStyle/>
          <a:p>
            <a:pPr algn="ctr"/>
            <a:r>
              <a:rPr sz="1050" b="1">
                <a:solidFill>
                  <a:srgbClr val="7F7F7F"/>
                </a:solidFill>
                <a:latin typeface="メイリオ"/>
                <a:ea typeface="メイリオ"/>
                <a:cs typeface="メイリオ"/>
              </a:rPr>
              <a:t>+15日</a:t>
            </a:r>
          </a:p>
        </p:txBody>
      </p:sp>
      <p:sp>
        <p:nvSpPr>
          <p:cNvPr id="13" name="Rounded Rectangle 12"/>
          <p:cNvSpPr/>
          <p:nvPr/>
        </p:nvSpPr>
        <p:spPr>
          <a:xfrm>
            <a:off x="3574080" y="1404000"/>
            <a:ext cx="1800000" cy="413999"/>
          </a:xfrm>
          <a:prstGeom prst="roundRect">
            <a:avLst>
              <a:gd name="adj" fmla="val 1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74080" y="1404000"/>
            <a:ext cx="1800000" cy="413999"/>
          </a:xfrm>
          <a:prstGeom prst="rect">
            <a:avLst/>
          </a:prstGeom>
          <a:noFill/>
        </p:spPr>
        <p:txBody>
          <a:bodyPr wrap="square" lIns="0" rIns="0" tIns="21600" bIns="21600" anchor="ctr">
            <a:spAutoFit/>
          </a:bodyPr>
          <a:lstStyle/>
          <a:p>
            <a:pPr algn="ctr"/>
            <a:r>
              <a:rPr sz="1200" b="1">
                <a:solidFill>
                  <a:srgbClr val="FFFFFF"/>
                </a:solidFill>
                <a:latin typeface="メイリオ"/>
                <a:ea typeface="メイリオ"/>
                <a:cs typeface="メイリオ"/>
              </a:rPr>
              <a:t>▶ ここで友だち化</a:t>
            </a:r>
          </a:p>
        </p:txBody>
      </p:sp>
      <p:sp>
        <p:nvSpPr>
          <p:cNvPr id="15" name="Rounded Rectangle 14"/>
          <p:cNvSpPr/>
          <p:nvPr/>
        </p:nvSpPr>
        <p:spPr>
          <a:xfrm>
            <a:off x="396000" y="3456000"/>
            <a:ext cx="2951999" cy="187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1F285A"/>
                </a:solidFill>
                <a:latin typeface="メイリオ"/>
                <a:ea typeface="メイリオ"/>
                <a:cs typeface="メイリオ"/>
              </a:rPr>
              <a:t>① 離脱防止ポップアップの文言</a:t>
            </a:r>
          </a:p>
          <a:p>
            <a:pPr algn="l">
              <a:lnSpc>
                <a:spcPct val="120000"/>
              </a:lnSpc>
              <a:spcAft>
                <a:spcPts val="200"/>
              </a:spcAft>
            </a:pPr>
            <a:r>
              <a:rPr sz="1100">
                <a:solidFill>
                  <a:srgbClr val="1C2233"/>
                </a:solidFill>
                <a:latin typeface="メイリオ"/>
                <a:ea typeface="メイリオ"/>
                <a:cs typeface="メイリオ"/>
              </a:rPr>
              <a:t>まだ、学部で迷っていませんか？</a:t>
            </a:r>
          </a:p>
          <a:p>
            <a:pPr algn="l">
              <a:lnSpc>
                <a:spcPct val="120000"/>
              </a:lnSpc>
              <a:spcAft>
                <a:spcPts val="200"/>
              </a:spcAft>
            </a:pPr>
            <a:r>
              <a:rPr sz="1100">
                <a:solidFill>
                  <a:srgbClr val="1C2233"/>
                </a:solidFill>
                <a:latin typeface="メイリオ"/>
                <a:ea typeface="メイリオ"/>
                <a:cs typeface="メイリオ"/>
              </a:rPr>
              <a:t>30秒の質問に答えるだけで、あなたに向いている</a:t>
            </a:r>
          </a:p>
          <a:p>
            <a:pPr algn="l">
              <a:lnSpc>
                <a:spcPct val="120000"/>
              </a:lnSpc>
              <a:spcAft>
                <a:spcPts val="200"/>
              </a:spcAft>
            </a:pPr>
            <a:r>
              <a:rPr sz="1100">
                <a:solidFill>
                  <a:srgbClr val="1C2233"/>
                </a:solidFill>
                <a:latin typeface="メイリオ"/>
                <a:ea typeface="メイリオ"/>
                <a:cs typeface="メイリオ"/>
              </a:rPr>
              <a:t>学部と、その学部の1日が分かります。</a:t>
            </a:r>
          </a:p>
          <a:p>
            <a:pPr algn="l">
              <a:lnSpc>
                <a:spcPct val="120000"/>
              </a:lnSpc>
              <a:spcAft>
                <a:spcPts val="200"/>
              </a:spcAft>
            </a:pPr>
            <a:r>
              <a:rPr sz="1100">
                <a:solidFill>
                  <a:srgbClr val="1C2233"/>
                </a:solidFill>
                <a:latin typeface="メイリオ"/>
                <a:ea typeface="メイリオ"/>
                <a:cs typeface="メイリオ"/>
              </a:rPr>
              <a:t>＃名前も電話番号も入力しません</a:t>
            </a:r>
          </a:p>
        </p:txBody>
      </p:sp>
      <p:sp>
        <p:nvSpPr>
          <p:cNvPr id="16" name="Rounded Rectangle 15"/>
          <p:cNvSpPr/>
          <p:nvPr/>
        </p:nvSpPr>
        <p:spPr>
          <a:xfrm>
            <a:off x="3491999" y="3456000"/>
            <a:ext cx="2951999" cy="187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1F285A"/>
                </a:solidFill>
                <a:latin typeface="メイリオ"/>
                <a:ea typeface="メイリオ"/>
                <a:cs typeface="メイリオ"/>
              </a:rPr>
              <a:t>② LINE広告（CPF）の文言</a:t>
            </a:r>
          </a:p>
          <a:p>
            <a:pPr algn="l">
              <a:lnSpc>
                <a:spcPct val="120000"/>
              </a:lnSpc>
              <a:spcAft>
                <a:spcPts val="200"/>
              </a:spcAft>
            </a:pPr>
            <a:r>
              <a:rPr sz="1100">
                <a:solidFill>
                  <a:srgbClr val="1C2233"/>
                </a:solidFill>
                <a:latin typeface="メイリオ"/>
                <a:ea typeface="メイリオ"/>
                <a:cs typeface="メイリオ"/>
              </a:rPr>
              <a:t>やりたいこと、まだ決まってなくていい。</a:t>
            </a:r>
          </a:p>
          <a:p>
            <a:pPr algn="l">
              <a:lnSpc>
                <a:spcPct val="120000"/>
              </a:lnSpc>
              <a:spcAft>
                <a:spcPts val="200"/>
              </a:spcAft>
            </a:pPr>
            <a:r>
              <a:rPr sz="1100">
                <a:solidFill>
                  <a:srgbClr val="1C2233"/>
                </a:solidFill>
                <a:latin typeface="メイリオ"/>
                <a:ea typeface="メイリオ"/>
                <a:cs typeface="メイリオ"/>
              </a:rPr>
              <a:t>文系・理系すら迷っている人向けの30秒診断。</a:t>
            </a:r>
          </a:p>
          <a:p>
            <a:pPr algn="l">
              <a:lnSpc>
                <a:spcPct val="120000"/>
              </a:lnSpc>
              <a:spcAft>
                <a:spcPts val="200"/>
              </a:spcAft>
            </a:pPr>
            <a:r>
              <a:rPr sz="1100">
                <a:solidFill>
                  <a:srgbClr val="1C2233"/>
                </a:solidFill>
                <a:latin typeface="メイリオ"/>
                <a:ea typeface="メイリオ"/>
                <a:cs typeface="メイリオ"/>
              </a:rPr>
              <a:t>あなたの「向いてる学び方」から学部を提案します。</a:t>
            </a:r>
          </a:p>
          <a:p>
            <a:pPr algn="l">
              <a:lnSpc>
                <a:spcPct val="120000"/>
              </a:lnSpc>
              <a:spcAft>
                <a:spcPts val="200"/>
              </a:spcAft>
            </a:pPr>
            <a:r>
              <a:rPr sz="1100">
                <a:solidFill>
                  <a:srgbClr val="1C2233"/>
                </a:solidFill>
                <a:latin typeface="メイリオ"/>
                <a:ea typeface="メイリオ"/>
                <a:cs typeface="メイリオ"/>
              </a:rPr>
              <a:t>→ タップ1回で友だち追加（入力ゼロ）</a:t>
            </a:r>
          </a:p>
        </p:txBody>
      </p:sp>
      <p:sp>
        <p:nvSpPr>
          <p:cNvPr id="17" name="Rounded Rectangle 16"/>
          <p:cNvSpPr/>
          <p:nvPr/>
        </p:nvSpPr>
        <p:spPr>
          <a:xfrm>
            <a:off x="6588000" y="3456000"/>
            <a:ext cx="2951999" cy="187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ED7D31"/>
                </a:solidFill>
                <a:latin typeface="メイリオ"/>
                <a:ea typeface="メイリオ"/>
                <a:cs typeface="メイリオ"/>
              </a:rPr>
              <a:t>③ コストゼロで一番効く導線</a:t>
            </a:r>
          </a:p>
          <a:p>
            <a:pPr algn="l">
              <a:lnSpc>
                <a:spcPct val="120000"/>
              </a:lnSpc>
              <a:spcAft>
                <a:spcPts val="200"/>
              </a:spcAft>
            </a:pPr>
            <a:r>
              <a:rPr sz="1100">
                <a:solidFill>
                  <a:srgbClr val="1C2233"/>
                </a:solidFill>
                <a:latin typeface="メイリオ"/>
                <a:ea typeface="メイリオ"/>
                <a:cs typeface="メイリオ"/>
              </a:rPr>
              <a:t>オープンキャンパス当日の受付にQRコードを1枚。</a:t>
            </a:r>
          </a:p>
          <a:p>
            <a:pPr algn="l">
              <a:lnSpc>
                <a:spcPct val="120000"/>
              </a:lnSpc>
              <a:spcAft>
                <a:spcPts val="200"/>
              </a:spcAft>
            </a:pPr>
            <a:r>
              <a:rPr sz="1100">
                <a:solidFill>
                  <a:srgbClr val="1C2233"/>
                </a:solidFill>
                <a:latin typeface="メイリオ"/>
                <a:ea typeface="メイリオ"/>
                <a:cs typeface="メイリオ"/>
              </a:rPr>
              <a:t>最も志望度が高い層が、その場で友だちになる。</a:t>
            </a:r>
          </a:p>
          <a:p>
            <a:pPr algn="l">
              <a:lnSpc>
                <a:spcPct val="120000"/>
              </a:lnSpc>
              <a:spcAft>
                <a:spcPts val="200"/>
              </a:spcAft>
            </a:pPr>
            <a:r>
              <a:rPr sz="1100">
                <a:solidFill>
                  <a:srgbClr val="1C2233"/>
                </a:solidFill>
                <a:latin typeface="メイリオ"/>
                <a:ea typeface="メイリオ"/>
                <a:cs typeface="メイリオ"/>
              </a:rPr>
              <a:t>資料請求の完了画面・パンフ裏表紙・高校での説明会資料も同じ。</a:t>
            </a:r>
          </a:p>
          <a:p>
            <a:pPr algn="l">
              <a:lnSpc>
                <a:spcPct val="120000"/>
              </a:lnSpc>
              <a:spcAft>
                <a:spcPts val="200"/>
              </a:spcAft>
            </a:pPr>
            <a:r>
              <a:rPr sz="1100">
                <a:solidFill>
                  <a:srgbClr val="1C2233"/>
                </a:solidFill>
                <a:latin typeface="メイリオ"/>
                <a:ea typeface="メイリオ"/>
                <a:cs typeface="メイリオ"/>
              </a:rPr>
              <a:t>→ 来週から実施できる</a:t>
            </a:r>
          </a:p>
        </p:txBody>
      </p:sp>
      <p:sp>
        <p:nvSpPr>
          <p:cNvPr id="18" name="TextBox 17"/>
          <p:cNvSpPr txBox="1"/>
          <p:nvPr/>
        </p:nvSpPr>
        <p:spPr>
          <a:xfrm>
            <a:off x="396000" y="6138000"/>
            <a:ext cx="9144000" cy="331200"/>
          </a:xfrm>
          <a:prstGeom prst="rect">
            <a:avLst/>
          </a:prstGeom>
          <a:noFill/>
        </p:spPr>
        <p:txBody>
          <a:bodyPr wrap="square" lIns="0" rIns="0" tIns="21600" bIns="21600" anchor="t">
            <a:spAutoFit/>
          </a:bodyPr>
          <a:lstStyle/>
          <a:p>
            <a:pPr algn="l">
              <a:lnSpc>
                <a:spcPct val="120000"/>
              </a:lnSpc>
            </a:pPr>
            <a:r>
              <a:rPr sz="900">
                <a:solidFill>
                  <a:srgbClr val="646C82"/>
                </a:solidFill>
                <a:latin typeface="メイリオ"/>
                <a:ea typeface="メイリオ"/>
                <a:cs typeface="メイリオ"/>
              </a:rPr>
              <a:t>※ 出典：LINEヤフー media Journey（2026-09-15取得）。起点KWの確定後に日数の目盛りを更新する。</a:t>
            </a:r>
          </a:p>
        </p:txBody>
      </p:sp>
    </p:spTree>
    <p:extLst>
      <p:ext uri="{BB962C8B-B14F-4D97-AF65-F5344CB8AC3E}">
        <p14:creationId xmlns:p14="http://schemas.microsoft.com/office/powerpoint/2010/main" val="37374636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ステップ配信｜追加から14日でオープンキャンパス予約を取り切る</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友だち追加から15日でアクティブ率が急落する。起点KW検索の後15日で他校の指名検索が立つ。</a:t>
            </a:r>
          </a:p>
          <a:p>
            <a:pPr algn="l">
              <a:lnSpc>
                <a:spcPct val="122000"/>
              </a:lnSpc>
            </a:pPr>
            <a:r>
              <a:rPr sz="1500">
                <a:solidFill>
                  <a:srgbClr val="646C82"/>
                </a:solidFill>
                <a:latin typeface="メイリオ"/>
                <a:ea typeface="メイリオ"/>
                <a:cs typeface="メイリオ"/>
              </a:rPr>
              <a:t>読まれる15日と、候補が決まる15日が重なるのが最初の14日。</a:t>
            </a:r>
          </a:p>
        </p:txBody>
      </p:sp>
      <p:graphicFrame>
        <p:nvGraphicFramePr>
          <p:cNvPr id="4" name="Table 3"/>
          <p:cNvGraphicFramePr>
            <a:graphicFrameLocks noGrp="1"/>
          </p:cNvGraphicFramePr>
          <p:nvPr/>
        </p:nvGraphicFramePr>
        <p:xfrm>
          <a:off x="396000" y="1224000"/>
          <a:ext cx="9144000" cy="3600000"/>
        </p:xfrm>
        <a:graphic>
          <a:graphicData uri="http://schemas.openxmlformats.org/drawingml/2006/table">
            <a:tbl>
              <a:tblPr firstRow="1" bandRow="1">
                <a:tableStyleId>{5C22544A-7EE6-4342-B048-85BDC9FD1C3A}</a:tableStyleId>
              </a:tblPr>
              <a:tblGrid>
                <a:gridCol w="576000"/>
                <a:gridCol w="1944000"/>
                <a:gridCol w="3384000"/>
                <a:gridCol w="1944000"/>
                <a:gridCol w="1296000"/>
              </a:tblGrid>
              <a:tr h="450000">
                <a:tc>
                  <a:txBody>
                    <a:bodyPr wrap="square" lIns="50400" rIns="50400" tIns="10800" bIns="10800" anchor="ctr"/>
                    <a:lstStyle/>
                    <a:p>
                      <a:pPr algn="ctr"/>
                      <a:r>
                        <a:rPr sz="1200" b="1">
                          <a:solidFill>
                            <a:srgbClr val="FFFFFF"/>
                          </a:solidFill>
                          <a:latin typeface="メイリオ"/>
                          <a:ea typeface="メイリオ"/>
                          <a:cs typeface="メイリオ"/>
                        </a:rPr>
                        <a:t>Day</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対象</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内容</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通知プレビュー（15字）</a:t>
                      </a:r>
                    </a:p>
                  </a:txBody>
                  <a:tcPr anchor="ctr">
                    <a:solidFill>
                      <a:srgbClr val="1F285A"/>
                    </a:solidFill>
                  </a:tcPr>
                </a:tc>
                <a:tc>
                  <a:txBody>
                    <a:bodyPr wrap="square" lIns="50400" rIns="50400" tIns="10800" bIns="10800" anchor="ctr"/>
                    <a:lstStyle/>
                    <a:p>
                      <a:pPr algn="ctr"/>
                      <a:r>
                        <a:rPr sz="1200" b="1">
                          <a:solidFill>
                            <a:srgbClr val="FFFFFF"/>
                          </a:solidFill>
                          <a:latin typeface="メイリオ"/>
                          <a:ea typeface="メイリオ"/>
                          <a:cs typeface="メイリオ"/>
                        </a:rPr>
                        <a:t>CV</a:t>
                      </a:r>
                    </a:p>
                  </a:txBody>
                  <a:tcPr anchor="ctr">
                    <a:solidFill>
                      <a:srgbClr val="1F285A"/>
                    </a:solidFill>
                  </a:tcPr>
                </a:tc>
              </a:tr>
              <a:tr h="450000">
                <a:tc>
                  <a:txBody>
                    <a:bodyPr wrap="square" lIns="50400" rIns="50400" tIns="10800" bIns="10800" anchor="ctr"/>
                    <a:lstStyle/>
                    <a:p>
                      <a:pPr algn="ctr"/>
                      <a:r>
                        <a:rPr sz="1100">
                          <a:solidFill>
                            <a:srgbClr val="1C2233"/>
                          </a:solidFill>
                          <a:latin typeface="メイリオ"/>
                          <a:ea typeface="メイリオ"/>
                          <a:cs typeface="メイリオ"/>
                        </a:rPr>
                        <a:t>0</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診断回答直後の全員</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診断結果＋在学生の1日（動画3分）。売らない</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診断結果が出ました📋あな</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a:t>
                      </a:r>
                    </a:p>
                  </a:txBody>
                  <a:tcPr anchor="ctr">
                    <a:solidFill>
                      <a:srgbClr val="FFFFFF"/>
                    </a:solidFill>
                  </a:tcPr>
                </a:tc>
              </a:tr>
              <a:tr h="450000">
                <a:tc>
                  <a:txBody>
                    <a:bodyPr wrap="square" lIns="50400" rIns="50400" tIns="10800" bIns="10800" anchor="ctr"/>
                    <a:lstStyle/>
                    <a:p>
                      <a:pPr algn="ctr"/>
                      <a:r>
                        <a:rPr sz="1100">
                          <a:solidFill>
                            <a:srgbClr val="1C2233"/>
                          </a:solidFill>
                          <a:latin typeface="メイリオ"/>
                          <a:ea typeface="メイリオ"/>
                          <a:cs typeface="メイリオ"/>
                        </a:rPr>
                        <a:t>2</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Q2「全然決まっていない」層</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やりたいことが決まっていない人の進路の決め方</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やりたいこと、まだ決ま</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a:t>
                      </a:r>
                    </a:p>
                  </a:txBody>
                  <a:tcPr anchor="ctr">
                    <a:solidFill>
                      <a:srgbClr val="F4F7FF"/>
                    </a:solidFill>
                  </a:tcPr>
                </a:tc>
              </a:tr>
              <a:tr h="450000">
                <a:tc>
                  <a:txBody>
                    <a:bodyPr wrap="square" lIns="50400" rIns="50400" tIns="10800" bIns="10800" anchor="ctr"/>
                    <a:lstStyle/>
                    <a:p>
                      <a:pPr algn="ctr"/>
                      <a:r>
                        <a:rPr sz="1100">
                          <a:solidFill>
                            <a:srgbClr val="1C2233"/>
                          </a:solidFill>
                          <a:latin typeface="メイリオ"/>
                          <a:ea typeface="メイリオ"/>
                          <a:cs typeface="メイリオ"/>
                        </a:rPr>
                        <a:t>3</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全員</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在学生インタビュー（高校時代の成績・迷い・いま）</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高2の冬、模試D判定だ</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a:t>
                      </a:r>
                    </a:p>
                  </a:txBody>
                  <a:tcPr anchor="ctr">
                    <a:solidFill>
                      <a:srgbClr val="FFFFFF"/>
                    </a:solidFill>
                  </a:tcPr>
                </a:tc>
              </a:tr>
              <a:tr h="450000">
                <a:tc>
                  <a:txBody>
                    <a:bodyPr wrap="square" lIns="50400" rIns="50400" tIns="10800" bIns="10800" anchor="ctr"/>
                    <a:lstStyle/>
                    <a:p>
                      <a:pPr algn="ctr"/>
                      <a:r>
                        <a:rPr sz="1100">
                          <a:solidFill>
                            <a:srgbClr val="1C2233"/>
                          </a:solidFill>
                          <a:latin typeface="メイリオ"/>
                          <a:ea typeface="メイリオ"/>
                          <a:cs typeface="メイリオ"/>
                        </a:rPr>
                        <a:t>6</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全員</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OCの日程と当日の流れ。1人参加OKを明記</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オープンキャンパスの日程</a:t>
                      </a:r>
                    </a:p>
                  </a:txBody>
                  <a:tcPr anchor="ctr">
                    <a:solidFill>
                      <a:srgbClr val="F4F7FF"/>
                    </a:solidFill>
                  </a:tcPr>
                </a:tc>
                <a:tc>
                  <a:txBody>
                    <a:bodyPr wrap="square" lIns="50400" rIns="50400" tIns="10800" bIns="10800" anchor="ctr"/>
                    <a:lstStyle/>
                    <a:p>
                      <a:pPr algn="ctr"/>
                      <a:r>
                        <a:rPr sz="1100" b="1">
                          <a:solidFill>
                            <a:srgbClr val="ED7D31"/>
                          </a:solidFill>
                          <a:latin typeface="メイリオ"/>
                          <a:ea typeface="メイリオ"/>
                          <a:cs typeface="メイリオ"/>
                        </a:rPr>
                        <a:t>OC予約【CV②】</a:t>
                      </a:r>
                    </a:p>
                  </a:txBody>
                  <a:tcPr anchor="ctr">
                    <a:solidFill>
                      <a:srgbClr val="F4F7FF"/>
                    </a:solidFill>
                  </a:tcPr>
                </a:tc>
              </a:tr>
              <a:tr h="450000">
                <a:tc>
                  <a:txBody>
                    <a:bodyPr wrap="square" lIns="50400" rIns="50400" tIns="10800" bIns="10800" anchor="ctr"/>
                    <a:lstStyle/>
                    <a:p>
                      <a:pPr algn="ctr"/>
                      <a:r>
                        <a:rPr sz="1100">
                          <a:solidFill>
                            <a:srgbClr val="1C2233"/>
                          </a:solidFill>
                          <a:latin typeface="メイリオ"/>
                          <a:ea typeface="メイリオ"/>
                          <a:cs typeface="メイリオ"/>
                        </a:rPr>
                        <a:t>9</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全員（保護者にも転送を明記）</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4年間の学費と奨学金</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4年間でいくらかかるの</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a:t>
                      </a:r>
                    </a:p>
                  </a:txBody>
                  <a:tcPr anchor="ctr">
                    <a:solidFill>
                      <a:srgbClr val="FFFFFF"/>
                    </a:solidFill>
                  </a:tcPr>
                </a:tc>
              </a:tr>
              <a:tr h="450000">
                <a:tc>
                  <a:txBody>
                    <a:bodyPr wrap="square" lIns="50400" rIns="50400" tIns="10800" bIns="10800" anchor="ctr"/>
                    <a:lstStyle/>
                    <a:p>
                      <a:pPr algn="ctr"/>
                      <a:r>
                        <a:rPr sz="1100">
                          <a:solidFill>
                            <a:srgbClr val="1C2233"/>
                          </a:solidFill>
                          <a:latin typeface="メイリオ"/>
                          <a:ea typeface="メイリオ"/>
                          <a:cs typeface="メイリオ"/>
                        </a:rPr>
                        <a:t>11</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全員</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就職・進路データ（学部別の実績）</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卒業生はどこに行ったの</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a:t>
                      </a:r>
                    </a:p>
                  </a:txBody>
                  <a:tcPr anchor="ctr">
                    <a:solidFill>
                      <a:srgbClr val="F4F7FF"/>
                    </a:solidFill>
                  </a:tcPr>
                </a:tc>
              </a:tr>
              <a:tr h="450000">
                <a:tc>
                  <a:txBody>
                    <a:bodyPr wrap="square" lIns="50400" rIns="50400" tIns="10800" bIns="10800" anchor="ctr"/>
                    <a:lstStyle/>
                    <a:p>
                      <a:pPr algn="ctr"/>
                      <a:r>
                        <a:rPr sz="1100">
                          <a:solidFill>
                            <a:srgbClr val="1C2233"/>
                          </a:solidFill>
                          <a:latin typeface="メイリオ"/>
                          <a:ea typeface="メイリオ"/>
                          <a:cs typeface="メイリオ"/>
                        </a:rPr>
                        <a:t>14</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未CV者</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残席状況＋オンライン相談も選べる（出口を3つ）</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8/3の残席が少なくなっ</a:t>
                      </a:r>
                    </a:p>
                  </a:txBody>
                  <a:tcPr anchor="ctr">
                    <a:solidFill>
                      <a:srgbClr val="FFFFFF"/>
                    </a:solidFill>
                  </a:tcPr>
                </a:tc>
                <a:tc>
                  <a:txBody>
                    <a:bodyPr wrap="square" lIns="50400" rIns="50400" tIns="10800" bIns="10800" anchor="ctr"/>
                    <a:lstStyle/>
                    <a:p>
                      <a:pPr algn="ctr"/>
                      <a:r>
                        <a:rPr sz="1100" b="1">
                          <a:solidFill>
                            <a:srgbClr val="ED7D31"/>
                          </a:solidFill>
                          <a:latin typeface="メイリオ"/>
                          <a:ea typeface="メイリオ"/>
                          <a:cs typeface="メイリオ"/>
                        </a:rPr>
                        <a:t>OC予約【CV②】</a:t>
                      </a:r>
                    </a:p>
                  </a:txBody>
                  <a:tcPr anchor="ctr">
                    <a:solidFill>
                      <a:srgbClr val="FFFFFF"/>
                    </a:solidFill>
                  </a:tcPr>
                </a:tc>
              </a:tr>
            </a:tbl>
          </a:graphicData>
        </a:graphic>
      </p:graphicFrame>
      <p:sp>
        <p:nvSpPr>
          <p:cNvPr id="5" name="Rectangle 4"/>
          <p:cNvSpPr/>
          <p:nvPr/>
        </p:nvSpPr>
        <p:spPr>
          <a:xfrm>
            <a:off x="396000" y="5544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32000" y="5544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00" y="5623200"/>
            <a:ext cx="8820000" cy="324000"/>
          </a:xfrm>
          <a:prstGeom prst="rect">
            <a:avLst/>
          </a:prstGeom>
          <a:noFill/>
        </p:spPr>
        <p:txBody>
          <a:bodyPr wrap="square" lIns="0" rIns="0" tIns="21600" bIns="21600" anchor="ctr">
            <a:spAutoFit/>
          </a:bodyPr>
          <a:lstStyle/>
          <a:p>
            <a:pPr algn="l"/>
            <a:r>
              <a:rPr sz="1400" b="1">
                <a:solidFill>
                  <a:srgbClr val="1C2233"/>
                </a:solidFill>
                <a:latin typeface="メイリオ"/>
                <a:ea typeface="メイリオ"/>
                <a:cs typeface="メイリオ"/>
              </a:rPr>
              <a:t>CVオファーは2回置く（Day6・Day14）。1回で終わらせない。出口は3つ用意する。</a:t>
            </a:r>
          </a:p>
        </p:txBody>
      </p:sp>
      <p:sp>
        <p:nvSpPr>
          <p:cNvPr id="8" name="TextBox 7"/>
          <p:cNvSpPr txBox="1"/>
          <p:nvPr/>
        </p:nvSpPr>
        <p:spPr>
          <a:xfrm>
            <a:off x="396000" y="6138000"/>
            <a:ext cx="9144000" cy="518400"/>
          </a:xfrm>
          <a:prstGeom prst="rect">
            <a:avLst/>
          </a:prstGeom>
          <a:noFill/>
        </p:spPr>
        <p:txBody>
          <a:bodyPr wrap="square" lIns="0" rIns="0" tIns="21600" bIns="21600" anchor="t">
            <a:spAutoFit/>
          </a:bodyPr>
          <a:lstStyle/>
          <a:p>
            <a:pPr algn="l">
              <a:lnSpc>
                <a:spcPct val="120000"/>
              </a:lnSpc>
            </a:pPr>
            <a:r>
              <a:rPr sz="900">
                <a:solidFill>
                  <a:srgbClr val="646C82"/>
                </a:solidFill>
                <a:latin typeface="メイリオ"/>
                <a:ea typeface="メイリオ"/>
                <a:cs typeface="メイリオ"/>
              </a:rPr>
              <a:t>※ 14日の根拠：①友だち追加から15日前後でアクティブ率が急落する　②起点KW検索の後15日で他校の指名検索が立つ（前後検索）。</a:t>
            </a:r>
          </a:p>
          <a:p>
            <a:pPr algn="l">
              <a:lnSpc>
                <a:spcPct val="120000"/>
              </a:lnSpc>
            </a:pPr>
            <a:r>
              <a:rPr sz="900">
                <a:solidFill>
                  <a:srgbClr val="646C82"/>
                </a:solidFill>
                <a:latin typeface="メイリオ"/>
                <a:ea typeface="メイリオ"/>
                <a:cs typeface="メイリオ"/>
              </a:rPr>
              <a:t>※ Day14の出口3つ＝①OCに行く　②オンラインで在学生に聞く（20分）　③学部診断をもう一度やる。行けない子を落とさないため。</a:t>
            </a:r>
          </a:p>
        </p:txBody>
      </p:sp>
    </p:spTree>
    <p:extLst>
      <p:ext uri="{BB962C8B-B14F-4D97-AF65-F5344CB8AC3E}">
        <p14:creationId xmlns:p14="http://schemas.microsoft.com/office/powerpoint/2010/main" val="10987186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ステップ配信｜入学後14日で「辞めない形」を作る（第2の提案軸）</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中退の予兆は行動に出る。履修登録の遅れ・ガイダンス欠席・配信への無反応。</a:t>
            </a:r>
          </a:p>
          <a:p>
            <a:pPr algn="l">
              <a:lnSpc>
                <a:spcPct val="122000"/>
              </a:lnSpc>
            </a:pPr>
            <a:r>
              <a:rPr sz="1500">
                <a:solidFill>
                  <a:srgbClr val="646C82"/>
                </a:solidFill>
                <a:latin typeface="メイリオ"/>
                <a:ea typeface="メイリオ"/>
                <a:cs typeface="メイリオ"/>
              </a:rPr>
              <a:t>募集で1人増やすのと、中退を1人止めるのは、経営上まったく同じ価値。</a:t>
            </a:r>
          </a:p>
        </p:txBody>
      </p:sp>
      <p:graphicFrame>
        <p:nvGraphicFramePr>
          <p:cNvPr id="4" name="Table 3"/>
          <p:cNvGraphicFramePr>
            <a:graphicFrameLocks noGrp="1"/>
          </p:cNvGraphicFramePr>
          <p:nvPr/>
        </p:nvGraphicFramePr>
        <p:xfrm>
          <a:off x="396000" y="1224000"/>
          <a:ext cx="9144000" cy="2700000"/>
        </p:xfrm>
        <a:graphic>
          <a:graphicData uri="http://schemas.openxmlformats.org/drawingml/2006/table">
            <a:tbl>
              <a:tblPr firstRow="1" bandRow="1">
                <a:tableStyleId>{5C22544A-7EE6-4342-B048-85BDC9FD1C3A}</a:tableStyleId>
              </a:tblPr>
              <a:tblGrid>
                <a:gridCol w="1296000"/>
                <a:gridCol w="1944000"/>
                <a:gridCol w="3456000"/>
                <a:gridCol w="2448000"/>
              </a:tblGrid>
              <a:tr h="540000">
                <a:tc>
                  <a:txBody>
                    <a:bodyPr wrap="square" lIns="50400" rIns="50400" tIns="10800" bIns="10800" anchor="ctr"/>
                    <a:lstStyle/>
                    <a:p>
                      <a:pPr algn="ctr"/>
                      <a:r>
                        <a:rPr sz="1200" b="1">
                          <a:solidFill>
                            <a:srgbClr val="FFFFFF"/>
                          </a:solidFill>
                          <a:latin typeface="メイリオ"/>
                          <a:ea typeface="メイリオ"/>
                          <a:cs typeface="メイリオ"/>
                        </a:rPr>
                        <a:t>Day</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対象</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内容</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狙い</a:t>
                      </a:r>
                    </a:p>
                  </a:txBody>
                  <a:tcPr anchor="ctr">
                    <a:solidFill>
                      <a:srgbClr val="1F285A"/>
                    </a:solidFill>
                  </a:tcPr>
                </a:tc>
              </a:tr>
              <a:tr h="540000">
                <a:tc>
                  <a:txBody>
                    <a:bodyPr wrap="square" lIns="50400" rIns="50400" tIns="10800" bIns="10800" anchor="ctr"/>
                    <a:lstStyle/>
                    <a:p>
                      <a:pPr algn="ctr"/>
                      <a:r>
                        <a:rPr sz="1100">
                          <a:solidFill>
                            <a:srgbClr val="1C2233"/>
                          </a:solidFill>
                          <a:latin typeface="メイリオ"/>
                          <a:ea typeface="メイリオ"/>
                          <a:cs typeface="メイリオ"/>
                        </a:rPr>
                        <a:t>0（入学手続後）</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入学予定者</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入学前オリエンテーション案内／同じ学部の先輩の1日</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「ついていけるか」の不安を先に潰す</a:t>
                      </a:r>
                    </a:p>
                  </a:txBody>
                  <a:tcPr anchor="ctr">
                    <a:solidFill>
                      <a:srgbClr val="FFFFFF"/>
                    </a:solidFill>
                  </a:tcPr>
                </a:tc>
              </a:tr>
              <a:tr h="540000">
                <a:tc>
                  <a:txBody>
                    <a:bodyPr wrap="square" lIns="50400" rIns="50400" tIns="10800" bIns="10800" anchor="ctr"/>
                    <a:lstStyle/>
                    <a:p>
                      <a:pPr algn="ctr"/>
                      <a:r>
                        <a:rPr sz="1100">
                          <a:solidFill>
                            <a:srgbClr val="1C2233"/>
                          </a:solidFill>
                          <a:latin typeface="メイリオ"/>
                          <a:ea typeface="メイリオ"/>
                          <a:cs typeface="メイリオ"/>
                        </a:rPr>
                        <a:t>7</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入学予定者</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履修登録の仕方（3ステップ・つまずきやすい点つき）</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履修登録の遅れ＝中退の第1予兆を防ぐ</a:t>
                      </a:r>
                    </a:p>
                  </a:txBody>
                  <a:tcPr anchor="ctr">
                    <a:solidFill>
                      <a:srgbClr val="F4F7FF"/>
                    </a:solidFill>
                  </a:tcPr>
                </a:tc>
              </a:tr>
              <a:tr h="540000">
                <a:tc>
                  <a:txBody>
                    <a:bodyPr wrap="square" lIns="50400" rIns="50400" tIns="10800" bIns="10800" anchor="ctr"/>
                    <a:lstStyle/>
                    <a:p>
                      <a:pPr algn="ctr"/>
                      <a:r>
                        <a:rPr sz="1100">
                          <a:solidFill>
                            <a:srgbClr val="1C2233"/>
                          </a:solidFill>
                          <a:latin typeface="メイリオ"/>
                          <a:ea typeface="メイリオ"/>
                          <a:cs typeface="メイリオ"/>
                        </a:rPr>
                        <a:t>14</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入学予定者・保護者</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一人暮らし準備／奨学金の手続き期限／学生相談窓口の案内</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保護者の不安も同時に外す</a:t>
                      </a:r>
                    </a:p>
                  </a:txBody>
                  <a:tcPr anchor="ctr">
                    <a:solidFill>
                      <a:srgbClr val="FFFFFF"/>
                    </a:solidFill>
                  </a:tcPr>
                </a:tc>
              </a:tr>
              <a:tr h="540000">
                <a:tc>
                  <a:txBody>
                    <a:bodyPr wrap="square" lIns="50400" rIns="50400" tIns="10800" bIns="10800" anchor="ctr"/>
                    <a:lstStyle/>
                    <a:p>
                      <a:pPr algn="ctr"/>
                      <a:r>
                        <a:rPr sz="1100">
                          <a:solidFill>
                            <a:srgbClr val="1C2233"/>
                          </a:solidFill>
                          <a:latin typeface="メイリオ"/>
                          <a:ea typeface="メイリオ"/>
                          <a:cs typeface="メイリオ"/>
                        </a:rPr>
                        <a:t>以降・常時</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在学生（無反応が続く層）</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「最近どう？」の自動声かけ→学生相談へトスアップ</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離脱予兆検知。幽霊化する前に止める</a:t>
                      </a:r>
                    </a:p>
                  </a:txBody>
                  <a:tcPr anchor="ctr">
                    <a:solidFill>
                      <a:srgbClr val="F4F7FF"/>
                    </a:solidFill>
                  </a:tcPr>
                </a:tc>
              </a:tr>
            </a:tbl>
          </a:graphicData>
        </a:graphic>
      </p:graphicFrame>
      <p:sp>
        <p:nvSpPr>
          <p:cNvPr id="5" name="Rounded Rectangle 4"/>
          <p:cNvSpPr/>
          <p:nvPr/>
        </p:nvSpPr>
        <p:spPr>
          <a:xfrm>
            <a:off x="396000" y="3744000"/>
            <a:ext cx="4464000" cy="158400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C00000"/>
                </a:solidFill>
                <a:latin typeface="メイリオ"/>
                <a:ea typeface="メイリオ"/>
                <a:cs typeface="メイリオ"/>
              </a:rPr>
              <a:t>中退1人の損失＝残存年数分の学費</a:t>
            </a:r>
          </a:p>
          <a:p>
            <a:pPr algn="l">
              <a:lnSpc>
                <a:spcPct val="120000"/>
              </a:lnSpc>
              <a:spcAft>
                <a:spcPts val="200"/>
              </a:spcAft>
            </a:pPr>
            <a:r>
              <a:rPr sz="1100">
                <a:solidFill>
                  <a:srgbClr val="1C2233"/>
                </a:solidFill>
                <a:latin typeface="メイリオ"/>
                <a:ea typeface="メイリオ"/>
                <a:cs typeface="メイリオ"/>
              </a:rPr>
              <a:t>大学の年間中退率は約2%。4年間では入学者の約8%（12人に1人）。</a:t>
            </a:r>
          </a:p>
          <a:p>
            <a:pPr algn="l">
              <a:lnSpc>
                <a:spcPct val="120000"/>
              </a:lnSpc>
              <a:spcAft>
                <a:spcPts val="200"/>
              </a:spcAft>
            </a:pPr>
            <a:r>
              <a:rPr sz="1100">
                <a:solidFill>
                  <a:srgbClr val="1C2233"/>
                </a:solidFill>
                <a:latin typeface="メイリオ"/>
                <a:ea typeface="メイリオ"/>
                <a:cs typeface="メイリオ"/>
              </a:rPr>
              <a:t>2年次で中退なら、残り2年分＝約200〜300万円が消える。</a:t>
            </a:r>
          </a:p>
          <a:p>
            <a:pPr algn="l">
              <a:lnSpc>
                <a:spcPct val="120000"/>
              </a:lnSpc>
              <a:spcAft>
                <a:spcPts val="200"/>
              </a:spcAft>
            </a:pPr>
            <a:r>
              <a:rPr sz="1100">
                <a:solidFill>
                  <a:srgbClr val="1C2233"/>
                </a:solidFill>
                <a:latin typeface="メイリオ"/>
                <a:ea typeface="メイリオ"/>
                <a:cs typeface="メイリオ"/>
              </a:rPr>
              <a:t>＝ 中退を1人止めることは、入学者を1人増やすのと同じ。</a:t>
            </a:r>
          </a:p>
        </p:txBody>
      </p:sp>
      <p:sp>
        <p:nvSpPr>
          <p:cNvPr id="6" name="Rounded Rectangle 5"/>
          <p:cNvSpPr/>
          <p:nvPr/>
        </p:nvSpPr>
        <p:spPr>
          <a:xfrm>
            <a:off x="5076000" y="3744000"/>
            <a:ext cx="44640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1F285A"/>
                </a:solidFill>
                <a:latin typeface="メイリオ"/>
                <a:ea typeface="メイリオ"/>
                <a:cs typeface="メイリオ"/>
              </a:rPr>
              <a:t>同じアカウントで、入学後もそのまま使える</a:t>
            </a:r>
          </a:p>
          <a:p>
            <a:pPr algn="l">
              <a:lnSpc>
                <a:spcPct val="120000"/>
              </a:lnSpc>
              <a:spcAft>
                <a:spcPts val="200"/>
              </a:spcAft>
            </a:pPr>
            <a:r>
              <a:rPr sz="1100">
                <a:solidFill>
                  <a:srgbClr val="1C2233"/>
                </a:solidFill>
                <a:latin typeface="メイリオ"/>
                <a:ea typeface="メイリオ"/>
                <a:cs typeface="メイリオ"/>
              </a:rPr>
              <a:t>入学前教育／休講・災害時の一斉連絡／保護者向け通知／</a:t>
            </a:r>
          </a:p>
          <a:p>
            <a:pPr algn="l">
              <a:lnSpc>
                <a:spcPct val="120000"/>
              </a:lnSpc>
              <a:spcAft>
                <a:spcPts val="200"/>
              </a:spcAft>
            </a:pPr>
            <a:r>
              <a:rPr sz="1100">
                <a:solidFill>
                  <a:srgbClr val="1C2233"/>
                </a:solidFill>
                <a:latin typeface="メイリオ"/>
                <a:ea typeface="メイリオ"/>
                <a:cs typeface="メイリオ"/>
              </a:rPr>
              <a:t>就職支援／卒業生・寄付の案内まで1本で回せる。</a:t>
            </a:r>
          </a:p>
          <a:p>
            <a:pPr algn="l">
              <a:lnSpc>
                <a:spcPct val="120000"/>
              </a:lnSpc>
              <a:spcAft>
                <a:spcPts val="200"/>
              </a:spcAft>
            </a:pPr>
            <a:r>
              <a:rPr sz="1100">
                <a:solidFill>
                  <a:srgbClr val="1C2233"/>
                </a:solidFill>
                <a:latin typeface="メイリオ"/>
                <a:ea typeface="メイリオ"/>
                <a:cs typeface="メイリオ"/>
              </a:rPr>
              <a:t>※受験生向けと在学生向けは、タグで分離する設計にする。</a:t>
            </a:r>
          </a:p>
        </p:txBody>
      </p:sp>
      <p:sp>
        <p:nvSpPr>
          <p:cNvPr id="7" name="Rectangle 6"/>
          <p:cNvSpPr/>
          <p:nvPr/>
        </p:nvSpPr>
        <p:spPr>
          <a:xfrm>
            <a:off x="396000" y="5544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2000" y="5544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00" y="5623200"/>
            <a:ext cx="8820000" cy="324000"/>
          </a:xfrm>
          <a:prstGeom prst="rect">
            <a:avLst/>
          </a:prstGeom>
          <a:noFill/>
        </p:spPr>
        <p:txBody>
          <a:bodyPr wrap="square" lIns="0" rIns="0" tIns="21600" bIns="21600" anchor="ctr">
            <a:spAutoFit/>
          </a:bodyPr>
          <a:lstStyle/>
          <a:p>
            <a:pPr algn="l"/>
            <a:r>
              <a:rPr sz="1400" b="1">
                <a:solidFill>
                  <a:srgbClr val="1C2233"/>
                </a:solidFill>
                <a:latin typeface="メイリオ"/>
                <a:ea typeface="メイリオ"/>
                <a:cs typeface="メイリオ"/>
              </a:rPr>
              <a:t>入学前の14日でOC予約を取り、入学後の14日で「辞めない形」を作る。この2本で1セット。</a:t>
            </a:r>
          </a:p>
        </p:txBody>
      </p:sp>
      <p:sp>
        <p:nvSpPr>
          <p:cNvPr id="10" name="TextBox 9"/>
          <p:cNvSpPr txBox="1"/>
          <p:nvPr/>
        </p:nvSpPr>
        <p:spPr>
          <a:xfrm>
            <a:off x="396000" y="6138000"/>
            <a:ext cx="9144000" cy="518400"/>
          </a:xfrm>
          <a:prstGeom prst="rect">
            <a:avLst/>
          </a:prstGeom>
          <a:noFill/>
        </p:spPr>
        <p:txBody>
          <a:bodyPr wrap="square" lIns="0" rIns="0" tIns="21600" bIns="21600" anchor="t">
            <a:spAutoFit/>
          </a:bodyPr>
          <a:lstStyle/>
          <a:p>
            <a:pPr algn="l">
              <a:lnSpc>
                <a:spcPct val="120000"/>
              </a:lnSpc>
            </a:pPr>
            <a:r>
              <a:rPr sz="900">
                <a:solidFill>
                  <a:srgbClr val="646C82"/>
                </a:solidFill>
                <a:latin typeface="メイリオ"/>
                <a:ea typeface="メイリオ"/>
                <a:cs typeface="メイリオ"/>
              </a:rPr>
              <a:t>※ 中退率は文部科学省の調査に基づく概数。【提出前に最新調査で原典照合すること】</a:t>
            </a:r>
          </a:p>
          <a:p>
            <a:pPr algn="l">
              <a:lnSpc>
                <a:spcPct val="120000"/>
              </a:lnSpc>
            </a:pPr>
            <a:r>
              <a:rPr sz="900">
                <a:solidFill>
                  <a:srgbClr val="646C82"/>
                </a:solidFill>
                <a:latin typeface="メイリオ"/>
                <a:ea typeface="メイリオ"/>
                <a:cs typeface="メイリオ"/>
              </a:rPr>
              <a:t>※ 中退率・在籍年数はLINE側では計測できない。貴学の学務システムの数値と突き合わせて効果を見る。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リッチメニュー設計案｜3タブ × 6枠（18ボタン）</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「受験生」「OC・入試」「保護者」で、見せる画面を変える。</a:t>
            </a:r>
          </a:p>
          <a:p>
            <a:pPr algn="l">
              <a:lnSpc>
                <a:spcPct val="122000"/>
              </a:lnSpc>
            </a:pPr>
            <a:r>
              <a:rPr sz="1500">
                <a:solidFill>
                  <a:srgbClr val="646C82"/>
                </a:solidFill>
                <a:latin typeface="メイリオ"/>
                <a:ea typeface="メイリオ"/>
                <a:cs typeface="メイリオ"/>
              </a:rPr>
              <a:t>左上に置くのは資料請求ではない。まだ決めていない人が押せる場所。</a:t>
            </a:r>
          </a:p>
        </p:txBody>
      </p:sp>
      <p:graphicFrame>
        <p:nvGraphicFramePr>
          <p:cNvPr id="4" name="Table 3"/>
          <p:cNvGraphicFramePr>
            <a:graphicFrameLocks noGrp="1"/>
          </p:cNvGraphicFramePr>
          <p:nvPr/>
        </p:nvGraphicFramePr>
        <p:xfrm>
          <a:off x="396000" y="1224000"/>
          <a:ext cx="9144000" cy="3654000"/>
        </p:xfrm>
        <a:graphic>
          <a:graphicData uri="http://schemas.openxmlformats.org/drawingml/2006/table">
            <a:tbl>
              <a:tblPr firstRow="1" bandRow="1">
                <a:tableStyleId>{5C22544A-7EE6-4342-B048-85BDC9FD1C3A}</a:tableStyleId>
              </a:tblPr>
              <a:tblGrid>
                <a:gridCol w="1440000"/>
                <a:gridCol w="2592000"/>
                <a:gridCol w="2592000"/>
                <a:gridCol w="2520000"/>
              </a:tblGrid>
              <a:tr h="522000">
                <a:tc>
                  <a:txBody>
                    <a:bodyPr wrap="square" lIns="50400" rIns="50400" tIns="10800" bIns="10800" anchor="ctr"/>
                    <a:lstStyle/>
                    <a:p>
                      <a:pPr algn="ctr"/>
                      <a:r>
                        <a:rPr sz="1200" b="1">
                          <a:solidFill>
                            <a:srgbClr val="FFFFFF"/>
                          </a:solidFill>
                          <a:latin typeface="メイリオ"/>
                          <a:ea typeface="メイリオ"/>
                          <a:cs typeface="メイリオ"/>
                        </a:rPr>
                        <a:t>位置</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① 受験生・はじめての方</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② オープンキャンパス・入試</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③ 保護者の方へ</a:t>
                      </a:r>
                    </a:p>
                  </a:txBody>
                  <a:tcPr anchor="ctr">
                    <a:solidFill>
                      <a:srgbClr val="1F285A"/>
                    </a:solidFill>
                  </a:tcPr>
                </a:tc>
              </a:tr>
              <a:tr h="522000">
                <a:tc>
                  <a:txBody>
                    <a:bodyPr wrap="square" lIns="50400" rIns="50400" tIns="10800" bIns="10800" anchor="ctr"/>
                    <a:lstStyle/>
                    <a:p>
                      <a:pPr algn="ctr"/>
                      <a:r>
                        <a:rPr sz="1100">
                          <a:solidFill>
                            <a:srgbClr val="1C2233"/>
                          </a:solidFill>
                          <a:latin typeface="メイリオ"/>
                          <a:ea typeface="メイリオ"/>
                          <a:cs typeface="メイリオ"/>
                        </a:rPr>
                        <a:t>左上（最重要）</a:t>
                      </a:r>
                    </a:p>
                  </a:txBody>
                  <a:tcPr anchor="ctr">
                    <a:solidFill>
                      <a:srgbClr val="FFFFFF"/>
                    </a:solidFill>
                  </a:tcPr>
                </a:tc>
                <a:tc>
                  <a:txBody>
                    <a:bodyPr wrap="square" lIns="50400" rIns="50400" tIns="10800" bIns="10800" anchor="ctr"/>
                    <a:lstStyle/>
                    <a:p>
                      <a:pPr algn="l"/>
                      <a:r>
                        <a:rPr sz="1100" b="1">
                          <a:solidFill>
                            <a:srgbClr val="ED7D31"/>
                          </a:solidFill>
                          <a:latin typeface="メイリオ"/>
                          <a:ea typeface="メイリオ"/>
                          <a:cs typeface="メイリオ"/>
                        </a:rPr>
                        <a:t>30秒 学部学科診断</a:t>
                      </a:r>
                    </a:p>
                  </a:txBody>
                  <a:tcPr anchor="ctr">
                    <a:solidFill>
                      <a:srgbClr val="FFFFFF"/>
                    </a:solidFill>
                  </a:tcPr>
                </a:tc>
                <a:tc>
                  <a:txBody>
                    <a:bodyPr wrap="square" lIns="50400" rIns="50400" tIns="10800" bIns="10800" anchor="ctr"/>
                    <a:lstStyle/>
                    <a:p>
                      <a:pPr algn="l"/>
                      <a:r>
                        <a:rPr sz="1100" b="1">
                          <a:solidFill>
                            <a:srgbClr val="ED7D31"/>
                          </a:solidFill>
                          <a:latin typeface="メイリオ"/>
                          <a:ea typeface="メイリオ"/>
                          <a:cs typeface="メイリオ"/>
                        </a:rPr>
                        <a:t>次回OCの日程・予約</a:t>
                      </a:r>
                    </a:p>
                  </a:txBody>
                  <a:tcPr anchor="ctr">
                    <a:solidFill>
                      <a:srgbClr val="FFFFFF"/>
                    </a:solidFill>
                  </a:tcPr>
                </a:tc>
                <a:tc>
                  <a:txBody>
                    <a:bodyPr wrap="square" lIns="50400" rIns="50400" tIns="10800" bIns="10800" anchor="ctr"/>
                    <a:lstStyle/>
                    <a:p>
                      <a:pPr algn="l"/>
                      <a:r>
                        <a:rPr sz="1100" b="1">
                          <a:solidFill>
                            <a:srgbClr val="ED7D31"/>
                          </a:solidFill>
                          <a:latin typeface="メイリオ"/>
                          <a:ea typeface="メイリオ"/>
                          <a:cs typeface="メイリオ"/>
                        </a:rPr>
                        <a:t>4年間の学費シミュレーション</a:t>
                      </a:r>
                    </a:p>
                  </a:txBody>
                  <a:tcPr anchor="ctr">
                    <a:solidFill>
                      <a:srgbClr val="FFFFFF"/>
                    </a:solidFill>
                  </a:tcPr>
                </a:tc>
              </a:tr>
              <a:tr h="522000">
                <a:tc>
                  <a:txBody>
                    <a:bodyPr wrap="square" lIns="50400" rIns="50400" tIns="10800" bIns="10800" anchor="ctr"/>
                    <a:lstStyle/>
                    <a:p>
                      <a:pPr algn="ctr"/>
                      <a:r>
                        <a:rPr sz="1100">
                          <a:solidFill>
                            <a:srgbClr val="1C2233"/>
                          </a:solidFill>
                          <a:latin typeface="メイリオ"/>
                          <a:ea typeface="メイリオ"/>
                          <a:cs typeface="メイリオ"/>
                        </a:rPr>
                        <a:t>右上</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オープンキャンパス予約</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当日の流れ・持ち物</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奨学金・学費支援制度</a:t>
                      </a:r>
                    </a:p>
                  </a:txBody>
                  <a:tcPr anchor="ctr">
                    <a:solidFill>
                      <a:srgbClr val="F4F7FF"/>
                    </a:solidFill>
                  </a:tcPr>
                </a:tc>
              </a:tr>
              <a:tr h="522000">
                <a:tc>
                  <a:txBody>
                    <a:bodyPr wrap="square" lIns="50400" rIns="50400" tIns="10800" bIns="10800" anchor="ctr"/>
                    <a:lstStyle/>
                    <a:p>
                      <a:pPr algn="ctr"/>
                      <a:r>
                        <a:rPr sz="1100">
                          <a:solidFill>
                            <a:srgbClr val="1C2233"/>
                          </a:solidFill>
                          <a:latin typeface="メイリオ"/>
                          <a:ea typeface="メイリオ"/>
                          <a:cs typeface="メイリオ"/>
                        </a:rPr>
                        <a:t>左中</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学部・学科を見る</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アクセス・キャンパスマップ</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就職実績・進路データ</a:t>
                      </a:r>
                    </a:p>
                  </a:txBody>
                  <a:tcPr anchor="ctr">
                    <a:solidFill>
                      <a:srgbClr val="FFFFFF"/>
                    </a:solidFill>
                  </a:tcPr>
                </a:tc>
              </a:tr>
              <a:tr h="522000">
                <a:tc>
                  <a:txBody>
                    <a:bodyPr wrap="square" lIns="50400" rIns="50400" tIns="10800" bIns="10800" anchor="ctr"/>
                    <a:lstStyle/>
                    <a:p>
                      <a:pPr algn="ctr"/>
                      <a:r>
                        <a:rPr sz="1100">
                          <a:solidFill>
                            <a:srgbClr val="1C2233"/>
                          </a:solidFill>
                          <a:latin typeface="メイリオ"/>
                          <a:ea typeface="メイリオ"/>
                          <a:cs typeface="メイリオ"/>
                        </a:rPr>
                        <a:t>右中</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資料（デジタルパンフ）をもらう</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入試方式を調べる</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保護者向け説明会</a:t>
                      </a:r>
                    </a:p>
                  </a:txBody>
                  <a:tcPr anchor="ctr">
                    <a:solidFill>
                      <a:srgbClr val="F4F7FF"/>
                    </a:solidFill>
                  </a:tcPr>
                </a:tc>
              </a:tr>
              <a:tr h="522000">
                <a:tc>
                  <a:txBody>
                    <a:bodyPr wrap="square" lIns="50400" rIns="50400" tIns="10800" bIns="10800" anchor="ctr"/>
                    <a:lstStyle/>
                    <a:p>
                      <a:pPr algn="ctr"/>
                      <a:r>
                        <a:rPr sz="1100">
                          <a:solidFill>
                            <a:srgbClr val="1C2233"/>
                          </a:solidFill>
                          <a:latin typeface="メイリオ"/>
                          <a:ea typeface="メイリオ"/>
                          <a:cs typeface="メイリオ"/>
                        </a:rPr>
                        <a:t>左下</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まだ決まっていない人へ</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出願スケジュール</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一人暮らしの費用の目安</a:t>
                      </a:r>
                    </a:p>
                  </a:txBody>
                  <a:tcPr anchor="ctr">
                    <a:solidFill>
                      <a:srgbClr val="FFFFFF"/>
                    </a:solidFill>
                  </a:tcPr>
                </a:tc>
              </a:tr>
              <a:tr h="522000">
                <a:tc>
                  <a:txBody>
                    <a:bodyPr wrap="square" lIns="50400" rIns="50400" tIns="10800" bIns="10800" anchor="ctr"/>
                    <a:lstStyle/>
                    <a:p>
                      <a:pPr algn="ctr"/>
                      <a:r>
                        <a:rPr sz="1100">
                          <a:solidFill>
                            <a:srgbClr val="1C2233"/>
                          </a:solidFill>
                          <a:latin typeface="メイリオ"/>
                          <a:ea typeface="メイリオ"/>
                          <a:cs typeface="メイリオ"/>
                        </a:rPr>
                        <a:t>右下</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在学生に質問する</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過去問・入試説明会</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個別相談を申し込む</a:t>
                      </a:r>
                    </a:p>
                  </a:txBody>
                  <a:tcPr anchor="ctr">
                    <a:solidFill>
                      <a:srgbClr val="F4F7FF"/>
                    </a:solidFill>
                  </a:tcPr>
                </a:tc>
              </a:tr>
            </a:tbl>
          </a:graphicData>
        </a:graphic>
      </p:graphicFrame>
      <p:sp>
        <p:nvSpPr>
          <p:cNvPr id="5" name="Rounded Rectangle 4"/>
          <p:cNvSpPr/>
          <p:nvPr/>
        </p:nvSpPr>
        <p:spPr>
          <a:xfrm>
            <a:off x="396000" y="4824000"/>
            <a:ext cx="2951999" cy="118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1F285A"/>
                </a:solidFill>
                <a:latin typeface="メイリオ"/>
                <a:ea typeface="メイリオ"/>
                <a:cs typeface="メイリオ"/>
              </a:rPr>
              <a:t>決めていない子の逃げ道を2つ</a:t>
            </a:r>
          </a:p>
          <a:p>
            <a:pPr algn="l">
              <a:lnSpc>
                <a:spcPct val="120000"/>
              </a:lnSpc>
              <a:spcAft>
                <a:spcPts val="200"/>
              </a:spcAft>
            </a:pPr>
            <a:r>
              <a:rPr sz="1100">
                <a:solidFill>
                  <a:srgbClr val="1C2233"/>
                </a:solidFill>
                <a:latin typeface="メイリオ"/>
                <a:ea typeface="メイリオ"/>
                <a:cs typeface="メイリオ"/>
              </a:rPr>
              <a:t>「30秒 学部学科診断」と「まだ決まっていない人へ」。</a:t>
            </a:r>
          </a:p>
          <a:p>
            <a:pPr algn="l">
              <a:lnSpc>
                <a:spcPct val="120000"/>
              </a:lnSpc>
              <a:spcAft>
                <a:spcPts val="200"/>
              </a:spcAft>
            </a:pPr>
            <a:r>
              <a:rPr sz="1100">
                <a:solidFill>
                  <a:srgbClr val="1C2233"/>
                </a:solidFill>
                <a:latin typeface="メイリオ"/>
                <a:ea typeface="メイリオ"/>
                <a:cs typeface="メイリオ"/>
              </a:rPr>
              <a:t>学部が決まっていない子は資料請求を押せない。</a:t>
            </a:r>
          </a:p>
        </p:txBody>
      </p:sp>
      <p:sp>
        <p:nvSpPr>
          <p:cNvPr id="6" name="Rounded Rectangle 5"/>
          <p:cNvSpPr/>
          <p:nvPr/>
        </p:nvSpPr>
        <p:spPr>
          <a:xfrm>
            <a:off x="3491999" y="4824000"/>
            <a:ext cx="2951999" cy="1188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ED7D31"/>
                </a:solidFill>
                <a:latin typeface="メイリオ"/>
                <a:ea typeface="メイリオ"/>
                <a:cs typeface="メイリオ"/>
              </a:rPr>
              <a:t>タブ③は「払う人」専用</a:t>
            </a:r>
          </a:p>
          <a:p>
            <a:pPr algn="l">
              <a:lnSpc>
                <a:spcPct val="120000"/>
              </a:lnSpc>
              <a:spcAft>
                <a:spcPts val="200"/>
              </a:spcAft>
            </a:pPr>
            <a:r>
              <a:rPr sz="1100">
                <a:solidFill>
                  <a:srgbClr val="1C2233"/>
                </a:solidFill>
                <a:latin typeface="メイリオ"/>
                <a:ea typeface="メイリオ"/>
                <a:cs typeface="メイリオ"/>
              </a:rPr>
              <a:t>決める人（高校生）と払う人（保護者）が違う業界。</a:t>
            </a:r>
          </a:p>
          <a:p>
            <a:pPr algn="l">
              <a:lnSpc>
                <a:spcPct val="120000"/>
              </a:lnSpc>
              <a:spcAft>
                <a:spcPts val="200"/>
              </a:spcAft>
            </a:pPr>
            <a:r>
              <a:rPr sz="1100">
                <a:solidFill>
                  <a:srgbClr val="1C2233"/>
                </a:solidFill>
                <a:latin typeface="メイリオ"/>
                <a:ea typeface="メイリオ"/>
                <a:cs typeface="メイリオ"/>
              </a:rPr>
              <a:t>保護者が一番知りたい総額を、左上に置く。</a:t>
            </a:r>
          </a:p>
        </p:txBody>
      </p:sp>
      <p:sp>
        <p:nvSpPr>
          <p:cNvPr id="7" name="Rounded Rectangle 6"/>
          <p:cNvSpPr/>
          <p:nvPr/>
        </p:nvSpPr>
        <p:spPr>
          <a:xfrm>
            <a:off x="6588000" y="4824000"/>
            <a:ext cx="2951999" cy="118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1F285A"/>
                </a:solidFill>
                <a:latin typeface="メイリオ"/>
                <a:ea typeface="メイリオ"/>
                <a:cs typeface="メイリオ"/>
              </a:rPr>
              <a:t>年3回、差し替える前提</a:t>
            </a:r>
          </a:p>
          <a:p>
            <a:pPr algn="l">
              <a:lnSpc>
                <a:spcPct val="120000"/>
              </a:lnSpc>
              <a:spcAft>
                <a:spcPts val="200"/>
              </a:spcAft>
            </a:pPr>
            <a:r>
              <a:rPr sz="1100">
                <a:solidFill>
                  <a:srgbClr val="1C2233"/>
                </a:solidFill>
                <a:latin typeface="メイリオ"/>
                <a:ea typeface="メイリオ"/>
                <a:cs typeface="メイリオ"/>
              </a:rPr>
              <a:t>OC期（6〜8月）はタブ②を、出願期（9〜11月）は</a:t>
            </a:r>
          </a:p>
          <a:p>
            <a:pPr algn="l">
              <a:lnSpc>
                <a:spcPct val="120000"/>
              </a:lnSpc>
              <a:spcAft>
                <a:spcPts val="200"/>
              </a:spcAft>
            </a:pPr>
            <a:r>
              <a:rPr sz="1100">
                <a:solidFill>
                  <a:srgbClr val="1C2233"/>
                </a:solidFill>
                <a:latin typeface="メイリオ"/>
                <a:ea typeface="メイリオ"/>
                <a:cs typeface="メイリオ"/>
              </a:rPr>
              <a:t>出願スケジュールをデフォルト表示に切り替える。</a:t>
            </a:r>
          </a:p>
        </p:txBody>
      </p:sp>
    </p:spTree>
    <p:extLst>
      <p:ext uri="{BB962C8B-B14F-4D97-AF65-F5344CB8AC3E}">
        <p14:creationId xmlns:p14="http://schemas.microsoft.com/office/powerpoint/2010/main" val="827903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リッチメニュー実装イメージ｜3タブの実物</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同じLINEでも、受験生・入試期・保護者で見える画面が切り替わる。</a:t>
            </a:r>
          </a:p>
        </p:txBody>
      </p:sp>
      <p:sp>
        <p:nvSpPr>
          <p:cNvPr id="4" name="Rounded Rectangle 3"/>
          <p:cNvSpPr/>
          <p:nvPr/>
        </p:nvSpPr>
        <p:spPr>
          <a:xfrm>
            <a:off x="396000" y="1224000"/>
            <a:ext cx="2951999" cy="360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21600" rIns="21600" tIns="0" bIns="0"/>
          <a:lstStyle/>
          <a:p>
            <a:pPr algn="ctr"/>
            <a:r>
              <a:rPr sz="1200" b="1">
                <a:solidFill>
                  <a:srgbClr val="1F285A"/>
                </a:solidFill>
                <a:latin typeface="メイリオ"/>
                <a:ea typeface="メイリオ"/>
                <a:cs typeface="メイリオ"/>
              </a:rPr>
              <a:t>① 受験生</a:t>
            </a:r>
          </a:p>
        </p:txBody>
      </p:sp>
      <p:sp>
        <p:nvSpPr>
          <p:cNvPr id="5" name="Rounded Rectangle 4"/>
          <p:cNvSpPr/>
          <p:nvPr/>
        </p:nvSpPr>
        <p:spPr>
          <a:xfrm>
            <a:off x="396000" y="1638000"/>
            <a:ext cx="2951999" cy="2160000"/>
          </a:xfrm>
          <a:prstGeom prst="roundRect">
            <a:avLst>
              <a:gd name="adj" fmla="val 6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21200" y="1663200"/>
            <a:ext cx="952799" cy="223200"/>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FFFFFF"/>
                </a:solidFill>
                <a:latin typeface="メイリオ"/>
                <a:ea typeface="メイリオ"/>
                <a:cs typeface="メイリオ"/>
              </a:rPr>
              <a:t>受験生</a:t>
            </a:r>
          </a:p>
        </p:txBody>
      </p:sp>
      <p:sp>
        <p:nvSpPr>
          <p:cNvPr id="7" name="Rectangle 6"/>
          <p:cNvSpPr/>
          <p:nvPr/>
        </p:nvSpPr>
        <p:spPr>
          <a:xfrm>
            <a:off x="1388400" y="1663200"/>
            <a:ext cx="952799" cy="223200"/>
          </a:xfrm>
          <a:prstGeom prst="rect">
            <a:avLst/>
          </a:prstGeom>
          <a:solidFill>
            <a:srgbClr val="3F3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FFFFFF"/>
                </a:solidFill>
                <a:latin typeface="メイリオ"/>
                <a:ea typeface="メイリオ"/>
                <a:cs typeface="メイリオ"/>
              </a:rPr>
              <a:t>OC・入試</a:t>
            </a:r>
          </a:p>
        </p:txBody>
      </p:sp>
      <p:sp>
        <p:nvSpPr>
          <p:cNvPr id="8" name="Rectangle 7"/>
          <p:cNvSpPr/>
          <p:nvPr/>
        </p:nvSpPr>
        <p:spPr>
          <a:xfrm>
            <a:off x="2355599" y="1663200"/>
            <a:ext cx="952799" cy="223200"/>
          </a:xfrm>
          <a:prstGeom prst="rect">
            <a:avLst/>
          </a:prstGeom>
          <a:solidFill>
            <a:srgbClr val="3F3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FFFFFF"/>
                </a:solidFill>
                <a:latin typeface="メイリオ"/>
                <a:ea typeface="メイリオ"/>
                <a:cs typeface="メイリオ"/>
              </a:rPr>
              <a:t>保護者の方へ</a:t>
            </a:r>
          </a:p>
        </p:txBody>
      </p:sp>
      <p:sp>
        <p:nvSpPr>
          <p:cNvPr id="9" name="Rounded Rectangle 8"/>
          <p:cNvSpPr/>
          <p:nvPr/>
        </p:nvSpPr>
        <p:spPr>
          <a:xfrm>
            <a:off x="421200" y="1911600"/>
            <a:ext cx="950399" cy="917999"/>
          </a:xfrm>
          <a:prstGeom prst="roundRect">
            <a:avLst>
              <a:gd name="adj" fmla="val 4000"/>
            </a:avLst>
          </a:prstGeom>
          <a:solidFill>
            <a:srgbClr val="FCE4D6"/>
          </a:solidFill>
          <a:ln w="12700">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lnSpc>
                <a:spcPct val="110000"/>
              </a:lnSpc>
            </a:pPr>
            <a:r>
              <a:rPr sz="850" b="1">
                <a:solidFill>
                  <a:srgbClr val="ED7D31"/>
                </a:solidFill>
                <a:latin typeface="メイリオ"/>
                <a:ea typeface="メイリオ"/>
                <a:cs typeface="メイリオ"/>
              </a:rPr>
              <a:t>30秒</a:t>
            </a:r>
          </a:p>
          <a:p>
            <a:pPr algn="ctr">
              <a:lnSpc>
                <a:spcPct val="110000"/>
              </a:lnSpc>
            </a:pPr>
            <a:r>
              <a:rPr sz="850" b="1">
                <a:solidFill>
                  <a:srgbClr val="ED7D31"/>
                </a:solidFill>
                <a:latin typeface="メイリオ"/>
                <a:ea typeface="メイリオ"/>
                <a:cs typeface="メイリオ"/>
              </a:rPr>
              <a:t>学部学科診断</a:t>
            </a:r>
          </a:p>
        </p:txBody>
      </p:sp>
      <p:sp>
        <p:nvSpPr>
          <p:cNvPr id="10" name="Rounded Rectangle 9"/>
          <p:cNvSpPr/>
          <p:nvPr/>
        </p:nvSpPr>
        <p:spPr>
          <a:xfrm>
            <a:off x="1396800" y="19116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lnSpc>
                <a:spcPct val="110000"/>
              </a:lnSpc>
            </a:pPr>
            <a:r>
              <a:rPr sz="850" b="1">
                <a:solidFill>
                  <a:srgbClr val="1F285A"/>
                </a:solidFill>
                <a:latin typeface="メイリオ"/>
                <a:ea typeface="メイリオ"/>
                <a:cs typeface="メイリオ"/>
              </a:rPr>
              <a:t>オープン</a:t>
            </a:r>
          </a:p>
          <a:p>
            <a:pPr algn="ctr">
              <a:lnSpc>
                <a:spcPct val="110000"/>
              </a:lnSpc>
            </a:pPr>
            <a:r>
              <a:rPr sz="850" b="1">
                <a:solidFill>
                  <a:srgbClr val="1F285A"/>
                </a:solidFill>
                <a:latin typeface="メイリオ"/>
                <a:ea typeface="メイリオ"/>
                <a:cs typeface="メイリオ"/>
              </a:rPr>
              <a:t>キャンパス予約</a:t>
            </a:r>
          </a:p>
        </p:txBody>
      </p:sp>
      <p:sp>
        <p:nvSpPr>
          <p:cNvPr id="11" name="Rounded Rectangle 10"/>
          <p:cNvSpPr/>
          <p:nvPr/>
        </p:nvSpPr>
        <p:spPr>
          <a:xfrm>
            <a:off x="2372399" y="19116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lnSpc>
                <a:spcPct val="110000"/>
              </a:lnSpc>
            </a:pPr>
            <a:r>
              <a:rPr sz="850" b="1">
                <a:solidFill>
                  <a:srgbClr val="1F285A"/>
                </a:solidFill>
                <a:latin typeface="メイリオ"/>
                <a:ea typeface="メイリオ"/>
                <a:cs typeface="メイリオ"/>
              </a:rPr>
              <a:t>学部・学科を見る</a:t>
            </a:r>
          </a:p>
        </p:txBody>
      </p:sp>
      <p:sp>
        <p:nvSpPr>
          <p:cNvPr id="12" name="Rounded Rectangle 11"/>
          <p:cNvSpPr/>
          <p:nvPr/>
        </p:nvSpPr>
        <p:spPr>
          <a:xfrm>
            <a:off x="421200" y="28548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lnSpc>
                <a:spcPct val="110000"/>
              </a:lnSpc>
            </a:pPr>
            <a:r>
              <a:rPr sz="850" b="1">
                <a:solidFill>
                  <a:srgbClr val="1F285A"/>
                </a:solidFill>
                <a:latin typeface="メイリオ"/>
                <a:ea typeface="メイリオ"/>
                <a:cs typeface="メイリオ"/>
              </a:rPr>
              <a:t>資料（デジタル</a:t>
            </a:r>
          </a:p>
          <a:p>
            <a:pPr algn="ctr">
              <a:lnSpc>
                <a:spcPct val="110000"/>
              </a:lnSpc>
            </a:pPr>
            <a:r>
              <a:rPr sz="850" b="1">
                <a:solidFill>
                  <a:srgbClr val="1F285A"/>
                </a:solidFill>
                <a:latin typeface="メイリオ"/>
                <a:ea typeface="メイリオ"/>
                <a:cs typeface="メイリオ"/>
              </a:rPr>
              <a:t>パンフ）をもらう</a:t>
            </a:r>
          </a:p>
        </p:txBody>
      </p:sp>
      <p:sp>
        <p:nvSpPr>
          <p:cNvPr id="13" name="Rounded Rectangle 12"/>
          <p:cNvSpPr/>
          <p:nvPr/>
        </p:nvSpPr>
        <p:spPr>
          <a:xfrm>
            <a:off x="1396800" y="28548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lnSpc>
                <a:spcPct val="110000"/>
              </a:lnSpc>
            </a:pPr>
            <a:r>
              <a:rPr sz="850" b="1">
                <a:solidFill>
                  <a:srgbClr val="1F285A"/>
                </a:solidFill>
                <a:latin typeface="メイリオ"/>
                <a:ea typeface="メイリオ"/>
                <a:cs typeface="メイリオ"/>
              </a:rPr>
              <a:t>まだ決まって</a:t>
            </a:r>
          </a:p>
          <a:p>
            <a:pPr algn="ctr">
              <a:lnSpc>
                <a:spcPct val="110000"/>
              </a:lnSpc>
            </a:pPr>
            <a:r>
              <a:rPr sz="850" b="1">
                <a:solidFill>
                  <a:srgbClr val="1F285A"/>
                </a:solidFill>
                <a:latin typeface="メイリオ"/>
                <a:ea typeface="メイリオ"/>
                <a:cs typeface="メイリオ"/>
              </a:rPr>
              <a:t>いない人へ</a:t>
            </a:r>
          </a:p>
        </p:txBody>
      </p:sp>
      <p:sp>
        <p:nvSpPr>
          <p:cNvPr id="14" name="Rounded Rectangle 13"/>
          <p:cNvSpPr/>
          <p:nvPr/>
        </p:nvSpPr>
        <p:spPr>
          <a:xfrm>
            <a:off x="2372399" y="28548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lnSpc>
                <a:spcPct val="110000"/>
              </a:lnSpc>
            </a:pPr>
            <a:r>
              <a:rPr sz="850" b="1">
                <a:solidFill>
                  <a:srgbClr val="1F285A"/>
                </a:solidFill>
                <a:latin typeface="メイリオ"/>
                <a:ea typeface="メイリオ"/>
                <a:cs typeface="メイリオ"/>
              </a:rPr>
              <a:t>在学生に質問する</a:t>
            </a:r>
          </a:p>
        </p:txBody>
      </p:sp>
      <p:sp>
        <p:nvSpPr>
          <p:cNvPr id="15" name="Rounded Rectangle 14"/>
          <p:cNvSpPr/>
          <p:nvPr/>
        </p:nvSpPr>
        <p:spPr>
          <a:xfrm>
            <a:off x="396000" y="3888000"/>
            <a:ext cx="2951999" cy="396000"/>
          </a:xfrm>
          <a:prstGeom prst="roundRect">
            <a:avLst>
              <a:gd name="adj" fmla="val 6000"/>
            </a:avLst>
          </a:prstGeom>
          <a:solidFill>
            <a:srgbClr val="F2F2F2"/>
          </a:solidFill>
          <a:ln w="12700">
            <a:solidFill>
              <a:srgbClr val="1C2233"/>
            </a:solidFill>
          </a:ln>
          <a:effectLst/>
        </p:spPr>
        <p:style>
          <a:lnRef idx="1">
            <a:schemeClr val="accent1"/>
          </a:lnRef>
          <a:fillRef idx="3">
            <a:schemeClr val="accent1"/>
          </a:fillRef>
          <a:effectRef idx="2">
            <a:schemeClr val="accent1"/>
          </a:effectRef>
          <a:fontRef idx="minor">
            <a:schemeClr val="lt1"/>
          </a:fontRef>
        </p:style>
        <p:txBody>
          <a:bodyPr rtlCol="0" anchor="ctr" wrap="square" lIns="21600" rIns="21600" tIns="0" bIns="0"/>
          <a:lstStyle/>
          <a:p>
            <a:pPr algn="ctr"/>
            <a:r>
              <a:rPr sz="1050" b="1">
                <a:solidFill>
                  <a:srgbClr val="1C2233"/>
                </a:solidFill>
                <a:latin typeface="メイリオ"/>
                <a:ea typeface="メイリオ"/>
                <a:cs typeface="メイリオ"/>
              </a:rPr>
              <a:t>受験生のデフォルト表示</a:t>
            </a:r>
          </a:p>
        </p:txBody>
      </p:sp>
      <p:sp>
        <p:nvSpPr>
          <p:cNvPr id="16" name="Rounded Rectangle 15"/>
          <p:cNvSpPr/>
          <p:nvPr/>
        </p:nvSpPr>
        <p:spPr>
          <a:xfrm>
            <a:off x="3491999" y="1224000"/>
            <a:ext cx="2951999" cy="360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21600" rIns="21600" tIns="0" bIns="0"/>
          <a:lstStyle/>
          <a:p>
            <a:pPr algn="ctr"/>
            <a:r>
              <a:rPr sz="1200" b="1">
                <a:solidFill>
                  <a:srgbClr val="1F285A"/>
                </a:solidFill>
                <a:latin typeface="メイリオ"/>
                <a:ea typeface="メイリオ"/>
                <a:cs typeface="メイリオ"/>
              </a:rPr>
              <a:t>② OC・入試</a:t>
            </a:r>
          </a:p>
        </p:txBody>
      </p:sp>
      <p:sp>
        <p:nvSpPr>
          <p:cNvPr id="17" name="Rounded Rectangle 16"/>
          <p:cNvSpPr/>
          <p:nvPr/>
        </p:nvSpPr>
        <p:spPr>
          <a:xfrm>
            <a:off x="3491999" y="1638000"/>
            <a:ext cx="2951999" cy="2160000"/>
          </a:xfrm>
          <a:prstGeom prst="roundRect">
            <a:avLst>
              <a:gd name="adj" fmla="val 6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17200" y="1663200"/>
            <a:ext cx="952799" cy="223200"/>
          </a:xfrm>
          <a:prstGeom prst="rect">
            <a:avLst/>
          </a:prstGeom>
          <a:solidFill>
            <a:srgbClr val="3F3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FFFFFF"/>
                </a:solidFill>
                <a:latin typeface="メイリオ"/>
                <a:ea typeface="メイリオ"/>
                <a:cs typeface="メイリオ"/>
              </a:rPr>
              <a:t>受験生</a:t>
            </a:r>
          </a:p>
        </p:txBody>
      </p:sp>
      <p:sp>
        <p:nvSpPr>
          <p:cNvPr id="19" name="Rectangle 18"/>
          <p:cNvSpPr/>
          <p:nvPr/>
        </p:nvSpPr>
        <p:spPr>
          <a:xfrm>
            <a:off x="4484399" y="1663200"/>
            <a:ext cx="952799" cy="223200"/>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FFFFFF"/>
                </a:solidFill>
                <a:latin typeface="メイリオ"/>
                <a:ea typeface="メイリオ"/>
                <a:cs typeface="メイリオ"/>
              </a:rPr>
              <a:t>OC・入試</a:t>
            </a:r>
          </a:p>
        </p:txBody>
      </p:sp>
      <p:sp>
        <p:nvSpPr>
          <p:cNvPr id="20" name="Rectangle 19"/>
          <p:cNvSpPr/>
          <p:nvPr/>
        </p:nvSpPr>
        <p:spPr>
          <a:xfrm>
            <a:off x="5451599" y="1663200"/>
            <a:ext cx="952799" cy="223200"/>
          </a:xfrm>
          <a:prstGeom prst="rect">
            <a:avLst/>
          </a:prstGeom>
          <a:solidFill>
            <a:srgbClr val="3F3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FFFFFF"/>
                </a:solidFill>
                <a:latin typeface="メイリオ"/>
                <a:ea typeface="メイリオ"/>
                <a:cs typeface="メイリオ"/>
              </a:rPr>
              <a:t>保護者の方へ</a:t>
            </a:r>
          </a:p>
        </p:txBody>
      </p:sp>
      <p:sp>
        <p:nvSpPr>
          <p:cNvPr id="21" name="Rounded Rectangle 20"/>
          <p:cNvSpPr/>
          <p:nvPr/>
        </p:nvSpPr>
        <p:spPr>
          <a:xfrm>
            <a:off x="3517200" y="1911600"/>
            <a:ext cx="950399" cy="917999"/>
          </a:xfrm>
          <a:prstGeom prst="roundRect">
            <a:avLst>
              <a:gd name="adj" fmla="val 4000"/>
            </a:avLst>
          </a:prstGeom>
          <a:solidFill>
            <a:srgbClr val="FCE4D6"/>
          </a:solidFill>
          <a:ln w="12700">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lnSpc>
                <a:spcPct val="110000"/>
              </a:lnSpc>
            </a:pPr>
            <a:r>
              <a:rPr sz="850" b="1">
                <a:solidFill>
                  <a:srgbClr val="ED7D31"/>
                </a:solidFill>
                <a:latin typeface="メイリオ"/>
                <a:ea typeface="メイリオ"/>
                <a:cs typeface="メイリオ"/>
              </a:rPr>
              <a:t>次回OCの</a:t>
            </a:r>
          </a:p>
          <a:p>
            <a:pPr algn="ctr">
              <a:lnSpc>
                <a:spcPct val="110000"/>
              </a:lnSpc>
            </a:pPr>
            <a:r>
              <a:rPr sz="850" b="1">
                <a:solidFill>
                  <a:srgbClr val="ED7D31"/>
                </a:solidFill>
                <a:latin typeface="メイリオ"/>
                <a:ea typeface="メイリオ"/>
                <a:cs typeface="メイリオ"/>
              </a:rPr>
              <a:t>日程・予約</a:t>
            </a:r>
          </a:p>
        </p:txBody>
      </p:sp>
      <p:sp>
        <p:nvSpPr>
          <p:cNvPr id="22" name="Rounded Rectangle 21"/>
          <p:cNvSpPr/>
          <p:nvPr/>
        </p:nvSpPr>
        <p:spPr>
          <a:xfrm>
            <a:off x="4492799" y="19116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lnSpc>
                <a:spcPct val="110000"/>
              </a:lnSpc>
            </a:pPr>
            <a:r>
              <a:rPr sz="850" b="1">
                <a:solidFill>
                  <a:srgbClr val="1F285A"/>
                </a:solidFill>
                <a:latin typeface="メイリオ"/>
                <a:ea typeface="メイリオ"/>
                <a:cs typeface="メイリオ"/>
              </a:rPr>
              <a:t>当日の流れ・</a:t>
            </a:r>
          </a:p>
          <a:p>
            <a:pPr algn="ctr">
              <a:lnSpc>
                <a:spcPct val="110000"/>
              </a:lnSpc>
            </a:pPr>
            <a:r>
              <a:rPr sz="850" b="1">
                <a:solidFill>
                  <a:srgbClr val="1F285A"/>
                </a:solidFill>
                <a:latin typeface="メイリオ"/>
                <a:ea typeface="メイリオ"/>
                <a:cs typeface="メイリオ"/>
              </a:rPr>
              <a:t>持ち物</a:t>
            </a:r>
          </a:p>
        </p:txBody>
      </p:sp>
      <p:sp>
        <p:nvSpPr>
          <p:cNvPr id="23" name="Rounded Rectangle 22"/>
          <p:cNvSpPr/>
          <p:nvPr/>
        </p:nvSpPr>
        <p:spPr>
          <a:xfrm>
            <a:off x="5468399" y="19116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lnSpc>
                <a:spcPct val="110000"/>
              </a:lnSpc>
            </a:pPr>
            <a:r>
              <a:rPr sz="850" b="1">
                <a:solidFill>
                  <a:srgbClr val="1F285A"/>
                </a:solidFill>
                <a:latin typeface="メイリオ"/>
                <a:ea typeface="メイリオ"/>
                <a:cs typeface="メイリオ"/>
              </a:rPr>
              <a:t>アクセス・</a:t>
            </a:r>
          </a:p>
          <a:p>
            <a:pPr algn="ctr">
              <a:lnSpc>
                <a:spcPct val="110000"/>
              </a:lnSpc>
            </a:pPr>
            <a:r>
              <a:rPr sz="850" b="1">
                <a:solidFill>
                  <a:srgbClr val="1F285A"/>
                </a:solidFill>
                <a:latin typeface="メイリオ"/>
                <a:ea typeface="メイリオ"/>
                <a:cs typeface="メイリオ"/>
              </a:rPr>
              <a:t>キャンパスマップ</a:t>
            </a:r>
          </a:p>
        </p:txBody>
      </p:sp>
      <p:sp>
        <p:nvSpPr>
          <p:cNvPr id="24" name="Rounded Rectangle 23"/>
          <p:cNvSpPr/>
          <p:nvPr/>
        </p:nvSpPr>
        <p:spPr>
          <a:xfrm>
            <a:off x="3517200" y="28548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lnSpc>
                <a:spcPct val="110000"/>
              </a:lnSpc>
            </a:pPr>
            <a:r>
              <a:rPr sz="850" b="1">
                <a:solidFill>
                  <a:srgbClr val="1F285A"/>
                </a:solidFill>
                <a:latin typeface="メイリオ"/>
                <a:ea typeface="メイリオ"/>
                <a:cs typeface="メイリオ"/>
              </a:rPr>
              <a:t>入試方式を調べる</a:t>
            </a:r>
          </a:p>
        </p:txBody>
      </p:sp>
      <p:sp>
        <p:nvSpPr>
          <p:cNvPr id="25" name="Rounded Rectangle 24"/>
          <p:cNvSpPr/>
          <p:nvPr/>
        </p:nvSpPr>
        <p:spPr>
          <a:xfrm>
            <a:off x="4492799" y="28548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lnSpc>
                <a:spcPct val="110000"/>
              </a:lnSpc>
            </a:pPr>
            <a:r>
              <a:rPr sz="850" b="1">
                <a:solidFill>
                  <a:srgbClr val="1F285A"/>
                </a:solidFill>
                <a:latin typeface="メイリオ"/>
                <a:ea typeface="メイリオ"/>
                <a:cs typeface="メイリオ"/>
              </a:rPr>
              <a:t>出願スケジュール</a:t>
            </a:r>
          </a:p>
        </p:txBody>
      </p:sp>
      <p:sp>
        <p:nvSpPr>
          <p:cNvPr id="26" name="Rounded Rectangle 25"/>
          <p:cNvSpPr/>
          <p:nvPr/>
        </p:nvSpPr>
        <p:spPr>
          <a:xfrm>
            <a:off x="5468399" y="28548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lnSpc>
                <a:spcPct val="110000"/>
              </a:lnSpc>
            </a:pPr>
            <a:r>
              <a:rPr sz="850" b="1">
                <a:solidFill>
                  <a:srgbClr val="1F285A"/>
                </a:solidFill>
                <a:latin typeface="メイリオ"/>
                <a:ea typeface="メイリオ"/>
                <a:cs typeface="メイリオ"/>
              </a:rPr>
              <a:t>過去問・</a:t>
            </a:r>
          </a:p>
          <a:p>
            <a:pPr algn="ctr">
              <a:lnSpc>
                <a:spcPct val="110000"/>
              </a:lnSpc>
            </a:pPr>
            <a:r>
              <a:rPr sz="850" b="1">
                <a:solidFill>
                  <a:srgbClr val="1F285A"/>
                </a:solidFill>
                <a:latin typeface="メイリオ"/>
                <a:ea typeface="メイリオ"/>
                <a:cs typeface="メイリオ"/>
              </a:rPr>
              <a:t>入試説明会</a:t>
            </a:r>
          </a:p>
        </p:txBody>
      </p:sp>
      <p:sp>
        <p:nvSpPr>
          <p:cNvPr id="27" name="Rounded Rectangle 26"/>
          <p:cNvSpPr/>
          <p:nvPr/>
        </p:nvSpPr>
        <p:spPr>
          <a:xfrm>
            <a:off x="3491999" y="3888000"/>
            <a:ext cx="2951999" cy="396000"/>
          </a:xfrm>
          <a:prstGeom prst="roundRect">
            <a:avLst>
              <a:gd name="adj" fmla="val 6000"/>
            </a:avLst>
          </a:prstGeom>
          <a:solidFill>
            <a:srgbClr val="F2F2F2"/>
          </a:solidFill>
          <a:ln w="12700">
            <a:solidFill>
              <a:srgbClr val="1C2233"/>
            </a:solidFill>
          </a:ln>
          <a:effectLst/>
        </p:spPr>
        <p:style>
          <a:lnRef idx="1">
            <a:schemeClr val="accent1"/>
          </a:lnRef>
          <a:fillRef idx="3">
            <a:schemeClr val="accent1"/>
          </a:fillRef>
          <a:effectRef idx="2">
            <a:schemeClr val="accent1"/>
          </a:effectRef>
          <a:fontRef idx="minor">
            <a:schemeClr val="lt1"/>
          </a:fontRef>
        </p:style>
        <p:txBody>
          <a:bodyPr rtlCol="0" anchor="ctr" wrap="square" lIns="21600" rIns="21600" tIns="0" bIns="0"/>
          <a:lstStyle/>
          <a:p>
            <a:pPr algn="ctr"/>
            <a:r>
              <a:rPr sz="1050" b="1">
                <a:solidFill>
                  <a:srgbClr val="1C2233"/>
                </a:solidFill>
                <a:latin typeface="メイリオ"/>
                <a:ea typeface="メイリオ"/>
                <a:cs typeface="メイリオ"/>
              </a:rPr>
              <a:t>OC期（6〜8月）に切替</a:t>
            </a:r>
          </a:p>
        </p:txBody>
      </p:sp>
      <p:sp>
        <p:nvSpPr>
          <p:cNvPr id="28" name="Rounded Rectangle 27"/>
          <p:cNvSpPr/>
          <p:nvPr/>
        </p:nvSpPr>
        <p:spPr>
          <a:xfrm>
            <a:off x="6588000" y="1224000"/>
            <a:ext cx="2951999" cy="360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21600" rIns="21600" tIns="0" bIns="0"/>
          <a:lstStyle/>
          <a:p>
            <a:pPr algn="ctr"/>
            <a:r>
              <a:rPr sz="1200" b="1">
                <a:solidFill>
                  <a:srgbClr val="1F285A"/>
                </a:solidFill>
                <a:latin typeface="メイリオ"/>
                <a:ea typeface="メイリオ"/>
                <a:cs typeface="メイリオ"/>
              </a:rPr>
              <a:t>③ 保護者の方へ</a:t>
            </a:r>
          </a:p>
        </p:txBody>
      </p:sp>
      <p:sp>
        <p:nvSpPr>
          <p:cNvPr id="29" name="Rounded Rectangle 28"/>
          <p:cNvSpPr/>
          <p:nvPr/>
        </p:nvSpPr>
        <p:spPr>
          <a:xfrm>
            <a:off x="6588000" y="1638000"/>
            <a:ext cx="2951999" cy="2160000"/>
          </a:xfrm>
          <a:prstGeom prst="roundRect">
            <a:avLst>
              <a:gd name="adj" fmla="val 6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13200" y="1663200"/>
            <a:ext cx="952799" cy="223200"/>
          </a:xfrm>
          <a:prstGeom prst="rect">
            <a:avLst/>
          </a:prstGeom>
          <a:solidFill>
            <a:srgbClr val="3F3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FFFFFF"/>
                </a:solidFill>
                <a:latin typeface="メイリオ"/>
                <a:ea typeface="メイリオ"/>
                <a:cs typeface="メイリオ"/>
              </a:rPr>
              <a:t>受験生</a:t>
            </a:r>
          </a:p>
        </p:txBody>
      </p:sp>
      <p:sp>
        <p:nvSpPr>
          <p:cNvPr id="31" name="Rectangle 30"/>
          <p:cNvSpPr/>
          <p:nvPr/>
        </p:nvSpPr>
        <p:spPr>
          <a:xfrm>
            <a:off x="7580400" y="1663200"/>
            <a:ext cx="952799" cy="223200"/>
          </a:xfrm>
          <a:prstGeom prst="rect">
            <a:avLst/>
          </a:prstGeom>
          <a:solidFill>
            <a:srgbClr val="3F3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FFFFFF"/>
                </a:solidFill>
                <a:latin typeface="メイリオ"/>
                <a:ea typeface="メイリオ"/>
                <a:cs typeface="メイリオ"/>
              </a:rPr>
              <a:t>OC・入試</a:t>
            </a:r>
          </a:p>
        </p:txBody>
      </p:sp>
      <p:sp>
        <p:nvSpPr>
          <p:cNvPr id="32" name="Rectangle 31"/>
          <p:cNvSpPr/>
          <p:nvPr/>
        </p:nvSpPr>
        <p:spPr>
          <a:xfrm>
            <a:off x="8547600" y="1663200"/>
            <a:ext cx="952799" cy="223200"/>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50" b="1">
                <a:solidFill>
                  <a:srgbClr val="FFFFFF"/>
                </a:solidFill>
                <a:latin typeface="メイリオ"/>
                <a:ea typeface="メイリオ"/>
                <a:cs typeface="メイリオ"/>
              </a:rPr>
              <a:t>保護者の方へ</a:t>
            </a:r>
          </a:p>
        </p:txBody>
      </p:sp>
      <p:sp>
        <p:nvSpPr>
          <p:cNvPr id="33" name="Rounded Rectangle 32"/>
          <p:cNvSpPr/>
          <p:nvPr/>
        </p:nvSpPr>
        <p:spPr>
          <a:xfrm>
            <a:off x="6613200" y="1911600"/>
            <a:ext cx="950399" cy="917999"/>
          </a:xfrm>
          <a:prstGeom prst="roundRect">
            <a:avLst>
              <a:gd name="adj" fmla="val 4000"/>
            </a:avLst>
          </a:prstGeom>
          <a:solidFill>
            <a:srgbClr val="FCE4D6"/>
          </a:solidFill>
          <a:ln w="12700">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lnSpc>
                <a:spcPct val="110000"/>
              </a:lnSpc>
            </a:pPr>
            <a:r>
              <a:rPr sz="850" b="1">
                <a:solidFill>
                  <a:srgbClr val="ED7D31"/>
                </a:solidFill>
                <a:latin typeface="メイリオ"/>
                <a:ea typeface="メイリオ"/>
                <a:cs typeface="メイリオ"/>
              </a:rPr>
              <a:t>4年間の学費</a:t>
            </a:r>
          </a:p>
          <a:p>
            <a:pPr algn="ctr">
              <a:lnSpc>
                <a:spcPct val="110000"/>
              </a:lnSpc>
            </a:pPr>
            <a:r>
              <a:rPr sz="850" b="1">
                <a:solidFill>
                  <a:srgbClr val="ED7D31"/>
                </a:solidFill>
                <a:latin typeface="メイリオ"/>
                <a:ea typeface="メイリオ"/>
                <a:cs typeface="メイリオ"/>
              </a:rPr>
              <a:t>シミュレーション</a:t>
            </a:r>
          </a:p>
        </p:txBody>
      </p:sp>
      <p:sp>
        <p:nvSpPr>
          <p:cNvPr id="34" name="Rounded Rectangle 33"/>
          <p:cNvSpPr/>
          <p:nvPr/>
        </p:nvSpPr>
        <p:spPr>
          <a:xfrm>
            <a:off x="7588800" y="19116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lnSpc>
                <a:spcPct val="110000"/>
              </a:lnSpc>
            </a:pPr>
            <a:r>
              <a:rPr sz="850" b="1">
                <a:solidFill>
                  <a:srgbClr val="1F285A"/>
                </a:solidFill>
                <a:latin typeface="メイリオ"/>
                <a:ea typeface="メイリオ"/>
                <a:cs typeface="メイリオ"/>
              </a:rPr>
              <a:t>奨学金・</a:t>
            </a:r>
          </a:p>
          <a:p>
            <a:pPr algn="ctr">
              <a:lnSpc>
                <a:spcPct val="110000"/>
              </a:lnSpc>
            </a:pPr>
            <a:r>
              <a:rPr sz="850" b="1">
                <a:solidFill>
                  <a:srgbClr val="1F285A"/>
                </a:solidFill>
                <a:latin typeface="メイリオ"/>
                <a:ea typeface="メイリオ"/>
                <a:cs typeface="メイリオ"/>
              </a:rPr>
              <a:t>学費支援制度</a:t>
            </a:r>
          </a:p>
        </p:txBody>
      </p:sp>
      <p:sp>
        <p:nvSpPr>
          <p:cNvPr id="35" name="Rounded Rectangle 34"/>
          <p:cNvSpPr/>
          <p:nvPr/>
        </p:nvSpPr>
        <p:spPr>
          <a:xfrm>
            <a:off x="8564400" y="19116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lnSpc>
                <a:spcPct val="110000"/>
              </a:lnSpc>
            </a:pPr>
            <a:r>
              <a:rPr sz="850" b="1">
                <a:solidFill>
                  <a:srgbClr val="1F285A"/>
                </a:solidFill>
                <a:latin typeface="メイリオ"/>
                <a:ea typeface="メイリオ"/>
                <a:cs typeface="メイリオ"/>
              </a:rPr>
              <a:t>就職実績・</a:t>
            </a:r>
          </a:p>
          <a:p>
            <a:pPr algn="ctr">
              <a:lnSpc>
                <a:spcPct val="110000"/>
              </a:lnSpc>
            </a:pPr>
            <a:r>
              <a:rPr sz="850" b="1">
                <a:solidFill>
                  <a:srgbClr val="1F285A"/>
                </a:solidFill>
                <a:latin typeface="メイリオ"/>
                <a:ea typeface="メイリオ"/>
                <a:cs typeface="メイリオ"/>
              </a:rPr>
              <a:t>進路データ</a:t>
            </a:r>
          </a:p>
        </p:txBody>
      </p:sp>
      <p:sp>
        <p:nvSpPr>
          <p:cNvPr id="36" name="Rounded Rectangle 35"/>
          <p:cNvSpPr/>
          <p:nvPr/>
        </p:nvSpPr>
        <p:spPr>
          <a:xfrm>
            <a:off x="6613200" y="28548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lnSpc>
                <a:spcPct val="110000"/>
              </a:lnSpc>
            </a:pPr>
            <a:r>
              <a:rPr sz="850" b="1">
                <a:solidFill>
                  <a:srgbClr val="1F285A"/>
                </a:solidFill>
                <a:latin typeface="メイリオ"/>
                <a:ea typeface="メイリオ"/>
                <a:cs typeface="メイリオ"/>
              </a:rPr>
              <a:t>保護者向け説明会</a:t>
            </a:r>
          </a:p>
        </p:txBody>
      </p:sp>
      <p:sp>
        <p:nvSpPr>
          <p:cNvPr id="37" name="Rounded Rectangle 36"/>
          <p:cNvSpPr/>
          <p:nvPr/>
        </p:nvSpPr>
        <p:spPr>
          <a:xfrm>
            <a:off x="7588800" y="28548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lnSpc>
                <a:spcPct val="110000"/>
              </a:lnSpc>
            </a:pPr>
            <a:r>
              <a:rPr sz="850" b="1">
                <a:solidFill>
                  <a:srgbClr val="1F285A"/>
                </a:solidFill>
                <a:latin typeface="メイリオ"/>
                <a:ea typeface="メイリオ"/>
                <a:cs typeface="メイリオ"/>
              </a:rPr>
              <a:t>一人暮らしの</a:t>
            </a:r>
          </a:p>
          <a:p>
            <a:pPr algn="ctr">
              <a:lnSpc>
                <a:spcPct val="110000"/>
              </a:lnSpc>
            </a:pPr>
            <a:r>
              <a:rPr sz="850" b="1">
                <a:solidFill>
                  <a:srgbClr val="1F285A"/>
                </a:solidFill>
                <a:latin typeface="メイリオ"/>
                <a:ea typeface="メイリオ"/>
                <a:cs typeface="メイリオ"/>
              </a:rPr>
              <a:t>費用の目安</a:t>
            </a:r>
          </a:p>
        </p:txBody>
      </p:sp>
      <p:sp>
        <p:nvSpPr>
          <p:cNvPr id="38" name="Rounded Rectangle 37"/>
          <p:cNvSpPr/>
          <p:nvPr/>
        </p:nvSpPr>
        <p:spPr>
          <a:xfrm>
            <a:off x="8564400" y="2854800"/>
            <a:ext cx="950399" cy="917999"/>
          </a:xfrm>
          <a:prstGeom prst="roundRect">
            <a:avLst>
              <a:gd name="adj" fmla="val 4000"/>
            </a:avLst>
          </a:prstGeom>
          <a:solidFill>
            <a:srgbClr val="EFF2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lnSpc>
                <a:spcPct val="110000"/>
              </a:lnSpc>
            </a:pPr>
            <a:r>
              <a:rPr sz="850" b="1">
                <a:solidFill>
                  <a:srgbClr val="1F285A"/>
                </a:solidFill>
                <a:latin typeface="メイリオ"/>
                <a:ea typeface="メイリオ"/>
                <a:cs typeface="メイリオ"/>
              </a:rPr>
              <a:t>個別相談を</a:t>
            </a:r>
          </a:p>
          <a:p>
            <a:pPr algn="ctr">
              <a:lnSpc>
                <a:spcPct val="110000"/>
              </a:lnSpc>
            </a:pPr>
            <a:r>
              <a:rPr sz="850" b="1">
                <a:solidFill>
                  <a:srgbClr val="1F285A"/>
                </a:solidFill>
                <a:latin typeface="メイリオ"/>
                <a:ea typeface="メイリオ"/>
                <a:cs typeface="メイリオ"/>
              </a:rPr>
              <a:t>申し込む</a:t>
            </a:r>
          </a:p>
        </p:txBody>
      </p:sp>
      <p:sp>
        <p:nvSpPr>
          <p:cNvPr id="39" name="Rounded Rectangle 38"/>
          <p:cNvSpPr/>
          <p:nvPr/>
        </p:nvSpPr>
        <p:spPr>
          <a:xfrm>
            <a:off x="6588000" y="3888000"/>
            <a:ext cx="2951999" cy="396000"/>
          </a:xfrm>
          <a:prstGeom prst="roundRect">
            <a:avLst>
              <a:gd name="adj" fmla="val 6000"/>
            </a:avLst>
          </a:prstGeom>
          <a:solidFill>
            <a:srgbClr val="F2F2F2"/>
          </a:solidFill>
          <a:ln w="12700">
            <a:solidFill>
              <a:srgbClr val="1C2233"/>
            </a:solidFill>
          </a:ln>
          <a:effectLst/>
        </p:spPr>
        <p:style>
          <a:lnRef idx="1">
            <a:schemeClr val="accent1"/>
          </a:lnRef>
          <a:fillRef idx="3">
            <a:schemeClr val="accent1"/>
          </a:fillRef>
          <a:effectRef idx="2">
            <a:schemeClr val="accent1"/>
          </a:effectRef>
          <a:fontRef idx="minor">
            <a:schemeClr val="lt1"/>
          </a:fontRef>
        </p:style>
        <p:txBody>
          <a:bodyPr rtlCol="0" anchor="ctr" wrap="square" lIns="21600" rIns="21600" tIns="0" bIns="0"/>
          <a:lstStyle/>
          <a:p>
            <a:pPr algn="ctr"/>
            <a:r>
              <a:rPr sz="1050" b="1">
                <a:solidFill>
                  <a:srgbClr val="1C2233"/>
                </a:solidFill>
                <a:latin typeface="メイリオ"/>
                <a:ea typeface="メイリオ"/>
                <a:cs typeface="メイリオ"/>
              </a:rPr>
              <a:t>保護者タブ（常設）</a:t>
            </a:r>
          </a:p>
        </p:txBody>
      </p:sp>
      <p:sp>
        <p:nvSpPr>
          <p:cNvPr id="40" name="Rectangle 39"/>
          <p:cNvSpPr/>
          <p:nvPr/>
        </p:nvSpPr>
        <p:spPr>
          <a:xfrm>
            <a:off x="396000" y="4680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32000" y="4680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76000" y="4759200"/>
            <a:ext cx="8820000" cy="324000"/>
          </a:xfrm>
          <a:prstGeom prst="rect">
            <a:avLst/>
          </a:prstGeom>
          <a:noFill/>
        </p:spPr>
        <p:txBody>
          <a:bodyPr wrap="square" lIns="0" rIns="0" tIns="21600" bIns="21600" anchor="ctr">
            <a:spAutoFit/>
          </a:bodyPr>
          <a:lstStyle/>
          <a:p>
            <a:pPr algn="l"/>
            <a:r>
              <a:rPr sz="1400" b="1">
                <a:solidFill>
                  <a:srgbClr val="1C2233"/>
                </a:solidFill>
                <a:latin typeface="メイリオ"/>
                <a:ea typeface="メイリオ"/>
                <a:cs typeface="メイリオ"/>
              </a:rPr>
              <a:t>大サイズ 2500×1686px／3列×2行（1マス 833×843px）。学年・志望度タグで自動切替。</a:t>
            </a:r>
          </a:p>
        </p:txBody>
      </p:sp>
      <p:sp>
        <p:nvSpPr>
          <p:cNvPr id="43" name="TextBox 42"/>
          <p:cNvSpPr txBox="1"/>
          <p:nvPr/>
        </p:nvSpPr>
        <p:spPr>
          <a:xfrm>
            <a:off x="396000" y="5292000"/>
            <a:ext cx="9144000" cy="518400"/>
          </a:xfrm>
          <a:prstGeom prst="rect">
            <a:avLst/>
          </a:prstGeom>
          <a:noFill/>
        </p:spPr>
        <p:txBody>
          <a:bodyPr wrap="square" lIns="0" rIns="0" tIns="21600" bIns="21600" anchor="t">
            <a:spAutoFit/>
          </a:bodyPr>
          <a:lstStyle/>
          <a:p>
            <a:pPr algn="l">
              <a:lnSpc>
                <a:spcPct val="120000"/>
              </a:lnSpc>
            </a:pPr>
            <a:r>
              <a:rPr sz="900">
                <a:solidFill>
                  <a:srgbClr val="646C82"/>
                </a:solidFill>
                <a:latin typeface="メイリオ"/>
                <a:ea typeface="メイリオ"/>
                <a:cs typeface="メイリオ"/>
              </a:rPr>
              <a:t>※ 画像はイメージです。実装時はキャンパス写真・スクールカラー・アイコンを貴学仕様に差し替えます。</a:t>
            </a:r>
          </a:p>
          <a:p>
            <a:pPr algn="l">
              <a:lnSpc>
                <a:spcPct val="120000"/>
              </a:lnSpc>
            </a:pPr>
            <a:r>
              <a:rPr sz="900">
                <a:solidFill>
                  <a:srgbClr val="646C82"/>
                </a:solidFill>
                <a:latin typeface="メイリオ"/>
                <a:ea typeface="メイリオ"/>
                <a:cs typeface="メイリオ"/>
              </a:rPr>
              <a:t>※ 左上（オレンジ）が最重要CTA。親指が最初に届く位置に「まだ決めていない人が押せるもの」を置く。</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トーク画面設計案｜あいさつメッセージと30秒 学部学科診断</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1通目で資料請求は求めない。求めるのは診断への回答だけ。</a:t>
            </a:r>
          </a:p>
          <a:p>
            <a:pPr algn="l">
              <a:lnSpc>
                <a:spcPct val="122000"/>
              </a:lnSpc>
            </a:pPr>
            <a:r>
              <a:rPr sz="1500">
                <a:solidFill>
                  <a:srgbClr val="646C82"/>
                </a:solidFill>
                <a:latin typeface="メイリオ"/>
                <a:ea typeface="メイリオ"/>
                <a:cs typeface="メイリオ"/>
              </a:rPr>
              <a:t>設問は、そのまま配信セグメントになるものだけにする。</a:t>
            </a:r>
          </a:p>
        </p:txBody>
      </p:sp>
      <p:sp>
        <p:nvSpPr>
          <p:cNvPr id="4" name="Rounded Rectangle 3"/>
          <p:cNvSpPr/>
          <p:nvPr/>
        </p:nvSpPr>
        <p:spPr>
          <a:xfrm>
            <a:off x="396000" y="1224000"/>
            <a:ext cx="4464000" cy="3096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108000" rIns="86400" tIns="86400" bIns="57600"/>
          <a:lstStyle/>
          <a:p>
            <a:pPr algn="l">
              <a:spcAft>
                <a:spcPts val="600"/>
              </a:spcAft>
            </a:pPr>
            <a:r>
              <a:rPr sz="1200" b="1">
                <a:solidFill>
                  <a:srgbClr val="1F285A"/>
                </a:solidFill>
                <a:latin typeface="メイリオ"/>
                <a:ea typeface="メイリオ"/>
                <a:cs typeface="メイリオ"/>
              </a:rPr>
              <a:t>■ 友だち追加直後のあいさつメッセージ（自動）</a:t>
            </a:r>
          </a:p>
          <a:p>
            <a:pPr algn="l">
              <a:lnSpc>
                <a:spcPct val="134000"/>
              </a:lnSpc>
              <a:spcAft>
                <a:spcPts val="100"/>
              </a:spcAft>
            </a:pPr>
            <a:r>
              <a:rPr sz="1100">
                <a:solidFill>
                  <a:srgbClr val="1C2233"/>
                </a:solidFill>
                <a:latin typeface="メイリオ"/>
                <a:ea typeface="メイリオ"/>
                <a:cs typeface="メイリオ"/>
              </a:rPr>
              <a:t>◯◯大学 受験生応援アカウントへ</a:t>
            </a:r>
          </a:p>
          <a:p>
            <a:pPr algn="l">
              <a:lnSpc>
                <a:spcPct val="134000"/>
              </a:lnSpc>
              <a:spcAft>
                <a:spcPts val="100"/>
              </a:spcAft>
            </a:pPr>
            <a:r>
              <a:rPr sz="1100">
                <a:solidFill>
                  <a:srgbClr val="1C2233"/>
                </a:solidFill>
                <a:latin typeface="メイリオ"/>
                <a:ea typeface="メイリオ"/>
                <a:cs typeface="メイリオ"/>
              </a:rPr>
              <a:t>友だち追加ありがとうございます🌸</a:t>
            </a:r>
          </a:p>
          <a:p>
            <a:pPr algn="l">
              <a:lnSpc>
                <a:spcPct val="134000"/>
              </a:lnSpc>
              <a:spcAft>
                <a:spcPts val="100"/>
              </a:spcAft>
            </a:pPr>
            <a:r>
              <a:rPr sz="1100">
                <a:solidFill>
                  <a:srgbClr val="1C2233"/>
                </a:solidFill>
                <a:latin typeface="メイリオ"/>
                <a:ea typeface="メイリオ"/>
                <a:cs typeface="メイリオ"/>
              </a:rPr>
              <a:t/>
            </a:r>
          </a:p>
          <a:p>
            <a:pPr algn="l">
              <a:lnSpc>
                <a:spcPct val="134000"/>
              </a:lnSpc>
              <a:spcAft>
                <a:spcPts val="100"/>
              </a:spcAft>
            </a:pPr>
            <a:r>
              <a:rPr sz="1100">
                <a:solidFill>
                  <a:srgbClr val="1C2233"/>
                </a:solidFill>
                <a:latin typeface="メイリオ"/>
                <a:ea typeface="メイリオ"/>
                <a:cs typeface="メイリオ"/>
              </a:rPr>
              <a:t>入試広報課の[担当者名]です。</a:t>
            </a:r>
          </a:p>
          <a:p>
            <a:pPr algn="l">
              <a:lnSpc>
                <a:spcPct val="134000"/>
              </a:lnSpc>
              <a:spcAft>
                <a:spcPts val="100"/>
              </a:spcAft>
            </a:pPr>
            <a:r>
              <a:rPr sz="1100">
                <a:solidFill>
                  <a:srgbClr val="1C2233"/>
                </a:solidFill>
                <a:latin typeface="メイリオ"/>
                <a:ea typeface="メイリオ"/>
                <a:cs typeface="メイリオ"/>
              </a:rPr>
              <a:t>進路のこと、気軽に相談してください。</a:t>
            </a:r>
          </a:p>
          <a:p>
            <a:pPr algn="l">
              <a:lnSpc>
                <a:spcPct val="134000"/>
              </a:lnSpc>
              <a:spcAft>
                <a:spcPts val="100"/>
              </a:spcAft>
            </a:pPr>
            <a:r>
              <a:rPr sz="1100">
                <a:solidFill>
                  <a:srgbClr val="1C2233"/>
                </a:solidFill>
                <a:latin typeface="メイリオ"/>
                <a:ea typeface="メイリオ"/>
                <a:cs typeface="メイリオ"/>
              </a:rPr>
              <a:t/>
            </a:r>
          </a:p>
          <a:p>
            <a:pPr algn="l">
              <a:lnSpc>
                <a:spcPct val="134000"/>
              </a:lnSpc>
              <a:spcAft>
                <a:spcPts val="100"/>
              </a:spcAft>
            </a:pPr>
            <a:r>
              <a:rPr sz="1100">
                <a:solidFill>
                  <a:srgbClr val="1C2233"/>
                </a:solidFill>
                <a:latin typeface="メイリオ"/>
                <a:ea typeface="メイリオ"/>
                <a:cs typeface="メイリオ"/>
              </a:rPr>
              <a:t>📌 このアカウントについて</a:t>
            </a:r>
          </a:p>
          <a:p>
            <a:pPr algn="l">
              <a:lnSpc>
                <a:spcPct val="134000"/>
              </a:lnSpc>
              <a:spcAft>
                <a:spcPts val="100"/>
              </a:spcAft>
            </a:pPr>
            <a:r>
              <a:rPr sz="1100">
                <a:solidFill>
                  <a:srgbClr val="1C2233"/>
                </a:solidFill>
                <a:latin typeface="メイリオ"/>
                <a:ea typeface="メイリオ"/>
                <a:cs typeface="メイリオ"/>
              </a:rPr>
              <a:t>・こちらから確認のお電話をすることはありません</a:t>
            </a:r>
          </a:p>
          <a:p>
            <a:pPr algn="l">
              <a:lnSpc>
                <a:spcPct val="134000"/>
              </a:lnSpc>
              <a:spcAft>
                <a:spcPts val="100"/>
              </a:spcAft>
            </a:pPr>
            <a:r>
              <a:rPr sz="1100">
                <a:solidFill>
                  <a:srgbClr val="1C2233"/>
                </a:solidFill>
                <a:latin typeface="メイリオ"/>
                <a:ea typeface="メイリオ"/>
                <a:cs typeface="メイリオ"/>
              </a:rPr>
              <a:t>・有人でのご返信：平日 9:00-17:00</a:t>
            </a:r>
          </a:p>
          <a:p>
            <a:pPr algn="l">
              <a:lnSpc>
                <a:spcPct val="134000"/>
              </a:lnSpc>
              <a:spcAft>
                <a:spcPts val="100"/>
              </a:spcAft>
            </a:pPr>
            <a:r>
              <a:rPr sz="1100">
                <a:solidFill>
                  <a:srgbClr val="1C2233"/>
                </a:solidFill>
                <a:latin typeface="メイリオ"/>
                <a:ea typeface="メイリオ"/>
                <a:cs typeface="メイリオ"/>
              </a:rPr>
              <a:t>・保護者の方も、このままご覧いただけます</a:t>
            </a:r>
          </a:p>
          <a:p>
            <a:pPr algn="l">
              <a:lnSpc>
                <a:spcPct val="134000"/>
              </a:lnSpc>
              <a:spcAft>
                <a:spcPts val="100"/>
              </a:spcAft>
            </a:pPr>
            <a:r>
              <a:rPr sz="1100">
                <a:solidFill>
                  <a:srgbClr val="1C2233"/>
                </a:solidFill>
                <a:latin typeface="メイリオ"/>
                <a:ea typeface="メイリオ"/>
                <a:cs typeface="メイリオ"/>
              </a:rPr>
              <a:t/>
            </a:r>
          </a:p>
          <a:p>
            <a:pPr algn="l">
              <a:lnSpc>
                <a:spcPct val="134000"/>
              </a:lnSpc>
              <a:spcAft>
                <a:spcPts val="100"/>
              </a:spcAft>
            </a:pPr>
            <a:r>
              <a:rPr sz="1100">
                <a:solidFill>
                  <a:srgbClr val="1C2233"/>
                </a:solidFill>
                <a:latin typeface="メイリオ"/>
                <a:ea typeface="メイリオ"/>
                <a:cs typeface="メイリオ"/>
              </a:rPr>
              <a:t>まずはこちらから👇</a:t>
            </a:r>
          </a:p>
          <a:p>
            <a:pPr algn="l">
              <a:lnSpc>
                <a:spcPct val="134000"/>
              </a:lnSpc>
              <a:spcAft>
                <a:spcPts val="100"/>
              </a:spcAft>
            </a:pPr>
            <a:r>
              <a:rPr sz="1100">
                <a:solidFill>
                  <a:srgbClr val="1C2233"/>
                </a:solidFill>
                <a:latin typeface="メイリオ"/>
                <a:ea typeface="メイリオ"/>
                <a:cs typeface="メイリオ"/>
              </a:rPr>
              <a:t>あなたに向いている学部が30秒で分かります。</a:t>
            </a:r>
          </a:p>
        </p:txBody>
      </p:sp>
      <p:sp>
        <p:nvSpPr>
          <p:cNvPr id="5" name="Rounded Rectangle 4"/>
          <p:cNvSpPr/>
          <p:nvPr/>
        </p:nvSpPr>
        <p:spPr>
          <a:xfrm>
            <a:off x="540000" y="3924000"/>
            <a:ext cx="4176000" cy="324000"/>
          </a:xfrm>
          <a:prstGeom prst="roundRect">
            <a:avLst>
              <a:gd name="adj" fmla="val 6000"/>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21600" rIns="21600" tIns="0" bIns="0"/>
          <a:lstStyle/>
          <a:p>
            <a:pPr algn="ctr"/>
            <a:r>
              <a:rPr sz="1150" b="1">
                <a:solidFill>
                  <a:srgbClr val="06C755"/>
                </a:solidFill>
                <a:latin typeface="メイリオ"/>
                <a:ea typeface="メイリオ"/>
                <a:cs typeface="メイリオ"/>
              </a:rPr>
              <a:t>▶ 30秒 学部学科診断をはじめる</a:t>
            </a:r>
          </a:p>
        </p:txBody>
      </p:sp>
      <p:sp>
        <p:nvSpPr>
          <p:cNvPr id="6" name="TextBox 5"/>
          <p:cNvSpPr txBox="1"/>
          <p:nvPr/>
        </p:nvSpPr>
        <p:spPr>
          <a:xfrm>
            <a:off x="540000" y="3924000"/>
            <a:ext cx="4176000" cy="324000"/>
          </a:xfrm>
          <a:prstGeom prst="rect">
            <a:avLst/>
          </a:prstGeom>
          <a:noFill/>
        </p:spPr>
        <p:txBody>
          <a:bodyPr wrap="square" lIns="0" rIns="0" tIns="21600" bIns="21600" anchor="ctr">
            <a:spAutoFit/>
          </a:bodyPr>
          <a:lstStyle/>
          <a:p>
            <a:pPr algn="ctr"/>
            <a:r>
              <a:rPr sz="1150" b="1">
                <a:solidFill>
                  <a:srgbClr val="FFFFFF"/>
                </a:solidFill>
                <a:latin typeface="メイリオ"/>
                <a:ea typeface="メイリオ"/>
                <a:cs typeface="メイリオ"/>
              </a:rPr>
              <a:t>▶ 30秒 学部学科診断をはじめる</a:t>
            </a:r>
          </a:p>
        </p:txBody>
      </p:sp>
      <p:sp>
        <p:nvSpPr>
          <p:cNvPr id="7" name="Rounded Rectangle 6"/>
          <p:cNvSpPr/>
          <p:nvPr/>
        </p:nvSpPr>
        <p:spPr>
          <a:xfrm>
            <a:off x="5076000" y="1224000"/>
            <a:ext cx="4464000" cy="3096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108000" rIns="86400" tIns="86400" bIns="57600"/>
          <a:lstStyle/>
          <a:p>
            <a:pPr algn="l">
              <a:spcAft>
                <a:spcPts val="600"/>
              </a:spcAft>
            </a:pPr>
            <a:r>
              <a:rPr sz="1200" b="1">
                <a:solidFill>
                  <a:srgbClr val="1F285A"/>
                </a:solidFill>
                <a:latin typeface="メイリオ"/>
                <a:ea typeface="メイリオ"/>
                <a:cs typeface="メイリオ"/>
              </a:rPr>
              <a:t>■ 30秒 学部学科診断（4問すべて選択式・自由入力ゼロ）</a:t>
            </a:r>
          </a:p>
          <a:p>
            <a:pPr algn="l">
              <a:lnSpc>
                <a:spcPct val="134000"/>
              </a:lnSpc>
              <a:spcAft>
                <a:spcPts val="100"/>
              </a:spcAft>
            </a:pPr>
            <a:r>
              <a:rPr sz="1100">
                <a:solidFill>
                  <a:srgbClr val="1C2233"/>
                </a:solidFill>
                <a:latin typeface="メイリオ"/>
                <a:ea typeface="メイリオ"/>
                <a:cs typeface="メイリオ"/>
              </a:rPr>
              <a:t>Q1 いまの学年　→ タグ：高1／高2／高3／既卒</a:t>
            </a:r>
          </a:p>
          <a:p>
            <a:pPr algn="l">
              <a:lnSpc>
                <a:spcPct val="134000"/>
              </a:lnSpc>
              <a:spcAft>
                <a:spcPts val="100"/>
              </a:spcAft>
            </a:pPr>
            <a:r>
              <a:rPr sz="1100">
                <a:solidFill>
                  <a:srgbClr val="1C2233"/>
                </a:solidFill>
                <a:latin typeface="メイリオ"/>
                <a:ea typeface="メイリオ"/>
                <a:cs typeface="メイリオ"/>
              </a:rPr>
              <a:t>　　配信の内容と頻度を学年で変える</a:t>
            </a:r>
          </a:p>
          <a:p>
            <a:pPr algn="l">
              <a:lnSpc>
                <a:spcPct val="134000"/>
              </a:lnSpc>
              <a:spcAft>
                <a:spcPts val="100"/>
              </a:spcAft>
            </a:pPr>
            <a:r>
              <a:rPr sz="1100">
                <a:solidFill>
                  <a:srgbClr val="1C2233"/>
                </a:solidFill>
                <a:latin typeface="メイリオ"/>
                <a:ea typeface="メイリオ"/>
                <a:cs typeface="メイリオ"/>
              </a:rPr>
              <a:t/>
            </a:r>
          </a:p>
          <a:p>
            <a:pPr algn="l">
              <a:lnSpc>
                <a:spcPct val="134000"/>
              </a:lnSpc>
              <a:spcAft>
                <a:spcPts val="100"/>
              </a:spcAft>
            </a:pPr>
            <a:r>
              <a:rPr sz="1100">
                <a:solidFill>
                  <a:srgbClr val="1C2233"/>
                </a:solidFill>
                <a:latin typeface="メイリオ"/>
                <a:ea typeface="メイリオ"/>
                <a:cs typeface="メイリオ"/>
              </a:rPr>
              <a:t>Q2 学部は決まっていますか？</a:t>
            </a:r>
          </a:p>
          <a:p>
            <a:pPr algn="l">
              <a:lnSpc>
                <a:spcPct val="134000"/>
              </a:lnSpc>
              <a:spcAft>
                <a:spcPts val="100"/>
              </a:spcAft>
            </a:pPr>
            <a:r>
              <a:rPr sz="1100">
                <a:solidFill>
                  <a:srgbClr val="1C2233"/>
                </a:solidFill>
                <a:latin typeface="メイリオ"/>
                <a:ea typeface="メイリオ"/>
                <a:cs typeface="メイリオ"/>
              </a:rPr>
              <a:t>　　① だいたい決まっている　② 2〜3個に絞れた</a:t>
            </a:r>
          </a:p>
          <a:p>
            <a:pPr algn="l">
              <a:lnSpc>
                <a:spcPct val="134000"/>
              </a:lnSpc>
              <a:spcAft>
                <a:spcPts val="100"/>
              </a:spcAft>
            </a:pPr>
            <a:r>
              <a:rPr sz="1100">
                <a:solidFill>
                  <a:srgbClr val="1C2233"/>
                </a:solidFill>
                <a:latin typeface="メイリオ"/>
                <a:ea typeface="メイリオ"/>
                <a:cs typeface="メイリオ"/>
              </a:rPr>
              <a:t>　　③ 全然決まっていない ←ここが一番多くて大丈夫です</a:t>
            </a:r>
          </a:p>
          <a:p>
            <a:pPr algn="l">
              <a:lnSpc>
                <a:spcPct val="134000"/>
              </a:lnSpc>
              <a:spcAft>
                <a:spcPts val="100"/>
              </a:spcAft>
            </a:pPr>
            <a:r>
              <a:rPr sz="1100">
                <a:solidFill>
                  <a:srgbClr val="1C2233"/>
                </a:solidFill>
                <a:latin typeface="メイリオ"/>
                <a:ea typeface="メイリオ"/>
                <a:cs typeface="メイリオ"/>
              </a:rPr>
              <a:t/>
            </a:r>
          </a:p>
          <a:p>
            <a:pPr algn="l">
              <a:lnSpc>
                <a:spcPct val="134000"/>
              </a:lnSpc>
              <a:spcAft>
                <a:spcPts val="100"/>
              </a:spcAft>
            </a:pPr>
            <a:r>
              <a:rPr sz="1100">
                <a:solidFill>
                  <a:srgbClr val="1C2233"/>
                </a:solidFill>
                <a:latin typeface="メイリオ"/>
                <a:ea typeface="メイリオ"/>
                <a:cs typeface="メイリオ"/>
              </a:rPr>
              <a:t>Q3 学校を選ぶとき、いちばん大事にしたいことは？</a:t>
            </a:r>
          </a:p>
          <a:p>
            <a:pPr algn="l">
              <a:lnSpc>
                <a:spcPct val="134000"/>
              </a:lnSpc>
              <a:spcAft>
                <a:spcPts val="100"/>
              </a:spcAft>
            </a:pPr>
            <a:r>
              <a:rPr sz="1100">
                <a:solidFill>
                  <a:srgbClr val="1C2233"/>
                </a:solidFill>
                <a:latin typeface="メイリオ"/>
                <a:ea typeface="メイリオ"/>
                <a:cs typeface="メイリオ"/>
              </a:rPr>
              <a:t>　　学びたいこと／就職・資格／通いやすさ／学費・奨学金</a:t>
            </a:r>
          </a:p>
          <a:p>
            <a:pPr algn="l">
              <a:lnSpc>
                <a:spcPct val="134000"/>
              </a:lnSpc>
              <a:spcAft>
                <a:spcPts val="100"/>
              </a:spcAft>
            </a:pPr>
            <a:r>
              <a:rPr sz="1100">
                <a:solidFill>
                  <a:srgbClr val="1C2233"/>
                </a:solidFill>
                <a:latin typeface="メイリオ"/>
                <a:ea typeface="メイリオ"/>
                <a:cs typeface="メイリオ"/>
              </a:rPr>
              <a:t/>
            </a:r>
          </a:p>
          <a:p>
            <a:pPr algn="l">
              <a:lnSpc>
                <a:spcPct val="134000"/>
              </a:lnSpc>
              <a:spcAft>
                <a:spcPts val="100"/>
              </a:spcAft>
            </a:pPr>
            <a:r>
              <a:rPr sz="1100">
                <a:solidFill>
                  <a:srgbClr val="1C2233"/>
                </a:solidFill>
                <a:latin typeface="メイリオ"/>
                <a:ea typeface="メイリオ"/>
                <a:cs typeface="メイリオ"/>
              </a:rPr>
              <a:t>Q4 通学はどうなりそうですか？</a:t>
            </a:r>
          </a:p>
          <a:p>
            <a:pPr algn="l">
              <a:lnSpc>
                <a:spcPct val="134000"/>
              </a:lnSpc>
              <a:spcAft>
                <a:spcPts val="100"/>
              </a:spcAft>
            </a:pPr>
            <a:r>
              <a:rPr sz="1100">
                <a:solidFill>
                  <a:srgbClr val="1C2233"/>
                </a:solidFill>
                <a:latin typeface="メイリオ"/>
                <a:ea typeface="メイリオ"/>
                <a:cs typeface="メイリオ"/>
              </a:rPr>
              <a:t>　　自宅から通う／一人暮らしもできる／まだ分からない</a:t>
            </a:r>
          </a:p>
        </p:txBody>
      </p:sp>
      <p:sp>
        <p:nvSpPr>
          <p:cNvPr id="8" name="Rounded Rectangle 7"/>
          <p:cNvSpPr/>
          <p:nvPr/>
        </p:nvSpPr>
        <p:spPr>
          <a:xfrm>
            <a:off x="396000" y="4464000"/>
            <a:ext cx="4464000" cy="151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ED7D31"/>
                </a:solidFill>
                <a:latin typeface="メイリオ"/>
                <a:ea typeface="メイリオ"/>
                <a:cs typeface="メイリオ"/>
              </a:rPr>
              <a:t>この1行に一番時間をかけた</a:t>
            </a:r>
          </a:p>
          <a:p>
            <a:pPr algn="l">
              <a:lnSpc>
                <a:spcPct val="120000"/>
              </a:lnSpc>
              <a:spcAft>
                <a:spcPts val="200"/>
              </a:spcAft>
            </a:pPr>
            <a:r>
              <a:rPr sz="1100">
                <a:solidFill>
                  <a:srgbClr val="1C2233"/>
                </a:solidFill>
                <a:latin typeface="メイリオ"/>
                <a:ea typeface="メイリオ"/>
                <a:cs typeface="メイリオ"/>
              </a:rPr>
              <a:t>Q2の③に「←ここが一番多くて大丈夫です」と書いてある。</a:t>
            </a:r>
          </a:p>
          <a:p>
            <a:pPr algn="l">
              <a:lnSpc>
                <a:spcPct val="120000"/>
              </a:lnSpc>
              <a:spcAft>
                <a:spcPts val="200"/>
              </a:spcAft>
            </a:pPr>
            <a:r>
              <a:rPr sz="1100">
                <a:solidFill>
                  <a:srgbClr val="1C2233"/>
                </a:solidFill>
                <a:latin typeface="メイリオ"/>
                <a:ea typeface="メイリオ"/>
                <a:cs typeface="メイリオ"/>
              </a:rPr>
              <a:t>これがあるだけで、迷っている子が正直に答える。</a:t>
            </a:r>
          </a:p>
          <a:p>
            <a:pPr algn="l">
              <a:lnSpc>
                <a:spcPct val="120000"/>
              </a:lnSpc>
              <a:spcAft>
                <a:spcPts val="200"/>
              </a:spcAft>
            </a:pPr>
            <a:r>
              <a:rPr sz="1100">
                <a:solidFill>
                  <a:srgbClr val="1C2233"/>
                </a:solidFill>
                <a:latin typeface="メイリオ"/>
                <a:ea typeface="メイリオ"/>
                <a:cs typeface="メイリオ"/>
              </a:rPr>
              <a:t>正直に答えてくれれば、その子に必要なものを送れる。</a:t>
            </a:r>
          </a:p>
        </p:txBody>
      </p:sp>
      <p:sp>
        <p:nvSpPr>
          <p:cNvPr id="9" name="Rounded Rectangle 8"/>
          <p:cNvSpPr/>
          <p:nvPr/>
        </p:nvSpPr>
        <p:spPr>
          <a:xfrm>
            <a:off x="5076000" y="4464000"/>
            <a:ext cx="4464000" cy="151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1F285A"/>
                </a:solidFill>
                <a:latin typeface="メイリオ"/>
                <a:ea typeface="メイリオ"/>
                <a:cs typeface="メイリオ"/>
              </a:rPr>
              <a:t>取れるセグメントが、そのまま配信設計になる</a:t>
            </a:r>
          </a:p>
          <a:p>
            <a:pPr algn="l">
              <a:lnSpc>
                <a:spcPct val="120000"/>
              </a:lnSpc>
              <a:spcAft>
                <a:spcPts val="200"/>
              </a:spcAft>
            </a:pPr>
            <a:r>
              <a:rPr sz="1100">
                <a:solidFill>
                  <a:srgbClr val="1C2233"/>
                </a:solidFill>
                <a:latin typeface="メイリオ"/>
                <a:ea typeface="メイリオ"/>
                <a:cs typeface="メイリオ"/>
              </a:rPr>
              <a:t>学年 × 決まり具合 × 重視する軸 × 通学圏 の4象限。</a:t>
            </a:r>
          </a:p>
          <a:p>
            <a:pPr algn="l">
              <a:lnSpc>
                <a:spcPct val="120000"/>
              </a:lnSpc>
              <a:spcAft>
                <a:spcPts val="200"/>
              </a:spcAft>
            </a:pPr>
            <a:r>
              <a:rPr sz="1100">
                <a:solidFill>
                  <a:srgbClr val="1C2233"/>
                </a:solidFill>
                <a:latin typeface="メイリオ"/>
                <a:ea typeface="メイリオ"/>
                <a:cs typeface="メイリオ"/>
              </a:rPr>
              <a:t>「学費」を選んだ子には、保護者向けコンテンツも同時に送る。</a:t>
            </a:r>
          </a:p>
          <a:p>
            <a:pPr algn="l">
              <a:lnSpc>
                <a:spcPct val="120000"/>
              </a:lnSpc>
              <a:spcAft>
                <a:spcPts val="200"/>
              </a:spcAft>
            </a:pPr>
            <a:r>
              <a:rPr sz="1100">
                <a:solidFill>
                  <a:srgbClr val="1C2233"/>
                </a:solidFill>
                <a:latin typeface="メイリオ"/>
                <a:ea typeface="メイリオ"/>
                <a:cs typeface="メイリオ"/>
              </a:rPr>
              <a:t>「一人暮らし可」なら遠方＝オンライン相談を案内する。</a:t>
            </a:r>
          </a:p>
        </p:txBody>
      </p:sp>
    </p:spTree>
    <p:extLst>
      <p:ext uri="{BB962C8B-B14F-4D97-AF65-F5344CB8AC3E}">
        <p14:creationId xmlns:p14="http://schemas.microsoft.com/office/powerpoint/2010/main" val="1889393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トーク画面イメージ｜友だち追加の直後に届く1通目</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この1通で「誰か」「何をくれるか」「売り込まないか」の3つに答える。</a:t>
            </a:r>
          </a:p>
          <a:p>
            <a:pPr algn="l">
              <a:lnSpc>
                <a:spcPct val="122000"/>
              </a:lnSpc>
            </a:pPr>
            <a:r>
              <a:rPr sz="1500">
                <a:solidFill>
                  <a:srgbClr val="646C82"/>
                </a:solidFill>
                <a:latin typeface="メイリオ"/>
                <a:ea typeface="メイリオ"/>
                <a:cs typeface="メイリオ"/>
              </a:rPr>
              <a:t>ここで離脱すると、以降の配信はすべて届かない。</a:t>
            </a:r>
          </a:p>
        </p:txBody>
      </p:sp>
      <p:sp>
        <p:nvSpPr>
          <p:cNvPr id="4" name="Rounded Rectangle 3"/>
          <p:cNvSpPr/>
          <p:nvPr/>
        </p:nvSpPr>
        <p:spPr>
          <a:xfrm>
            <a:off x="612000" y="1224000"/>
            <a:ext cx="2664000" cy="38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69600" y="1389600"/>
            <a:ext cx="2548800" cy="3592800"/>
          </a:xfrm>
          <a:prstGeom prst="rect">
            <a:avLst/>
          </a:prstGeom>
          <a:solidFill>
            <a:srgbClr val="EF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69600" y="1389600"/>
            <a:ext cx="2548800" cy="208800"/>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r>
              <a:rPr sz="800" b="1">
                <a:solidFill>
                  <a:srgbClr val="FFFFFF"/>
                </a:solidFill>
                <a:latin typeface="メイリオ"/>
                <a:ea typeface="メイリオ"/>
                <a:cs typeface="メイリオ"/>
              </a:rPr>
              <a:t>◯◯大学 受験生応援</a:t>
            </a:r>
          </a:p>
        </p:txBody>
      </p:sp>
      <p:sp>
        <p:nvSpPr>
          <p:cNvPr id="7" name="Rounded Rectangle 6"/>
          <p:cNvSpPr/>
          <p:nvPr/>
        </p:nvSpPr>
        <p:spPr>
          <a:xfrm>
            <a:off x="738000" y="1641599"/>
            <a:ext cx="2412000" cy="338400"/>
          </a:xfrm>
          <a:prstGeom prst="roundRect">
            <a:avLst>
              <a:gd name="adj" fmla="val 6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7600" rIns="43200" tIns="18000" bIns="18000"/>
          <a:lstStyle/>
          <a:p>
            <a:pPr algn="l">
              <a:lnSpc>
                <a:spcPct val="116000"/>
              </a:lnSpc>
            </a:pPr>
            <a:r>
              <a:rPr sz="800">
                <a:solidFill>
                  <a:srgbClr val="1C2233"/>
                </a:solidFill>
                <a:latin typeface="メイリオ"/>
                <a:ea typeface="メイリオ"/>
                <a:cs typeface="メイリオ"/>
              </a:rPr>
              <a:t>友だち追加ありがとうございます🌸</a:t>
            </a:r>
          </a:p>
          <a:p>
            <a:pPr algn="l">
              <a:lnSpc>
                <a:spcPct val="116000"/>
              </a:lnSpc>
            </a:pPr>
            <a:r>
              <a:rPr sz="800">
                <a:solidFill>
                  <a:srgbClr val="1C2233"/>
                </a:solidFill>
                <a:latin typeface="メイリオ"/>
                <a:ea typeface="メイリオ"/>
                <a:cs typeface="メイリオ"/>
              </a:rPr>
              <a:t>入試広報課の[担当者名]です。</a:t>
            </a:r>
          </a:p>
        </p:txBody>
      </p:sp>
      <p:sp>
        <p:nvSpPr>
          <p:cNvPr id="8" name="Rounded Rectangle 7"/>
          <p:cNvSpPr/>
          <p:nvPr/>
        </p:nvSpPr>
        <p:spPr>
          <a:xfrm>
            <a:off x="738000" y="2026800"/>
            <a:ext cx="2412000" cy="460800"/>
          </a:xfrm>
          <a:prstGeom prst="roundRect">
            <a:avLst>
              <a:gd name="adj" fmla="val 6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7600" rIns="43200" tIns="18000" bIns="18000"/>
          <a:lstStyle/>
          <a:p>
            <a:pPr algn="l">
              <a:lnSpc>
                <a:spcPct val="116000"/>
              </a:lnSpc>
            </a:pPr>
            <a:r>
              <a:rPr sz="800">
                <a:solidFill>
                  <a:srgbClr val="1C2233"/>
                </a:solidFill>
                <a:latin typeface="メイリオ"/>
                <a:ea typeface="メイリオ"/>
                <a:cs typeface="メイリオ"/>
              </a:rPr>
              <a:t>こちらから確認のお電話を</a:t>
            </a:r>
          </a:p>
          <a:p>
            <a:pPr algn="l">
              <a:lnSpc>
                <a:spcPct val="116000"/>
              </a:lnSpc>
            </a:pPr>
            <a:r>
              <a:rPr sz="800">
                <a:solidFill>
                  <a:srgbClr val="1C2233"/>
                </a:solidFill>
                <a:latin typeface="メイリオ"/>
                <a:ea typeface="メイリオ"/>
                <a:cs typeface="メイリオ"/>
              </a:rPr>
              <a:t>することはありません。</a:t>
            </a:r>
          </a:p>
          <a:p>
            <a:pPr algn="l">
              <a:lnSpc>
                <a:spcPct val="116000"/>
              </a:lnSpc>
            </a:pPr>
            <a:r>
              <a:rPr sz="800">
                <a:solidFill>
                  <a:srgbClr val="1C2233"/>
                </a:solidFill>
                <a:latin typeface="メイリオ"/>
                <a:ea typeface="メイリオ"/>
                <a:cs typeface="メイリオ"/>
              </a:rPr>
              <a:t>保護者の方もご覧いただけます。</a:t>
            </a:r>
          </a:p>
        </p:txBody>
      </p:sp>
      <p:sp>
        <p:nvSpPr>
          <p:cNvPr id="9" name="Rounded Rectangle 8"/>
          <p:cNvSpPr/>
          <p:nvPr/>
        </p:nvSpPr>
        <p:spPr>
          <a:xfrm>
            <a:off x="738000" y="2534400"/>
            <a:ext cx="2412000" cy="338400"/>
          </a:xfrm>
          <a:prstGeom prst="roundRect">
            <a:avLst>
              <a:gd name="adj" fmla="val 6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7600" rIns="43200" tIns="18000" bIns="18000"/>
          <a:lstStyle/>
          <a:p>
            <a:pPr algn="l">
              <a:lnSpc>
                <a:spcPct val="116000"/>
              </a:lnSpc>
            </a:pPr>
            <a:r>
              <a:rPr sz="800">
                <a:solidFill>
                  <a:srgbClr val="1C2233"/>
                </a:solidFill>
                <a:latin typeface="メイリオ"/>
                <a:ea typeface="メイリオ"/>
                <a:cs typeface="メイリオ"/>
              </a:rPr>
              <a:t>まずは、あなたに向いている</a:t>
            </a:r>
          </a:p>
          <a:p>
            <a:pPr algn="l">
              <a:lnSpc>
                <a:spcPct val="116000"/>
              </a:lnSpc>
            </a:pPr>
            <a:r>
              <a:rPr sz="800">
                <a:solidFill>
                  <a:srgbClr val="1C2233"/>
                </a:solidFill>
                <a:latin typeface="メイリオ"/>
                <a:ea typeface="メイリオ"/>
                <a:cs typeface="メイリオ"/>
              </a:rPr>
              <a:t>学部を30秒で診断しませんか？</a:t>
            </a:r>
          </a:p>
        </p:txBody>
      </p:sp>
      <p:sp>
        <p:nvSpPr>
          <p:cNvPr id="10" name="Rounded Rectangle 9"/>
          <p:cNvSpPr/>
          <p:nvPr/>
        </p:nvSpPr>
        <p:spPr>
          <a:xfrm>
            <a:off x="738000" y="2919600"/>
            <a:ext cx="2412000" cy="216000"/>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lnSpc>
                <a:spcPct val="114000"/>
              </a:lnSpc>
            </a:pPr>
            <a:r>
              <a:rPr sz="850" b="1">
                <a:solidFill>
                  <a:srgbClr val="FFFFFF"/>
                </a:solidFill>
                <a:latin typeface="メイリオ"/>
                <a:ea typeface="メイリオ"/>
                <a:cs typeface="メイリオ"/>
              </a:rPr>
              <a:t>▶ 30秒 学部学科診断をはじめる</a:t>
            </a:r>
          </a:p>
        </p:txBody>
      </p:sp>
      <p:sp>
        <p:nvSpPr>
          <p:cNvPr id="11" name="TextBox 10"/>
          <p:cNvSpPr txBox="1"/>
          <p:nvPr/>
        </p:nvSpPr>
        <p:spPr>
          <a:xfrm>
            <a:off x="738000" y="3182400"/>
            <a:ext cx="2412000" cy="216000"/>
          </a:xfrm>
          <a:prstGeom prst="rect">
            <a:avLst/>
          </a:prstGeom>
          <a:noFill/>
        </p:spPr>
        <p:txBody>
          <a:bodyPr wrap="square" lIns="18000" rIns="18000" tIns="0" bIns="0" anchor="ctr">
            <a:spAutoFit/>
          </a:bodyPr>
          <a:lstStyle/>
          <a:p>
            <a:pPr algn="l">
              <a:lnSpc>
                <a:spcPct val="114000"/>
              </a:lnSpc>
            </a:pPr>
            <a:r>
              <a:rPr sz="750">
                <a:solidFill>
                  <a:srgbClr val="7F7F7F"/>
                </a:solidFill>
                <a:latin typeface="メイリオ"/>
                <a:ea typeface="メイリオ"/>
                <a:cs typeface="メイリオ"/>
              </a:rPr>
              <a:t>既読 9:02</a:t>
            </a:r>
          </a:p>
        </p:txBody>
      </p:sp>
      <p:sp>
        <p:nvSpPr>
          <p:cNvPr id="12" name="Rounded Rectangle 11"/>
          <p:cNvSpPr/>
          <p:nvPr/>
        </p:nvSpPr>
        <p:spPr>
          <a:xfrm>
            <a:off x="3780000" y="1224000"/>
            <a:ext cx="2664000" cy="38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37600" y="1389600"/>
            <a:ext cx="2548800" cy="3592800"/>
          </a:xfrm>
          <a:prstGeom prst="rect">
            <a:avLst/>
          </a:prstGeom>
          <a:solidFill>
            <a:srgbClr val="EF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37600" y="1389600"/>
            <a:ext cx="2548800" cy="208800"/>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r>
              <a:rPr sz="800" b="1">
                <a:solidFill>
                  <a:srgbClr val="FFFFFF"/>
                </a:solidFill>
                <a:latin typeface="メイリオ"/>
                <a:ea typeface="メイリオ"/>
                <a:cs typeface="メイリオ"/>
              </a:rPr>
              <a:t>◯◯大学 受験生応援</a:t>
            </a:r>
          </a:p>
        </p:txBody>
      </p:sp>
      <p:sp>
        <p:nvSpPr>
          <p:cNvPr id="15" name="Rounded Rectangle 14"/>
          <p:cNvSpPr/>
          <p:nvPr/>
        </p:nvSpPr>
        <p:spPr>
          <a:xfrm>
            <a:off x="3906000" y="1641599"/>
            <a:ext cx="2412000" cy="216000"/>
          </a:xfrm>
          <a:prstGeom prst="roundRect">
            <a:avLst>
              <a:gd name="adj" fmla="val 6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7600" rIns="43200" tIns="18000" bIns="18000"/>
          <a:lstStyle/>
          <a:p>
            <a:pPr algn="l">
              <a:lnSpc>
                <a:spcPct val="116000"/>
              </a:lnSpc>
            </a:pPr>
            <a:r>
              <a:rPr sz="800">
                <a:solidFill>
                  <a:srgbClr val="1C2233"/>
                </a:solidFill>
                <a:latin typeface="メイリオ"/>
                <a:ea typeface="メイリオ"/>
                <a:cs typeface="メイリオ"/>
              </a:rPr>
              <a:t>Q2 学部は決まっていますか？</a:t>
            </a:r>
          </a:p>
        </p:txBody>
      </p:sp>
      <p:sp>
        <p:nvSpPr>
          <p:cNvPr id="16" name="Rounded Rectangle 15"/>
          <p:cNvSpPr/>
          <p:nvPr/>
        </p:nvSpPr>
        <p:spPr>
          <a:xfrm>
            <a:off x="3906000" y="1904400"/>
            <a:ext cx="2412000" cy="216000"/>
          </a:xfrm>
          <a:prstGeom prst="roundRect">
            <a:avLst>
              <a:gd name="adj" fmla="val 6000"/>
            </a:avLst>
          </a:prstGeom>
          <a:solidFill>
            <a:srgbClr val="FFFFFF"/>
          </a:solidFill>
          <a:ln w="1143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lnSpc>
                <a:spcPct val="114000"/>
              </a:lnSpc>
            </a:pPr>
            <a:r>
              <a:rPr sz="800">
                <a:solidFill>
                  <a:srgbClr val="0B7A3B"/>
                </a:solidFill>
                <a:latin typeface="メイリオ"/>
                <a:ea typeface="メイリオ"/>
                <a:cs typeface="メイリオ"/>
              </a:rPr>
              <a:t>だいたい決まっている</a:t>
            </a:r>
          </a:p>
        </p:txBody>
      </p:sp>
      <p:sp>
        <p:nvSpPr>
          <p:cNvPr id="17" name="Rounded Rectangle 16"/>
          <p:cNvSpPr/>
          <p:nvPr/>
        </p:nvSpPr>
        <p:spPr>
          <a:xfrm>
            <a:off x="3906000" y="2167200"/>
            <a:ext cx="2412000" cy="216000"/>
          </a:xfrm>
          <a:prstGeom prst="roundRect">
            <a:avLst>
              <a:gd name="adj" fmla="val 6000"/>
            </a:avLst>
          </a:prstGeom>
          <a:solidFill>
            <a:srgbClr val="FFFFFF"/>
          </a:solidFill>
          <a:ln w="1143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lnSpc>
                <a:spcPct val="114000"/>
              </a:lnSpc>
            </a:pPr>
            <a:r>
              <a:rPr sz="800">
                <a:solidFill>
                  <a:srgbClr val="0B7A3B"/>
                </a:solidFill>
                <a:latin typeface="メイリオ"/>
                <a:ea typeface="メイリオ"/>
                <a:cs typeface="メイリオ"/>
              </a:rPr>
              <a:t>2〜3個に絞れた</a:t>
            </a:r>
          </a:p>
        </p:txBody>
      </p:sp>
      <p:sp>
        <p:nvSpPr>
          <p:cNvPr id="18" name="Rounded Rectangle 17"/>
          <p:cNvSpPr/>
          <p:nvPr/>
        </p:nvSpPr>
        <p:spPr>
          <a:xfrm>
            <a:off x="3906000" y="2430000"/>
            <a:ext cx="2412000" cy="338400"/>
          </a:xfrm>
          <a:prstGeom prst="roundRect">
            <a:avLst>
              <a:gd name="adj" fmla="val 6000"/>
            </a:avLst>
          </a:prstGeom>
          <a:solidFill>
            <a:srgbClr val="FFFFFF"/>
          </a:solidFill>
          <a:ln w="1143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lnSpc>
                <a:spcPct val="114000"/>
              </a:lnSpc>
            </a:pPr>
            <a:r>
              <a:rPr sz="800">
                <a:solidFill>
                  <a:srgbClr val="0B7A3B"/>
                </a:solidFill>
                <a:latin typeface="メイリオ"/>
                <a:ea typeface="メイリオ"/>
                <a:cs typeface="メイリオ"/>
              </a:rPr>
              <a:t>全然決まっていない</a:t>
            </a:r>
          </a:p>
          <a:p>
            <a:pPr algn="ctr">
              <a:lnSpc>
                <a:spcPct val="114000"/>
              </a:lnSpc>
            </a:pPr>
            <a:r>
              <a:rPr sz="800">
                <a:solidFill>
                  <a:srgbClr val="0B7A3B"/>
                </a:solidFill>
                <a:latin typeface="メイリオ"/>
                <a:ea typeface="メイリオ"/>
                <a:cs typeface="メイリオ"/>
              </a:rPr>
              <a:t>←ここが一番多くて大丈夫です</a:t>
            </a:r>
          </a:p>
        </p:txBody>
      </p:sp>
      <p:sp>
        <p:nvSpPr>
          <p:cNvPr id="19" name="TextBox 18"/>
          <p:cNvSpPr txBox="1"/>
          <p:nvPr/>
        </p:nvSpPr>
        <p:spPr>
          <a:xfrm>
            <a:off x="3906000" y="2815200"/>
            <a:ext cx="2412000" cy="216000"/>
          </a:xfrm>
          <a:prstGeom prst="rect">
            <a:avLst/>
          </a:prstGeom>
          <a:noFill/>
        </p:spPr>
        <p:txBody>
          <a:bodyPr wrap="square" lIns="18000" rIns="18000" tIns="0" bIns="0" anchor="ctr">
            <a:spAutoFit/>
          </a:bodyPr>
          <a:lstStyle/>
          <a:p>
            <a:pPr algn="l">
              <a:lnSpc>
                <a:spcPct val="114000"/>
              </a:lnSpc>
            </a:pPr>
            <a:r>
              <a:rPr sz="750">
                <a:solidFill>
                  <a:srgbClr val="7F7F7F"/>
                </a:solidFill>
                <a:latin typeface="メイリオ"/>
                <a:ea typeface="メイリオ"/>
                <a:cs typeface="メイリオ"/>
              </a:rPr>
              <a:t>※ 4問すべて選択式。入力はゼロ</a:t>
            </a:r>
          </a:p>
        </p:txBody>
      </p:sp>
      <p:sp>
        <p:nvSpPr>
          <p:cNvPr id="20" name="Rounded Rectangle 19"/>
          <p:cNvSpPr/>
          <p:nvPr/>
        </p:nvSpPr>
        <p:spPr>
          <a:xfrm>
            <a:off x="6948000" y="1224000"/>
            <a:ext cx="2664000" cy="38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005600" y="1389600"/>
            <a:ext cx="2548800" cy="3592800"/>
          </a:xfrm>
          <a:prstGeom prst="rect">
            <a:avLst/>
          </a:prstGeom>
          <a:solidFill>
            <a:srgbClr val="EF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005600" y="1389600"/>
            <a:ext cx="2548800" cy="208800"/>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0" bIns="0"/>
          <a:lstStyle/>
          <a:p>
            <a:pPr algn="ctr"/>
            <a:r>
              <a:rPr sz="800" b="1">
                <a:solidFill>
                  <a:srgbClr val="FFFFFF"/>
                </a:solidFill>
                <a:latin typeface="メイリオ"/>
                <a:ea typeface="メイリオ"/>
                <a:cs typeface="メイリオ"/>
              </a:rPr>
              <a:t>◯◯大学 受験生応援</a:t>
            </a:r>
          </a:p>
        </p:txBody>
      </p:sp>
      <p:sp>
        <p:nvSpPr>
          <p:cNvPr id="23" name="Rounded Rectangle 22"/>
          <p:cNvSpPr/>
          <p:nvPr/>
        </p:nvSpPr>
        <p:spPr>
          <a:xfrm>
            <a:off x="7074000" y="1641599"/>
            <a:ext cx="2412000" cy="216000"/>
          </a:xfrm>
          <a:prstGeom prst="roundRect">
            <a:avLst>
              <a:gd name="adj" fmla="val 6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7600" rIns="43200" tIns="18000" bIns="18000"/>
          <a:lstStyle/>
          <a:p>
            <a:pPr algn="l">
              <a:lnSpc>
                <a:spcPct val="116000"/>
              </a:lnSpc>
            </a:pPr>
            <a:r>
              <a:rPr sz="800">
                <a:solidFill>
                  <a:srgbClr val="1C2233"/>
                </a:solidFill>
                <a:latin typeface="メイリオ"/>
                <a:ea typeface="メイリオ"/>
                <a:cs typeface="メイリオ"/>
              </a:rPr>
              <a:t>診断結果が出ました📋</a:t>
            </a:r>
          </a:p>
        </p:txBody>
      </p:sp>
      <p:sp>
        <p:nvSpPr>
          <p:cNvPr id="24" name="Rounded Rectangle 23"/>
          <p:cNvSpPr/>
          <p:nvPr/>
        </p:nvSpPr>
        <p:spPr>
          <a:xfrm>
            <a:off x="7074000" y="1904400"/>
            <a:ext cx="2412000" cy="460800"/>
          </a:xfrm>
          <a:prstGeom prst="roundRect">
            <a:avLst>
              <a:gd name="adj" fmla="val 6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7600" rIns="43200" tIns="18000" bIns="18000"/>
          <a:lstStyle/>
          <a:p>
            <a:pPr algn="l">
              <a:lnSpc>
                <a:spcPct val="116000"/>
              </a:lnSpc>
            </a:pPr>
            <a:r>
              <a:rPr sz="800">
                <a:solidFill>
                  <a:srgbClr val="1C2233"/>
                </a:solidFill>
                <a:latin typeface="メイリオ"/>
                <a:ea typeface="メイリオ"/>
                <a:cs typeface="メイリオ"/>
              </a:rPr>
              <a:t>「やりたいことが決まっていない」</a:t>
            </a:r>
          </a:p>
          <a:p>
            <a:pPr algn="l">
              <a:lnSpc>
                <a:spcPct val="116000"/>
              </a:lnSpc>
            </a:pPr>
            <a:r>
              <a:rPr sz="800">
                <a:solidFill>
                  <a:srgbClr val="1C2233"/>
                </a:solidFill>
                <a:latin typeface="メイリオ"/>
                <a:ea typeface="メイリオ"/>
                <a:cs typeface="メイリオ"/>
              </a:rPr>
              <a:t>——実は、いま在学している学生の</a:t>
            </a:r>
          </a:p>
          <a:p>
            <a:pPr algn="l">
              <a:lnSpc>
                <a:spcPct val="116000"/>
              </a:lnSpc>
            </a:pPr>
            <a:r>
              <a:rPr sz="800">
                <a:solidFill>
                  <a:srgbClr val="1C2233"/>
                </a:solidFill>
                <a:latin typeface="メイリオ"/>
                <a:ea typeface="メイリオ"/>
                <a:cs typeface="メイリオ"/>
              </a:rPr>
              <a:t>多くが高2のこの時期は同じでした。</a:t>
            </a:r>
          </a:p>
        </p:txBody>
      </p:sp>
      <p:sp>
        <p:nvSpPr>
          <p:cNvPr id="25" name="Rounded Rectangle 24"/>
          <p:cNvSpPr/>
          <p:nvPr/>
        </p:nvSpPr>
        <p:spPr>
          <a:xfrm>
            <a:off x="7074000" y="2412000"/>
            <a:ext cx="2412000" cy="338400"/>
          </a:xfrm>
          <a:prstGeom prst="roundRect">
            <a:avLst>
              <a:gd name="adj" fmla="val 600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7600" rIns="43200" tIns="18000" bIns="18000"/>
          <a:lstStyle/>
          <a:p>
            <a:pPr algn="l">
              <a:lnSpc>
                <a:spcPct val="116000"/>
              </a:lnSpc>
            </a:pPr>
            <a:r>
              <a:rPr sz="800">
                <a:solidFill>
                  <a:srgbClr val="1C2233"/>
                </a:solidFill>
                <a:latin typeface="メイリオ"/>
                <a:ea typeface="メイリオ"/>
                <a:cs typeface="メイリオ"/>
              </a:rPr>
              <a:t>あなたに向いていそうなのは</a:t>
            </a:r>
          </a:p>
          <a:p>
            <a:pPr algn="l">
              <a:lnSpc>
                <a:spcPct val="116000"/>
              </a:lnSpc>
            </a:pPr>
            <a:r>
              <a:rPr sz="800">
                <a:solidFill>
                  <a:srgbClr val="1C2233"/>
                </a:solidFill>
                <a:latin typeface="メイリオ"/>
                <a:ea typeface="メイリオ"/>
                <a:cs typeface="メイリオ"/>
              </a:rPr>
              <a:t>“入ってから選べる”学び方です。</a:t>
            </a:r>
          </a:p>
        </p:txBody>
      </p:sp>
      <p:sp>
        <p:nvSpPr>
          <p:cNvPr id="26" name="Rounded Rectangle 25"/>
          <p:cNvSpPr/>
          <p:nvPr/>
        </p:nvSpPr>
        <p:spPr>
          <a:xfrm>
            <a:off x="7074000" y="2797200"/>
            <a:ext cx="2412000" cy="216000"/>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lnSpc>
                <a:spcPct val="114000"/>
              </a:lnSpc>
            </a:pPr>
            <a:r>
              <a:rPr sz="850" b="1">
                <a:solidFill>
                  <a:srgbClr val="FFFFFF"/>
                </a:solidFill>
                <a:latin typeface="メイリオ"/>
                <a:ea typeface="メイリオ"/>
                <a:cs typeface="メイリオ"/>
              </a:rPr>
              <a:t>▶ 在学生Aさんの1日を見る（3分）</a:t>
            </a:r>
          </a:p>
        </p:txBody>
      </p:sp>
      <p:sp>
        <p:nvSpPr>
          <p:cNvPr id="27" name="TextBox 26"/>
          <p:cNvSpPr txBox="1"/>
          <p:nvPr/>
        </p:nvSpPr>
        <p:spPr>
          <a:xfrm>
            <a:off x="7074000" y="3060000"/>
            <a:ext cx="2412000" cy="216000"/>
          </a:xfrm>
          <a:prstGeom prst="rect">
            <a:avLst/>
          </a:prstGeom>
          <a:noFill/>
        </p:spPr>
        <p:txBody>
          <a:bodyPr wrap="square" lIns="18000" rIns="18000" tIns="0" bIns="0" anchor="ctr">
            <a:spAutoFit/>
          </a:bodyPr>
          <a:lstStyle/>
          <a:p>
            <a:pPr algn="l">
              <a:lnSpc>
                <a:spcPct val="114000"/>
              </a:lnSpc>
            </a:pPr>
            <a:r>
              <a:rPr sz="750">
                <a:solidFill>
                  <a:srgbClr val="7F7F7F"/>
                </a:solidFill>
                <a:latin typeface="メイリオ"/>
                <a:ea typeface="メイリオ"/>
                <a:cs typeface="メイリオ"/>
              </a:rPr>
              <a:t>費用の話は、この後に出す</a:t>
            </a:r>
          </a:p>
        </p:txBody>
      </p:sp>
      <p:sp>
        <p:nvSpPr>
          <p:cNvPr id="28" name="Rounded Rectangle 27"/>
          <p:cNvSpPr/>
          <p:nvPr/>
        </p:nvSpPr>
        <p:spPr>
          <a:xfrm>
            <a:off x="612000" y="5094000"/>
            <a:ext cx="2664000" cy="396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21600" rIns="21600" tIns="0" bIns="0"/>
          <a:lstStyle/>
          <a:p>
            <a:pPr algn="ctr"/>
            <a:r>
              <a:rPr sz="1050" b="1">
                <a:solidFill>
                  <a:srgbClr val="1F285A"/>
                </a:solidFill>
                <a:latin typeface="メイリオ"/>
                <a:ea typeface="メイリオ"/>
                <a:cs typeface="メイリオ"/>
              </a:rPr>
              <a:t>① 追加直後：売らない。電話しないと明記する</a:t>
            </a:r>
          </a:p>
        </p:txBody>
      </p:sp>
      <p:sp>
        <p:nvSpPr>
          <p:cNvPr id="29" name="Rounded Rectangle 28"/>
          <p:cNvSpPr/>
          <p:nvPr/>
        </p:nvSpPr>
        <p:spPr>
          <a:xfrm>
            <a:off x="3780000" y="5094000"/>
            <a:ext cx="2664000" cy="396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21600" rIns="21600" tIns="0" bIns="0"/>
          <a:lstStyle/>
          <a:p>
            <a:pPr algn="ctr"/>
            <a:r>
              <a:rPr sz="1050" b="1">
                <a:solidFill>
                  <a:srgbClr val="1F285A"/>
                </a:solidFill>
                <a:latin typeface="メイリオ"/>
                <a:ea typeface="メイリオ"/>
                <a:cs typeface="メイリオ"/>
              </a:rPr>
              <a:t>② 診断：4問すべて選択式・入力はゼロ</a:t>
            </a:r>
          </a:p>
        </p:txBody>
      </p:sp>
      <p:sp>
        <p:nvSpPr>
          <p:cNvPr id="30" name="Rounded Rectangle 29"/>
          <p:cNvSpPr/>
          <p:nvPr/>
        </p:nvSpPr>
        <p:spPr>
          <a:xfrm>
            <a:off x="6948000" y="5094000"/>
            <a:ext cx="2664000" cy="396000"/>
          </a:xfrm>
          <a:prstGeom prst="roundRect">
            <a:avLst>
              <a:gd name="adj" fmla="val 6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21600" rIns="21600" tIns="0" bIns="0"/>
          <a:lstStyle/>
          <a:p>
            <a:pPr algn="ctr"/>
            <a:r>
              <a:rPr sz="1050" b="1">
                <a:solidFill>
                  <a:srgbClr val="1F285A"/>
                </a:solidFill>
                <a:latin typeface="メイリオ"/>
                <a:ea typeface="メイリオ"/>
                <a:cs typeface="メイリオ"/>
              </a:rPr>
              <a:t>③ 結果：共感 → 実例 → 費用 → CTA の順</a:t>
            </a:r>
          </a:p>
        </p:txBody>
      </p:sp>
      <p:sp>
        <p:nvSpPr>
          <p:cNvPr id="31" name="Rectangle 30"/>
          <p:cNvSpPr/>
          <p:nvPr/>
        </p:nvSpPr>
        <p:spPr>
          <a:xfrm>
            <a:off x="396000" y="5544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2000" y="5544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76000" y="5623200"/>
            <a:ext cx="8820000" cy="324000"/>
          </a:xfrm>
          <a:prstGeom prst="rect">
            <a:avLst/>
          </a:prstGeom>
          <a:noFill/>
        </p:spPr>
        <p:txBody>
          <a:bodyPr wrap="square" lIns="0" rIns="0" tIns="21600" bIns="21600" anchor="ctr">
            <a:spAutoFit/>
          </a:bodyPr>
          <a:lstStyle/>
          <a:p>
            <a:pPr algn="l"/>
            <a:r>
              <a:rPr sz="1400" b="1">
                <a:solidFill>
                  <a:srgbClr val="1C2233"/>
                </a:solidFill>
                <a:latin typeface="メイリオ"/>
                <a:ea typeface="メイリオ"/>
                <a:cs typeface="メイリオ"/>
              </a:rPr>
              <a:t>1通目で予約は求めない。求めるのは診断への回答だけ。</a:t>
            </a:r>
          </a:p>
        </p:txBody>
      </p:sp>
      <p:sp>
        <p:nvSpPr>
          <p:cNvPr id="34" name="TextBox 33"/>
          <p:cNvSpPr txBox="1"/>
          <p:nvPr/>
        </p:nvSpPr>
        <p:spPr>
          <a:xfrm>
            <a:off x="396000" y="6138000"/>
            <a:ext cx="9144000" cy="331200"/>
          </a:xfrm>
          <a:prstGeom prst="rect">
            <a:avLst/>
          </a:prstGeom>
          <a:noFill/>
        </p:spPr>
        <p:txBody>
          <a:bodyPr wrap="square" lIns="0" rIns="0" tIns="21600" bIns="21600" anchor="t">
            <a:spAutoFit/>
          </a:bodyPr>
          <a:lstStyle/>
          <a:p>
            <a:pPr algn="l">
              <a:lnSpc>
                <a:spcPct val="120000"/>
              </a:lnSpc>
            </a:pPr>
            <a:r>
              <a:rPr sz="900">
                <a:solidFill>
                  <a:srgbClr val="646C82"/>
                </a:solidFill>
                <a:latin typeface="メイリオ"/>
                <a:ea typeface="メイリオ"/>
                <a:cs typeface="メイリオ"/>
              </a:rPr>
              <a:t>※ 診断結果は「共感 → 実例 → 学べること → 費用 → CTA」の順。費用を先に出すと逃げられる（前後検索で検証済み）。</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企画配信カレンダー｜入試日程は動かせない。だから逆算で組む</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検索の山（実測）と入試日程（文科省）を重ねて、配信する月を先に決めてしまう。</a:t>
            </a:r>
          </a:p>
        </p:txBody>
      </p:sp>
      <p:graphicFrame>
        <p:nvGraphicFramePr>
          <p:cNvPr id="4" name="Table 3"/>
          <p:cNvGraphicFramePr>
            <a:graphicFrameLocks noGrp="1"/>
          </p:cNvGraphicFramePr>
          <p:nvPr/>
        </p:nvGraphicFramePr>
        <p:xfrm>
          <a:off x="396000" y="1224000"/>
          <a:ext cx="9144000" cy="4464000"/>
        </p:xfrm>
        <a:graphic>
          <a:graphicData uri="http://schemas.openxmlformats.org/drawingml/2006/table">
            <a:tbl>
              <a:tblPr firstRow="1" bandRow="1">
                <a:tableStyleId>{5C22544A-7EE6-4342-B048-85BDC9FD1C3A}</a:tableStyleId>
              </a:tblPr>
              <a:tblGrid>
                <a:gridCol w="1224000"/>
                <a:gridCol w="4680000"/>
                <a:gridCol w="3240000"/>
              </a:tblGrid>
              <a:tr h="558000">
                <a:tc>
                  <a:txBody>
                    <a:bodyPr wrap="square" lIns="50400" rIns="50400" tIns="10800" bIns="10800" anchor="ctr"/>
                    <a:lstStyle/>
                    <a:p>
                      <a:pPr algn="ctr"/>
                      <a:r>
                        <a:rPr sz="1200" b="1">
                          <a:solidFill>
                            <a:srgbClr val="FFFFFF"/>
                          </a:solidFill>
                          <a:latin typeface="メイリオ"/>
                          <a:ea typeface="メイリオ"/>
                          <a:cs typeface="メイリオ"/>
                        </a:rPr>
                        <a:t>時期</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企画</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参照データ</a:t>
                      </a:r>
                    </a:p>
                  </a:txBody>
                  <a:tcPr anchor="ctr">
                    <a:solidFill>
                      <a:srgbClr val="1F285A"/>
                    </a:solidFill>
                  </a:tcPr>
                </a:tc>
              </a:tr>
              <a:tr h="558000">
                <a:tc>
                  <a:txBody>
                    <a:bodyPr wrap="square" lIns="50400" rIns="50400" tIns="10800" bIns="10800" anchor="ctr"/>
                    <a:lstStyle/>
                    <a:p>
                      <a:pPr algn="ctr"/>
                      <a:r>
                        <a:rPr sz="1100">
                          <a:solidFill>
                            <a:srgbClr val="1C2233"/>
                          </a:solidFill>
                          <a:latin typeface="メイリオ"/>
                          <a:ea typeface="メイリオ"/>
                          <a:cs typeface="メイリオ"/>
                        </a:rPr>
                        <a:t>3〜4月</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新学年スタート企画：「まだ決まっていなくていい」学部学科診断キャンペーン</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入塾・進路検討の立ち上がり（高2春〜）</a:t>
                      </a:r>
                    </a:p>
                  </a:txBody>
                  <a:tcPr anchor="ctr">
                    <a:solidFill>
                      <a:srgbClr val="FFFFFF"/>
                    </a:solidFill>
                  </a:tcPr>
                </a:tc>
              </a:tr>
              <a:tr h="558000">
                <a:tc>
                  <a:txBody>
                    <a:bodyPr wrap="square" lIns="50400" rIns="50400" tIns="10800" bIns="10800" anchor="ctr"/>
                    <a:lstStyle/>
                    <a:p>
                      <a:pPr algn="ctr"/>
                      <a:r>
                        <a:rPr sz="1100">
                          <a:solidFill>
                            <a:srgbClr val="1C2233"/>
                          </a:solidFill>
                          <a:latin typeface="メイリオ"/>
                          <a:ea typeface="メイリオ"/>
                          <a:cs typeface="メイリオ"/>
                        </a:rPr>
                        <a:t>5月下旬〜6月</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OC先行案内：日程公開＋1人参加OK＋当日の流れを先に送る　★仕込みの本番</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検索が動き出すのは5/25週。6/29週で既に年間ピークの半分（トレンド実測）</a:t>
                      </a:r>
                    </a:p>
                  </a:txBody>
                  <a:tcPr anchor="ctr">
                    <a:solidFill>
                      <a:srgbClr val="F4F7FF"/>
                    </a:solidFill>
                  </a:tcPr>
                </a:tc>
              </a:tr>
              <a:tr h="558000">
                <a:tc>
                  <a:txBody>
                    <a:bodyPr wrap="square" lIns="50400" rIns="50400" tIns="10800" bIns="10800" anchor="ctr"/>
                    <a:lstStyle/>
                    <a:p>
                      <a:pPr algn="ctr"/>
                      <a:r>
                        <a:rPr sz="1100">
                          <a:solidFill>
                            <a:srgbClr val="1C2233"/>
                          </a:solidFill>
                          <a:latin typeface="メイリオ"/>
                          <a:ea typeface="メイリオ"/>
                          <a:cs typeface="メイリオ"/>
                        </a:rPr>
                        <a:t>7〜8月</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OC直前・当日・参加後の3点セット：前日リマインド／受付QR／参加後アンケート</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「オープンキャンパス」ピーク＝7/27週（5年連続で7月ピーク）</a:t>
                      </a:r>
                    </a:p>
                  </a:txBody>
                  <a:tcPr anchor="ctr">
                    <a:solidFill>
                      <a:srgbClr val="FFFFFF"/>
                    </a:solidFill>
                  </a:tcPr>
                </a:tc>
              </a:tr>
              <a:tr h="558000">
                <a:tc>
                  <a:txBody>
                    <a:bodyPr wrap="square" lIns="50400" rIns="50400" tIns="10800" bIns="10800" anchor="ctr"/>
                    <a:lstStyle/>
                    <a:p>
                      <a:pPr algn="ctr"/>
                      <a:r>
                        <a:rPr sz="1100">
                          <a:solidFill>
                            <a:srgbClr val="1C2233"/>
                          </a:solidFill>
                          <a:latin typeface="メイリオ"/>
                          <a:ea typeface="メイリオ"/>
                          <a:cs typeface="メイリオ"/>
                        </a:rPr>
                        <a:t>9月</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総合型選抜の出願支援：志望理由書の書き方・面接10問・締切カウントダウン</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「総合型選抜」ピーク＝8/31週（9/1出願解禁を含む週）。5年で3.3倍</a:t>
                      </a:r>
                    </a:p>
                  </a:txBody>
                  <a:tcPr anchor="ctr">
                    <a:solidFill>
                      <a:srgbClr val="F4F7FF"/>
                    </a:solidFill>
                  </a:tcPr>
                </a:tc>
              </a:tr>
              <a:tr h="558000">
                <a:tc>
                  <a:txBody>
                    <a:bodyPr wrap="square" lIns="50400" rIns="50400" tIns="10800" bIns="10800" anchor="ctr"/>
                    <a:lstStyle/>
                    <a:p>
                      <a:pPr algn="ctr"/>
                      <a:r>
                        <a:rPr sz="1100">
                          <a:solidFill>
                            <a:srgbClr val="1C2233"/>
                          </a:solidFill>
                          <a:latin typeface="メイリオ"/>
                          <a:ea typeface="メイリオ"/>
                          <a:cs typeface="メイリオ"/>
                        </a:rPr>
                        <a:t>10〜11月</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学校推薦型・指定校推薦の出願支援／保護者向け説明会の案内</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「学校推薦型選抜」は11月単峰。「指定校推薦」は11月中旬に第2の山</a:t>
                      </a:r>
                    </a:p>
                  </a:txBody>
                  <a:tcPr anchor="ctr">
                    <a:solidFill>
                      <a:srgbClr val="FFFFFF"/>
                    </a:solidFill>
                  </a:tcPr>
                </a:tc>
              </a:tr>
              <a:tr h="558000">
                <a:tc>
                  <a:txBody>
                    <a:bodyPr wrap="square" lIns="50400" rIns="50400" tIns="10800" bIns="10800" anchor="ctr"/>
                    <a:lstStyle/>
                    <a:p>
                      <a:pPr algn="ctr"/>
                      <a:r>
                        <a:rPr sz="1100">
                          <a:solidFill>
                            <a:srgbClr val="1C2233"/>
                          </a:solidFill>
                          <a:latin typeface="メイリオ"/>
                          <a:ea typeface="メイリオ"/>
                          <a:cs typeface="メイリオ"/>
                        </a:rPr>
                        <a:t>12〜1月</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一般選抜層の受け皿：入試方式の違い・過去問・入試説明会</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「共通テスト」は1月中旬の2週間だけ動く（他月は10以下）</a:t>
                      </a:r>
                    </a:p>
                  </a:txBody>
                  <a:tcPr anchor="ctr">
                    <a:solidFill>
                      <a:srgbClr val="F4F7FF"/>
                    </a:solidFill>
                  </a:tcPr>
                </a:tc>
              </a:tr>
              <a:tr h="558000">
                <a:tc>
                  <a:txBody>
                    <a:bodyPr wrap="square" lIns="50400" rIns="50400" tIns="10800" bIns="10800" anchor="ctr"/>
                    <a:lstStyle/>
                    <a:p>
                      <a:pPr algn="ctr"/>
                      <a:r>
                        <a:rPr sz="1100">
                          <a:solidFill>
                            <a:srgbClr val="1C2233"/>
                          </a:solidFill>
                          <a:latin typeface="メイリオ"/>
                          <a:ea typeface="メイリオ"/>
                          <a:cs typeface="メイリオ"/>
                        </a:rPr>
                        <a:t>2〜3月</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入学手続期の離脱防止：入学前オリエン・先輩との交流・一人暮らし準備</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一般選抜 2/1〜。併願による流出が起きる区間</a:t>
                      </a:r>
                    </a:p>
                  </a:txBody>
                  <a:tcPr anchor="ctr">
                    <a:solidFill>
                      <a:srgbClr val="FFFFFF"/>
                    </a:solidFill>
                  </a:tcPr>
                </a:tc>
              </a:tr>
            </a:tbl>
          </a:graphicData>
        </a:graphic>
      </p:graphicFrame>
      <p:sp>
        <p:nvSpPr>
          <p:cNvPr id="5" name="TextBox 4"/>
          <p:cNvSpPr txBox="1"/>
          <p:nvPr/>
        </p:nvSpPr>
        <p:spPr>
          <a:xfrm>
            <a:off x="396000" y="6138000"/>
            <a:ext cx="9144000" cy="518400"/>
          </a:xfrm>
          <a:prstGeom prst="rect">
            <a:avLst/>
          </a:prstGeom>
          <a:noFill/>
        </p:spPr>
        <p:txBody>
          <a:bodyPr wrap="square" lIns="0" rIns="0" tIns="21600" bIns="21600" anchor="t">
            <a:spAutoFit/>
          </a:bodyPr>
          <a:lstStyle/>
          <a:p>
            <a:pPr algn="l">
              <a:lnSpc>
                <a:spcPct val="120000"/>
              </a:lnSpc>
            </a:pPr>
            <a:r>
              <a:rPr sz="900">
                <a:solidFill>
                  <a:srgbClr val="646C82"/>
                </a:solidFill>
                <a:latin typeface="メイリオ"/>
                <a:ea typeface="メイリオ"/>
                <a:cs typeface="メイリオ"/>
              </a:rPr>
              <a:t>※ 参照データ：Googleトレンド（2026-09-15取得・日本・ウェブ検索）／文部科学省「大学入学者選抜実施要項」。</a:t>
            </a:r>
          </a:p>
          <a:p>
            <a:pPr algn="l">
              <a:lnSpc>
                <a:spcPct val="120000"/>
              </a:lnSpc>
            </a:pPr>
            <a:r>
              <a:rPr sz="900">
                <a:solidFill>
                  <a:srgbClr val="646C82"/>
                </a:solidFill>
                <a:latin typeface="メイリオ"/>
                <a:ea typeface="メイリオ"/>
                <a:cs typeface="メイリオ"/>
              </a:rPr>
              <a:t>※ 専門学校はAOエントリー6/1・出願10/1解禁（全国専修学校各種学校総連合会の申し合わせ・要確認）のため、全体が前倒しになる。</a:t>
            </a:r>
          </a:p>
        </p:txBody>
      </p:sp>
    </p:spTree>
    <p:extLst>
      <p:ext uri="{BB962C8B-B14F-4D97-AF65-F5344CB8AC3E}">
        <p14:creationId xmlns:p14="http://schemas.microsoft.com/office/powerpoint/2010/main" val="32250749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通知メッセージ・飛び道具｜友だちでない高校生にも届かせる</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電話番号があれば、友だちでなくてもLINEに届く。資料請求者・OC予約者の取りこぼしを拾う。</a:t>
            </a:r>
          </a:p>
        </p:txBody>
      </p:sp>
      <p:sp>
        <p:nvSpPr>
          <p:cNvPr id="4" name="TextBox 3"/>
          <p:cNvSpPr txBox="1"/>
          <p:nvPr/>
        </p:nvSpPr>
        <p:spPr>
          <a:xfrm>
            <a:off x="396000" y="1224000"/>
            <a:ext cx="4464000" cy="324000"/>
          </a:xfrm>
          <a:prstGeom prst="rect">
            <a:avLst/>
          </a:prstGeom>
          <a:noFill/>
        </p:spPr>
        <p:txBody>
          <a:bodyPr wrap="square" lIns="0" rIns="0" tIns="21600" bIns="21600" anchor="t">
            <a:spAutoFit/>
          </a:bodyPr>
          <a:lstStyle/>
          <a:p>
            <a:pPr algn="l"/>
            <a:r>
              <a:rPr sz="1250" b="1">
                <a:solidFill>
                  <a:srgbClr val="1F285A"/>
                </a:solidFill>
                <a:latin typeface="メイリオ"/>
                <a:ea typeface="メイリオ"/>
                <a:cs typeface="メイリオ"/>
              </a:rPr>
              <a:t>■ 通知メッセージ 利用シーン</a:t>
            </a:r>
          </a:p>
        </p:txBody>
      </p:sp>
      <p:sp>
        <p:nvSpPr>
          <p:cNvPr id="5" name="Rounded Rectangle 4"/>
          <p:cNvSpPr/>
          <p:nvPr/>
        </p:nvSpPr>
        <p:spPr>
          <a:xfrm>
            <a:off x="396000" y="1620000"/>
            <a:ext cx="4464000" cy="827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150" b="1">
                <a:solidFill>
                  <a:srgbClr val="1F285A"/>
                </a:solidFill>
                <a:latin typeface="メイリオ"/>
                <a:ea typeface="メイリオ"/>
                <a:cs typeface="メイリオ"/>
              </a:rPr>
              <a:t>OC予約確定のお知らせ</a:t>
            </a:r>
          </a:p>
          <a:p>
            <a:pPr algn="l">
              <a:lnSpc>
                <a:spcPct val="120000"/>
              </a:lnSpc>
              <a:spcAft>
                <a:spcPts val="200"/>
              </a:spcAft>
            </a:pPr>
            <a:r>
              <a:rPr sz="1050">
                <a:solidFill>
                  <a:srgbClr val="1C2233"/>
                </a:solidFill>
                <a:latin typeface="メイリオ"/>
                <a:ea typeface="メイリオ"/>
                <a:cs typeface="メイリオ"/>
              </a:rPr>
              <a:t>持ち物・アクセス・当日の流れ → 参加（CV②）へ</a:t>
            </a:r>
          </a:p>
        </p:txBody>
      </p:sp>
      <p:sp>
        <p:nvSpPr>
          <p:cNvPr id="6" name="Rounded Rectangle 5"/>
          <p:cNvSpPr/>
          <p:nvPr/>
        </p:nvSpPr>
        <p:spPr>
          <a:xfrm>
            <a:off x="396000" y="2538000"/>
            <a:ext cx="4464000" cy="827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150" b="1">
                <a:solidFill>
                  <a:srgbClr val="1F285A"/>
                </a:solidFill>
                <a:latin typeface="メイリオ"/>
                <a:ea typeface="メイリオ"/>
                <a:cs typeface="メイリオ"/>
              </a:rPr>
              <a:t>OC前日リマインド</a:t>
            </a:r>
          </a:p>
          <a:p>
            <a:pPr algn="l">
              <a:lnSpc>
                <a:spcPct val="120000"/>
              </a:lnSpc>
              <a:spcAft>
                <a:spcPts val="200"/>
              </a:spcAft>
            </a:pPr>
            <a:r>
              <a:rPr sz="1050">
                <a:solidFill>
                  <a:srgbClr val="1C2233"/>
                </a:solidFill>
                <a:latin typeface="メイリオ"/>
                <a:ea typeface="メイリオ"/>
                <a:cs typeface="メイリオ"/>
              </a:rPr>
              <a:t>「来られなくなっても大丈夫」を先に書く → 無断キャンセルを連絡ありに変える</a:t>
            </a:r>
          </a:p>
        </p:txBody>
      </p:sp>
      <p:sp>
        <p:nvSpPr>
          <p:cNvPr id="7" name="Rounded Rectangle 6"/>
          <p:cNvSpPr/>
          <p:nvPr/>
        </p:nvSpPr>
        <p:spPr>
          <a:xfrm>
            <a:off x="396000" y="3456000"/>
            <a:ext cx="4464000" cy="827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150" b="1">
                <a:solidFill>
                  <a:srgbClr val="1F285A"/>
                </a:solidFill>
                <a:latin typeface="メイリオ"/>
                <a:ea typeface="メイリオ"/>
                <a:cs typeface="メイリオ"/>
              </a:rPr>
              <a:t>出願受付・書類到着のお知らせ</a:t>
            </a:r>
          </a:p>
          <a:p>
            <a:pPr algn="l">
              <a:lnSpc>
                <a:spcPct val="120000"/>
              </a:lnSpc>
              <a:spcAft>
                <a:spcPts val="200"/>
              </a:spcAft>
            </a:pPr>
            <a:r>
              <a:rPr sz="1050">
                <a:solidFill>
                  <a:srgbClr val="1C2233"/>
                </a:solidFill>
                <a:latin typeface="メイリオ"/>
                <a:ea typeface="メイリオ"/>
                <a:cs typeface="メイリオ"/>
              </a:rPr>
              <a:t>次の手続きの期限を同時に案内 → 出願完了（CV③）へ</a:t>
            </a:r>
          </a:p>
        </p:txBody>
      </p:sp>
      <p:sp>
        <p:nvSpPr>
          <p:cNvPr id="8" name="Rounded Rectangle 7"/>
          <p:cNvSpPr/>
          <p:nvPr/>
        </p:nvSpPr>
        <p:spPr>
          <a:xfrm>
            <a:off x="396000" y="4373999"/>
            <a:ext cx="4464000" cy="827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150" b="1">
                <a:solidFill>
                  <a:srgbClr val="1F285A"/>
                </a:solidFill>
                <a:latin typeface="メイリオ"/>
                <a:ea typeface="メイリオ"/>
                <a:cs typeface="メイリオ"/>
              </a:rPr>
              <a:t>入学手続の期限リマインド</a:t>
            </a:r>
          </a:p>
          <a:p>
            <a:pPr algn="l">
              <a:lnSpc>
                <a:spcPct val="120000"/>
              </a:lnSpc>
              <a:spcAft>
                <a:spcPts val="200"/>
              </a:spcAft>
            </a:pPr>
            <a:r>
              <a:rPr sz="1050">
                <a:solidFill>
                  <a:srgbClr val="1C2233"/>
                </a:solidFill>
                <a:latin typeface="メイリオ"/>
                <a:ea typeface="メイリオ"/>
                <a:cs typeface="メイリオ"/>
              </a:rPr>
              <a:t>併願による流出が起きる区間を守る</a:t>
            </a:r>
          </a:p>
        </p:txBody>
      </p:sp>
      <p:sp>
        <p:nvSpPr>
          <p:cNvPr id="9" name="TextBox 8"/>
          <p:cNvSpPr txBox="1"/>
          <p:nvPr/>
        </p:nvSpPr>
        <p:spPr>
          <a:xfrm>
            <a:off x="5076000" y="1224000"/>
            <a:ext cx="4464000" cy="324000"/>
          </a:xfrm>
          <a:prstGeom prst="rect">
            <a:avLst/>
          </a:prstGeom>
          <a:noFill/>
        </p:spPr>
        <p:txBody>
          <a:bodyPr wrap="square" lIns="0" rIns="0" tIns="21600" bIns="21600" anchor="t">
            <a:spAutoFit/>
          </a:bodyPr>
          <a:lstStyle/>
          <a:p>
            <a:pPr algn="l"/>
            <a:r>
              <a:rPr sz="1250" b="1">
                <a:solidFill>
                  <a:srgbClr val="ED7D31"/>
                </a:solidFill>
                <a:latin typeface="メイリオ"/>
                <a:ea typeface="メイリオ"/>
                <a:cs typeface="メイリオ"/>
              </a:rPr>
              <a:t>■ 飛び道具（この業界ならではの企画軸）</a:t>
            </a:r>
          </a:p>
        </p:txBody>
      </p:sp>
      <p:sp>
        <p:nvSpPr>
          <p:cNvPr id="10" name="Rounded Rectangle 9"/>
          <p:cNvSpPr/>
          <p:nvPr/>
        </p:nvSpPr>
        <p:spPr>
          <a:xfrm>
            <a:off x="5076000" y="1620000"/>
            <a:ext cx="4464000" cy="827999"/>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150" b="1">
                <a:solidFill>
                  <a:srgbClr val="ED7D31"/>
                </a:solidFill>
                <a:latin typeface="メイリオ"/>
                <a:ea typeface="メイリオ"/>
                <a:cs typeface="メイリオ"/>
              </a:rPr>
              <a:t>① 30秒 学部学科診断</a:t>
            </a:r>
          </a:p>
          <a:p>
            <a:pPr algn="l">
              <a:lnSpc>
                <a:spcPct val="120000"/>
              </a:lnSpc>
              <a:spcAft>
                <a:spcPts val="200"/>
              </a:spcAft>
            </a:pPr>
            <a:r>
              <a:rPr sz="1050">
                <a:solidFill>
                  <a:srgbClr val="1C2233"/>
                </a:solidFill>
                <a:latin typeface="メイリオ"/>
                <a:ea typeface="メイリオ"/>
                <a:cs typeface="メイリオ"/>
              </a:rPr>
              <a:t>匿名・入力ゼロ。決まっていない子が押せる唯一の入口</a:t>
            </a:r>
          </a:p>
        </p:txBody>
      </p:sp>
      <p:sp>
        <p:nvSpPr>
          <p:cNvPr id="11" name="Rounded Rectangle 10"/>
          <p:cNvSpPr/>
          <p:nvPr/>
        </p:nvSpPr>
        <p:spPr>
          <a:xfrm>
            <a:off x="5076000" y="2538000"/>
            <a:ext cx="4464000" cy="827999"/>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150" b="1">
                <a:solidFill>
                  <a:srgbClr val="ED7D31"/>
                </a:solidFill>
                <a:latin typeface="メイリオ"/>
                <a:ea typeface="メイリオ"/>
                <a:cs typeface="メイリオ"/>
              </a:rPr>
              <a:t>② 4年間の学費シミュレーター</a:t>
            </a:r>
          </a:p>
          <a:p>
            <a:pPr algn="l">
              <a:lnSpc>
                <a:spcPct val="120000"/>
              </a:lnSpc>
              <a:spcAft>
                <a:spcPts val="200"/>
              </a:spcAft>
            </a:pPr>
            <a:r>
              <a:rPr sz="1050">
                <a:solidFill>
                  <a:srgbClr val="1C2233"/>
                </a:solidFill>
                <a:latin typeface="メイリオ"/>
                <a:ea typeface="メイリオ"/>
                <a:cs typeface="メイリオ"/>
              </a:rPr>
              <a:t>入力3項目・1分。保護者の最大の不安に、先に答える</a:t>
            </a:r>
          </a:p>
        </p:txBody>
      </p:sp>
      <p:sp>
        <p:nvSpPr>
          <p:cNvPr id="12" name="Rounded Rectangle 11"/>
          <p:cNvSpPr/>
          <p:nvPr/>
        </p:nvSpPr>
        <p:spPr>
          <a:xfrm>
            <a:off x="5076000" y="3456000"/>
            <a:ext cx="4464000" cy="827999"/>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150" b="1">
                <a:solidFill>
                  <a:srgbClr val="ED7D31"/>
                </a:solidFill>
                <a:latin typeface="メイリオ"/>
                <a:ea typeface="メイリオ"/>
                <a:cs typeface="メイリオ"/>
              </a:rPr>
              <a:t>③ 志望理由書の下書き支援</a:t>
            </a:r>
          </a:p>
          <a:p>
            <a:pPr algn="l">
              <a:lnSpc>
                <a:spcPct val="120000"/>
              </a:lnSpc>
              <a:spcAft>
                <a:spcPts val="200"/>
              </a:spcAft>
            </a:pPr>
            <a:r>
              <a:rPr sz="1050">
                <a:solidFill>
                  <a:srgbClr val="1C2233"/>
                </a:solidFill>
                <a:latin typeface="メイリオ"/>
                <a:ea typeface="メイリオ"/>
                <a:cs typeface="メイリオ"/>
              </a:rPr>
              <a:t>出願直前に立つのは「書き方」検索。情報ではなく手伝いを渡す</a:t>
            </a:r>
          </a:p>
        </p:txBody>
      </p:sp>
      <p:sp>
        <p:nvSpPr>
          <p:cNvPr id="13" name="Rounded Rectangle 12"/>
          <p:cNvSpPr/>
          <p:nvPr/>
        </p:nvSpPr>
        <p:spPr>
          <a:xfrm>
            <a:off x="5076000" y="4373999"/>
            <a:ext cx="4464000" cy="827999"/>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150" b="1">
                <a:solidFill>
                  <a:srgbClr val="ED7D31"/>
                </a:solidFill>
                <a:latin typeface="メイリオ"/>
                <a:ea typeface="メイリオ"/>
                <a:cs typeface="メイリオ"/>
              </a:rPr>
              <a:t>④ 中退予兆検知（入学後）</a:t>
            </a:r>
          </a:p>
          <a:p>
            <a:pPr algn="l">
              <a:lnSpc>
                <a:spcPct val="120000"/>
              </a:lnSpc>
              <a:spcAft>
                <a:spcPts val="200"/>
              </a:spcAft>
            </a:pPr>
            <a:r>
              <a:rPr sz="1050">
                <a:solidFill>
                  <a:srgbClr val="1C2233"/>
                </a:solidFill>
                <a:latin typeface="メイリオ"/>
                <a:ea typeface="メイリオ"/>
                <a:cs typeface="メイリオ"/>
              </a:rPr>
              <a:t>一定期間アクションのない在学生に自動で声かけ</a:t>
            </a:r>
          </a:p>
        </p:txBody>
      </p:sp>
      <p:sp>
        <p:nvSpPr>
          <p:cNvPr id="14" name="TextBox 13"/>
          <p:cNvSpPr txBox="1"/>
          <p:nvPr/>
        </p:nvSpPr>
        <p:spPr>
          <a:xfrm>
            <a:off x="396000" y="6138000"/>
            <a:ext cx="9144000" cy="518400"/>
          </a:xfrm>
          <a:prstGeom prst="rect">
            <a:avLst/>
          </a:prstGeom>
          <a:noFill/>
        </p:spPr>
        <p:txBody>
          <a:bodyPr wrap="square" lIns="0" rIns="0" tIns="21600" bIns="21600" anchor="t">
            <a:spAutoFit/>
          </a:bodyPr>
          <a:lstStyle/>
          <a:p>
            <a:pPr algn="l">
              <a:lnSpc>
                <a:spcPct val="120000"/>
              </a:lnSpc>
            </a:pPr>
            <a:r>
              <a:rPr sz="900">
                <a:solidFill>
                  <a:srgbClr val="646C82"/>
                </a:solidFill>
                <a:latin typeface="メイリオ"/>
                <a:ea typeface="メイリオ"/>
                <a:cs typeface="メイリオ"/>
              </a:rPr>
              <a:t>※ 通知メッセージは Sales Partner／Tech Partner 限定公開のAPIを使用する機能（初期10万円／月額8万円〜＋通数単価7円）。</a:t>
            </a:r>
          </a:p>
          <a:p>
            <a:pPr algn="l">
              <a:lnSpc>
                <a:spcPct val="120000"/>
              </a:lnSpc>
            </a:pPr>
            <a:r>
              <a:rPr sz="900">
                <a:solidFill>
                  <a:srgbClr val="646C82"/>
                </a:solidFill>
                <a:latin typeface="メイリオ"/>
                <a:ea typeface="メイリオ"/>
                <a:cs typeface="メイリオ"/>
              </a:rPr>
              <a:t>※ 送信対象は貴学が保有する電話番号リスト。利用にあたっては個人情報の取得同意の範囲を確認する。</a:t>
            </a:r>
          </a:p>
        </p:txBody>
      </p:sp>
    </p:spTree>
    <p:extLst>
      <p:ext uri="{BB962C8B-B14F-4D97-AF65-F5344CB8AC3E}">
        <p14:creationId xmlns:p14="http://schemas.microsoft.com/office/powerpoint/2010/main" val="42248704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④資料請求・友だち追加(LINE)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④資料請求(WEB)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[LINEで学部学科診断]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資料請求／OC予約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rPr>
              <a:t>✓ </a:t>
            </a:r>
            <a:r>
              <a:rPr sz="1200" b="0" dirty="0" err="1">
                <a:solidFill>
                  <a:srgbClr val="1C2233"/>
                </a:solidFill>
                <a:latin typeface="メイリオ"/>
              </a:rPr>
              <a:t>Web予約の完了率が低い</a:t>
            </a:r>
            <a:endParaRPr sz="1200" b="0" dirty="0">
              <a:solidFill>
                <a:srgbClr val="1C2233"/>
              </a:solidFill>
              <a:latin typeface="メイリオ"/>
            </a:endParaRPr>
          </a:p>
          <a:p>
            <a:r>
              <a:rPr sz="1200" b="0" dirty="0">
                <a:solidFill>
                  <a:srgbClr val="1C2233"/>
                </a:solidFill>
                <a:latin typeface="メイリオ"/>
              </a:rPr>
              <a:t>✓ </a:t>
            </a:r>
            <a:r>
              <a:rPr sz="1200" b="0" dirty="0" err="1">
                <a:solidFill>
                  <a:srgbClr val="1C2233"/>
                </a:solidFill>
                <a:latin typeface="メイリオ"/>
              </a:rPr>
              <a:t>検討初期の迷い層を逃す</a:t>
            </a:r>
            <a:endParaRPr sz="1200" b="0" dirty="0">
              <a:solidFill>
                <a:srgbClr val="1C2233"/>
              </a:solidFill>
              <a:latin typeface="メイリオ"/>
            </a:endParaRPr>
          </a:p>
          <a:p>
            <a:r>
              <a:rPr sz="1200" b="0" dirty="0">
                <a:solidFill>
                  <a:srgbClr val="1C2233"/>
                </a:solidFill>
                <a:latin typeface="メイリオ"/>
              </a:rPr>
              <a:t>✓ </a:t>
            </a:r>
            <a:r>
              <a:rPr sz="1200" b="0" dirty="0" err="1">
                <a:solidFill>
                  <a:srgbClr val="1C2233"/>
                </a:solidFill>
                <a:latin typeface="メイリオ"/>
              </a:rPr>
              <a:t>電話折返しの工数が重い</a:t>
            </a:r>
            <a:endParaRPr sz="1200" b="0" dirty="0">
              <a:solidFill>
                <a:srgbClr val="1C2233"/>
              </a:solidFill>
              <a:latin typeface="メイリオ"/>
            </a:endParaRPr>
          </a:p>
          <a:p>
            <a:r>
              <a:rPr sz="1200" b="0" dirty="0">
                <a:solidFill>
                  <a:srgbClr val="1C2233"/>
                </a:solidFill>
                <a:latin typeface="メイリオ"/>
              </a:rPr>
              <a:t>✓ </a:t>
            </a:r>
            <a:r>
              <a:rPr sz="1200" b="0" dirty="0" err="1">
                <a:solidFill>
                  <a:srgbClr val="1C2233"/>
                </a:solidFill>
                <a:latin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rPr>
              <a:t>✓ </a:t>
            </a:r>
            <a:r>
              <a:rPr sz="1200" b="0" dirty="0" err="1">
                <a:solidFill>
                  <a:srgbClr val="1C2233"/>
                </a:solidFill>
                <a:latin typeface="メイリオ"/>
              </a:rPr>
              <a:t>Web予約は既に回っている</a:t>
            </a:r>
            <a:endParaRPr sz="1200" b="0" dirty="0">
              <a:solidFill>
                <a:srgbClr val="1C2233"/>
              </a:solidFill>
              <a:latin typeface="メイリオ"/>
            </a:endParaRPr>
          </a:p>
          <a:p>
            <a:r>
              <a:rPr sz="1200" b="0" dirty="0">
                <a:solidFill>
                  <a:srgbClr val="1C2233"/>
                </a:solidFill>
                <a:latin typeface="メイリオ"/>
              </a:rPr>
              <a:t>✓ </a:t>
            </a:r>
            <a:r>
              <a:rPr sz="1200" b="0" dirty="0" err="1">
                <a:solidFill>
                  <a:srgbClr val="1C2233"/>
                </a:solidFill>
                <a:latin typeface="メイリオ"/>
              </a:rPr>
              <a:t>無断キャンセルが課題</a:t>
            </a:r>
            <a:endParaRPr sz="1200" b="0" dirty="0">
              <a:solidFill>
                <a:srgbClr val="1C2233"/>
              </a:solidFill>
              <a:latin typeface="メイリオ"/>
            </a:endParaRPr>
          </a:p>
          <a:p>
            <a:r>
              <a:rPr sz="1200" b="0" dirty="0">
                <a:solidFill>
                  <a:srgbClr val="1C2233"/>
                </a:solidFill>
                <a:latin typeface="メイリオ"/>
              </a:rPr>
              <a:t>✓ </a:t>
            </a:r>
            <a:r>
              <a:rPr sz="1200" b="0" dirty="0" err="1">
                <a:solidFill>
                  <a:srgbClr val="1C2233"/>
                </a:solidFill>
                <a:latin typeface="メイリオ"/>
              </a:rPr>
              <a:t>通知メッセを使いたい</a:t>
            </a:r>
            <a:endParaRPr sz="1200" b="0" dirty="0">
              <a:solidFill>
                <a:srgbClr val="1C2233"/>
              </a:solidFill>
              <a:latin typeface="メイリオ"/>
            </a:endParaRPr>
          </a:p>
          <a:p>
            <a:r>
              <a:rPr sz="1200" b="0" dirty="0">
                <a:solidFill>
                  <a:srgbClr val="1C2233"/>
                </a:solidFill>
                <a:latin typeface="メイリオ"/>
              </a:rPr>
              <a:t>✓ </a:t>
            </a:r>
            <a:r>
              <a:rPr sz="1200" b="0" dirty="0" err="1">
                <a:solidFill>
                  <a:srgbClr val="1C2233"/>
                </a:solidFill>
                <a:latin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オープンキャンパス参加</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⑦出願・入学手続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panose="020B0604030504040204" pitchFamily="50" charset="-128"/>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⑧入学後の定着・中退防止</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在学生／保護者／卒業生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オープンキャンパス参加</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⑦出願・入学手続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panose="020B0604030504040204" pitchFamily="50" charset="-128"/>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⑧入学後の定着・中退防止</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在学生／保護者／卒業生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AA7E1F7-0824-AE94-5B85-AB7CDE6A394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改善モデル①</a:t>
            </a:r>
          </a:p>
        </p:txBody>
      </p:sp>
      <p:sp>
        <p:nvSpPr>
          <p:cNvPr id="9" name="正方形/長方形 8">
            <a:extLst>
              <a:ext uri="{FF2B5EF4-FFF2-40B4-BE49-F238E27FC236}">
                <a16:creationId xmlns:a16="http://schemas.microsoft.com/office/drawing/2014/main" id="{C0FCF3C4-80C9-827F-1385-EBD6AE02077C}"/>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3" name="Google Shape;752;p28">
            <a:extLst>
              <a:ext uri="{FF2B5EF4-FFF2-40B4-BE49-F238E27FC236}">
                <a16:creationId xmlns:a16="http://schemas.microsoft.com/office/drawing/2014/main" id="{C5064B01-7057-EF97-C2C2-7EA1400AE06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施策を通じて貴社に送ることが出来る個人情報を最大化する。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7" name="テキスト ボックス 26">
            <a:extLst>
              <a:ext uri="{FF2B5EF4-FFF2-40B4-BE49-F238E27FC236}">
                <a16:creationId xmlns:a16="http://schemas.microsoft.com/office/drawing/2014/main" id="{6AB9A59D-5D83-F4A0-8E07-0F2D6665420A}"/>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77440BBB-52A3-1900-D18A-8AF25E970934}"/>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5A50DC53-429F-39BB-C171-6F57EE64F0C2}"/>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cxnSp>
        <p:nvCxnSpPr>
          <p:cNvPr id="32" name="コネクタ: カギ線 31">
            <a:extLst>
              <a:ext uri="{FF2B5EF4-FFF2-40B4-BE49-F238E27FC236}">
                <a16:creationId xmlns:a16="http://schemas.microsoft.com/office/drawing/2014/main" id="{A2FE37DB-7FF9-8AA6-3138-A9AA0818706B}"/>
              </a:ext>
            </a:extLst>
          </p:cNvPr>
          <p:cNvCxnSpPr>
            <a:cxnSpLocks/>
            <a:endCxn id="6" idx="2"/>
          </p:cNvCxnSpPr>
          <p:nvPr/>
        </p:nvCxnSpPr>
        <p:spPr>
          <a:xfrm rot="5400000" flipH="1" flipV="1">
            <a:off x="4284885" y="1729027"/>
            <a:ext cx="218990"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60AD3EC5-397C-F2E1-06DA-B35AA3F6DA3B}"/>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A916BF7B-2A5E-9585-D6BF-4545B58F8CDA}"/>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0CF33E8B-8A1D-B1FB-4244-9F0AFB92429B}"/>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916C11C4-F5B8-BBD3-EE11-4BBAC85EFEF6}"/>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900F58B-9BD8-36E8-2837-7D435FEE306F}"/>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1" name="正方形/長方形 10">
            <a:extLst>
              <a:ext uri="{FF2B5EF4-FFF2-40B4-BE49-F238E27FC236}">
                <a16:creationId xmlns:a16="http://schemas.microsoft.com/office/drawing/2014/main" id="{94AA99B3-016F-5352-F0F9-97BF2EF9495B}"/>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正方形/長方形 11">
            <a:extLst>
              <a:ext uri="{FF2B5EF4-FFF2-40B4-BE49-F238E27FC236}">
                <a16:creationId xmlns:a16="http://schemas.microsoft.com/office/drawing/2014/main" id="{A045185E-6C2C-A6FD-00A8-0A9C05295D96}"/>
              </a:ext>
            </a:extLst>
          </p:cNvPr>
          <p:cNvSpPr/>
          <p:nvPr/>
        </p:nvSpPr>
        <p:spPr>
          <a:xfrm>
            <a:off x="8382000" y="898654"/>
            <a:ext cx="1223554" cy="260090"/>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成果報酬：可</a:t>
            </a:r>
          </a:p>
        </p:txBody>
      </p:sp>
      <p:sp>
        <p:nvSpPr>
          <p:cNvPr id="15" name="正方形/長方形 14">
            <a:extLst>
              <a:ext uri="{FF2B5EF4-FFF2-40B4-BE49-F238E27FC236}">
                <a16:creationId xmlns:a16="http://schemas.microsoft.com/office/drawing/2014/main" id="{EDFACFC7-1B18-419B-64DD-5EB407E04E3D}"/>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7" name="テキスト ボックス 16">
            <a:extLst>
              <a:ext uri="{FF2B5EF4-FFF2-40B4-BE49-F238E27FC236}">
                <a16:creationId xmlns:a16="http://schemas.microsoft.com/office/drawing/2014/main" id="{F808170B-2E7D-DA91-C855-5B0F96687E57}"/>
              </a:ext>
            </a:extLst>
          </p:cNvPr>
          <p:cNvSpPr txBox="1"/>
          <p:nvPr/>
        </p:nvSpPr>
        <p:spPr>
          <a:xfrm>
            <a:off x="3136468" y="2021330"/>
            <a:ext cx="1868111" cy="348203"/>
          </a:xfrm>
          <a:prstGeom prst="rect">
            <a:avLst/>
          </a:prstGeom>
          <a:solidFill>
            <a:srgbClr val="2080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④リード獲得 </a:t>
            </a:r>
            <a:r>
              <a:rPr lang="en-US" altLang="ja-JP" sz="900" b="1" dirty="0">
                <a:solidFill>
                  <a:schemeClr val="bg1"/>
                </a:solidFill>
                <a:latin typeface="メイリオ" panose="020B0604030504040204" pitchFamily="50" charset="-128"/>
                <a:ea typeface="メイリオ" panose="020B0604030504040204" pitchFamily="50" charset="-128"/>
              </a:rPr>
              <a:t>(web/LINE)</a:t>
            </a:r>
            <a:endParaRPr lang="ja-JP" altLang="ja-JP" sz="1050" b="1" dirty="0">
              <a:solidFill>
                <a:schemeClr val="bg1"/>
              </a:solidFill>
              <a:latin typeface="メイリオ" panose="020B0604030504040204" pitchFamily="50" charset="-128"/>
              <a:ea typeface="メイリオ" panose="020B0604030504040204" pitchFamily="50" charset="-128"/>
            </a:endParaRPr>
          </a:p>
        </p:txBody>
      </p:sp>
      <p:sp>
        <p:nvSpPr>
          <p:cNvPr id="215" name="正方形/長方形 214">
            <a:extLst>
              <a:ext uri="{FF2B5EF4-FFF2-40B4-BE49-F238E27FC236}">
                <a16:creationId xmlns:a16="http://schemas.microsoft.com/office/drawing/2014/main" id="{0D93F268-2976-E24C-FFDF-A52C518BD95E}"/>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広告・集客の成果地点として</a:t>
            </a:r>
            <a:r>
              <a:rPr kumimoji="1" lang="en-US" altLang="ja-JP" sz="1050" b="1" dirty="0">
                <a:latin typeface="メイリオ" panose="020B0604030504040204" pitchFamily="50" charset="-128"/>
                <a:ea typeface="メイリオ" panose="020B0604030504040204" pitchFamily="50" charset="-128"/>
              </a:rPr>
              <a:t>LINE</a:t>
            </a:r>
            <a:r>
              <a:rPr kumimoji="1" lang="ja-JP" altLang="en-US" sz="1050" b="1" dirty="0">
                <a:latin typeface="メイリオ" panose="020B0604030504040204" pitchFamily="50" charset="-128"/>
                <a:ea typeface="メイリオ" panose="020B0604030504040204" pitchFamily="50" charset="-128"/>
              </a:rPr>
              <a:t>を追加する</a:t>
            </a:r>
          </a:p>
        </p:txBody>
      </p:sp>
      <p:sp>
        <p:nvSpPr>
          <p:cNvPr id="217" name="正方形/長方形 216">
            <a:extLst>
              <a:ext uri="{FF2B5EF4-FFF2-40B4-BE49-F238E27FC236}">
                <a16:creationId xmlns:a16="http://schemas.microsoft.com/office/drawing/2014/main" id="{EFE9DDC0-6FAF-EE1E-D2F6-1599D9760DFE}"/>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a:latin typeface="メイリオ" panose="020B0604030504040204" pitchFamily="50" charset="-128"/>
                <a:ea typeface="メイリオ" panose="020B0604030504040204" pitchFamily="50" charset="-128"/>
              </a:rPr>
              <a:t>LINE</a:t>
            </a:r>
            <a:r>
              <a:rPr lang="ja-JP" altLang="en-US" sz="1050" b="1" dirty="0">
                <a:latin typeface="メイリオ" panose="020B0604030504040204" pitchFamily="50" charset="-128"/>
                <a:ea typeface="メイリオ" panose="020B0604030504040204" pitchFamily="50" charset="-128"/>
              </a:rPr>
              <a:t>の特典・メリットを適切なタイミングで提示し</a:t>
            </a:r>
            <a:r>
              <a:rPr lang="en-US" altLang="ja-JP" sz="1050" b="1" dirty="0">
                <a:latin typeface="メイリオ" panose="020B0604030504040204" pitchFamily="50" charset="-128"/>
                <a:ea typeface="メイリオ" panose="020B0604030504040204" pitchFamily="50" charset="-128"/>
              </a:rPr>
              <a:t>CV</a:t>
            </a:r>
            <a:r>
              <a:rPr lang="ja-JP" altLang="en-US" sz="1050" b="1" dirty="0">
                <a:latin typeface="メイリオ" panose="020B0604030504040204" pitchFamily="50" charset="-128"/>
                <a:ea typeface="メイリオ" panose="020B0604030504040204" pitchFamily="50" charset="-128"/>
              </a:rPr>
              <a:t>へ</a:t>
            </a:r>
          </a:p>
        </p:txBody>
      </p:sp>
      <p:sp>
        <p:nvSpPr>
          <p:cNvPr id="265" name="Shape 59">
            <a:extLst>
              <a:ext uri="{FF2B5EF4-FFF2-40B4-BE49-F238E27FC236}">
                <a16:creationId xmlns:a16="http://schemas.microsoft.com/office/drawing/2014/main" id="{2B92E1A5-40B4-D866-C1EB-8ACEB8EE470D}"/>
              </a:ext>
            </a:extLst>
          </p:cNvPr>
          <p:cNvSpPr/>
          <p:nvPr/>
        </p:nvSpPr>
        <p:spPr>
          <a:xfrm>
            <a:off x="265419" y="4842285"/>
            <a:ext cx="4541216" cy="1600804"/>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7" name="Shape 63">
            <a:extLst>
              <a:ext uri="{FF2B5EF4-FFF2-40B4-BE49-F238E27FC236}">
                <a16:creationId xmlns:a16="http://schemas.microsoft.com/office/drawing/2014/main" id="{986279D3-31B7-AFE5-0997-A2CDC716E6CD}"/>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9" name="Text 64">
            <a:extLst>
              <a:ext uri="{FF2B5EF4-FFF2-40B4-BE49-F238E27FC236}">
                <a16:creationId xmlns:a16="http://schemas.microsoft.com/office/drawing/2014/main" id="{314E4055-2D3D-DC19-BD60-79D095DBA6D9}"/>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1" name="Text 65">
            <a:extLst>
              <a:ext uri="{FF2B5EF4-FFF2-40B4-BE49-F238E27FC236}">
                <a16:creationId xmlns:a16="http://schemas.microsoft.com/office/drawing/2014/main" id="{2259F17B-A9B0-7F43-8907-87383FCBF6CE}"/>
              </a:ext>
            </a:extLst>
          </p:cNvPr>
          <p:cNvSpPr/>
          <p:nvPr/>
        </p:nvSpPr>
        <p:spPr>
          <a:xfrm>
            <a:off x="1545579"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LINE広告（CPF）完結型 × LINE内チャットボット</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3" name="Text 66">
            <a:extLst>
              <a:ext uri="{FF2B5EF4-FFF2-40B4-BE49-F238E27FC236}">
                <a16:creationId xmlns:a16="http://schemas.microsoft.com/office/drawing/2014/main" id="{98D6C858-0A51-D469-C857-32114CFA96FE}"/>
              </a:ext>
            </a:extLst>
          </p:cNvPr>
          <p:cNvSpPr/>
          <p:nvPr/>
        </p:nvSpPr>
        <p:spPr>
          <a:xfrm>
            <a:off x="356859" y="5226333"/>
            <a:ext cx="4449774" cy="457200"/>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広告の</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CPF</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を利用して、興味関心</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商圏でのリード保有数を最大化。</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LINE完結で</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WEBに遷移させないため離脱ゼロ</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でのステップ配信・有効リードの育成へ。</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5" name="Shape 68">
            <a:extLst>
              <a:ext uri="{FF2B5EF4-FFF2-40B4-BE49-F238E27FC236}">
                <a16:creationId xmlns:a16="http://schemas.microsoft.com/office/drawing/2014/main" id="{CFA7D9BB-A1E1-31FD-946A-B75B944AADA7}"/>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7" name="Text 69">
            <a:extLst>
              <a:ext uri="{FF2B5EF4-FFF2-40B4-BE49-F238E27FC236}">
                <a16:creationId xmlns:a16="http://schemas.microsoft.com/office/drawing/2014/main" id="{94B27B5E-13D7-A4CA-7352-4BBEA8C99224}"/>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9" name="Text 70">
            <a:extLst>
              <a:ext uri="{FF2B5EF4-FFF2-40B4-BE49-F238E27FC236}">
                <a16:creationId xmlns:a16="http://schemas.microsoft.com/office/drawing/2014/main" id="{02B4B046-1456-2549-8D2A-03FE8B9434D4}"/>
              </a:ext>
            </a:extLst>
          </p:cNvPr>
          <p:cNvSpPr/>
          <p:nvPr/>
        </p:nvSpPr>
        <p:spPr>
          <a:xfrm>
            <a:off x="363197" y="5687343"/>
            <a:ext cx="4053598" cy="146304"/>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8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8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1" name="Shape 71">
            <a:extLst>
              <a:ext uri="{FF2B5EF4-FFF2-40B4-BE49-F238E27FC236}">
                <a16:creationId xmlns:a16="http://schemas.microsoft.com/office/drawing/2014/main" id="{69A5DB50-D061-75F2-9683-580DA89DA5BD}"/>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3" name="Shape 72">
            <a:extLst>
              <a:ext uri="{FF2B5EF4-FFF2-40B4-BE49-F238E27FC236}">
                <a16:creationId xmlns:a16="http://schemas.microsoft.com/office/drawing/2014/main" id="{1E18DB25-A307-005D-2220-B5D1CB74EDBF}"/>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5" name="Text 73">
            <a:extLst>
              <a:ext uri="{FF2B5EF4-FFF2-40B4-BE49-F238E27FC236}">
                <a16:creationId xmlns:a16="http://schemas.microsoft.com/office/drawing/2014/main" id="{453E45E2-53B3-3123-A567-3CDA891BBEEF}"/>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7" name="Text 74">
            <a:extLst>
              <a:ext uri="{FF2B5EF4-FFF2-40B4-BE49-F238E27FC236}">
                <a16:creationId xmlns:a16="http://schemas.microsoft.com/office/drawing/2014/main" id="{35068314-9221-6665-F236-3F5B1A8773D8}"/>
              </a:ext>
            </a:extLst>
          </p:cNvPr>
          <p:cNvSpPr/>
          <p:nvPr/>
        </p:nvSpPr>
        <p:spPr>
          <a:xfrm>
            <a:off x="6311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CPF広告タップ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9" name="Text 75">
            <a:extLst>
              <a:ext uri="{FF2B5EF4-FFF2-40B4-BE49-F238E27FC236}">
                <a16:creationId xmlns:a16="http://schemas.microsoft.com/office/drawing/2014/main" id="{9E831384-FBA1-9ABC-D5C4-E9D07BF92DC1}"/>
              </a:ext>
            </a:extLst>
          </p:cNvPr>
          <p:cNvSpPr/>
          <p:nvPr/>
        </p:nvSpPr>
        <p:spPr>
          <a:xfrm>
            <a:off x="4117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即・友だち追加</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1" name="Text 76">
            <a:extLst>
              <a:ext uri="{FF2B5EF4-FFF2-40B4-BE49-F238E27FC236}">
                <a16:creationId xmlns:a16="http://schemas.microsoft.com/office/drawing/2014/main" id="{B609F64E-3A86-7ABF-C056-68CBD7347946}"/>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3" name="Shape 77">
            <a:extLst>
              <a:ext uri="{FF2B5EF4-FFF2-40B4-BE49-F238E27FC236}">
                <a16:creationId xmlns:a16="http://schemas.microsoft.com/office/drawing/2014/main" id="{A42E7FC8-693A-903C-101F-881077D3912E}"/>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5" name="Shape 78">
            <a:extLst>
              <a:ext uri="{FF2B5EF4-FFF2-40B4-BE49-F238E27FC236}">
                <a16:creationId xmlns:a16="http://schemas.microsoft.com/office/drawing/2014/main" id="{5D77DB8F-3255-B8FA-09A1-BA76AB1E30EC}"/>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7" name="Text 79">
            <a:extLst>
              <a:ext uri="{FF2B5EF4-FFF2-40B4-BE49-F238E27FC236}">
                <a16:creationId xmlns:a16="http://schemas.microsoft.com/office/drawing/2014/main" id="{AE657B72-3339-BAE3-9DA8-C9C378371C9D}"/>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9" name="Text 80">
            <a:extLst>
              <a:ext uri="{FF2B5EF4-FFF2-40B4-BE49-F238E27FC236}">
                <a16:creationId xmlns:a16="http://schemas.microsoft.com/office/drawing/2014/main" id="{582D1F5A-1093-8B0B-EC93-6F3E17DF1674}"/>
              </a:ext>
            </a:extLst>
          </p:cNvPr>
          <p:cNvSpPr/>
          <p:nvPr/>
        </p:nvSpPr>
        <p:spPr>
          <a:xfrm>
            <a:off x="2041211" y="5957091"/>
            <a:ext cx="98036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応答、ステップ起動</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1" name="Text 81">
            <a:extLst>
              <a:ext uri="{FF2B5EF4-FFF2-40B4-BE49-F238E27FC236}">
                <a16:creationId xmlns:a16="http://schemas.microsoft.com/office/drawing/2014/main" id="{267A8E72-34E2-AC1E-E783-02748F2A3058}"/>
              </a:ext>
            </a:extLst>
          </p:cNvPr>
          <p:cNvSpPr/>
          <p:nvPr/>
        </p:nvSpPr>
        <p:spPr>
          <a:xfrm>
            <a:off x="1819899"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ステップ配信が</a:t>
            </a:r>
            <a:r>
              <a:rPr kumimoji="0" lang="en-US" sz="7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起動</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3" name="Text 82">
            <a:extLst>
              <a:ext uri="{FF2B5EF4-FFF2-40B4-BE49-F238E27FC236}">
                <a16:creationId xmlns:a16="http://schemas.microsoft.com/office/drawing/2014/main" id="{9B65E420-0374-979E-BAA2-48722980545C}"/>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5" name="Shape 83">
            <a:extLst>
              <a:ext uri="{FF2B5EF4-FFF2-40B4-BE49-F238E27FC236}">
                <a16:creationId xmlns:a16="http://schemas.microsoft.com/office/drawing/2014/main" id="{7C0C6D93-01E9-C895-1E2E-400951DA4B8E}"/>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7" name="Shape 84">
            <a:extLst>
              <a:ext uri="{FF2B5EF4-FFF2-40B4-BE49-F238E27FC236}">
                <a16:creationId xmlns:a16="http://schemas.microsoft.com/office/drawing/2014/main" id="{6B131D82-5FD9-9308-3AF2-032B378170E3}"/>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9" name="Text 85">
            <a:extLst>
              <a:ext uri="{FF2B5EF4-FFF2-40B4-BE49-F238E27FC236}">
                <a16:creationId xmlns:a16="http://schemas.microsoft.com/office/drawing/2014/main" id="{A04EEFDD-332F-12BD-7677-D9DE3938B356}"/>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1" name="Text 86">
            <a:extLst>
              <a:ext uri="{FF2B5EF4-FFF2-40B4-BE49-F238E27FC236}">
                <a16:creationId xmlns:a16="http://schemas.microsoft.com/office/drawing/2014/main" id="{32928D0D-3150-AD73-9242-387FEEFEB4E7}"/>
              </a:ext>
            </a:extLst>
          </p:cNvPr>
          <p:cNvSpPr/>
          <p:nvPr/>
        </p:nvSpPr>
        <p:spPr>
          <a:xfrm>
            <a:off x="3447531"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リードデータ取得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3" name="Text 87">
            <a:extLst>
              <a:ext uri="{FF2B5EF4-FFF2-40B4-BE49-F238E27FC236}">
                <a16:creationId xmlns:a16="http://schemas.microsoft.com/office/drawing/2014/main" id="{155A8DAC-6178-45E5-B78E-ED5968433C87}"/>
              </a:ext>
            </a:extLst>
          </p:cNvPr>
          <p:cNvSpPr/>
          <p:nvPr/>
        </p:nvSpPr>
        <p:spPr>
          <a:xfrm>
            <a:off x="3228075"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LINE内で完結</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5" name="Shape 88">
            <a:extLst>
              <a:ext uri="{FF2B5EF4-FFF2-40B4-BE49-F238E27FC236}">
                <a16:creationId xmlns:a16="http://schemas.microsoft.com/office/drawing/2014/main" id="{65FD4E02-C70C-2DC3-6107-3854D0C99B17}"/>
              </a:ext>
            </a:extLst>
          </p:cNvPr>
          <p:cNvSpPr/>
          <p:nvPr/>
        </p:nvSpPr>
        <p:spPr>
          <a:xfrm>
            <a:off x="5099366" y="2999769"/>
            <a:ext cx="4526075" cy="1600806"/>
          </a:xfrm>
          <a:prstGeom prst="roundRect">
            <a:avLst>
              <a:gd name="adj" fmla="val 8000"/>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9" name="Shape 113">
            <a:extLst>
              <a:ext uri="{FF2B5EF4-FFF2-40B4-BE49-F238E27FC236}">
                <a16:creationId xmlns:a16="http://schemas.microsoft.com/office/drawing/2014/main" id="{11234610-A1AC-AA19-B005-775FD3F8A3B3}"/>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1" name="Shape 117">
            <a:extLst>
              <a:ext uri="{FF2B5EF4-FFF2-40B4-BE49-F238E27FC236}">
                <a16:creationId xmlns:a16="http://schemas.microsoft.com/office/drawing/2014/main" id="{53B1A122-71EF-1F9B-0702-A1A1393823D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3" name="Text 118">
            <a:extLst>
              <a:ext uri="{FF2B5EF4-FFF2-40B4-BE49-F238E27FC236}">
                <a16:creationId xmlns:a16="http://schemas.microsoft.com/office/drawing/2014/main" id="{841897D7-C412-EE47-0B0D-746DD32E330E}"/>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KW自動応答</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5" name="Text 119">
            <a:extLst>
              <a:ext uri="{FF2B5EF4-FFF2-40B4-BE49-F238E27FC236}">
                <a16:creationId xmlns:a16="http://schemas.microsoft.com/office/drawing/2014/main" id="{EBE6ADAD-9C3A-4E30-E6A7-BF0CDE4B5719}"/>
              </a:ext>
            </a:extLst>
          </p:cNvPr>
          <p:cNvSpPr/>
          <p:nvPr/>
        </p:nvSpPr>
        <p:spPr>
          <a:xfrm>
            <a:off x="6379527"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短期</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KW自動応答でFAQ即解消→</a:t>
            </a:r>
            <a:r>
              <a:rPr kumimoji="0" lang="en-US" altLang="ja-JP"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へ誘導</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7" name="Text 120">
            <a:extLst>
              <a:ext uri="{FF2B5EF4-FFF2-40B4-BE49-F238E27FC236}">
                <a16:creationId xmlns:a16="http://schemas.microsoft.com/office/drawing/2014/main" id="{9BC9F586-F4C8-69D1-0AB3-84BC5D46528A}"/>
              </a:ext>
            </a:extLst>
          </p:cNvPr>
          <p:cNvSpPr/>
          <p:nvPr/>
        </p:nvSpPr>
        <p:spPr>
          <a:xfrm>
            <a:off x="5190807" y="5226333"/>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ステップ配信と並行して、</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にて代表的な</a:t>
            </a:r>
            <a:r>
              <a:rPr kumimoji="0" lang="en-US" altLang="ja-JP"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Q</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に自動返答＋CV</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動線へ誘導</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24時間対応で「試しに聞いてみた」</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層</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をそのまま申込フォームへ転換</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9" name="Shape 121">
            <a:extLst>
              <a:ext uri="{FF2B5EF4-FFF2-40B4-BE49-F238E27FC236}">
                <a16:creationId xmlns:a16="http://schemas.microsoft.com/office/drawing/2014/main" id="{879C697E-7DA8-CA7E-D00D-C9CADF55302E}"/>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1" name="Shape 122">
            <a:extLst>
              <a:ext uri="{FF2B5EF4-FFF2-40B4-BE49-F238E27FC236}">
                <a16:creationId xmlns:a16="http://schemas.microsoft.com/office/drawing/2014/main" id="{E0FE3AAB-EEAF-8F74-4288-38540089361D}"/>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3" name="Text 123">
            <a:extLst>
              <a:ext uri="{FF2B5EF4-FFF2-40B4-BE49-F238E27FC236}">
                <a16:creationId xmlns:a16="http://schemas.microsoft.com/office/drawing/2014/main" id="{31A73E53-E872-D735-0EE5-02CFC5ED076F}"/>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5" name="Text 124">
            <a:extLst>
              <a:ext uri="{FF2B5EF4-FFF2-40B4-BE49-F238E27FC236}">
                <a16:creationId xmlns:a16="http://schemas.microsoft.com/office/drawing/2014/main" id="{014A61FB-ACC2-FA78-238A-10F112F08313}"/>
              </a:ext>
            </a:extLst>
          </p:cNvPr>
          <p:cNvSpPr/>
          <p:nvPr/>
        </p:nvSpPr>
        <p:spPr>
          <a:xfrm>
            <a:off x="5447079" y="5957091"/>
            <a:ext cx="1020168"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ステップ配信・</a:t>
            </a:r>
            <a:r>
              <a:rPr kumimoji="0" lang="en-US" altLang="ja-JP"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QA</a:t>
            </a: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7" name="Text 125">
            <a:extLst>
              <a:ext uri="{FF2B5EF4-FFF2-40B4-BE49-F238E27FC236}">
                <a16:creationId xmlns:a16="http://schemas.microsoft.com/office/drawing/2014/main" id="{61B557F9-9683-D913-1D65-DD25D26B2695}"/>
              </a:ext>
            </a:extLst>
          </p:cNvPr>
          <p:cNvSpPr/>
          <p:nvPr/>
        </p:nvSpPr>
        <p:spPr>
          <a:xfrm>
            <a:off x="5245671"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追加～</a:t>
            </a:r>
            <a:r>
              <a:rPr kumimoji="0" lang="en-US" altLang="ja-JP"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15</a:t>
            </a: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日で</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9" name="Text 126">
            <a:extLst>
              <a:ext uri="{FF2B5EF4-FFF2-40B4-BE49-F238E27FC236}">
                <a16:creationId xmlns:a16="http://schemas.microsoft.com/office/drawing/2014/main" id="{F117171D-C47B-261C-85AC-F680EF28CB19}"/>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1" name="Shape 127">
            <a:extLst>
              <a:ext uri="{FF2B5EF4-FFF2-40B4-BE49-F238E27FC236}">
                <a16:creationId xmlns:a16="http://schemas.microsoft.com/office/drawing/2014/main" id="{4BEE9167-F8E5-7442-64A8-E9F7D39F09D7}"/>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3" name="Shape 128">
            <a:extLst>
              <a:ext uri="{FF2B5EF4-FFF2-40B4-BE49-F238E27FC236}">
                <a16:creationId xmlns:a16="http://schemas.microsoft.com/office/drawing/2014/main" id="{9C2642A1-2BDB-C49F-7691-85BD71CF126B}"/>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5" name="Text 129">
            <a:extLst>
              <a:ext uri="{FF2B5EF4-FFF2-40B4-BE49-F238E27FC236}">
                <a16:creationId xmlns:a16="http://schemas.microsoft.com/office/drawing/2014/main" id="{B9E7F4F1-E140-0A15-9900-349580A383C4}"/>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7" name="Text 130">
            <a:extLst>
              <a:ext uri="{FF2B5EF4-FFF2-40B4-BE49-F238E27FC236}">
                <a16:creationId xmlns:a16="http://schemas.microsoft.com/office/drawing/2014/main" id="{538141D0-5353-E1AE-4CCC-4B7FBADE0E74}"/>
              </a:ext>
            </a:extLst>
          </p:cNvPr>
          <p:cNvSpPr/>
          <p:nvPr/>
        </p:nvSpPr>
        <p:spPr>
          <a:xfrm>
            <a:off x="6873303"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自動即返答</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9" name="Text 131">
            <a:extLst>
              <a:ext uri="{FF2B5EF4-FFF2-40B4-BE49-F238E27FC236}">
                <a16:creationId xmlns:a16="http://schemas.microsoft.com/office/drawing/2014/main" id="{507C3FBA-63F5-86D8-66C6-6318F2F8EDA2}"/>
              </a:ext>
            </a:extLst>
          </p:cNvPr>
          <p:cNvSpPr/>
          <p:nvPr/>
        </p:nvSpPr>
        <p:spPr>
          <a:xfrm>
            <a:off x="6653847"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FAQ解消＋LP URL送付</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1" name="Text 132">
            <a:extLst>
              <a:ext uri="{FF2B5EF4-FFF2-40B4-BE49-F238E27FC236}">
                <a16:creationId xmlns:a16="http://schemas.microsoft.com/office/drawing/2014/main" id="{6C6ED810-1D06-F9BD-D3C9-03D6BF6C14DA}"/>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3" name="Shape 133">
            <a:extLst>
              <a:ext uri="{FF2B5EF4-FFF2-40B4-BE49-F238E27FC236}">
                <a16:creationId xmlns:a16="http://schemas.microsoft.com/office/drawing/2014/main" id="{032FF15A-215D-CE84-EF89-D93E09191819}"/>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5" name="Shape 134">
            <a:extLst>
              <a:ext uri="{FF2B5EF4-FFF2-40B4-BE49-F238E27FC236}">
                <a16:creationId xmlns:a16="http://schemas.microsoft.com/office/drawing/2014/main" id="{4111E6D0-ABE0-6AC4-2D12-6FEF3F3EFA73}"/>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7" name="Text 135">
            <a:extLst>
              <a:ext uri="{FF2B5EF4-FFF2-40B4-BE49-F238E27FC236}">
                <a16:creationId xmlns:a16="http://schemas.microsoft.com/office/drawing/2014/main" id="{CF3AE303-2971-F53C-A610-F98F99E3189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9" name="Text 136">
            <a:extLst>
              <a:ext uri="{FF2B5EF4-FFF2-40B4-BE49-F238E27FC236}">
                <a16:creationId xmlns:a16="http://schemas.microsoft.com/office/drawing/2014/main" id="{F73C430F-E961-93C3-213B-0963BAC20CD3}"/>
              </a:ext>
            </a:extLst>
          </p:cNvPr>
          <p:cNvSpPr/>
          <p:nvPr/>
        </p:nvSpPr>
        <p:spPr>
          <a:xfrm>
            <a:off x="82814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申込フォームCV</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1" name="Text 137">
            <a:extLst>
              <a:ext uri="{FF2B5EF4-FFF2-40B4-BE49-F238E27FC236}">
                <a16:creationId xmlns:a16="http://schemas.microsoft.com/office/drawing/2014/main" id="{88FD7181-FD44-C0BF-B9A5-5C5C104EC047}"/>
              </a:ext>
            </a:extLst>
          </p:cNvPr>
          <p:cNvSpPr/>
          <p:nvPr/>
        </p:nvSpPr>
        <p:spPr>
          <a:xfrm>
            <a:off x="80620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24時間・スタッフ不要</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3" name="Shape 36">
            <a:extLst>
              <a:ext uri="{FF2B5EF4-FFF2-40B4-BE49-F238E27FC236}">
                <a16:creationId xmlns:a16="http://schemas.microsoft.com/office/drawing/2014/main" id="{D62EC5F5-FA90-2741-4644-800F1639B9D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7" name="Shape 36">
            <a:extLst>
              <a:ext uri="{FF2B5EF4-FFF2-40B4-BE49-F238E27FC236}">
                <a16:creationId xmlns:a16="http://schemas.microsoft.com/office/drawing/2014/main" id="{3ABA6325-0C4D-ADBB-5C93-9AB0A04C8F15}"/>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3" name="Shape 36">
            <a:extLst>
              <a:ext uri="{FF2B5EF4-FFF2-40B4-BE49-F238E27FC236}">
                <a16:creationId xmlns:a16="http://schemas.microsoft.com/office/drawing/2014/main" id="{0BB2AEB8-7FA8-EBC7-04FD-AD5A5B8538F8}"/>
              </a:ext>
            </a:extLst>
          </p:cNvPr>
          <p:cNvSpPr/>
          <p:nvPr/>
        </p:nvSpPr>
        <p:spPr>
          <a:xfrm>
            <a:off x="5207551" y="3082504"/>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5" name="Shape 38">
            <a:extLst>
              <a:ext uri="{FF2B5EF4-FFF2-40B4-BE49-F238E27FC236}">
                <a16:creationId xmlns:a16="http://schemas.microsoft.com/office/drawing/2014/main" id="{3976CA87-D608-B478-0B7F-76C239579767}"/>
              </a:ext>
            </a:extLst>
          </p:cNvPr>
          <p:cNvSpPr/>
          <p:nvPr/>
        </p:nvSpPr>
        <p:spPr>
          <a:xfrm>
            <a:off x="5536735" y="3100792"/>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57" name="Text 39">
            <a:extLst>
              <a:ext uri="{FF2B5EF4-FFF2-40B4-BE49-F238E27FC236}">
                <a16:creationId xmlns:a16="http://schemas.microsoft.com/office/drawing/2014/main" id="{00B73596-25FE-7BEA-B356-6BA40FA3B1A1}"/>
              </a:ext>
            </a:extLst>
          </p:cNvPr>
          <p:cNvSpPr/>
          <p:nvPr/>
        </p:nvSpPr>
        <p:spPr>
          <a:xfrm>
            <a:off x="5536735" y="3100792"/>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kern="0" dirty="0">
                <a:solidFill>
                  <a:srgbClr val="1565C0"/>
                </a:solidFill>
                <a:latin typeface="メイリオ" panose="020B0604030504040204" pitchFamily="50" charset="-128"/>
                <a:ea typeface="メイリオ" panose="020B0604030504040204" pitchFamily="50" charset="-128"/>
                <a:cs typeface="Calibri" pitchFamily="34" charset="-120"/>
              </a:rPr>
              <a:t>低ハードル</a:t>
            </a:r>
            <a:r>
              <a:rPr kumimoji="0" lang="en-US" altLang="ja-JP" sz="750" b="1" kern="0" dirty="0">
                <a:solidFill>
                  <a:srgbClr val="1565C0"/>
                </a:solidFill>
                <a:latin typeface="メイリオ" panose="020B0604030504040204" pitchFamily="50" charset="-128"/>
                <a:ea typeface="メイリオ" panose="020B0604030504040204" pitchFamily="50" charset="-128"/>
                <a:cs typeface="Calibri" pitchFamily="34" charset="-120"/>
              </a:rPr>
              <a:t>CV</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59" name="Text 40">
            <a:extLst>
              <a:ext uri="{FF2B5EF4-FFF2-40B4-BE49-F238E27FC236}">
                <a16:creationId xmlns:a16="http://schemas.microsoft.com/office/drawing/2014/main" id="{8E8E8572-E4BF-C131-AD4E-7DE59476C19F}"/>
              </a:ext>
            </a:extLst>
          </p:cNvPr>
          <p:cNvSpPr/>
          <p:nvPr/>
        </p:nvSpPr>
        <p:spPr>
          <a:xfrm>
            <a:off x="6396271" y="3073360"/>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簡易</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LINE登録</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1" name="Text 41">
            <a:extLst>
              <a:ext uri="{FF2B5EF4-FFF2-40B4-BE49-F238E27FC236}">
                <a16:creationId xmlns:a16="http://schemas.microsoft.com/office/drawing/2014/main" id="{A02D25CE-9C9B-6858-9645-3D054403B80F}"/>
              </a:ext>
            </a:extLst>
          </p:cNvPr>
          <p:cNvSpPr/>
          <p:nvPr/>
        </p:nvSpPr>
        <p:spPr>
          <a:xfrm>
            <a:off x="5207551" y="3375112"/>
            <a:ext cx="4449774" cy="493776"/>
          </a:xfrm>
          <a:prstGeom prst="rect">
            <a:avLst/>
          </a:prstGeom>
          <a:noFill/>
          <a:ln/>
        </p:spPr>
        <p:txBody>
          <a:bodyPr wrap="square" lIns="0" tIns="0" rIns="0" bIns="0" rtlCol="0" anchor="ctr"/>
          <a:lstStyle/>
          <a:p>
            <a:pPr lvl="0">
              <a:lnSpc>
                <a:spcPct val="135000"/>
              </a:lnSpc>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シミュレーター、簡易診断を</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受け取る</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簡易的な</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を作成し</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友だち追加そのままステップ配信へ移行</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CVR</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％前後</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5</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10</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％」に引上げてリード最大化。</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3" name="Shape 42">
            <a:extLst>
              <a:ext uri="{FF2B5EF4-FFF2-40B4-BE49-F238E27FC236}">
                <a16:creationId xmlns:a16="http://schemas.microsoft.com/office/drawing/2014/main" id="{A9C5DE92-D696-84FB-0338-A45B2163E84E}"/>
              </a:ext>
            </a:extLst>
          </p:cNvPr>
          <p:cNvSpPr/>
          <p:nvPr/>
        </p:nvSpPr>
        <p:spPr>
          <a:xfrm>
            <a:off x="5207551"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5" name="Shape 43">
            <a:extLst>
              <a:ext uri="{FF2B5EF4-FFF2-40B4-BE49-F238E27FC236}">
                <a16:creationId xmlns:a16="http://schemas.microsoft.com/office/drawing/2014/main" id="{7A414BE8-8C56-464D-5646-C8428426E154}"/>
              </a:ext>
            </a:extLst>
          </p:cNvPr>
          <p:cNvSpPr/>
          <p:nvPr/>
        </p:nvSpPr>
        <p:spPr>
          <a:xfrm>
            <a:off x="5262415"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7" name="Text 44">
            <a:extLst>
              <a:ext uri="{FF2B5EF4-FFF2-40B4-BE49-F238E27FC236}">
                <a16:creationId xmlns:a16="http://schemas.microsoft.com/office/drawing/2014/main" id="{71F14BEE-D634-88A2-56B2-296177E648B8}"/>
              </a:ext>
            </a:extLst>
          </p:cNvPr>
          <p:cNvSpPr/>
          <p:nvPr/>
        </p:nvSpPr>
        <p:spPr>
          <a:xfrm>
            <a:off x="5262415"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9" name="Text 45">
            <a:extLst>
              <a:ext uri="{FF2B5EF4-FFF2-40B4-BE49-F238E27FC236}">
                <a16:creationId xmlns:a16="http://schemas.microsoft.com/office/drawing/2014/main" id="{38EAA9FF-3D6F-9893-A6AC-492E1F8D9ED2}"/>
              </a:ext>
            </a:extLst>
          </p:cNvPr>
          <p:cNvSpPr/>
          <p:nvPr/>
        </p:nvSpPr>
        <p:spPr>
          <a:xfrm>
            <a:off x="5481871"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超簡易</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1" name="Text 46">
            <a:extLst>
              <a:ext uri="{FF2B5EF4-FFF2-40B4-BE49-F238E27FC236}">
                <a16:creationId xmlns:a16="http://schemas.microsoft.com/office/drawing/2014/main" id="{76F9D806-0316-8040-BBC1-059EC4037026}"/>
              </a:ext>
            </a:extLst>
          </p:cNvPr>
          <p:cNvSpPr/>
          <p:nvPr/>
        </p:nvSpPr>
        <p:spPr>
          <a:xfrm>
            <a:off x="5262415"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リード獲得</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3" name="Text 47">
            <a:extLst>
              <a:ext uri="{FF2B5EF4-FFF2-40B4-BE49-F238E27FC236}">
                <a16:creationId xmlns:a16="http://schemas.microsoft.com/office/drawing/2014/main" id="{A91D1983-BD63-6B03-7992-4EBA1D20A7ED}"/>
              </a:ext>
            </a:extLst>
          </p:cNvPr>
          <p:cNvSpPr/>
          <p:nvPr/>
        </p:nvSpPr>
        <p:spPr>
          <a:xfrm>
            <a:off x="6487711"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5" name="Shape 48">
            <a:extLst>
              <a:ext uri="{FF2B5EF4-FFF2-40B4-BE49-F238E27FC236}">
                <a16:creationId xmlns:a16="http://schemas.microsoft.com/office/drawing/2014/main" id="{1B608CB6-10B1-7849-F676-C778EAF32793}"/>
              </a:ext>
            </a:extLst>
          </p:cNvPr>
          <p:cNvSpPr/>
          <p:nvPr/>
        </p:nvSpPr>
        <p:spPr>
          <a:xfrm>
            <a:off x="6615727"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7" name="Shape 49">
            <a:extLst>
              <a:ext uri="{FF2B5EF4-FFF2-40B4-BE49-F238E27FC236}">
                <a16:creationId xmlns:a16="http://schemas.microsoft.com/office/drawing/2014/main" id="{C6FD4C21-79ED-9901-73BB-36FADC629074}"/>
              </a:ext>
            </a:extLst>
          </p:cNvPr>
          <p:cNvSpPr/>
          <p:nvPr/>
        </p:nvSpPr>
        <p:spPr>
          <a:xfrm>
            <a:off x="6670591"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9" name="Text 50">
            <a:extLst>
              <a:ext uri="{FF2B5EF4-FFF2-40B4-BE49-F238E27FC236}">
                <a16:creationId xmlns:a16="http://schemas.microsoft.com/office/drawing/2014/main" id="{3AF7109C-EDE8-F8BE-01DA-9C306F9D4491}"/>
              </a:ext>
            </a:extLst>
          </p:cNvPr>
          <p:cNvSpPr/>
          <p:nvPr/>
        </p:nvSpPr>
        <p:spPr>
          <a:xfrm>
            <a:off x="6670591"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1" name="Text 51">
            <a:extLst>
              <a:ext uri="{FF2B5EF4-FFF2-40B4-BE49-F238E27FC236}">
                <a16:creationId xmlns:a16="http://schemas.microsoft.com/office/drawing/2014/main" id="{6A7C6314-C31C-2B4B-7A8D-E8DECD286DE8}"/>
              </a:ext>
            </a:extLst>
          </p:cNvPr>
          <p:cNvSpPr/>
          <p:nvPr/>
        </p:nvSpPr>
        <p:spPr>
          <a:xfrm>
            <a:off x="6887872" y="4105870"/>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誘導</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3" name="Text 52">
            <a:extLst>
              <a:ext uri="{FF2B5EF4-FFF2-40B4-BE49-F238E27FC236}">
                <a16:creationId xmlns:a16="http://schemas.microsoft.com/office/drawing/2014/main" id="{0C3AD28D-E803-BC04-74B7-651CDCD70000}"/>
              </a:ext>
            </a:extLst>
          </p:cNvPr>
          <p:cNvSpPr/>
          <p:nvPr/>
        </p:nvSpPr>
        <p:spPr>
          <a:xfrm>
            <a:off x="6621208" y="4316182"/>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上で受取</a:t>
            </a:r>
            <a:r>
              <a:rPr kumimoji="0" lang="ja-JP" altLang="en-US" sz="750" kern="0" dirty="0">
                <a:solidFill>
                  <a:srgbClr val="4A4A6A"/>
                </a:solidFill>
                <a:latin typeface="メイリオ" panose="020B0604030504040204" pitchFamily="50" charset="-128"/>
                <a:ea typeface="メイリオ" panose="020B0604030504040204" pitchFamily="50" charset="-128"/>
                <a:cs typeface="Calibri" pitchFamily="34" charset="-120"/>
              </a:rPr>
              <a:t>として友だちに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5" name="Text 53">
            <a:extLst>
              <a:ext uri="{FF2B5EF4-FFF2-40B4-BE49-F238E27FC236}">
                <a16:creationId xmlns:a16="http://schemas.microsoft.com/office/drawing/2014/main" id="{2FB8B884-DB13-49DB-D682-50EB7789C9A4}"/>
              </a:ext>
            </a:extLst>
          </p:cNvPr>
          <p:cNvSpPr/>
          <p:nvPr/>
        </p:nvSpPr>
        <p:spPr>
          <a:xfrm>
            <a:off x="7895887"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7" name="Shape 54">
            <a:extLst>
              <a:ext uri="{FF2B5EF4-FFF2-40B4-BE49-F238E27FC236}">
                <a16:creationId xmlns:a16="http://schemas.microsoft.com/office/drawing/2014/main" id="{710A2000-BA3B-1AFB-FCE0-644E6898DD03}"/>
              </a:ext>
            </a:extLst>
          </p:cNvPr>
          <p:cNvSpPr/>
          <p:nvPr/>
        </p:nvSpPr>
        <p:spPr>
          <a:xfrm>
            <a:off x="8023903" y="4069294"/>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89" name="Shape 55">
            <a:extLst>
              <a:ext uri="{FF2B5EF4-FFF2-40B4-BE49-F238E27FC236}">
                <a16:creationId xmlns:a16="http://schemas.microsoft.com/office/drawing/2014/main" id="{1037F87F-5E4D-E3F5-E197-701DC444F492}"/>
              </a:ext>
            </a:extLst>
          </p:cNvPr>
          <p:cNvSpPr/>
          <p:nvPr/>
        </p:nvSpPr>
        <p:spPr>
          <a:xfrm>
            <a:off x="8078767" y="4124158"/>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91" name="Text 56">
            <a:extLst>
              <a:ext uri="{FF2B5EF4-FFF2-40B4-BE49-F238E27FC236}">
                <a16:creationId xmlns:a16="http://schemas.microsoft.com/office/drawing/2014/main" id="{B168640B-7EB6-045C-32D4-9F60E9C4069A}"/>
              </a:ext>
            </a:extLst>
          </p:cNvPr>
          <p:cNvSpPr/>
          <p:nvPr/>
        </p:nvSpPr>
        <p:spPr>
          <a:xfrm>
            <a:off x="8078767"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3" name="Text 57">
            <a:extLst>
              <a:ext uri="{FF2B5EF4-FFF2-40B4-BE49-F238E27FC236}">
                <a16:creationId xmlns:a16="http://schemas.microsoft.com/office/drawing/2014/main" id="{E14BC7E9-3708-9505-AC4A-060665171BCD}"/>
              </a:ext>
            </a:extLst>
          </p:cNvPr>
          <p:cNvSpPr/>
          <p:nvPr/>
        </p:nvSpPr>
        <p:spPr>
          <a:xfrm>
            <a:off x="8298223"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5" name="Text 58">
            <a:extLst>
              <a:ext uri="{FF2B5EF4-FFF2-40B4-BE49-F238E27FC236}">
                <a16:creationId xmlns:a16="http://schemas.microsoft.com/office/drawing/2014/main" id="{5677227D-7522-18E3-CFF0-A01DE3054B96}"/>
              </a:ext>
            </a:extLst>
          </p:cNvPr>
          <p:cNvSpPr/>
          <p:nvPr/>
        </p:nvSpPr>
        <p:spPr>
          <a:xfrm>
            <a:off x="8078767"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err="1">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ステップ配信</a:t>
            </a:r>
            <a:r>
              <a:rPr kumimoji="0" lang="ja-JP" altLang="en-US" sz="750" kern="0" dirty="0">
                <a:solidFill>
                  <a:srgbClr val="D0E8FF"/>
                </a:solidFill>
                <a:latin typeface="メイリオ" panose="020B0604030504040204" pitchFamily="50" charset="-128"/>
                <a:ea typeface="メイリオ" panose="020B0604030504040204" pitchFamily="50" charset="-128"/>
                <a:cs typeface="Calibri" pitchFamily="34" charset="-120"/>
              </a:rPr>
              <a:t>対象に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3" name="Shape 88">
            <a:extLst>
              <a:ext uri="{FF2B5EF4-FFF2-40B4-BE49-F238E27FC236}">
                <a16:creationId xmlns:a16="http://schemas.microsoft.com/office/drawing/2014/main" id="{E0F73C02-327E-D244-0ABD-F19F91EB24DD}"/>
              </a:ext>
            </a:extLst>
          </p:cNvPr>
          <p:cNvSpPr/>
          <p:nvPr/>
        </p:nvSpPr>
        <p:spPr>
          <a:xfrm>
            <a:off x="261702" y="2995754"/>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5" name="Shape 36">
            <a:extLst>
              <a:ext uri="{FF2B5EF4-FFF2-40B4-BE49-F238E27FC236}">
                <a16:creationId xmlns:a16="http://schemas.microsoft.com/office/drawing/2014/main" id="{845DFC42-70E6-B496-30C2-C44315D85C79}"/>
              </a:ext>
            </a:extLst>
          </p:cNvPr>
          <p:cNvSpPr/>
          <p:nvPr/>
        </p:nvSpPr>
        <p:spPr>
          <a:xfrm>
            <a:off x="369887" y="307848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547" name="Shape 38">
            <a:extLst>
              <a:ext uri="{FF2B5EF4-FFF2-40B4-BE49-F238E27FC236}">
                <a16:creationId xmlns:a16="http://schemas.microsoft.com/office/drawing/2014/main" id="{2DBF8816-E4F7-4E6B-6AB6-19DEA2101114}"/>
              </a:ext>
            </a:extLst>
          </p:cNvPr>
          <p:cNvSpPr/>
          <p:nvPr/>
        </p:nvSpPr>
        <p:spPr>
          <a:xfrm>
            <a:off x="699071" y="309677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9" name="Text 39">
            <a:extLst>
              <a:ext uri="{FF2B5EF4-FFF2-40B4-BE49-F238E27FC236}">
                <a16:creationId xmlns:a16="http://schemas.microsoft.com/office/drawing/2014/main" id="{27DB11BF-957B-1CEF-3AC8-18BF5DCF40D9}"/>
              </a:ext>
            </a:extLst>
          </p:cNvPr>
          <p:cNvSpPr/>
          <p:nvPr/>
        </p:nvSpPr>
        <p:spPr>
          <a:xfrm>
            <a:off x="699071" y="309677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CV</a:t>
            </a:r>
            <a:r>
              <a:rPr kumimoji="0" lang="ja-JP" alt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地点追加</a:t>
            </a:r>
            <a:endParaRPr kumimoji="0" 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endParaRPr>
          </a:p>
        </p:txBody>
      </p:sp>
      <p:sp>
        <p:nvSpPr>
          <p:cNvPr id="551" name="Text 40">
            <a:extLst>
              <a:ext uri="{FF2B5EF4-FFF2-40B4-BE49-F238E27FC236}">
                <a16:creationId xmlns:a16="http://schemas.microsoft.com/office/drawing/2014/main" id="{C23E771B-F34E-1D51-1F7F-E37507CCE586}"/>
              </a:ext>
            </a:extLst>
          </p:cNvPr>
          <p:cNvSpPr/>
          <p:nvPr/>
        </p:nvSpPr>
        <p:spPr>
          <a:xfrm>
            <a:off x="1558607" y="306934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追加をそもそも集客成果の</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1</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地点に追加</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3" name="Text 41">
            <a:extLst>
              <a:ext uri="{FF2B5EF4-FFF2-40B4-BE49-F238E27FC236}">
                <a16:creationId xmlns:a16="http://schemas.microsoft.com/office/drawing/2014/main" id="{2C88C715-1A68-D7F9-6C3C-2E4E657F87BC}"/>
              </a:ext>
            </a:extLst>
          </p:cNvPr>
          <p:cNvSpPr/>
          <p:nvPr/>
        </p:nvSpPr>
        <p:spPr>
          <a:xfrm>
            <a:off x="369887" y="3371097"/>
            <a:ext cx="4449774" cy="493776"/>
          </a:xfrm>
          <a:prstGeom prst="rect">
            <a:avLst/>
          </a:prstGeom>
          <a:noFill/>
          <a:ln/>
        </p:spPr>
        <p:txBody>
          <a:bodyPr wrap="square" lIns="0" tIns="0" rIns="0" bIns="0" rtlCol="0" anchor="ctr"/>
          <a:lstStyle/>
          <a:p>
            <a:pPr lvl="0">
              <a:lnSpc>
                <a:spcPct val="135000"/>
              </a:lnSpc>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メール、電話を中心とした集客動線では、個人情報としてのハードルが高いため、</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lvl="0">
              <a:lnSpc>
                <a:spcPct val="135000"/>
              </a:lnSpc>
              <a:defRPr/>
            </a:pP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集客実施内でのリード獲得単価を抑制できる上、反応率が高い</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LINE</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を動線の</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1</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つに。</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5" name="Shape 42">
            <a:extLst>
              <a:ext uri="{FF2B5EF4-FFF2-40B4-BE49-F238E27FC236}">
                <a16:creationId xmlns:a16="http://schemas.microsoft.com/office/drawing/2014/main" id="{113510A9-9BDD-9FAD-90F6-0D1EC0BCB699}"/>
              </a:ext>
            </a:extLst>
          </p:cNvPr>
          <p:cNvSpPr/>
          <p:nvPr/>
        </p:nvSpPr>
        <p:spPr>
          <a:xfrm>
            <a:off x="369887"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7" name="Shape 43">
            <a:extLst>
              <a:ext uri="{FF2B5EF4-FFF2-40B4-BE49-F238E27FC236}">
                <a16:creationId xmlns:a16="http://schemas.microsoft.com/office/drawing/2014/main" id="{4E4A9CB8-BC81-64F6-260F-5F493122A66C}"/>
              </a:ext>
            </a:extLst>
          </p:cNvPr>
          <p:cNvSpPr/>
          <p:nvPr/>
        </p:nvSpPr>
        <p:spPr>
          <a:xfrm>
            <a:off x="424751"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9" name="Text 44">
            <a:extLst>
              <a:ext uri="{FF2B5EF4-FFF2-40B4-BE49-F238E27FC236}">
                <a16:creationId xmlns:a16="http://schemas.microsoft.com/office/drawing/2014/main" id="{1140FDA8-6C5C-AE0C-F98C-11C8C0A073FE}"/>
              </a:ext>
            </a:extLst>
          </p:cNvPr>
          <p:cNvSpPr/>
          <p:nvPr/>
        </p:nvSpPr>
        <p:spPr>
          <a:xfrm>
            <a:off x="424751"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1" name="Text 45">
            <a:extLst>
              <a:ext uri="{FF2B5EF4-FFF2-40B4-BE49-F238E27FC236}">
                <a16:creationId xmlns:a16="http://schemas.microsoft.com/office/drawing/2014/main" id="{A22E630F-5396-9B90-711A-C5DCE95E1469}"/>
              </a:ext>
            </a:extLst>
          </p:cNvPr>
          <p:cNvSpPr/>
          <p:nvPr/>
        </p:nvSpPr>
        <p:spPr>
          <a:xfrm>
            <a:off x="644207"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広告・</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SEO</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SNS</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3" name="Text 46">
            <a:extLst>
              <a:ext uri="{FF2B5EF4-FFF2-40B4-BE49-F238E27FC236}">
                <a16:creationId xmlns:a16="http://schemas.microsoft.com/office/drawing/2014/main" id="{963027FB-D92E-2D7B-6655-63BA79599E4C}"/>
              </a:ext>
            </a:extLst>
          </p:cNvPr>
          <p:cNvSpPr/>
          <p:nvPr/>
        </p:nvSpPr>
        <p:spPr>
          <a:xfrm>
            <a:off x="424751"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流入チャネル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5" name="Text 47">
            <a:extLst>
              <a:ext uri="{FF2B5EF4-FFF2-40B4-BE49-F238E27FC236}">
                <a16:creationId xmlns:a16="http://schemas.microsoft.com/office/drawing/2014/main" id="{74B99422-CBF5-9B4D-0494-5C4443B23CDC}"/>
              </a:ext>
            </a:extLst>
          </p:cNvPr>
          <p:cNvSpPr/>
          <p:nvPr/>
        </p:nvSpPr>
        <p:spPr>
          <a:xfrm>
            <a:off x="1650047"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7" name="Shape 48">
            <a:extLst>
              <a:ext uri="{FF2B5EF4-FFF2-40B4-BE49-F238E27FC236}">
                <a16:creationId xmlns:a16="http://schemas.microsoft.com/office/drawing/2014/main" id="{8B8CFEAA-9314-449D-1074-EF75AFDAC19A}"/>
              </a:ext>
            </a:extLst>
          </p:cNvPr>
          <p:cNvSpPr/>
          <p:nvPr/>
        </p:nvSpPr>
        <p:spPr>
          <a:xfrm>
            <a:off x="1778063"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69" name="Shape 49">
            <a:extLst>
              <a:ext uri="{FF2B5EF4-FFF2-40B4-BE49-F238E27FC236}">
                <a16:creationId xmlns:a16="http://schemas.microsoft.com/office/drawing/2014/main" id="{C950146B-431E-366D-1457-E0150725DAB8}"/>
              </a:ext>
            </a:extLst>
          </p:cNvPr>
          <p:cNvSpPr/>
          <p:nvPr/>
        </p:nvSpPr>
        <p:spPr>
          <a:xfrm>
            <a:off x="1832927"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71" name="Text 50">
            <a:extLst>
              <a:ext uri="{FF2B5EF4-FFF2-40B4-BE49-F238E27FC236}">
                <a16:creationId xmlns:a16="http://schemas.microsoft.com/office/drawing/2014/main" id="{2812D2BF-5313-2DA8-B2ED-115987FDA314}"/>
              </a:ext>
            </a:extLst>
          </p:cNvPr>
          <p:cNvSpPr/>
          <p:nvPr/>
        </p:nvSpPr>
        <p:spPr>
          <a:xfrm>
            <a:off x="1832927"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3" name="Text 51">
            <a:extLst>
              <a:ext uri="{FF2B5EF4-FFF2-40B4-BE49-F238E27FC236}">
                <a16:creationId xmlns:a16="http://schemas.microsoft.com/office/drawing/2014/main" id="{61B9DBCC-02E6-6237-0DAD-ED9142171120}"/>
              </a:ext>
            </a:extLst>
          </p:cNvPr>
          <p:cNvSpPr/>
          <p:nvPr/>
        </p:nvSpPr>
        <p:spPr>
          <a:xfrm>
            <a:off x="2050208" y="4101855"/>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・ポップアップ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5" name="Text 52">
            <a:extLst>
              <a:ext uri="{FF2B5EF4-FFF2-40B4-BE49-F238E27FC236}">
                <a16:creationId xmlns:a16="http://schemas.microsoft.com/office/drawing/2014/main" id="{1CF9536A-5A56-D77B-3F08-8BACCB3B4827}"/>
              </a:ext>
            </a:extLst>
          </p:cNvPr>
          <p:cNvSpPr/>
          <p:nvPr/>
        </p:nvSpPr>
        <p:spPr>
          <a:xfrm>
            <a:off x="1783544" y="4312167"/>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やポップアップでの動線に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7" name="Text 53">
            <a:extLst>
              <a:ext uri="{FF2B5EF4-FFF2-40B4-BE49-F238E27FC236}">
                <a16:creationId xmlns:a16="http://schemas.microsoft.com/office/drawing/2014/main" id="{6C4945AC-3CDA-2080-CEF1-36A24E6529F2}"/>
              </a:ext>
            </a:extLst>
          </p:cNvPr>
          <p:cNvSpPr/>
          <p:nvPr/>
        </p:nvSpPr>
        <p:spPr>
          <a:xfrm>
            <a:off x="3058223"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9" name="Shape 54">
            <a:extLst>
              <a:ext uri="{FF2B5EF4-FFF2-40B4-BE49-F238E27FC236}">
                <a16:creationId xmlns:a16="http://schemas.microsoft.com/office/drawing/2014/main" id="{FB4A19A3-2EF9-47D2-F075-70F2D5D6B076}"/>
              </a:ext>
            </a:extLst>
          </p:cNvPr>
          <p:cNvSpPr/>
          <p:nvPr/>
        </p:nvSpPr>
        <p:spPr>
          <a:xfrm>
            <a:off x="3186239" y="406527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1" name="Shape 55">
            <a:extLst>
              <a:ext uri="{FF2B5EF4-FFF2-40B4-BE49-F238E27FC236}">
                <a16:creationId xmlns:a16="http://schemas.microsoft.com/office/drawing/2014/main" id="{6B43E1E4-2A7D-AD40-67F5-6B516A71860E}"/>
              </a:ext>
            </a:extLst>
          </p:cNvPr>
          <p:cNvSpPr/>
          <p:nvPr/>
        </p:nvSpPr>
        <p:spPr>
          <a:xfrm>
            <a:off x="3241103" y="412014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3" name="Text 56">
            <a:extLst>
              <a:ext uri="{FF2B5EF4-FFF2-40B4-BE49-F238E27FC236}">
                <a16:creationId xmlns:a16="http://schemas.microsoft.com/office/drawing/2014/main" id="{2E67F49B-16BE-07E6-9262-E50D4D3A8F60}"/>
              </a:ext>
            </a:extLst>
          </p:cNvPr>
          <p:cNvSpPr/>
          <p:nvPr/>
        </p:nvSpPr>
        <p:spPr>
          <a:xfrm>
            <a:off x="3241103"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5" name="Text 57">
            <a:extLst>
              <a:ext uri="{FF2B5EF4-FFF2-40B4-BE49-F238E27FC236}">
                <a16:creationId xmlns:a16="http://schemas.microsoft.com/office/drawing/2014/main" id="{AA931AD0-7A16-05D2-D8C7-AB50301B6C53}"/>
              </a:ext>
            </a:extLst>
          </p:cNvPr>
          <p:cNvSpPr/>
          <p:nvPr/>
        </p:nvSpPr>
        <p:spPr>
          <a:xfrm>
            <a:off x="3460559"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7" name="Text 58">
            <a:extLst>
              <a:ext uri="{FF2B5EF4-FFF2-40B4-BE49-F238E27FC236}">
                <a16:creationId xmlns:a16="http://schemas.microsoft.com/office/drawing/2014/main" id="{54B49D2D-4FC3-300F-AAB4-B1D6ACEDA33A}"/>
              </a:ext>
            </a:extLst>
          </p:cNvPr>
          <p:cNvSpPr/>
          <p:nvPr/>
        </p:nvSpPr>
        <p:spPr>
          <a:xfrm>
            <a:off x="3241103"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 name="Shape 59">
            <a:extLst>
              <a:ext uri="{FF2B5EF4-FFF2-40B4-BE49-F238E27FC236}">
                <a16:creationId xmlns:a16="http://schemas.microsoft.com/office/drawing/2014/main" id="{AD750B5D-07B2-F81B-8894-97831AB44188}"/>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6" name="Shape 88">
            <a:extLst>
              <a:ext uri="{FF2B5EF4-FFF2-40B4-BE49-F238E27FC236}">
                <a16:creationId xmlns:a16="http://schemas.microsoft.com/office/drawing/2014/main" id="{D0EC0F33-09F6-41B1-2488-C9F12FCE2CDD}"/>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9571587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8CB184C-78E9-D432-060D-EA3167991AB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改善モデル②</a:t>
            </a:r>
          </a:p>
        </p:txBody>
      </p:sp>
      <p:sp>
        <p:nvSpPr>
          <p:cNvPr id="27" name="テキスト ボックス 26">
            <a:extLst>
              <a:ext uri="{FF2B5EF4-FFF2-40B4-BE49-F238E27FC236}">
                <a16:creationId xmlns:a16="http://schemas.microsoft.com/office/drawing/2014/main" id="{CD5B9619-DF62-5A09-8786-F83CA0529EF7}"/>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4FBA5686-1B33-AF5C-E6BC-2E0C88B24352}"/>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D27D1FC0-FB35-21DC-CE25-F2D2125F242E}"/>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212DB55-F234-8FD7-C030-3F285C1EC16D}"/>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72B04E50-7661-9621-AE78-3522F8E664CF}"/>
              </a:ext>
            </a:extLst>
          </p:cNvPr>
          <p:cNvCxnSpPr>
            <a:cxnSpLocks/>
            <a:stCxn id="30" idx="0"/>
          </p:cNvCxnSpPr>
          <p:nvPr/>
        </p:nvCxnSpPr>
        <p:spPr>
          <a:xfrm rot="5400000" flipH="1" flipV="1">
            <a:off x="4270984" y="1681932"/>
            <a:ext cx="246792" cy="44239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323ECFC3-BA42-FBB4-E25E-F72CFED142D3}"/>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E9E0720-3E3A-6F6F-EF58-0D05A19D436C}"/>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08A18FCF-114F-90AD-1C87-48385A2F1077}"/>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6534C85A-CAF2-CB68-930A-76AF50820018}"/>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3DC92EFA-89CD-05D2-4375-F2DE5BE5DDE6}"/>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1" name="Google Shape;752;p28">
            <a:extLst>
              <a:ext uri="{FF2B5EF4-FFF2-40B4-BE49-F238E27FC236}">
                <a16:creationId xmlns:a16="http://schemas.microsoft.com/office/drawing/2014/main" id="{9920090D-60BB-935F-AD0B-B7717467EA77}"/>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獲得されたリードを</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接触</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商談</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などの直リーチができる状態に引き上げる。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 name="正方形/長方形 5">
            <a:extLst>
              <a:ext uri="{FF2B5EF4-FFF2-40B4-BE49-F238E27FC236}">
                <a16:creationId xmlns:a16="http://schemas.microsoft.com/office/drawing/2014/main" id="{E9F5C7F3-E9F1-D740-6953-AD8AB98C4502}"/>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AD26C97A-E96F-4F7B-9B0B-D735414D6034}"/>
              </a:ext>
            </a:extLst>
          </p:cNvPr>
          <p:cNvSpPr txBox="1"/>
          <p:nvPr/>
        </p:nvSpPr>
        <p:spPr>
          <a:xfrm>
            <a:off x="3542139" y="1396711"/>
            <a:ext cx="2352196" cy="38302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リード有効化</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796E80A6-B5BB-3A8B-412E-06EE28AF0C99}"/>
              </a:ext>
            </a:extLst>
          </p:cNvPr>
          <p:cNvSpPr txBox="1"/>
          <p:nvPr/>
        </p:nvSpPr>
        <p:spPr>
          <a:xfrm>
            <a:off x="4830776" y="1593660"/>
            <a:ext cx="2352196" cy="379232"/>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⑥ 有効リードの再育成</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7CC6A546-6A9E-3367-D71C-1DB3BEF66AA8}"/>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rgbClr val="FFC000"/>
                </a:solidFill>
                <a:latin typeface="メイリオ" panose="020B0604030504040204" pitchFamily="50" charset="-128"/>
                <a:ea typeface="メイリオ" panose="020B0604030504040204" pitchFamily="50" charset="-128"/>
              </a:rPr>
              <a:t>短期：</a:t>
            </a:r>
            <a:r>
              <a:rPr kumimoji="1" lang="ja-JP" altLang="en-US" sz="1050" b="1" dirty="0">
                <a:latin typeface="メイリオ" panose="020B0604030504040204" pitchFamily="50" charset="-128"/>
                <a:ea typeface="メイリオ" panose="020B0604030504040204" pitchFamily="50" charset="-128"/>
              </a:rPr>
              <a:t>ナーチャリングにより、情報収集→実来店・直面談の機会設定</a:t>
            </a:r>
          </a:p>
        </p:txBody>
      </p:sp>
      <p:sp>
        <p:nvSpPr>
          <p:cNvPr id="15" name="正方形/長方形 14">
            <a:extLst>
              <a:ext uri="{FF2B5EF4-FFF2-40B4-BE49-F238E27FC236}">
                <a16:creationId xmlns:a16="http://schemas.microsoft.com/office/drawing/2014/main" id="{400321D5-E759-A2AB-D632-D8852C5C2531}"/>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rgbClr val="FFC000"/>
                </a:solidFill>
                <a:latin typeface="メイリオ" panose="020B0604030504040204" pitchFamily="50" charset="-128"/>
                <a:ea typeface="メイリオ" panose="020B0604030504040204" pitchFamily="50" charset="-128"/>
              </a:rPr>
              <a:t>長期：</a:t>
            </a:r>
            <a:r>
              <a:rPr lang="ja-JP" altLang="en-US" sz="1050" b="1" dirty="0">
                <a:latin typeface="メイリオ" panose="020B0604030504040204" pitchFamily="50" charset="-128"/>
                <a:ea typeface="メイリオ" panose="020B0604030504040204" pitchFamily="50" charset="-128"/>
              </a:rPr>
              <a:t>休眠顧客リスト、すぐすぐ以外の層に再度接点を</a:t>
            </a:r>
          </a:p>
        </p:txBody>
      </p:sp>
      <p:sp>
        <p:nvSpPr>
          <p:cNvPr id="19" name="Shape 34">
            <a:extLst>
              <a:ext uri="{FF2B5EF4-FFF2-40B4-BE49-F238E27FC236}">
                <a16:creationId xmlns:a16="http://schemas.microsoft.com/office/drawing/2014/main" id="{E40C1293-6205-BD09-C870-AB694054FE21}"/>
              </a:ext>
            </a:extLst>
          </p:cNvPr>
          <p:cNvSpPr/>
          <p:nvPr/>
        </p:nvSpPr>
        <p:spPr>
          <a:xfrm>
            <a:off x="265419" y="2999768"/>
            <a:ext cx="4541216" cy="1600805"/>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 name="Shape 36">
            <a:extLst>
              <a:ext uri="{FF2B5EF4-FFF2-40B4-BE49-F238E27FC236}">
                <a16:creationId xmlns:a16="http://schemas.microsoft.com/office/drawing/2014/main" id="{016D3DBA-827E-69AE-84A8-B5FA4B627604}"/>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3" name="Shape 38">
            <a:extLst>
              <a:ext uri="{FF2B5EF4-FFF2-40B4-BE49-F238E27FC236}">
                <a16:creationId xmlns:a16="http://schemas.microsoft.com/office/drawing/2014/main" id="{890CC249-519E-F80A-D737-4911D36F86B6}"/>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 name="Text 39">
            <a:extLst>
              <a:ext uri="{FF2B5EF4-FFF2-40B4-BE49-F238E27FC236}">
                <a16:creationId xmlns:a16="http://schemas.microsoft.com/office/drawing/2014/main" id="{006785A7-ADAB-E382-C3A3-3F5FA13C51E7}"/>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ステップ配信</a:t>
            </a:r>
          </a:p>
        </p:txBody>
      </p:sp>
      <p:sp>
        <p:nvSpPr>
          <p:cNvPr id="31" name="Text 40">
            <a:extLst>
              <a:ext uri="{FF2B5EF4-FFF2-40B4-BE49-F238E27FC236}">
                <a16:creationId xmlns:a16="http://schemas.microsoft.com/office/drawing/2014/main" id="{560BDF4C-A3DE-DDCD-85B8-65A392B6CE01}"/>
              </a:ext>
            </a:extLst>
          </p:cNvPr>
          <p:cNvSpPr/>
          <p:nvPr/>
        </p:nvSpPr>
        <p:spPr>
          <a:xfrm>
            <a:off x="1545579" y="308206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ステップ配信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限定面談オファーで商談化</a:t>
            </a:r>
          </a:p>
        </p:txBody>
      </p:sp>
      <p:sp>
        <p:nvSpPr>
          <p:cNvPr id="34" name="Text 41">
            <a:extLst>
              <a:ext uri="{FF2B5EF4-FFF2-40B4-BE49-F238E27FC236}">
                <a16:creationId xmlns:a16="http://schemas.microsoft.com/office/drawing/2014/main" id="{99B219D6-3C6C-5799-528B-587E37059F99}"/>
              </a:ext>
            </a:extLst>
          </p:cNvPr>
          <p:cNvSpPr/>
          <p:nvPr/>
        </p:nvSpPr>
        <p:spPr>
          <a:xfrm>
            <a:off x="356859" y="3383817"/>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資料→</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Day3</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よくある質問→</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Day7</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事例紹介→</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Day10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「今月限定・無料個別相談を○名様に」。「今すぐ買って」ではなく「まず話を聞くだけ」という低ハードル面談設定が鍵。限定性・数量制限で動機付け。</a:t>
            </a:r>
          </a:p>
        </p:txBody>
      </p:sp>
      <p:sp>
        <p:nvSpPr>
          <p:cNvPr id="36" name="Shape 42">
            <a:extLst>
              <a:ext uri="{FF2B5EF4-FFF2-40B4-BE49-F238E27FC236}">
                <a16:creationId xmlns:a16="http://schemas.microsoft.com/office/drawing/2014/main" id="{B511359D-C466-1D8A-5E4D-5C77E951F93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 name="Shape 43">
            <a:extLst>
              <a:ext uri="{FF2B5EF4-FFF2-40B4-BE49-F238E27FC236}">
                <a16:creationId xmlns:a16="http://schemas.microsoft.com/office/drawing/2014/main" id="{CB296A78-8B99-D908-AF84-F6571FA229F6}"/>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0" name="Text 44">
            <a:extLst>
              <a:ext uri="{FF2B5EF4-FFF2-40B4-BE49-F238E27FC236}">
                <a16:creationId xmlns:a16="http://schemas.microsoft.com/office/drawing/2014/main" id="{AA71EAAC-4F67-049F-5CB3-013124E72A38}"/>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2" name="Text 45">
            <a:extLst>
              <a:ext uri="{FF2B5EF4-FFF2-40B4-BE49-F238E27FC236}">
                <a16:creationId xmlns:a16="http://schemas.microsoft.com/office/drawing/2014/main" id="{42A6B48D-4266-BBC8-D43E-C90410471214}"/>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Day0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資料送付</a:t>
            </a:r>
            <a:endParaRPr lang="en-US" altLang="ja-JP" sz="850" dirty="0">
              <a:latin typeface="メイリオ" panose="020B0604030504040204" pitchFamily="50" charset="-128"/>
              <a:ea typeface="メイリオ" panose="020B0604030504040204" pitchFamily="50" charset="-128"/>
            </a:endParaRPr>
          </a:p>
        </p:txBody>
      </p:sp>
      <p:sp>
        <p:nvSpPr>
          <p:cNvPr id="44" name="Text 46">
            <a:extLst>
              <a:ext uri="{FF2B5EF4-FFF2-40B4-BE49-F238E27FC236}">
                <a16:creationId xmlns:a16="http://schemas.microsoft.com/office/drawing/2014/main" id="{2E529A7C-08F8-B965-8436-D648196C6289}"/>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即時価値提供</a:t>
            </a:r>
            <a:endParaRPr lang="en-US" altLang="ja-JP" sz="750" dirty="0">
              <a:latin typeface="メイリオ" panose="020B0604030504040204" pitchFamily="50" charset="-128"/>
              <a:ea typeface="メイリオ" panose="020B0604030504040204" pitchFamily="50" charset="-128"/>
            </a:endParaRPr>
          </a:p>
        </p:txBody>
      </p:sp>
      <p:sp>
        <p:nvSpPr>
          <p:cNvPr id="46" name="Text 47">
            <a:extLst>
              <a:ext uri="{FF2B5EF4-FFF2-40B4-BE49-F238E27FC236}">
                <a16:creationId xmlns:a16="http://schemas.microsoft.com/office/drawing/2014/main" id="{A451AFAF-0FA1-3FD6-C1D3-3C9BFFAAC97A}"/>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 name="Shape 48">
            <a:extLst>
              <a:ext uri="{FF2B5EF4-FFF2-40B4-BE49-F238E27FC236}">
                <a16:creationId xmlns:a16="http://schemas.microsoft.com/office/drawing/2014/main" id="{5210973B-C00E-2564-6A70-0A7CEC5FC41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0" name="Shape 49">
            <a:extLst>
              <a:ext uri="{FF2B5EF4-FFF2-40B4-BE49-F238E27FC236}">
                <a16:creationId xmlns:a16="http://schemas.microsoft.com/office/drawing/2014/main" id="{7F26AFE2-607A-7519-13A7-AE894D5EE528}"/>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2" name="Text 50">
            <a:extLst>
              <a:ext uri="{FF2B5EF4-FFF2-40B4-BE49-F238E27FC236}">
                <a16:creationId xmlns:a16="http://schemas.microsoft.com/office/drawing/2014/main" id="{265C8DF0-C86B-C86C-3E73-66465F4B1369}"/>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 name="Text 51">
            <a:extLst>
              <a:ext uri="{FF2B5EF4-FFF2-40B4-BE49-F238E27FC236}">
                <a16:creationId xmlns:a16="http://schemas.microsoft.com/office/drawing/2014/main" id="{A95F52FD-E9C5-4730-028B-AF50835B0B2E}"/>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Day7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事例配信</a:t>
            </a:r>
            <a:endParaRPr lang="en-US" altLang="ja-JP" sz="850" dirty="0">
              <a:latin typeface="メイリオ" panose="020B0604030504040204" pitchFamily="50" charset="-128"/>
              <a:ea typeface="メイリオ" panose="020B0604030504040204" pitchFamily="50" charset="-128"/>
            </a:endParaRPr>
          </a:p>
        </p:txBody>
      </p:sp>
      <p:sp>
        <p:nvSpPr>
          <p:cNvPr id="56" name="Text 52">
            <a:extLst>
              <a:ext uri="{FF2B5EF4-FFF2-40B4-BE49-F238E27FC236}">
                <a16:creationId xmlns:a16="http://schemas.microsoft.com/office/drawing/2014/main" id="{5856973E-600C-9F69-B73B-7CF0931A980E}"/>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信頼醸成</a:t>
            </a:r>
            <a:endParaRPr lang="en-US" altLang="ja-JP" sz="750" dirty="0">
              <a:latin typeface="メイリオ" panose="020B0604030504040204" pitchFamily="50" charset="-128"/>
              <a:ea typeface="メイリオ" panose="020B0604030504040204" pitchFamily="50" charset="-128"/>
            </a:endParaRPr>
          </a:p>
        </p:txBody>
      </p:sp>
      <p:sp>
        <p:nvSpPr>
          <p:cNvPr id="58" name="Text 53">
            <a:extLst>
              <a:ext uri="{FF2B5EF4-FFF2-40B4-BE49-F238E27FC236}">
                <a16:creationId xmlns:a16="http://schemas.microsoft.com/office/drawing/2014/main" id="{758EA0D7-BE56-1F06-1A23-C564494322D2}"/>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0" name="Shape 54">
            <a:extLst>
              <a:ext uri="{FF2B5EF4-FFF2-40B4-BE49-F238E27FC236}">
                <a16:creationId xmlns:a16="http://schemas.microsoft.com/office/drawing/2014/main" id="{464D5640-6F1D-C6E1-393C-A5458B5A22C9}"/>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2" name="Shape 55">
            <a:extLst>
              <a:ext uri="{FF2B5EF4-FFF2-40B4-BE49-F238E27FC236}">
                <a16:creationId xmlns:a16="http://schemas.microsoft.com/office/drawing/2014/main" id="{89FC4EAE-E7E8-DC03-5DFF-37074D8D82B6}"/>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4" name="Text 56">
            <a:extLst>
              <a:ext uri="{FF2B5EF4-FFF2-40B4-BE49-F238E27FC236}">
                <a16:creationId xmlns:a16="http://schemas.microsoft.com/office/drawing/2014/main" id="{B33A9BF0-EC24-F583-5FA0-A5880F0E6A12}"/>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6" name="Text 57">
            <a:extLst>
              <a:ext uri="{FF2B5EF4-FFF2-40B4-BE49-F238E27FC236}">
                <a16:creationId xmlns:a16="http://schemas.microsoft.com/office/drawing/2014/main" id="{38746766-2598-E7FF-013F-7AF41C0BF589}"/>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Day10 </a:t>
            </a:r>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オファ</a:t>
            </a:r>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ー</a:t>
            </a:r>
            <a:endParaRPr lang="en-US" altLang="ja-JP" sz="850" dirty="0">
              <a:latin typeface="メイリオ" panose="020B0604030504040204" pitchFamily="50" charset="-128"/>
              <a:ea typeface="メイリオ" panose="020B0604030504040204" pitchFamily="50" charset="-128"/>
            </a:endParaRPr>
          </a:p>
        </p:txBody>
      </p:sp>
      <p:sp>
        <p:nvSpPr>
          <p:cNvPr id="68" name="Text 58">
            <a:extLst>
              <a:ext uri="{FF2B5EF4-FFF2-40B4-BE49-F238E27FC236}">
                <a16:creationId xmlns:a16="http://schemas.microsoft.com/office/drawing/2014/main" id="{EE1DF143-F3CF-E063-7DA2-53A3D0BCB28D}"/>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限定・数量制限</a:t>
            </a:r>
            <a:endParaRPr lang="en-US" altLang="ja-JP" sz="750" dirty="0">
              <a:latin typeface="メイリオ" panose="020B0604030504040204" pitchFamily="50" charset="-128"/>
              <a:ea typeface="メイリオ" panose="020B0604030504040204" pitchFamily="50" charset="-128"/>
            </a:endParaRPr>
          </a:p>
        </p:txBody>
      </p:sp>
      <p:sp>
        <p:nvSpPr>
          <p:cNvPr id="70" name="Shape 59">
            <a:extLst>
              <a:ext uri="{FF2B5EF4-FFF2-40B4-BE49-F238E27FC236}">
                <a16:creationId xmlns:a16="http://schemas.microsoft.com/office/drawing/2014/main" id="{ED1F64AB-43E6-3EF4-E22A-1C2B3A1EAFE6}"/>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2" name="Shape 63">
            <a:extLst>
              <a:ext uri="{FF2B5EF4-FFF2-40B4-BE49-F238E27FC236}">
                <a16:creationId xmlns:a16="http://schemas.microsoft.com/office/drawing/2014/main" id="{38B1441B-4C63-5D92-EC3A-90F6C29F7A30}"/>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4" name="Text 64">
            <a:extLst>
              <a:ext uri="{FF2B5EF4-FFF2-40B4-BE49-F238E27FC236}">
                <a16:creationId xmlns:a16="http://schemas.microsoft.com/office/drawing/2014/main" id="{57430ED0-462D-34B1-A475-D78F816729F5}"/>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76" name="Text 65">
            <a:extLst>
              <a:ext uri="{FF2B5EF4-FFF2-40B4-BE49-F238E27FC236}">
                <a16:creationId xmlns:a16="http://schemas.microsoft.com/office/drawing/2014/main" id="{B7DB943B-00E9-7974-CDB8-CF2D59CC61D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アンケート</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スコアリングで商談自動振り分け</a:t>
            </a:r>
            <a:endParaRPr lang="en-US" altLang="ja-JP" sz="1100" dirty="0">
              <a:latin typeface="メイリオ" panose="020B0604030504040204" pitchFamily="50" charset="-128"/>
              <a:ea typeface="メイリオ" panose="020B0604030504040204" pitchFamily="50" charset="-128"/>
            </a:endParaRPr>
          </a:p>
        </p:txBody>
      </p:sp>
      <p:sp>
        <p:nvSpPr>
          <p:cNvPr id="78" name="Text 66">
            <a:extLst>
              <a:ext uri="{FF2B5EF4-FFF2-40B4-BE49-F238E27FC236}">
                <a16:creationId xmlns:a16="http://schemas.microsoft.com/office/drawing/2014/main" id="{4EFBD6ED-AC70-7247-939C-182C24C7C8EB}"/>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現在の状況を3問で教えてください」をLINEで配信。「3ヶ月以内に検討」「他社比較中」の回答者を自動でホットリードとして抽出しスタッフが即日連絡。全リードにスタッフ対応せず、温度感の高い層だけに集中する。</a:t>
            </a:r>
            <a:endParaRPr lang="en-US" altLang="ja-JP" sz="850" dirty="0">
              <a:latin typeface="メイリオ" panose="020B0604030504040204" pitchFamily="50" charset="-128"/>
              <a:ea typeface="メイリオ" panose="020B0604030504040204" pitchFamily="50" charset="-128"/>
            </a:endParaRPr>
          </a:p>
        </p:txBody>
      </p:sp>
      <p:sp>
        <p:nvSpPr>
          <p:cNvPr id="80" name="Shape 68">
            <a:extLst>
              <a:ext uri="{FF2B5EF4-FFF2-40B4-BE49-F238E27FC236}">
                <a16:creationId xmlns:a16="http://schemas.microsoft.com/office/drawing/2014/main" id="{A878F7AF-2951-6346-AC7C-117CEAD65882}"/>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2" name="Text 69">
            <a:extLst>
              <a:ext uri="{FF2B5EF4-FFF2-40B4-BE49-F238E27FC236}">
                <a16:creationId xmlns:a16="http://schemas.microsoft.com/office/drawing/2014/main" id="{51BC50E4-D2C2-FB3A-BADF-2405ED305FFC}"/>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4" name="Text 70">
            <a:extLst>
              <a:ext uri="{FF2B5EF4-FFF2-40B4-BE49-F238E27FC236}">
                <a16:creationId xmlns:a16="http://schemas.microsoft.com/office/drawing/2014/main" id="{C0DB247B-6B3F-9051-4404-63FBF132961F}"/>
              </a:ext>
            </a:extLst>
          </p:cNvPr>
          <p:cNvSpPr/>
          <p:nvPr/>
        </p:nvSpPr>
        <p:spPr>
          <a:xfrm>
            <a:off x="2671467" y="5559265"/>
            <a:ext cx="2022453" cy="158716"/>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7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7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6" name="Shape 71">
            <a:extLst>
              <a:ext uri="{FF2B5EF4-FFF2-40B4-BE49-F238E27FC236}">
                <a16:creationId xmlns:a16="http://schemas.microsoft.com/office/drawing/2014/main" id="{E782C278-7AB5-1A6B-D371-D48C786DEC22}"/>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8" name="Shape 72">
            <a:extLst>
              <a:ext uri="{FF2B5EF4-FFF2-40B4-BE49-F238E27FC236}">
                <a16:creationId xmlns:a16="http://schemas.microsoft.com/office/drawing/2014/main" id="{F8BD45B3-63BC-CCCC-A02C-22292B165914}"/>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0" name="Text 73">
            <a:extLst>
              <a:ext uri="{FF2B5EF4-FFF2-40B4-BE49-F238E27FC236}">
                <a16:creationId xmlns:a16="http://schemas.microsoft.com/office/drawing/2014/main" id="{7C72A4DB-C3F4-16C9-6A51-D60CB4DF1517}"/>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2" name="Text 74">
            <a:extLst>
              <a:ext uri="{FF2B5EF4-FFF2-40B4-BE49-F238E27FC236}">
                <a16:creationId xmlns:a16="http://schemas.microsoft.com/office/drawing/2014/main" id="{BE7ADCA5-3612-7BC6-AA8D-040022EE1617}"/>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3問アンケート配信</a:t>
            </a:r>
            <a:endParaRPr lang="en-US" altLang="ja-JP" sz="850" dirty="0">
              <a:latin typeface="メイリオ" panose="020B0604030504040204" pitchFamily="50" charset="-128"/>
              <a:ea typeface="メイリオ" panose="020B0604030504040204" pitchFamily="50" charset="-128"/>
            </a:endParaRPr>
          </a:p>
        </p:txBody>
      </p:sp>
      <p:sp>
        <p:nvSpPr>
          <p:cNvPr id="94" name="Text 75">
            <a:extLst>
              <a:ext uri="{FF2B5EF4-FFF2-40B4-BE49-F238E27FC236}">
                <a16:creationId xmlns:a16="http://schemas.microsoft.com/office/drawing/2014/main" id="{F0DD5913-5DC7-A93B-7D58-6F8AE9356AB0}"/>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タップ式・即回答</a:t>
            </a:r>
            <a:endParaRPr lang="en-US" altLang="ja-JP" sz="750" dirty="0">
              <a:latin typeface="メイリオ" panose="020B0604030504040204" pitchFamily="50" charset="-128"/>
              <a:ea typeface="メイリオ" panose="020B0604030504040204" pitchFamily="50" charset="-128"/>
            </a:endParaRPr>
          </a:p>
        </p:txBody>
      </p:sp>
      <p:sp>
        <p:nvSpPr>
          <p:cNvPr id="96" name="Text 76">
            <a:extLst>
              <a:ext uri="{FF2B5EF4-FFF2-40B4-BE49-F238E27FC236}">
                <a16:creationId xmlns:a16="http://schemas.microsoft.com/office/drawing/2014/main" id="{8841F69C-C2EB-F428-9C29-1835C7671985}"/>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8" name="Shape 77">
            <a:extLst>
              <a:ext uri="{FF2B5EF4-FFF2-40B4-BE49-F238E27FC236}">
                <a16:creationId xmlns:a16="http://schemas.microsoft.com/office/drawing/2014/main" id="{3D4B0674-1BDF-A06F-3031-1D2C3CFCAFCB}"/>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0" name="Shape 78">
            <a:extLst>
              <a:ext uri="{FF2B5EF4-FFF2-40B4-BE49-F238E27FC236}">
                <a16:creationId xmlns:a16="http://schemas.microsoft.com/office/drawing/2014/main" id="{A6BF8401-0185-4740-65BD-3B25BF274C5D}"/>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2" name="Text 79">
            <a:extLst>
              <a:ext uri="{FF2B5EF4-FFF2-40B4-BE49-F238E27FC236}">
                <a16:creationId xmlns:a16="http://schemas.microsoft.com/office/drawing/2014/main" id="{60ECC73C-CE71-5B5F-BE35-36A110A9273A}"/>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4" name="Text 80">
            <a:extLst>
              <a:ext uri="{FF2B5EF4-FFF2-40B4-BE49-F238E27FC236}">
                <a16:creationId xmlns:a16="http://schemas.microsoft.com/office/drawing/2014/main" id="{96428CFC-DE5B-2C59-73AD-050998F19ECE}"/>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自動スコアリング</a:t>
            </a:r>
            <a:endParaRPr lang="en-US" altLang="ja-JP" sz="850" dirty="0">
              <a:latin typeface="メイリオ" panose="020B0604030504040204" pitchFamily="50" charset="-128"/>
              <a:ea typeface="メイリオ" panose="020B0604030504040204" pitchFamily="50" charset="-128"/>
            </a:endParaRPr>
          </a:p>
        </p:txBody>
      </p:sp>
      <p:sp>
        <p:nvSpPr>
          <p:cNvPr id="106" name="Text 81">
            <a:extLst>
              <a:ext uri="{FF2B5EF4-FFF2-40B4-BE49-F238E27FC236}">
                <a16:creationId xmlns:a16="http://schemas.microsoft.com/office/drawing/2014/main" id="{A4C856B7-9917-9F3B-C6EC-F2AB00761D3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ホットリード特定</a:t>
            </a:r>
            <a:endParaRPr lang="en-US" altLang="ja-JP" sz="750" dirty="0">
              <a:latin typeface="メイリオ" panose="020B0604030504040204" pitchFamily="50" charset="-128"/>
              <a:ea typeface="メイリオ" panose="020B0604030504040204" pitchFamily="50" charset="-128"/>
            </a:endParaRPr>
          </a:p>
        </p:txBody>
      </p:sp>
      <p:sp>
        <p:nvSpPr>
          <p:cNvPr id="108" name="Text 82">
            <a:extLst>
              <a:ext uri="{FF2B5EF4-FFF2-40B4-BE49-F238E27FC236}">
                <a16:creationId xmlns:a16="http://schemas.microsoft.com/office/drawing/2014/main" id="{E3396CCE-6D05-BB63-89D2-AFEC3888A603}"/>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0" name="Shape 83">
            <a:extLst>
              <a:ext uri="{FF2B5EF4-FFF2-40B4-BE49-F238E27FC236}">
                <a16:creationId xmlns:a16="http://schemas.microsoft.com/office/drawing/2014/main" id="{E0F59D7C-4363-A525-B16C-695512C79C58}"/>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2" name="Shape 84">
            <a:extLst>
              <a:ext uri="{FF2B5EF4-FFF2-40B4-BE49-F238E27FC236}">
                <a16:creationId xmlns:a16="http://schemas.microsoft.com/office/drawing/2014/main" id="{9E2F0FE0-EA67-CDB7-9CF3-64EDD1E5E81A}"/>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4" name="Text 85">
            <a:extLst>
              <a:ext uri="{FF2B5EF4-FFF2-40B4-BE49-F238E27FC236}">
                <a16:creationId xmlns:a16="http://schemas.microsoft.com/office/drawing/2014/main" id="{E836FDF6-8AA3-5464-F9B5-FFD8960B35B5}"/>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6" name="Text 86">
            <a:extLst>
              <a:ext uri="{FF2B5EF4-FFF2-40B4-BE49-F238E27FC236}">
                <a16:creationId xmlns:a16="http://schemas.microsoft.com/office/drawing/2014/main" id="{FEF48462-734A-1272-13A3-E0A1A2C1A704}"/>
              </a:ext>
            </a:extLst>
          </p:cNvPr>
          <p:cNvSpPr/>
          <p:nvPr/>
        </p:nvSpPr>
        <p:spPr>
          <a:xfrm>
            <a:off x="3447531" y="5957091"/>
            <a:ext cx="914400" cy="182880"/>
          </a:xfrm>
          <a:prstGeom prst="rect">
            <a:avLst/>
          </a:prstGeom>
          <a:noFill/>
          <a:ln/>
        </p:spPr>
        <p:txBody>
          <a:bodyPr wrap="square" lIns="0" tIns="0" rIns="0" bIns="0" rtlCol="0" anchor="ctr"/>
          <a:lstStyle/>
          <a:p>
            <a:r>
              <a:rPr lang="ja-JP" altLang="en-US" sz="850" b="1" dirty="0">
                <a:solidFill>
                  <a:srgbClr val="FFFFFF"/>
                </a:solidFill>
                <a:latin typeface="メイリオ" panose="020B0604030504040204" pitchFamily="50" charset="-128"/>
                <a:ea typeface="メイリオ" panose="020B0604030504040204" pitchFamily="50" charset="-128"/>
                <a:cs typeface="Calibri" pitchFamily="34" charset="-120"/>
              </a:rPr>
              <a:t>トスアップ</a:t>
            </a:r>
            <a:endParaRPr lang="en-US" altLang="ja-JP" sz="850" dirty="0">
              <a:latin typeface="メイリオ" panose="020B0604030504040204" pitchFamily="50" charset="-128"/>
              <a:ea typeface="メイリオ" panose="020B0604030504040204" pitchFamily="50" charset="-128"/>
            </a:endParaRPr>
          </a:p>
        </p:txBody>
      </p:sp>
      <p:sp>
        <p:nvSpPr>
          <p:cNvPr id="118" name="Text 87">
            <a:extLst>
              <a:ext uri="{FF2B5EF4-FFF2-40B4-BE49-F238E27FC236}">
                <a16:creationId xmlns:a16="http://schemas.microsoft.com/office/drawing/2014/main" id="{7A5801BF-BB1C-CA06-2ADD-8917D3F321CF}"/>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商談化70%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改善事例も</a:t>
            </a:r>
            <a:endParaRPr lang="en-US" altLang="ja-JP" sz="750" dirty="0">
              <a:latin typeface="メイリオ" panose="020B0604030504040204" pitchFamily="50" charset="-128"/>
              <a:ea typeface="メイリオ" panose="020B0604030504040204" pitchFamily="50" charset="-128"/>
            </a:endParaRPr>
          </a:p>
        </p:txBody>
      </p:sp>
      <p:sp>
        <p:nvSpPr>
          <p:cNvPr id="120" name="Shape 88">
            <a:extLst>
              <a:ext uri="{FF2B5EF4-FFF2-40B4-BE49-F238E27FC236}">
                <a16:creationId xmlns:a16="http://schemas.microsoft.com/office/drawing/2014/main" id="{1022B804-29BA-C16F-59BF-7116998459A1}"/>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2" name="Shape 92">
            <a:extLst>
              <a:ext uri="{FF2B5EF4-FFF2-40B4-BE49-F238E27FC236}">
                <a16:creationId xmlns:a16="http://schemas.microsoft.com/office/drawing/2014/main" id="{C083C52C-3E3D-EE4D-FA9C-B0A718669F53}"/>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4" name="Text 93">
            <a:extLst>
              <a:ext uri="{FF2B5EF4-FFF2-40B4-BE49-F238E27FC236}">
                <a16:creationId xmlns:a16="http://schemas.microsoft.com/office/drawing/2014/main" id="{1BBE6434-6048-9866-D279-EBE9D835E91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企画配信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26" name="Text 94">
            <a:extLst>
              <a:ext uri="{FF2B5EF4-FFF2-40B4-BE49-F238E27FC236}">
                <a16:creationId xmlns:a16="http://schemas.microsoft.com/office/drawing/2014/main" id="{F578845C-26D5-3691-D376-1CA844A61B98}"/>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季節・業界イベント連動配信で休眠リストを起こす</a:t>
            </a:r>
            <a:endParaRPr lang="en-US" altLang="ja-JP" sz="1100" dirty="0">
              <a:latin typeface="メイリオ" panose="020B0604030504040204" pitchFamily="50" charset="-128"/>
              <a:ea typeface="メイリオ" panose="020B0604030504040204" pitchFamily="50" charset="-128"/>
            </a:endParaRPr>
          </a:p>
        </p:txBody>
      </p:sp>
      <p:sp>
        <p:nvSpPr>
          <p:cNvPr id="128" name="Text 95">
            <a:extLst>
              <a:ext uri="{FF2B5EF4-FFF2-40B4-BE49-F238E27FC236}">
                <a16:creationId xmlns:a16="http://schemas.microsoft.com/office/drawing/2014/main" id="{06D9F55B-7232-7A4D-8F5C-1AB4E0C70FBD}"/>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「年末の〇〇に向けて、今から準備を始めるお客様が増えています」という業界固有モーメントに乗せた再接触配信。悩みのピーク2〜3週前に配信することがCVR最大化のコツ。「</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売り込み」ではなく「タイミングの案内」として届ける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30" name="Shape 96">
            <a:extLst>
              <a:ext uri="{FF2B5EF4-FFF2-40B4-BE49-F238E27FC236}">
                <a16:creationId xmlns:a16="http://schemas.microsoft.com/office/drawing/2014/main" id="{069D4174-4F64-8276-0A34-474428B42A09}"/>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2" name="Shape 97">
            <a:extLst>
              <a:ext uri="{FF2B5EF4-FFF2-40B4-BE49-F238E27FC236}">
                <a16:creationId xmlns:a16="http://schemas.microsoft.com/office/drawing/2014/main" id="{D9EBB717-A542-13FE-924C-50E4D9047DE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4" name="Text 98">
            <a:extLst>
              <a:ext uri="{FF2B5EF4-FFF2-40B4-BE49-F238E27FC236}">
                <a16:creationId xmlns:a16="http://schemas.microsoft.com/office/drawing/2014/main" id="{5701D322-E6AC-4743-3BF0-3D2C916AA73A}"/>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6" name="Text 99">
            <a:extLst>
              <a:ext uri="{FF2B5EF4-FFF2-40B4-BE49-F238E27FC236}">
                <a16:creationId xmlns:a16="http://schemas.microsoft.com/office/drawing/2014/main" id="{CA2962DC-C768-875A-D569-10ECD1DEB616}"/>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モーメント特定</a:t>
            </a:r>
            <a:endParaRPr lang="en-US" altLang="ja-JP" sz="850" dirty="0">
              <a:latin typeface="メイリオ" panose="020B0604030504040204" pitchFamily="50" charset="-128"/>
              <a:ea typeface="メイリオ" panose="020B0604030504040204" pitchFamily="50" charset="-128"/>
            </a:endParaRPr>
          </a:p>
        </p:txBody>
      </p:sp>
      <p:sp>
        <p:nvSpPr>
          <p:cNvPr id="138" name="Text 100">
            <a:extLst>
              <a:ext uri="{FF2B5EF4-FFF2-40B4-BE49-F238E27FC236}">
                <a16:creationId xmlns:a16="http://schemas.microsoft.com/office/drawing/2014/main" id="{C3D786F9-91FC-82F5-3763-A658668EED4C}"/>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ピーク2〜3週前</a:t>
            </a:r>
            <a:endParaRPr lang="en-US" altLang="ja-JP" sz="750" dirty="0">
              <a:latin typeface="メイリオ" panose="020B0604030504040204" pitchFamily="50" charset="-128"/>
              <a:ea typeface="メイリオ" panose="020B0604030504040204" pitchFamily="50" charset="-128"/>
            </a:endParaRPr>
          </a:p>
        </p:txBody>
      </p:sp>
      <p:sp>
        <p:nvSpPr>
          <p:cNvPr id="140" name="Text 101">
            <a:extLst>
              <a:ext uri="{FF2B5EF4-FFF2-40B4-BE49-F238E27FC236}">
                <a16:creationId xmlns:a16="http://schemas.microsoft.com/office/drawing/2014/main" id="{C1EEB04D-625F-17CE-C89D-4B08395FBAFC}"/>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2" name="Shape 102">
            <a:extLst>
              <a:ext uri="{FF2B5EF4-FFF2-40B4-BE49-F238E27FC236}">
                <a16:creationId xmlns:a16="http://schemas.microsoft.com/office/drawing/2014/main" id="{50E9AED5-D9C7-D6C3-65D6-3119987A999C}"/>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4" name="Shape 103">
            <a:extLst>
              <a:ext uri="{FF2B5EF4-FFF2-40B4-BE49-F238E27FC236}">
                <a16:creationId xmlns:a16="http://schemas.microsoft.com/office/drawing/2014/main" id="{C74365D2-79DD-46D0-F7E6-AB9A53F69C2C}"/>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6" name="Text 104">
            <a:extLst>
              <a:ext uri="{FF2B5EF4-FFF2-40B4-BE49-F238E27FC236}">
                <a16:creationId xmlns:a16="http://schemas.microsoft.com/office/drawing/2014/main" id="{6E4E920B-459D-A400-22E8-BABF2781E2BA}"/>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8" name="Text 105">
            <a:extLst>
              <a:ext uri="{FF2B5EF4-FFF2-40B4-BE49-F238E27FC236}">
                <a16:creationId xmlns:a16="http://schemas.microsoft.com/office/drawing/2014/main" id="{A09DCB92-8255-C6E6-87C7-473321C80234}"/>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コンテンツ配信</a:t>
            </a:r>
            <a:endParaRPr lang="en-US" altLang="ja-JP" sz="850" dirty="0">
              <a:latin typeface="メイリオ" panose="020B0604030504040204" pitchFamily="50" charset="-128"/>
              <a:ea typeface="メイリオ" panose="020B0604030504040204" pitchFamily="50" charset="-128"/>
            </a:endParaRPr>
          </a:p>
        </p:txBody>
      </p:sp>
      <p:sp>
        <p:nvSpPr>
          <p:cNvPr id="150" name="Text 106">
            <a:extLst>
              <a:ext uri="{FF2B5EF4-FFF2-40B4-BE49-F238E27FC236}">
                <a16:creationId xmlns:a16="http://schemas.microsoft.com/office/drawing/2014/main" id="{09AC34DD-AAEC-BF91-CB1D-5545FE79C4D2}"/>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今だから」訴求</a:t>
            </a:r>
            <a:endParaRPr lang="en-US" altLang="ja-JP" sz="750" dirty="0">
              <a:latin typeface="メイリオ" panose="020B0604030504040204" pitchFamily="50" charset="-128"/>
              <a:ea typeface="メイリオ" panose="020B0604030504040204" pitchFamily="50" charset="-128"/>
            </a:endParaRPr>
          </a:p>
        </p:txBody>
      </p:sp>
      <p:sp>
        <p:nvSpPr>
          <p:cNvPr id="152" name="Text 107">
            <a:extLst>
              <a:ext uri="{FF2B5EF4-FFF2-40B4-BE49-F238E27FC236}">
                <a16:creationId xmlns:a16="http://schemas.microsoft.com/office/drawing/2014/main" id="{BF81408E-47F9-9F16-013B-45DCB0A4C212}"/>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54" name="Shape 108">
            <a:extLst>
              <a:ext uri="{FF2B5EF4-FFF2-40B4-BE49-F238E27FC236}">
                <a16:creationId xmlns:a16="http://schemas.microsoft.com/office/drawing/2014/main" id="{503FF76B-C744-3397-71C4-D41BA4685B17}"/>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6" name="Shape 109">
            <a:extLst>
              <a:ext uri="{FF2B5EF4-FFF2-40B4-BE49-F238E27FC236}">
                <a16:creationId xmlns:a16="http://schemas.microsoft.com/office/drawing/2014/main" id="{A6B21F29-F9B0-9369-C7F9-877467F07918}"/>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8" name="Text 110">
            <a:extLst>
              <a:ext uri="{FF2B5EF4-FFF2-40B4-BE49-F238E27FC236}">
                <a16:creationId xmlns:a16="http://schemas.microsoft.com/office/drawing/2014/main" id="{27C2769D-257A-7368-2C8C-D5AC1F474DEE}"/>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60" name="Text 111">
            <a:extLst>
              <a:ext uri="{FF2B5EF4-FFF2-40B4-BE49-F238E27FC236}">
                <a16:creationId xmlns:a16="http://schemas.microsoft.com/office/drawing/2014/main" id="{38FBDAAB-A07A-E8C4-47B0-D464E78D6F27}"/>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休眠リスト再CV</a:t>
            </a:r>
            <a:endParaRPr lang="en-US" altLang="ja-JP" sz="850" dirty="0">
              <a:latin typeface="メイリオ" panose="020B0604030504040204" pitchFamily="50" charset="-128"/>
              <a:ea typeface="メイリオ" panose="020B0604030504040204" pitchFamily="50" charset="-128"/>
            </a:endParaRPr>
          </a:p>
        </p:txBody>
      </p:sp>
      <p:sp>
        <p:nvSpPr>
          <p:cNvPr id="162" name="Text 112">
            <a:extLst>
              <a:ext uri="{FF2B5EF4-FFF2-40B4-BE49-F238E27FC236}">
                <a16:creationId xmlns:a16="http://schemas.microsoft.com/office/drawing/2014/main" id="{D3F04975-0A5A-781C-2B9E-C31F7695748A}"/>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再CV率3〜8%</a:t>
            </a:r>
            <a:endParaRPr lang="en-US" altLang="ja-JP" sz="750" dirty="0">
              <a:latin typeface="メイリオ" panose="020B0604030504040204" pitchFamily="50" charset="-128"/>
              <a:ea typeface="メイリオ" panose="020B0604030504040204" pitchFamily="50" charset="-128"/>
            </a:endParaRPr>
          </a:p>
        </p:txBody>
      </p:sp>
      <p:sp>
        <p:nvSpPr>
          <p:cNvPr id="164" name="Shape 113">
            <a:extLst>
              <a:ext uri="{FF2B5EF4-FFF2-40B4-BE49-F238E27FC236}">
                <a16:creationId xmlns:a16="http://schemas.microsoft.com/office/drawing/2014/main" id="{B8A7F8E0-2D9E-4F58-B45C-445490BAD2A6}"/>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6" name="Shape 117">
            <a:extLst>
              <a:ext uri="{FF2B5EF4-FFF2-40B4-BE49-F238E27FC236}">
                <a16:creationId xmlns:a16="http://schemas.microsoft.com/office/drawing/2014/main" id="{405D8489-0824-1FFD-1B67-B3B0A50D960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8" name="Text 118">
            <a:extLst>
              <a:ext uri="{FF2B5EF4-FFF2-40B4-BE49-F238E27FC236}">
                <a16:creationId xmlns:a16="http://schemas.microsoft.com/office/drawing/2014/main" id="{FE9A5096-9CFE-5412-810F-0F2F5A6CF1D7}"/>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再スクリーニング</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70" name="Text 119">
            <a:extLst>
              <a:ext uri="{FF2B5EF4-FFF2-40B4-BE49-F238E27FC236}">
                <a16:creationId xmlns:a16="http://schemas.microsoft.com/office/drawing/2014/main" id="{64A72FA9-D385-9A82-A7FF-CCA964EA228C}"/>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その後いかが</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配信で失注リストを再活性化</a:t>
            </a:r>
            <a:endParaRPr lang="en-US" altLang="ja-JP" sz="1100" dirty="0">
              <a:latin typeface="メイリオ" panose="020B0604030504040204" pitchFamily="50" charset="-128"/>
              <a:ea typeface="メイリオ" panose="020B0604030504040204" pitchFamily="50" charset="-128"/>
            </a:endParaRPr>
          </a:p>
        </p:txBody>
      </p:sp>
      <p:sp>
        <p:nvSpPr>
          <p:cNvPr id="172" name="Text 120">
            <a:extLst>
              <a:ext uri="{FF2B5EF4-FFF2-40B4-BE49-F238E27FC236}">
                <a16:creationId xmlns:a16="http://schemas.microsoft.com/office/drawing/2014/main" id="{CBDC21B9-7A24-59D8-C78B-DA02EFBD1EE5}"/>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失注・辞退から3〜6ヶ月後に「ご状況が変わっていれば改めてご案内できます」と自然なトーンで再接触。失注理由別でシナリオを分岐：「</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予算NG」層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新プランができました</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タイミングNG」層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またご都合のよい時期に</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74" name="Shape 121">
            <a:extLst>
              <a:ext uri="{FF2B5EF4-FFF2-40B4-BE49-F238E27FC236}">
                <a16:creationId xmlns:a16="http://schemas.microsoft.com/office/drawing/2014/main" id="{8F2AD48D-D152-8DDF-689E-38F793A7A035}"/>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6" name="Shape 122">
            <a:extLst>
              <a:ext uri="{FF2B5EF4-FFF2-40B4-BE49-F238E27FC236}">
                <a16:creationId xmlns:a16="http://schemas.microsoft.com/office/drawing/2014/main" id="{62E05E15-51AF-4DED-F35A-E0341BEEDB6E}"/>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8" name="Text 123">
            <a:extLst>
              <a:ext uri="{FF2B5EF4-FFF2-40B4-BE49-F238E27FC236}">
                <a16:creationId xmlns:a16="http://schemas.microsoft.com/office/drawing/2014/main" id="{E6A90B54-8A00-3600-E1D6-0F35C45F9544}"/>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0" name="Text 124">
            <a:extLst>
              <a:ext uri="{FF2B5EF4-FFF2-40B4-BE49-F238E27FC236}">
                <a16:creationId xmlns:a16="http://schemas.microsoft.com/office/drawing/2014/main" id="{5CE65D75-4BC1-519E-F76F-6A0757C1EC53}"/>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失注後3〜6ヶ月</a:t>
            </a:r>
            <a:endParaRPr lang="en-US" altLang="ja-JP" sz="850" dirty="0">
              <a:latin typeface="メイリオ" panose="020B0604030504040204" pitchFamily="50" charset="-128"/>
              <a:ea typeface="メイリオ" panose="020B0604030504040204" pitchFamily="50" charset="-128"/>
            </a:endParaRPr>
          </a:p>
        </p:txBody>
      </p:sp>
      <p:sp>
        <p:nvSpPr>
          <p:cNvPr id="182" name="Text 125">
            <a:extLst>
              <a:ext uri="{FF2B5EF4-FFF2-40B4-BE49-F238E27FC236}">
                <a16:creationId xmlns:a16="http://schemas.microsoft.com/office/drawing/2014/main" id="{321D2CBF-DB5B-0A56-8946-401A4AD2CC5C}"/>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自動配信</a:t>
            </a: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（ステップ）</a:t>
            </a:r>
            <a:endParaRPr lang="en-US" altLang="ja-JP" sz="750" dirty="0">
              <a:latin typeface="メイリオ" panose="020B0604030504040204" pitchFamily="50" charset="-128"/>
              <a:ea typeface="メイリオ" panose="020B0604030504040204" pitchFamily="50" charset="-128"/>
            </a:endParaRPr>
          </a:p>
        </p:txBody>
      </p:sp>
      <p:sp>
        <p:nvSpPr>
          <p:cNvPr id="184" name="Text 126">
            <a:extLst>
              <a:ext uri="{FF2B5EF4-FFF2-40B4-BE49-F238E27FC236}">
                <a16:creationId xmlns:a16="http://schemas.microsoft.com/office/drawing/2014/main" id="{06401F8E-C60A-CA49-A807-0A6452BDC118}"/>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6" name="Shape 127">
            <a:extLst>
              <a:ext uri="{FF2B5EF4-FFF2-40B4-BE49-F238E27FC236}">
                <a16:creationId xmlns:a16="http://schemas.microsoft.com/office/drawing/2014/main" id="{AE3CA431-0C8F-8EF0-2ED8-A83CCA602B3E}"/>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88" name="Shape 128">
            <a:extLst>
              <a:ext uri="{FF2B5EF4-FFF2-40B4-BE49-F238E27FC236}">
                <a16:creationId xmlns:a16="http://schemas.microsoft.com/office/drawing/2014/main" id="{1AD820F2-8E91-97A5-8E0A-B1C6BFB331A1}"/>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90" name="Text 129">
            <a:extLst>
              <a:ext uri="{FF2B5EF4-FFF2-40B4-BE49-F238E27FC236}">
                <a16:creationId xmlns:a16="http://schemas.microsoft.com/office/drawing/2014/main" id="{8D818818-A3AE-555E-7011-4F3D90379688}"/>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2" name="Text 130">
            <a:extLst>
              <a:ext uri="{FF2B5EF4-FFF2-40B4-BE49-F238E27FC236}">
                <a16:creationId xmlns:a16="http://schemas.microsoft.com/office/drawing/2014/main" id="{4EF9A98F-AC88-0728-EFD8-0C772A79587A}"/>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失注理由別分岐</a:t>
            </a:r>
            <a:endParaRPr lang="en-US" altLang="ja-JP" sz="850" dirty="0">
              <a:latin typeface="メイリオ" panose="020B0604030504040204" pitchFamily="50" charset="-128"/>
              <a:ea typeface="メイリオ" panose="020B0604030504040204" pitchFamily="50" charset="-128"/>
            </a:endParaRPr>
          </a:p>
        </p:txBody>
      </p:sp>
      <p:sp>
        <p:nvSpPr>
          <p:cNvPr id="194" name="Text 131">
            <a:extLst>
              <a:ext uri="{FF2B5EF4-FFF2-40B4-BE49-F238E27FC236}">
                <a16:creationId xmlns:a16="http://schemas.microsoft.com/office/drawing/2014/main" id="{AA3268CA-2C22-0C62-160E-0C0216963E5F}"/>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シナリオカスタマイズ</a:t>
            </a:r>
            <a:endParaRPr lang="en-US" altLang="ja-JP" sz="750" dirty="0">
              <a:latin typeface="メイリオ" panose="020B0604030504040204" pitchFamily="50" charset="-128"/>
              <a:ea typeface="メイリオ" panose="020B0604030504040204" pitchFamily="50" charset="-128"/>
            </a:endParaRPr>
          </a:p>
        </p:txBody>
      </p:sp>
      <p:sp>
        <p:nvSpPr>
          <p:cNvPr id="196" name="Text 132">
            <a:extLst>
              <a:ext uri="{FF2B5EF4-FFF2-40B4-BE49-F238E27FC236}">
                <a16:creationId xmlns:a16="http://schemas.microsoft.com/office/drawing/2014/main" id="{2F00F7D4-1087-A7FE-323B-EE40BA03BBC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8" name="Shape 133">
            <a:extLst>
              <a:ext uri="{FF2B5EF4-FFF2-40B4-BE49-F238E27FC236}">
                <a16:creationId xmlns:a16="http://schemas.microsoft.com/office/drawing/2014/main" id="{48973DFD-52B9-D288-5F88-EBA671150D93}"/>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0" name="Shape 134">
            <a:extLst>
              <a:ext uri="{FF2B5EF4-FFF2-40B4-BE49-F238E27FC236}">
                <a16:creationId xmlns:a16="http://schemas.microsoft.com/office/drawing/2014/main" id="{E611469B-B55C-8664-CADB-DF4675853BF0}"/>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2" name="Text 135">
            <a:extLst>
              <a:ext uri="{FF2B5EF4-FFF2-40B4-BE49-F238E27FC236}">
                <a16:creationId xmlns:a16="http://schemas.microsoft.com/office/drawing/2014/main" id="{F56AD707-B2E2-F152-960D-3E43770D8634}"/>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04" name="Text 136">
            <a:extLst>
              <a:ext uri="{FF2B5EF4-FFF2-40B4-BE49-F238E27FC236}">
                <a16:creationId xmlns:a16="http://schemas.microsoft.com/office/drawing/2014/main" id="{44EA5DE9-1C7B-2119-EC2E-A8BE9873034E}"/>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再CV獲得</a:t>
            </a:r>
            <a:endParaRPr lang="en-US" altLang="ja-JP" sz="850" dirty="0">
              <a:latin typeface="メイリオ" panose="020B0604030504040204" pitchFamily="50" charset="-128"/>
              <a:ea typeface="メイリオ" panose="020B0604030504040204" pitchFamily="50" charset="-128"/>
            </a:endParaRPr>
          </a:p>
        </p:txBody>
      </p:sp>
      <p:sp>
        <p:nvSpPr>
          <p:cNvPr id="206" name="Text 137">
            <a:extLst>
              <a:ext uri="{FF2B5EF4-FFF2-40B4-BE49-F238E27FC236}">
                <a16:creationId xmlns:a16="http://schemas.microsoft.com/office/drawing/2014/main" id="{8096588A-C237-8806-3F2E-41D5083C6A97}"/>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コストゼロ受注</a:t>
            </a:r>
            <a:endParaRPr lang="en-US" altLang="ja-JP" sz="750" dirty="0">
              <a:latin typeface="メイリオ" panose="020B0604030504040204" pitchFamily="50" charset="-128"/>
              <a:ea typeface="メイリオ" panose="020B0604030504040204" pitchFamily="50" charset="-128"/>
            </a:endParaRPr>
          </a:p>
        </p:txBody>
      </p:sp>
      <p:sp>
        <p:nvSpPr>
          <p:cNvPr id="208" name="Shape 36">
            <a:extLst>
              <a:ext uri="{FF2B5EF4-FFF2-40B4-BE49-F238E27FC236}">
                <a16:creationId xmlns:a16="http://schemas.microsoft.com/office/drawing/2014/main" id="{A5FC7E14-B018-D022-4C5B-B6CBBCAE473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0" name="Shape 36">
            <a:extLst>
              <a:ext uri="{FF2B5EF4-FFF2-40B4-BE49-F238E27FC236}">
                <a16:creationId xmlns:a16="http://schemas.microsoft.com/office/drawing/2014/main" id="{6310D41F-AA25-B595-2E67-274ED86E8EE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2" name="Shape 36">
            <a:extLst>
              <a:ext uri="{FF2B5EF4-FFF2-40B4-BE49-F238E27FC236}">
                <a16:creationId xmlns:a16="http://schemas.microsoft.com/office/drawing/2014/main" id="{04FC39D4-AF33-9A13-B4BB-7BF38704EB41}"/>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13" name="Shape 59">
            <a:extLst>
              <a:ext uri="{FF2B5EF4-FFF2-40B4-BE49-F238E27FC236}">
                <a16:creationId xmlns:a16="http://schemas.microsoft.com/office/drawing/2014/main" id="{0D838070-28E0-7844-7B87-9CC6E5DC79D9}"/>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7" name="Shape 88">
            <a:extLst>
              <a:ext uri="{FF2B5EF4-FFF2-40B4-BE49-F238E27FC236}">
                <a16:creationId xmlns:a16="http://schemas.microsoft.com/office/drawing/2014/main" id="{BF047FFF-FD3A-83AB-B6A5-B1D64F67C5FF}"/>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7568268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0881644-71DA-0FD5-31A8-50845CB45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改善モデル③</a:t>
            </a:r>
          </a:p>
        </p:txBody>
      </p:sp>
      <p:sp>
        <p:nvSpPr>
          <p:cNvPr id="27" name="テキスト ボックス 26">
            <a:extLst>
              <a:ext uri="{FF2B5EF4-FFF2-40B4-BE49-F238E27FC236}">
                <a16:creationId xmlns:a16="http://schemas.microsoft.com/office/drawing/2014/main" id="{3E754129-4E82-ADF0-7762-6DB3D6C37869}"/>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90A62F05-90DB-BEFF-2CA5-AB5CBFB875BB}"/>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FEA37072-D446-4372-FBCF-FF05EAA5FFDB}"/>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68555E4-10E4-ED78-186D-F8BBA4ECA773}"/>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C655AFC2-F818-8CFC-48E3-29591E6CCBA4}"/>
              </a:ext>
            </a:extLst>
          </p:cNvPr>
          <p:cNvCxnSpPr>
            <a:cxnSpLocks/>
            <a:stCxn id="30" idx="0"/>
          </p:cNvCxnSpPr>
          <p:nvPr/>
        </p:nvCxnSpPr>
        <p:spPr>
          <a:xfrm rot="5400000" flipH="1" flipV="1">
            <a:off x="4270984" y="1720322"/>
            <a:ext cx="246792"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AE0E605C-24DB-D0F6-408E-DC91DFF126F2}"/>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024124EA-8A11-9089-D195-BFB58DD5068D}"/>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B87E9823-A3D2-CC28-7E59-EE124DBE7CAD}"/>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0E616C55-41AE-4E89-AA73-D23C6063BAC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4F6D876E-0365-432F-46BA-A5401006C46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3EE31941-0F5E-1E7C-269A-8F9D019765CF}"/>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5" name="Google Shape;752;p28">
            <a:extLst>
              <a:ext uri="{FF2B5EF4-FFF2-40B4-BE49-F238E27FC236}">
                <a16:creationId xmlns:a16="http://schemas.microsoft.com/office/drawing/2014/main" id="{98886420-FB53-2FB8-A09E-EB3FDE7308E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成約、購入等、企業としての売上・利益につなげる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5A50B78-E73B-4B44-EA42-3D987F8E8733}"/>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EDBFCB04-05B4-E4AC-12A0-CD0E81A2DC3C}"/>
              </a:ext>
            </a:extLst>
          </p:cNvPr>
          <p:cNvSpPr txBox="1"/>
          <p:nvPr/>
        </p:nvSpPr>
        <p:spPr>
          <a:xfrm>
            <a:off x="6119413" y="1832804"/>
            <a:ext cx="2352196" cy="34820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⑦マネタイズ</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成約</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7ACD6D34-5B12-71B8-0225-D9C053F55ED2}"/>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実際の購入・契約に関わるハードルを下げる</a:t>
            </a:r>
          </a:p>
        </p:txBody>
      </p:sp>
      <p:sp>
        <p:nvSpPr>
          <p:cNvPr id="214" name="正方形/長方形 213">
            <a:extLst>
              <a:ext uri="{FF2B5EF4-FFF2-40B4-BE49-F238E27FC236}">
                <a16:creationId xmlns:a16="http://schemas.microsoft.com/office/drawing/2014/main" id="{9B22DD71-4656-D5C5-DBDF-22BB0DC5C6FA}"/>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17BC1EF4-21DA-CE94-283E-846B9F001F36}"/>
              </a:ext>
            </a:extLst>
          </p:cNvPr>
          <p:cNvSpPr/>
          <p:nvPr/>
        </p:nvSpPr>
        <p:spPr>
          <a:xfrm>
            <a:off x="265419" y="2999768"/>
            <a:ext cx="4541216" cy="1600805"/>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B139C33D-7A13-4B90-506A-BD3D89DCB343}"/>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2D290F22-1E3B-8151-C419-A64914BDF65F}"/>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19C3AE76-E5E9-46FF-E31E-15492F60B623}"/>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不安解消</a:t>
            </a:r>
            <a:r>
              <a:rPr kumimoji="0" lang="en-US" altLang="ja-JP"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BOT</a:t>
            </a:r>
          </a:p>
        </p:txBody>
      </p:sp>
      <p:sp>
        <p:nvSpPr>
          <p:cNvPr id="224" name="Text 40">
            <a:extLst>
              <a:ext uri="{FF2B5EF4-FFF2-40B4-BE49-F238E27FC236}">
                <a16:creationId xmlns:a16="http://schemas.microsoft.com/office/drawing/2014/main" id="{F72D9597-CBE6-7729-EBB8-42A4EB56D3AC}"/>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チャットBOT</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申込前の不安をリアルタイム解消</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D4867974-A5DB-62BF-B56C-7B48EBD4FCD6}"/>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申込ページを複数回閲覧しているが踏み切れない層に「ご不明な点はありますか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とLINEからプッシュ</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解約できる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返金保証は</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効果はいつ出る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など頻出の不安をKW自動応答で即解消し申込フォームへ誘導</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28" name="Shape 42">
            <a:extLst>
              <a:ext uri="{FF2B5EF4-FFF2-40B4-BE49-F238E27FC236}">
                <a16:creationId xmlns:a16="http://schemas.microsoft.com/office/drawing/2014/main" id="{131B059A-8308-F9A4-4B71-FDED85A0F30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763DFBBD-2B1A-7385-B3C6-41AF5556E607}"/>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426BE58B-62E2-01C7-74C9-694E2A9CD289}"/>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A698A3A9-032A-DEE2-0FD2-AAF7EC37F195}"/>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複数LP閲覧を検知</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6CD14118-9279-776C-30F3-C63B5F00B503}"/>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確度：高として認定</a:t>
            </a:r>
            <a:endPar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endParaRPr>
          </a:p>
        </p:txBody>
      </p:sp>
      <p:sp>
        <p:nvSpPr>
          <p:cNvPr id="238" name="Text 47">
            <a:extLst>
              <a:ext uri="{FF2B5EF4-FFF2-40B4-BE49-F238E27FC236}">
                <a16:creationId xmlns:a16="http://schemas.microsoft.com/office/drawing/2014/main" id="{E675B87B-4A8E-ADF8-DADF-AA406110BF3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7E2CC952-E8D7-ECD4-395A-BE9452A2A487}"/>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AE59EEF6-CC45-015B-A9E5-8A7A937B56CA}"/>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C754A20D-10B5-62BF-4DDB-DE8127CF6F40}"/>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D244FC3B-C26B-1060-3973-384C3CC08ADD}"/>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不安ありますか</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9C10D7EA-6A29-74A3-5046-A7A5BA81CFEB}"/>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LINEからプッシュ</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9EC056C0-654F-C52F-62E6-8D47A6551C13}"/>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834935BC-F5E7-BAED-6E85-E07CBFE19550}"/>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6327123E-240D-2DFD-89A6-C68864B84618}"/>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0395E968-804F-D503-B217-5E6877EED965}"/>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1F68B74A-B629-3DFC-2CEE-48823841BEF3}"/>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KW自動応答→CV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31AA167F-1838-719F-81AA-E6D277EA6DCC}"/>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段階式自動応答で</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CV</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まで</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58EC588-B65C-48B3-4271-EDA2EA270201}"/>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1DCC50EF-FB92-09C8-A8AA-7A7EDB9B0146}"/>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46B3B6C-4902-BBA2-7F54-3C24433597F1}"/>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日程自動化</a:t>
            </a:r>
          </a:p>
        </p:txBody>
      </p:sp>
      <p:sp>
        <p:nvSpPr>
          <p:cNvPr id="268" name="Text 65">
            <a:extLst>
              <a:ext uri="{FF2B5EF4-FFF2-40B4-BE49-F238E27FC236}">
                <a16:creationId xmlns:a16="http://schemas.microsoft.com/office/drawing/2014/main" id="{43250F18-B2EB-58ED-89E5-9D277C0A5794}"/>
              </a:ext>
            </a:extLst>
          </p:cNvPr>
          <p:cNvSpPr/>
          <p:nvPr/>
        </p:nvSpPr>
        <p:spPr>
          <a:xfrm>
            <a:off x="1545579" y="4924581"/>
            <a:ext cx="3319066"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日程調整自動化で、検討前に商談確定</a:t>
            </a:r>
          </a:p>
        </p:txBody>
      </p:sp>
      <p:sp>
        <p:nvSpPr>
          <p:cNvPr id="270" name="Text 66">
            <a:extLst>
              <a:ext uri="{FF2B5EF4-FFF2-40B4-BE49-F238E27FC236}">
                <a16:creationId xmlns:a16="http://schemas.microsoft.com/office/drawing/2014/main" id="{251E5163-4BD4-2320-E1D0-DC825BC643E2}"/>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面談を希望します」と入力した瞬間にカレンダー連携で候補日程を自動提示→タップで選択→確定通知＋リマインドを自動送付。「後で連絡します」のやり取りで冷めるのを防ぎ、温度感が高いまま商談へ。</a:t>
            </a:r>
          </a:p>
        </p:txBody>
      </p:sp>
      <p:sp>
        <p:nvSpPr>
          <p:cNvPr id="272" name="Shape 68">
            <a:extLst>
              <a:ext uri="{FF2B5EF4-FFF2-40B4-BE49-F238E27FC236}">
                <a16:creationId xmlns:a16="http://schemas.microsoft.com/office/drawing/2014/main" id="{971EF85D-2530-7E85-695D-21576E3399C6}"/>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C61543A0-6CA4-B8A9-BABF-E3F296767C9F}"/>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711A428D-8DE9-E0B6-1327-82CC5DEC5364}"/>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A6F2A656-9918-5CCF-081B-90932FB7B31A}"/>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939DCB1A-68BA-D577-ECE4-D4DFF019EA70}"/>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85D30E2A-FEB3-5FD0-BE47-D36B7C7ADC4B}"/>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面談希望」入力</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1D748291-A5CD-A534-775B-B4EBF567F665}"/>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即・日程提示</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6D85AEBA-8759-4590-2BD5-991827894447}"/>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32D27DAD-D2AF-DBAD-F818-E996C478DEC9}"/>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638800F5-D582-38D9-A3E4-C35550FAF43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4FE98861-5470-BC0D-C54A-2F4F47BBE9E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12FEA545-2A73-5AFD-1BD2-9F4325BD29F7}"/>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タップで日程確定</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092A8A0A-B8FB-B1A7-1FCB-9EA219E6BFDE}"/>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メール往復ゼロ</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95A046B-C53A-FDCE-5111-F5834D0CA584}"/>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19A246E9-D30A-1092-6D5A-555407259AB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9CFB5A33-6601-FA88-5E14-AD083E8A974F}"/>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115C0B2B-98C8-8B25-3BBF-1156626D6C87}"/>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A407CA47-3CF8-760D-6BA8-0DF95F970630}"/>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リマインド自動送付</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4168941F-0BBB-6115-B5E7-6928BD42FC99}"/>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ドタキャン率低下</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25BA7DFC-080F-45BC-1CEB-0E2FA1036911}"/>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05737E4A-7E87-3F90-A1F5-285284CA80FB}"/>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29C5B70-F57E-D134-7E8F-7689219DE10A}"/>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体験談配信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FCC6DF42-A77D-8CE5-0ECF-48B3E50916B0}"/>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利用イメージ</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で利用想起</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C1491931-3BA8-2594-BE3C-4EBDCD6864BF}"/>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申込を迷っているユーザーに「〇〇を始めて3ヶ月の方の今」「先輩ユーザーの1週間スケジュール」などリアルな体験談をLINEで定期配信。「</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買った後どうなるか」の不安を、実際のユーザー事例で解消する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9114BF09-7036-90AC-D9C8-0C172510E7C2}"/>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1382F6BB-3947-2399-C34B-C78B6937D2D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7CAD0DE0-345C-F621-25D3-89CEBC9C59EB}"/>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488ED467-36DE-30E3-BF80-C9BE8B1CF783}"/>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体験談コンテンツ</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49A04842-DDE9-37E6-1E8D-79BF82BE9FA9}"/>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写真・動画・レポート</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5E2DEEEF-3ABB-D51C-CB78-AD0E64E26029}"/>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583FCA0F-3FAB-2529-936B-557E5CDD8BFF}"/>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46DA626B-859D-0A40-A6EC-EBD75A52A80D}"/>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751B80C7-91E9-70BD-A17B-7A4E723D4D8C}"/>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A7ABE51D-147A-4B8A-9A19-112FACBFFA1D}"/>
              </a:ext>
            </a:extLst>
          </p:cNvPr>
          <p:cNvSpPr/>
          <p:nvPr/>
        </p:nvSpPr>
        <p:spPr>
          <a:xfrm>
            <a:off x="6873303" y="4114575"/>
            <a:ext cx="914400" cy="182880"/>
          </a:xfrm>
          <a:prstGeom prst="rect">
            <a:avLst/>
          </a:prstGeom>
          <a:noFill/>
          <a:ln/>
        </p:spPr>
        <p:txBody>
          <a:bodyPr wrap="square" lIns="0" tIns="0" rIns="0" bIns="0" rtlCol="0" anchor="ctr"/>
          <a:lstStyle/>
          <a:p>
            <a:r>
              <a:rPr lang="ja-JP" altLang="en-US" sz="850" dirty="0">
                <a:latin typeface="メイリオ" panose="020B0604030504040204" pitchFamily="50" charset="-128"/>
                <a:ea typeface="メイリオ" panose="020B0604030504040204" pitchFamily="50" charset="-128"/>
              </a:rPr>
              <a:t>不安払しょく</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318494AB-2707-1129-BA71-E24AAAEEA5FA}"/>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購入後イメージ醸成</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D2A81EF1-BC58-1253-ECD2-53DF3B40891F}"/>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0417CEED-7C17-F2CD-95E5-6BA2C686EE12}"/>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BE5D8431-CA60-5904-8740-E1668BC7E91C}"/>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DE57ABB2-07C3-A007-67C2-E95C551B1B58}"/>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94D9AB7C-B1F7-BB2D-6801-2EC11474714E}"/>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申込前ユーザーCV</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FD2DA1A7-F345-DFC3-8751-889A3BEA99AB}"/>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安心して申込めた</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A3968D0A-D5A3-B6DF-A4E1-5C8230BDD229}"/>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D69FAC34-5229-FB00-C4A2-B94AD64E02AC}"/>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2DF5057F-5690-994B-B840-B9A70C3615E5}"/>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C6CDBA0C-C4AB-DB49-4D97-5F4E1FADE225}"/>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フロー事前案内でキャンセル率を激減させる</a:t>
            </a:r>
            <a:endParaRPr lang="en-US" altLang="ja-JP" sz="1100" dirty="0">
              <a:latin typeface="メイリオ" panose="020B0604030504040204" pitchFamily="50" charset="-128"/>
              <a:ea typeface="メイリオ" panose="020B0604030504040204" pitchFamily="50" charset="-128"/>
            </a:endParaRPr>
          </a:p>
        </p:txBody>
      </p:sp>
      <p:sp>
        <p:nvSpPr>
          <p:cNvPr id="362" name="Text 120">
            <a:extLst>
              <a:ext uri="{FF2B5EF4-FFF2-40B4-BE49-F238E27FC236}">
                <a16:creationId xmlns:a16="http://schemas.microsoft.com/office/drawing/2014/main" id="{BD5402DC-C1D0-29CE-40A9-BA86E6FF6BAD}"/>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完了後すぐにLINEで「当日の流れをお伝えします」を送付。所要時間・準備するもの・スタッフの到着時間・終了後の対応まで全て事前案内する。不安が解消されると「楽しみに待てる」状態になりキャンセル・ドタキャンが激減。</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EC4E379D-5E50-776A-B55F-BD46A9652992}"/>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46F28470-9DDC-A1C0-44ED-C1A38232636F}"/>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6E320849-A3F7-A150-79AA-9261937FECF2}"/>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16CF1DC5-D3CD-E50F-B7D5-B1647AD8426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申込完了直後</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13B785A9-AE07-65EA-5E5C-8F6B908562CF}"/>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当日フロー自動送付</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396E4066-71DA-8649-8C5F-BDFFC56B7F3A}"/>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9B006DA7-6196-F8F6-970F-DC9C2663876A}"/>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6F508C7C-1181-D6F1-04E3-871D86B1A7F3}"/>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50E830AA-3612-B666-F090-99534DF142A9}"/>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CAB1B380-D7B7-197D-641E-1FDD0F2113B6}"/>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不安ゼロで待機</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0ED63B1C-3E6C-4055-2FDE-C901EA2E281E}"/>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アフターフォロー期待</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A7504597-DAE8-7BD5-E427-59FE3F3330B0}"/>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57656A25-7392-A4F8-42FF-0AAD35DAB96A}"/>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01509C7-F9AC-D612-CC39-58640601C006}"/>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4BF6839F-2873-F373-446B-2181CDBE0B5C}"/>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0E9F188B-90C4-31AB-2701-03D1FF2CC694}"/>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C8404977-9DAC-F0B8-336A-CAD39A2D9574}"/>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E1A706A9-2858-6B94-F554-D7AF99876505}"/>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4310345B-A0A0-5528-0149-1158E742747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1F298478-02C0-26AD-DD18-2A5F883779BB}"/>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6" name="Shape 59">
            <a:extLst>
              <a:ext uri="{FF2B5EF4-FFF2-40B4-BE49-F238E27FC236}">
                <a16:creationId xmlns:a16="http://schemas.microsoft.com/office/drawing/2014/main" id="{6B769AD0-A25C-5581-5EDD-43D23F542EE9}"/>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3" name="Shape 88">
            <a:extLst>
              <a:ext uri="{FF2B5EF4-FFF2-40B4-BE49-F238E27FC236}">
                <a16:creationId xmlns:a16="http://schemas.microsoft.com/office/drawing/2014/main" id="{39E53043-2B3B-6947-E0A2-0E82BEC7F188}"/>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7743960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D1EA046-6B24-6F8B-072F-C58606586D2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改善モデル④</a:t>
            </a:r>
          </a:p>
        </p:txBody>
      </p:sp>
      <p:sp>
        <p:nvSpPr>
          <p:cNvPr id="9" name="正方形/長方形 8">
            <a:extLst>
              <a:ext uri="{FF2B5EF4-FFF2-40B4-BE49-F238E27FC236}">
                <a16:creationId xmlns:a16="http://schemas.microsoft.com/office/drawing/2014/main" id="{4CC6B560-F63A-0124-FC5F-88DB86F5E043}"/>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5D31B060-8732-8226-E996-E5CD8768DC86}"/>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リピート率、クロスセル率、客単価を改善し、</a:t>
            </a:r>
            <a:r>
              <a:rPr lang="en-US" altLang="ja-JP" sz="1600" b="1" dirty="0">
                <a:latin typeface="メイリオ" panose="020B0604030504040204" pitchFamily="50" charset="-128"/>
                <a:ea typeface="メイリオ" panose="020B0604030504040204" pitchFamily="50" charset="-128"/>
                <a:cs typeface="Meiryo"/>
                <a:sym typeface="Meiryo"/>
              </a:rPr>
              <a:t>LTV</a:t>
            </a:r>
            <a:r>
              <a:rPr lang="ja-JP" altLang="en-US" sz="1600" b="1" dirty="0">
                <a:latin typeface="メイリオ" panose="020B0604030504040204" pitchFamily="50" charset="-128"/>
                <a:ea typeface="メイリオ" panose="020B0604030504040204" pitchFamily="50" charset="-128"/>
                <a:cs typeface="Meiryo"/>
                <a:sym typeface="Meiryo"/>
              </a:rPr>
              <a:t>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1" name="テキスト ボックス 20">
            <a:extLst>
              <a:ext uri="{FF2B5EF4-FFF2-40B4-BE49-F238E27FC236}">
                <a16:creationId xmlns:a16="http://schemas.microsoft.com/office/drawing/2014/main" id="{A963DBCC-3129-4694-2516-D42EB1CB36A7}"/>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640F53FA-21E2-6B03-27CB-8DE09650F7F7}"/>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CD6F3969-7970-ED78-97A1-E18A646DC413}"/>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DE48F05F-518B-8B69-CAE4-9FC447A9510C}"/>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D5D38C1D-8C53-09C4-237B-4FFBFD65D619}"/>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13FD3000-99FD-4540-2B87-0D726E46FCA6}"/>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27A03507-5C3E-DF3F-18DA-D429C2C2869A}"/>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3A508995-2791-7443-0604-9D0C327CA4C2}"/>
              </a:ext>
            </a:extLst>
          </p:cNvPr>
          <p:cNvCxnSpPr>
            <a:cxnSpLocks/>
            <a:stCxn id="30" idx="0"/>
            <a:endCxn id="21" idx="2"/>
          </p:cNvCxnSpPr>
          <p:nvPr/>
        </p:nvCxnSpPr>
        <p:spPr>
          <a:xfrm rot="5400000" flipH="1" flipV="1">
            <a:off x="4282287" y="178957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正方形/長方形 4">
            <a:extLst>
              <a:ext uri="{FF2B5EF4-FFF2-40B4-BE49-F238E27FC236}">
                <a16:creationId xmlns:a16="http://schemas.microsoft.com/office/drawing/2014/main" id="{83A147CB-7405-2DCF-1F21-0B8337012B0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F635E64C-0D36-F30F-0A02-3BAB66350C2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6E52B63D-D41D-D127-AC66-256E2241FC5B}"/>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0" name="テキスト ボックス 9">
            <a:extLst>
              <a:ext uri="{FF2B5EF4-FFF2-40B4-BE49-F238E27FC236}">
                <a16:creationId xmlns:a16="http://schemas.microsoft.com/office/drawing/2014/main" id="{94C6D99A-720E-C67C-F0D7-BCC4F523B05A}"/>
              </a:ext>
            </a:extLst>
          </p:cNvPr>
          <p:cNvSpPr txBox="1"/>
          <p:nvPr/>
        </p:nvSpPr>
        <p:spPr>
          <a:xfrm>
            <a:off x="7408050" y="2033054"/>
            <a:ext cx="2352196" cy="400110"/>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a:t>
            </a:r>
            <a:r>
              <a:rPr lang="en-US" altLang="ja-JP" sz="1100" b="1" dirty="0">
                <a:solidFill>
                  <a:schemeClr val="bg1"/>
                </a:solidFill>
                <a:latin typeface="メイリオ" panose="020B0604030504040204" pitchFamily="50" charset="-128"/>
                <a:ea typeface="メイリオ" panose="020B0604030504040204" pitchFamily="50" charset="-128"/>
              </a:rPr>
              <a:t>LTV</a:t>
            </a:r>
            <a:r>
              <a:rPr lang="ja-JP" altLang="en-US" sz="1100" b="1" dirty="0">
                <a:solidFill>
                  <a:schemeClr val="bg1"/>
                </a:solidFill>
                <a:latin typeface="メイリオ" panose="020B0604030504040204" pitchFamily="50" charset="-128"/>
                <a:ea typeface="メイリオ" panose="020B0604030504040204" pitchFamily="50" charset="-128"/>
              </a:rPr>
              <a:t>最大化・紹介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endParaRPr lang="ja-JP" altLang="ja-JP" sz="9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EBFE876B-88B7-8368-241B-4213AC327DEF}"/>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latin typeface="メイリオ" panose="020B0604030504040204" pitchFamily="50" charset="-128"/>
                <a:ea typeface="メイリオ" panose="020B0604030504040204" pitchFamily="50" charset="-128"/>
              </a:rPr>
              <a:t>属性把握により最適なタイミング・サービスラインを提示</a:t>
            </a:r>
          </a:p>
        </p:txBody>
      </p:sp>
      <p:sp>
        <p:nvSpPr>
          <p:cNvPr id="214" name="正方形/長方形 213">
            <a:extLst>
              <a:ext uri="{FF2B5EF4-FFF2-40B4-BE49-F238E27FC236}">
                <a16:creationId xmlns:a16="http://schemas.microsoft.com/office/drawing/2014/main" id="{BC37FCD9-3298-5435-6B9C-3FDC96F4BED5}"/>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031543C4-0BBC-6209-20D0-2EFA2FCEF86D}"/>
              </a:ext>
            </a:extLst>
          </p:cNvPr>
          <p:cNvSpPr/>
          <p:nvPr/>
        </p:nvSpPr>
        <p:spPr>
          <a:xfrm>
            <a:off x="265419" y="2999768"/>
            <a:ext cx="4541216" cy="1600805"/>
          </a:xfrm>
          <a:prstGeom prst="roundRect">
            <a:avLst>
              <a:gd name="adj" fmla="val 8000"/>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101BD496-9F8B-4FB2-A6BB-61070F561E0B}"/>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C11A3E69-9E4D-9846-409E-E9A711BD995E}"/>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9A2D9F28-CC07-BFBF-1F09-849BDDAE374B}"/>
              </a:ext>
            </a:extLst>
          </p:cNvPr>
          <p:cNvSpPr/>
          <p:nvPr/>
        </p:nvSpPr>
        <p:spPr>
          <a:xfrm>
            <a:off x="686043" y="3109497"/>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クロスセル配信</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24" name="Text 40">
            <a:extLst>
              <a:ext uri="{FF2B5EF4-FFF2-40B4-BE49-F238E27FC236}">
                <a16:creationId xmlns:a16="http://schemas.microsoft.com/office/drawing/2014/main" id="{E07A6550-E043-DAC7-D1DE-2F58496625C9}"/>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アップグレード提案で客単価を向上</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8B380EA5-B628-C9F7-AB4A-470FADCA002E}"/>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利用量・頻度タグを活用して「よく使っている層」に上位プラン・関連サービスを自動配信。「今のプランより月〇〇円で〇〇が追加できます」という具体的メリット提示が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CVR</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を高める。満足度が高い購入後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3</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ヶ月が最適タイミング。</a:t>
            </a:r>
          </a:p>
        </p:txBody>
      </p:sp>
      <p:sp>
        <p:nvSpPr>
          <p:cNvPr id="228" name="Shape 42">
            <a:extLst>
              <a:ext uri="{FF2B5EF4-FFF2-40B4-BE49-F238E27FC236}">
                <a16:creationId xmlns:a16="http://schemas.microsoft.com/office/drawing/2014/main" id="{9B4B4FC2-ABA9-EE54-2AE8-6D8B446B20FF}"/>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B6DB6636-0D01-AC92-D361-5BB4DD706048}"/>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AA004DDF-312A-3679-2F4A-C0D702FDE201}"/>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8C971CE9-8DC5-3C5A-C74E-473D1EEF0A37}"/>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利用状況タグ付与</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BDCB6CBA-6BE0-0029-00B8-F3E8C622531C}"/>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高頻度ユーザー特定</a:t>
            </a:r>
            <a:endParaRPr lang="en-US" altLang="ja-JP" sz="750" dirty="0">
              <a:latin typeface="メイリオ" panose="020B0604030504040204" pitchFamily="50" charset="-128"/>
              <a:ea typeface="メイリオ" panose="020B0604030504040204" pitchFamily="50" charset="-128"/>
            </a:endParaRPr>
          </a:p>
        </p:txBody>
      </p:sp>
      <p:sp>
        <p:nvSpPr>
          <p:cNvPr id="238" name="Text 47">
            <a:extLst>
              <a:ext uri="{FF2B5EF4-FFF2-40B4-BE49-F238E27FC236}">
                <a16:creationId xmlns:a16="http://schemas.microsoft.com/office/drawing/2014/main" id="{1D84C63C-EF83-B3FE-DA12-C6FED620F69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0BE03B95-9AB7-E6ED-2E78-10CF317A876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1E6CCFE3-96DE-0131-BB9B-0F2313B82CFB}"/>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5E69FB79-6A36-8814-5961-E84046021AAC}"/>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4EBEE041-7A21-6197-B2AC-4D081A8E8AD0}"/>
              </a:ext>
            </a:extLst>
          </p:cNvPr>
          <p:cNvSpPr/>
          <p:nvPr/>
        </p:nvSpPr>
        <p:spPr>
          <a:xfrm>
            <a:off x="2039355" y="4114575"/>
            <a:ext cx="914400" cy="182880"/>
          </a:xfrm>
          <a:prstGeom prst="rect">
            <a:avLst/>
          </a:prstGeom>
          <a:noFill/>
          <a:ln/>
        </p:spPr>
        <p:txBody>
          <a:bodyPr wrap="square" lIns="0" tIns="0" rIns="0" bIns="0" rtlCol="0" anchor="ctr"/>
          <a:lstStyle/>
          <a:p>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アップセル</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提案</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07AD15D9-CD6F-2D3C-CC15-71235D18482D}"/>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具体的金額＋メリット</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8ECA8D7C-C4A5-C970-D4A6-A16EF6F3350C}"/>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B12A5926-50A5-13EB-6415-C90901191CBD}"/>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2700C358-B913-5B66-30B3-A247A5CFA965}"/>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25DAB092-6EC6-4374-F29D-D2E43E4B9FEB}"/>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9DFA3811-543F-B130-C558-9F98D1BDCE28}"/>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7A46B590-0C64-FEE3-0E7C-7EA298F486A3}"/>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客単価</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 -- %向上</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7831C21-2DE0-1603-B120-3BAF591E685E}"/>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E0489255-B5B1-35CB-C8E0-D92F3D34C15B}"/>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5D18941-826F-30A6-3AA3-251341CB9EB1}"/>
              </a:ext>
            </a:extLst>
          </p:cNvPr>
          <p:cNvSpPr/>
          <p:nvPr/>
        </p:nvSpPr>
        <p:spPr>
          <a:xfrm>
            <a:off x="686043" y="4952013"/>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紹介キャンペーン</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68" name="Text 65">
            <a:extLst>
              <a:ext uri="{FF2B5EF4-FFF2-40B4-BE49-F238E27FC236}">
                <a16:creationId xmlns:a16="http://schemas.microsoft.com/office/drawing/2014/main" id="{46A7ADAB-7FB3-0E5E-A98A-5FA74D2FF19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紹介キャンペーン</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の誘導</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設計でゼロコスト新規獲得</a:t>
            </a:r>
            <a:endParaRPr lang="en-US" altLang="ja-JP" sz="1100" dirty="0">
              <a:latin typeface="メイリオ" panose="020B0604030504040204" pitchFamily="50" charset="-128"/>
              <a:ea typeface="メイリオ" panose="020B0604030504040204" pitchFamily="50" charset="-128"/>
            </a:endParaRPr>
          </a:p>
        </p:txBody>
      </p:sp>
      <p:sp>
        <p:nvSpPr>
          <p:cNvPr id="270" name="Text 66">
            <a:extLst>
              <a:ext uri="{FF2B5EF4-FFF2-40B4-BE49-F238E27FC236}">
                <a16:creationId xmlns:a16="http://schemas.microsoft.com/office/drawing/2014/main" id="{730ECA19-26DA-232F-404E-DBF02F6BA8B1}"/>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お友達をご紹介いただいた方にAmazonギフト</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○○円プレゼント」をLINEで配信。満足度が最も高い利用開始3ヶ月後が最適タイミング。紹介ユーザーのLTVは通常ユーザーの1.5〜2倍で広告比CPA1/5〜1/10。</a:t>
            </a:r>
            <a:endParaRPr lang="en-US" altLang="ja-JP" sz="850" dirty="0">
              <a:latin typeface="メイリオ" panose="020B0604030504040204" pitchFamily="50" charset="-128"/>
              <a:ea typeface="メイリオ" panose="020B0604030504040204" pitchFamily="50" charset="-128"/>
            </a:endParaRPr>
          </a:p>
        </p:txBody>
      </p:sp>
      <p:sp>
        <p:nvSpPr>
          <p:cNvPr id="272" name="Shape 68">
            <a:extLst>
              <a:ext uri="{FF2B5EF4-FFF2-40B4-BE49-F238E27FC236}">
                <a16:creationId xmlns:a16="http://schemas.microsoft.com/office/drawing/2014/main" id="{462FA3CD-674C-EF8C-8AE8-10A144147A63}"/>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11F7B611-A14B-627C-5FBB-0170B886D5EA}"/>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C99449D4-E546-985F-BE72-933F1694A4F7}"/>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164235F1-23EF-1248-60B7-999A0B29AA4D}"/>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12B0160C-FE2A-C7A4-E0AD-74F3D0F9BB4B}"/>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5E79EB16-FC89-25AD-ABF7-33918A2FDFC6}"/>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紹介特典を配信</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64C81502-47D8-FD41-CAA1-246D2A7C55F4}"/>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満足度高い3ヶ月後</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DDBCEA73-1ED9-CA4D-8311-CAF89AE71249}"/>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4A9CE2B6-4FF8-B0CB-C568-0E29CCB25364}"/>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FB713A24-D0F7-6DC1-B787-27EFB8E42CD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37FF5E38-4F70-1C68-3580-FD6C0D20C5D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5C71A4A8-6960-FBE7-CE24-A77A0C89DFFD}"/>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LINEシェア</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F823702E-E3FF-CBCE-0A20-E5381533CBF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心理ハードル最低</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83E74AB-BECE-59CE-D634-A3A5C9A361C9}"/>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B99E233A-6870-51BA-7438-99DBD2BE03C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14136A19-FB98-4163-504D-27BC3C347109}"/>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B1261818-8213-92C4-5F69-CDB1FEED7D6B}"/>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2F5670AB-004B-F8FE-78FA-0194BCE83E05}"/>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紹介経由＋特典付与</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DC6BE138-921D-A694-0DAC-F5A995A4F15D}"/>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ツール連携で自動追跡</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00EA83A8-D640-D726-5B4E-5B7E5CC8BB06}"/>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2ED50188-C3E8-671B-437B-FE9D09CB0C8A}"/>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6E39E70-FE8A-DE23-0A39-4AE1241BE1A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再接触</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2B080416-8CAA-F775-2812-CDE294817703}"/>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長期離脱</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層</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へコンテンツ型ギフトで関係再構築</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56FA365B-5BDE-ED2F-4006-8ED9F6DCA2CB}"/>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6ヶ月以上アクションなしのユーザーに「ご無沙汰しています。最近こんな情報があります」という業界ニュース・役立つコンテンツ型で再接触。最初の2〜3回は純粋にギフトとして届け、関係を再構築してからCV訴求する。</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1E05EEB3-91EB-E94B-2D69-D35527B446BF}"/>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BA904CD8-501F-A1E3-D3ED-D2CCD783E4DC}"/>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35DBBF69-D787-B899-0A91-599E4F6F88FD}"/>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571F5D58-D9F5-DDDB-BBA8-754874B6BA6A}"/>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役立つ情報のみ</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ED413E21-4A95-D38C-61A6-621C9118C6E5}"/>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売り込みゼロ×2〜3回</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CCFB2388-34C1-5BB1-7989-946A3B745B6A}"/>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F8446415-1501-E693-C4B3-EB8C32C67E45}"/>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A98E62F3-DFAB-3380-0063-854CD3B54274}"/>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415DB8B7-F668-AC7A-CE33-494F03854BD4}"/>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FA1DC66E-AF0D-0985-0802-20D85E926CA0}"/>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関係再構築完了</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4D8603BB-BC34-BD19-18F7-38CF49867740}"/>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ブロック率を抑制</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588E7835-072B-748B-58F3-CA6AFC64CEFD}"/>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4F170C42-630C-8D4B-FBB8-27015876762A}"/>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4949CD92-D7C3-604E-24C2-5DF64D165947}"/>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89D2F0E4-B8EC-3B98-9281-44E80C6C2F05}"/>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86FADA7D-7380-B2D4-BB29-67FA3FF02D03}"/>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自然な形でCV訴求</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281ABCCF-C22A-E77A-4B67-210FD1F78104}"/>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再購入率10%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前後</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971278A0-D337-07E8-607D-BF93BE0DD844}"/>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F47773F9-0CEF-F0E1-89AB-B3B4EFC203DB}"/>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5E262051-72BB-2E2F-38AC-EAC107F4BF2D}"/>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E3B15F81-AADD-9921-7172-C1CD99BDF110}"/>
              </a:ext>
            </a:extLst>
          </p:cNvPr>
          <p:cNvSpPr/>
          <p:nvPr/>
        </p:nvSpPr>
        <p:spPr>
          <a:xfrm>
            <a:off x="6379526" y="4924581"/>
            <a:ext cx="3480635"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誕生日記念日タグ </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パーソナライズ配信で</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LTV</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向上</a:t>
            </a:r>
          </a:p>
        </p:txBody>
      </p:sp>
      <p:sp>
        <p:nvSpPr>
          <p:cNvPr id="362" name="Text 120">
            <a:extLst>
              <a:ext uri="{FF2B5EF4-FFF2-40B4-BE49-F238E27FC236}">
                <a16:creationId xmlns:a16="http://schemas.microsoft.com/office/drawing/2014/main" id="{5D40B60F-5F09-DB2E-8DFF-C187AC234EEE}"/>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誕生日・入学記念日を記念日タグとして登録し</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様、今日はご誕生日おめでとうございます。特別クーポンをお贈りします」を自動配信</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。「自分のことを覚えてくれている」体験がロイヤリティを高め在学中の接点が途切れにくくなる。</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6D87E532-2B58-F1E3-5364-68322B8546E8}"/>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D091E1D9-CAC7-E7FA-4AE7-10C04B5FA5B7}"/>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91206034-9E2C-FBA8-B2C3-24856EE4B44C}"/>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96A70C8C-D3D2-8BAD-7C6C-DDACC0B79B3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記念日タグを設定</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C7DCCB91-2446-504F-DB21-38DC9E40A99E}"/>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誕生日・入学日等</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1F4F8BB1-7C46-CFAC-4A82-3A92CFDC15EE}"/>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2D872CE0-C558-B33C-59A0-3B8B41F4DCBB}"/>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356DDE33-7381-CEF0-7015-298C11EB34FA}"/>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EE6BBEAB-1160-1953-0E09-D30313ED9406}"/>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F035AA22-D856-8317-F313-F0B2385E993B}"/>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特別オファ</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ー</a:t>
            </a:r>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5E7101A0-55A9-D99A-CD95-05335CAC2992}"/>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完全自動・スタッフゼロ</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EB31AD4D-43BF-8F45-39CD-B0337D31809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9D865312-D619-1BB5-483D-A496A7C19C36}"/>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6902040-0093-C584-7CD4-3A8474835775}"/>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FB44CA82-5B08-B387-57C3-88F14FCA18B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85A4EC17-97B2-BCD7-FCE3-303E8114491D}"/>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F48F4888-D926-9901-DE92-103FA2FF00EB}"/>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0734E444-168A-89C6-D964-38759E540BCB}"/>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B45D359F-4CA9-C051-F58B-E1296B6FBFE4}"/>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8EA02CFD-BE47-AC79-7F8B-5F9B8FB2B494}"/>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8" name="Shape 59">
            <a:extLst>
              <a:ext uri="{FF2B5EF4-FFF2-40B4-BE49-F238E27FC236}">
                <a16:creationId xmlns:a16="http://schemas.microsoft.com/office/drawing/2014/main" id="{906437AE-A1AC-C85D-0C78-A58EF8AC7546}"/>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2" name="Shape 88">
            <a:extLst>
              <a:ext uri="{FF2B5EF4-FFF2-40B4-BE49-F238E27FC236}">
                <a16:creationId xmlns:a16="http://schemas.microsoft.com/office/drawing/2014/main" id="{BBB2E958-CD66-B60F-6B1C-02CC16969C76}"/>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2997255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導入成果シミュレーション（Before / After）</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デジタル募集広報費 年1,000万円は据え置き。追加するのはLINE運用費 年360万円のみ。</a:t>
            </a:r>
          </a:p>
          <a:p>
            <a:pPr algn="l">
              <a:lnSpc>
                <a:spcPct val="122000"/>
              </a:lnSpc>
            </a:pPr>
            <a:r>
              <a:rPr sz="1500">
                <a:solidFill>
                  <a:srgbClr val="646C82"/>
                </a:solidFill>
                <a:latin typeface="メイリオ"/>
                <a:ea typeface="メイリオ"/>
                <a:cs typeface="メイリオ"/>
              </a:rPr>
              <a:t>モデル校＝私立大学・入学定員600名・現在の入学者480名（充足率80%）。</a:t>
            </a:r>
          </a:p>
        </p:txBody>
      </p:sp>
      <p:graphicFrame>
        <p:nvGraphicFramePr>
          <p:cNvPr id="4" name="Table 3"/>
          <p:cNvGraphicFramePr>
            <a:graphicFrameLocks noGrp="1"/>
          </p:cNvGraphicFramePr>
          <p:nvPr/>
        </p:nvGraphicFramePr>
        <p:xfrm>
          <a:off x="396000" y="1224000"/>
          <a:ext cx="9144000" cy="3830400"/>
        </p:xfrm>
        <a:graphic>
          <a:graphicData uri="http://schemas.openxmlformats.org/drawingml/2006/table">
            <a:tbl>
              <a:tblPr firstRow="1" bandRow="1">
                <a:tableStyleId>{5C22544A-7EE6-4342-B048-85BDC9FD1C3A}</a:tableStyleId>
              </a:tblPr>
              <a:tblGrid>
                <a:gridCol w="3024000"/>
                <a:gridCol w="2880000"/>
                <a:gridCol w="3240000"/>
              </a:tblGrid>
              <a:tr h="273600">
                <a:tc>
                  <a:txBody>
                    <a:bodyPr wrap="square" lIns="50400" rIns="50400" tIns="10800" bIns="10800" anchor="ctr"/>
                    <a:lstStyle/>
                    <a:p>
                      <a:pPr algn="l"/>
                      <a:r>
                        <a:rPr sz="1200" b="1">
                          <a:solidFill>
                            <a:srgbClr val="FFFFFF"/>
                          </a:solidFill>
                          <a:latin typeface="メイリオ"/>
                          <a:ea typeface="メイリオ"/>
                          <a:cs typeface="メイリオ"/>
                        </a:rPr>
                        <a:t>指標</a:t>
                      </a:r>
                    </a:p>
                  </a:txBody>
                  <a:tcPr anchor="ctr">
                    <a:solidFill>
                      <a:srgbClr val="1F285A"/>
                    </a:solidFill>
                  </a:tcPr>
                </a:tc>
                <a:tc>
                  <a:txBody>
                    <a:bodyPr wrap="square" lIns="50400" rIns="50400" tIns="10800" bIns="10800" anchor="ctr"/>
                    <a:lstStyle/>
                    <a:p>
                      <a:pPr algn="r"/>
                      <a:r>
                        <a:rPr sz="1200" b="1">
                          <a:solidFill>
                            <a:srgbClr val="FFFFFF"/>
                          </a:solidFill>
                          <a:latin typeface="メイリオ"/>
                          <a:ea typeface="メイリオ"/>
                          <a:cs typeface="メイリオ"/>
                        </a:rPr>
                        <a:t>Before（Web広告のみ）</a:t>
                      </a:r>
                    </a:p>
                  </a:txBody>
                  <a:tcPr anchor="ctr">
                    <a:solidFill>
                      <a:srgbClr val="1F285A"/>
                    </a:solidFill>
                  </a:tcPr>
                </a:tc>
                <a:tc>
                  <a:txBody>
                    <a:bodyPr wrap="square" lIns="50400" rIns="50400" tIns="10800" bIns="10800" anchor="ctr"/>
                    <a:lstStyle/>
                    <a:p>
                      <a:pPr algn="r"/>
                      <a:r>
                        <a:rPr sz="1200" b="1">
                          <a:solidFill>
                            <a:srgbClr val="FFFFFF"/>
                          </a:solidFill>
                          <a:latin typeface="メイリオ"/>
                          <a:ea typeface="メイリオ"/>
                          <a:cs typeface="メイリオ"/>
                        </a:rPr>
                        <a:t>After（Web広告 × LINE OA）</a:t>
                      </a:r>
                    </a:p>
                  </a:txBody>
                  <a:tcPr anchor="ctr">
                    <a:solidFill>
                      <a:srgbClr val="1F285A"/>
                    </a:solidFill>
                  </a:tcPr>
                </a:tc>
              </a:tr>
              <a:tr h="273600">
                <a:tc>
                  <a:txBody>
                    <a:bodyPr wrap="square" lIns="50400" rIns="50400" tIns="10800" bIns="10800" anchor="ctr"/>
                    <a:lstStyle/>
                    <a:p>
                      <a:pPr algn="l"/>
                      <a:r>
                        <a:rPr sz="1100">
                          <a:solidFill>
                            <a:srgbClr val="1C2233"/>
                          </a:solidFill>
                          <a:latin typeface="メイリオ"/>
                          <a:ea typeface="メイリオ"/>
                          <a:cs typeface="メイリオ"/>
                        </a:rPr>
                        <a:t>投下計（広告費＋LINE運用費）</a:t>
                      </a:r>
                    </a:p>
                  </a:txBody>
                  <a:tcPr anchor="ctr">
                    <a:solidFill>
                      <a:srgbClr val="FFFFFF"/>
                    </a:solidFill>
                  </a:tcPr>
                </a:tc>
                <a:tc>
                  <a:txBody>
                    <a:bodyPr wrap="square" lIns="50400" rIns="50400" tIns="10800" bIns="10800" anchor="ctr"/>
                    <a:lstStyle/>
                    <a:p>
                      <a:pPr algn="r"/>
                      <a:r>
                        <a:rPr sz="1100">
                          <a:solidFill>
                            <a:srgbClr val="1C2233"/>
                          </a:solidFill>
                          <a:latin typeface="メイリオ"/>
                          <a:ea typeface="メイリオ"/>
                          <a:cs typeface="メイリオ"/>
                        </a:rPr>
                        <a:t>1,000万円</a:t>
                      </a:r>
                    </a:p>
                  </a:txBody>
                  <a:tcPr anchor="ctr">
                    <a:solidFill>
                      <a:srgbClr val="FFFFFF"/>
                    </a:solidFill>
                  </a:tcPr>
                </a:tc>
                <a:tc>
                  <a:txBody>
                    <a:bodyPr wrap="square" lIns="50400" rIns="50400" tIns="10800" bIns="10800" anchor="ctr"/>
                    <a:lstStyle/>
                    <a:p>
                      <a:pPr algn="r"/>
                      <a:r>
                        <a:rPr sz="1100">
                          <a:solidFill>
                            <a:srgbClr val="1C2233"/>
                          </a:solidFill>
                          <a:latin typeface="メイリオ"/>
                          <a:ea typeface="メイリオ"/>
                          <a:cs typeface="メイリオ"/>
                        </a:rPr>
                        <a:t>1,360万円（＋LINE運用費360万円）</a:t>
                      </a:r>
                    </a:p>
                  </a:txBody>
                  <a:tcPr anchor="ctr">
                    <a:solidFill>
                      <a:srgbClr val="FFFFFF"/>
                    </a:solidFill>
                  </a:tcPr>
                </a:tc>
              </a:tr>
              <a:tr h="273600">
                <a:tc>
                  <a:txBody>
                    <a:bodyPr wrap="square" lIns="50400" rIns="50400" tIns="10800" bIns="10800" anchor="ctr"/>
                    <a:lstStyle/>
                    <a:p>
                      <a:pPr algn="l"/>
                      <a:r>
                        <a:rPr sz="1100">
                          <a:solidFill>
                            <a:srgbClr val="1C2233"/>
                          </a:solidFill>
                          <a:latin typeface="メイリオ"/>
                          <a:ea typeface="メイリオ"/>
                          <a:cs typeface="メイリオ"/>
                        </a:rPr>
                        <a:t>LP流入</a:t>
                      </a:r>
                    </a:p>
                  </a:txBody>
                  <a:tcPr anchor="ctr">
                    <a:solidFill>
                      <a:srgbClr val="F4F7FF"/>
                    </a:solidFill>
                  </a:tcPr>
                </a:tc>
                <a:tc>
                  <a:txBody>
                    <a:bodyPr wrap="square" lIns="50400" rIns="50400" tIns="10800" bIns="10800" anchor="ctr"/>
                    <a:lstStyle/>
                    <a:p>
                      <a:pPr algn="r"/>
                      <a:r>
                        <a:rPr sz="1100">
                          <a:solidFill>
                            <a:srgbClr val="1C2233"/>
                          </a:solidFill>
                          <a:latin typeface="メイリオ"/>
                          <a:ea typeface="メイリオ"/>
                          <a:cs typeface="メイリオ"/>
                        </a:rPr>
                        <a:t>100,000セッション</a:t>
                      </a:r>
                    </a:p>
                  </a:txBody>
                  <a:tcPr anchor="ctr">
                    <a:solidFill>
                      <a:srgbClr val="F4F7FF"/>
                    </a:solidFill>
                  </a:tcPr>
                </a:tc>
                <a:tc>
                  <a:txBody>
                    <a:bodyPr wrap="square" lIns="50400" rIns="50400" tIns="10800" bIns="10800" anchor="ctr"/>
                    <a:lstStyle/>
                    <a:p>
                      <a:pPr algn="r"/>
                      <a:r>
                        <a:rPr sz="1100">
                          <a:solidFill>
                            <a:srgbClr val="1C2233"/>
                          </a:solidFill>
                          <a:latin typeface="メイリオ"/>
                          <a:ea typeface="メイリオ"/>
                          <a:cs typeface="メイリオ"/>
                        </a:rPr>
                        <a:t>100,000セッション（変えない）</a:t>
                      </a:r>
                    </a:p>
                  </a:txBody>
                  <a:tcPr anchor="ctr">
                    <a:solidFill>
                      <a:srgbClr val="F4F7FF"/>
                    </a:solidFill>
                  </a:tcPr>
                </a:tc>
              </a:tr>
              <a:tr h="273600">
                <a:tc>
                  <a:txBody>
                    <a:bodyPr wrap="square" lIns="50400" rIns="50400" tIns="10800" bIns="10800" anchor="ctr"/>
                    <a:lstStyle/>
                    <a:p>
                      <a:pPr algn="l"/>
                      <a:r>
                        <a:rPr sz="1100">
                          <a:solidFill>
                            <a:srgbClr val="1C2233"/>
                          </a:solidFill>
                          <a:latin typeface="メイリオ"/>
                          <a:ea typeface="メイリオ"/>
                          <a:cs typeface="メイリオ"/>
                        </a:rPr>
                        <a:t>LP CVR（資料請求）</a:t>
                      </a:r>
                    </a:p>
                  </a:txBody>
                  <a:tcPr anchor="ctr">
                    <a:solidFill>
                      <a:srgbClr val="FFFFFF"/>
                    </a:solidFill>
                  </a:tcPr>
                </a:tc>
                <a:tc>
                  <a:txBody>
                    <a:bodyPr wrap="square" lIns="50400" rIns="50400" tIns="10800" bIns="10800" anchor="ctr"/>
                    <a:lstStyle/>
                    <a:p>
                      <a:pPr algn="r"/>
                      <a:r>
                        <a:rPr sz="1100">
                          <a:solidFill>
                            <a:srgbClr val="1C2233"/>
                          </a:solidFill>
                          <a:latin typeface="メイリオ"/>
                          <a:ea typeface="メイリオ"/>
                          <a:cs typeface="メイリオ"/>
                        </a:rPr>
                        <a:t>2.5%</a:t>
                      </a:r>
                    </a:p>
                  </a:txBody>
                  <a:tcPr anchor="ctr">
                    <a:solidFill>
                      <a:srgbClr val="FFFFFF"/>
                    </a:solidFill>
                  </a:tcPr>
                </a:tc>
                <a:tc>
                  <a:txBody>
                    <a:bodyPr wrap="square" lIns="50400" rIns="50400" tIns="10800" bIns="10800" anchor="ctr"/>
                    <a:lstStyle/>
                    <a:p>
                      <a:pPr algn="r"/>
                      <a:r>
                        <a:rPr sz="1100">
                          <a:solidFill>
                            <a:srgbClr val="1C2233"/>
                          </a:solidFill>
                          <a:latin typeface="メイリオ"/>
                          <a:ea typeface="メイリオ"/>
                          <a:cs typeface="メイリオ"/>
                        </a:rPr>
                        <a:t>2.5%（変えない）</a:t>
                      </a:r>
                    </a:p>
                  </a:txBody>
                  <a:tcPr anchor="ctr">
                    <a:solidFill>
                      <a:srgbClr val="FFFFFF"/>
                    </a:solidFill>
                  </a:tcPr>
                </a:tc>
              </a:tr>
              <a:tr h="273600">
                <a:tc>
                  <a:txBody>
                    <a:bodyPr wrap="square" lIns="50400" rIns="50400" tIns="10800" bIns="10800" anchor="ctr"/>
                    <a:lstStyle/>
                    <a:p>
                      <a:pPr algn="l"/>
                      <a:r>
                        <a:rPr sz="1100">
                          <a:solidFill>
                            <a:srgbClr val="1C2233"/>
                          </a:solidFill>
                          <a:latin typeface="メイリオ"/>
                          <a:ea typeface="メイリオ"/>
                          <a:cs typeface="メイリオ"/>
                        </a:rPr>
                        <a:t>広告経由のCV①（資料請求）</a:t>
                      </a:r>
                    </a:p>
                  </a:txBody>
                  <a:tcPr anchor="ctr">
                    <a:solidFill>
                      <a:srgbClr val="F4F7FF"/>
                    </a:solidFill>
                  </a:tcPr>
                </a:tc>
                <a:tc>
                  <a:txBody>
                    <a:bodyPr wrap="square" lIns="50400" rIns="50400" tIns="10800" bIns="10800" anchor="ctr"/>
                    <a:lstStyle/>
                    <a:p>
                      <a:pPr algn="r"/>
                      <a:r>
                        <a:rPr sz="1100">
                          <a:solidFill>
                            <a:srgbClr val="1C2233"/>
                          </a:solidFill>
                          <a:latin typeface="メイリオ"/>
                          <a:ea typeface="メイリオ"/>
                          <a:cs typeface="メイリオ"/>
                        </a:rPr>
                        <a:t>2,500件</a:t>
                      </a:r>
                    </a:p>
                  </a:txBody>
                  <a:tcPr anchor="ctr">
                    <a:solidFill>
                      <a:srgbClr val="F4F7FF"/>
                    </a:solidFill>
                  </a:tcPr>
                </a:tc>
                <a:tc>
                  <a:txBody>
                    <a:bodyPr wrap="square" lIns="50400" rIns="50400" tIns="10800" bIns="10800" anchor="ctr"/>
                    <a:lstStyle/>
                    <a:p>
                      <a:pPr algn="r"/>
                      <a:r>
                        <a:rPr sz="1100">
                          <a:solidFill>
                            <a:srgbClr val="1C2233"/>
                          </a:solidFill>
                          <a:latin typeface="メイリオ"/>
                          <a:ea typeface="メイリオ"/>
                          <a:cs typeface="メイリオ"/>
                        </a:rPr>
                        <a:t>2,500件</a:t>
                      </a:r>
                    </a:p>
                  </a:txBody>
                  <a:tcPr anchor="ctr">
                    <a:solidFill>
                      <a:srgbClr val="F4F7FF"/>
                    </a:solidFill>
                  </a:tcPr>
                </a:tc>
              </a:tr>
              <a:tr h="273600">
                <a:tc>
                  <a:txBody>
                    <a:bodyPr wrap="square" lIns="50400" rIns="50400" tIns="10800" bIns="10800" anchor="ctr"/>
                    <a:lstStyle/>
                    <a:p>
                      <a:pPr algn="l"/>
                      <a:r>
                        <a:rPr sz="1100">
                          <a:solidFill>
                            <a:srgbClr val="1C2233"/>
                          </a:solidFill>
                          <a:latin typeface="メイリオ"/>
                          <a:ea typeface="メイリオ"/>
                          <a:cs typeface="メイリオ"/>
                        </a:rPr>
                        <a:t>LINE友だち化（離脱防止）</a:t>
                      </a:r>
                    </a:p>
                  </a:txBody>
                  <a:tcPr anchor="ctr">
                    <a:solidFill>
                      <a:srgbClr val="FFFFFF"/>
                    </a:solidFill>
                  </a:tcPr>
                </a:tc>
                <a:tc>
                  <a:txBody>
                    <a:bodyPr wrap="square" lIns="50400" rIns="50400" tIns="10800" bIns="10800" anchor="ctr"/>
                    <a:lstStyle/>
                    <a:p>
                      <a:pPr algn="r"/>
                      <a:r>
                        <a:rPr sz="1100">
                          <a:solidFill>
                            <a:srgbClr val="1C2233"/>
                          </a:solidFill>
                          <a:latin typeface="メイリオ"/>
                          <a:ea typeface="メイリオ"/>
                          <a:cs typeface="メイリオ"/>
                        </a:rPr>
                        <a:t>―</a:t>
                      </a:r>
                    </a:p>
                  </a:txBody>
                  <a:tcPr anchor="ctr">
                    <a:solidFill>
                      <a:srgbClr val="FFFFFF"/>
                    </a:solidFill>
                  </a:tcPr>
                </a:tc>
                <a:tc>
                  <a:txBody>
                    <a:bodyPr wrap="square" lIns="50400" rIns="50400" tIns="10800" bIns="10800" anchor="ctr"/>
                    <a:lstStyle/>
                    <a:p>
                      <a:pPr algn="r"/>
                      <a:r>
                        <a:rPr sz="1100">
                          <a:solidFill>
                            <a:srgbClr val="1C2233"/>
                          </a:solidFill>
                          <a:latin typeface="メイリオ"/>
                          <a:ea typeface="メイリオ"/>
                          <a:cs typeface="メイリオ"/>
                        </a:rPr>
                        <a:t>2,925人（離脱97,500 ×★3%）</a:t>
                      </a:r>
                    </a:p>
                  </a:txBody>
                  <a:tcPr anchor="ctr">
                    <a:solidFill>
                      <a:srgbClr val="FFFFFF"/>
                    </a:solidFill>
                  </a:tcPr>
                </a:tc>
              </a:tr>
              <a:tr h="273600">
                <a:tc>
                  <a:txBody>
                    <a:bodyPr wrap="square" lIns="50400" rIns="50400" tIns="10800" bIns="10800" anchor="ctr"/>
                    <a:lstStyle/>
                    <a:p>
                      <a:pPr algn="l"/>
                      <a:r>
                        <a:rPr sz="1100">
                          <a:solidFill>
                            <a:srgbClr val="1C2233"/>
                          </a:solidFill>
                          <a:latin typeface="メイリオ"/>
                          <a:ea typeface="メイリオ"/>
                          <a:cs typeface="メイリオ"/>
                        </a:rPr>
                        <a:t>LINE経由のCV①</a:t>
                      </a:r>
                    </a:p>
                  </a:txBody>
                  <a:tcPr anchor="ctr">
                    <a:solidFill>
                      <a:srgbClr val="F4F7FF"/>
                    </a:solidFill>
                  </a:tcPr>
                </a:tc>
                <a:tc>
                  <a:txBody>
                    <a:bodyPr wrap="square" lIns="50400" rIns="50400" tIns="10800" bIns="10800" anchor="ctr"/>
                    <a:lstStyle/>
                    <a:p>
                      <a:pPr algn="r"/>
                      <a:r>
                        <a:rPr sz="1100">
                          <a:solidFill>
                            <a:srgbClr val="1C2233"/>
                          </a:solidFill>
                          <a:latin typeface="メイリオ"/>
                          <a:ea typeface="メイリオ"/>
                          <a:cs typeface="メイリオ"/>
                        </a:rPr>
                        <a:t>―</a:t>
                      </a:r>
                    </a:p>
                  </a:txBody>
                  <a:tcPr anchor="ctr">
                    <a:solidFill>
                      <a:srgbClr val="F4F7FF"/>
                    </a:solidFill>
                  </a:tcPr>
                </a:tc>
                <a:tc>
                  <a:txBody>
                    <a:bodyPr wrap="square" lIns="50400" rIns="50400" tIns="10800" bIns="10800" anchor="ctr"/>
                    <a:lstStyle/>
                    <a:p>
                      <a:pPr algn="r"/>
                      <a:r>
                        <a:rPr sz="1100">
                          <a:solidFill>
                            <a:srgbClr val="1C2233"/>
                          </a:solidFill>
                          <a:latin typeface="メイリオ"/>
                          <a:ea typeface="メイリオ"/>
                          <a:cs typeface="メイリオ"/>
                        </a:rPr>
                        <a:t>585件（友だち ×★20%）</a:t>
                      </a:r>
                    </a:p>
                  </a:txBody>
                  <a:tcPr anchor="ctr">
                    <a:solidFill>
                      <a:srgbClr val="F4F7FF"/>
                    </a:solidFill>
                  </a:tcPr>
                </a:tc>
              </a:tr>
              <a:tr h="273600">
                <a:tc>
                  <a:txBody>
                    <a:bodyPr wrap="square" lIns="50400" rIns="50400" tIns="10800" bIns="10800" anchor="ctr"/>
                    <a:lstStyle/>
                    <a:p>
                      <a:pPr algn="l"/>
                      <a:r>
                        <a:rPr sz="1100">
                          <a:solidFill>
                            <a:srgbClr val="1C2233"/>
                          </a:solidFill>
                          <a:latin typeface="メイリオ"/>
                          <a:ea typeface="メイリオ"/>
                          <a:cs typeface="メイリオ"/>
                        </a:rPr>
                        <a:t>CV①合計 ／ CPA</a:t>
                      </a:r>
                    </a:p>
                  </a:txBody>
                  <a:tcPr anchor="ctr">
                    <a:solidFill>
                      <a:srgbClr val="FFFFFF"/>
                    </a:solidFill>
                  </a:tcPr>
                </a:tc>
                <a:tc>
                  <a:txBody>
                    <a:bodyPr wrap="square" lIns="50400" rIns="50400" tIns="10800" bIns="10800" anchor="ctr"/>
                    <a:lstStyle/>
                    <a:p>
                      <a:pPr algn="r"/>
                      <a:r>
                        <a:rPr sz="1100">
                          <a:solidFill>
                            <a:srgbClr val="1C2233"/>
                          </a:solidFill>
                          <a:latin typeface="メイリオ"/>
                          <a:ea typeface="メイリオ"/>
                          <a:cs typeface="メイリオ"/>
                        </a:rPr>
                        <a:t>2,500件 ／ 4,000円</a:t>
                      </a:r>
                    </a:p>
                  </a:txBody>
                  <a:tcPr anchor="ctr">
                    <a:solidFill>
                      <a:srgbClr val="FFFFFF"/>
                    </a:solidFill>
                  </a:tcPr>
                </a:tc>
                <a:tc>
                  <a:txBody>
                    <a:bodyPr wrap="square" lIns="50400" rIns="50400" tIns="10800" bIns="10800" anchor="ctr"/>
                    <a:lstStyle/>
                    <a:p>
                      <a:pPr algn="r"/>
                      <a:r>
                        <a:rPr sz="1100">
                          <a:solidFill>
                            <a:srgbClr val="1C2233"/>
                          </a:solidFill>
                          <a:latin typeface="メイリオ"/>
                          <a:ea typeface="メイリオ"/>
                          <a:cs typeface="メイリオ"/>
                        </a:rPr>
                        <a:t>3,085件 ／ 4,408円</a:t>
                      </a:r>
                    </a:p>
                  </a:txBody>
                  <a:tcPr anchor="ctr">
                    <a:solidFill>
                      <a:srgbClr val="FFFFFF"/>
                    </a:solidFill>
                  </a:tcPr>
                </a:tc>
              </a:tr>
              <a:tr h="273600">
                <a:tc>
                  <a:txBody>
                    <a:bodyPr wrap="square" lIns="50400" rIns="50400" tIns="10800" bIns="10800" anchor="ctr"/>
                    <a:lstStyle/>
                    <a:p>
                      <a:pPr algn="l"/>
                      <a:r>
                        <a:rPr sz="1100">
                          <a:solidFill>
                            <a:srgbClr val="1C2233"/>
                          </a:solidFill>
                          <a:latin typeface="メイリオ"/>
                          <a:ea typeface="メイリオ"/>
                          <a:cs typeface="メイリオ"/>
                        </a:rPr>
                        <a:t>→ OC予約率</a:t>
                      </a:r>
                    </a:p>
                  </a:txBody>
                  <a:tcPr anchor="ctr">
                    <a:solidFill>
                      <a:srgbClr val="F4F7FF"/>
                    </a:solidFill>
                  </a:tcPr>
                </a:tc>
                <a:tc>
                  <a:txBody>
                    <a:bodyPr wrap="square" lIns="50400" rIns="50400" tIns="10800" bIns="10800" anchor="ctr"/>
                    <a:lstStyle/>
                    <a:p>
                      <a:pPr algn="r"/>
                      <a:r>
                        <a:rPr sz="1100">
                          <a:solidFill>
                            <a:srgbClr val="1C2233"/>
                          </a:solidFill>
                          <a:latin typeface="メイリオ"/>
                          <a:ea typeface="メイリオ"/>
                          <a:cs typeface="メイリオ"/>
                        </a:rPr>
                        <a:t>30%（750件）</a:t>
                      </a:r>
                    </a:p>
                  </a:txBody>
                  <a:tcPr anchor="ctr">
                    <a:solidFill>
                      <a:srgbClr val="F4F7FF"/>
                    </a:solidFill>
                  </a:tcPr>
                </a:tc>
                <a:tc>
                  <a:txBody>
                    <a:bodyPr wrap="square" lIns="50400" rIns="50400" tIns="10800" bIns="10800" anchor="ctr"/>
                    <a:lstStyle/>
                    <a:p>
                      <a:pPr algn="r"/>
                      <a:r>
                        <a:rPr sz="1100">
                          <a:solidFill>
                            <a:srgbClr val="1C2233"/>
                          </a:solidFill>
                          <a:latin typeface="メイリオ"/>
                          <a:ea typeface="メイリオ"/>
                          <a:cs typeface="メイリオ"/>
                        </a:rPr>
                        <a:t>30%（926件）※率は変えない</a:t>
                      </a:r>
                    </a:p>
                  </a:txBody>
                  <a:tcPr anchor="ctr">
                    <a:solidFill>
                      <a:srgbClr val="F4F7FF"/>
                    </a:solidFill>
                  </a:tcPr>
                </a:tc>
              </a:tr>
              <a:tr h="273600">
                <a:tc>
                  <a:txBody>
                    <a:bodyPr wrap="square" lIns="50400" rIns="50400" tIns="10800" bIns="10800" anchor="ctr"/>
                    <a:lstStyle/>
                    <a:p>
                      <a:pPr algn="l"/>
                      <a:r>
                        <a:rPr sz="1100">
                          <a:solidFill>
                            <a:srgbClr val="1C2233"/>
                          </a:solidFill>
                          <a:latin typeface="メイリオ"/>
                          <a:ea typeface="メイリオ"/>
                          <a:cs typeface="メイリオ"/>
                        </a:rPr>
                        <a:t>→ OC参加率</a:t>
                      </a:r>
                    </a:p>
                  </a:txBody>
                  <a:tcPr anchor="ctr">
                    <a:solidFill>
                      <a:srgbClr val="FFFFFF"/>
                    </a:solidFill>
                  </a:tcPr>
                </a:tc>
                <a:tc>
                  <a:txBody>
                    <a:bodyPr wrap="square" lIns="50400" rIns="50400" tIns="10800" bIns="10800" anchor="ctr"/>
                    <a:lstStyle/>
                    <a:p>
                      <a:pPr algn="r"/>
                      <a:r>
                        <a:rPr sz="1100" b="1">
                          <a:solidFill>
                            <a:srgbClr val="ED7D31"/>
                          </a:solidFill>
                          <a:latin typeface="メイリオ"/>
                          <a:ea typeface="メイリオ"/>
                          <a:cs typeface="メイリオ"/>
                        </a:rPr>
                        <a:t>70%（525名）</a:t>
                      </a:r>
                    </a:p>
                  </a:txBody>
                  <a:tcPr anchor="ctr">
                    <a:solidFill>
                      <a:srgbClr val="FFFFFF"/>
                    </a:solidFill>
                  </a:tcPr>
                </a:tc>
                <a:tc>
                  <a:txBody>
                    <a:bodyPr wrap="square" lIns="50400" rIns="50400" tIns="10800" bIns="10800" anchor="ctr"/>
                    <a:lstStyle/>
                    <a:p>
                      <a:pPr algn="r"/>
                      <a:r>
                        <a:rPr sz="1100" b="1">
                          <a:solidFill>
                            <a:srgbClr val="ED7D31"/>
                          </a:solidFill>
                          <a:latin typeface="メイリオ"/>
                          <a:ea typeface="メイリオ"/>
                          <a:cs typeface="メイリオ"/>
                        </a:rPr>
                        <a:t>80%（741名）※前日リマインド</a:t>
                      </a:r>
                    </a:p>
                  </a:txBody>
                  <a:tcPr anchor="ctr">
                    <a:solidFill>
                      <a:srgbClr val="FFFFFF"/>
                    </a:solidFill>
                  </a:tcPr>
                </a:tc>
              </a:tr>
              <a:tr h="273600">
                <a:tc>
                  <a:txBody>
                    <a:bodyPr wrap="square" lIns="50400" rIns="50400" tIns="10800" bIns="10800" anchor="ctr"/>
                    <a:lstStyle/>
                    <a:p>
                      <a:pPr algn="l"/>
                      <a:r>
                        <a:rPr sz="1100">
                          <a:solidFill>
                            <a:srgbClr val="1C2233"/>
                          </a:solidFill>
                          <a:latin typeface="メイリオ"/>
                          <a:ea typeface="メイリオ"/>
                          <a:cs typeface="メイリオ"/>
                        </a:rPr>
                        <a:t>→ 出願率</a:t>
                      </a:r>
                    </a:p>
                  </a:txBody>
                  <a:tcPr anchor="ctr">
                    <a:solidFill>
                      <a:srgbClr val="F4F7FF"/>
                    </a:solidFill>
                  </a:tcPr>
                </a:tc>
                <a:tc>
                  <a:txBody>
                    <a:bodyPr wrap="square" lIns="50400" rIns="50400" tIns="10800" bIns="10800" anchor="ctr"/>
                    <a:lstStyle/>
                    <a:p>
                      <a:pPr algn="r"/>
                      <a:r>
                        <a:rPr sz="1100" b="1">
                          <a:solidFill>
                            <a:srgbClr val="ED7D31"/>
                          </a:solidFill>
                          <a:latin typeface="メイリオ"/>
                          <a:ea typeface="メイリオ"/>
                          <a:cs typeface="メイリオ"/>
                        </a:rPr>
                        <a:t>40%（210名）</a:t>
                      </a:r>
                    </a:p>
                  </a:txBody>
                  <a:tcPr anchor="ctr">
                    <a:solidFill>
                      <a:srgbClr val="F4F7FF"/>
                    </a:solidFill>
                  </a:tcPr>
                </a:tc>
                <a:tc>
                  <a:txBody>
                    <a:bodyPr wrap="square" lIns="50400" rIns="50400" tIns="10800" bIns="10800" anchor="ctr"/>
                    <a:lstStyle/>
                    <a:p>
                      <a:pPr algn="r"/>
                      <a:r>
                        <a:rPr sz="1100" b="1">
                          <a:solidFill>
                            <a:srgbClr val="ED7D31"/>
                          </a:solidFill>
                          <a:latin typeface="メイリオ"/>
                          <a:ea typeface="メイリオ"/>
                          <a:cs typeface="メイリオ"/>
                        </a:rPr>
                        <a:t>43%（319名）★</a:t>
                      </a:r>
                    </a:p>
                  </a:txBody>
                  <a:tcPr anchor="ctr">
                    <a:solidFill>
                      <a:srgbClr val="F4F7FF"/>
                    </a:solidFill>
                  </a:tcPr>
                </a:tc>
              </a:tr>
              <a:tr h="273600">
                <a:tc>
                  <a:txBody>
                    <a:bodyPr wrap="square" lIns="50400" rIns="50400" tIns="10800" bIns="10800" anchor="ctr"/>
                    <a:lstStyle/>
                    <a:p>
                      <a:pPr algn="l"/>
                      <a:r>
                        <a:rPr sz="1100">
                          <a:solidFill>
                            <a:srgbClr val="1C2233"/>
                          </a:solidFill>
                          <a:latin typeface="メイリオ"/>
                          <a:ea typeface="メイリオ"/>
                          <a:cs typeface="メイリオ"/>
                        </a:rPr>
                        <a:t>→ 入学手続率</a:t>
                      </a:r>
                    </a:p>
                  </a:txBody>
                  <a:tcPr anchor="ctr">
                    <a:solidFill>
                      <a:srgbClr val="FFFFFF"/>
                    </a:solidFill>
                  </a:tcPr>
                </a:tc>
                <a:tc>
                  <a:txBody>
                    <a:bodyPr wrap="square" lIns="50400" rIns="50400" tIns="10800" bIns="10800" anchor="ctr"/>
                    <a:lstStyle/>
                    <a:p>
                      <a:pPr algn="r"/>
                      <a:r>
                        <a:rPr sz="1100">
                          <a:solidFill>
                            <a:srgbClr val="1C2233"/>
                          </a:solidFill>
                          <a:latin typeface="メイリオ"/>
                          <a:ea typeface="メイリオ"/>
                          <a:cs typeface="メイリオ"/>
                        </a:rPr>
                        <a:t>57%（120名）</a:t>
                      </a:r>
                    </a:p>
                  </a:txBody>
                  <a:tcPr anchor="ctr">
                    <a:solidFill>
                      <a:srgbClr val="FFFFFF"/>
                    </a:solidFill>
                  </a:tcPr>
                </a:tc>
                <a:tc>
                  <a:txBody>
                    <a:bodyPr wrap="square" lIns="50400" rIns="50400" tIns="10800" bIns="10800" anchor="ctr"/>
                    <a:lstStyle/>
                    <a:p>
                      <a:pPr algn="r"/>
                      <a:r>
                        <a:rPr sz="1100">
                          <a:solidFill>
                            <a:srgbClr val="1C2233"/>
                          </a:solidFill>
                          <a:latin typeface="メイリオ"/>
                          <a:ea typeface="メイリオ"/>
                          <a:cs typeface="メイリオ"/>
                        </a:rPr>
                        <a:t>57%（182名）</a:t>
                      </a:r>
                    </a:p>
                  </a:txBody>
                  <a:tcPr anchor="ctr">
                    <a:solidFill>
                      <a:srgbClr val="FFFFFF"/>
                    </a:solidFill>
                  </a:tcPr>
                </a:tc>
              </a:tr>
              <a:tr h="273600">
                <a:tc>
                  <a:txBody>
                    <a:bodyPr wrap="square" lIns="50400" rIns="50400" tIns="10800" bIns="10800" anchor="ctr"/>
                    <a:lstStyle/>
                    <a:p>
                      <a:pPr algn="l"/>
                      <a:r>
                        <a:rPr sz="1100">
                          <a:solidFill>
                            <a:srgbClr val="1C2233"/>
                          </a:solidFill>
                          <a:latin typeface="メイリオ"/>
                          <a:ea typeface="メイリオ"/>
                          <a:cs typeface="メイリオ"/>
                        </a:rPr>
                        <a:t>入学者（Web経由）</a:t>
                      </a:r>
                    </a:p>
                  </a:txBody>
                  <a:tcPr anchor="ctr">
                    <a:solidFill>
                      <a:srgbClr val="F4F7FF"/>
                    </a:solidFill>
                  </a:tcPr>
                </a:tc>
                <a:tc>
                  <a:txBody>
                    <a:bodyPr wrap="square" lIns="50400" rIns="50400" tIns="10800" bIns="10800" anchor="ctr"/>
                    <a:lstStyle/>
                    <a:p>
                      <a:pPr algn="r"/>
                      <a:r>
                        <a:rPr sz="1100" b="1">
                          <a:solidFill>
                            <a:srgbClr val="C00000"/>
                          </a:solidFill>
                          <a:latin typeface="メイリオ"/>
                          <a:ea typeface="メイリオ"/>
                          <a:cs typeface="メイリオ"/>
                        </a:rPr>
                        <a:t>120名</a:t>
                      </a:r>
                    </a:p>
                  </a:txBody>
                  <a:tcPr anchor="ctr">
                    <a:solidFill>
                      <a:srgbClr val="F4F7FF"/>
                    </a:solidFill>
                  </a:tcPr>
                </a:tc>
                <a:tc>
                  <a:txBody>
                    <a:bodyPr wrap="square" lIns="50400" rIns="50400" tIns="10800" bIns="10800" anchor="ctr"/>
                    <a:lstStyle/>
                    <a:p>
                      <a:pPr algn="r"/>
                      <a:r>
                        <a:rPr sz="1100" b="1">
                          <a:solidFill>
                            <a:srgbClr val="C00000"/>
                          </a:solidFill>
                          <a:latin typeface="メイリオ"/>
                          <a:ea typeface="メイリオ"/>
                          <a:cs typeface="メイリオ"/>
                        </a:rPr>
                        <a:t>182名（＋62名）</a:t>
                      </a:r>
                    </a:p>
                  </a:txBody>
                  <a:tcPr anchor="ctr">
                    <a:solidFill>
                      <a:srgbClr val="F4F7FF"/>
                    </a:solidFill>
                  </a:tcPr>
                </a:tc>
              </a:tr>
              <a:tr h="273600">
                <a:tc>
                  <a:txBody>
                    <a:bodyPr wrap="square" lIns="50400" rIns="50400" tIns="10800" bIns="10800" anchor="ctr"/>
                    <a:lstStyle/>
                    <a:p>
                      <a:pPr algn="l"/>
                      <a:r>
                        <a:rPr sz="1100">
                          <a:solidFill>
                            <a:srgbClr val="1C2233"/>
                          </a:solidFill>
                          <a:latin typeface="メイリオ"/>
                          <a:ea typeface="メイリオ"/>
                          <a:cs typeface="メイリオ"/>
                        </a:rPr>
                        <a:t>入学1名あたりの獲得コスト</a:t>
                      </a:r>
                    </a:p>
                  </a:txBody>
                  <a:tcPr anchor="ctr">
                    <a:solidFill>
                      <a:srgbClr val="FFFFFF"/>
                    </a:solidFill>
                  </a:tcPr>
                </a:tc>
                <a:tc>
                  <a:txBody>
                    <a:bodyPr wrap="square" lIns="50400" rIns="50400" tIns="10800" bIns="10800" anchor="ctr"/>
                    <a:lstStyle/>
                    <a:p>
                      <a:pPr algn="r"/>
                      <a:r>
                        <a:rPr sz="1100" b="1">
                          <a:solidFill>
                            <a:srgbClr val="1F285A"/>
                          </a:solidFill>
                          <a:latin typeface="メイリオ"/>
                          <a:ea typeface="メイリオ"/>
                          <a:cs typeface="メイリオ"/>
                        </a:rPr>
                        <a:t>83,333円</a:t>
                      </a:r>
                    </a:p>
                  </a:txBody>
                  <a:tcPr anchor="ctr">
                    <a:solidFill>
                      <a:srgbClr val="FFFFFF"/>
                    </a:solidFill>
                  </a:tcPr>
                </a:tc>
                <a:tc>
                  <a:txBody>
                    <a:bodyPr wrap="square" lIns="50400" rIns="50400" tIns="10800" bIns="10800" anchor="ctr"/>
                    <a:lstStyle/>
                    <a:p>
                      <a:pPr algn="r"/>
                      <a:r>
                        <a:rPr sz="1100" b="1">
                          <a:solidFill>
                            <a:srgbClr val="1F285A"/>
                          </a:solidFill>
                          <a:latin typeface="メイリオ"/>
                          <a:ea typeface="メイリオ"/>
                          <a:cs typeface="メイリオ"/>
                        </a:rPr>
                        <a:t>74,725円（▲10.3%）</a:t>
                      </a:r>
                    </a:p>
                  </a:txBody>
                  <a:tcPr anchor="ctr">
                    <a:solidFill>
                      <a:srgbClr val="FFFFFF"/>
                    </a:solidFill>
                  </a:tcPr>
                </a:tc>
              </a:tr>
            </a:tbl>
          </a:graphicData>
        </a:graphic>
      </p:graphicFrame>
      <p:sp>
        <p:nvSpPr>
          <p:cNvPr id="5" name="Rounded Rectangle 4"/>
          <p:cNvSpPr/>
          <p:nvPr/>
        </p:nvSpPr>
        <p:spPr>
          <a:xfrm>
            <a:off x="396000" y="5166000"/>
            <a:ext cx="2951999" cy="827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1F285A"/>
                </a:solidFill>
                <a:latin typeface="メイリオ"/>
                <a:ea typeface="メイリオ"/>
                <a:cs typeface="メイリオ"/>
              </a:rPr>
              <a:t>① LP CVRは動かしていない</a:t>
            </a:r>
          </a:p>
          <a:p>
            <a:pPr algn="l">
              <a:lnSpc>
                <a:spcPct val="120000"/>
              </a:lnSpc>
              <a:spcAft>
                <a:spcPts val="200"/>
              </a:spcAft>
            </a:pPr>
            <a:r>
              <a:rPr sz="1050">
                <a:solidFill>
                  <a:srgbClr val="1C2233"/>
                </a:solidFill>
                <a:latin typeface="メイリオ"/>
                <a:ea typeface="メイリオ"/>
                <a:cs typeface="メイリオ"/>
              </a:rPr>
              <a:t>触るのは「LPから落ちた後」と「予約が入った後」の2箇所だけ。</a:t>
            </a:r>
          </a:p>
        </p:txBody>
      </p:sp>
      <p:sp>
        <p:nvSpPr>
          <p:cNvPr id="6" name="Rounded Rectangle 5"/>
          <p:cNvSpPr/>
          <p:nvPr/>
        </p:nvSpPr>
        <p:spPr>
          <a:xfrm>
            <a:off x="3491999" y="5166000"/>
            <a:ext cx="2951999" cy="827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1F285A"/>
                </a:solidFill>
                <a:latin typeface="メイリオ"/>
                <a:ea typeface="メイリオ"/>
                <a:cs typeface="メイリオ"/>
              </a:rPr>
              <a:t>② 効くのは母数ではなく率</a:t>
            </a:r>
          </a:p>
          <a:p>
            <a:pPr algn="l">
              <a:lnSpc>
                <a:spcPct val="120000"/>
              </a:lnSpc>
              <a:spcAft>
                <a:spcPts val="200"/>
              </a:spcAft>
            </a:pPr>
            <a:r>
              <a:rPr sz="1050">
                <a:solidFill>
                  <a:srgbClr val="1C2233"/>
                </a:solidFill>
                <a:latin typeface="メイリオ"/>
                <a:ea typeface="メイリオ"/>
                <a:cs typeface="メイリオ"/>
              </a:rPr>
              <a:t>CV①は＋23%。でも入学者は＋52%。歩留まりが掛け算で効く。</a:t>
            </a:r>
          </a:p>
        </p:txBody>
      </p:sp>
      <p:sp>
        <p:nvSpPr>
          <p:cNvPr id="7" name="Rounded Rectangle 6"/>
          <p:cNvSpPr/>
          <p:nvPr/>
        </p:nvSpPr>
        <p:spPr>
          <a:xfrm>
            <a:off x="6588000" y="5166000"/>
            <a:ext cx="2951999" cy="827999"/>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ED7D31"/>
                </a:solidFill>
                <a:latin typeface="メイリオ"/>
                <a:ea typeface="メイリオ"/>
                <a:cs typeface="メイリオ"/>
              </a:rPr>
              <a:t>③ CPA単体は悪化して見える</a:t>
            </a:r>
          </a:p>
          <a:p>
            <a:pPr algn="l">
              <a:lnSpc>
                <a:spcPct val="120000"/>
              </a:lnSpc>
              <a:spcAft>
                <a:spcPts val="200"/>
              </a:spcAft>
            </a:pPr>
            <a:r>
              <a:rPr sz="1050">
                <a:solidFill>
                  <a:srgbClr val="1C2233"/>
                </a:solidFill>
                <a:latin typeface="メイリオ"/>
                <a:ea typeface="メイリオ"/>
                <a:cs typeface="メイリオ"/>
              </a:rPr>
              <a:t>見るのは入学1名あたり。83,333円→74,725円（▲10.3%）。</a:t>
            </a:r>
          </a:p>
        </p:txBody>
      </p:sp>
      <p:sp>
        <p:nvSpPr>
          <p:cNvPr id="8" name="TextBox 7"/>
          <p:cNvSpPr txBox="1"/>
          <p:nvPr/>
        </p:nvSpPr>
        <p:spPr>
          <a:xfrm>
            <a:off x="396000" y="6083999"/>
            <a:ext cx="9144000" cy="518400"/>
          </a:xfrm>
          <a:prstGeom prst="rect">
            <a:avLst/>
          </a:prstGeom>
          <a:noFill/>
        </p:spPr>
        <p:txBody>
          <a:bodyPr wrap="square" lIns="0" rIns="0" tIns="21600" bIns="21600" anchor="t">
            <a:spAutoFit/>
          </a:bodyPr>
          <a:lstStyle/>
          <a:p>
            <a:pPr algn="l">
              <a:lnSpc>
                <a:spcPct val="120000"/>
              </a:lnSpc>
            </a:pPr>
            <a:r>
              <a:rPr sz="900">
                <a:solidFill>
                  <a:srgbClr val="646C82"/>
                </a:solidFill>
                <a:latin typeface="メイリオ"/>
                <a:ea typeface="メイリオ"/>
                <a:cs typeface="メイリオ"/>
              </a:rPr>
              <a:t>★＝仮置き（①友だち化率3%　②友だち→CV①転換率20%　③出願率40→43%）。貴学の実績値で置き換える。</a:t>
            </a:r>
          </a:p>
          <a:p>
            <a:pPr algn="l">
              <a:lnSpc>
                <a:spcPct val="120000"/>
              </a:lnSpc>
            </a:pPr>
            <a:r>
              <a:rPr sz="900">
                <a:solidFill>
                  <a:srgbClr val="646C82"/>
                </a:solidFill>
                <a:latin typeface="メイリオ"/>
                <a:ea typeface="メイリオ"/>
                <a:cs typeface="メイリオ"/>
              </a:rPr>
              <a:t>※ 本試算はWeb経由の募集だけを切り出したもの。他経路と重複するため純増は試算より小さくなる。定員充足済みの学校では「歩留まり改善によるコスト削減」として読む。</a:t>
            </a:r>
          </a:p>
        </p:txBody>
      </p:sp>
    </p:spTree>
    <p:extLst>
      <p:ext uri="{BB962C8B-B14F-4D97-AF65-F5344CB8AC3E}">
        <p14:creationId xmlns:p14="http://schemas.microsoft.com/office/powerpoint/2010/main" val="4112226598"/>
      </p:ext>
    </p:extLst>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施策設計①｜友だち追加の動線</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新しく集めるのではなく、いま取れている資料請求者・OC参加者をLINEに載せ替える。</a:t>
            </a:r>
          </a:p>
        </p:txBody>
      </p:sp>
      <p:graphicFrame>
        <p:nvGraphicFramePr>
          <p:cNvPr id="4" name="Table 3"/>
          <p:cNvGraphicFramePr>
            <a:graphicFrameLocks noGrp="1"/>
          </p:cNvGraphicFramePr>
          <p:nvPr/>
        </p:nvGraphicFramePr>
        <p:xfrm>
          <a:off x="396000" y="1224000"/>
          <a:ext cx="9144000" cy="3225600"/>
        </p:xfrm>
        <a:graphic>
          <a:graphicData uri="http://schemas.openxmlformats.org/drawingml/2006/table">
            <a:tbl>
              <a:tblPr firstRow="1" bandRow="1">
                <a:tableStyleId>{5C22544A-7EE6-4342-B048-85BDC9FD1C3A}</a:tableStyleId>
              </a:tblPr>
              <a:tblGrid>
                <a:gridCol w="2376000"/>
                <a:gridCol w="3744000"/>
                <a:gridCol w="1080000"/>
                <a:gridCol w="1944000"/>
              </a:tblGrid>
              <a:tr h="460800">
                <a:tc>
                  <a:txBody>
                    <a:bodyPr wrap="square" lIns="50400" rIns="50400" tIns="10800" bIns="10800" anchor="ctr"/>
                    <a:lstStyle/>
                    <a:p>
                      <a:pPr algn="l"/>
                      <a:r>
                        <a:rPr sz="1200" b="1">
                          <a:solidFill>
                            <a:srgbClr val="FFFFFF"/>
                          </a:solidFill>
                          <a:latin typeface="メイリオ"/>
                          <a:ea typeface="メイリオ"/>
                          <a:cs typeface="メイリオ"/>
                        </a:rPr>
                        <a:t>箇所</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訴求</a:t>
                      </a:r>
                    </a:p>
                  </a:txBody>
                  <a:tcPr anchor="ctr">
                    <a:solidFill>
                      <a:srgbClr val="1F285A"/>
                    </a:solidFill>
                  </a:tcPr>
                </a:tc>
                <a:tc>
                  <a:txBody>
                    <a:bodyPr wrap="square" lIns="50400" rIns="50400" tIns="10800" bIns="10800" anchor="ctr"/>
                    <a:lstStyle/>
                    <a:p>
                      <a:pPr algn="ctr"/>
                      <a:r>
                        <a:rPr sz="1200" b="1">
                          <a:solidFill>
                            <a:srgbClr val="FFFFFF"/>
                          </a:solidFill>
                          <a:latin typeface="メイリオ"/>
                          <a:ea typeface="メイリオ"/>
                          <a:cs typeface="メイリオ"/>
                        </a:rPr>
                        <a:t>到達点</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費用（税抜）</a:t>
                      </a:r>
                    </a:p>
                  </a:txBody>
                  <a:tcPr anchor="ctr">
                    <a:solidFill>
                      <a:srgbClr val="1F285A"/>
                    </a:solidFill>
                  </a:tcPr>
                </a:tc>
              </a:tr>
              <a:tr h="460800">
                <a:tc>
                  <a:txBody>
                    <a:bodyPr wrap="square" lIns="50400" rIns="50400" tIns="10800" bIns="10800" anchor="ctr"/>
                    <a:lstStyle/>
                    <a:p>
                      <a:pPr algn="l"/>
                      <a:r>
                        <a:rPr sz="1100">
                          <a:solidFill>
                            <a:srgbClr val="1C2233"/>
                          </a:solidFill>
                          <a:latin typeface="メイリオ"/>
                          <a:ea typeface="メイリオ"/>
                          <a:cs typeface="メイリオ"/>
                        </a:rPr>
                        <a:t>資料請求の完了画面</a:t>
                      </a:r>
                    </a:p>
                    <a:p>
                      <a:pPr algn="l"/>
                      <a:r>
                        <a:rPr sz="1100">
                          <a:solidFill>
                            <a:srgbClr val="1C2233"/>
                          </a:solidFill>
                          <a:latin typeface="メイリオ"/>
                          <a:ea typeface="メイリオ"/>
                          <a:cs typeface="メイリオ"/>
                        </a:rPr>
                        <a:t>（サンクスLINE誘導）</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学部学科診断で、自分に合う学部が30秒でわかる</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LINE追加</a:t>
                      </a:r>
                    </a:p>
                  </a:txBody>
                  <a:tcPr anchor="ctr">
                    <a:solidFill>
                      <a:srgbClr val="FFFFFF"/>
                    </a:solidFill>
                  </a:tcPr>
                </a:tc>
                <a:tc>
                  <a:txBody>
                    <a:bodyPr wrap="square" lIns="50400" rIns="50400" tIns="10800" bIns="10800" anchor="ctr"/>
                    <a:lstStyle/>
                    <a:p>
                      <a:pPr algn="l"/>
                      <a:r>
                        <a:rPr sz="1100" b="1">
                          <a:solidFill>
                            <a:srgbClr val="1F285A"/>
                          </a:solidFill>
                          <a:latin typeface="メイリオ"/>
                          <a:ea typeface="メイリオ"/>
                          <a:cs typeface="メイリオ"/>
                        </a:rPr>
                        <a:t>コンサル発注なら無償</a:t>
                      </a:r>
                    </a:p>
                  </a:txBody>
                  <a:tcPr anchor="ctr">
                    <a:solidFill>
                      <a:srgbClr val="FFFFFF"/>
                    </a:solidFill>
                  </a:tcPr>
                </a:tc>
              </a:tr>
              <a:tr h="460800">
                <a:tc>
                  <a:txBody>
                    <a:bodyPr wrap="square" lIns="50400" rIns="50400" tIns="10800" bIns="10800" anchor="ctr"/>
                    <a:lstStyle/>
                    <a:p>
                      <a:pPr algn="l"/>
                      <a:r>
                        <a:rPr sz="1100">
                          <a:solidFill>
                            <a:srgbClr val="1C2233"/>
                          </a:solidFill>
                          <a:latin typeface="メイリオ"/>
                          <a:ea typeface="メイリオ"/>
                          <a:cs typeface="メイリオ"/>
                        </a:rPr>
                        <a:t>オープンキャンパス受付のQR</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当日の流れ・持ち物を先に送る／受付はLINE画面を見せるだけ</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LINE追加</a:t>
                      </a:r>
                    </a:p>
                  </a:txBody>
                  <a:tcPr anchor="ctr">
                    <a:solidFill>
                      <a:srgbClr val="F4F7FF"/>
                    </a:solidFill>
                  </a:tcPr>
                </a:tc>
                <a:tc>
                  <a:txBody>
                    <a:bodyPr wrap="square" lIns="50400" rIns="50400" tIns="10800" bIns="10800" anchor="ctr"/>
                    <a:lstStyle/>
                    <a:p>
                      <a:pPr algn="l"/>
                      <a:r>
                        <a:rPr sz="1100" b="1">
                          <a:solidFill>
                            <a:srgbClr val="1F285A"/>
                          </a:solidFill>
                          <a:latin typeface="メイリオ"/>
                          <a:ea typeface="メイリオ"/>
                          <a:cs typeface="メイリオ"/>
                        </a:rPr>
                        <a:t>無償</a:t>
                      </a:r>
                    </a:p>
                  </a:txBody>
                  <a:tcPr anchor="ctr">
                    <a:solidFill>
                      <a:srgbClr val="F4F7FF"/>
                    </a:solidFill>
                  </a:tcPr>
                </a:tc>
              </a:tr>
              <a:tr h="460800">
                <a:tc>
                  <a:txBody>
                    <a:bodyPr wrap="square" lIns="50400" rIns="50400" tIns="10800" bIns="10800" anchor="ctr"/>
                    <a:lstStyle/>
                    <a:p>
                      <a:pPr algn="l"/>
                      <a:r>
                        <a:rPr sz="1100">
                          <a:solidFill>
                            <a:srgbClr val="1C2233"/>
                          </a:solidFill>
                          <a:latin typeface="メイリオ"/>
                          <a:ea typeface="メイリオ"/>
                          <a:cs typeface="メイリオ"/>
                        </a:rPr>
                        <a:t>LP離脱防止ポップアップ</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30秒の学部診断／名前も電話番号も入力しません</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LINE追加</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初期 1.5万円 ／ 月 3万円</a:t>
                      </a:r>
                    </a:p>
                  </a:txBody>
                  <a:tcPr anchor="ctr">
                    <a:solidFill>
                      <a:srgbClr val="FFFFFF"/>
                    </a:solidFill>
                  </a:tcPr>
                </a:tc>
              </a:tr>
              <a:tr h="460800">
                <a:tc>
                  <a:txBody>
                    <a:bodyPr wrap="square" lIns="50400" rIns="50400" tIns="10800" bIns="10800" anchor="ctr"/>
                    <a:lstStyle/>
                    <a:p>
                      <a:pPr algn="l"/>
                      <a:r>
                        <a:rPr sz="1100">
                          <a:solidFill>
                            <a:srgbClr val="1C2233"/>
                          </a:solidFill>
                          <a:latin typeface="メイリオ"/>
                          <a:ea typeface="メイリオ"/>
                          <a:cs typeface="メイリオ"/>
                        </a:rPr>
                        <a:t>LINE広告（CPF）</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タップ1回で友だち追加・フォーム入力ゼロ</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LINE追加</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20万円〜（1ヶ月〜）</a:t>
                      </a:r>
                    </a:p>
                  </a:txBody>
                  <a:tcPr anchor="ctr">
                    <a:solidFill>
                      <a:srgbClr val="F4F7FF"/>
                    </a:solidFill>
                  </a:tcPr>
                </a:tc>
              </a:tr>
              <a:tr h="460800">
                <a:tc>
                  <a:txBody>
                    <a:bodyPr wrap="square" lIns="50400" rIns="50400" tIns="10800" bIns="10800" anchor="ctr"/>
                    <a:lstStyle/>
                    <a:p>
                      <a:pPr algn="l"/>
                      <a:r>
                        <a:rPr sz="1100">
                          <a:solidFill>
                            <a:srgbClr val="1C2233"/>
                          </a:solidFill>
                          <a:latin typeface="メイリオ"/>
                          <a:ea typeface="メイリオ"/>
                          <a:cs typeface="メイリオ"/>
                        </a:rPr>
                        <a:t>通知メッセージ（保有リスト）</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資料請求者・OC予約者へ、友だちでなくても直接届く</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LINE追加</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初期 10万円 ／ 月 8万円〜＋通数 7円</a:t>
                      </a:r>
                    </a:p>
                  </a:txBody>
                  <a:tcPr anchor="ctr">
                    <a:solidFill>
                      <a:srgbClr val="FFFFFF"/>
                    </a:solidFill>
                  </a:tcPr>
                </a:tc>
              </a:tr>
              <a:tr h="460800">
                <a:tc>
                  <a:txBody>
                    <a:bodyPr wrap="square" lIns="50400" rIns="50400" tIns="10800" bIns="10800" anchor="ctr"/>
                    <a:lstStyle/>
                    <a:p>
                      <a:pPr algn="l"/>
                      <a:r>
                        <a:rPr sz="1100">
                          <a:solidFill>
                            <a:srgbClr val="1C2233"/>
                          </a:solidFill>
                          <a:latin typeface="メイリオ"/>
                          <a:ea typeface="メイリオ"/>
                          <a:cs typeface="メイリオ"/>
                        </a:rPr>
                        <a:t>パンフ裏表紙・高校での説明会資料</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デジタルパンフをLINEで受け取れる</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LINE追加</a:t>
                      </a:r>
                    </a:p>
                  </a:txBody>
                  <a:tcPr anchor="ctr">
                    <a:solidFill>
                      <a:srgbClr val="F4F7FF"/>
                    </a:solidFill>
                  </a:tcPr>
                </a:tc>
                <a:tc>
                  <a:txBody>
                    <a:bodyPr wrap="square" lIns="50400" rIns="50400" tIns="10800" bIns="10800" anchor="ctr"/>
                    <a:lstStyle/>
                    <a:p>
                      <a:pPr algn="l"/>
                      <a:r>
                        <a:rPr sz="1100" b="1">
                          <a:solidFill>
                            <a:srgbClr val="1F285A"/>
                          </a:solidFill>
                          <a:latin typeface="メイリオ"/>
                          <a:ea typeface="メイリオ"/>
                          <a:cs typeface="メイリオ"/>
                        </a:rPr>
                        <a:t>無償</a:t>
                      </a:r>
                    </a:p>
                  </a:txBody>
                  <a:tcPr anchor="ctr">
                    <a:solidFill>
                      <a:srgbClr val="F4F7FF"/>
                    </a:solidFill>
                  </a:tcPr>
                </a:tc>
              </a:tr>
            </a:tbl>
          </a:graphicData>
        </a:graphic>
      </p:graphicFrame>
      <p:sp>
        <p:nvSpPr>
          <p:cNvPr id="5" name="Rectangle 4"/>
          <p:cNvSpPr/>
          <p:nvPr/>
        </p:nvSpPr>
        <p:spPr>
          <a:xfrm>
            <a:off x="396000" y="4716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32000" y="4716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00" y="4795200"/>
            <a:ext cx="8820000" cy="324000"/>
          </a:xfrm>
          <a:prstGeom prst="rect">
            <a:avLst/>
          </a:prstGeom>
          <a:noFill/>
        </p:spPr>
        <p:txBody>
          <a:bodyPr wrap="square" lIns="0" rIns="0" tIns="21600" bIns="21600" anchor="ctr">
            <a:spAutoFit/>
          </a:bodyPr>
          <a:lstStyle/>
          <a:p>
            <a:pPr algn="l"/>
            <a:r>
              <a:rPr sz="1400" b="1">
                <a:solidFill>
                  <a:srgbClr val="1C2233"/>
                </a:solidFill>
                <a:latin typeface="メイリオ"/>
                <a:ea typeface="メイリオ"/>
                <a:cs typeface="メイリオ"/>
              </a:rPr>
              <a:t>最も志望度が高いのは「OCに来てくれた高校生」。受付のQR1枚が、コストゼロで一番効く。</a:t>
            </a:r>
          </a:p>
        </p:txBody>
      </p:sp>
      <p:sp>
        <p:nvSpPr>
          <p:cNvPr id="8" name="TextBox 7"/>
          <p:cNvSpPr txBox="1"/>
          <p:nvPr/>
        </p:nvSpPr>
        <p:spPr>
          <a:xfrm>
            <a:off x="396000" y="5292000"/>
            <a:ext cx="9144000" cy="518400"/>
          </a:xfrm>
          <a:prstGeom prst="rect">
            <a:avLst/>
          </a:prstGeom>
          <a:noFill/>
        </p:spPr>
        <p:txBody>
          <a:bodyPr wrap="square" lIns="0" rIns="0" tIns="21600" bIns="21600" anchor="t">
            <a:spAutoFit/>
          </a:bodyPr>
          <a:lstStyle/>
          <a:p>
            <a:pPr algn="l">
              <a:lnSpc>
                <a:spcPct val="120000"/>
              </a:lnSpc>
            </a:pPr>
            <a:r>
              <a:rPr sz="900">
                <a:solidFill>
                  <a:srgbClr val="646C82"/>
                </a:solidFill>
                <a:latin typeface="メイリオ"/>
                <a:ea typeface="メイリオ"/>
                <a:cs typeface="メイリオ"/>
              </a:rPr>
              <a:t>※ 費用は DYM 標準（税抜・6ヶ月〜）。オフライン動線・WEBサイト動線整備はコンサル発注時は無償で付帯。</a:t>
            </a:r>
          </a:p>
          <a:p>
            <a:pPr algn="l">
              <a:lnSpc>
                <a:spcPct val="120000"/>
              </a:lnSpc>
            </a:pPr>
            <a:r>
              <a:rPr sz="900">
                <a:solidFill>
                  <a:srgbClr val="646C82"/>
                </a:solidFill>
                <a:latin typeface="メイリオ"/>
                <a:ea typeface="メイリオ"/>
                <a:cs typeface="メイリオ"/>
              </a:rPr>
              <a:t>※ 通知メッセージは Sales Partner／Tech Partner 限定公開のAPIを使用する機能。料金プランにより通数単価・利用可能機能が異なる。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施策設計②｜効率改善（配信の効果算出）</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配信ごとに「対象 → 訴求 → 開封率×クリック率×CVR → 件数」を一本の式で示す。</a:t>
            </a:r>
          </a:p>
          <a:p>
            <a:pPr algn="l">
              <a:lnSpc>
                <a:spcPct val="122000"/>
              </a:lnSpc>
            </a:pPr>
            <a:r>
              <a:rPr sz="1500">
                <a:solidFill>
                  <a:srgbClr val="646C82"/>
                </a:solidFill>
                <a:latin typeface="メイリオ"/>
                <a:ea typeface="メイリオ"/>
                <a:cs typeface="メイリオ"/>
              </a:rPr>
              <a:t>率は貴学の実績値を入れて確定する（進学領域の公開統計は存在しない）。</a:t>
            </a:r>
          </a:p>
        </p:txBody>
      </p:sp>
      <p:graphicFrame>
        <p:nvGraphicFramePr>
          <p:cNvPr id="4" name="Table 3"/>
          <p:cNvGraphicFramePr>
            <a:graphicFrameLocks noGrp="1"/>
          </p:cNvGraphicFramePr>
          <p:nvPr/>
        </p:nvGraphicFramePr>
        <p:xfrm>
          <a:off x="396000" y="1224000"/>
          <a:ext cx="9143999" cy="4464000"/>
        </p:xfrm>
        <a:graphic>
          <a:graphicData uri="http://schemas.openxmlformats.org/drawingml/2006/table">
            <a:tbl>
              <a:tblPr firstRow="1" bandRow="1">
                <a:tableStyleId>{5C22544A-7EE6-4342-B048-85BDC9FD1C3A}</a:tableStyleId>
              </a:tblPr>
              <a:tblGrid>
                <a:gridCol w="1224000"/>
                <a:gridCol w="2304000"/>
                <a:gridCol w="2951999"/>
                <a:gridCol w="1800000"/>
                <a:gridCol w="864000"/>
              </a:tblGrid>
              <a:tr h="558000">
                <a:tc>
                  <a:txBody>
                    <a:bodyPr wrap="square" lIns="50400" rIns="50400" tIns="10800" bIns="10800" anchor="ctr"/>
                    <a:lstStyle/>
                    <a:p>
                      <a:pPr algn="ctr"/>
                      <a:r>
                        <a:rPr sz="1200" b="1">
                          <a:solidFill>
                            <a:srgbClr val="FFFFFF"/>
                          </a:solidFill>
                          <a:latin typeface="メイリオ"/>
                          <a:ea typeface="メイリオ"/>
                          <a:cs typeface="メイリオ"/>
                        </a:rPr>
                        <a:t>区分</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対象（想定数）</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訴求</a:t>
                      </a:r>
                    </a:p>
                  </a:txBody>
                  <a:tcPr anchor="ctr">
                    <a:solidFill>
                      <a:srgbClr val="1F285A"/>
                    </a:solidFill>
                  </a:tcPr>
                </a:tc>
                <a:tc>
                  <a:txBody>
                    <a:bodyPr wrap="square" lIns="50400" rIns="50400" tIns="10800" bIns="10800" anchor="ctr"/>
                    <a:lstStyle/>
                    <a:p>
                      <a:pPr algn="ctr"/>
                      <a:r>
                        <a:rPr sz="1200" b="1">
                          <a:solidFill>
                            <a:srgbClr val="FFFFFF"/>
                          </a:solidFill>
                          <a:latin typeface="メイリオ"/>
                          <a:ea typeface="メイリオ"/>
                          <a:cs typeface="メイリオ"/>
                        </a:rPr>
                        <a:t>計算式</a:t>
                      </a:r>
                    </a:p>
                  </a:txBody>
                  <a:tcPr anchor="ctr">
                    <a:solidFill>
                      <a:srgbClr val="1F285A"/>
                    </a:solidFill>
                  </a:tcPr>
                </a:tc>
                <a:tc>
                  <a:txBody>
                    <a:bodyPr wrap="square" lIns="50400" rIns="50400" tIns="10800" bIns="10800" anchor="ctr"/>
                    <a:lstStyle/>
                    <a:p>
                      <a:pPr algn="ctr"/>
                      <a:r>
                        <a:rPr sz="1200" b="1">
                          <a:solidFill>
                            <a:srgbClr val="FFFFFF"/>
                          </a:solidFill>
                          <a:latin typeface="メイリオ"/>
                          <a:ea typeface="メイリオ"/>
                          <a:cs typeface="メイリオ"/>
                        </a:rPr>
                        <a:t>件数</a:t>
                      </a:r>
                    </a:p>
                  </a:txBody>
                  <a:tcPr anchor="ctr">
                    <a:solidFill>
                      <a:srgbClr val="1F285A"/>
                    </a:solidFill>
                  </a:tcPr>
                </a:tc>
              </a:tr>
              <a:tr h="558000">
                <a:tc>
                  <a:txBody>
                    <a:bodyPr wrap="square" lIns="50400" rIns="50400" tIns="10800" bIns="10800" anchor="ctr"/>
                    <a:lstStyle/>
                    <a:p>
                      <a:pPr algn="ctr"/>
                      <a:r>
                        <a:rPr sz="1100">
                          <a:solidFill>
                            <a:srgbClr val="1C2233"/>
                          </a:solidFill>
                          <a:latin typeface="メイリオ"/>
                          <a:ea typeface="メイリオ"/>
                          <a:cs typeface="メイリオ"/>
                        </a:rPr>
                        <a:t>ステップ配信</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Day0｜診断に回答した全員（○人）</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診断結果＋在学生の1日（動画3分）</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開封率×クリック率×CVR</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○件</a:t>
                      </a:r>
                    </a:p>
                  </a:txBody>
                  <a:tcPr anchor="ctr">
                    <a:solidFill>
                      <a:srgbClr val="FFFFFF"/>
                    </a:solidFill>
                  </a:tcPr>
                </a:tc>
              </a:tr>
              <a:tr h="558000">
                <a:tc>
                  <a:txBody>
                    <a:bodyPr wrap="square" lIns="50400" rIns="50400" tIns="10800" bIns="10800" anchor="ctr"/>
                    <a:lstStyle/>
                    <a:p>
                      <a:pPr algn="ctr"/>
                      <a:r>
                        <a:rPr sz="1100">
                          <a:solidFill>
                            <a:srgbClr val="1C2233"/>
                          </a:solidFill>
                          <a:latin typeface="メイリオ"/>
                          <a:ea typeface="メイリオ"/>
                          <a:cs typeface="メイリオ"/>
                        </a:rPr>
                        <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Day6｜Day0未反応者（○人）</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OC日程＋当日の流れ＋1人参加OK</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開封率×クリック率×CVR</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○件</a:t>
                      </a:r>
                    </a:p>
                  </a:txBody>
                  <a:tcPr anchor="ctr">
                    <a:solidFill>
                      <a:srgbClr val="F4F7FF"/>
                    </a:solidFill>
                  </a:tcPr>
                </a:tc>
              </a:tr>
              <a:tr h="558000">
                <a:tc>
                  <a:txBody>
                    <a:bodyPr wrap="square" lIns="50400" rIns="50400" tIns="10800" bIns="10800" anchor="ctr"/>
                    <a:lstStyle/>
                    <a:p>
                      <a:pPr algn="ctr"/>
                      <a:r>
                        <a:rPr sz="1100">
                          <a:solidFill>
                            <a:srgbClr val="1C2233"/>
                          </a:solidFill>
                          <a:latin typeface="メイリオ"/>
                          <a:ea typeface="メイリオ"/>
                          <a:cs typeface="メイリオ"/>
                        </a:rPr>
                        <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Day14｜未CV者（○人）</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残席状況＋オンライン相談も選べる</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開封率×クリック率×CVR</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○件</a:t>
                      </a:r>
                    </a:p>
                  </a:txBody>
                  <a:tcPr anchor="ctr">
                    <a:solidFill>
                      <a:srgbClr val="FFFFFF"/>
                    </a:solidFill>
                  </a:tcPr>
                </a:tc>
              </a:tr>
              <a:tr h="558000">
                <a:tc>
                  <a:txBody>
                    <a:bodyPr wrap="square" lIns="50400" rIns="50400" tIns="10800" bIns="10800" anchor="ctr"/>
                    <a:lstStyle/>
                    <a:p>
                      <a:pPr algn="ctr"/>
                      <a:r>
                        <a:rPr sz="1100">
                          <a:solidFill>
                            <a:srgbClr val="1C2233"/>
                          </a:solidFill>
                          <a:latin typeface="メイリオ"/>
                          <a:ea typeface="メイリオ"/>
                          <a:cs typeface="メイリオ"/>
                        </a:rPr>
                        <a:t>企画配信</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高2の友だち（○人）</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学部の選び方／文系理系の決め方</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開封率×クリック率×CVR</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○件</a:t>
                      </a:r>
                    </a:p>
                  </a:txBody>
                  <a:tcPr anchor="ctr">
                    <a:solidFill>
                      <a:srgbClr val="F4F7FF"/>
                    </a:solidFill>
                  </a:tcPr>
                </a:tc>
              </a:tr>
              <a:tr h="558000">
                <a:tc>
                  <a:txBody>
                    <a:bodyPr wrap="square" lIns="50400" rIns="50400" tIns="10800" bIns="10800" anchor="ctr"/>
                    <a:lstStyle/>
                    <a:p>
                      <a:pPr algn="ctr"/>
                      <a:r>
                        <a:rPr sz="1100">
                          <a:solidFill>
                            <a:srgbClr val="1C2233"/>
                          </a:solidFill>
                          <a:latin typeface="メイリオ"/>
                          <a:ea typeface="メイリオ"/>
                          <a:cs typeface="メイリオ"/>
                        </a:rPr>
                        <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9月｜OC参加者（○人）</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志望理由書の書き方（3ステップ・記入例つき）</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開封率×クリック率×CVR</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○件</a:t>
                      </a:r>
                    </a:p>
                  </a:txBody>
                  <a:tcPr anchor="ctr">
                    <a:solidFill>
                      <a:srgbClr val="FFFFFF"/>
                    </a:solidFill>
                  </a:tcPr>
                </a:tc>
              </a:tr>
              <a:tr h="558000">
                <a:tc>
                  <a:txBody>
                    <a:bodyPr wrap="square" lIns="50400" rIns="50400" tIns="10800" bIns="10800" anchor="ctr"/>
                    <a:lstStyle/>
                    <a:p>
                      <a:pPr algn="ctr"/>
                      <a:r>
                        <a:rPr sz="1100">
                          <a:solidFill>
                            <a:srgbClr val="1C2233"/>
                          </a:solidFill>
                          <a:latin typeface="メイリオ"/>
                          <a:ea typeface="メイリオ"/>
                          <a:cs typeface="メイリオ"/>
                        </a:rPr>
                        <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11月｜出願検討層（○人）</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学校推薦型の締切カウントダウン</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開封率×クリック率×CVR</a:t>
                      </a:r>
                    </a:p>
                  </a:txBody>
                  <a:tcPr anchor="ctr">
                    <a:solidFill>
                      <a:srgbClr val="F4F7FF"/>
                    </a:solidFill>
                  </a:tcPr>
                </a:tc>
                <a:tc>
                  <a:txBody>
                    <a:bodyPr wrap="square" lIns="50400" rIns="50400" tIns="10800" bIns="10800" anchor="ctr"/>
                    <a:lstStyle/>
                    <a:p>
                      <a:pPr algn="ctr"/>
                      <a:r>
                        <a:rPr sz="1100">
                          <a:solidFill>
                            <a:srgbClr val="1C2233"/>
                          </a:solidFill>
                          <a:latin typeface="メイリオ"/>
                          <a:ea typeface="メイリオ"/>
                          <a:cs typeface="メイリオ"/>
                        </a:rPr>
                        <a:t>○件</a:t>
                      </a:r>
                    </a:p>
                  </a:txBody>
                  <a:tcPr anchor="ctr">
                    <a:solidFill>
                      <a:srgbClr val="F4F7FF"/>
                    </a:solidFill>
                  </a:tcPr>
                </a:tc>
              </a:tr>
              <a:tr h="558000">
                <a:tc>
                  <a:txBody>
                    <a:bodyPr wrap="square" lIns="50400" rIns="50400" tIns="10800" bIns="10800" anchor="ctr"/>
                    <a:lstStyle/>
                    <a:p>
                      <a:pPr algn="ctr"/>
                      <a:r>
                        <a:rPr sz="1100">
                          <a:solidFill>
                            <a:srgbClr val="1C2233"/>
                          </a:solidFill>
                          <a:latin typeface="メイリオ"/>
                          <a:ea typeface="メイリオ"/>
                          <a:cs typeface="メイリオ"/>
                        </a:rPr>
                        <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2月｜合格者（○人）</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入学前オリエン・先輩との交流・一人暮らし準備</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開封率×クリック率×CVR</a:t>
                      </a:r>
                    </a:p>
                  </a:txBody>
                  <a:tcPr anchor="ctr">
                    <a:solidFill>
                      <a:srgbClr val="FFFFFF"/>
                    </a:solidFill>
                  </a:tcPr>
                </a:tc>
                <a:tc>
                  <a:txBody>
                    <a:bodyPr wrap="square" lIns="50400" rIns="50400" tIns="10800" bIns="10800" anchor="ctr"/>
                    <a:lstStyle/>
                    <a:p>
                      <a:pPr algn="ctr"/>
                      <a:r>
                        <a:rPr sz="1100">
                          <a:solidFill>
                            <a:srgbClr val="1C2233"/>
                          </a:solidFill>
                          <a:latin typeface="メイリオ"/>
                          <a:ea typeface="メイリオ"/>
                          <a:cs typeface="メイリオ"/>
                        </a:rPr>
                        <a:t>○件</a:t>
                      </a:r>
                    </a:p>
                  </a:txBody>
                  <a:tcPr anchor="ctr">
                    <a:solidFill>
                      <a:srgbClr val="FFFFFF"/>
                    </a:solidFill>
                  </a:tcPr>
                </a:tc>
              </a:tr>
            </a:tbl>
          </a:graphicData>
        </a:graphic>
      </p:graphicFrame>
      <p:sp>
        <p:nvSpPr>
          <p:cNvPr id="5" name="TextBox 4"/>
          <p:cNvSpPr txBox="1"/>
          <p:nvPr/>
        </p:nvSpPr>
        <p:spPr>
          <a:xfrm>
            <a:off x="396000" y="6138000"/>
            <a:ext cx="9144000" cy="518400"/>
          </a:xfrm>
          <a:prstGeom prst="rect">
            <a:avLst/>
          </a:prstGeom>
          <a:noFill/>
        </p:spPr>
        <p:txBody>
          <a:bodyPr wrap="square" lIns="0" rIns="0" tIns="21600" bIns="21600" anchor="t">
            <a:spAutoFit/>
          </a:bodyPr>
          <a:lstStyle/>
          <a:p>
            <a:pPr algn="l">
              <a:lnSpc>
                <a:spcPct val="120000"/>
              </a:lnSpc>
            </a:pPr>
            <a:r>
              <a:rPr sz="900">
                <a:solidFill>
                  <a:srgbClr val="646C82"/>
                </a:solidFill>
                <a:latin typeface="メイリオ"/>
                <a:ea typeface="メイリオ"/>
                <a:cs typeface="メイリオ"/>
              </a:rPr>
              <a:t>※ 配信の時期は Googleトレンド実測（2026-09-15取得）と文部科学省「大学入学者選抜実施要項」から逆算。</a:t>
            </a:r>
          </a:p>
          <a:p>
            <a:pPr algn="l">
              <a:lnSpc>
                <a:spcPct val="120000"/>
              </a:lnSpc>
            </a:pPr>
            <a:r>
              <a:rPr sz="900">
                <a:solidFill>
                  <a:srgbClr val="646C82"/>
                </a:solidFill>
                <a:latin typeface="メイリオ"/>
                <a:ea typeface="メイリオ"/>
                <a:cs typeface="メイリオ"/>
              </a:rPr>
              <a:t>※ 開封率・クリック率・CVR は貴学の実績で埋める。運用費は「施策設計①」の表を参照。</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施策設計③｜満足度改善（ユーザー）</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情報を届けるだけでなく、困ったときに自分で解決できる導線も用意する。</a:t>
            </a:r>
          </a:p>
        </p:txBody>
      </p:sp>
      <p:graphicFrame>
        <p:nvGraphicFramePr>
          <p:cNvPr id="4" name="Table 3"/>
          <p:cNvGraphicFramePr>
            <a:graphicFrameLocks noGrp="1"/>
          </p:cNvGraphicFramePr>
          <p:nvPr/>
        </p:nvGraphicFramePr>
        <p:xfrm>
          <a:off x="396000" y="1224000"/>
          <a:ext cx="9144000" cy="3024000"/>
        </p:xfrm>
        <a:graphic>
          <a:graphicData uri="http://schemas.openxmlformats.org/drawingml/2006/table">
            <a:tbl>
              <a:tblPr firstRow="1" bandRow="1">
                <a:tableStyleId>{5C22544A-7EE6-4342-B048-85BDC9FD1C3A}</a:tableStyleId>
              </a:tblPr>
              <a:tblGrid>
                <a:gridCol w="1944000"/>
                <a:gridCol w="7200000"/>
              </a:tblGrid>
              <a:tr h="756000">
                <a:tc>
                  <a:txBody>
                    <a:bodyPr wrap="square" lIns="50400" rIns="50400" tIns="10800" bIns="10800" anchor="ctr"/>
                    <a:lstStyle/>
                    <a:p>
                      <a:pPr algn="ctr"/>
                      <a:r>
                        <a:rPr sz="1200" b="1">
                          <a:solidFill>
                            <a:srgbClr val="FFFFFF"/>
                          </a:solidFill>
                          <a:latin typeface="メイリオ"/>
                          <a:ea typeface="メイリオ"/>
                          <a:cs typeface="メイリオ"/>
                        </a:rPr>
                        <a:t>区分</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内容</a:t>
                      </a:r>
                    </a:p>
                  </a:txBody>
                  <a:tcPr anchor="ctr">
                    <a:solidFill>
                      <a:srgbClr val="1F285A"/>
                    </a:solidFill>
                  </a:tcPr>
                </a:tc>
              </a:tr>
              <a:tr h="756000">
                <a:tc>
                  <a:txBody>
                    <a:bodyPr wrap="square" lIns="50400" rIns="50400" tIns="10800" bIns="10800" anchor="ctr"/>
                    <a:lstStyle/>
                    <a:p>
                      <a:pPr algn="ctr"/>
                      <a:r>
                        <a:rPr sz="1100">
                          <a:solidFill>
                            <a:srgbClr val="1C2233"/>
                          </a:solidFill>
                          <a:latin typeface="メイリオ"/>
                          <a:ea typeface="メイリオ"/>
                          <a:cs typeface="メイリオ"/>
                        </a:rPr>
                        <a:t>QA自動化</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リッチメニュー「よくある質問」＋KW自動応答（学費／奨学金／アクセス／OC／出願締切）。24時間、待たせない</a:t>
                      </a:r>
                    </a:p>
                  </a:txBody>
                  <a:tcPr anchor="ctr">
                    <a:solidFill>
                      <a:srgbClr val="FFFFFF"/>
                    </a:solidFill>
                  </a:tcPr>
                </a:tc>
              </a:tr>
              <a:tr h="756000">
                <a:tc>
                  <a:txBody>
                    <a:bodyPr wrap="square" lIns="50400" rIns="50400" tIns="10800" bIns="10800" anchor="ctr"/>
                    <a:lstStyle/>
                    <a:p>
                      <a:pPr algn="ctr"/>
                      <a:r>
                        <a:rPr sz="1100">
                          <a:solidFill>
                            <a:srgbClr val="1C2233"/>
                          </a:solidFill>
                          <a:latin typeface="メイリオ"/>
                          <a:ea typeface="メイリオ"/>
                          <a:cs typeface="メイリオ"/>
                        </a:rPr>
                        <a:t>個別チャット</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自動応答で解決しない相談は有人対応（Chat Plus／Call Plus・別途費用）。対応時間を必ず画面に明記する</a:t>
                      </a:r>
                    </a:p>
                  </a:txBody>
                  <a:tcPr anchor="ctr">
                    <a:solidFill>
                      <a:srgbClr val="F4F7FF"/>
                    </a:solidFill>
                  </a:tcPr>
                </a:tc>
              </a:tr>
              <a:tr h="756000">
                <a:tc>
                  <a:txBody>
                    <a:bodyPr wrap="square" lIns="50400" rIns="50400" tIns="10800" bIns="10800" anchor="ctr"/>
                    <a:lstStyle/>
                    <a:p>
                      <a:pPr algn="ctr"/>
                      <a:r>
                        <a:rPr sz="1100">
                          <a:solidFill>
                            <a:srgbClr val="1C2233"/>
                          </a:solidFill>
                          <a:latin typeface="メイリオ"/>
                          <a:ea typeface="メイリオ"/>
                          <a:cs typeface="メイリオ"/>
                        </a:rPr>
                        <a:t>その他</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「診断をやり直す」「配信を止める」で自己解決。ブロックさせないための出口を、隠さず置く</a:t>
                      </a:r>
                    </a:p>
                  </a:txBody>
                  <a:tcPr anchor="ctr">
                    <a:solidFill>
                      <a:srgbClr val="FFFFFF"/>
                    </a:solidFill>
                  </a:tcPr>
                </a:tc>
              </a:tr>
            </a:tbl>
          </a:graphicData>
        </a:graphic>
      </p:graphicFrame>
      <p:sp>
        <p:nvSpPr>
          <p:cNvPr id="5" name="Rounded Rectangle 4"/>
          <p:cNvSpPr/>
          <p:nvPr/>
        </p:nvSpPr>
        <p:spPr>
          <a:xfrm>
            <a:off x="396000" y="3816000"/>
            <a:ext cx="4464000" cy="151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ED7D31"/>
                </a:solidFill>
                <a:latin typeface="メイリオ"/>
                <a:ea typeface="メイリオ"/>
                <a:cs typeface="メイリオ"/>
              </a:rPr>
              <a:t>この業界で最大の恐怖に、先回りする</a:t>
            </a:r>
          </a:p>
          <a:p>
            <a:pPr algn="l">
              <a:lnSpc>
                <a:spcPct val="120000"/>
              </a:lnSpc>
              <a:spcAft>
                <a:spcPts val="200"/>
              </a:spcAft>
            </a:pPr>
            <a:r>
              <a:rPr sz="1100">
                <a:solidFill>
                  <a:srgbClr val="1C2233"/>
                </a:solidFill>
                <a:latin typeface="メイリオ"/>
                <a:ea typeface="メイリオ"/>
                <a:cs typeface="メイリオ"/>
              </a:rPr>
              <a:t>高校生が資料請求をためらう最大の理由は「そのあと電話がかかってくること」。</a:t>
            </a:r>
          </a:p>
          <a:p>
            <a:pPr algn="l">
              <a:lnSpc>
                <a:spcPct val="120000"/>
              </a:lnSpc>
              <a:spcAft>
                <a:spcPts val="200"/>
              </a:spcAft>
            </a:pPr>
            <a:r>
              <a:rPr sz="1100">
                <a:solidFill>
                  <a:srgbClr val="1C2233"/>
                </a:solidFill>
                <a:latin typeface="メイリオ"/>
                <a:ea typeface="メイリオ"/>
                <a:cs typeface="メイリオ"/>
              </a:rPr>
              <a:t>あいさつメッセージの1行目に</a:t>
            </a:r>
          </a:p>
          <a:p>
            <a:pPr algn="l">
              <a:lnSpc>
                <a:spcPct val="120000"/>
              </a:lnSpc>
              <a:spcAft>
                <a:spcPts val="200"/>
              </a:spcAft>
            </a:pPr>
            <a:r>
              <a:rPr sz="1100">
                <a:solidFill>
                  <a:srgbClr val="1C2233"/>
                </a:solidFill>
                <a:latin typeface="メイリオ"/>
                <a:ea typeface="メイリオ"/>
                <a:cs typeface="メイリオ"/>
              </a:rPr>
              <a:t>「こちらから確認のお電話をすることはありません」と書く。コストはゼロ。</a:t>
            </a:r>
          </a:p>
        </p:txBody>
      </p:sp>
      <p:sp>
        <p:nvSpPr>
          <p:cNvPr id="6" name="Rounded Rectangle 5"/>
          <p:cNvSpPr/>
          <p:nvPr/>
        </p:nvSpPr>
        <p:spPr>
          <a:xfrm>
            <a:off x="5076000" y="3816000"/>
            <a:ext cx="4464000" cy="151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1F285A"/>
                </a:solidFill>
                <a:latin typeface="メイリオ"/>
                <a:ea typeface="メイリオ"/>
                <a:cs typeface="メイリオ"/>
              </a:rPr>
              <a:t>保護者も同じアカウントで受け止める</a:t>
            </a:r>
          </a:p>
          <a:p>
            <a:pPr algn="l">
              <a:lnSpc>
                <a:spcPct val="120000"/>
              </a:lnSpc>
              <a:spcAft>
                <a:spcPts val="200"/>
              </a:spcAft>
            </a:pPr>
            <a:r>
              <a:rPr sz="1100">
                <a:solidFill>
                  <a:srgbClr val="1C2233"/>
                </a:solidFill>
                <a:latin typeface="メイリオ"/>
                <a:ea typeface="メイリオ"/>
                <a:cs typeface="メイリオ"/>
              </a:rPr>
              <a:t>決める人（高校生）と払う人（保護者）が違う業界。</a:t>
            </a:r>
          </a:p>
          <a:p>
            <a:pPr algn="l">
              <a:lnSpc>
                <a:spcPct val="120000"/>
              </a:lnSpc>
              <a:spcAft>
                <a:spcPts val="200"/>
              </a:spcAft>
            </a:pPr>
            <a:r>
              <a:rPr sz="1100">
                <a:solidFill>
                  <a:srgbClr val="1C2233"/>
                </a:solidFill>
                <a:latin typeface="メイリオ"/>
                <a:ea typeface="メイリオ"/>
                <a:cs typeface="メイリオ"/>
              </a:rPr>
              <a:t>「保護者の方も、このままご覧いただけます」を明記し、</a:t>
            </a:r>
          </a:p>
          <a:p>
            <a:pPr algn="l">
              <a:lnSpc>
                <a:spcPct val="120000"/>
              </a:lnSpc>
              <a:spcAft>
                <a:spcPts val="200"/>
              </a:spcAft>
            </a:pPr>
            <a:r>
              <a:rPr sz="1100">
                <a:solidFill>
                  <a:srgbClr val="1C2233"/>
                </a:solidFill>
                <a:latin typeface="メイリオ"/>
                <a:ea typeface="メイリオ"/>
                <a:cs typeface="メイリオ"/>
              </a:rPr>
              <a:t>リッチメニュー③に学費・奨学金・就職実績をまとめて置く。</a:t>
            </a:r>
          </a:p>
        </p:txBody>
      </p:sp>
      <p:sp>
        <p:nvSpPr>
          <p:cNvPr id="7" name="Rectangle 6"/>
          <p:cNvSpPr/>
          <p:nvPr/>
        </p:nvSpPr>
        <p:spPr>
          <a:xfrm>
            <a:off x="396000" y="5544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2000" y="5544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00" y="5623200"/>
            <a:ext cx="8820000" cy="324000"/>
          </a:xfrm>
          <a:prstGeom prst="rect">
            <a:avLst/>
          </a:prstGeom>
          <a:noFill/>
        </p:spPr>
        <p:txBody>
          <a:bodyPr wrap="square" lIns="0" rIns="0" tIns="21600" bIns="21600" anchor="ctr">
            <a:spAutoFit/>
          </a:bodyPr>
          <a:lstStyle/>
          <a:p>
            <a:pPr algn="l"/>
            <a:r>
              <a:rPr sz="1400" b="1">
                <a:solidFill>
                  <a:srgbClr val="1C2233"/>
                </a:solidFill>
                <a:latin typeface="メイリオ"/>
                <a:ea typeface="メイリオ"/>
                <a:cs typeface="メイリオ"/>
              </a:rPr>
              <a:t>困ったときに自分で解決できるほど、ブロックされずに残る。</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108000"/>
            <a:ext cx="7523999" cy="360000"/>
          </a:xfrm>
          <a:prstGeom prst="rect">
            <a:avLst/>
          </a:prstGeom>
          <a:noFill/>
        </p:spPr>
        <p:txBody>
          <a:bodyPr wrap="square" lIns="0" rIns="0" tIns="21600" bIns="21600" anchor="ctr">
            <a:spAutoFit/>
          </a:bodyPr>
          <a:lstStyle/>
          <a:p>
            <a:pPr algn="l"/>
            <a:r>
              <a:rPr sz="1600" b="1">
                <a:solidFill>
                  <a:srgbClr val="1F2A5C"/>
                </a:solidFill>
                <a:latin typeface="メイリオ"/>
                <a:ea typeface="メイリオ"/>
                <a:cs typeface="メイリオ"/>
              </a:rPr>
              <a:t>施策設計④｜効率改善（管理側）</a:t>
            </a:r>
          </a:p>
        </p:txBody>
      </p:sp>
      <p:sp>
        <p:nvSpPr>
          <p:cNvPr id="3" name="TextBox 2"/>
          <p:cNvSpPr txBox="1"/>
          <p:nvPr/>
        </p:nvSpPr>
        <p:spPr>
          <a:xfrm>
            <a:off x="396000" y="720000"/>
            <a:ext cx="9144000" cy="396000"/>
          </a:xfrm>
          <a:prstGeom prst="rect">
            <a:avLst/>
          </a:prstGeom>
          <a:noFill/>
        </p:spPr>
        <p:txBody>
          <a:bodyPr wrap="square" lIns="0" rIns="0" tIns="21600" bIns="21600" anchor="ctr">
            <a:spAutoFit/>
          </a:bodyPr>
          <a:lstStyle/>
          <a:p>
            <a:pPr algn="l">
              <a:lnSpc>
                <a:spcPct val="122000"/>
              </a:lnSpc>
            </a:pPr>
            <a:r>
              <a:rPr sz="1500">
                <a:solidFill>
                  <a:srgbClr val="646C82"/>
                </a:solidFill>
                <a:latin typeface="メイリオ"/>
                <a:ea typeface="メイリオ"/>
                <a:cs typeface="メイリオ"/>
              </a:rPr>
              <a:t>人手を増やさずに、資料請求直後の初動と、募集ピーク期の問い合わせ対応を回す。</a:t>
            </a:r>
          </a:p>
        </p:txBody>
      </p:sp>
      <p:graphicFrame>
        <p:nvGraphicFramePr>
          <p:cNvPr id="4" name="Table 3"/>
          <p:cNvGraphicFramePr>
            <a:graphicFrameLocks noGrp="1"/>
          </p:cNvGraphicFramePr>
          <p:nvPr/>
        </p:nvGraphicFramePr>
        <p:xfrm>
          <a:off x="396000" y="1224000"/>
          <a:ext cx="9144000" cy="2268000"/>
        </p:xfrm>
        <a:graphic>
          <a:graphicData uri="http://schemas.openxmlformats.org/drawingml/2006/table">
            <a:tbl>
              <a:tblPr firstRow="1" bandRow="1">
                <a:tableStyleId>{5C22544A-7EE6-4342-B048-85BDC9FD1C3A}</a:tableStyleId>
              </a:tblPr>
              <a:tblGrid>
                <a:gridCol w="1944000"/>
                <a:gridCol w="7200000"/>
              </a:tblGrid>
              <a:tr h="756000">
                <a:tc>
                  <a:txBody>
                    <a:bodyPr wrap="square" lIns="50400" rIns="50400" tIns="10800" bIns="10800" anchor="ctr"/>
                    <a:lstStyle/>
                    <a:p>
                      <a:pPr algn="ctr"/>
                      <a:r>
                        <a:rPr sz="1200" b="1">
                          <a:solidFill>
                            <a:srgbClr val="FFFFFF"/>
                          </a:solidFill>
                          <a:latin typeface="メイリオ"/>
                          <a:ea typeface="メイリオ"/>
                          <a:cs typeface="メイリオ"/>
                        </a:rPr>
                        <a:t>区分</a:t>
                      </a:r>
                    </a:p>
                  </a:txBody>
                  <a:tcPr anchor="ctr">
                    <a:solidFill>
                      <a:srgbClr val="1F285A"/>
                    </a:solidFill>
                  </a:tcPr>
                </a:tc>
                <a:tc>
                  <a:txBody>
                    <a:bodyPr wrap="square" lIns="50400" rIns="50400" tIns="10800" bIns="10800" anchor="ctr"/>
                    <a:lstStyle/>
                    <a:p>
                      <a:pPr algn="l"/>
                      <a:r>
                        <a:rPr sz="1200" b="1">
                          <a:solidFill>
                            <a:srgbClr val="FFFFFF"/>
                          </a:solidFill>
                          <a:latin typeface="メイリオ"/>
                          <a:ea typeface="メイリオ"/>
                          <a:cs typeface="メイリオ"/>
                        </a:rPr>
                        <a:t>内容</a:t>
                      </a:r>
                    </a:p>
                  </a:txBody>
                  <a:tcPr anchor="ctr">
                    <a:solidFill>
                      <a:srgbClr val="1F285A"/>
                    </a:solidFill>
                  </a:tcPr>
                </a:tc>
              </a:tr>
              <a:tr h="756000">
                <a:tc>
                  <a:txBody>
                    <a:bodyPr wrap="square" lIns="50400" rIns="50400" tIns="10800" bIns="10800" anchor="ctr"/>
                    <a:lstStyle/>
                    <a:p>
                      <a:pPr algn="ctr"/>
                      <a:r>
                        <a:rPr sz="1100">
                          <a:solidFill>
                            <a:srgbClr val="1C2233"/>
                          </a:solidFill>
                          <a:latin typeface="メイリオ"/>
                          <a:ea typeface="メイリオ"/>
                          <a:cs typeface="メイリオ"/>
                        </a:rPr>
                        <a:t>自動応答</a:t>
                      </a:r>
                    </a:p>
                  </a:txBody>
                  <a:tcPr anchor="ctr">
                    <a:solidFill>
                      <a:srgbClr val="FFFFFF"/>
                    </a:solidFill>
                  </a:tcPr>
                </a:tc>
                <a:tc>
                  <a:txBody>
                    <a:bodyPr wrap="square" lIns="50400" rIns="50400" tIns="10800" bIns="10800" anchor="ctr"/>
                    <a:lstStyle/>
                    <a:p>
                      <a:pPr algn="l"/>
                      <a:r>
                        <a:rPr sz="1100">
                          <a:solidFill>
                            <a:srgbClr val="1C2233"/>
                          </a:solidFill>
                          <a:latin typeface="メイリオ"/>
                          <a:ea typeface="メイリオ"/>
                          <a:cs typeface="メイリオ"/>
                        </a:rPr>
                        <a:t>資料請求の直後にあいさつ＋診断4問を自動送信。夜間でも初動の速度が落ちない</a:t>
                      </a:r>
                    </a:p>
                  </a:txBody>
                  <a:tcPr anchor="ctr">
                    <a:solidFill>
                      <a:srgbClr val="FFFFFF"/>
                    </a:solidFill>
                  </a:tcPr>
                </a:tc>
              </a:tr>
              <a:tr h="756000">
                <a:tc>
                  <a:txBody>
                    <a:bodyPr wrap="square" lIns="50400" rIns="50400" tIns="10800" bIns="10800" anchor="ctr"/>
                    <a:lstStyle/>
                    <a:p>
                      <a:pPr algn="ctr"/>
                      <a:r>
                        <a:rPr sz="1100">
                          <a:solidFill>
                            <a:srgbClr val="1C2233"/>
                          </a:solidFill>
                          <a:latin typeface="メイリオ"/>
                          <a:ea typeface="メイリオ"/>
                          <a:cs typeface="メイリオ"/>
                        </a:rPr>
                        <a:t>その他</a:t>
                      </a:r>
                    </a:p>
                  </a:txBody>
                  <a:tcPr anchor="ctr">
                    <a:solidFill>
                      <a:srgbClr val="F4F7FF"/>
                    </a:solidFill>
                  </a:tcPr>
                </a:tc>
                <a:tc>
                  <a:txBody>
                    <a:bodyPr wrap="square" lIns="50400" rIns="50400" tIns="10800" bIns="10800" anchor="ctr"/>
                    <a:lstStyle/>
                    <a:p>
                      <a:pPr algn="l"/>
                      <a:r>
                        <a:rPr sz="1100">
                          <a:solidFill>
                            <a:srgbClr val="1C2233"/>
                          </a:solidFill>
                          <a:latin typeface="メイリオ"/>
                          <a:ea typeface="メイリオ"/>
                          <a:cs typeface="メイリオ"/>
                        </a:rPr>
                        <a:t>GAレポート連携で、友だち数・OC予約率・OC参加率・出願率を毎月数値で振り返る</a:t>
                      </a:r>
                    </a:p>
                  </a:txBody>
                  <a:tcPr anchor="ctr">
                    <a:solidFill>
                      <a:srgbClr val="F4F7FF"/>
                    </a:solidFill>
                  </a:tcPr>
                </a:tc>
              </a:tr>
            </a:tbl>
          </a:graphicData>
        </a:graphic>
      </p:graphicFrame>
      <p:sp>
        <p:nvSpPr>
          <p:cNvPr id="5" name="Rounded Rectangle 4"/>
          <p:cNvSpPr/>
          <p:nvPr/>
        </p:nvSpPr>
        <p:spPr>
          <a:xfrm>
            <a:off x="396000" y="3168000"/>
            <a:ext cx="4464000"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1F285A"/>
                </a:solidFill>
                <a:latin typeface="メイリオ"/>
                <a:ea typeface="メイリオ"/>
                <a:cs typeface="メイリオ"/>
              </a:rPr>
              <a:t>電話が鳴り続けるのは7〜8月と1〜2月</a:t>
            </a:r>
          </a:p>
          <a:p>
            <a:pPr algn="l">
              <a:lnSpc>
                <a:spcPct val="120000"/>
              </a:lnSpc>
              <a:spcAft>
                <a:spcPts val="200"/>
              </a:spcAft>
            </a:pPr>
            <a:r>
              <a:rPr sz="1100">
                <a:solidFill>
                  <a:srgbClr val="1C2233"/>
                </a:solidFill>
                <a:latin typeface="メイリオ"/>
                <a:ea typeface="メイリオ"/>
                <a:cs typeface="メイリオ"/>
              </a:rPr>
              <a:t>「学費は」「アクセスは」「締切は」——入試広報課の電話が集中する時期は、</a:t>
            </a:r>
          </a:p>
          <a:p>
            <a:pPr algn="l">
              <a:lnSpc>
                <a:spcPct val="120000"/>
              </a:lnSpc>
              <a:spcAft>
                <a:spcPts val="200"/>
              </a:spcAft>
            </a:pPr>
            <a:r>
              <a:rPr sz="1100">
                <a:solidFill>
                  <a:srgbClr val="1C2233"/>
                </a:solidFill>
                <a:latin typeface="メイリオ"/>
                <a:ea typeface="メイリオ"/>
                <a:cs typeface="メイリオ"/>
              </a:rPr>
              <a:t>そのまま募集のピークと重なる。</a:t>
            </a:r>
          </a:p>
          <a:p>
            <a:pPr algn="l">
              <a:lnSpc>
                <a:spcPct val="120000"/>
              </a:lnSpc>
              <a:spcAft>
                <a:spcPts val="200"/>
              </a:spcAft>
            </a:pPr>
            <a:r>
              <a:rPr sz="1100">
                <a:solidFill>
                  <a:srgbClr val="1C2233"/>
                </a:solidFill>
                <a:latin typeface="メイリオ"/>
                <a:ea typeface="メイリオ"/>
                <a:cs typeface="メイリオ"/>
              </a:rPr>
              <a:t>この問い合わせをKW自動応答に逃がすと、</a:t>
            </a:r>
          </a:p>
          <a:p>
            <a:pPr algn="l">
              <a:lnSpc>
                <a:spcPct val="120000"/>
              </a:lnSpc>
              <a:spcAft>
                <a:spcPts val="200"/>
              </a:spcAft>
            </a:pPr>
            <a:r>
              <a:rPr sz="1100">
                <a:solidFill>
                  <a:srgbClr val="1C2233"/>
                </a:solidFill>
                <a:latin typeface="メイリオ"/>
                <a:ea typeface="メイリオ"/>
                <a:cs typeface="メイリオ"/>
              </a:rPr>
              <a:t>その時間が募集活動そのものに戻る。</a:t>
            </a:r>
          </a:p>
          <a:p>
            <a:pPr algn="l">
              <a:lnSpc>
                <a:spcPct val="120000"/>
              </a:lnSpc>
              <a:spcAft>
                <a:spcPts val="200"/>
              </a:spcAft>
            </a:pPr>
            <a:r>
              <a:rPr sz="1100">
                <a:solidFill>
                  <a:srgbClr val="1C2233"/>
                </a:solidFill>
                <a:latin typeface="メイリオ"/>
                <a:ea typeface="メイリオ"/>
                <a:cs typeface="メイリオ"/>
              </a:rPr>
              <a:t>※ 工数削減は時給換算で語らない。「ピーク期に募集の手が止まる」で語る。</a:t>
            </a:r>
          </a:p>
        </p:txBody>
      </p:sp>
      <p:sp>
        <p:nvSpPr>
          <p:cNvPr id="6" name="Rounded Rectangle 5"/>
          <p:cNvSpPr/>
          <p:nvPr/>
        </p:nvSpPr>
        <p:spPr>
          <a:xfrm>
            <a:off x="5076000" y="3168000"/>
            <a:ext cx="4464000" cy="2160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86400" rIns="72000" tIns="57600" bIns="43200"/>
          <a:lstStyle/>
          <a:p>
            <a:pPr algn="l">
              <a:spcAft>
                <a:spcPts val="400"/>
              </a:spcAft>
            </a:pPr>
            <a:r>
              <a:rPr sz="1200" b="1">
                <a:solidFill>
                  <a:srgbClr val="ED7D31"/>
                </a:solidFill>
                <a:latin typeface="メイリオ"/>
                <a:ea typeface="メイリオ"/>
                <a:cs typeface="メイリオ"/>
              </a:rPr>
              <a:t>紙とメールのコストも落ちる</a:t>
            </a:r>
          </a:p>
          <a:p>
            <a:pPr algn="l">
              <a:lnSpc>
                <a:spcPct val="120000"/>
              </a:lnSpc>
              <a:spcAft>
                <a:spcPts val="200"/>
              </a:spcAft>
            </a:pPr>
            <a:r>
              <a:rPr sz="1100">
                <a:solidFill>
                  <a:srgbClr val="1C2233"/>
                </a:solidFill>
                <a:latin typeface="メイリオ"/>
                <a:ea typeface="メイリオ"/>
                <a:cs typeface="メイリオ"/>
              </a:rPr>
              <a:t>デジタルパンフをLINEで配信すれば、</a:t>
            </a:r>
          </a:p>
          <a:p>
            <a:pPr algn="l">
              <a:lnSpc>
                <a:spcPct val="120000"/>
              </a:lnSpc>
              <a:spcAft>
                <a:spcPts val="200"/>
              </a:spcAft>
            </a:pPr>
            <a:r>
              <a:rPr sz="1100">
                <a:solidFill>
                  <a:srgbClr val="1C2233"/>
                </a:solidFill>
                <a:latin typeface="メイリオ"/>
                <a:ea typeface="メイリオ"/>
                <a:cs typeface="メイリオ"/>
              </a:rPr>
              <a:t>印刷費・郵送費・封入作業がゼロになる。</a:t>
            </a:r>
          </a:p>
          <a:p>
            <a:pPr algn="l">
              <a:lnSpc>
                <a:spcPct val="120000"/>
              </a:lnSpc>
              <a:spcAft>
                <a:spcPts val="200"/>
              </a:spcAft>
            </a:pPr>
            <a:r>
              <a:rPr sz="1100">
                <a:solidFill>
                  <a:srgbClr val="1C2233"/>
                </a:solidFill>
                <a:latin typeface="メイリオ"/>
                <a:ea typeface="メイリオ"/>
                <a:cs typeface="メイリオ"/>
              </a:rPr>
              <a:t>しかも資料請求で取ったメールアドレスは、</a:t>
            </a:r>
          </a:p>
          <a:p>
            <a:pPr algn="l">
              <a:lnSpc>
                <a:spcPct val="120000"/>
              </a:lnSpc>
              <a:spcAft>
                <a:spcPts val="200"/>
              </a:spcAft>
            </a:pPr>
            <a:r>
              <a:rPr sz="1100">
                <a:solidFill>
                  <a:srgbClr val="1C2233"/>
                </a:solidFill>
                <a:latin typeface="メイリオ"/>
                <a:ea typeface="メイリオ"/>
                <a:cs typeface="メイリオ"/>
              </a:rPr>
              <a:t>高校生が最も見ない経路。</a:t>
            </a:r>
          </a:p>
          <a:p>
            <a:pPr algn="l">
              <a:lnSpc>
                <a:spcPct val="120000"/>
              </a:lnSpc>
              <a:spcAft>
                <a:spcPts val="200"/>
              </a:spcAft>
            </a:pPr>
            <a:r>
              <a:rPr sz="1100">
                <a:solidFill>
                  <a:srgbClr val="1C2233"/>
                </a:solidFill>
                <a:latin typeface="メイリオ"/>
                <a:ea typeface="メイリオ"/>
                <a:cs typeface="メイリオ"/>
              </a:rPr>
              <a:t>LINEなら当日中に約8割が開封される（LINEヤフー社公開値）。</a:t>
            </a:r>
          </a:p>
        </p:txBody>
      </p:sp>
      <p:sp>
        <p:nvSpPr>
          <p:cNvPr id="7" name="Rectangle 6"/>
          <p:cNvSpPr/>
          <p:nvPr/>
        </p:nvSpPr>
        <p:spPr>
          <a:xfrm>
            <a:off x="396000" y="5544000"/>
            <a:ext cx="72000" cy="468000"/>
          </a:xfrm>
          <a:prstGeom prst="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2000" y="5544000"/>
            <a:ext cx="9072000" cy="46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00" y="5623200"/>
            <a:ext cx="8820000" cy="324000"/>
          </a:xfrm>
          <a:prstGeom prst="rect">
            <a:avLst/>
          </a:prstGeom>
          <a:noFill/>
        </p:spPr>
        <p:txBody>
          <a:bodyPr wrap="square" lIns="0" rIns="0" tIns="21600" bIns="21600" anchor="ctr">
            <a:spAutoFit/>
          </a:bodyPr>
          <a:lstStyle/>
          <a:p>
            <a:pPr algn="l"/>
            <a:r>
              <a:rPr sz="1400" b="1">
                <a:solidFill>
                  <a:srgbClr val="1C2233"/>
                </a:solidFill>
                <a:latin typeface="メイリオ"/>
                <a:ea typeface="メイリオ"/>
                <a:cs typeface="メイリオ"/>
              </a:rPr>
              <a:t>増員ではなく自動化で、募集ピーク期の初動速度を守る。</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257E-053E-E603-90CB-9BDC893E2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3E008DC-B597-D6BE-17A5-E0E8A30F3C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9C67BF09-6100-F781-92A9-1D3AD767C055}"/>
              </a:ext>
            </a:extLst>
          </p:cNvPr>
          <p:cNvSpPr/>
          <p:nvPr/>
        </p:nvSpPr>
        <p:spPr>
          <a:xfrm>
            <a:off x="3424390" y="3038203"/>
            <a:ext cx="305724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具体プラン提示</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633196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AC0CE-FB74-5332-7EA1-C1F4EC9ED09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F0674222-23F2-C2FA-1676-03E492633A9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6D660AB6-8BEB-7060-C6E7-84B830DE3B7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sz="1600" b="1" dirty="0">
                <a:solidFill>
                  <a:srgbClr val="333333"/>
                </a:solidFill>
                <a:latin typeface="メイリオ"/>
                <a:ea typeface="メイリオ"/>
              </a:rPr>
              <a:t>「</a:t>
            </a:r>
            <a:r>
              <a:rPr sz="1600" b="1" dirty="0" err="1">
                <a:solidFill>
                  <a:srgbClr val="333333"/>
                </a:solidFill>
                <a:latin typeface="メイリオ"/>
                <a:ea typeface="メイリオ"/>
              </a:rPr>
              <a:t>ターゲット</a:t>
            </a:r>
            <a:r>
              <a:rPr sz="1600" b="1" dirty="0">
                <a:solidFill>
                  <a:srgbClr val="333333"/>
                </a:solidFill>
                <a:latin typeface="メイリオ"/>
                <a:ea typeface="メイリオ"/>
              </a:rPr>
              <a:t> × </a:t>
            </a:r>
            <a:r>
              <a:rPr sz="1600" b="1" dirty="0" err="1">
                <a:solidFill>
                  <a:srgbClr val="333333"/>
                </a:solidFill>
                <a:latin typeface="メイリオ"/>
                <a:ea typeface="メイリオ"/>
              </a:rPr>
              <a:t>ステップ」</a:t>
            </a:r>
            <a:r>
              <a:rPr sz="1600" b="0" dirty="0" err="1">
                <a:solidFill>
                  <a:srgbClr val="333333"/>
                </a:solidFill>
                <a:latin typeface="メイリオ"/>
                <a:ea typeface="メイリオ"/>
              </a:rPr>
              <a:t>を軸にした構成</a:t>
            </a:r>
            <a:r>
              <a:rPr sz="1600" b="0" dirty="0">
                <a:solidFill>
                  <a:srgbClr val="333333"/>
                </a:solidFill>
                <a:latin typeface="メイリオ"/>
                <a:ea typeface="メイリオ"/>
              </a:rPr>
              <a:t>。</a:t>
            </a:r>
            <a:endParaRPr lang="en-US" sz="1600" b="0" dirty="0">
              <a:solidFill>
                <a:srgbClr val="333333"/>
              </a:solidFill>
              <a:latin typeface="メイリオ"/>
              <a:ea typeface="メイリオ"/>
            </a:endParaRPr>
          </a:p>
          <a:p>
            <a:pPr algn="ctr">
              <a:lnSpc>
                <a:spcPts val="2455"/>
              </a:lnSpc>
            </a:pPr>
            <a:r>
              <a:rPr sz="1600" b="0" dirty="0">
                <a:solidFill>
                  <a:srgbClr val="333333"/>
                </a:solidFill>
                <a:latin typeface="メイリオ"/>
                <a:ea typeface="メイリオ"/>
              </a:rPr>
              <a:t>◯</a:t>
            </a:r>
            <a:r>
              <a:rPr sz="1600" b="0" dirty="0" err="1">
                <a:solidFill>
                  <a:srgbClr val="333333"/>
                </a:solidFill>
                <a:latin typeface="メイリオ"/>
                <a:ea typeface="メイリオ"/>
              </a:rPr>
              <a:t>の数は貴社の商材数・リスト規模に合わせて確定します</a:t>
            </a:r>
            <a:r>
              <a:rPr sz="1600" b="0" dirty="0">
                <a:solidFill>
                  <a:srgbClr val="333333"/>
                </a:solidFill>
                <a:latin typeface="メイリオ"/>
                <a:ea typeface="メイリオ"/>
              </a:rPr>
              <a:t>。</a:t>
            </a:r>
            <a:endParaRPr lang="en-US" altLang="ja-JP"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A222F43F-D0AF-9AFC-9F2B-653C85E63E7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A2BA354-F6A0-F5FB-F7A4-8C5F010328B8}"/>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ご提供プラン（運用構成）</a:t>
            </a:r>
            <a:endParaRPr sz="1600" b="1" dirty="0">
              <a:solidFill>
                <a:srgbClr val="002060"/>
              </a:solidFill>
              <a:latin typeface="メイリオ"/>
              <a:ea typeface="メイリオ"/>
              <a:cs typeface="Meiryo"/>
              <a:sym typeface="Meiryo"/>
            </a:endParaRPr>
          </a:p>
        </p:txBody>
      </p:sp>
      <p:sp>
        <p:nvSpPr>
          <p:cNvPr id="46" name="Rounded Rectangle 45"/>
          <p:cNvSpPr/>
          <p:nvPr/>
        </p:nvSpPr>
        <p:spPr>
          <a:xfrm>
            <a:off x="350000" y="1560000"/>
            <a:ext cx="4300000" cy="37850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運用構成（貴社に合わせて確定</a:t>
            </a:r>
            <a:r>
              <a:rPr sz="1400" b="1" dirty="0">
                <a:solidFill>
                  <a:srgbClr val="1F3A5F"/>
                </a:solidFill>
                <a:latin typeface="メイリオ"/>
                <a:ea typeface="メイリオ"/>
              </a:rPr>
              <a:t>）</a:t>
            </a:r>
          </a:p>
        </p:txBody>
      </p:sp>
      <p:sp>
        <p:nvSpPr>
          <p:cNvPr id="47" name="Rounded Rectangle 46"/>
          <p:cNvSpPr/>
          <p:nvPr/>
        </p:nvSpPr>
        <p:spPr>
          <a:xfrm>
            <a:off x="350000" y="1929999"/>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ターゲット</a:t>
            </a:r>
            <a:r>
              <a:rPr sz="1400" b="1" dirty="0">
                <a:solidFill>
                  <a:srgbClr val="1F3A5F"/>
                </a:solidFill>
                <a:latin typeface="メイリオ"/>
                <a:ea typeface="メイリオ"/>
              </a:rPr>
              <a:t>：◯ 個</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二軸アンケート（配信頻度×商材）で分類</a:t>
            </a:r>
            <a:endParaRPr sz="1200" b="0" dirty="0">
              <a:solidFill>
                <a:srgbClr val="333333"/>
              </a:solidFill>
              <a:latin typeface="メイリオ"/>
              <a:ea typeface="メイリオ"/>
            </a:endParaRPr>
          </a:p>
          <a:p>
            <a:pPr algn="l"/>
            <a:r>
              <a:rPr sz="1200" b="0" dirty="0">
                <a:solidFill>
                  <a:srgbClr val="555555"/>
                </a:solidFill>
                <a:latin typeface="メイリオ"/>
                <a:ea typeface="メイリオ"/>
              </a:rPr>
              <a:t>例：3個｜「</a:t>
            </a:r>
            <a:r>
              <a:rPr sz="1200" b="0" dirty="0" err="1">
                <a:solidFill>
                  <a:srgbClr val="555555"/>
                </a:solidFill>
                <a:latin typeface="メイリオ"/>
                <a:ea typeface="メイリオ"/>
              </a:rPr>
              <a:t>今すぐ</a:t>
            </a:r>
            <a:r>
              <a:rPr sz="1200" b="0" dirty="0">
                <a:solidFill>
                  <a:srgbClr val="555555"/>
                </a:solidFill>
                <a:latin typeface="メイリオ"/>
                <a:ea typeface="メイリオ"/>
              </a:rPr>
              <a:t>/1ヶ月以内/2〜3ヶ月先・未定」</a:t>
            </a:r>
          </a:p>
        </p:txBody>
      </p:sp>
      <p:sp>
        <p:nvSpPr>
          <p:cNvPr id="48" name="Rounded Rectangle 47"/>
          <p:cNvSpPr/>
          <p:nvPr/>
        </p:nvSpPr>
        <p:spPr>
          <a:xfrm>
            <a:off x="340857" y="3388642"/>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ステップ配信：各</a:t>
            </a:r>
            <a:r>
              <a:rPr sz="1400" b="1" dirty="0">
                <a:solidFill>
                  <a:srgbClr val="1F3A5F"/>
                </a:solidFill>
                <a:latin typeface="メイリオ"/>
                <a:ea typeface="メイリオ"/>
              </a:rPr>
              <a:t>◯ 通 × ◯ </a:t>
            </a:r>
            <a:r>
              <a:rPr sz="1400" b="1" dirty="0" err="1">
                <a:solidFill>
                  <a:srgbClr val="1F3A5F"/>
                </a:solidFill>
                <a:latin typeface="メイリオ"/>
                <a:ea typeface="メイリオ"/>
              </a:rPr>
              <a:t>セット</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ターゲット別シナリオを全自動で稼働</a:t>
            </a:r>
            <a:endParaRPr sz="1200" b="0" dirty="0">
              <a:solidFill>
                <a:srgbClr val="333333"/>
              </a:solidFill>
              <a:latin typeface="メイリオ"/>
              <a:ea typeface="メイリオ"/>
            </a:endParaRPr>
          </a:p>
          <a:p>
            <a:pPr algn="l"/>
            <a:r>
              <a:rPr sz="1200" b="0" dirty="0">
                <a:solidFill>
                  <a:srgbClr val="555555"/>
                </a:solidFill>
                <a:latin typeface="メイリオ"/>
                <a:ea typeface="メイリオ"/>
              </a:rPr>
              <a:t>例：6通×3セット＝18通</a:t>
            </a:r>
          </a:p>
        </p:txBody>
      </p:sp>
      <p:sp>
        <p:nvSpPr>
          <p:cNvPr id="49" name="Rounded Rectangle 48"/>
          <p:cNvSpPr/>
          <p:nvPr/>
        </p:nvSpPr>
        <p:spPr>
          <a:xfrm>
            <a:off x="350000" y="4847286"/>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企画投稿：月</a:t>
            </a:r>
            <a:r>
              <a:rPr sz="1400" b="1" dirty="0">
                <a:solidFill>
                  <a:srgbClr val="1F3A5F"/>
                </a:solidFill>
                <a:latin typeface="メイリオ"/>
                <a:ea typeface="メイリオ"/>
              </a:rPr>
              <a:t>◯ 本</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a:solidFill>
                  <a:srgbClr val="333333"/>
                </a:solidFill>
                <a:latin typeface="メイリオ"/>
                <a:ea typeface="メイリオ"/>
              </a:rPr>
              <a:t>週1回の定期投稿＋時期・時事の特別配信</a:t>
            </a:r>
          </a:p>
          <a:p>
            <a:pPr algn="l"/>
            <a:r>
              <a:rPr sz="1200" b="0" dirty="0">
                <a:solidFill>
                  <a:srgbClr val="555555"/>
                </a:solidFill>
                <a:latin typeface="メイリオ"/>
                <a:ea typeface="メイリオ"/>
              </a:rPr>
              <a:t>例：月4本（週1回）</a:t>
            </a:r>
          </a:p>
        </p:txBody>
      </p:sp>
      <p:sp>
        <p:nvSpPr>
          <p:cNvPr id="50" name="Rounded Rectangle 49"/>
          <p:cNvSpPr/>
          <p:nvPr/>
        </p:nvSpPr>
        <p:spPr>
          <a:xfrm>
            <a:off x="4850000" y="1560000"/>
            <a:ext cx="4700000" cy="37850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a:solidFill>
                  <a:srgbClr val="1F3A5F"/>
                </a:solidFill>
                <a:latin typeface="メイリオ"/>
                <a:ea typeface="メイリオ"/>
              </a:rPr>
              <a:t>費用・ツール・運営（標準）</a:t>
            </a:r>
          </a:p>
        </p:txBody>
      </p:sp>
      <p:sp>
        <p:nvSpPr>
          <p:cNvPr id="51" name="Rounded Rectangle 50"/>
          <p:cNvSpPr/>
          <p:nvPr/>
        </p:nvSpPr>
        <p:spPr>
          <a:xfrm>
            <a:off x="4850000" y="1929999"/>
            <a:ext cx="4700000" cy="1299529"/>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600" b="1" dirty="0" err="1">
                <a:solidFill>
                  <a:srgbClr val="FFFFFF"/>
                </a:solidFill>
                <a:latin typeface="メイリオ"/>
                <a:ea typeface="メイリオ"/>
              </a:rPr>
              <a:t>月額</a:t>
            </a:r>
            <a:r>
              <a:rPr sz="1600" b="1" dirty="0">
                <a:solidFill>
                  <a:srgbClr val="FFFFFF"/>
                </a:solidFill>
                <a:latin typeface="メイリオ"/>
                <a:ea typeface="メイリオ"/>
              </a:rPr>
              <a:t> 20万円〜（3投稿）</a:t>
            </a:r>
            <a:endParaRPr lang="en-US" sz="1600" b="1" dirty="0">
              <a:solidFill>
                <a:srgbClr val="FFFFFF"/>
              </a:solidFill>
              <a:latin typeface="メイリオ"/>
              <a:ea typeface="メイリオ"/>
            </a:endParaRPr>
          </a:p>
          <a:p>
            <a:pPr algn="l"/>
            <a:endParaRPr sz="800" b="1" dirty="0">
              <a:solidFill>
                <a:srgbClr val="FFFFFF"/>
              </a:solidFill>
              <a:latin typeface="メイリオ"/>
              <a:ea typeface="メイリオ"/>
            </a:endParaRPr>
          </a:p>
          <a:p>
            <a:pPr algn="l"/>
            <a:r>
              <a:rPr sz="1400" dirty="0" err="1">
                <a:solidFill>
                  <a:srgbClr val="FFFFFF"/>
                </a:solidFill>
                <a:latin typeface="メイリオ"/>
                <a:ea typeface="メイリオ"/>
              </a:rPr>
              <a:t>初期費用</a:t>
            </a:r>
            <a:r>
              <a:rPr sz="1400" dirty="0">
                <a:solidFill>
                  <a:srgbClr val="FFFFFF"/>
                </a:solidFill>
                <a:latin typeface="メイリオ"/>
                <a:ea typeface="メイリオ"/>
              </a:rPr>
              <a:t> 10万円〜 ／ 6か月〜契約</a:t>
            </a:r>
          </a:p>
          <a:p>
            <a:pPr algn="l"/>
            <a:r>
              <a:rPr sz="1200" dirty="0">
                <a:solidFill>
                  <a:srgbClr val="FFFFFF"/>
                </a:solidFill>
                <a:latin typeface="メイリオ"/>
                <a:ea typeface="メイリオ"/>
              </a:rPr>
              <a:t>※5投稿=30万円／9投稿=50万円（投稿数により変動）</a:t>
            </a:r>
          </a:p>
        </p:txBody>
      </p:sp>
      <p:sp>
        <p:nvSpPr>
          <p:cNvPr id="53" name="Rounded Rectangle 52"/>
          <p:cNvSpPr/>
          <p:nvPr/>
        </p:nvSpPr>
        <p:spPr>
          <a:xfrm>
            <a:off x="4850000" y="4847286"/>
            <a:ext cx="4700000" cy="1347473"/>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200" b="1" dirty="0" err="1">
                <a:solidFill>
                  <a:srgbClr val="1F3A5F"/>
                </a:solidFill>
                <a:latin typeface="メイリオ"/>
                <a:ea typeface="メイリオ"/>
              </a:rPr>
              <a:t>個別チャット運営</a:t>
            </a:r>
            <a:endParaRPr lang="en-US"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よくある質問＝KW自動応答／営業時間内は有人対応</a:t>
            </a:r>
            <a:endParaRPr sz="1200" b="0" dirty="0">
              <a:solidFill>
                <a:srgbClr val="333333"/>
              </a:solidFill>
              <a:latin typeface="メイリオ"/>
              <a:ea typeface="メイリオ"/>
            </a:endParaRPr>
          </a:p>
          <a:p>
            <a:pPr algn="l"/>
            <a:r>
              <a:rPr sz="1200" b="0" dirty="0" err="1">
                <a:solidFill>
                  <a:srgbClr val="333333"/>
                </a:solidFill>
                <a:latin typeface="メイリオ"/>
                <a:ea typeface="メイリオ"/>
              </a:rPr>
              <a:t>体験希望はチャット受付</a:t>
            </a:r>
            <a:r>
              <a:rPr sz="1200" b="0" dirty="0">
                <a:solidFill>
                  <a:srgbClr val="333333"/>
                </a:solidFill>
                <a:latin typeface="メイリオ"/>
                <a:ea typeface="メイリオ"/>
              </a:rPr>
              <a:t> → </a:t>
            </a:r>
            <a:r>
              <a:rPr sz="1200" b="0" dirty="0" err="1">
                <a:solidFill>
                  <a:srgbClr val="333333"/>
                </a:solidFill>
                <a:latin typeface="メイリオ"/>
                <a:ea typeface="メイリオ"/>
              </a:rPr>
              <a:t>店舗スタッフへトスアップ</a:t>
            </a:r>
            <a:endParaRPr sz="1200" b="0" dirty="0">
              <a:solidFill>
                <a:srgbClr val="333333"/>
              </a:solidFill>
              <a:latin typeface="メイリオ"/>
              <a:ea typeface="メイリオ"/>
            </a:endParaRPr>
          </a:p>
        </p:txBody>
      </p:sp>
      <p:sp>
        <p:nvSpPr>
          <p:cNvPr id="54" name="Rounded Rectangle 53"/>
          <p:cNvSpPr/>
          <p:nvPr/>
        </p:nvSpPr>
        <p:spPr>
          <a:xfrm>
            <a:off x="4840857" y="3388642"/>
            <a:ext cx="47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40000" rIns="70000" rtlCol="0" anchor="t"/>
          <a:lstStyle/>
          <a:p>
            <a:r>
              <a:rPr sz="1200" b="1" dirty="0" err="1">
                <a:solidFill>
                  <a:srgbClr val="1F3A5F"/>
                </a:solidFill>
                <a:latin typeface="メイリオ"/>
                <a:ea typeface="メイリオ"/>
              </a:rPr>
              <a:t>導入ツール：役割別に選定</a:t>
            </a:r>
            <a:endParaRPr lang="en-US" sz="1200" b="1" dirty="0">
              <a:solidFill>
                <a:srgbClr val="1F3A5F"/>
              </a:solidFill>
              <a:latin typeface="メイリオ"/>
              <a:ea typeface="メイリオ"/>
            </a:endParaRPr>
          </a:p>
          <a:p>
            <a:endParaRPr sz="800" b="1" dirty="0">
              <a:solidFill>
                <a:srgbClr val="1F3A5F"/>
              </a:solidFill>
              <a:latin typeface="メイリオ"/>
              <a:ea typeface="メイリオ"/>
            </a:endParaRPr>
          </a:p>
          <a:p>
            <a:r>
              <a:rPr sz="1200" b="1" dirty="0" err="1">
                <a:solidFill>
                  <a:srgbClr val="333333"/>
                </a:solidFill>
                <a:latin typeface="メイリオ"/>
                <a:ea typeface="メイリオ"/>
              </a:rPr>
              <a:t>入口＝Sitelead（離脱防止ポップアップ</a:t>
            </a:r>
            <a:r>
              <a:rPr sz="1200" b="1" dirty="0">
                <a:solidFill>
                  <a:srgbClr val="333333"/>
                </a:solidFill>
                <a:latin typeface="メイリオ"/>
                <a:ea typeface="メイリオ"/>
              </a:rPr>
              <a:t>）※</a:t>
            </a:r>
            <a:r>
              <a:rPr sz="1200" b="1" dirty="0" err="1">
                <a:solidFill>
                  <a:srgbClr val="333333"/>
                </a:solidFill>
                <a:latin typeface="メイリオ"/>
                <a:ea typeface="メイリオ"/>
              </a:rPr>
              <a:t>別途費用</a:t>
            </a:r>
            <a:endParaRPr sz="1200" b="1" dirty="0">
              <a:solidFill>
                <a:srgbClr val="333333"/>
              </a:solidFill>
              <a:latin typeface="メイリオ"/>
              <a:ea typeface="メイリオ"/>
            </a:endParaRPr>
          </a:p>
          <a:p>
            <a:r>
              <a:rPr sz="1200" b="1" dirty="0" err="1">
                <a:solidFill>
                  <a:srgbClr val="333333"/>
                </a:solidFill>
                <a:latin typeface="メイリオ"/>
                <a:ea typeface="メイリオ"/>
              </a:rPr>
              <a:t>配信＝Lstep</a:t>
            </a:r>
            <a:r>
              <a:rPr sz="1200" b="1" dirty="0">
                <a:solidFill>
                  <a:srgbClr val="333333"/>
                </a:solidFill>
                <a:latin typeface="メイリオ"/>
                <a:ea typeface="メイリオ"/>
              </a:rPr>
              <a:t> </a:t>
            </a:r>
            <a:r>
              <a:rPr sz="1200" b="1" dirty="0" err="1">
                <a:solidFill>
                  <a:srgbClr val="333333"/>
                </a:solidFill>
                <a:latin typeface="メイリオ"/>
                <a:ea typeface="メイリオ"/>
              </a:rPr>
              <a:t>または</a:t>
            </a:r>
            <a:r>
              <a:rPr sz="1200" b="1" dirty="0">
                <a:solidFill>
                  <a:srgbClr val="333333"/>
                </a:solidFill>
                <a:latin typeface="メイリオ"/>
                <a:ea typeface="メイリオ"/>
              </a:rPr>
              <a:t> </a:t>
            </a:r>
            <a:r>
              <a:rPr sz="1200" b="1" dirty="0" err="1">
                <a:solidFill>
                  <a:srgbClr val="333333"/>
                </a:solidFill>
                <a:latin typeface="メイリオ"/>
                <a:ea typeface="メイリオ"/>
              </a:rPr>
              <a:t>Hachidori</a:t>
            </a:r>
            <a:r>
              <a:rPr sz="1200" b="1" dirty="0">
                <a:solidFill>
                  <a:srgbClr val="333333"/>
                </a:solidFill>
                <a:latin typeface="メイリオ"/>
                <a:ea typeface="メイリオ"/>
              </a:rPr>
              <a:t> </a:t>
            </a:r>
            <a:r>
              <a:rPr sz="1200" b="1" dirty="0" err="1">
                <a:solidFill>
                  <a:srgbClr val="333333"/>
                </a:solidFill>
                <a:latin typeface="メイリオ"/>
                <a:ea typeface="メイリオ"/>
              </a:rPr>
              <a:t>のどちらか一方を要件で選定</a:t>
            </a:r>
            <a:endParaRPr sz="1200" b="1" dirty="0">
              <a:solidFill>
                <a:srgbClr val="333333"/>
              </a:solidFill>
              <a:latin typeface="メイリオ"/>
              <a:ea typeface="メイリオ"/>
            </a:endParaRPr>
          </a:p>
          <a:p>
            <a:r>
              <a:rPr sz="1100" b="0" dirty="0" err="1">
                <a:solidFill>
                  <a:srgbClr val="333333"/>
                </a:solidFill>
                <a:latin typeface="メイリオ"/>
                <a:ea typeface="メイリオ"/>
              </a:rPr>
              <a:t>Lstep＝タグ・セグメント・ステップ自動化／Hachidori</a:t>
            </a:r>
            <a:endParaRPr lang="en-US" sz="1100" b="0" dirty="0">
              <a:solidFill>
                <a:srgbClr val="333333"/>
              </a:solidFill>
              <a:latin typeface="メイリオ"/>
              <a:ea typeface="メイリオ"/>
            </a:endParaRPr>
          </a:p>
          <a:p>
            <a:r>
              <a:rPr lang="ja-JP" altLang="en-US" sz="1100" b="0" dirty="0">
                <a:solidFill>
                  <a:srgbClr val="333333"/>
                </a:solidFill>
                <a:latin typeface="メイリオ"/>
                <a:ea typeface="メイリオ"/>
              </a:rPr>
              <a:t>＝</a:t>
            </a:r>
            <a:r>
              <a:rPr sz="1100" b="0" dirty="0" err="1">
                <a:solidFill>
                  <a:srgbClr val="333333"/>
                </a:solidFill>
                <a:latin typeface="メイリオ"/>
                <a:ea typeface="メイリオ"/>
              </a:rPr>
              <a:t>通知メッセ・保有リスト活用</a:t>
            </a:r>
            <a:endParaRPr sz="1100" b="0" dirty="0">
              <a:solidFill>
                <a:srgbClr val="333333"/>
              </a:solidFill>
              <a:latin typeface="メイリオ"/>
              <a:ea typeface="メイリオ"/>
            </a:endParaRPr>
          </a:p>
          <a:p>
            <a:r>
              <a:rPr sz="1100" b="0" dirty="0" err="1">
                <a:solidFill>
                  <a:srgbClr val="555555"/>
                </a:solidFill>
                <a:latin typeface="メイリオ"/>
                <a:ea typeface="メイリオ"/>
              </a:rPr>
              <a:t>既存CRMとのAPI連携も対応（特定ツールに依存しない</a:t>
            </a:r>
            <a:r>
              <a:rPr sz="1100" b="0" dirty="0">
                <a:solidFill>
                  <a:srgbClr val="555555"/>
                </a:solidFill>
                <a:latin typeface="メイリオ"/>
                <a:ea typeface="メイリオ"/>
              </a:rPr>
              <a:t>）</a:t>
            </a:r>
          </a:p>
        </p:txBody>
      </p:sp>
    </p:spTree>
    <p:extLst>
      <p:ext uri="{BB962C8B-B14F-4D97-AF65-F5344CB8AC3E}">
        <p14:creationId xmlns:p14="http://schemas.microsoft.com/office/powerpoint/2010/main" val="394375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18の具体施策が、ジャーニーのどのフェーズで効くかを1枚に置きました。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追加までが6施策、追加後が12施策。後半のほうが厚い構成です。</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どう友だち追加させるか？　（① 〜 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a:t>
            </a:r>
            <a:r>
              <a:rPr sz="1100" b="1">
                <a:solidFill>
                  <a:srgbClr val="1A1A2E"/>
                </a:solidFill>
                <a:latin typeface="メイリオ"/>
                <a:ea typeface="メイリオ"/>
                <a:cs typeface="メイリオ"/>
              </a:rPr>
              <a:t>LINE広告（CPF）</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LINE登録をCVゴールに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どう友だちをアクションに結びつけるか？　（⑤ 〜 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KW自動応答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ホットリード検知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失注リストへ再接触</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モーメント配信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通知メッセでリスト活性化</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カゴ落ちリマインド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a:t>
            </a:r>
            <a:r>
              <a:rPr sz="1100" b="1">
                <a:solidFill>
                  <a:srgbClr val="1A1A2E"/>
                </a:solidFill>
                <a:latin typeface="メイリオ"/>
                <a:ea typeface="メイリオ"/>
                <a:cs typeface="メイリオ"/>
              </a:rPr>
              <a:t>BOT×有人の切替</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アフターフォロー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利用状況連動アップセル</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関連商材クロスセル</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施策は獲得より後ろに多い。増やすことより、増えた友だちをどう扱うかで差がつく。</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panose="020B0604030504040204" pitchFamily="50" charset="-128"/>
              </a:rPr>
              <a:t>流入</a:t>
            </a:r>
            <a:r>
              <a:rPr lang="en-US" altLang="ja-JP" sz="900" b="1" dirty="0">
                <a:solidFill>
                  <a:srgbClr val="FDFDFD"/>
                </a:solidFill>
                <a:latin typeface="メイリオ" panose="020B0604030504040204" pitchFamily="50" charset="-128"/>
              </a:rPr>
              <a:t>/</a:t>
            </a:r>
            <a:r>
              <a:rPr lang="ja-JP" altLang="en-US" sz="900" b="1" dirty="0">
                <a:solidFill>
                  <a:srgbClr val="FDFDFD"/>
                </a:solidFill>
                <a:latin typeface="メイリオ" panose="020B0604030504040204" pitchFamily="50" charset="-128"/>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panose="020B0604030504040204" pitchFamily="50" charset="-128"/>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メイリオ" pitchFamily="34" charset="0"/>
              <a:ea typeface="メイリオ"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メイリオ"/>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メイリオ" panose="020F0302020204030204"/>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panose="020F0502020204030204"/>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メイリオ" panose="020F0302020204030204"/>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panose="020F0502020204030204"/>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146282</TotalTime>
  <Words>7633</Words>
  <Application>Microsoft Office PowerPoint</Application>
  <PresentationFormat>A4 210 x 297 mm</PresentationFormat>
  <Paragraphs>1711</Paragraphs>
  <Slides>46</Slides>
  <Notes>9</Notes>
  <HiddenSlides>5</HiddenSlides>
  <MMClips>0</MMClips>
  <ScaleCrop>false</ScaleCrop>
  <HeadingPairs>
    <vt:vector size="6" baseType="variant">
      <vt:variant>
        <vt:lpstr>使用されているフォント</vt:lpstr>
      </vt:variant>
      <vt:variant>
        <vt:i4>3</vt:i4>
      </vt:variant>
      <vt:variant>
        <vt:lpstr>テーマ</vt:lpstr>
      </vt:variant>
      <vt:variant>
        <vt:i4>2</vt:i4>
      </vt:variant>
      <vt:variant>
        <vt:lpstr>スライド タイトル</vt:lpstr>
      </vt:variant>
      <vt:variant>
        <vt:i4>46</vt:i4>
      </vt:variant>
    </vt:vector>
  </HeadingPairs>
  <TitlesOfParts>
    <vt:vector size="51" baseType="lpstr">
      <vt:lpstr>メイリオ</vt:lpstr>
      <vt:lpstr>Arial</vt:lpstr>
      <vt:lpstr>Calibri</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1962</cp:revision>
  <cp:lastPrinted>2022-11-01T11:38:14Z</cp:lastPrinted>
  <dcterms:created xsi:type="dcterms:W3CDTF">2015-09-04T09:21:15Z</dcterms:created>
  <dcterms:modified xsi:type="dcterms:W3CDTF">2026-09-09T01:49:52Z</dcterms:modified>
</cp:coreProperties>
</file>