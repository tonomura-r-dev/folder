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7" r:id="rId2"/>
  </p:sldMasterIdLst>
  <p:notesMasterIdLst>
    <p:notesMasterId r:id="rId26"/>
  </p:notesMasterIdLst>
  <p:handoutMasterIdLst>
    <p:handoutMasterId r:id="rId27"/>
  </p:handoutMasterIdLst>
  <p:sldIdLst>
    <p:sldId id="2363" r:id="rId3"/>
    <p:sldId id="3021" r:id="rId4"/>
    <p:sldId id="3034" r:id="rId5"/>
    <p:sldId id="3022" r:id="rId6"/>
    <p:sldId id="3026" r:id="rId7"/>
    <p:sldId id="3023" r:id="rId8"/>
    <p:sldId id="3027" r:id="rId10"/>
    <p:sldId id="3035" r:id="rId11"/>
    <p:sldId id="2971" r:id="rId12"/>
    <p:sldId id="2972" r:id="rId13"/>
    <p:sldId id="3025" r:id="rId14"/>
    <p:sldId id="3036" r:id="rId15"/>
    <p:sldId id="3028" r:id="rId16"/>
    <p:sldId id="3029" r:id="rId17"/>
    <p:sldId id="3030" r:id="rId18"/>
    <p:sldId id="3031" r:id="rId19"/>
    <p:sldId id="3037" r:id="rId20"/>
    <p:sldId id="3032" r:id="rId21"/>
    <p:sldId id="3033" r:id="rId22"/>
    <p:sldId id="2991" r:id="rId23"/>
    <p:sldId id="3024" r:id="rId24"/>
    <p:sldId id="2990" r:id="rId25"/>
  </p:sldIdLst>
  <p:sldSz cx="9906000" cy="6858000" type="A4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58" userDrawn="1">
          <p15:clr>
            <a:srgbClr val="A4A3A4"/>
          </p15:clr>
        </p15:guide>
        <p15:guide id="2" pos="3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FA0A"/>
    <a:srgbClr val="173559"/>
    <a:srgbClr val="FDFDFD"/>
    <a:srgbClr val="2080FF"/>
    <a:srgbClr val="1D8DFF"/>
    <a:srgbClr val="515457"/>
    <a:srgbClr val="F6A454"/>
    <a:srgbClr val="EAEEF4"/>
    <a:srgbClr val="2D6CB9"/>
    <a:srgbClr val="D1D9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中間スタイル 1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157" autoAdjust="0"/>
    <p:restoredTop sz="94424" autoAdjust="0"/>
  </p:normalViewPr>
  <p:slideViewPr>
    <p:cSldViewPr snapToGrid="0">
      <p:cViewPr varScale="1">
        <p:scale>
          <a:sx n="110" d="100"/>
          <a:sy n="110" d="100"/>
        </p:scale>
        <p:origin x="1236" y="102"/>
      </p:cViewPr>
      <p:guideLst>
        <p:guide orient="horz" pos="3158"/>
        <p:guide pos="3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072"/>
    </p:cViewPr>
  </p:sorterViewPr>
  <p:notesViewPr>
    <p:cSldViewPr snapToGrid="0">
      <p:cViewPr varScale="1">
        <p:scale>
          <a:sx n="79" d="100"/>
          <a:sy n="79" d="100"/>
        </p:scale>
        <p:origin x="4014" y="102"/>
      </p:cViewPr>
      <p:guideLst/>
    </p:cSldViewPr>
  </p:notesViewPr>
  <p:gridSpacing cx="1080001" cy="1080001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友だち（累計）</c:v>
                </c:pt>
              </c:strCache>
            </c:strRef>
          </c:tx>
          <c:spPr>
            <a:solidFill>
              <a:srgbClr val="06C755"/>
            </a:solidFill>
          </c:spPr>
          <c:invertIfNegative val="1"/>
          <c:dLbls>
            <c:numFmt formatCode="#,##0&quot;人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1F285A"/>
                    </a:solidFill>
                    <a:latin typeface="メイリオ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  <c:pt idx="3">
                  <c:v>7月</c:v>
                </c:pt>
                <c:pt idx="4">
                  <c:v>8月</c:v>
                </c:pt>
                <c:pt idx="5">
                  <c:v>9月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63</c:v>
                </c:pt>
                <c:pt idx="1">
                  <c:v>143</c:v>
                </c:pt>
                <c:pt idx="2">
                  <c:v>235</c:v>
                </c:pt>
                <c:pt idx="3">
                  <c:v>335</c:v>
                </c:pt>
                <c:pt idx="4">
                  <c:v>436</c:v>
                </c:pt>
                <c:pt idx="5">
                  <c:v>542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761-4F61-AAD3-0ECD0D52B4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200">
                <a:latin typeface="メイリオ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65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メイリオ"/>
        </a:defRPr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6210" y="9441662"/>
            <a:ext cx="2949420" cy="497676"/>
          </a:xfrm>
          <a:prstGeom prst="rect">
            <a:avLst/>
          </a:prstGeom>
        </p:spPr>
        <p:txBody>
          <a:bodyPr vert="horz" lIns="90561" tIns="45280" rIns="90561" bIns="45280" rtlCol="0" anchor="b"/>
          <a:lstStyle>
            <a:lvl1pPr algn="r">
              <a:defRPr sz="1200"/>
            </a:lvl1pPr>
          </a:lstStyle>
          <a:p>
            <a:fld id="{7B45B759-5475-4693-BFD4-53BF6401E48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95307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082" y="2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/>
          <a:lstStyle>
            <a:lvl1pPr algn="r">
              <a:defRPr sz="1200"/>
            </a:lvl1pPr>
          </a:lstStyle>
          <a:p>
            <a:fld id="{6AF8158D-F6B1-45E0-9831-E70689DC8490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29" tIns="45765" rIns="91529" bIns="4576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402" y="4782901"/>
            <a:ext cx="5446396" cy="3913426"/>
          </a:xfrm>
          <a:prstGeom prst="rect">
            <a:avLst/>
          </a:prstGeom>
        </p:spPr>
        <p:txBody>
          <a:bodyPr vert="horz" lIns="91529" tIns="45765" rIns="91529" bIns="4576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082" y="9441817"/>
            <a:ext cx="2950528" cy="497524"/>
          </a:xfrm>
          <a:prstGeom prst="rect">
            <a:avLst/>
          </a:prstGeom>
        </p:spPr>
        <p:txBody>
          <a:bodyPr vert="horz" lIns="91529" tIns="45765" rIns="91529" bIns="45765" rtlCol="0" anchor="b"/>
          <a:lstStyle>
            <a:lvl1pPr algn="r">
              <a:defRPr sz="1200"/>
            </a:lvl1pPr>
          </a:lstStyle>
          <a:p>
            <a:fld id="{022E43C0-6795-4B13-B37C-259C826D4B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0918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15D0A-BA72-DE45-32FA-363803F14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7D2F8A3-D4B3-B9E6-A613-A157696B8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3FBD4A-B575-3375-091A-F6A24B5A9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AEAEB9-E37C-569F-CBB7-45D65E2A09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8476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81540-B398-8C02-E1F2-1F1C4798C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A82C74D-328C-FB0E-E710-C92A52BEF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175EB1E7-3A4C-2E0A-CA67-686800FA8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73A52D-F6CC-DC20-5CFE-D4EBA25ECC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79868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DBF5B-1845-D193-7974-D86F6501A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241EA19-E230-7BF9-50E1-64D71F07CF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0FCC320-6462-2E53-372E-51E35D6A4C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1D45867-3EDE-BF64-D973-FA5EA5D84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499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BE411-4324-1BAD-C78B-91DF91FD9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D549732-A76E-5601-F486-7A42B1789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3275E6F-98B5-9B49-8F3C-8CAF75C8D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553E365-D354-3F82-CA83-108FC9376A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2E43C0-6795-4B13-B37C-259C826D4B6A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559147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/>
          <p:cNvSpPr/>
          <p:nvPr userDrawn="1"/>
        </p:nvSpPr>
        <p:spPr>
          <a:xfrm>
            <a:off x="9398000" y="6591300"/>
            <a:ext cx="419100" cy="266700"/>
          </a:xfrm>
          <a:prstGeom prst="rect">
            <a:avLst/>
          </a:prstGeom>
          <a:solidFill>
            <a:srgbClr val="191F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8107768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線コネクタ 4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191F5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正方形/長方形 6"/>
          <p:cNvSpPr/>
          <p:nvPr/>
        </p:nvSpPr>
        <p:spPr>
          <a:xfrm>
            <a:off x="0" y="0"/>
            <a:ext cx="451204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8189266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2123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1357" y="72255"/>
            <a:ext cx="1598627" cy="424153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355" y="32333"/>
            <a:ext cx="1653069" cy="635796"/>
          </a:xfrm>
          <a:prstGeom prst="rect">
            <a:avLst/>
          </a:prstGeom>
        </p:spPr>
      </p:pic>
      <p:sp>
        <p:nvSpPr>
          <p:cNvPr id="6" name="正方形/長方形 5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1800">
              <a:solidFill>
                <a:prstClr val="white"/>
              </a:solidFill>
            </a:endParaRPr>
          </a:p>
        </p:txBody>
      </p:sp>
      <p:sp>
        <p:nvSpPr>
          <p:cNvPr id="8" name="スライド番号プレースホルダ 1"/>
          <p:cNvSpPr txBox="1">
            <a:spLocks/>
          </p:cNvSpPr>
          <p:nvPr/>
        </p:nvSpPr>
        <p:spPr>
          <a:xfrm>
            <a:off x="7594600" y="6552729"/>
            <a:ext cx="2311400" cy="365125"/>
          </a:xfrm>
          <a:prstGeom prst="rect">
            <a:avLst/>
          </a:prstGeom>
        </p:spPr>
        <p:txBody>
          <a:bodyPr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b="1" smtClean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pPr algn="r"/>
              <a:t>‹#›</a:t>
            </a:fld>
            <a:endParaRPr lang="ja-JP" altLang="en-US" sz="1400" b="1" dirty="0">
              <a:solidFill>
                <a:schemeClr val="bg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9" name="テキスト ボックス 8"/>
          <p:cNvSpPr txBox="1">
            <a:spLocks noChangeArrowheads="1"/>
          </p:cNvSpPr>
          <p:nvPr userDrawn="1"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Copyright(c) DYM Co., Ltd</a:t>
            </a:r>
            <a:r>
              <a:rPr lang="ja-JP" altLang="en-US" sz="800" b="1" dirty="0" err="1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．</a:t>
            </a:r>
            <a:r>
              <a:rPr lang="en-US" altLang="ja-JP" sz="800" b="1" dirty="0">
                <a:solidFill>
                  <a:schemeClr val="bg1"/>
                </a:solidFill>
                <a:latin typeface="メイリオ"/>
                <a:ea typeface="メイリオ"/>
                <a:cs typeface="メイリオ"/>
              </a:rPr>
              <a:t>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5870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3" r:id="rId2"/>
    <p:sldLayoutId id="2147483689" r:id="rId3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pitchFamily="34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/>
        </p:nvSpPr>
        <p:spPr>
          <a:xfrm>
            <a:off x="0" y="6552728"/>
            <a:ext cx="9906000" cy="332656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sp>
        <p:nvSpPr>
          <p:cNvPr id="10" name="テキスト ボックス 9"/>
          <p:cNvSpPr txBox="1">
            <a:spLocks noChangeArrowheads="1"/>
          </p:cNvSpPr>
          <p:nvPr/>
        </p:nvSpPr>
        <p:spPr bwMode="auto">
          <a:xfrm>
            <a:off x="116569" y="6597932"/>
            <a:ext cx="3666301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>
              <a:defRPr/>
            </a:pP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Copyright(c) DYM Co., </a:t>
            </a:r>
            <a:r>
              <a:rPr lang="en-US" altLang="ja-JP" sz="800" b="1" dirty="0" err="1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Ltd.All</a:t>
            </a:r>
            <a:r>
              <a:rPr lang="en-US" altLang="ja-JP" sz="800" b="1" dirty="0">
                <a:solidFill>
                  <a:prstClr val="white"/>
                </a:solidFill>
                <a:latin typeface="メイリオ"/>
                <a:ea typeface="メイリオ"/>
                <a:cs typeface="メイリオ"/>
              </a:rPr>
              <a:t> Rights Reserved.</a:t>
            </a:r>
          </a:p>
        </p:txBody>
      </p:sp>
      <p:sp>
        <p:nvSpPr>
          <p:cNvPr id="8" name="正方形/長方形 7"/>
          <p:cNvSpPr/>
          <p:nvPr/>
        </p:nvSpPr>
        <p:spPr>
          <a:xfrm>
            <a:off x="0" y="0"/>
            <a:ext cx="416496" cy="548680"/>
          </a:xfrm>
          <a:prstGeom prst="rect">
            <a:avLst/>
          </a:prstGeom>
          <a:solidFill>
            <a:srgbClr val="191F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solidFill>
                <a:prstClr val="white"/>
              </a:solidFill>
            </a:endParaRPr>
          </a:p>
        </p:txBody>
      </p:sp>
      <p:cxnSp>
        <p:nvCxnSpPr>
          <p:cNvPr id="4" name="直線コネクタ 3"/>
          <p:cNvCxnSpPr/>
          <p:nvPr/>
        </p:nvCxnSpPr>
        <p:spPr>
          <a:xfrm>
            <a:off x="0" y="548680"/>
            <a:ext cx="9906000" cy="0"/>
          </a:xfrm>
          <a:prstGeom prst="line">
            <a:avLst/>
          </a:prstGeom>
          <a:ln>
            <a:solidFill>
              <a:srgbClr val="0032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1"/>
          <p:cNvPicPr>
            <a:picLocks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47" r="-11171"/>
          <a:stretch/>
        </p:blipFill>
        <p:spPr bwMode="auto">
          <a:xfrm>
            <a:off x="8619408" y="161057"/>
            <a:ext cx="1192729" cy="263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スライド番号プレースホルダ 1"/>
          <p:cNvSpPr txBox="1">
            <a:spLocks/>
          </p:cNvSpPr>
          <p:nvPr userDrawn="1"/>
        </p:nvSpPr>
        <p:spPr>
          <a:xfrm>
            <a:off x="7545288" y="6571255"/>
            <a:ext cx="2133600" cy="216000"/>
          </a:xfrm>
          <a:prstGeom prst="rect">
            <a:avLst/>
          </a:prstGeom>
        </p:spPr>
        <p:txBody>
          <a:bodyPr tIns="25200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9FC100E3-15F5-4145-A942-47DB1D8B776D}" type="slidenum">
              <a:rPr lang="ja-JP" altLang="en-US" sz="1400" i="1" smtClean="0">
                <a:solidFill>
                  <a:prstClr val="white"/>
                </a:solidFill>
                <a:latin typeface="Century Gothic" panose="020B0502020202020204" pitchFamily="34" charset="0"/>
              </a:rPr>
              <a:pPr algn="r"/>
              <a:t>‹#›</a:t>
            </a:fld>
            <a:endParaRPr lang="ja-JP" altLang="en-US" sz="1400" i="1" dirty="0">
              <a:solidFill>
                <a:prstClr val="white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138245"/>
      </p:ext>
    </p:extLst>
  </p:cSld>
  <p:clrMap bg1="lt1" tx1="dk1" bg2="lt2" tx2="dk2" accent1="accent1" accent2="accent2" accent3="accent3" accent4="accent4" accent5="accent5" accent6="accent6" hlink="hlink" folHlink="folHlink"/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+mj-ea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1">
            <a:extLst>
              <a:ext uri="{FF2B5EF4-FFF2-40B4-BE49-F238E27FC236}">
                <a16:creationId xmlns:a16="http://schemas.microsoft.com/office/drawing/2014/main" id="{69A0322D-BA5F-9122-1E12-FB7AC2AF15A5}"/>
              </a:ext>
            </a:extLst>
          </p:cNvPr>
          <p:cNvSpPr/>
          <p:nvPr/>
        </p:nvSpPr>
        <p:spPr>
          <a:xfrm>
            <a:off x="972000" y="2160000"/>
            <a:ext cx="7956000" cy="1116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Webサイトリニューアルに伴う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  <a:p>
            <a:pPr algn="ctr"/>
            <a:r>
              <a:rPr lang="en-US" altLang="ja-I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rPr>
              <a:t>「公式LINE活用・顧客ストック化」のご提案</a:t>
            </a:r>
            <a:endParaRPr lang="en-US" altLang="ja-IS" sz="3200" b="1" dirty="0">
              <a:solidFill>
                <a:schemeClr val="tx1">
                  <a:lumMod val="75000"/>
                  <a:lumOff val="25000"/>
                </a:schemeClr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メイリオ" panose="020B0604030504040204" pitchFamily="50" charset="-128"/>
            </a:endParaRPr>
          </a:p>
        </p:txBody>
      </p:sp>
      <p:sp>
        <p:nvSpPr>
          <p:cNvPr id="4" name="正方形/長方形 5">
            <a:extLst>
              <a:ext uri="{FF2B5EF4-FFF2-40B4-BE49-F238E27FC236}">
                <a16:creationId xmlns:a16="http://schemas.microsoft.com/office/drawing/2014/main" id="{3CC59398-53B4-E01E-A60C-6C13628FCBFB}"/>
              </a:ext>
            </a:extLst>
          </p:cNvPr>
          <p:cNvSpPr/>
          <p:nvPr/>
        </p:nvSpPr>
        <p:spPr>
          <a:xfrm>
            <a:off x="972000" y="1800000"/>
            <a:ext cx="79560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ja-JP" alt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―サイトに来た求職者を、LINEでストックする「同時導入」プラン―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B532C1C8-7FE6-8830-B27C-27941421F5F9}"/>
              </a:ext>
            </a:extLst>
          </p:cNvPr>
          <p:cNvCxnSpPr>
            <a:cxnSpLocks/>
          </p:cNvCxnSpPr>
          <p:nvPr/>
        </p:nvCxnSpPr>
        <p:spPr>
          <a:xfrm>
            <a:off x="1337175" y="3199966"/>
            <a:ext cx="7231660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図 8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FFE022E1-8FF6-B4B4-B955-17E7CFA96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8159931" cy="766354"/>
          </a:xfrm>
          <a:prstGeom prst="rect">
            <a:avLst/>
          </a:prstGeom>
        </p:spPr>
      </p:pic>
      <p:pic>
        <p:nvPicPr>
          <p:cNvPr id="7" name="図 9" descr="背景パターン&#10;&#10;AI 生成コンテンツは誤りを含む可能性があります。">
            <a:extLst>
              <a:ext uri="{FF2B5EF4-FFF2-40B4-BE49-F238E27FC236}">
                <a16:creationId xmlns:a16="http://schemas.microsoft.com/office/drawing/2014/main" id="{0F2999B3-5873-C495-70F5-12487911C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94114"/>
            <a:ext cx="2042161" cy="272239"/>
          </a:xfrm>
          <a:prstGeom prst="rect">
            <a:avLst/>
          </a:prstGeom>
        </p:spPr>
      </p:pic>
      <p:sp>
        <p:nvSpPr>
          <p:cNvPr id="8" name="テキスト ボックス 6">
            <a:extLst>
              <a:ext uri="{FF2B5EF4-FFF2-40B4-BE49-F238E27FC236}">
                <a16:creationId xmlns:a16="http://schemas.microsoft.com/office/drawing/2014/main" id="{7170AE42-913D-895E-A1DE-6A899FE53370}"/>
              </a:ext>
            </a:extLst>
          </p:cNvPr>
          <p:cNvSpPr txBox="1"/>
          <p:nvPr/>
        </p:nvSpPr>
        <p:spPr>
          <a:xfrm>
            <a:off x="291974" y="263665"/>
            <a:ext cx="49658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メイリオ" panose="020B0604030504040204" pitchFamily="34" charset="-128"/>
                <a:ea typeface="メイリオ" panose="020B0604030504040204" pitchFamily="34" charset="-128"/>
                <a:cs typeface="メイリオ"/>
              </a:rPr>
              <a:t>株式会社チェングロウス 御中</a:t>
            </a:r>
          </a:p>
        </p:txBody>
      </p:sp>
      <p:pic>
        <p:nvPicPr>
          <p:cNvPr id="9" name="Picture 10" descr="chengrowt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3000" y="3478502"/>
            <a:ext cx="2880000" cy="33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59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本日のアジェンダ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Webサイト改善の「先」にある、求職者を逃さないLINE連携の全体像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1764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0000" y="1872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0" y="1872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その場の応募で終わらせず、LINEでストックする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80000" y="2790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80000" y="2898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8000" y="2898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LINEが求人を探す入口・継続接点になる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80000" y="3816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80000" y="3924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0" y="3924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離脱防止・サンクスLINEから応募・来店まで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0000" y="4842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80000" y="4950000"/>
            <a:ext cx="1080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68000" y="4950000"/>
            <a:ext cx="6552000" cy="79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9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友だち獲得・費用・11月からの進め方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0000" y="5868000"/>
            <a:ext cx="7740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なぜLINEを同時導入するのか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Webサイトリニューアルの「次の課題」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サイトを新しくしても、応募しない「検討層・離脱層」は残る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サイト改修で良くなること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144000" bIns="36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・見やすさ・求人の探しやすさ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・応募フォームの入力しやすさ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→ 応募する方が増える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24000" y="252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48000" y="1655999"/>
            <a:ext cx="3960000" cy="360000"/>
          </a:xfrm>
          <a:prstGeom prst="roundRect">
            <a:avLst>
              <a:gd name="adj" fmla="val 6000"/>
            </a:avLst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0" rIns="72000" bIns="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改修しても残ること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48000" y="2015999"/>
            <a:ext cx="3960000" cy="1548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16000" tIns="144000" rIns="144000" bIns="36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・比較検討中で、まだ応募しない方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・フォームの途中で離れた方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→ その後の接点が残らない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671999"/>
            <a:ext cx="831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整備士は、複数の経路を比べて仕事を探している（仕事を探した経路・複数回答）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転職エージェント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35.3%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総合型の求人サイト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34.1%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996000"/>
            <a:ext cx="2628000" cy="122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業界特化型の求人サイト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03999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出典：モビリア総研調査（直近3年に転職した整備士1,249人・Response 2026年9月23日）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現状のWebサイトにおけるボトルネック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現行サイトは「その場の応募」のみで、求職者データが残らない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20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000" y="1655999"/>
            <a:ext cx="3096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入口は「応募」「転職支援の申込」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48000" y="1908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08000" y="1655999"/>
            <a:ext cx="2700000" cy="79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応募した方だけ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連絡先が残る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2000" y="2700000"/>
            <a:ext cx="1655999" cy="792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応募しなかった方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20000" y="295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880000" y="2700000"/>
            <a:ext cx="6228000" cy="792000"/>
          </a:xfrm>
          <a:prstGeom prst="roundRect">
            <a:avLst>
              <a:gd name="adj" fmla="val 6000"/>
            </a:avLst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>
                <a:solidFill>
                  <a:srgbClr val="ED7D31"/>
                </a:solidFill>
                <a:latin typeface="メイリオ"/>
                <a:ea typeface="メイリオ"/>
                <a:cs typeface="メイリオ"/>
              </a:rPr>
              <a:t>接点が残らず、後から案内できない（再来訪を待つしかない）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検討層の受け皿がない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比較検討中の方と接点を持てない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36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登録が使われにくい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氏名・経歴・パスワードの入力が壁に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80000" y="3744000"/>
            <a:ext cx="2628000" cy="162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名簿が残らない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長期的に育てるリストがない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解決策｜LINEで「その後」まで追える状態をつくる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応募に至らない方をLINEの友だちとして残し、応募・面談・来店まで追う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512000" cy="2376000"/>
          </a:xfrm>
          <a:prstGeom prst="roundRect">
            <a:avLst>
              <a:gd name="adj" fmla="val 6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0" rIns="36000" bIns="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新サイトに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来訪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358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ight Arrow 7"/>
          <p:cNvSpPr/>
          <p:nvPr/>
        </p:nvSpPr>
        <p:spPr>
          <a:xfrm>
            <a:off x="2358000" y="3456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664000" y="1655999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応募する方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64000" y="3024000"/>
            <a:ext cx="1908000" cy="1007999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応募に至らない方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（検討層・離脱層）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26000" y="1980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ight Arrow 11"/>
          <p:cNvSpPr/>
          <p:nvPr/>
        </p:nvSpPr>
        <p:spPr>
          <a:xfrm>
            <a:off x="4626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932000" y="1655999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サイトで応募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2000" y="3024000"/>
            <a:ext cx="2015999" cy="1007999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4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LINEで友だち追加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＝ストック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02000" y="3348000"/>
            <a:ext cx="251999" cy="251999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08000" y="3024000"/>
            <a:ext cx="1800000" cy="1007999"/>
          </a:xfrm>
          <a:prstGeom prst="roundRect">
            <a:avLst>
              <a:gd name="adj" fmla="val 6000"/>
            </a:avLst>
          </a:prstGeom>
          <a:solidFill>
            <a:srgbClr val="E8F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求人を配信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→ 応募・来店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2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後から案内できる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新着求人・条件に合う求人をいつでも届けられる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6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見込み求職者が貯まる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今すぐ応募しない方もリストに残る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80000" y="4284000"/>
            <a:ext cx="2628000" cy="1080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興味が分かる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配信のクリックで、興味のある職種が分かる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獲得したストック顧客へのアプローチ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蓄積した友だちに、条件に合う求人をLINEで直接届ける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友だち（ストック）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応募前の方とも接点が残る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48000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671999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クリックで自動分類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整備士・営業・未経験OKなどに分かれる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227999" y="2160000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552000" y="1655999"/>
            <a:ext cx="2520000" cy="1368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③ 興味に合う求人を配信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新着求人・条件に合う求人を届ける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204000"/>
            <a:ext cx="83160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他業種・就職支援での、LINE配信の反応（LINEヤフー公式事例）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バス会社｜メッセージの開封率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約70%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LINE通知メッセージの配信後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36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バス会社｜クリック率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約5倍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メルマガのクリック率との比較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0" y="3528000"/>
            <a:ext cx="2628000" cy="1512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就職支援｜LINE問い合わせ後</a:t>
            </a:r>
          </a:p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sz="30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55%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の方が、面談を予約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760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導入事例（琴平バス・UZUZ）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求人業界でのLINE活用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A8E8E-25CB-4B86-C4F6-E5A702358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【事例】求人業界におけるLINE活用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タウンワークでは、LINEから求人を探せる導線を強化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4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出典：LINEヤフー for Business 導入事例（タウンワーク・2019年公開）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2124000"/>
            <a:ext cx="3816000" cy="360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0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応募数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2448000"/>
            <a:ext cx="3816000" cy="1152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68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＋79%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36000" y="1944000"/>
            <a:ext cx="0" cy="2520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896000" y="1800000"/>
            <a:ext cx="4212000" cy="324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応募増加につながったポイント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48000" y="2628000"/>
            <a:ext cx="0" cy="1512000"/>
          </a:xfrm>
          <a:prstGeom prst="line">
            <a:avLst/>
          </a:prstGeom>
          <a:ln w="2540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4932000" y="2412000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44000" y="2394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リッチメニューで条件を選ぶ</a:t>
            </a:r>
          </a:p>
        </p:txBody>
      </p:sp>
      <p:sp>
        <p:nvSpPr>
          <p:cNvPr id="24" name="Oval 23"/>
          <p:cNvSpPr/>
          <p:nvPr/>
        </p:nvSpPr>
        <p:spPr>
          <a:xfrm>
            <a:off x="4932000" y="3167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44000" y="3150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条件に合う求人を表示</a:t>
            </a:r>
          </a:p>
        </p:txBody>
      </p:sp>
      <p:sp>
        <p:nvSpPr>
          <p:cNvPr id="26" name="Oval 25"/>
          <p:cNvSpPr/>
          <p:nvPr/>
        </p:nvSpPr>
        <p:spPr>
          <a:xfrm>
            <a:off x="4932000" y="3923999"/>
            <a:ext cx="432000" cy="432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44000" y="3906000"/>
            <a:ext cx="3564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そのまま求人ページへ移動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2000" y="504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2000" y="5094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LINEを「求人を探す入口」にしたことが、応募増加へ</a:t>
            </a:r>
          </a:p>
        </p:txBody>
      </p:sp>
    </p:spTree>
    <p:extLst>
      <p:ext uri="{BB962C8B-B14F-4D97-AF65-F5344CB8AC3E}">
        <p14:creationId xmlns:p14="http://schemas.microsoft.com/office/powerpoint/2010/main" val="2378484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E5221-666F-DE20-B9E8-FDFC607C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タウンワークの勝因｜常設の入口（リッチメニュー）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勝因は、ワンタップで求人を探せる常設の入口（リッチメニュー）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4"/>
          <p:cNvSpPr/>
          <p:nvPr/>
        </p:nvSpPr>
        <p:spPr>
          <a:xfrm>
            <a:off x="793680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　あいさつ</a:t>
            </a:r>
          </a:p>
        </p:txBody>
      </p:sp>
      <p:pic>
        <p:nvPicPr>
          <p:cNvPr id="7" name="Picture 5" descr="1_あいさ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993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8" name="TextBox 6"/>
          <p:cNvSpPr txBox="1"/>
          <p:nvPr/>
        </p:nvSpPr>
        <p:spPr>
          <a:xfrm>
            <a:off x="694319" y="5600880"/>
            <a:ext cx="1821600" cy="501797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求人を受け取るための会員連携を案内</a:t>
            </a:r>
            <a:endParaRPr lang="en-US" sz="100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9" name="Rounded Rectangle 7"/>
          <p:cNvSpPr/>
          <p:nvPr/>
        </p:nvSpPr>
        <p:spPr>
          <a:xfrm>
            <a:off x="3025968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　リッチメニュー</a:t>
            </a:r>
          </a:p>
        </p:txBody>
      </p:sp>
      <p:pic>
        <p:nvPicPr>
          <p:cNvPr id="10" name="Picture 8" descr="2_リッチメニュー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281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1" name="TextBox 9"/>
          <p:cNvSpPr txBox="1"/>
          <p:nvPr/>
        </p:nvSpPr>
        <p:spPr>
          <a:xfrm>
            <a:off x="2926608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時間帯などの条件がワンタップ</a:t>
            </a:r>
          </a:p>
        </p:txBody>
      </p:sp>
      <p:sp>
        <p:nvSpPr>
          <p:cNvPr id="12" name="Rounded Rectangle 10"/>
          <p:cNvSpPr/>
          <p:nvPr/>
        </p:nvSpPr>
        <p:spPr>
          <a:xfrm>
            <a:off x="5258256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　移動先のサイト</a:t>
            </a:r>
          </a:p>
        </p:txBody>
      </p:sp>
      <p:pic>
        <p:nvPicPr>
          <p:cNvPr id="13" name="Picture 11" descr="3_遷移先サイト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8569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4" name="TextBox 12"/>
          <p:cNvSpPr txBox="1"/>
          <p:nvPr/>
        </p:nvSpPr>
        <p:spPr>
          <a:xfrm>
            <a:off x="5158896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条件を入れた検索結果ページ</a:t>
            </a:r>
          </a:p>
        </p:txBody>
      </p:sp>
      <p:sp>
        <p:nvSpPr>
          <p:cNvPr id="15" name="Rounded Rectangle 13"/>
          <p:cNvSpPr/>
          <p:nvPr/>
        </p:nvSpPr>
        <p:spPr>
          <a:xfrm>
            <a:off x="7490543" y="1742400"/>
            <a:ext cx="1622880" cy="264960"/>
          </a:xfrm>
          <a:prstGeom prst="roundRect">
            <a:avLst>
              <a:gd name="adj" fmla="val 1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3120" tIns="0" rIns="33120" bIns="0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　会員連携の画面</a:t>
            </a:r>
          </a:p>
        </p:txBody>
      </p:sp>
      <p:pic>
        <p:nvPicPr>
          <p:cNvPr id="16" name="Picture 14" descr="4_連携リンク先_リクルートIDログイン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0857" y="2057039"/>
            <a:ext cx="1622252" cy="3510720"/>
          </a:xfrm>
          <a:prstGeom prst="rect">
            <a:avLst/>
          </a:prstGeom>
          <a:ln>
            <a:solidFill>
              <a:srgbClr val="D9D9D9"/>
            </a:solidFill>
          </a:ln>
        </p:spPr>
      </p:pic>
      <p:sp>
        <p:nvSpPr>
          <p:cNvPr id="17" name="TextBox 15"/>
          <p:cNvSpPr txBox="1"/>
          <p:nvPr/>
        </p:nvSpPr>
        <p:spPr>
          <a:xfrm>
            <a:off x="7391183" y="5600880"/>
            <a:ext cx="1821600" cy="43056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ctr"/>
            <a:r>
              <a:rPr sz="100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リクルートIDでログイン</a:t>
            </a:r>
          </a:p>
        </p:txBody>
      </p:sp>
      <p:sp>
        <p:nvSpPr>
          <p:cNvPr id="18" name="TextBox 16"/>
          <p:cNvSpPr txBox="1"/>
          <p:nvPr/>
        </p:nvSpPr>
        <p:spPr>
          <a:xfrm>
            <a:off x="793680" y="6064560"/>
            <a:ext cx="8319744" cy="298080"/>
          </a:xfrm>
          <a:prstGeom prst="rect">
            <a:avLst/>
          </a:prstGeom>
          <a:noFill/>
        </p:spPr>
        <p:txBody>
          <a:bodyPr wrap="square" lIns="0" tIns="19872" rIns="0" bIns="1987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画面：タウンワーク LINE公式アカウント（2026年9月 弊社確認）</a:t>
            </a:r>
          </a:p>
        </p:txBody>
      </p:sp>
    </p:spTree>
    <p:extLst>
      <p:ext uri="{BB962C8B-B14F-4D97-AF65-F5344CB8AC3E}">
        <p14:creationId xmlns:p14="http://schemas.microsoft.com/office/powerpoint/2010/main" val="17159093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自動車求人サイトへの応用｜LINEのワンタップ検索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資格・職種・こだわり条件は、LINEのワンタップ検索と相性が良い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資格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整備士1級・2級・3級・無資格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36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職種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整備士／営業／受付・事務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80000" y="1655999"/>
            <a:ext cx="2628000" cy="129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80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こだわり条件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未経験OK・資格取得支援あり・土日休みなど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2000" y="3204000"/>
            <a:ext cx="2376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リッチメニューの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ボタンをタップ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40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564000" y="3204000"/>
            <a:ext cx="2736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条件を入れた状態の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検索結果ページが開く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72000" y="3491999"/>
            <a:ext cx="288000" cy="2880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696000" y="3204000"/>
            <a:ext cx="2412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気になる求人で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サイトから応募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2000" y="4320000"/>
            <a:ext cx="8319600" cy="936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1999" tIns="36000" rIns="144000" bIns="36000" rtlCol="0" anchor="ctr"/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掲載中の求人は、全国2,134件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（うち正社員・整備士946件、正社員・営業180件）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5940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出典：自動車求人Navi 検索画面（2026年9月28日時点の掲載件数）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自動車求人Naviでの活用イメージ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新サイトとLINEの連動導線（全体フロー）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LINEの友だちを増やし、その後の応募・面談・来店まで接点を持ち続ける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2015999"/>
            <a:ext cx="1278000" cy="936000"/>
          </a:xfrm>
          <a:prstGeom prst="homePlate">
            <a:avLst>
              <a:gd name="adj" fmla="val 2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2000" y="2015999"/>
            <a:ext cx="971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求人媒体</a:t>
            </a:r>
          </a:p>
        </p:txBody>
      </p:sp>
      <p:sp>
        <p:nvSpPr>
          <p:cNvPr id="8" name="Chevron 7"/>
          <p:cNvSpPr/>
          <p:nvPr/>
        </p:nvSpPr>
        <p:spPr>
          <a:xfrm>
            <a:off x="1965600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816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サイト</a:t>
            </a:r>
          </a:p>
        </p:txBody>
      </p:sp>
      <p:sp>
        <p:nvSpPr>
          <p:cNvPr id="10" name="Chevron 9"/>
          <p:cNvSpPr/>
          <p:nvPr/>
        </p:nvSpPr>
        <p:spPr>
          <a:xfrm>
            <a:off x="31391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551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離脱防止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・サンクス</a:t>
            </a:r>
          </a:p>
        </p:txBody>
      </p:sp>
      <p:sp>
        <p:nvSpPr>
          <p:cNvPr id="12" name="Chevron 11"/>
          <p:cNvSpPr/>
          <p:nvPr/>
        </p:nvSpPr>
        <p:spPr>
          <a:xfrm>
            <a:off x="4312800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88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追加</a:t>
            </a:r>
          </a:p>
        </p:txBody>
      </p:sp>
      <p:sp>
        <p:nvSpPr>
          <p:cNvPr id="14" name="Chevron 13"/>
          <p:cNvSpPr/>
          <p:nvPr/>
        </p:nvSpPr>
        <p:spPr>
          <a:xfrm>
            <a:off x="54863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023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ステップ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配信</a:t>
            </a:r>
          </a:p>
        </p:txBody>
      </p:sp>
      <p:sp>
        <p:nvSpPr>
          <p:cNvPr id="16" name="Chevron 15"/>
          <p:cNvSpPr/>
          <p:nvPr/>
        </p:nvSpPr>
        <p:spPr>
          <a:xfrm>
            <a:off x="66599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5999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応募</a:t>
            </a:r>
          </a:p>
        </p:txBody>
      </p:sp>
      <p:sp>
        <p:nvSpPr>
          <p:cNvPr id="18" name="Chevron 17"/>
          <p:cNvSpPr/>
          <p:nvPr/>
        </p:nvSpPr>
        <p:spPr>
          <a:xfrm>
            <a:off x="7833599" y="2015999"/>
            <a:ext cx="1278000" cy="936000"/>
          </a:xfrm>
          <a:prstGeom prst="chevron">
            <a:avLst>
              <a:gd name="adj" fmla="val 28000"/>
            </a:avLst>
          </a:prstGeom>
          <a:solidFill>
            <a:srgbClr val="E4E8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9600" y="2015999"/>
            <a:ext cx="845999" cy="93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面談・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来店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2000" y="3078000"/>
            <a:ext cx="2361600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186000"/>
            <a:ext cx="23616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サイトに来訪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広告・求人媒体から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93199" y="3078000"/>
            <a:ext cx="23076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93199" y="3186000"/>
            <a:ext cx="23076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友だちとしてストック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離脱防止・サンクスLINE誘導から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540400" y="3078000"/>
            <a:ext cx="3481200" cy="432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40400" y="3186000"/>
            <a:ext cx="3481200" cy="72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継続して接点を持つ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ステップ配信・求人案内から応募・面談・来店へ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92000" y="4536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92000" y="4590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その場で応募しなかった方も、LINEでその後の応募・面談・来店まで追える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2000" y="59039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※求人ボックス・Indeed経由については、着地先・応募完了先を確認したうえでLINE導線を設計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友だち獲得の2つの導線｜離脱防止・サンクスLINE誘導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サイトを離れる方・応募した方を、LINEの友だちとして残す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031999" cy="2521906"/>
          </a:xfrm>
          <a:prstGeom prst="rect">
            <a:avLst/>
          </a:prstGeom>
        </p:spPr>
      </p:pic>
      <p:pic>
        <p:nvPicPr>
          <p:cNvPr id="7" name="Picture 6" descr="chengrowth_v11_talk_thank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000" y="1655999"/>
            <a:ext cx="1418254" cy="252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2000" y="4284000"/>
            <a:ext cx="4031999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① 離脱防止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サイトを離れる方に「条件に合う新着求人をLINEで受け取る」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6000" y="4284000"/>
            <a:ext cx="4031999" cy="864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② サンクスLINE誘導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応募完了後に「今後の連絡・求人情報をLINEで受け取る」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976000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※画面はイメージです（右：応募完了後にLINEを追加した後のトーク画面）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ユーザー体験イメージ②｜LINEトーク画面・リッチメニュー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自動車求人に特化したリッチメニューを、トーク画面に常設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chengrowth_v12_rich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000" y="1655999"/>
            <a:ext cx="4104000" cy="27682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2000" y="4428000"/>
            <a:ext cx="4104000" cy="936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リッチメニュー（トーク画面の下に常設）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000" y="1584000"/>
            <a:ext cx="2107120" cy="3744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000" y="1655999"/>
            <a:ext cx="1655999" cy="3671999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44000" rIns="108000" bIns="36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LINE内で完結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① 職種をタップ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② 条件に合う求人がカードで届く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③ 求人ページからサイトで応募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000" y="5472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※画面はイメージです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自動応答・アンケートシナリオの活用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友だち追加直後のアンケートで、資格・希望時期を把握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7920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友だち追加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608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128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あいさつ（自動）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アンケートを案内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9816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336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ボタンをタップするだけ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02400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9544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20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回答をタグで保存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資格・希望時期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3199" y="1980000"/>
            <a:ext cx="223200" cy="223200"/>
          </a:xfrm>
          <a:prstGeom prst="rightArrow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675200" y="1655999"/>
            <a:ext cx="1440000" cy="864000"/>
          </a:xfrm>
          <a:prstGeom prst="roundRect">
            <a:avLst>
              <a:gd name="adj" fmla="val 6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4000" tIns="36000" rIns="54000" bIns="36000" rtlCol="0" anchor="ctr"/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条件に合う求人を配信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アンケートの例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保有資格：1級／2級／3級／無資格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希望時期：すぐ／3か月以内／情報収集中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希望の職種：整備士／営業／受付・事務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20000" y="2772000"/>
            <a:ext cx="3456000" cy="2484000"/>
          </a:xfrm>
          <a:prstGeom prst="roundRect">
            <a:avLst>
              <a:gd name="adj" fmla="val 6000"/>
            </a:avLst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90000" rIns="144000" bIns="5400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回答に合わせた配信の例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整備士2級・すぐ → 整備士の新着求人を優先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未経験・情報収集中 → 資格取得支援の求人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友だち追加から14日間、全10通のステップ配信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000" y="2700000"/>
            <a:ext cx="1458775" cy="2592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92000" y="5976000"/>
            <a:ext cx="8319600" cy="288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※画面・選択肢はイメージです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92000" y="3096000"/>
            <a:ext cx="8316000" cy="3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Chapter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2000" y="3420000"/>
            <a:ext cx="8316000" cy="72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効果・費用・導入スケジュール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友だち獲得シミュレーション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4月の公開から半年で、友だちは約542人まで積み上がる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888000" y="1548000"/>
          <a:ext cx="5220000" cy="20159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00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313583"/>
              </p:ext>
            </p:extLst>
          </p:nvPr>
        </p:nvGraphicFramePr>
        <p:xfrm>
          <a:off x="793680" y="3671999"/>
          <a:ext cx="8319744" cy="821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ctr"/>
                      <a:endParaRPr dirty="0">
                        <a:latin typeface="メイリオ"/>
                        <a:ea typeface="メイリオ"/>
                        <a:cs typeface="メイリオ"/>
                      </a:endParaRP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合計</a:t>
                      </a:r>
                    </a:p>
                  </a:txBody>
                  <a:tcPr anchor="ctr">
                    <a:solidFill>
                      <a:srgbClr val="1F28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友だち（累計）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143人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335人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436人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542人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333333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01" name="TextBox 900"/>
          <p:cNvSpPr txBox="1"/>
          <p:nvPr/>
        </p:nvSpPr>
        <p:spPr>
          <a:xfrm>
            <a:off x="792000" y="5436000"/>
            <a:ext cx="8319600" cy="195626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dirty="0" err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前提：リニューアル前に貯まる友だちは含めない／サイト来訪 月約6,100人（広告のシミュレーション確定後に差し替え）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792000" y="1655999"/>
            <a:ext cx="2951999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半年後の友だち（累計）</a:t>
            </a:r>
          </a:p>
        </p:txBody>
      </p:sp>
      <p:sp>
        <p:nvSpPr>
          <p:cNvPr id="903" name="TextBox 902"/>
          <p:cNvSpPr txBox="1"/>
          <p:nvPr/>
        </p:nvSpPr>
        <p:spPr>
          <a:xfrm>
            <a:off x="792000" y="2015999"/>
            <a:ext cx="2951999" cy="115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</a:t>
            </a:r>
            <a:r>
              <a:rPr sz="6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542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人</a:t>
            </a:r>
          </a:p>
        </p:txBody>
      </p:sp>
      <p:cxnSp>
        <p:nvCxnSpPr>
          <p:cNvPr id="904" name="Connector 903"/>
          <p:cNvCxnSpPr/>
          <p:nvPr/>
        </p:nvCxnSpPr>
        <p:spPr>
          <a:xfrm>
            <a:off x="792000" y="468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5" name="TextBox 904"/>
          <p:cNvSpPr txBox="1"/>
          <p:nvPr/>
        </p:nvSpPr>
        <p:spPr>
          <a:xfrm>
            <a:off x="792000" y="4734000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LINEで見込み求職者を蓄積し、応募・面談・来店につなげる資産をつくる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導入費用の考え方｜サイト制作費とは分けて明示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集客 → サイト → LINE → 応募の流れの中で、費用がかかる場所を分けて見る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728000"/>
            <a:ext cx="2160000" cy="827999"/>
          </a:xfrm>
          <a:prstGeom prst="homePlate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広告・流入</a:t>
            </a:r>
          </a:p>
        </p:txBody>
      </p:sp>
      <p:sp>
        <p:nvSpPr>
          <p:cNvPr id="7" name="Chevron 6"/>
          <p:cNvSpPr/>
          <p:nvPr/>
        </p:nvSpPr>
        <p:spPr>
          <a:xfrm>
            <a:off x="2844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Webサイト</a:t>
            </a:r>
          </a:p>
        </p:txBody>
      </p:sp>
      <p:sp>
        <p:nvSpPr>
          <p:cNvPr id="8" name="Chevron 7"/>
          <p:cNvSpPr/>
          <p:nvPr/>
        </p:nvSpPr>
        <p:spPr>
          <a:xfrm>
            <a:off x="4896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LINEで接点を残す</a:t>
            </a:r>
          </a:p>
        </p:txBody>
      </p:sp>
      <p:sp>
        <p:nvSpPr>
          <p:cNvPr id="9" name="Chevron 8"/>
          <p:cNvSpPr/>
          <p:nvPr/>
        </p:nvSpPr>
        <p:spPr>
          <a:xfrm>
            <a:off x="6948000" y="1728000"/>
            <a:ext cx="2160000" cy="827999"/>
          </a:xfrm>
          <a:prstGeom prst="chevron">
            <a:avLst>
              <a:gd name="adj" fmla="val 3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18000" rIns="216000" bIns="1800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応募・来店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844000" y="2700000"/>
            <a:ext cx="2015999" cy="43200"/>
          </a:xfrm>
          <a:prstGeom prst="rect">
            <a:avLst/>
          </a:prstGeom>
          <a:solidFill>
            <a:srgbClr val="7F7F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96000" y="2700000"/>
            <a:ext cx="4212000" cy="432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2000" y="2826000"/>
            <a:ext cx="2015999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広告費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担い手：各広告媒体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サイトへの来訪を増やす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2826000"/>
            <a:ext cx="2015999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サイト改修費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担い手：サイト制作会社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見やすさ・検索性・応募フォームを改善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6000" y="2826000"/>
            <a:ext cx="4212000" cy="104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担い手：弊社（本提案）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来訪者を友だちとして蓄積し、応募・面談・来店までつなげる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000" y="4140000"/>
            <a:ext cx="43200" cy="936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18000" rIns="72000" bIns="1800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7999" y="4140000"/>
            <a:ext cx="3744000" cy="936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LINEの費用は、サイト制作費・広告費とは役割が異なる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6000" y="4140000"/>
            <a:ext cx="4212000" cy="936000"/>
          </a:xfrm>
          <a:prstGeom prst="rect">
            <a:avLst/>
          </a:prstGeom>
          <a:solidFill>
            <a:srgbClr val="F4F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0000" tIns="72000" rIns="144000" bIns="72000" rtlCol="0" anchor="ctr"/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LINE独自構築費のかかり方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初期構築費：11月頃〜　｜　月額運用：4月〜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離脱防止・サンクスLINE誘導は月額に含む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LINE公式アカウント利用料：別途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400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490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LINEの費用を分けることで、友だちの増え方とその後の効果を単独で把握できる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7C1D4-87AF-B047-12E0-A21428120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概算お見積もり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43200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ja-JP"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11月頃からの初期構築費と、4月以降の月額運用パッケージ</a:t>
            </a: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92000" y="1620000"/>
            <a:ext cx="4104000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初期構築費</a:t>
            </a:r>
            <a:r>
              <a:rPr sz="120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（11月頃〜3月）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980000"/>
            <a:ext cx="4104000" cy="93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20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50000" y="1692000"/>
            <a:ext cx="0" cy="313200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04000" y="1620000"/>
            <a:ext cx="4104000" cy="360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5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月額運用パッケージ</a:t>
            </a:r>
            <a:r>
              <a:rPr sz="120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（4月以降）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4000" y="1980000"/>
            <a:ext cx="4104000" cy="93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約</a:t>
            </a:r>
            <a:r>
              <a:rPr sz="5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2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万円／月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4000" y="3060000"/>
            <a:ext cx="3744000" cy="172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含むもの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・アカウント開設・設計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・リッチメニュー・あいさつ・ステップ配信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・セグメント・計測・友だち獲得導線の設計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・各種設定・動作確認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6000" y="3060000"/>
            <a:ext cx="3744000" cy="1728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含むもの（主要施策込み）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・LINE公式アカウント運用・配信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・ステップ配信・リッチメニュー運用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・離脱防止・サンクスLINE誘導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・分析・改善・毎月のレポート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2000" y="5004000"/>
            <a:ext cx="8316000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92000" y="5076000"/>
            <a:ext cx="8316000" cy="28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＋ LINE公式アカウント（開設3万円〜／利用料 月額0.5万円〜・配信通数で変動）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000" y="59039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体制：弊社＝設計・運用・制作・毎月のレポート／貴社＝求人情報・面談体制の共有、サイト制作会社様との連携</a:t>
            </a:r>
          </a:p>
        </p:txBody>
      </p:sp>
    </p:spTree>
    <p:extLst>
      <p:ext uri="{BB962C8B-B14F-4D97-AF65-F5344CB8AC3E}">
        <p14:creationId xmlns:p14="http://schemas.microsoft.com/office/powerpoint/2010/main" val="189377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なぜ4月を待たず、11月頃から初期構築を進めるのか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725334"/>
            <a:ext cx="8928000" cy="529332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 err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4月から成果を出すために、11月頃から準備を始める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0000" y="3096000"/>
            <a:ext cx="7848000" cy="0"/>
          </a:xfrm>
          <a:prstGeom prst="line">
            <a:avLst/>
          </a:prstGeom>
          <a:ln w="31750">
            <a:solidFill>
              <a:srgbClr val="1F28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52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11月頃〜</a:t>
            </a:r>
          </a:p>
        </p:txBody>
      </p:sp>
      <p:sp>
        <p:nvSpPr>
          <p:cNvPr id="8" name="Oval 7"/>
          <p:cNvSpPr/>
          <p:nvPr/>
        </p:nvSpPr>
        <p:spPr>
          <a:xfrm>
            <a:off x="2088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サイト制作段階から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LINE連携を設計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99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公開後の大きな改修を避けられる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6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〜3月</a:t>
            </a:r>
          </a:p>
        </p:txBody>
      </p:sp>
      <p:sp>
        <p:nvSpPr>
          <p:cNvPr id="12" name="Oval 11"/>
          <p:cNvSpPr/>
          <p:nvPr/>
        </p:nvSpPr>
        <p:spPr>
          <a:xfrm>
            <a:off x="4662000" y="2808000"/>
            <a:ext cx="576000" cy="576000"/>
          </a:xfrm>
          <a:prstGeom prst="ellipse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6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公開前に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構築・設定・検証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0000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ステップ配信まで完成させておく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000" y="2268000"/>
            <a:ext cx="2448000" cy="28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sp>
        <p:nvSpPr>
          <p:cNvPr id="16" name="Oval 15"/>
          <p:cNvSpPr/>
          <p:nvPr/>
        </p:nvSpPr>
        <p:spPr>
          <a:xfrm>
            <a:off x="7235999" y="2808000"/>
            <a:ext cx="576000" cy="576000"/>
          </a:xfrm>
          <a:prstGeom prst="ellipse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000" y="3564000"/>
            <a:ext cx="2448000" cy="68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4月から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そのまま本格運用へ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999" y="4284000"/>
            <a:ext cx="2520000" cy="324000"/>
          </a:xfrm>
          <a:prstGeom prst="rect">
            <a:avLst/>
          </a:prstGeom>
          <a:noFill/>
        </p:spPr>
        <p:txBody>
          <a:bodyPr wrap="square" lIns="36000" tIns="18000" rIns="36000" bIns="1800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運用設計をやり直す必要がない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2000" y="5148000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92000" y="5202000"/>
            <a:ext cx="8316000" cy="468000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初期構築から運用・改善まで一貫して支援することで、サイト公開後もスムーズに本格運用へ移行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2CB4-E2E4-29F5-FA9B-848F31DA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547200" y="136800"/>
            <a:ext cx="8784000" cy="338400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/>
            <a:r>
              <a:rPr sz="1600" b="1">
                <a:solidFill>
                  <a:srgbClr val="002060"/>
                </a:solidFill>
                <a:latin typeface="メイリオ"/>
                <a:ea typeface="メイリオ"/>
                <a:cs typeface="メイリオ"/>
              </a:rPr>
              <a:t>スケジュール｜11月頃から初期構築、4月から本格運用</a:t>
            </a:r>
          </a:p>
        </p:txBody>
      </p:sp>
      <p:sp>
        <p:nvSpPr>
          <p:cNvPr id="4" name="TextBox 2"/>
          <p:cNvSpPr txBox="1"/>
          <p:nvPr/>
        </p:nvSpPr>
        <p:spPr>
          <a:xfrm>
            <a:off x="793680" y="850368"/>
            <a:ext cx="8928000" cy="279264"/>
          </a:xfrm>
          <a:prstGeom prst="rect">
            <a:avLst/>
          </a:prstGeom>
          <a:noFill/>
        </p:spPr>
        <p:txBody>
          <a:bodyPr wrap="square" lIns="0" tIns="21600" rIns="0" bIns="2160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dirty="0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11月〜3月でステップ配信まで構築し、4月は構築済みのLINEで本格運用</a:t>
            </a:r>
            <a:endParaRPr sz="1250" dirty="0">
              <a:solidFill>
                <a:srgbClr val="333333"/>
              </a:solidFill>
              <a:latin typeface="メイリオ"/>
              <a:ea typeface="メイリオ"/>
              <a:cs typeface="メイリオ"/>
            </a:endParaRPr>
          </a:p>
        </p:txBody>
      </p:sp>
      <p:cxnSp>
        <p:nvCxnSpPr>
          <p:cNvPr id="5" name="Connector 3"/>
          <p:cNvCxnSpPr/>
          <p:nvPr/>
        </p:nvCxnSpPr>
        <p:spPr>
          <a:xfrm>
            <a:off x="0" y="1389600"/>
            <a:ext cx="9907200" cy="0"/>
          </a:xfrm>
          <a:prstGeom prst="line">
            <a:avLst/>
          </a:prstGeom>
          <a:ln w="1270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entagon 5"/>
          <p:cNvSpPr/>
          <p:nvPr/>
        </p:nvSpPr>
        <p:spPr>
          <a:xfrm>
            <a:off x="792000" y="1584000"/>
            <a:ext cx="4608000" cy="306000"/>
          </a:xfrm>
          <a:prstGeom prst="homePlate">
            <a:avLst>
              <a:gd name="adj" fmla="val 50000"/>
            </a:avLst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11月〜3月｜設計・構築</a:t>
            </a:r>
          </a:p>
        </p:txBody>
      </p:sp>
      <p:sp>
        <p:nvSpPr>
          <p:cNvPr id="7" name="Chevron 6"/>
          <p:cNvSpPr/>
          <p:nvPr/>
        </p:nvSpPr>
        <p:spPr>
          <a:xfrm>
            <a:off x="5256000" y="1584000"/>
            <a:ext cx="3852000" cy="306000"/>
          </a:xfrm>
          <a:prstGeom prst="chevron">
            <a:avLst>
              <a:gd name="adj" fmla="val 50000"/>
            </a:avLst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16000" tIns="18000" rIns="108000" bIns="18000"/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4月〜｜運用・改善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11月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12月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1月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1999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2月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92000" y="1925999"/>
            <a:ext cx="900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333333"/>
                </a:solidFill>
                <a:latin typeface="メイリオ"/>
                <a:ea typeface="メイリオ"/>
                <a:cs typeface="メイリオ"/>
              </a:rPr>
              <a:t>3月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2000" y="1925999"/>
            <a:ext cx="3816000" cy="216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4月〜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6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5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91999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92000" y="1962000"/>
            <a:ext cx="0" cy="3326399"/>
          </a:xfrm>
          <a:prstGeom prst="line">
            <a:avLst/>
          </a:prstGeom>
          <a:ln w="6350">
            <a:solidFill>
              <a:srgbClr val="E7E7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10000" y="2196000"/>
            <a:ext cx="4463999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000" y="21960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設計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アカウント・リッチメニュー・あいさつ・セグメント・計測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000" y="2581200"/>
            <a:ext cx="4463999" cy="342000"/>
          </a:xfrm>
          <a:prstGeom prst="rect">
            <a:avLst/>
          </a:prstGeom>
          <a:solidFill>
            <a:srgbClr val="1F28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000" y="25812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構築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ステップ配信の制作・配信条件・自動応答の設定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000" y="2966400"/>
            <a:ext cx="4463999" cy="342000"/>
          </a:xfrm>
          <a:prstGeom prst="rect">
            <a:avLst/>
          </a:prstGeom>
          <a:solidFill>
            <a:srgbClr val="E4E8F6"/>
          </a:solidFill>
          <a:ln w="12700">
            <a:solidFill>
              <a:srgbClr val="1F28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000" y="29664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検証　</a:t>
            </a:r>
            <a:r>
              <a:rPr sz="1050" b="0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動作テスト・公開前の確認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0000" y="3351600"/>
            <a:ext cx="4463999" cy="34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F7F7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000" y="3351600"/>
            <a:ext cx="4319999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先行稼働　</a:t>
            </a:r>
            <a:r>
              <a:rPr sz="10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状況に応じて、友だち獲得施策の一部を先に稼働</a:t>
            </a:r>
          </a:p>
        </p:txBody>
      </p:sp>
      <p:sp>
        <p:nvSpPr>
          <p:cNvPr id="26" name="Diamond 25"/>
          <p:cNvSpPr/>
          <p:nvPr/>
        </p:nvSpPr>
        <p:spPr>
          <a:xfrm>
            <a:off x="5130000" y="3772800"/>
            <a:ext cx="324000" cy="324000"/>
          </a:xfrm>
          <a:prstGeom prst="diamond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36000" y="3934800"/>
            <a:ext cx="4140000" cy="0"/>
          </a:xfrm>
          <a:prstGeom prst="line">
            <a:avLst/>
          </a:prstGeom>
          <a:ln w="19050">
            <a:solidFill>
              <a:srgbClr val="1F28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508000" y="3736800"/>
            <a:ext cx="3600000" cy="396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サイト公開　／　構築済みのLINEで本格運用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10000" y="4132800"/>
            <a:ext cx="3780000" cy="342000"/>
          </a:xfrm>
          <a:prstGeom prst="rect">
            <a:avLst/>
          </a:prstGeom>
          <a:solidFill>
            <a:srgbClr val="06C7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0" y="41328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獲得・配信　</a:t>
            </a:r>
            <a:r>
              <a:rPr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ステップ／企画配信・求人案内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10000" y="4518000"/>
            <a:ext cx="3780000" cy="342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00000" y="45180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追客　</a:t>
            </a:r>
            <a:r>
              <a:rPr sz="105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応募への追客・面談／来店のフォロー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10000" y="4903200"/>
            <a:ext cx="3780000" cy="342000"/>
          </a:xfrm>
          <a:prstGeom prst="rect">
            <a:avLst/>
          </a:prstGeom>
          <a:solidFill>
            <a:srgbClr val="E8F8EE"/>
          </a:solidFill>
          <a:ln w="12700">
            <a:solidFill>
              <a:srgbClr val="06C7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72000" tIns="18000" rIns="72000" bIns="18000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00000" y="4903200"/>
            <a:ext cx="3636000" cy="342000"/>
          </a:xfrm>
          <a:prstGeom prst="rect">
            <a:avLst/>
          </a:prstGeom>
          <a:noFill/>
        </p:spPr>
        <p:txBody>
          <a:bodyPr wrap="square" anchor="ctr" lIns="36000" rIns="36000" tIns="10800" bIns="1080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分析・改善　</a:t>
            </a:r>
            <a:r>
              <a:rPr sz="1050" b="0">
                <a:solidFill>
                  <a:srgbClr val="0B7A3B"/>
                </a:solidFill>
                <a:latin typeface="メイリオ"/>
                <a:ea typeface="メイリオ"/>
                <a:cs typeface="メイリオ"/>
              </a:rPr>
              <a:t>KPI計測・月次分析・改善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92000" y="1925999"/>
            <a:ext cx="0" cy="3362400"/>
          </a:xfrm>
          <a:prstGeom prst="line">
            <a:avLst/>
          </a:prstGeom>
          <a:ln w="31750">
            <a:solidFill>
              <a:srgbClr val="06C7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92000" y="5378399"/>
            <a:ext cx="8316000" cy="0"/>
          </a:xfrm>
          <a:prstGeom prst="line">
            <a:avLst/>
          </a:prstGeom>
          <a:ln w="19050">
            <a:solidFill>
              <a:srgbClr val="1F28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92000" y="5432399"/>
            <a:ext cx="8316000" cy="468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600" b="1">
                <a:solidFill>
                  <a:srgbClr val="1F285A"/>
                </a:solidFill>
                <a:latin typeface="メイリオ"/>
                <a:ea typeface="メイリオ"/>
                <a:cs typeface="メイリオ"/>
              </a:rPr>
              <a:t>初期構築で設計した内容を、そのまま運用へ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2000" y="5918399"/>
            <a:ext cx="8316000" cy="21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7F7F7F"/>
                </a:solidFill>
                <a:latin typeface="メイリオ"/>
                <a:ea typeface="メイリオ"/>
                <a:cs typeface="メイリオ"/>
              </a:rPr>
              <a:t>※先行稼働はサイト状況・実装状況に応じて判断（先行稼働分はシミュレーションに含めない）</a:t>
            </a:r>
          </a:p>
        </p:txBody>
      </p:sp>
    </p:spTree>
    <p:extLst>
      <p:ext uri="{BB962C8B-B14F-4D97-AF65-F5344CB8AC3E}">
        <p14:creationId xmlns:p14="http://schemas.microsoft.com/office/powerpoint/2010/main" val="1451945162"/>
      </p:ext>
    </p:extLst>
  </p:cSld>
  <p:clrMapOvr>
    <a:masterClrMapping/>
  </p:clrMapOvr>
</p:sld>
</file>

<file path=ppt/theme/theme1.xml><?xml version="1.0" encoding="utf-8"?>
<a:theme xmlns:a="http://schemas.openxmlformats.org/drawingml/2006/main" name="テーマ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ーマ1" id="{8EA1701B-0E00-4167-9612-575199E01EDB}" vid="{8EF6575E-BB77-44AE-AF00-801DE4CAFB82}"/>
    </a:ext>
  </a:extLst>
</a:theme>
</file>

<file path=ppt/theme/theme2.xml><?xml version="1.0" encoding="utf-8"?>
<a:theme xmlns:a="http://schemas.openxmlformats.org/drawingml/2006/main" name="DYMJAPA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143252</TotalTime>
  <Words>1216</Words>
  <Application>Microsoft Office PowerPoint</Application>
  <PresentationFormat>A4 210 x 297 mm</PresentationFormat>
  <Paragraphs>341</Paragraphs>
  <Slides>23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23</vt:i4>
      </vt:variant>
    </vt:vector>
  </HeadingPairs>
  <TitlesOfParts>
    <vt:vector size="29" baseType="lpstr">
      <vt:lpstr>メイリオ</vt:lpstr>
      <vt:lpstr>Arial</vt:lpstr>
      <vt:lpstr>Calibri</vt:lpstr>
      <vt:lpstr>Century Gothic</vt:lpstr>
      <vt:lpstr>テーマ1</vt:lpstr>
      <vt:lpstr>DYMJAPAN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駿</dc:creator>
  <cp:lastModifiedBy>殿村 亮太</cp:lastModifiedBy>
  <cp:revision>1965</cp:revision>
  <cp:lastPrinted>2022-11-01T11:38:14Z</cp:lastPrinted>
  <dcterms:created xsi:type="dcterms:W3CDTF">2015-09-04T09:21:15Z</dcterms:created>
  <dcterms:modified xsi:type="dcterms:W3CDTF">2026-10-05T08:13:47Z</dcterms:modified>
</cp:coreProperties>
</file>