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6"/>
  </p:notesMasterIdLst>
  <p:handoutMasterIdLst>
    <p:handoutMasterId r:id="rId27"/>
  </p:handoutMasterIdLst>
  <p:sldIdLst>
    <p:sldId id="3039" r:id="rId32"/>
    <p:sldId id="3040" r:id="rId33"/>
    <p:sldId id="3041" r:id="rId34"/>
    <p:sldId id="3042" r:id="rId35"/>
  </p:sldIdLst>
  <p:sldSz cx="12192119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119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76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474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12192119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9880719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CV後の接点をLINEに残す｜サンクスLINE誘導とは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サイト・LPでCVした方をLINEの友だちにし、その後の接点をつくる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764000"/>
            <a:ext cx="1873019" cy="936000"/>
          </a:xfrm>
          <a:prstGeom prst="homePlate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764000"/>
            <a:ext cx="154901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来訪</a:t>
            </a:r>
          </a:p>
        </p:txBody>
      </p:sp>
      <p:sp>
        <p:nvSpPr>
          <p:cNvPr id="8" name="Chevron 7"/>
          <p:cNvSpPr/>
          <p:nvPr/>
        </p:nvSpPr>
        <p:spPr>
          <a:xfrm>
            <a:off x="2539019" y="1764000"/>
            <a:ext cx="1873019" cy="936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91019" y="1764000"/>
            <a:ext cx="140501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0" name="Chevron 9"/>
          <p:cNvSpPr/>
          <p:nvPr/>
        </p:nvSpPr>
        <p:spPr>
          <a:xfrm>
            <a:off x="4286039" y="1764000"/>
            <a:ext cx="1873019" cy="936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8039" y="1764000"/>
            <a:ext cx="140501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12" name="Chevron 11"/>
          <p:cNvSpPr/>
          <p:nvPr/>
        </p:nvSpPr>
        <p:spPr>
          <a:xfrm>
            <a:off x="6033059" y="1764000"/>
            <a:ext cx="1873019" cy="936000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5059" y="1764000"/>
            <a:ext cx="140501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14" name="Chevron 13"/>
          <p:cNvSpPr/>
          <p:nvPr/>
        </p:nvSpPr>
        <p:spPr>
          <a:xfrm>
            <a:off x="7780079" y="1620000"/>
            <a:ext cx="1873019" cy="1224000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2079" y="1620000"/>
            <a:ext cx="1405019" cy="12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6" name="Chevron 15"/>
          <p:cNvSpPr/>
          <p:nvPr/>
        </p:nvSpPr>
        <p:spPr>
          <a:xfrm>
            <a:off x="9527099" y="1764000"/>
            <a:ext cx="1873019" cy="936000"/>
          </a:xfrm>
          <a:prstGeom prst="chevron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9099" y="1764000"/>
            <a:ext cx="140501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継続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フォロー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9019" y="2736000"/>
            <a:ext cx="2953019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予約・申込・問い合わせ・会員登録など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" y="3348000"/>
            <a:ext cx="2988000" cy="864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100</a:t>
            </a:r>
            <a:r>
              <a:rPr sz="2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000" y="3348000"/>
            <a:ext cx="2988000" cy="864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60</a:t>
            </a:r>
            <a:r>
              <a:rPr sz="2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000" y="4176000"/>
            <a:ext cx="2988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サンクスLINE誘導の対象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999" y="3348000"/>
            <a:ext cx="2988000" cy="864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2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3999" y="4176000"/>
            <a:ext cx="2988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LINE友だち追加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23999" y="3780000"/>
            <a:ext cx="7920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20000" y="3960000"/>
            <a:ext cx="18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× 誘導可能率 60%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60000" y="3780000"/>
            <a:ext cx="792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56000" y="3960000"/>
            <a:ext cx="18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× 友だち追加率 50%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2000" y="4824000"/>
            <a:ext cx="1060811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2000" y="4932000"/>
            <a:ext cx="10608119" cy="43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100CV</a:t>
            </a: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×　誘導可能率60%　×　友だち追加率50%　＝　</a:t>
            </a: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30友だち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6192000"/>
            <a:ext cx="10608119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※数値は想定例（誘導可能率・友だち追加率は想定値）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CVはゴールではなく、売上化のスタート地点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CV後をLINEでつなぐことで、来店・購入・成約まで届ける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655999"/>
            <a:ext cx="1655999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7" name="Pentagon 6"/>
          <p:cNvSpPr/>
          <p:nvPr/>
        </p:nvSpPr>
        <p:spPr>
          <a:xfrm>
            <a:off x="2556000" y="1692000"/>
            <a:ext cx="2305529" cy="720000"/>
          </a:xfrm>
          <a:prstGeom prst="homePlate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4000" y="1692000"/>
            <a:ext cx="1981529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9" name="Chevron 8"/>
          <p:cNvSpPr/>
          <p:nvPr/>
        </p:nvSpPr>
        <p:spPr>
          <a:xfrm>
            <a:off x="4735529" y="1692000"/>
            <a:ext cx="2305529" cy="720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7529" y="1692000"/>
            <a:ext cx="1837529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その後の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接点なし</a:t>
            </a:r>
          </a:p>
        </p:txBody>
      </p:sp>
      <p:sp>
        <p:nvSpPr>
          <p:cNvPr id="11" name="Chevron 10"/>
          <p:cNvSpPr/>
          <p:nvPr/>
        </p:nvSpPr>
        <p:spPr>
          <a:xfrm>
            <a:off x="6915059" y="1692000"/>
            <a:ext cx="2305529" cy="720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7059" y="1692000"/>
            <a:ext cx="1837529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</a:t>
            </a:r>
          </a:p>
        </p:txBody>
      </p:sp>
      <p:sp>
        <p:nvSpPr>
          <p:cNvPr id="13" name="Chevron 12"/>
          <p:cNvSpPr/>
          <p:nvPr/>
        </p:nvSpPr>
        <p:spPr>
          <a:xfrm>
            <a:off x="9094589" y="1692000"/>
            <a:ext cx="2305529" cy="720000"/>
          </a:xfrm>
          <a:prstGeom prst="chevron">
            <a:avLst>
              <a:gd name="adj" fmla="val 2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6589" y="1692000"/>
            <a:ext cx="1837529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来店・購入に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つながらない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2736000"/>
            <a:ext cx="1655999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あり</a:t>
            </a:r>
          </a:p>
        </p:txBody>
      </p:sp>
      <p:sp>
        <p:nvSpPr>
          <p:cNvPr id="16" name="Pentagon 15"/>
          <p:cNvSpPr/>
          <p:nvPr/>
        </p:nvSpPr>
        <p:spPr>
          <a:xfrm>
            <a:off x="2556000" y="2772000"/>
            <a:ext cx="1869623" cy="720000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64000" y="2772000"/>
            <a:ext cx="1545623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8" name="Chevron 17"/>
          <p:cNvSpPr/>
          <p:nvPr/>
        </p:nvSpPr>
        <p:spPr>
          <a:xfrm>
            <a:off x="4299623" y="2772000"/>
            <a:ext cx="1869623" cy="720000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1623" y="2772000"/>
            <a:ext cx="1401623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友だち化</a:t>
            </a:r>
          </a:p>
        </p:txBody>
      </p:sp>
      <p:sp>
        <p:nvSpPr>
          <p:cNvPr id="20" name="Chevron 19"/>
          <p:cNvSpPr/>
          <p:nvPr/>
        </p:nvSpPr>
        <p:spPr>
          <a:xfrm>
            <a:off x="6043247" y="2772000"/>
            <a:ext cx="1869623" cy="720000"/>
          </a:xfrm>
          <a:prstGeom prst="chevron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5247" y="2772000"/>
            <a:ext cx="1401623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リマインド・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フォロー</a:t>
            </a:r>
          </a:p>
        </p:txBody>
      </p:sp>
      <p:sp>
        <p:nvSpPr>
          <p:cNvPr id="22" name="Chevron 21"/>
          <p:cNvSpPr/>
          <p:nvPr/>
        </p:nvSpPr>
        <p:spPr>
          <a:xfrm>
            <a:off x="7786871" y="2772000"/>
            <a:ext cx="1869623" cy="720000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8871" y="2772000"/>
            <a:ext cx="1401623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来店・購入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・成約</a:t>
            </a:r>
          </a:p>
        </p:txBody>
      </p:sp>
      <p:sp>
        <p:nvSpPr>
          <p:cNvPr id="24" name="Chevron 23"/>
          <p:cNvSpPr/>
          <p:nvPr/>
        </p:nvSpPr>
        <p:spPr>
          <a:xfrm>
            <a:off x="9530495" y="2772000"/>
            <a:ext cx="1869623" cy="720000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2495" y="2772000"/>
            <a:ext cx="1401623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再来店・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再購入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56000" y="3600000"/>
            <a:ext cx="8844119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例：100CVのうち30人をLINE友だち化できれば、その30人と継続して接点を持てる（想定）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2000" y="4031999"/>
            <a:ext cx="1060811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008000" y="4248000"/>
            <a:ext cx="720000" cy="504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000" y="4374000"/>
            <a:ext cx="3176039" cy="12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実売上化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CV後の離脱を防ぎ、来店・購入へ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28039" y="4212000"/>
            <a:ext cx="0" cy="1404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544039" y="4248000"/>
            <a:ext cx="720000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8039" y="4374000"/>
            <a:ext cx="3176039" cy="12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顧客ストック化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獲得したCVを、LINE上の接点として蓄積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64079" y="4212000"/>
            <a:ext cx="0" cy="1404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080079" y="4248000"/>
            <a:ext cx="720000" cy="504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4079" y="4374000"/>
            <a:ext cx="3176039" cy="12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LTV向上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継続フォローで、再来店・再購入へ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000" y="6192000"/>
            <a:ext cx="10608119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※数値は想定例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具体施策①｜CV後の離脱を防ぎ、来店・成約につなげる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CV直後から、来店・面談・購入までの行動をLINEで後押し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764000"/>
            <a:ext cx="1873019" cy="936000"/>
          </a:xfrm>
          <a:prstGeom prst="homePlate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764000"/>
            <a:ext cx="154901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8" name="Chevron 7"/>
          <p:cNvSpPr/>
          <p:nvPr/>
        </p:nvSpPr>
        <p:spPr>
          <a:xfrm>
            <a:off x="2539019" y="1620000"/>
            <a:ext cx="1873019" cy="1224000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91019" y="1620000"/>
            <a:ext cx="1405019" cy="12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0" name="Chevron 9"/>
          <p:cNvSpPr/>
          <p:nvPr/>
        </p:nvSpPr>
        <p:spPr>
          <a:xfrm>
            <a:off x="4286039" y="1764000"/>
            <a:ext cx="1873019" cy="936000"/>
          </a:xfrm>
          <a:prstGeom prst="chevron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8039" y="1764000"/>
            <a:ext cx="140501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受付完了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メッセージ</a:t>
            </a:r>
          </a:p>
        </p:txBody>
      </p:sp>
      <p:sp>
        <p:nvSpPr>
          <p:cNvPr id="12" name="Chevron 11"/>
          <p:cNvSpPr/>
          <p:nvPr/>
        </p:nvSpPr>
        <p:spPr>
          <a:xfrm>
            <a:off x="6033059" y="1764000"/>
            <a:ext cx="1873019" cy="936000"/>
          </a:xfrm>
          <a:prstGeom prst="chevron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5059" y="1764000"/>
            <a:ext cx="140501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4" name="Chevron 13"/>
          <p:cNvSpPr/>
          <p:nvPr/>
        </p:nvSpPr>
        <p:spPr>
          <a:xfrm>
            <a:off x="7780079" y="1764000"/>
            <a:ext cx="1873019" cy="936000"/>
          </a:xfrm>
          <a:prstGeom prst="chevron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2079" y="1764000"/>
            <a:ext cx="140501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日程変更・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不安解消</a:t>
            </a:r>
          </a:p>
        </p:txBody>
      </p:sp>
      <p:sp>
        <p:nvSpPr>
          <p:cNvPr id="16" name="Chevron 15"/>
          <p:cNvSpPr/>
          <p:nvPr/>
        </p:nvSpPr>
        <p:spPr>
          <a:xfrm>
            <a:off x="9527099" y="1764000"/>
            <a:ext cx="1873019" cy="936000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9099" y="1764000"/>
            <a:ext cx="140501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来店・面談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・購入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3240000"/>
            <a:ext cx="4140000" cy="360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100CVのうち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3564000"/>
            <a:ext cx="4140000" cy="93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54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2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4500000"/>
            <a:ext cx="4140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がLINE友だち化（想定）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この30人に、来店・面談・購入までフォローできる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20000" y="3240000"/>
            <a:ext cx="0" cy="2016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43999" y="3240000"/>
            <a:ext cx="540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施策の例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43999" y="3636000"/>
            <a:ext cx="1835999" cy="396000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受付完了メッセージ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87999" y="3636000"/>
            <a:ext cx="1835999" cy="396000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前日・当日リマインド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1999" y="3636000"/>
            <a:ext cx="1835999" cy="396000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日程変更の導線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43999" y="4121999"/>
            <a:ext cx="1835999" cy="396000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よくある質問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87999" y="4121999"/>
            <a:ext cx="1835999" cy="396000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不安解消コンテンツ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31999" y="4121999"/>
            <a:ext cx="1835999" cy="396000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来店前のご案内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000" y="6192000"/>
            <a:ext cx="10608119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※数値は想定例（改善率を示すものではない）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具体施策②｜LINEで育成し、LTV向上につなげる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初回で終わらせず、継続フォローで再来店・再購入へ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92000" y="3096000"/>
            <a:ext cx="1678019" cy="72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3096000"/>
            <a:ext cx="1678019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初回来店・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購入・成約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8019" y="2898000"/>
            <a:ext cx="1678019" cy="917999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019" y="2898000"/>
            <a:ext cx="1678019" cy="91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継続接点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4039" y="2700000"/>
            <a:ext cx="1678019" cy="111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4039" y="2700000"/>
            <a:ext cx="1678019" cy="11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フォロー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0059" y="2501999"/>
            <a:ext cx="1678019" cy="131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0059" y="2501999"/>
            <a:ext cx="1678019" cy="131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再来店・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再購入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6079" y="2304000"/>
            <a:ext cx="1678019" cy="151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079" y="2304000"/>
            <a:ext cx="1678019" cy="151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アップセル／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クロスセル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22099" y="2106000"/>
            <a:ext cx="1678019" cy="1710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2099" y="2106000"/>
            <a:ext cx="1678019" cy="171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LTV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向上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2000" y="3977999"/>
            <a:ext cx="10320119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2000" y="4014000"/>
            <a:ext cx="360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施策の例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000" y="4338000"/>
            <a:ext cx="1678019" cy="342000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来店後フォロー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78019" y="4338000"/>
            <a:ext cx="1678019" cy="342000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再来店促進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4039" y="4338000"/>
            <a:ext cx="1678019" cy="342000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再購入促進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0059" y="4338000"/>
            <a:ext cx="1678019" cy="342000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関連サービス案内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36079" y="4338000"/>
            <a:ext cx="1678019" cy="342000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クーポン配信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22099" y="4338000"/>
            <a:ext cx="1678019" cy="342000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" y="4932000"/>
            <a:ext cx="3200039" cy="720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広告でCVを増やす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92039" y="4932000"/>
            <a:ext cx="503999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6039" y="4932000"/>
            <a:ext cx="3200039" cy="72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サンクスLINEで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売上化と継続接点を高める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6079" y="4932000"/>
            <a:ext cx="503999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00079" y="4932000"/>
            <a:ext cx="3200039" cy="72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実売上・LTV向上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" y="6192000"/>
            <a:ext cx="10608119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※100CV → 30友だち化（想定）の30人は、初回売上だけでなく継続フォローの対象になる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143252</TotalTime>
  <Words>1216</Words>
  <Application>Microsoft Office PowerPoint</Application>
  <PresentationFormat>A4 210 x 297 mm</PresentationFormat>
  <Paragraphs>341</Paragraphs>
  <Slides>23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23</vt:i4>
      </vt:variant>
    </vt:vector>
  </HeadingPairs>
  <TitlesOfParts>
    <vt:vector size="29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1965</cp:revision>
  <cp:lastPrinted>2022-11-01T11:38:14Z</cp:lastPrinted>
  <dcterms:created xsi:type="dcterms:W3CDTF">2015-09-04T09:21:15Z</dcterms:created>
  <dcterms:modified xsi:type="dcterms:W3CDTF">2026-10-05T08:13:47Z</dcterms:modified>
</cp:coreProperties>
</file>