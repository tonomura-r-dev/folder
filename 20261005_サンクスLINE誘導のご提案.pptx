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7"/>
  </p:notesMasterIdLst>
  <p:handoutMasterIdLst>
    <p:handoutMasterId r:id="rId8"/>
  </p:handoutMasterIdLst>
  <p:sldIdLst>
    <p:sldId id="3039" r:id="rId3"/>
    <p:sldId id="3040" r:id="rId4"/>
    <p:sldId id="3041" r:id="rId5"/>
    <p:sldId id="3042" r:id="rId6"/>
  </p:sldIdLst>
  <p:sldSz cx="12192000" cy="6858000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450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notesMaster" Target="notesMasters/notesMaster1.xml"/><Relationship Id="rId8" Type="http://schemas.openxmlformats.org/officeDocument/2006/relationships/handoutMaster" Target="handoutMasters/handout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12192119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7476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37474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12192119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9880719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CV後の接点をLINEに残す｜サンクスLINE誘導とは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サイト・LPでCVした方をLINEの友だちにし、その後の接点をつくる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entagon 5"/>
          <p:cNvSpPr/>
          <p:nvPr/>
        </p:nvSpPr>
        <p:spPr>
          <a:xfrm>
            <a:off x="792000" y="1764000"/>
            <a:ext cx="1873019" cy="936000"/>
          </a:xfrm>
          <a:prstGeom prst="homePlate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0000" y="1764000"/>
            <a:ext cx="1549019" cy="93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サイト・LP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来訪</a:t>
            </a:r>
          </a:p>
        </p:txBody>
      </p:sp>
      <p:sp>
        <p:nvSpPr>
          <p:cNvPr id="8" name="Chevron 7"/>
          <p:cNvSpPr/>
          <p:nvPr/>
        </p:nvSpPr>
        <p:spPr>
          <a:xfrm>
            <a:off x="2539019" y="1764000"/>
            <a:ext cx="1873019" cy="936000"/>
          </a:xfrm>
          <a:prstGeom prst="chevron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91019" y="1764000"/>
            <a:ext cx="1405019" cy="93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10" name="Chevron 9"/>
          <p:cNvSpPr/>
          <p:nvPr/>
        </p:nvSpPr>
        <p:spPr>
          <a:xfrm>
            <a:off x="4286039" y="1764000"/>
            <a:ext cx="1873019" cy="936000"/>
          </a:xfrm>
          <a:prstGeom prst="chevron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38039" y="1764000"/>
            <a:ext cx="1405019" cy="93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完了画面</a:t>
            </a:r>
          </a:p>
        </p:txBody>
      </p:sp>
      <p:sp>
        <p:nvSpPr>
          <p:cNvPr id="12" name="Chevron 11"/>
          <p:cNvSpPr/>
          <p:nvPr/>
        </p:nvSpPr>
        <p:spPr>
          <a:xfrm>
            <a:off x="6033059" y="1764000"/>
            <a:ext cx="1873019" cy="936000"/>
          </a:xfrm>
          <a:prstGeom prst="chevron">
            <a:avLst>
              <a:gd name="adj" fmla="val 2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85059" y="1764000"/>
            <a:ext cx="1405019" cy="93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LINE誘導</a:t>
            </a:r>
          </a:p>
        </p:txBody>
      </p:sp>
      <p:sp>
        <p:nvSpPr>
          <p:cNvPr id="14" name="Chevron 13"/>
          <p:cNvSpPr/>
          <p:nvPr/>
        </p:nvSpPr>
        <p:spPr>
          <a:xfrm>
            <a:off x="7780079" y="1620000"/>
            <a:ext cx="1873019" cy="1224000"/>
          </a:xfrm>
          <a:prstGeom prst="chevron">
            <a:avLst>
              <a:gd name="adj" fmla="val 25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32079" y="1620000"/>
            <a:ext cx="1405019" cy="12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sp>
        <p:nvSpPr>
          <p:cNvPr id="16" name="Chevron 15"/>
          <p:cNvSpPr/>
          <p:nvPr/>
        </p:nvSpPr>
        <p:spPr>
          <a:xfrm>
            <a:off x="9527099" y="1764000"/>
            <a:ext cx="1873019" cy="936000"/>
          </a:xfrm>
          <a:prstGeom prst="chevron">
            <a:avLst>
              <a:gd name="adj" fmla="val 2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779099" y="1764000"/>
            <a:ext cx="1405019" cy="93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継続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フォロー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99019" y="2736000"/>
            <a:ext cx="2953019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予約・申込・問い合わせ・会員登録など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00" y="3849296"/>
            <a:ext cx="2988000" cy="79740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lang="en-US" altLang="ja-JP" sz="18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</a:t>
            </a:r>
            <a:r>
              <a:rPr lang="ja-JP" altLang="en-US" sz="18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：</a:t>
            </a:r>
            <a:r>
              <a:rPr sz="42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100</a:t>
            </a:r>
            <a:r>
              <a:rPr lang="ja-JP" altLang="en-US" sz="42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件</a:t>
            </a:r>
            <a:endParaRPr sz="20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608000" y="3816000"/>
            <a:ext cx="2988000" cy="864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42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60</a:t>
            </a:r>
            <a:r>
              <a:rPr sz="18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8000" y="4644000"/>
            <a:ext cx="2988000" cy="251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サンクスLINE誘導の対象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3999" y="3816000"/>
            <a:ext cx="2988000" cy="864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4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30</a:t>
            </a:r>
            <a:r>
              <a:rPr sz="18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3999" y="4644000"/>
            <a:ext cx="2988000" cy="251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LINE友だち追加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923999" y="4248000"/>
            <a:ext cx="7920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420000" y="4428000"/>
            <a:ext cx="1800000" cy="251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× 誘導可能率 60%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560000" y="4248000"/>
            <a:ext cx="792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056000" y="4428000"/>
            <a:ext cx="1800000" cy="251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× 友だち追加率 50%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2000" y="6192000"/>
            <a:ext cx="10608119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※数値は想定例（誘導可能率・友だち追加率は想定値）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CVはゴールではなく、売上化のスタート地点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CV後に接点がなければ、来店・購入の前に離脱が起きる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92000" y="1944000"/>
            <a:ext cx="1655999" cy="108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なし</a:t>
            </a:r>
          </a:p>
        </p:txBody>
      </p:sp>
      <p:sp>
        <p:nvSpPr>
          <p:cNvPr id="7" name="Pentagon 6"/>
          <p:cNvSpPr/>
          <p:nvPr/>
        </p:nvSpPr>
        <p:spPr>
          <a:xfrm>
            <a:off x="2556000" y="1944000"/>
            <a:ext cx="2305500" cy="1080000"/>
          </a:xfrm>
          <a:prstGeom prst="homePlate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64000" y="1944000"/>
            <a:ext cx="1981500" cy="108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9" name="Chevron 8"/>
          <p:cNvSpPr/>
          <p:nvPr/>
        </p:nvSpPr>
        <p:spPr>
          <a:xfrm>
            <a:off x="4735500" y="1944000"/>
            <a:ext cx="2305500" cy="1080000"/>
          </a:xfrm>
          <a:prstGeom prst="chevron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7500" y="1944000"/>
            <a:ext cx="1837500" cy="108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その後の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接点なし</a:t>
            </a:r>
          </a:p>
        </p:txBody>
      </p:sp>
      <p:sp>
        <p:nvSpPr>
          <p:cNvPr id="11" name="Chevron 10"/>
          <p:cNvSpPr/>
          <p:nvPr/>
        </p:nvSpPr>
        <p:spPr>
          <a:xfrm>
            <a:off x="6915000" y="1944000"/>
            <a:ext cx="2305500" cy="1080000"/>
          </a:xfrm>
          <a:prstGeom prst="chevron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67000" y="1944000"/>
            <a:ext cx="1837500" cy="108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来店・購入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の前に離脱</a:t>
            </a:r>
          </a:p>
        </p:txBody>
      </p:sp>
      <p:sp>
        <p:nvSpPr>
          <p:cNvPr id="13" name="Chevron 12"/>
          <p:cNvSpPr/>
          <p:nvPr/>
        </p:nvSpPr>
        <p:spPr>
          <a:xfrm>
            <a:off x="9094500" y="1944000"/>
            <a:ext cx="2305500" cy="1080000"/>
          </a:xfrm>
          <a:prstGeom prst="chevron">
            <a:avLst>
              <a:gd name="adj" fmla="val 25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46500" y="1944000"/>
            <a:ext cx="1837500" cy="108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売上に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ならない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3744000"/>
            <a:ext cx="1655999" cy="108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あり</a:t>
            </a:r>
          </a:p>
        </p:txBody>
      </p:sp>
      <p:sp>
        <p:nvSpPr>
          <p:cNvPr id="16" name="Pentagon 15"/>
          <p:cNvSpPr/>
          <p:nvPr/>
        </p:nvSpPr>
        <p:spPr>
          <a:xfrm>
            <a:off x="2556000" y="3744000"/>
            <a:ext cx="2305500" cy="1080000"/>
          </a:xfrm>
          <a:prstGeom prst="homePlate">
            <a:avLst>
              <a:gd name="adj" fmla="val 2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64000" y="3744000"/>
            <a:ext cx="1981500" cy="108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18" name="Chevron 17"/>
          <p:cNvSpPr/>
          <p:nvPr/>
        </p:nvSpPr>
        <p:spPr>
          <a:xfrm>
            <a:off x="4735500" y="3744000"/>
            <a:ext cx="2305500" cy="1080000"/>
          </a:xfrm>
          <a:prstGeom prst="chevron">
            <a:avLst>
              <a:gd name="adj" fmla="val 25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87500" y="3744000"/>
            <a:ext cx="1837500" cy="108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フォロー</a:t>
            </a:r>
          </a:p>
        </p:txBody>
      </p:sp>
      <p:sp>
        <p:nvSpPr>
          <p:cNvPr id="20" name="Chevron 19"/>
          <p:cNvSpPr/>
          <p:nvPr/>
        </p:nvSpPr>
        <p:spPr>
          <a:xfrm>
            <a:off x="6915000" y="3744000"/>
            <a:ext cx="2305500" cy="1080000"/>
          </a:xfrm>
          <a:prstGeom prst="chevron">
            <a:avLst>
              <a:gd name="adj" fmla="val 2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67000" y="3744000"/>
            <a:ext cx="1837500" cy="108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来店・購入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・成約</a:t>
            </a:r>
          </a:p>
        </p:txBody>
      </p:sp>
      <p:sp>
        <p:nvSpPr>
          <p:cNvPr id="22" name="Chevron 21"/>
          <p:cNvSpPr/>
          <p:nvPr/>
        </p:nvSpPr>
        <p:spPr>
          <a:xfrm>
            <a:off x="9094500" y="3744000"/>
            <a:ext cx="2305500" cy="1080000"/>
          </a:xfrm>
          <a:prstGeom prst="chevron">
            <a:avLst>
              <a:gd name="adj" fmla="val 2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46500" y="3744000"/>
            <a:ext cx="1837500" cy="108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売上に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なる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92000" y="3294000"/>
            <a:ext cx="10608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具体施策①｜CV後の離脱を防ぎ、来店・成約につなげる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CV直後から、来店・面談・購入までの行動をLINEで後押し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entagon 5"/>
          <p:cNvSpPr/>
          <p:nvPr/>
        </p:nvSpPr>
        <p:spPr>
          <a:xfrm>
            <a:off x="792000" y="1764000"/>
            <a:ext cx="1873019" cy="936000"/>
          </a:xfrm>
          <a:prstGeom prst="homePlate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0000" y="1764000"/>
            <a:ext cx="1549019" cy="93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8" name="Chevron 7"/>
          <p:cNvSpPr/>
          <p:nvPr/>
        </p:nvSpPr>
        <p:spPr>
          <a:xfrm>
            <a:off x="2539019" y="1620000"/>
            <a:ext cx="1873019" cy="1224000"/>
          </a:xfrm>
          <a:prstGeom prst="chevron">
            <a:avLst>
              <a:gd name="adj" fmla="val 25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91019" y="1620000"/>
            <a:ext cx="1405019" cy="12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LINE追加</a:t>
            </a:r>
          </a:p>
        </p:txBody>
      </p:sp>
      <p:sp>
        <p:nvSpPr>
          <p:cNvPr id="10" name="Chevron 9"/>
          <p:cNvSpPr/>
          <p:nvPr/>
        </p:nvSpPr>
        <p:spPr>
          <a:xfrm>
            <a:off x="4286039" y="1764000"/>
            <a:ext cx="1873019" cy="936000"/>
          </a:xfrm>
          <a:prstGeom prst="chevron">
            <a:avLst>
              <a:gd name="adj" fmla="val 2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38039" y="1764000"/>
            <a:ext cx="1405019" cy="93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受付完了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メッセージ</a:t>
            </a:r>
          </a:p>
        </p:txBody>
      </p:sp>
      <p:sp>
        <p:nvSpPr>
          <p:cNvPr id="12" name="Chevron 11"/>
          <p:cNvSpPr/>
          <p:nvPr/>
        </p:nvSpPr>
        <p:spPr>
          <a:xfrm>
            <a:off x="6033059" y="1764000"/>
            <a:ext cx="1873019" cy="936000"/>
          </a:xfrm>
          <a:prstGeom prst="chevron">
            <a:avLst>
              <a:gd name="adj" fmla="val 2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85059" y="1764000"/>
            <a:ext cx="1405019" cy="93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リマインド</a:t>
            </a:r>
          </a:p>
        </p:txBody>
      </p:sp>
      <p:sp>
        <p:nvSpPr>
          <p:cNvPr id="14" name="Chevron 13"/>
          <p:cNvSpPr/>
          <p:nvPr/>
        </p:nvSpPr>
        <p:spPr>
          <a:xfrm>
            <a:off x="7780079" y="1764000"/>
            <a:ext cx="1873019" cy="936000"/>
          </a:xfrm>
          <a:prstGeom prst="chevron">
            <a:avLst>
              <a:gd name="adj" fmla="val 2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32079" y="1764000"/>
            <a:ext cx="1405019" cy="93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日程変更・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不安解消</a:t>
            </a:r>
          </a:p>
        </p:txBody>
      </p:sp>
      <p:sp>
        <p:nvSpPr>
          <p:cNvPr id="16" name="Chevron 15"/>
          <p:cNvSpPr/>
          <p:nvPr/>
        </p:nvSpPr>
        <p:spPr>
          <a:xfrm>
            <a:off x="9527099" y="1764000"/>
            <a:ext cx="1873019" cy="936000"/>
          </a:xfrm>
          <a:prstGeom prst="chevron">
            <a:avLst>
              <a:gd name="adj" fmla="val 2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779099" y="1764000"/>
            <a:ext cx="1405019" cy="93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来店・面談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・購入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3204000"/>
            <a:ext cx="3600000" cy="288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実績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6000" y="3528000"/>
            <a:ext cx="3248000" cy="165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美容クリニック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予約確認・前日のお知らせをLINEで配信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予約後の来院率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40〜50%改善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328000" y="3564000"/>
            <a:ext cx="0" cy="1584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472000" y="3528000"/>
            <a:ext cx="3248000" cy="165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皮膚科クリニック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友だち追加後のステップ配信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LINE経由の予約数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約20%増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ステップ配信の実施前との比較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864000" y="3564000"/>
            <a:ext cx="0" cy="1584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008000" y="3528000"/>
            <a:ext cx="3248000" cy="165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就職支援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LINEのチャットで面談へ誘導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LINEで問い合わせた方のうち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55%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が面談を予約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具体施策②｜LINEで育成し、LTV向上につなげる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初回で終わらせず、継続フォローで再来店・再購入へ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92000" y="2736000"/>
            <a:ext cx="1678000" cy="648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2736000"/>
            <a:ext cx="1678000" cy="648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初回来店・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購入・成約</a:t>
            </a:r>
          </a:p>
        </p:txBody>
      </p:sp>
      <p:sp>
        <p:nvSpPr>
          <p:cNvPr id="8" name="Rectangle 7"/>
          <p:cNvSpPr/>
          <p:nvPr/>
        </p:nvSpPr>
        <p:spPr>
          <a:xfrm>
            <a:off x="2578000" y="2574000"/>
            <a:ext cx="1678000" cy="81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78000" y="2574000"/>
            <a:ext cx="1678000" cy="81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継続接点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4000" y="2412000"/>
            <a:ext cx="1678000" cy="972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4000" y="2412000"/>
            <a:ext cx="1678000" cy="972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フォロー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配信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50000" y="2250000"/>
            <a:ext cx="1678000" cy="113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50000" y="2250000"/>
            <a:ext cx="1678000" cy="1134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再来店・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再購入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36000" y="2088000"/>
            <a:ext cx="1678000" cy="129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000" y="2088000"/>
            <a:ext cx="1678000" cy="129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アップセル／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クロスセル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22000" y="1926000"/>
            <a:ext cx="1678000" cy="14580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22000" y="1926000"/>
            <a:ext cx="1678000" cy="1458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LTV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向上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3510000"/>
            <a:ext cx="1152000" cy="288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施策の例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15999" y="3510000"/>
            <a:ext cx="2265000" cy="288000"/>
          </a:xfrm>
          <a:prstGeom prst="roundRect">
            <a:avLst>
              <a:gd name="adj" fmla="val 5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来店後フォロー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000" y="3510000"/>
            <a:ext cx="2265000" cy="288000"/>
          </a:xfrm>
          <a:prstGeom prst="roundRect">
            <a:avLst>
              <a:gd name="adj" fmla="val 5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関連サービス案内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62000" y="3510000"/>
            <a:ext cx="2265000" cy="288000"/>
          </a:xfrm>
          <a:prstGeom prst="roundRect">
            <a:avLst>
              <a:gd name="adj" fmla="val 5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クーポン配信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35000" y="3510000"/>
            <a:ext cx="2265000" cy="288000"/>
          </a:xfrm>
          <a:prstGeom prst="roundRect">
            <a:avLst>
              <a:gd name="adj" fmla="val 5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セグメント配信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000" y="3924000"/>
            <a:ext cx="3600000" cy="288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実績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6000" y="4248000"/>
            <a:ext cx="3248000" cy="165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美容室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予約後のフォロー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次回予約客数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20%増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約200名 → 約240名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328000" y="4284000"/>
            <a:ext cx="0" cy="1584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472000" y="4248000"/>
            <a:ext cx="3248000" cy="165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居酒屋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来店翌日のアンケートと、再来店前のクーポン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リピーターの売上割合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7.6% → 12.9%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2025年1月と3月の比較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864000" y="4284000"/>
            <a:ext cx="0" cy="1584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008000" y="4248000"/>
            <a:ext cx="3248000" cy="165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焼肉店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来店翌日に、アンケートとクーポンを自動配信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リピーター率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19.4% → 40%超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2024年1月と2025年1月の比較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2000" y="6192000"/>
            <a:ext cx="10608000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※サンクスLINE単体の効果ではなく、LINEでつながった後の施策の例（美容室・居酒屋・焼肉店はLINEミニアプリを併用）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143257</TotalTime>
  <Words>305</Words>
  <Application>Microsoft Office PowerPoint</Application>
  <PresentationFormat>ワイド画面</PresentationFormat>
  <Paragraphs>103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4</vt:i4>
      </vt:variant>
    </vt:vector>
  </HeadingPairs>
  <TitlesOfParts>
    <vt:vector size="10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1966</cp:revision>
  <cp:lastPrinted>2022-11-01T11:38:14Z</cp:lastPrinted>
  <dcterms:created xsi:type="dcterms:W3CDTF">2015-09-04T09:21:15Z</dcterms:created>
  <dcterms:modified xsi:type="dcterms:W3CDTF">2026-10-05T09:49:46Z</dcterms:modified>
</cp:coreProperties>
</file>