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736" r:id="rId4"/>
    <p:sldId id="3009" r:id="rId45"/>
    <p:sldId id="3010" r:id="rId46"/>
    <p:sldId id="2996" r:id="rId11"/>
    <p:sldId id="2998" r:id="rId14"/>
    <p:sldId id="3003" r:id="rId20"/>
    <p:sldId id="3011" r:id="rId47"/>
    <p:sldId id="3008" r:id="rId24"/>
    <p:sldId id="2908" r:id="rId22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11" Type="http://schemas.openxmlformats.org/officeDocument/2006/relationships/slide" Target="slides/slide9.xml"/><Relationship Id="rId14" Type="http://schemas.openxmlformats.org/officeDocument/2006/relationships/slide" Target="slides/slide12.xml"/><Relationship Id="rId20" Type="http://schemas.openxmlformats.org/officeDocument/2006/relationships/slide" Target="slides/slide18.xml"/><Relationship Id="rId22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09344" y="2103120"/>
            <a:ext cx="6629400" cy="868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グループ全体の求人に対応する、</a:t>
            </a:r>
          </a:p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職種分岐型のLINE採用の仕組み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清水グループ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677829" y="118686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サイトに来ている方・応募した方を、LINEでつなぎ止める。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飲食・イベント・警備・正社員まで、グループ全体の求人に職種を分けて案内する提案。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930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2000" y="21506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000" y="21506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0930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第1章｜現状と課題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22534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応募の前後で、求職者とのつながりが切れている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7338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2000" y="27914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00" y="27914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7338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第2章｜解決策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8942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希望条件で職種を分け、グループ全体の求人につなぐ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2000" y="33746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2000" y="34322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2000" y="34322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33746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第3章｜施策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35350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友だちの入口・リッチメニュー・面接に来る方を増やす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0154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2000" y="40730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2000" y="40730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40154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第4章｜費用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41758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概算お見積り・運用プラン・運用サポート体制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［第3章］施策｜友だちの入口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800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広告を増やさずに、いまサイトに来ている方・応募した方をLINEにつなぐ。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最も確実。すでに応募した方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求人サイトを離れようとした方にLINEを案内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サイトのLINEボタン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求人ページにLINEの入口を置く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まだ応募を決めていない方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店舗・現場のQRコード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店舗・現場のポスターやチラシから直接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すでにある接点を使う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526209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2000" y="4566361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職種が決まっていない方も、LINEに残しておける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3577" y="10800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61577" y="1078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1577" y="1330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最重要CTA。常に左上に置く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53577" y="16632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61577" y="16616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1577" y="19133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3577" y="22464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1577" y="22448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1577" y="24965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職種を変えて、別の求人へ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3577" y="28296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577" y="28280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577" y="30797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面接・持ち物に先回り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3577" y="34128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61577" y="34112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577" y="36629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3577" y="3996001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61577" y="3994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577" y="4246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働いている間は配信を止める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「通知を止める」「今は働いている」を置くから、ブロックされずにつながり続ける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画面はイメージ。タブ構成とボタン名は運用しながら調整する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［第3章］施策｜面接に来る方を増やす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応募数も広告費も増やさずに、面接に来る方を増やす。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前日にお知らせ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面接の流れ・職場の様子を送る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面接前の不安を消す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合わなければ別の職種へ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不採用・辞退の翌日に、グループ内の別の求人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気持ちが高いうちに次の応募へ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目指すのは、応募した方がグループのどこかで働き始めること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前日のお知らせは、個別チャットか通知メッセージ（別途費用）で送る。友だち追加の翌日以降に届くステップ配信では、面接日に合わせられないため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  <a:sym typeface="Meiryo"/>
              </a:rPr>
              <a:t>［第4章］運用サポート体制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GAレポート連携で、応募率・面接実施率を毎月確認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年間カレンダーに沿った配信を、貴社に代わって作成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構築だけでなく、運用しながら改善する体制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［第4章］運用プラン（6か月〜／税抜）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体制と予算に合わせて、3つのプランから選択可能。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初期費用は初月のみ。2か月目以降は月額のみ。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松：D 運用代行・効率改善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竹：A コンサル基本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月3／5／9投稿。設計〜運用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梅：C 初期設計のみ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1万〜／ID連携 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まずは梅（初期設計のみ・月額0円）から始めることも可能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すべて税抜・6か月〜の契約。開発やツールの導入は、別途費用がかかる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［第1章］現状と課題｜応募の前後で、求職者とのつながりが切れている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求人サイトには月約9,000人が来ている。それでも、応募の前・応募の後・不採用の後でつながりが切れている。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応募の前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548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他社と並べて検討し、「あとで応募しよう」と離れる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応募フォーム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430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入力の手間で、途中で離れる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応募の後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311999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日程の連絡に時間がかかり、面接に来ない方が出る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不採用・辞退の後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194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その職種で合わなかった方との接点が切れる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広告を増やさずに、すでにサイトに来ている方をLINEでつなぎ止める</a:t>
            </a:r>
          </a:p>
        </p:txBody>
      </p:sp>
      <p:sp>
        <p:nvSpPr>
          <p:cNvPr id="26" name="注記"/>
          <p:cNvSpPr/>
          <p:nvPr/>
        </p:nvSpPr>
        <p:spPr>
          <a:xfrm>
            <a:off x="429768" y="6245352"/>
            <a:ext cx="9043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求人サイトの月間UU（8,947）は、貴社からいただいた数値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［第2章］解決策｜希望条件で職種を分け、グループ全体の求人につなぐ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飲食店だけでなく、イベント・警備・施設・正社員まで、ひとつのLINEで職種ごとに案内を分ける。</a:t>
            </a:r>
          </a:p>
        </p:txBody>
      </p:sp>
      <p:sp>
        <p:nvSpPr>
          <p:cNvPr id="4" name="求人サイト"/>
          <p:cNvSpPr/>
          <p:nvPr/>
        </p:nvSpPr>
        <p:spPr>
          <a:xfrm>
            <a:off x="429768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求人サイト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月約9,000人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矢印"/>
          <p:cNvSpPr/>
          <p:nvPr/>
        </p:nvSpPr>
        <p:spPr>
          <a:xfrm>
            <a:off x="2484882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LINE"/>
          <p:cNvSpPr/>
          <p:nvPr/>
        </p:nvSpPr>
        <p:spPr>
          <a:xfrm>
            <a:off x="2759202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友だち追加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矢印"/>
          <p:cNvSpPr/>
          <p:nvPr/>
        </p:nvSpPr>
        <p:spPr>
          <a:xfrm>
            <a:off x="4814316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希望条件を選ぶ"/>
          <p:cNvSpPr/>
          <p:nvPr/>
        </p:nvSpPr>
        <p:spPr>
          <a:xfrm>
            <a:off x="5088636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希望条件を選ぶ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働き方・職種・エリア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矢印"/>
          <p:cNvSpPr/>
          <p:nvPr/>
        </p:nvSpPr>
        <p:spPr>
          <a:xfrm>
            <a:off x="7143750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職種ごとに"/>
          <p:cNvSpPr/>
          <p:nvPr/>
        </p:nvSpPr>
        <p:spPr>
          <a:xfrm>
            <a:off x="7418070" y="2103120"/>
            <a:ext cx="205511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職種ごとに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案内を分ける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矢印"/>
          <p:cNvSpPr/>
          <p:nvPr/>
        </p:nvSpPr>
        <p:spPr>
          <a:xfrm>
            <a:off x="7418070" y="2834640"/>
            <a:ext cx="205511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飲食店スタッフ"/>
          <p:cNvSpPr/>
          <p:nvPr/>
        </p:nvSpPr>
        <p:spPr>
          <a:xfrm>
            <a:off x="429768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飲食店スタッフ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イベント設営・警備・"/>
          <p:cNvSpPr/>
          <p:nvPr/>
        </p:nvSpPr>
        <p:spPr>
          <a:xfrm>
            <a:off x="3535680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イベント設営・警備・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施設スタッフ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正社員・総合職"/>
          <p:cNvSpPr/>
          <p:nvPr/>
        </p:nvSpPr>
        <p:spPr>
          <a:xfrm>
            <a:off x="6641592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正社員・総合職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補足"/>
          <p:cNvSpPr/>
          <p:nvPr/>
        </p:nvSpPr>
        <p:spPr>
          <a:xfrm>
            <a:off x="429768" y="3931920"/>
            <a:ext cx="9043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職種ごとに、新着の求人・面接のお知らせ・よくある質問を届ける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示唆"/>
          <p:cNvSpPr/>
          <p:nvPr/>
        </p:nvSpPr>
        <p:spPr>
          <a:xfrm>
            <a:off x="429768" y="4434840"/>
            <a:ext cx="9043416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不採用・辞退でも、グループ内の別の職種を案内できる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［第4章］概算お見積り：6か月目に追える人数662人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竹（コンサル基本）で運用した場合の費用と、6か月後の見込み。</a:t>
            </a:r>
          </a:p>
        </p:txBody>
      </p:sp>
      <p:sp>
        <p:nvSpPr>
          <p:cNvPr id="341" name="正方形/長方形 4"/>
          <p:cNvSpPr/>
          <p:nvPr/>
        </p:nvSpPr>
        <p:spPr>
          <a:xfrm>
            <a:off x="2613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初期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2" name="正方形/長方形 6"/>
          <p:cNvSpPr/>
          <p:nvPr/>
        </p:nvSpPr>
        <p:spPr>
          <a:xfrm>
            <a:off x="33375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3" name="正方形/長方形 7"/>
          <p:cNvSpPr/>
          <p:nvPr/>
        </p:nvSpPr>
        <p:spPr>
          <a:xfrm>
            <a:off x="2613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¥295,000〜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4" name="正方形/長方形 9"/>
          <p:cNvSpPr/>
          <p:nvPr/>
        </p:nvSpPr>
        <p:spPr>
          <a:xfrm>
            <a:off x="33375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¥265,000〜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5" name="矢印: 右 14"/>
          <p:cNvSpPr/>
          <p:nvPr/>
        </p:nvSpPr>
        <p:spPr>
          <a:xfrm>
            <a:off x="6379200" y="1956960"/>
            <a:ext cx="365400" cy="279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6" name="正方形/長方形 16"/>
          <p:cNvSpPr/>
          <p:nvPr/>
        </p:nvSpPr>
        <p:spPr>
          <a:xfrm>
            <a:off x="6744960" y="1517760"/>
            <a:ext cx="2899440" cy="383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6</a:t>
            </a: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か月後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7" name="テキスト ボックス 18"/>
          <p:cNvSpPr/>
          <p:nvPr/>
        </p:nvSpPr>
        <p:spPr>
          <a:xfrm>
            <a:off x="2613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8" name="テキスト ボックス 20"/>
          <p:cNvSpPr/>
          <p:nvPr/>
        </p:nvSpPr>
        <p:spPr>
          <a:xfrm>
            <a:off x="33375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9" name="正方形/長方形 24"/>
          <p:cNvSpPr/>
          <p:nvPr/>
        </p:nvSpPr>
        <p:spPr>
          <a:xfrm>
            <a:off x="33832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企画配信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0" name="正方形/長方形 28"/>
          <p:cNvSpPr/>
          <p:nvPr/>
        </p:nvSpPr>
        <p:spPr>
          <a:xfrm>
            <a:off x="48463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月3回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1" name="正方形/長方形 32"/>
          <p:cNvSpPr/>
          <p:nvPr/>
        </p:nvSpPr>
        <p:spPr>
          <a:xfrm>
            <a:off x="3383280" y="3579840"/>
            <a:ext cx="1425960" cy="484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ja-JP" sz="12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ステップ配信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2" name="正方形/長方形 36"/>
          <p:cNvSpPr/>
          <p:nvPr/>
        </p:nvSpPr>
        <p:spPr>
          <a:xfrm>
            <a:off x="4846320" y="3579840"/>
            <a:ext cx="1343880" cy="48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2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3通の改善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3" name="正方形/長方形 40"/>
          <p:cNvSpPr/>
          <p:nvPr/>
        </p:nvSpPr>
        <p:spPr>
          <a:xfrm>
            <a:off x="33832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職種ごとの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4" name="正方形/長方形 45"/>
          <p:cNvSpPr/>
          <p:nvPr/>
        </p:nvSpPr>
        <p:spPr>
          <a:xfrm>
            <a:off x="48463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新着の案内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5" name="正方形/長方形 49"/>
          <p:cNvSpPr/>
          <p:nvPr/>
        </p:nvSpPr>
        <p:spPr>
          <a:xfrm>
            <a:off x="33832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友だちの入口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6" name="正方形/長方形 53"/>
          <p:cNvSpPr/>
          <p:nvPr/>
        </p:nvSpPr>
        <p:spPr>
          <a:xfrm>
            <a:off x="48463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運用・改善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7" name="正方形/長方形 57"/>
          <p:cNvSpPr/>
          <p:nvPr/>
        </p:nvSpPr>
        <p:spPr>
          <a:xfrm>
            <a:off x="33832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定例会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8" name="正方形/長方形 61"/>
          <p:cNvSpPr/>
          <p:nvPr/>
        </p:nvSpPr>
        <p:spPr>
          <a:xfrm>
            <a:off x="48463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月1回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9" name="正方形/長方形 65"/>
          <p:cNvSpPr/>
          <p:nvPr/>
        </p:nvSpPr>
        <p:spPr>
          <a:xfrm>
            <a:off x="3383280" y="55368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効果の確認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0" name="正方形/長方形 69"/>
          <p:cNvSpPr/>
          <p:nvPr/>
        </p:nvSpPr>
        <p:spPr>
          <a:xfrm>
            <a:off x="4846320" y="55368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応募率・面接率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1" name="正方形/長方形 79"/>
          <p:cNvSpPr/>
          <p:nvPr/>
        </p:nvSpPr>
        <p:spPr>
          <a:xfrm>
            <a:off x="6812280" y="19569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追える人数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2" name="正方形/長方形 81"/>
          <p:cNvSpPr/>
          <p:nvPr/>
        </p:nvSpPr>
        <p:spPr>
          <a:xfrm>
            <a:off x="6812280" y="24321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友だちの数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4" name="正方形/長方形 85"/>
          <p:cNvSpPr/>
          <p:nvPr/>
        </p:nvSpPr>
        <p:spPr>
          <a:xfrm>
            <a:off x="6812280" y="2907792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5" name="正方形/長方形 11"/>
          <p:cNvSpPr/>
          <p:nvPr/>
        </p:nvSpPr>
        <p:spPr>
          <a:xfrm>
            <a:off x="3070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離脱防止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ポップアップ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6" name="正方形/長方形 13"/>
          <p:cNvSpPr/>
          <p:nvPr/>
        </p:nvSpPr>
        <p:spPr>
          <a:xfrm>
            <a:off x="17701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7" name="正方形/長方形 17"/>
          <p:cNvSpPr/>
          <p:nvPr/>
        </p:nvSpPr>
        <p:spPr>
          <a:xfrm>
            <a:off x="307080" y="357984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サンクス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LINE誘導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8" name="正方形/長方形 21"/>
          <p:cNvSpPr/>
          <p:nvPr/>
        </p:nvSpPr>
        <p:spPr>
          <a:xfrm>
            <a:off x="1770120" y="357984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9" name="正方形/長方形 25"/>
          <p:cNvSpPr/>
          <p:nvPr/>
        </p:nvSpPr>
        <p:spPr>
          <a:xfrm>
            <a:off x="3070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ステップ配信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0" name="正方形/長方形 29"/>
          <p:cNvSpPr/>
          <p:nvPr/>
        </p:nvSpPr>
        <p:spPr>
          <a:xfrm>
            <a:off x="17701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3通を構築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1" name="正方形/長方形 33"/>
          <p:cNvSpPr/>
          <p:nvPr/>
        </p:nvSpPr>
        <p:spPr>
          <a:xfrm>
            <a:off x="3070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職種ごとの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2" name="正方形/長方形 37"/>
          <p:cNvSpPr/>
          <p:nvPr/>
        </p:nvSpPr>
        <p:spPr>
          <a:xfrm>
            <a:off x="17701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希望条件で設計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3" name="正方形/長方形 41"/>
          <p:cNvSpPr/>
          <p:nvPr/>
        </p:nvSpPr>
        <p:spPr>
          <a:xfrm>
            <a:off x="3070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LINE公式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アカウント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4" name="正方形/長方形 46"/>
          <p:cNvSpPr/>
          <p:nvPr/>
        </p:nvSpPr>
        <p:spPr>
          <a:xfrm>
            <a:off x="17701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開設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5" name="テキスト ボックス 10"/>
          <p:cNvSpPr/>
          <p:nvPr/>
        </p:nvSpPr>
        <p:spPr>
          <a:xfrm>
            <a:off x="8256960" y="19569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662人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6" name="テキスト ボックス 15"/>
          <p:cNvSpPr/>
          <p:nvPr/>
        </p:nvSpPr>
        <p:spPr>
          <a:xfrm>
            <a:off x="8256960" y="24321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1,103人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8" name="テキスト ボックス 26"/>
          <p:cNvSpPr/>
          <p:nvPr/>
        </p:nvSpPr>
        <p:spPr>
          <a:xfrm>
            <a:off x="8256960" y="2907792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12件/6か月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9" name="注記"/>
          <p:cNvSpPr/>
          <p:nvPr/>
        </p:nvSpPr>
        <p:spPr>
          <a:xfrm>
            <a:off x="429768" y="6245352"/>
            <a:ext cx="90434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求人サイトの月間UU（8,947）をもとに、友だちの入口ごとの一般的な割合で計算。サイトからの応募は仮に月134件。追える人数＝ブロックされずに届く友だちの数。費用は税抜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141784</TotalTime>
  <Words>4425</Words>
  <Application>Microsoft Office PowerPoint</Application>
  <PresentationFormat>A4 210 x 297 mm</PresentationFormat>
  <Paragraphs>906</Paragraphs>
  <Slides>36</Slides>
  <Notes>3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1927</cp:revision>
  <cp:lastPrinted>2022-11-01T11:38:14Z</cp:lastPrinted>
  <dcterms:created xsi:type="dcterms:W3CDTF">2015-09-04T09:21:15Z</dcterms:created>
  <dcterms:modified xsi:type="dcterms:W3CDTF">2026-10-07T06:05:07Z</dcterms:modified>
</cp:coreProperties>
</file>