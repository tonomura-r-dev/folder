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9"/>
  </p:notesMasterIdLst>
  <p:handoutMasterIdLst>
    <p:handoutMasterId r:id="rId40"/>
  </p:handoutMasterIdLst>
  <p:sldIdLst>
    <p:sldId id="2363" r:id="rId3"/>
    <p:sldId id="2935" r:id="rId4"/>
    <p:sldId id="2956" r:id="rId5"/>
    <p:sldId id="2988" r:id="rId6"/>
    <p:sldId id="2736" r:id="rId13"/>
    <p:sldId id="2908" r:id="rId19"/>
    <p:sldId id="2950" r:id="rId20"/>
    <p:sldId id="2762" r:id="rId21"/>
    <p:sldId id="2937" r:id="rId22"/>
    <p:sldId id="2939" r:id="rId23"/>
    <p:sldId id="2966" r:id="rId24"/>
    <p:sldId id="2962" r:id="rId25"/>
    <p:sldId id="2942" r:id="rId26"/>
    <p:sldId id="2941" r:id="rId27"/>
    <p:sldId id="2943" r:id="rId28"/>
    <p:sldId id="2944" r:id="rId29"/>
    <p:sldId id="2967" r:id="rId30"/>
    <p:sldId id="2946" r:id="rId31"/>
    <p:sldId id="2947" r:id="rId32"/>
    <p:sldId id="2948" r:id="rId33"/>
    <p:sldId id="2958" r:id="rId34"/>
    <p:sldId id="2954" r:id="rId35"/>
    <p:sldId id="2953" r:id="rId36"/>
    <p:sldId id="2955" r:id="rId37"/>
    <p:sldId id="1169" r:id="rId3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534"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13" Type="http://schemas.openxmlformats.org/officeDocument/2006/relationships/slide" Target="slides/slide11.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handoutMaster" Target="handoutMasters/handout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2026/7/21</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jpeg"/><Relationship Id="rId4" Type="http://schemas.openxmlformats.org/officeDocument/2006/relationships/image" Target="../media/image11.png"/><Relationship Id="rId5"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3.png"/><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15.jpe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1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678382" y="4341752"/>
            <a:ext cx="2549236"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業界汎用版</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22834" y="2565747"/>
            <a:ext cx="1826395" cy="603248"/>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99384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972D4A84-F812-745D-8012-250B4552B997}"/>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44AC577-5EFA-CB60-B4CF-22AC71B2AE31}"/>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10844F-FFBB-F47D-A888-4E74272E000D}"/>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7A83D6DE-2FDB-43D7-254C-963478133303}"/>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56D3FA3C-F4ED-9DF1-7620-D677AB1A2177}"/>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59" name="テキスト ボックス 58">
            <a:extLst>
              <a:ext uri="{FF2B5EF4-FFF2-40B4-BE49-F238E27FC236}">
                <a16:creationId xmlns:a16="http://schemas.microsoft.com/office/drawing/2014/main" id="{BF3977E5-B33C-C6FC-10BA-8F52ECFB03CA}"/>
              </a:ext>
            </a:extLst>
          </p:cNvPr>
          <p:cNvSpPr txBox="1"/>
          <p:nvPr/>
        </p:nvSpPr>
        <p:spPr>
          <a:xfrm>
            <a:off x="3541822" y="4051926"/>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61" name="テキスト ボックス 60">
            <a:extLst>
              <a:ext uri="{FF2B5EF4-FFF2-40B4-BE49-F238E27FC236}">
                <a16:creationId xmlns:a16="http://schemas.microsoft.com/office/drawing/2014/main" id="{D6206F79-4BB4-7551-FF37-4057DB323042}"/>
              </a:ext>
            </a:extLst>
          </p:cNvPr>
          <p:cNvSpPr txBox="1"/>
          <p:nvPr/>
        </p:nvSpPr>
        <p:spPr>
          <a:xfrm>
            <a:off x="6119096" y="5110696"/>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2D803312-8977-E9CF-359E-78896D5177A7}"/>
              </a:ext>
            </a:extLst>
          </p:cNvPr>
          <p:cNvSpPr txBox="1"/>
          <p:nvPr/>
        </p:nvSpPr>
        <p:spPr>
          <a:xfrm>
            <a:off x="4830459" y="4581311"/>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EC4FAF12-FDAC-B48D-B571-CC028A01229C}"/>
              </a:ext>
            </a:extLst>
          </p:cNvPr>
          <p:cNvSpPr txBox="1"/>
          <p:nvPr/>
        </p:nvSpPr>
        <p:spPr>
          <a:xfrm>
            <a:off x="7408050" y="5640081"/>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69" name="テキスト ボックス 68">
            <a:extLst>
              <a:ext uri="{FF2B5EF4-FFF2-40B4-BE49-F238E27FC236}">
                <a16:creationId xmlns:a16="http://schemas.microsoft.com/office/drawing/2014/main" id="{78DCEB5B-FCE6-A4B7-134E-DC51AE101C96}"/>
              </a:ext>
            </a:extLst>
          </p:cNvPr>
          <p:cNvSpPr txBox="1"/>
          <p:nvPr/>
        </p:nvSpPr>
        <p:spPr>
          <a:xfrm>
            <a:off x="334303" y="352782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endParaRPr lang="en-US" altLang="ja-JP" sz="1100" b="1" dirty="0">
              <a:latin typeface="メイリオ" panose="020B0604030504040204" pitchFamily="50" charset="-128"/>
              <a:ea typeface="メイリオ" panose="020B0604030504040204" pitchFamily="50" charset="-128"/>
            </a:endParaRPr>
          </a:p>
        </p:txBody>
      </p:sp>
      <p:sp>
        <p:nvSpPr>
          <p:cNvPr id="71" name="テキスト ボックス 70">
            <a:extLst>
              <a:ext uri="{FF2B5EF4-FFF2-40B4-BE49-F238E27FC236}">
                <a16:creationId xmlns:a16="http://schemas.microsoft.com/office/drawing/2014/main" id="{7489B5AC-E8EC-12A6-77B1-767D57C6C111}"/>
              </a:ext>
            </a:extLst>
          </p:cNvPr>
          <p:cNvSpPr txBox="1"/>
          <p:nvPr/>
        </p:nvSpPr>
        <p:spPr>
          <a:xfrm>
            <a:off x="1268358" y="405192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3C51428D-94BF-DEDC-89ED-6FC6DD5D8DDB}"/>
              </a:ext>
            </a:extLst>
          </p:cNvPr>
          <p:cNvSpPr txBox="1"/>
          <p:nvPr/>
        </p:nvSpPr>
        <p:spPr>
          <a:xfrm>
            <a:off x="2202413" y="4576028"/>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70A8450A-EBDB-52BF-A9C2-03CB7CC3C8E9}"/>
              </a:ext>
            </a:extLst>
          </p:cNvPr>
          <p:cNvSpPr txBox="1"/>
          <p:nvPr/>
        </p:nvSpPr>
        <p:spPr>
          <a:xfrm>
            <a:off x="3132447" y="5100131"/>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p>
        </p:txBody>
      </p:sp>
    </p:spTree>
    <p:extLst>
      <p:ext uri="{BB962C8B-B14F-4D97-AF65-F5344CB8AC3E}">
        <p14:creationId xmlns:p14="http://schemas.microsoft.com/office/powerpoint/2010/main" val="3509480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110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2ECE7535-75B5-FD71-5DE8-AB1B855FFED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公式アカウントにおける対策領域について</a:t>
            </a:r>
          </a:p>
        </p:txBody>
      </p:sp>
      <p:sp>
        <p:nvSpPr>
          <p:cNvPr id="4" name="正方形/長方形 3">
            <a:extLst>
              <a:ext uri="{FF2B5EF4-FFF2-40B4-BE49-F238E27FC236}">
                <a16:creationId xmlns:a16="http://schemas.microsoft.com/office/drawing/2014/main" id="{91D529F5-1969-8F22-8508-5967D82F7783}"/>
              </a:ext>
            </a:extLst>
          </p:cNvPr>
          <p:cNvSpPr/>
          <p:nvPr/>
        </p:nvSpPr>
        <p:spPr>
          <a:xfrm>
            <a:off x="379908" y="1835393"/>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379908" y="4397170"/>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C7E38EC2-DE76-A5FE-A6B8-3B48F7BD7B46}"/>
              </a:ext>
            </a:extLst>
          </p:cNvPr>
          <p:cNvSpPr txBox="1"/>
          <p:nvPr/>
        </p:nvSpPr>
        <p:spPr>
          <a:xfrm>
            <a:off x="379908" y="1527022"/>
            <a:ext cx="4963884" cy="307777"/>
          </a:xfrm>
          <a:prstGeom prst="rect">
            <a:avLst/>
          </a:prstGeom>
          <a:noFill/>
        </p:spPr>
        <p:txBody>
          <a:bodyPr wrap="square">
            <a:spAutoFit/>
          </a:body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テキスト ボックス 8">
            <a:extLst>
              <a:ext uri="{FF2B5EF4-FFF2-40B4-BE49-F238E27FC236}">
                <a16:creationId xmlns:a16="http://schemas.microsoft.com/office/drawing/2014/main" id="{315E4FD7-BF96-305B-4DFF-0204D305BAAE}"/>
              </a:ext>
            </a:extLst>
          </p:cNvPr>
          <p:cNvSpPr txBox="1"/>
          <p:nvPr/>
        </p:nvSpPr>
        <p:spPr>
          <a:xfrm>
            <a:off x="379908" y="4089393"/>
            <a:ext cx="4963884" cy="307777"/>
          </a:xfrm>
          <a:prstGeom prst="rect">
            <a:avLst/>
          </a:prstGeom>
          <a:noFill/>
        </p:spPr>
        <p:txBody>
          <a:bodyPr wrap="square">
            <a:spAutoFit/>
          </a:body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12" name="正方形/長方形 11">
            <a:extLst>
              <a:ext uri="{FF2B5EF4-FFF2-40B4-BE49-F238E27FC236}">
                <a16:creationId xmlns:a16="http://schemas.microsoft.com/office/drawing/2014/main" id="{72450FBF-2EA8-4582-869E-9B2A7C4946D7}"/>
              </a:ext>
            </a:extLst>
          </p:cNvPr>
          <p:cNvSpPr/>
          <p:nvPr/>
        </p:nvSpPr>
        <p:spPr>
          <a:xfrm>
            <a:off x="548883" y="2060461"/>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6891C2D7-8AEF-98E4-337B-283DC4374AFC}"/>
              </a:ext>
            </a:extLst>
          </p:cNvPr>
          <p:cNvSpPr/>
          <p:nvPr/>
        </p:nvSpPr>
        <p:spPr>
          <a:xfrm>
            <a:off x="548883" y="2322497"/>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3670DE23-5EB2-C1E6-9ED3-6176C87DDEA9}"/>
              </a:ext>
            </a:extLst>
          </p:cNvPr>
          <p:cNvSpPr/>
          <p:nvPr/>
        </p:nvSpPr>
        <p:spPr>
          <a:xfrm>
            <a:off x="548883" y="2659935"/>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98C708B2-F546-DE85-AA3B-2C7B33013111}"/>
              </a:ext>
            </a:extLst>
          </p:cNvPr>
          <p:cNvSpPr/>
          <p:nvPr/>
        </p:nvSpPr>
        <p:spPr>
          <a:xfrm>
            <a:off x="548883" y="2997373"/>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7" name="正方形/長方形 16">
            <a:extLst>
              <a:ext uri="{FF2B5EF4-FFF2-40B4-BE49-F238E27FC236}">
                <a16:creationId xmlns:a16="http://schemas.microsoft.com/office/drawing/2014/main" id="{812C768D-D601-2E13-45FD-BFE5BA587BC6}"/>
              </a:ext>
            </a:extLst>
          </p:cNvPr>
          <p:cNvSpPr/>
          <p:nvPr/>
        </p:nvSpPr>
        <p:spPr>
          <a:xfrm>
            <a:off x="548883" y="3672249"/>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8" name="正方形/長方形 17">
            <a:extLst>
              <a:ext uri="{FF2B5EF4-FFF2-40B4-BE49-F238E27FC236}">
                <a16:creationId xmlns:a16="http://schemas.microsoft.com/office/drawing/2014/main" id="{13127993-BF51-568A-20FB-A9FB1DB6C913}"/>
              </a:ext>
            </a:extLst>
          </p:cNvPr>
          <p:cNvSpPr/>
          <p:nvPr/>
        </p:nvSpPr>
        <p:spPr>
          <a:xfrm>
            <a:off x="8170812" y="2408570"/>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2E81D74A-E79F-C90A-80AF-4F6BDF853777}"/>
              </a:ext>
            </a:extLst>
          </p:cNvPr>
          <p:cNvSpPr/>
          <p:nvPr/>
        </p:nvSpPr>
        <p:spPr>
          <a:xfrm>
            <a:off x="548883" y="3334811"/>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45" name="正方形/長方形 44">
            <a:extLst>
              <a:ext uri="{FF2B5EF4-FFF2-40B4-BE49-F238E27FC236}">
                <a16:creationId xmlns:a16="http://schemas.microsoft.com/office/drawing/2014/main" id="{346217DB-3E59-DD17-6353-BB21863AB6A4}"/>
              </a:ext>
            </a:extLst>
          </p:cNvPr>
          <p:cNvSpPr/>
          <p:nvPr/>
        </p:nvSpPr>
        <p:spPr>
          <a:xfrm>
            <a:off x="1950234" y="2999032"/>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47" name="正方形/長方形 46">
            <a:extLst>
              <a:ext uri="{FF2B5EF4-FFF2-40B4-BE49-F238E27FC236}">
                <a16:creationId xmlns:a16="http://schemas.microsoft.com/office/drawing/2014/main" id="{85B73343-1515-8075-50D7-828D2C7D0482}"/>
              </a:ext>
            </a:extLst>
          </p:cNvPr>
          <p:cNvSpPr/>
          <p:nvPr/>
        </p:nvSpPr>
        <p:spPr>
          <a:xfrm>
            <a:off x="1939622" y="2149679"/>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2" name="コネクタ: カギ線 51">
            <a:extLst>
              <a:ext uri="{FF2B5EF4-FFF2-40B4-BE49-F238E27FC236}">
                <a16:creationId xmlns:a16="http://schemas.microsoft.com/office/drawing/2014/main" id="{10A164B9-404C-F131-0FB7-4A7EC00628C8}"/>
              </a:ext>
            </a:extLst>
          </p:cNvPr>
          <p:cNvCxnSpPr>
            <a:cxnSpLocks/>
            <a:stCxn id="14" idx="3"/>
          </p:cNvCxnSpPr>
          <p:nvPr/>
        </p:nvCxnSpPr>
        <p:spPr>
          <a:xfrm flipV="1">
            <a:off x="1904163" y="2540793"/>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0" name="正方形/長方形 79">
            <a:extLst>
              <a:ext uri="{FF2B5EF4-FFF2-40B4-BE49-F238E27FC236}">
                <a16:creationId xmlns:a16="http://schemas.microsoft.com/office/drawing/2014/main" id="{AB39E10C-FA5C-42F3-51FF-A98C96D3A9FE}"/>
              </a:ext>
            </a:extLst>
          </p:cNvPr>
          <p:cNvSpPr/>
          <p:nvPr/>
        </p:nvSpPr>
        <p:spPr>
          <a:xfrm>
            <a:off x="8170812" y="2124073"/>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130" name="正方形/長方形 129">
            <a:extLst>
              <a:ext uri="{FF2B5EF4-FFF2-40B4-BE49-F238E27FC236}">
                <a16:creationId xmlns:a16="http://schemas.microsoft.com/office/drawing/2014/main" id="{68999E51-25BF-ABC0-E768-EB439414D6AA}"/>
              </a:ext>
            </a:extLst>
          </p:cNvPr>
          <p:cNvSpPr/>
          <p:nvPr/>
        </p:nvSpPr>
        <p:spPr>
          <a:xfrm>
            <a:off x="486784" y="713253"/>
            <a:ext cx="9005456" cy="6532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離脱リード→新規で引上げ、顧客リード→効率化及びリピート化 等、</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公式アカウントで対策できるポイントが非常に多く、課題に応じた施策展開が可能。</a:t>
            </a:r>
            <a:endParaRPr lang="ja-JP" altLang="en-US" sz="1400" dirty="0">
              <a:solidFill>
                <a:srgbClr val="FF0000"/>
              </a:solidFill>
              <a:latin typeface="メイリオ" panose="020B0604030504040204" pitchFamily="50" charset="-128"/>
              <a:ea typeface="メイリオ" panose="020B0604030504040204" pitchFamily="50" charset="-128"/>
            </a:endParaRPr>
          </a:p>
        </p:txBody>
      </p:sp>
      <p:sp>
        <p:nvSpPr>
          <p:cNvPr id="133" name="正方形/長方形 132">
            <a:extLst>
              <a:ext uri="{FF2B5EF4-FFF2-40B4-BE49-F238E27FC236}">
                <a16:creationId xmlns:a16="http://schemas.microsoft.com/office/drawing/2014/main" id="{EF3EB03D-B886-80C5-4DDF-AD318BB1E8CB}"/>
              </a:ext>
            </a:extLst>
          </p:cNvPr>
          <p:cNvSpPr/>
          <p:nvPr/>
        </p:nvSpPr>
        <p:spPr>
          <a:xfrm>
            <a:off x="6444618" y="4938641"/>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134" name="正方形/長方形 133">
            <a:extLst>
              <a:ext uri="{FF2B5EF4-FFF2-40B4-BE49-F238E27FC236}">
                <a16:creationId xmlns:a16="http://schemas.microsoft.com/office/drawing/2014/main" id="{8185B158-D6FD-FC9A-D842-E0184FC04A2F}"/>
              </a:ext>
            </a:extLst>
          </p:cNvPr>
          <p:cNvSpPr/>
          <p:nvPr/>
        </p:nvSpPr>
        <p:spPr>
          <a:xfrm>
            <a:off x="6444618" y="5207075"/>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35" name="正方形/長方形 134">
            <a:extLst>
              <a:ext uri="{FF2B5EF4-FFF2-40B4-BE49-F238E27FC236}">
                <a16:creationId xmlns:a16="http://schemas.microsoft.com/office/drawing/2014/main" id="{CAF16DCF-7CE0-97CD-A1FD-09B08149FF7B}"/>
              </a:ext>
            </a:extLst>
          </p:cNvPr>
          <p:cNvSpPr/>
          <p:nvPr/>
        </p:nvSpPr>
        <p:spPr>
          <a:xfrm>
            <a:off x="6444617" y="5743943"/>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136" name="正方形/長方形 135">
            <a:extLst>
              <a:ext uri="{FF2B5EF4-FFF2-40B4-BE49-F238E27FC236}">
                <a16:creationId xmlns:a16="http://schemas.microsoft.com/office/drawing/2014/main" id="{DE164E19-C9CA-ADE8-FE9B-4A4096DD13BE}"/>
              </a:ext>
            </a:extLst>
          </p:cNvPr>
          <p:cNvSpPr/>
          <p:nvPr/>
        </p:nvSpPr>
        <p:spPr>
          <a:xfrm>
            <a:off x="6444617" y="5475509"/>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137" name="正方形/長方形 136">
            <a:extLst>
              <a:ext uri="{FF2B5EF4-FFF2-40B4-BE49-F238E27FC236}">
                <a16:creationId xmlns:a16="http://schemas.microsoft.com/office/drawing/2014/main" id="{FF9A810E-B53B-2631-3BD5-00395512E9C0}"/>
              </a:ext>
            </a:extLst>
          </p:cNvPr>
          <p:cNvSpPr/>
          <p:nvPr/>
        </p:nvSpPr>
        <p:spPr>
          <a:xfrm>
            <a:off x="6444617" y="6012377"/>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145" name="正方形/長方形 144">
            <a:extLst>
              <a:ext uri="{FF2B5EF4-FFF2-40B4-BE49-F238E27FC236}">
                <a16:creationId xmlns:a16="http://schemas.microsoft.com/office/drawing/2014/main" id="{1DF80BB2-F1C3-A39C-D441-B75E4795CC5B}"/>
              </a:ext>
            </a:extLst>
          </p:cNvPr>
          <p:cNvSpPr/>
          <p:nvPr/>
        </p:nvSpPr>
        <p:spPr>
          <a:xfrm>
            <a:off x="6444617" y="4746848"/>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49" name="正方形/長方形 48">
            <a:extLst>
              <a:ext uri="{FF2B5EF4-FFF2-40B4-BE49-F238E27FC236}">
                <a16:creationId xmlns:a16="http://schemas.microsoft.com/office/drawing/2014/main" id="{CABD8985-CFB7-BFB4-C5CA-334F6DD3C337}"/>
              </a:ext>
            </a:extLst>
          </p:cNvPr>
          <p:cNvSpPr/>
          <p:nvPr/>
        </p:nvSpPr>
        <p:spPr>
          <a:xfrm>
            <a:off x="3634802" y="1986633"/>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0" name="正方形/長方形 49">
            <a:extLst>
              <a:ext uri="{FF2B5EF4-FFF2-40B4-BE49-F238E27FC236}">
                <a16:creationId xmlns:a16="http://schemas.microsoft.com/office/drawing/2014/main" id="{498D1E1C-883A-4348-5898-29B2849E59E6}"/>
              </a:ext>
            </a:extLst>
          </p:cNvPr>
          <p:cNvSpPr/>
          <p:nvPr/>
        </p:nvSpPr>
        <p:spPr>
          <a:xfrm>
            <a:off x="3802223" y="2418821"/>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51" name="コネクタ: カギ線 50">
            <a:extLst>
              <a:ext uri="{FF2B5EF4-FFF2-40B4-BE49-F238E27FC236}">
                <a16:creationId xmlns:a16="http://schemas.microsoft.com/office/drawing/2014/main" id="{2981AEA5-C263-1A76-AF6F-7D4F94F3AC3F}"/>
              </a:ext>
            </a:extLst>
          </p:cNvPr>
          <p:cNvCxnSpPr>
            <a:cxnSpLocks/>
          </p:cNvCxnSpPr>
          <p:nvPr/>
        </p:nvCxnSpPr>
        <p:spPr>
          <a:xfrm flipV="1">
            <a:off x="3492137" y="2540793"/>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3" name="コネクタ: カギ線 52">
            <a:extLst>
              <a:ext uri="{FF2B5EF4-FFF2-40B4-BE49-F238E27FC236}">
                <a16:creationId xmlns:a16="http://schemas.microsoft.com/office/drawing/2014/main" id="{6898DA80-B20A-0E45-B382-62A8490927C1}"/>
              </a:ext>
            </a:extLst>
          </p:cNvPr>
          <p:cNvCxnSpPr>
            <a:cxnSpLocks/>
          </p:cNvCxnSpPr>
          <p:nvPr/>
        </p:nvCxnSpPr>
        <p:spPr>
          <a:xfrm flipV="1">
            <a:off x="3483428" y="2540793"/>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4194983F-AFC0-FB2F-1207-1AF108AFDA19}"/>
              </a:ext>
            </a:extLst>
          </p:cNvPr>
          <p:cNvCxnSpPr>
            <a:cxnSpLocks/>
          </p:cNvCxnSpPr>
          <p:nvPr/>
        </p:nvCxnSpPr>
        <p:spPr>
          <a:xfrm>
            <a:off x="3483428" y="2297265"/>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20DB094-045E-2E0D-7026-B0BFFA8F2374}"/>
              </a:ext>
            </a:extLst>
          </p:cNvPr>
          <p:cNvSpPr/>
          <p:nvPr/>
        </p:nvSpPr>
        <p:spPr>
          <a:xfrm>
            <a:off x="5319694" y="212207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56" name="正方形/長方形 55">
            <a:extLst>
              <a:ext uri="{FF2B5EF4-FFF2-40B4-BE49-F238E27FC236}">
                <a16:creationId xmlns:a16="http://schemas.microsoft.com/office/drawing/2014/main" id="{960DE889-CA21-9C03-FD30-9F8BA1C11BE0}"/>
              </a:ext>
            </a:extLst>
          </p:cNvPr>
          <p:cNvSpPr/>
          <p:nvPr/>
        </p:nvSpPr>
        <p:spPr>
          <a:xfrm>
            <a:off x="5319694" y="2387671"/>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64" name="正方形/長方形 63">
            <a:extLst>
              <a:ext uri="{FF2B5EF4-FFF2-40B4-BE49-F238E27FC236}">
                <a16:creationId xmlns:a16="http://schemas.microsoft.com/office/drawing/2014/main" id="{B0198902-7C67-1321-611C-A528F8B056D6}"/>
              </a:ext>
            </a:extLst>
          </p:cNvPr>
          <p:cNvSpPr/>
          <p:nvPr/>
        </p:nvSpPr>
        <p:spPr>
          <a:xfrm>
            <a:off x="5319694" y="2653266"/>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67" name="正方形/長方形 66">
            <a:extLst>
              <a:ext uri="{FF2B5EF4-FFF2-40B4-BE49-F238E27FC236}">
                <a16:creationId xmlns:a16="http://schemas.microsoft.com/office/drawing/2014/main" id="{EC9DC48F-C12B-8A2A-8E49-C82DF8C2398F}"/>
              </a:ext>
            </a:extLst>
          </p:cNvPr>
          <p:cNvSpPr/>
          <p:nvPr/>
        </p:nvSpPr>
        <p:spPr>
          <a:xfrm>
            <a:off x="3883318" y="2695245"/>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68" name="テキスト ボックス 67">
            <a:extLst>
              <a:ext uri="{FF2B5EF4-FFF2-40B4-BE49-F238E27FC236}">
                <a16:creationId xmlns:a16="http://schemas.microsoft.com/office/drawing/2014/main" id="{7FD4C92A-1BF4-DC29-74E5-5DDCAEC47D74}"/>
              </a:ext>
            </a:extLst>
          </p:cNvPr>
          <p:cNvSpPr txBox="1"/>
          <p:nvPr/>
        </p:nvSpPr>
        <p:spPr>
          <a:xfrm>
            <a:off x="3894226" y="2879422"/>
            <a:ext cx="1274185" cy="954107"/>
          </a:xfrm>
          <a:prstGeom prst="rect">
            <a:avLst/>
          </a:prstGeom>
          <a:noFill/>
        </p:spPr>
        <p:txBody>
          <a:bodyPr wrap="square">
            <a:spAutoFit/>
          </a:body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3C7CD555-05D0-53EC-B6D5-ED734EBA27DF}"/>
              </a:ext>
            </a:extLst>
          </p:cNvPr>
          <p:cNvSpPr/>
          <p:nvPr/>
        </p:nvSpPr>
        <p:spPr>
          <a:xfrm>
            <a:off x="5326708" y="2918861"/>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74" name="正方形/長方形 73">
            <a:extLst>
              <a:ext uri="{FF2B5EF4-FFF2-40B4-BE49-F238E27FC236}">
                <a16:creationId xmlns:a16="http://schemas.microsoft.com/office/drawing/2014/main" id="{64296BD6-7E19-AF65-3C1F-3AA68F3DB296}"/>
              </a:ext>
            </a:extLst>
          </p:cNvPr>
          <p:cNvSpPr/>
          <p:nvPr/>
        </p:nvSpPr>
        <p:spPr>
          <a:xfrm>
            <a:off x="5326708" y="3450051"/>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75" name="正方形/長方形 74">
            <a:extLst>
              <a:ext uri="{FF2B5EF4-FFF2-40B4-BE49-F238E27FC236}">
                <a16:creationId xmlns:a16="http://schemas.microsoft.com/office/drawing/2014/main" id="{2B391CFB-A763-8F28-0B80-C4699C620787}"/>
              </a:ext>
            </a:extLst>
          </p:cNvPr>
          <p:cNvSpPr/>
          <p:nvPr/>
        </p:nvSpPr>
        <p:spPr>
          <a:xfrm>
            <a:off x="5326708" y="318445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78BE8892-FE50-BF73-B15E-567C1CFD9A8A}"/>
              </a:ext>
            </a:extLst>
          </p:cNvPr>
          <p:cNvSpPr/>
          <p:nvPr/>
        </p:nvSpPr>
        <p:spPr>
          <a:xfrm>
            <a:off x="6487455" y="2655306"/>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77" name="正方形/長方形 76">
            <a:extLst>
              <a:ext uri="{FF2B5EF4-FFF2-40B4-BE49-F238E27FC236}">
                <a16:creationId xmlns:a16="http://schemas.microsoft.com/office/drawing/2014/main" id="{5FB8C9E8-13C6-54AE-CC6C-E66EB44BEE66}"/>
              </a:ext>
            </a:extLst>
          </p:cNvPr>
          <p:cNvSpPr/>
          <p:nvPr/>
        </p:nvSpPr>
        <p:spPr>
          <a:xfrm>
            <a:off x="5319693" y="3715648"/>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78" name="コネクタ: カギ線 77">
            <a:extLst>
              <a:ext uri="{FF2B5EF4-FFF2-40B4-BE49-F238E27FC236}">
                <a16:creationId xmlns:a16="http://schemas.microsoft.com/office/drawing/2014/main" id="{A0B29E3B-5447-4104-E77E-C26EB1CB0F8A}"/>
              </a:ext>
            </a:extLst>
          </p:cNvPr>
          <p:cNvCxnSpPr>
            <a:cxnSpLocks/>
            <a:stCxn id="77" idx="3"/>
          </p:cNvCxnSpPr>
          <p:nvPr/>
        </p:nvCxnSpPr>
        <p:spPr>
          <a:xfrm flipV="1">
            <a:off x="7612378" y="2246045"/>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a16:creationId xmlns:a16="http://schemas.microsoft.com/office/drawing/2014/main" id="{6F60DF78-AC16-9662-17BD-3EBCD4677BB3}"/>
              </a:ext>
            </a:extLst>
          </p:cNvPr>
          <p:cNvCxnSpPr>
            <a:cxnSpLocks/>
            <a:stCxn id="74" idx="3"/>
          </p:cNvCxnSpPr>
          <p:nvPr/>
        </p:nvCxnSpPr>
        <p:spPr>
          <a:xfrm flipV="1">
            <a:off x="7619393" y="2530542"/>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2" name="コネクタ: カギ線 81">
            <a:extLst>
              <a:ext uri="{FF2B5EF4-FFF2-40B4-BE49-F238E27FC236}">
                <a16:creationId xmlns:a16="http://schemas.microsoft.com/office/drawing/2014/main" id="{9ACE7516-910E-229D-8D61-02389EE1209F}"/>
              </a:ext>
            </a:extLst>
          </p:cNvPr>
          <p:cNvCxnSpPr>
            <a:cxnSpLocks/>
            <a:stCxn id="75" idx="3"/>
          </p:cNvCxnSpPr>
          <p:nvPr/>
        </p:nvCxnSpPr>
        <p:spPr>
          <a:xfrm flipV="1">
            <a:off x="7619393" y="2530542"/>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a16:creationId xmlns:a16="http://schemas.microsoft.com/office/drawing/2014/main" id="{CFEF0AA5-73C6-3E02-7EDB-57BE374DCDBF}"/>
              </a:ext>
            </a:extLst>
          </p:cNvPr>
          <p:cNvCxnSpPr>
            <a:cxnSpLocks/>
            <a:stCxn id="69" idx="3"/>
          </p:cNvCxnSpPr>
          <p:nvPr/>
        </p:nvCxnSpPr>
        <p:spPr>
          <a:xfrm flipV="1">
            <a:off x="7619393" y="2530542"/>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994CBAF5-3A55-5F8D-2FE3-7E89A4D5C622}"/>
              </a:ext>
            </a:extLst>
          </p:cNvPr>
          <p:cNvCxnSpPr>
            <a:cxnSpLocks/>
            <a:stCxn id="76" idx="3"/>
          </p:cNvCxnSpPr>
          <p:nvPr/>
        </p:nvCxnSpPr>
        <p:spPr>
          <a:xfrm flipV="1">
            <a:off x="7612379" y="2530542"/>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5" name="コネクタ: カギ線 84">
            <a:extLst>
              <a:ext uri="{FF2B5EF4-FFF2-40B4-BE49-F238E27FC236}">
                <a16:creationId xmlns:a16="http://schemas.microsoft.com/office/drawing/2014/main" id="{95AFF09E-E9EC-B83D-758F-AB3E03B91C26}"/>
              </a:ext>
            </a:extLst>
          </p:cNvPr>
          <p:cNvCxnSpPr>
            <a:cxnSpLocks/>
            <a:stCxn id="56" idx="3"/>
          </p:cNvCxnSpPr>
          <p:nvPr/>
        </p:nvCxnSpPr>
        <p:spPr>
          <a:xfrm>
            <a:off x="7612379" y="2498555"/>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7" name="コネクタ: カギ線 86">
            <a:extLst>
              <a:ext uri="{FF2B5EF4-FFF2-40B4-BE49-F238E27FC236}">
                <a16:creationId xmlns:a16="http://schemas.microsoft.com/office/drawing/2014/main" id="{81E043B6-4E27-2700-F284-741B1F2B6E99}"/>
              </a:ext>
            </a:extLst>
          </p:cNvPr>
          <p:cNvCxnSpPr>
            <a:cxnSpLocks/>
            <a:stCxn id="55" idx="3"/>
          </p:cNvCxnSpPr>
          <p:nvPr/>
        </p:nvCxnSpPr>
        <p:spPr>
          <a:xfrm>
            <a:off x="7612379" y="2232960"/>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8" name="左中かっこ 87">
            <a:extLst>
              <a:ext uri="{FF2B5EF4-FFF2-40B4-BE49-F238E27FC236}">
                <a16:creationId xmlns:a16="http://schemas.microsoft.com/office/drawing/2014/main" id="{3EB6A587-08D7-7B0D-8BB4-704F3A9413A8}"/>
              </a:ext>
            </a:extLst>
          </p:cNvPr>
          <p:cNvSpPr/>
          <p:nvPr/>
        </p:nvSpPr>
        <p:spPr>
          <a:xfrm>
            <a:off x="5156221" y="2086266"/>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90" name="正方形/長方形 89">
            <a:extLst>
              <a:ext uri="{FF2B5EF4-FFF2-40B4-BE49-F238E27FC236}">
                <a16:creationId xmlns:a16="http://schemas.microsoft.com/office/drawing/2014/main" id="{13F6801A-CC8C-370B-47CD-0E9A8F78DA92}"/>
              </a:ext>
            </a:extLst>
          </p:cNvPr>
          <p:cNvSpPr/>
          <p:nvPr/>
        </p:nvSpPr>
        <p:spPr>
          <a:xfrm>
            <a:off x="468899" y="4586771"/>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EBF6537D-D75B-DA5C-78EC-88D8F874BA82}"/>
              </a:ext>
            </a:extLst>
          </p:cNvPr>
          <p:cNvSpPr/>
          <p:nvPr/>
        </p:nvSpPr>
        <p:spPr>
          <a:xfrm>
            <a:off x="2207057" y="6002525"/>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93" name="正方形/長方形 92">
            <a:extLst>
              <a:ext uri="{FF2B5EF4-FFF2-40B4-BE49-F238E27FC236}">
                <a16:creationId xmlns:a16="http://schemas.microsoft.com/office/drawing/2014/main" id="{1A52527A-0CF0-029E-8E86-430BD9DEAAA1}"/>
              </a:ext>
            </a:extLst>
          </p:cNvPr>
          <p:cNvSpPr/>
          <p:nvPr/>
        </p:nvSpPr>
        <p:spPr>
          <a:xfrm>
            <a:off x="548883" y="4704947"/>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95" name="コネクタ: カギ線 94">
            <a:extLst>
              <a:ext uri="{FF2B5EF4-FFF2-40B4-BE49-F238E27FC236}">
                <a16:creationId xmlns:a16="http://schemas.microsoft.com/office/drawing/2014/main" id="{898B747D-663D-3118-8C11-74EB0324AD5C}"/>
              </a:ext>
            </a:extLst>
          </p:cNvPr>
          <p:cNvCxnSpPr>
            <a:stCxn id="93" idx="0"/>
          </p:cNvCxnSpPr>
          <p:nvPr/>
        </p:nvCxnSpPr>
        <p:spPr>
          <a:xfrm rot="5400000" flipH="1" flipV="1">
            <a:off x="3855271" y="-288234"/>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CA244CA5-B309-FA6E-284D-7CBC7CC2508F}"/>
              </a:ext>
            </a:extLst>
          </p:cNvPr>
          <p:cNvCxnSpPr>
            <a:cxnSpLocks/>
            <a:stCxn id="93" idx="2"/>
            <a:endCxn id="92" idx="1"/>
          </p:cNvCxnSpPr>
          <p:nvPr/>
        </p:nvCxnSpPr>
        <p:spPr>
          <a:xfrm rot="16200000" flipH="1">
            <a:off x="972986" y="4890426"/>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正方形/長方形 97">
            <a:extLst>
              <a:ext uri="{FF2B5EF4-FFF2-40B4-BE49-F238E27FC236}">
                <a16:creationId xmlns:a16="http://schemas.microsoft.com/office/drawing/2014/main" id="{B6490177-CFF0-A875-7C56-F0FC8CA2C530}"/>
              </a:ext>
            </a:extLst>
          </p:cNvPr>
          <p:cNvSpPr/>
          <p:nvPr/>
        </p:nvSpPr>
        <p:spPr>
          <a:xfrm>
            <a:off x="562021" y="58195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99" name="正方形/長方形 98">
            <a:extLst>
              <a:ext uri="{FF2B5EF4-FFF2-40B4-BE49-F238E27FC236}">
                <a16:creationId xmlns:a16="http://schemas.microsoft.com/office/drawing/2014/main" id="{6D76C720-225A-6A92-8A49-A13770789615}"/>
              </a:ext>
            </a:extLst>
          </p:cNvPr>
          <p:cNvSpPr/>
          <p:nvPr/>
        </p:nvSpPr>
        <p:spPr>
          <a:xfrm>
            <a:off x="562021" y="6084246"/>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101" name="正方形/長方形 100">
            <a:extLst>
              <a:ext uri="{FF2B5EF4-FFF2-40B4-BE49-F238E27FC236}">
                <a16:creationId xmlns:a16="http://schemas.microsoft.com/office/drawing/2014/main" id="{9927067B-793F-D21C-B90A-7C7E46812D7F}"/>
              </a:ext>
            </a:extLst>
          </p:cNvPr>
          <p:cNvSpPr/>
          <p:nvPr/>
        </p:nvSpPr>
        <p:spPr>
          <a:xfrm>
            <a:off x="3713703" y="4731321"/>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102" name="正方形/長方形 101">
            <a:extLst>
              <a:ext uri="{FF2B5EF4-FFF2-40B4-BE49-F238E27FC236}">
                <a16:creationId xmlns:a16="http://schemas.microsoft.com/office/drawing/2014/main" id="{BD2E83D5-3372-C439-208D-783F428C9D84}"/>
              </a:ext>
            </a:extLst>
          </p:cNvPr>
          <p:cNvSpPr/>
          <p:nvPr/>
        </p:nvSpPr>
        <p:spPr>
          <a:xfrm>
            <a:off x="3713703" y="499691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104" name="正方形/長方形 103">
            <a:extLst>
              <a:ext uri="{FF2B5EF4-FFF2-40B4-BE49-F238E27FC236}">
                <a16:creationId xmlns:a16="http://schemas.microsoft.com/office/drawing/2014/main" id="{087D59E0-E0CE-3934-C1B4-0EF4D82E0B2E}"/>
              </a:ext>
            </a:extLst>
          </p:cNvPr>
          <p:cNvSpPr/>
          <p:nvPr/>
        </p:nvSpPr>
        <p:spPr>
          <a:xfrm>
            <a:off x="3713703" y="5262511"/>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5" name="正方形/長方形 104">
            <a:extLst>
              <a:ext uri="{FF2B5EF4-FFF2-40B4-BE49-F238E27FC236}">
                <a16:creationId xmlns:a16="http://schemas.microsoft.com/office/drawing/2014/main" id="{78BB80E0-2482-846A-E4FE-C1770384E88E}"/>
              </a:ext>
            </a:extLst>
          </p:cNvPr>
          <p:cNvSpPr/>
          <p:nvPr/>
        </p:nvSpPr>
        <p:spPr>
          <a:xfrm>
            <a:off x="3720717" y="552810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111" name="正方形/長方形 110">
            <a:extLst>
              <a:ext uri="{FF2B5EF4-FFF2-40B4-BE49-F238E27FC236}">
                <a16:creationId xmlns:a16="http://schemas.microsoft.com/office/drawing/2014/main" id="{C885333E-56CE-B011-72B9-07B332849355}"/>
              </a:ext>
            </a:extLst>
          </p:cNvPr>
          <p:cNvSpPr/>
          <p:nvPr/>
        </p:nvSpPr>
        <p:spPr>
          <a:xfrm>
            <a:off x="4881464" y="5264551"/>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112" name="コネクタ: カギ線 111">
            <a:extLst>
              <a:ext uri="{FF2B5EF4-FFF2-40B4-BE49-F238E27FC236}">
                <a16:creationId xmlns:a16="http://schemas.microsoft.com/office/drawing/2014/main" id="{BDA83037-5C06-C2D0-EF8B-90AE0F4336B5}"/>
              </a:ext>
            </a:extLst>
          </p:cNvPr>
          <p:cNvCxnSpPr>
            <a:cxnSpLocks/>
            <a:stCxn id="93" idx="3"/>
            <a:endCxn id="101" idx="1"/>
          </p:cNvCxnSpPr>
          <p:nvPr/>
        </p:nvCxnSpPr>
        <p:spPr>
          <a:xfrm>
            <a:off x="1280160" y="4826919"/>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5" name="コネクタ: カギ線 114">
            <a:extLst>
              <a:ext uri="{FF2B5EF4-FFF2-40B4-BE49-F238E27FC236}">
                <a16:creationId xmlns:a16="http://schemas.microsoft.com/office/drawing/2014/main" id="{BA23D5BC-C7EC-06D4-215C-2852A68F0F9B}"/>
              </a:ext>
            </a:extLst>
          </p:cNvPr>
          <p:cNvCxnSpPr>
            <a:cxnSpLocks/>
            <a:stCxn id="93" idx="3"/>
            <a:endCxn id="102" idx="1"/>
          </p:cNvCxnSpPr>
          <p:nvPr/>
        </p:nvCxnSpPr>
        <p:spPr>
          <a:xfrm>
            <a:off x="1280160" y="4826919"/>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a16:creationId xmlns:a16="http://schemas.microsoft.com/office/drawing/2014/main" id="{F8AA6994-29BC-2C26-DE5F-C0C21F502236}"/>
              </a:ext>
            </a:extLst>
          </p:cNvPr>
          <p:cNvCxnSpPr>
            <a:cxnSpLocks/>
            <a:stCxn id="93" idx="3"/>
            <a:endCxn id="104" idx="1"/>
          </p:cNvCxnSpPr>
          <p:nvPr/>
        </p:nvCxnSpPr>
        <p:spPr>
          <a:xfrm>
            <a:off x="1280160" y="4826919"/>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8" name="コネクタ: カギ線 117">
            <a:extLst>
              <a:ext uri="{FF2B5EF4-FFF2-40B4-BE49-F238E27FC236}">
                <a16:creationId xmlns:a16="http://schemas.microsoft.com/office/drawing/2014/main" id="{3AE4A3D0-6C1F-7BCD-3ED2-5F066684CE21}"/>
              </a:ext>
            </a:extLst>
          </p:cNvPr>
          <p:cNvCxnSpPr>
            <a:cxnSpLocks/>
            <a:stCxn id="93" idx="3"/>
            <a:endCxn id="105" idx="1"/>
          </p:cNvCxnSpPr>
          <p:nvPr/>
        </p:nvCxnSpPr>
        <p:spPr>
          <a:xfrm>
            <a:off x="1280160" y="4826919"/>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9" name="正方形/長方形 118">
            <a:extLst>
              <a:ext uri="{FF2B5EF4-FFF2-40B4-BE49-F238E27FC236}">
                <a16:creationId xmlns:a16="http://schemas.microsoft.com/office/drawing/2014/main" id="{F922E2DE-5C74-6CAA-736C-BAC94D2952DF}"/>
              </a:ext>
            </a:extLst>
          </p:cNvPr>
          <p:cNvSpPr/>
          <p:nvPr/>
        </p:nvSpPr>
        <p:spPr>
          <a:xfrm>
            <a:off x="3713703" y="5792944"/>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1" name="正方形/長方形 120">
            <a:extLst>
              <a:ext uri="{FF2B5EF4-FFF2-40B4-BE49-F238E27FC236}">
                <a16:creationId xmlns:a16="http://schemas.microsoft.com/office/drawing/2014/main" id="{03175683-57AB-6FFA-0F27-7E81645CA47B}"/>
              </a:ext>
            </a:extLst>
          </p:cNvPr>
          <p:cNvSpPr/>
          <p:nvPr/>
        </p:nvSpPr>
        <p:spPr>
          <a:xfrm>
            <a:off x="3720717" y="6061629"/>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122" name="コネクタ: カギ線 121">
            <a:extLst>
              <a:ext uri="{FF2B5EF4-FFF2-40B4-BE49-F238E27FC236}">
                <a16:creationId xmlns:a16="http://schemas.microsoft.com/office/drawing/2014/main" id="{30FE3CED-649C-7946-1117-B1E2FD2D7F26}"/>
              </a:ext>
            </a:extLst>
          </p:cNvPr>
          <p:cNvCxnSpPr>
            <a:cxnSpLocks/>
          </p:cNvCxnSpPr>
          <p:nvPr/>
        </p:nvCxnSpPr>
        <p:spPr>
          <a:xfrm rot="5400000" flipH="1" flipV="1">
            <a:off x="1605206" y="3681433"/>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4" name="正方形/長方形 123">
            <a:extLst>
              <a:ext uri="{FF2B5EF4-FFF2-40B4-BE49-F238E27FC236}">
                <a16:creationId xmlns:a16="http://schemas.microsoft.com/office/drawing/2014/main" id="{5EB01514-8877-C931-E7AA-81B28EB77681}"/>
              </a:ext>
            </a:extLst>
          </p:cNvPr>
          <p:cNvSpPr/>
          <p:nvPr/>
        </p:nvSpPr>
        <p:spPr>
          <a:xfrm>
            <a:off x="6986937" y="1517116"/>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342701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133544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LINE</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で見積　✓</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LINE</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で相談</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年齢→ライフイベント、よくある悩み</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✓再購入時期、併売商品を設定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865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065560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a:t>
            </a: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を軸に配信戦略を組み立てることでユーザーのアクティブ率を保った状態で運用。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1" name="テキスト ボックス 10">
            <a:extLst>
              <a:ext uri="{FF2B5EF4-FFF2-40B4-BE49-F238E27FC236}">
                <a16:creationId xmlns:a16="http://schemas.microsoft.com/office/drawing/2014/main" id="{1CD1533E-1582-9E17-EE6F-EA2F4BE96D58}"/>
              </a:ext>
            </a:extLst>
          </p:cNvPr>
          <p:cNvSpPr txBox="1"/>
          <p:nvPr/>
        </p:nvSpPr>
        <p:spPr>
          <a:xfrm>
            <a:off x="422130" y="1861195"/>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① 接触（認知・流入）</a:t>
            </a:r>
          </a:p>
        </p:txBody>
      </p:sp>
      <p:sp>
        <p:nvSpPr>
          <p:cNvPr id="12" name="テキスト ボックス 11">
            <a:extLst>
              <a:ext uri="{FF2B5EF4-FFF2-40B4-BE49-F238E27FC236}">
                <a16:creationId xmlns:a16="http://schemas.microsoft.com/office/drawing/2014/main" id="{2C43BB1A-3D6A-04B9-F8ED-26CB7DCA3735}"/>
              </a:ext>
            </a:extLst>
          </p:cNvPr>
          <p:cNvSpPr txBox="1"/>
          <p:nvPr/>
        </p:nvSpPr>
        <p:spPr>
          <a:xfrm>
            <a:off x="422130" y="2931847"/>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③ 育成（興味</a:t>
            </a:r>
            <a:r>
              <a:rPr lang="ja-JP" altLang="en-US" sz="1200" b="1" dirty="0">
                <a:latin typeface="メイリオ" panose="020B0604030504040204" pitchFamily="50" charset="-128"/>
                <a:ea typeface="メイリオ" panose="020B0604030504040204" pitchFamily="50" charset="-128"/>
              </a:rPr>
              <a:t>喚起</a:t>
            </a:r>
            <a:r>
              <a:rPr lang="ja-JP" altLang="ja-JP" sz="1200" b="1"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BCB10DC8-82CD-0C69-034B-7642E1296837}"/>
              </a:ext>
            </a:extLst>
          </p:cNvPr>
          <p:cNvSpPr txBox="1"/>
          <p:nvPr/>
        </p:nvSpPr>
        <p:spPr>
          <a:xfrm>
            <a:off x="422130" y="2396521"/>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② サイト離脱</a:t>
            </a:r>
            <a:r>
              <a:rPr lang="ja-JP" altLang="en-US" sz="1200" b="1" dirty="0">
                <a:latin typeface="メイリオ" panose="020B0604030504040204" pitchFamily="50" charset="-128"/>
                <a:ea typeface="メイリオ" panose="020B0604030504040204" pitchFamily="50" charset="-128"/>
              </a:rPr>
              <a:t>（対策）</a:t>
            </a:r>
            <a:endParaRPr lang="ja-JP" altLang="ja-JP" sz="12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15AFA19-CD5F-9379-AE26-44B78C354860}"/>
              </a:ext>
            </a:extLst>
          </p:cNvPr>
          <p:cNvSpPr txBox="1"/>
          <p:nvPr/>
        </p:nvSpPr>
        <p:spPr>
          <a:xfrm>
            <a:off x="422130" y="3467172"/>
            <a:ext cx="2352196" cy="446111"/>
          </a:xfrm>
          <a:prstGeom prst="rect">
            <a:avLst/>
          </a:prstGeom>
          <a:solidFill>
            <a:schemeClr val="accent6">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④リード獲得 </a:t>
            </a:r>
            <a:r>
              <a:rPr lang="en-US" altLang="ja-JP" sz="1000" b="1" dirty="0">
                <a:latin typeface="メイリオ" panose="020B0604030504040204" pitchFamily="50" charset="-128"/>
                <a:ea typeface="メイリオ" panose="020B0604030504040204" pitchFamily="50" charset="-128"/>
              </a:rPr>
              <a:t>(web)</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22062743-7DD1-C474-56DE-C86161967F49}"/>
              </a:ext>
            </a:extLst>
          </p:cNvPr>
          <p:cNvSpPr txBox="1"/>
          <p:nvPr/>
        </p:nvSpPr>
        <p:spPr>
          <a:xfrm>
            <a:off x="422130" y="440702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⑤ リード有効化</a:t>
            </a:r>
            <a:endParaRPr lang="ja-JP" altLang="ja-JP" sz="12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B3F98235-7ECD-D5F4-08BE-76857355ABFA}"/>
              </a:ext>
            </a:extLst>
          </p:cNvPr>
          <p:cNvSpPr txBox="1"/>
          <p:nvPr/>
        </p:nvSpPr>
        <p:spPr>
          <a:xfrm>
            <a:off x="422130" y="5477676"/>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⑦マネタイズ</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成約</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購入</a:t>
            </a:r>
            <a:r>
              <a:rPr lang="en-US" altLang="ja-JP" sz="1050" b="1" dirty="0">
                <a:latin typeface="メイリオ" panose="020B0604030504040204" pitchFamily="50" charset="-128"/>
                <a:ea typeface="メイリオ" panose="020B0604030504040204" pitchFamily="50" charset="-128"/>
              </a:rPr>
              <a:t>)</a:t>
            </a:r>
            <a:endParaRPr lang="ja-JP" altLang="ja-JP" sz="1200" b="1"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999F747F-6C0D-0BDB-B5B7-8266514B8949}"/>
              </a:ext>
            </a:extLst>
          </p:cNvPr>
          <p:cNvSpPr txBox="1"/>
          <p:nvPr/>
        </p:nvSpPr>
        <p:spPr>
          <a:xfrm>
            <a:off x="422130" y="4942350"/>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⑥ 有効リードの再育成</a:t>
            </a:r>
            <a:endParaRPr lang="ja-JP" altLang="ja-JP" sz="12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A2277771-01BE-2A4E-C621-929D69C54177}"/>
              </a:ext>
            </a:extLst>
          </p:cNvPr>
          <p:cNvSpPr txBox="1"/>
          <p:nvPr/>
        </p:nvSpPr>
        <p:spPr>
          <a:xfrm>
            <a:off x="422130" y="601300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⑧</a:t>
            </a:r>
            <a:r>
              <a:rPr lang="en-US" altLang="ja-JP" sz="1200" b="1" dirty="0">
                <a:latin typeface="メイリオ" panose="020B0604030504040204" pitchFamily="50" charset="-128"/>
                <a:ea typeface="メイリオ" panose="020B0604030504040204" pitchFamily="50" charset="-128"/>
              </a:rPr>
              <a:t>LTV</a:t>
            </a:r>
            <a:r>
              <a:rPr lang="ja-JP" altLang="en-US" sz="1200" b="1" dirty="0">
                <a:latin typeface="メイリオ" panose="020B0604030504040204" pitchFamily="50" charset="-128"/>
                <a:ea typeface="メイリオ" panose="020B0604030504040204" pitchFamily="50" charset="-128"/>
              </a:rPr>
              <a:t>最大化・紹介</a:t>
            </a:r>
            <a:endParaRPr lang="ja-JP" altLang="ja-JP" sz="1200" b="1" dirty="0">
              <a:latin typeface="メイリオ" panose="020B0604030504040204" pitchFamily="50" charset="-128"/>
              <a:ea typeface="メイリオ" panose="020B0604030504040204" pitchFamily="50" charset="-128"/>
            </a:endParaRPr>
          </a:p>
        </p:txBody>
      </p:sp>
      <p:cxnSp>
        <p:nvCxnSpPr>
          <p:cNvPr id="21" name="直線矢印コネクタ 20">
            <a:extLst>
              <a:ext uri="{FF2B5EF4-FFF2-40B4-BE49-F238E27FC236}">
                <a16:creationId xmlns:a16="http://schemas.microsoft.com/office/drawing/2014/main" id="{9CD79024-49B9-DF89-8EE9-633017761437}"/>
              </a:ext>
            </a:extLst>
          </p:cNvPr>
          <p:cNvCxnSpPr>
            <a:cxnSpLocks/>
          </p:cNvCxnSpPr>
          <p:nvPr/>
        </p:nvCxnSpPr>
        <p:spPr>
          <a:xfrm>
            <a:off x="725974" y="3934112"/>
            <a:ext cx="0" cy="474234"/>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3707324A-CA31-10C7-B6B8-E3A9A53CC3A2}"/>
              </a:ext>
            </a:extLst>
          </p:cNvPr>
          <p:cNvSpPr txBox="1"/>
          <p:nvPr/>
        </p:nvSpPr>
        <p:spPr>
          <a:xfrm>
            <a:off x="5143202" y="1861195"/>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① 接触（認知・流入）</a:t>
            </a:r>
          </a:p>
        </p:txBody>
      </p:sp>
      <p:sp>
        <p:nvSpPr>
          <p:cNvPr id="34" name="テキスト ボックス 33">
            <a:extLst>
              <a:ext uri="{FF2B5EF4-FFF2-40B4-BE49-F238E27FC236}">
                <a16:creationId xmlns:a16="http://schemas.microsoft.com/office/drawing/2014/main" id="{2ADFDD2E-A723-2916-4648-0F5E903278F3}"/>
              </a:ext>
            </a:extLst>
          </p:cNvPr>
          <p:cNvSpPr txBox="1"/>
          <p:nvPr/>
        </p:nvSpPr>
        <p:spPr>
          <a:xfrm>
            <a:off x="5143202" y="2931847"/>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③ 育成（興味</a:t>
            </a:r>
            <a:r>
              <a:rPr lang="ja-JP" altLang="en-US" sz="1200" b="1" dirty="0">
                <a:latin typeface="メイリオ" panose="020B0604030504040204" pitchFamily="50" charset="-128"/>
                <a:ea typeface="メイリオ" panose="020B0604030504040204" pitchFamily="50" charset="-128"/>
              </a:rPr>
              <a:t>喚起</a:t>
            </a:r>
            <a:r>
              <a:rPr lang="ja-JP" altLang="ja-JP" sz="1200" b="1" dirty="0">
                <a:latin typeface="メイリオ" panose="020B0604030504040204" pitchFamily="50" charset="-128"/>
                <a:ea typeface="メイリオ" panose="020B0604030504040204" pitchFamily="50" charset="-128"/>
              </a:rPr>
              <a:t>）</a:t>
            </a:r>
          </a:p>
        </p:txBody>
      </p:sp>
      <p:sp>
        <p:nvSpPr>
          <p:cNvPr id="35" name="テキスト ボックス 34">
            <a:extLst>
              <a:ext uri="{FF2B5EF4-FFF2-40B4-BE49-F238E27FC236}">
                <a16:creationId xmlns:a16="http://schemas.microsoft.com/office/drawing/2014/main" id="{B895B974-A656-2669-0CE1-C27F2B4B20BE}"/>
              </a:ext>
            </a:extLst>
          </p:cNvPr>
          <p:cNvSpPr txBox="1"/>
          <p:nvPr/>
        </p:nvSpPr>
        <p:spPr>
          <a:xfrm>
            <a:off x="5143202" y="2396521"/>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② サイト離脱</a:t>
            </a:r>
            <a:r>
              <a:rPr lang="ja-JP" altLang="en-US" sz="1200" b="1" dirty="0">
                <a:latin typeface="メイリオ" panose="020B0604030504040204" pitchFamily="50" charset="-128"/>
                <a:ea typeface="メイリオ" panose="020B0604030504040204" pitchFamily="50" charset="-128"/>
              </a:rPr>
              <a:t>（対策）</a:t>
            </a:r>
            <a:endParaRPr lang="ja-JP" altLang="ja-JP" sz="1200" b="1" dirty="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A07117C9-502D-4C6F-AA2E-1C1E7CF7B4C6}"/>
              </a:ext>
            </a:extLst>
          </p:cNvPr>
          <p:cNvSpPr txBox="1"/>
          <p:nvPr/>
        </p:nvSpPr>
        <p:spPr>
          <a:xfrm>
            <a:off x="5143202" y="3467173"/>
            <a:ext cx="2352196" cy="446111"/>
          </a:xfrm>
          <a:prstGeom prst="rect">
            <a:avLst/>
          </a:prstGeom>
          <a:solidFill>
            <a:schemeClr val="accent6">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④リード獲得 </a:t>
            </a:r>
            <a:r>
              <a:rPr lang="en-US" altLang="ja-JP" sz="1000" b="1" dirty="0">
                <a:latin typeface="メイリオ" panose="020B0604030504040204" pitchFamily="50" charset="-128"/>
                <a:ea typeface="メイリオ" panose="020B0604030504040204" pitchFamily="50" charset="-128"/>
              </a:rPr>
              <a:t>(web/LINE)</a:t>
            </a:r>
            <a:endParaRPr lang="ja-JP" altLang="ja-JP" sz="1100" b="1" dirty="0">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56761199-CD70-153F-E94B-20E5E833D7A7}"/>
              </a:ext>
            </a:extLst>
          </p:cNvPr>
          <p:cNvSpPr txBox="1"/>
          <p:nvPr/>
        </p:nvSpPr>
        <p:spPr>
          <a:xfrm>
            <a:off x="5143202" y="440702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⑤ リード有効化</a:t>
            </a:r>
            <a:endParaRPr lang="ja-JP" altLang="ja-JP"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72CCB353-50A1-FF17-E933-B1158BEE91E4}"/>
              </a:ext>
            </a:extLst>
          </p:cNvPr>
          <p:cNvSpPr txBox="1"/>
          <p:nvPr/>
        </p:nvSpPr>
        <p:spPr>
          <a:xfrm>
            <a:off x="5143202" y="5477676"/>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⑦マネタイズ</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成約</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購入</a:t>
            </a:r>
            <a:r>
              <a:rPr lang="en-US" altLang="ja-JP" sz="1050" b="1" dirty="0">
                <a:latin typeface="メイリオ" panose="020B0604030504040204" pitchFamily="50" charset="-128"/>
                <a:ea typeface="メイリオ" panose="020B0604030504040204" pitchFamily="50" charset="-128"/>
              </a:rPr>
              <a:t>)</a:t>
            </a:r>
            <a:endParaRPr lang="ja-JP" altLang="ja-JP" sz="12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44A347FC-9BE7-316C-5F13-B7762E412092}"/>
              </a:ext>
            </a:extLst>
          </p:cNvPr>
          <p:cNvSpPr txBox="1"/>
          <p:nvPr/>
        </p:nvSpPr>
        <p:spPr>
          <a:xfrm>
            <a:off x="5143202" y="4942350"/>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⑥ 有効リードの再育成</a:t>
            </a:r>
            <a:endParaRPr lang="ja-JP" altLang="ja-JP" sz="12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31750602-2370-CB79-F23B-20E4B2FC9A45}"/>
              </a:ext>
            </a:extLst>
          </p:cNvPr>
          <p:cNvSpPr txBox="1"/>
          <p:nvPr/>
        </p:nvSpPr>
        <p:spPr>
          <a:xfrm>
            <a:off x="5143202" y="601300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⑧</a:t>
            </a:r>
            <a:r>
              <a:rPr lang="en-US" altLang="ja-JP" sz="1200" b="1" dirty="0">
                <a:latin typeface="メイリオ" panose="020B0604030504040204" pitchFamily="50" charset="-128"/>
                <a:ea typeface="メイリオ" panose="020B0604030504040204" pitchFamily="50" charset="-128"/>
              </a:rPr>
              <a:t>LTV</a:t>
            </a:r>
            <a:r>
              <a:rPr lang="ja-JP" altLang="en-US" sz="1200" b="1" dirty="0">
                <a:latin typeface="メイリオ" panose="020B0604030504040204" pitchFamily="50" charset="-128"/>
                <a:ea typeface="メイリオ" panose="020B0604030504040204" pitchFamily="50" charset="-128"/>
              </a:rPr>
              <a:t>最大化・紹介</a:t>
            </a:r>
            <a:endParaRPr lang="ja-JP" altLang="ja-JP" sz="1200" b="1" dirty="0">
              <a:latin typeface="メイリオ" panose="020B0604030504040204" pitchFamily="50" charset="-128"/>
              <a:ea typeface="メイリオ" panose="020B0604030504040204" pitchFamily="50" charset="-128"/>
            </a:endParaRPr>
          </a:p>
        </p:txBody>
      </p:sp>
      <p:cxnSp>
        <p:nvCxnSpPr>
          <p:cNvPr id="46" name="直線矢印コネクタ 45">
            <a:extLst>
              <a:ext uri="{FF2B5EF4-FFF2-40B4-BE49-F238E27FC236}">
                <a16:creationId xmlns:a16="http://schemas.microsoft.com/office/drawing/2014/main" id="{7398214A-9BC3-94A2-1B44-ABFB6EF10A95}"/>
              </a:ext>
            </a:extLst>
          </p:cNvPr>
          <p:cNvCxnSpPr>
            <a:cxnSpLocks/>
          </p:cNvCxnSpPr>
          <p:nvPr/>
        </p:nvCxnSpPr>
        <p:spPr>
          <a:xfrm>
            <a:off x="5447046" y="3934112"/>
            <a:ext cx="0" cy="474234"/>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BC82B682-A1BD-AF78-6196-B1E02CC1F3FB}"/>
              </a:ext>
            </a:extLst>
          </p:cNvPr>
          <p:cNvPicPr>
            <a:picLocks noChangeAspect="1"/>
          </p:cNvPicPr>
          <p:nvPr/>
        </p:nvPicPr>
        <p:blipFill>
          <a:blip r:embed="rId2"/>
          <a:stretch>
            <a:fillRect/>
          </a:stretch>
        </p:blipFill>
        <p:spPr>
          <a:xfrm>
            <a:off x="2277117" y="2386532"/>
            <a:ext cx="481489" cy="448956"/>
          </a:xfrm>
          <a:prstGeom prst="rect">
            <a:avLst/>
          </a:prstGeom>
        </p:spPr>
      </p:pic>
      <p:pic>
        <p:nvPicPr>
          <p:cNvPr id="54" name="図 53">
            <a:extLst>
              <a:ext uri="{FF2B5EF4-FFF2-40B4-BE49-F238E27FC236}">
                <a16:creationId xmlns:a16="http://schemas.microsoft.com/office/drawing/2014/main" id="{13BFB52F-AE2C-2214-E223-63E053D9FE07}"/>
              </a:ext>
            </a:extLst>
          </p:cNvPr>
          <p:cNvPicPr>
            <a:picLocks noChangeAspect="1"/>
          </p:cNvPicPr>
          <p:nvPr/>
        </p:nvPicPr>
        <p:blipFill>
          <a:blip r:embed="rId2"/>
          <a:stretch>
            <a:fillRect/>
          </a:stretch>
        </p:blipFill>
        <p:spPr>
          <a:xfrm>
            <a:off x="7114089" y="3453958"/>
            <a:ext cx="481489" cy="448956"/>
          </a:xfrm>
          <a:prstGeom prst="rect">
            <a:avLst/>
          </a:prstGeom>
        </p:spPr>
      </p:pic>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pic>
        <p:nvPicPr>
          <p:cNvPr id="70" name="図 69">
            <a:extLst>
              <a:ext uri="{FF2B5EF4-FFF2-40B4-BE49-F238E27FC236}">
                <a16:creationId xmlns:a16="http://schemas.microsoft.com/office/drawing/2014/main" id="{B5C916EA-56BA-12E3-B0EE-D83A8EC90585}"/>
              </a:ext>
            </a:extLst>
          </p:cNvPr>
          <p:cNvPicPr>
            <a:picLocks noChangeAspect="1"/>
          </p:cNvPicPr>
          <p:nvPr/>
        </p:nvPicPr>
        <p:blipFill>
          <a:blip r:embed="rId3"/>
          <a:stretch>
            <a:fillRect/>
          </a:stretch>
        </p:blipFill>
        <p:spPr>
          <a:xfrm>
            <a:off x="7595578" y="3298969"/>
            <a:ext cx="2167546" cy="2688917"/>
          </a:xfrm>
          <a:prstGeom prst="rect">
            <a:avLst/>
          </a:prstGeom>
        </p:spPr>
      </p:pic>
      <p:pic>
        <p:nvPicPr>
          <p:cNvPr id="826" name="図 825">
            <a:extLst>
              <a:ext uri="{FF2B5EF4-FFF2-40B4-BE49-F238E27FC236}">
                <a16:creationId xmlns:a16="http://schemas.microsoft.com/office/drawing/2014/main" id="{2D4E7AC1-305D-07DC-9608-BFD7502EFD59}"/>
              </a:ext>
            </a:extLst>
          </p:cNvPr>
          <p:cNvPicPr>
            <a:picLocks noChangeAspect="1"/>
          </p:cNvPicPr>
          <p:nvPr/>
        </p:nvPicPr>
        <p:blipFill>
          <a:blip r:embed="rId4"/>
          <a:stretch>
            <a:fillRect/>
          </a:stretch>
        </p:blipFill>
        <p:spPr>
          <a:xfrm>
            <a:off x="2758613" y="2386532"/>
            <a:ext cx="2101635" cy="2379328"/>
          </a:xfrm>
          <a:prstGeom prst="rect">
            <a:avLst/>
          </a:prstGeom>
        </p:spPr>
      </p:pic>
    </p:spTree>
    <p:extLst>
      <p:ext uri="{BB962C8B-B14F-4D97-AF65-F5344CB8AC3E}">
        <p14:creationId xmlns:p14="http://schemas.microsoft.com/office/powerpoint/2010/main" val="2299358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エリアでのリード保有数を最大化。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957158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568268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改善モデル⓷</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7743960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a:t>
            </a:r>
          </a:p>
        </p:txBody>
      </p:sp>
      <p:sp>
        <p:nvSpPr>
          <p:cNvPr id="245" name="Shape 8">
            <a:extLst>
              <a:ext uri="{FF2B5EF4-FFF2-40B4-BE49-F238E27FC236}">
                <a16:creationId xmlns:a16="http://schemas.microsoft.com/office/drawing/2014/main" id="{50B34EBB-32AA-4AD8-2936-6751081DDE7C}"/>
              </a:ext>
            </a:extLst>
          </p:cNvPr>
          <p:cNvSpPr/>
          <p:nvPr/>
        </p:nvSpPr>
        <p:spPr>
          <a:xfrm>
            <a:off x="603747" y="21943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21773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2181269"/>
            <a:ext cx="2178492"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21943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21773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2181269"/>
            <a:ext cx="2178492"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260527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269671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269671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2724150"/>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269671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3025902"/>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3373374"/>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3373374"/>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603747" y="38488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9403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94030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967734"/>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940302"/>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426948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509244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518388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5183886"/>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5211318"/>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518388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51307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260527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269671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269671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04931" y="2724150"/>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269671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3025902"/>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8488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9403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94030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940302"/>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426948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616958"/>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616958"/>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616958"/>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616958"/>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509244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518388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518388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Text 110">
            <a:extLst>
              <a:ext uri="{FF2B5EF4-FFF2-40B4-BE49-F238E27FC236}">
                <a16:creationId xmlns:a16="http://schemas.microsoft.com/office/drawing/2014/main" id="{1BBCFD40-F618-5A41-391D-5947D86BCCA5}"/>
              </a:ext>
            </a:extLst>
          </p:cNvPr>
          <p:cNvSpPr/>
          <p:nvPr/>
        </p:nvSpPr>
        <p:spPr>
          <a:xfrm>
            <a:off x="5504931" y="5211318"/>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サンクスLINE誘導</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5183886"/>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51307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274112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2741125"/>
            <a:ext cx="859536" cy="201168"/>
          </a:xfrm>
          <a:prstGeom prst="rect">
            <a:avLst/>
          </a:prstGeom>
          <a:noFill/>
          <a:ln/>
        </p:spPr>
        <p:txBody>
          <a:bodyPr wrap="square" lIns="0" tIns="0" rIns="0" bIns="0" rtlCol="0" anchor="ctr"/>
          <a:lstStyle/>
          <a:p>
            <a:pPr algn="ctr"/>
            <a:r>
              <a:rPr lang="en-US" altLang="ja-JP" sz="7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984709"/>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984709"/>
            <a:ext cx="859536" cy="201168"/>
          </a:xfrm>
          <a:prstGeom prst="rect">
            <a:avLst/>
          </a:prstGeom>
          <a:solidFill>
            <a:schemeClr val="tx2"/>
          </a:solidFill>
          <a:ln/>
        </p:spPr>
        <p:txBody>
          <a:bodyPr wrap="square" lIns="0" tIns="0" rIns="0" bIns="0" rtlCol="0" anchor="ctr"/>
          <a:lstStyle/>
          <a:p>
            <a:pPr marL="0" indent="0" algn="ctr">
              <a:buNone/>
            </a:pPr>
            <a:r>
              <a:rPr lang="ja-JP" altLang="en-US" sz="700" dirty="0">
                <a:solidFill>
                  <a:srgbClr val="FDFDFD"/>
                </a:solidFill>
                <a:latin typeface="メイリオ" panose="020B0604030504040204" pitchFamily="50" charset="-128"/>
                <a:ea typeface="メイリオ" panose="020B0604030504040204" pitchFamily="50" charset="-128"/>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5228293"/>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04931" y="3984709"/>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04931" y="5228293"/>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3" name="Text 110">
            <a:extLst>
              <a:ext uri="{FF2B5EF4-FFF2-40B4-BE49-F238E27FC236}">
                <a16:creationId xmlns:a16="http://schemas.microsoft.com/office/drawing/2014/main" id="{EDD9FC5D-F103-9D3F-47C3-8F954172AE95}"/>
              </a:ext>
            </a:extLst>
          </p:cNvPr>
          <p:cNvSpPr/>
          <p:nvPr/>
        </p:nvSpPr>
        <p:spPr>
          <a:xfrm>
            <a:off x="5504931" y="5228293"/>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サンクス</a:t>
            </a:r>
            <a:r>
              <a:rPr lang="en-US" altLang="ja-JP" sz="7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誘導</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5" name="Text 110">
            <a:extLst>
              <a:ext uri="{FF2B5EF4-FFF2-40B4-BE49-F238E27FC236}">
                <a16:creationId xmlns:a16="http://schemas.microsoft.com/office/drawing/2014/main" id="{E8EED7F4-BAE1-D41E-67C4-68F570C48388}"/>
              </a:ext>
            </a:extLst>
          </p:cNvPr>
          <p:cNvSpPr/>
          <p:nvPr/>
        </p:nvSpPr>
        <p:spPr>
          <a:xfrm>
            <a:off x="5504931" y="3993853"/>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5226218"/>
            <a:ext cx="859536" cy="201168"/>
          </a:xfrm>
          <a:prstGeom prst="rect">
            <a:avLst/>
          </a:prstGeom>
          <a:solidFill>
            <a:schemeClr val="tx2"/>
          </a:solidFill>
          <a:ln/>
        </p:spPr>
        <p:txBody>
          <a:bodyPr wrap="square" lIns="0" tIns="0" rIns="0" bIns="0" rtlCol="0" anchor="ctr"/>
          <a:lstStyle/>
          <a:p>
            <a:pPr marL="0" indent="0" algn="ctr">
              <a:buNone/>
            </a:pPr>
            <a:r>
              <a:rPr lang="en-US" altLang="ja-JP" sz="7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9" name="Text 38">
            <a:extLst>
              <a:ext uri="{FF2B5EF4-FFF2-40B4-BE49-F238E27FC236}">
                <a16:creationId xmlns:a16="http://schemas.microsoft.com/office/drawing/2014/main" id="{0AAF9C38-B88A-AA3E-E296-3AB0BC76B93B}"/>
              </a:ext>
            </a:extLst>
          </p:cNvPr>
          <p:cNvSpPr/>
          <p:nvPr/>
        </p:nvSpPr>
        <p:spPr>
          <a:xfrm>
            <a:off x="1060947" y="2739050"/>
            <a:ext cx="859536" cy="201168"/>
          </a:xfrm>
          <a:prstGeom prst="rect">
            <a:avLst/>
          </a:prstGeom>
          <a:solidFill>
            <a:schemeClr val="tx2"/>
          </a:solidFill>
          <a:ln/>
        </p:spPr>
        <p:txBody>
          <a:bodyPr wrap="square" lIns="0" tIns="0" rIns="0" bIns="0" rtlCol="0" anchor="ctr"/>
          <a:lstStyle/>
          <a:p>
            <a:pPr marL="0" indent="0" algn="ctr">
              <a:buNone/>
            </a:pPr>
            <a:r>
              <a:rPr lang="ja-JP" altLang="en-US" sz="700" dirty="0">
                <a:solidFill>
                  <a:srgbClr val="FDFDFD"/>
                </a:solidFill>
                <a:latin typeface="メイリオ" panose="020B0604030504040204" pitchFamily="50" charset="-128"/>
                <a:ea typeface="メイリオ" panose="020B0604030504040204" pitchFamily="50" charset="-128"/>
              </a:rPr>
              <a:t>流入</a:t>
            </a:r>
            <a:r>
              <a:rPr lang="en-US" altLang="ja-JP" sz="700" dirty="0">
                <a:solidFill>
                  <a:srgbClr val="FDFDFD"/>
                </a:solidFill>
                <a:latin typeface="メイリオ" panose="020B0604030504040204" pitchFamily="50" charset="-128"/>
                <a:ea typeface="メイリオ" panose="020B0604030504040204" pitchFamily="50" charset="-128"/>
              </a:rPr>
              <a:t>/</a:t>
            </a:r>
            <a:r>
              <a:rPr lang="ja-JP" altLang="en-US" sz="700" dirty="0">
                <a:solidFill>
                  <a:srgbClr val="FDFDFD"/>
                </a:solidFill>
                <a:latin typeface="メイリオ" panose="020B0604030504040204" pitchFamily="50" charset="-128"/>
                <a:ea typeface="メイリオ" panose="020B0604030504040204" pitchFamily="50" charset="-128"/>
              </a:rPr>
              <a:t>集客チャネル</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04931" y="2741125"/>
            <a:ext cx="859536" cy="201168"/>
          </a:xfrm>
          <a:prstGeom prst="rect">
            <a:avLst/>
          </a:prstGeom>
          <a:solidFill>
            <a:schemeClr val="tx2"/>
          </a:solidFill>
          <a:ln/>
        </p:spPr>
        <p:txBody>
          <a:bodyPr wrap="square" lIns="0" tIns="0" rIns="0" bIns="0" rtlCol="0" anchor="ctr"/>
          <a:lstStyle/>
          <a:p>
            <a:pPr marL="0" indent="0" algn="ctr">
              <a:buNone/>
            </a:pPr>
            <a:r>
              <a:rPr lang="ja-JP" altLang="en-US" sz="700" dirty="0">
                <a:solidFill>
                  <a:srgbClr val="FDFDFD"/>
                </a:solidFill>
                <a:latin typeface="メイリオ" panose="020B0604030504040204" pitchFamily="50" charset="-128"/>
                <a:ea typeface="メイリオ" panose="020B0604030504040204" pitchFamily="50" charset="-128"/>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2204952"/>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2187977"/>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2224556"/>
            <a:ext cx="1669123"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2204952"/>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2187977"/>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2224556"/>
            <a:ext cx="1669123" cy="182880"/>
          </a:xfrm>
          <a:prstGeom prst="rect">
            <a:avLst/>
          </a:prstGeom>
          <a:noFill/>
          <a:ln/>
        </p:spPr>
        <p:txBody>
          <a:bodyPr wrap="square" lIns="0" tIns="0" rIns="0" bIns="0" rtlCol="0" anchor="ctr"/>
          <a:lstStyle/>
          <a:p>
            <a:pPr marL="0" indent="0">
              <a:buNone/>
            </a:pPr>
            <a:r>
              <a:rPr lang="ja-JP" altLang="en-US" sz="7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7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262225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271369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271369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274112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2741125"/>
            <a:ext cx="859536" cy="201168"/>
          </a:xfrm>
          <a:prstGeom prst="rect">
            <a:avLst/>
          </a:prstGeom>
          <a:noFill/>
          <a:ln/>
        </p:spPr>
        <p:txBody>
          <a:bodyPr wrap="square" lIns="0" tIns="0" rIns="0" bIns="0" rtlCol="0" anchor="ctr"/>
          <a:lstStyle/>
          <a:p>
            <a:pPr algn="ctr"/>
            <a:r>
              <a:rPr lang="en-US" altLang="ja-JP" sz="7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271369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304287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メルマガ・テレマの既存リストにLINE移行キャンペーンを配信。「LINE登録で〇〇プレゼント」などの特典で現役のLINEリストに転換し、再ナーチャリングを開始する。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339034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3390349"/>
            <a:ext cx="1274064" cy="329184"/>
          </a:xfrm>
          <a:prstGeom prst="rect">
            <a:avLst/>
          </a:prstGeom>
          <a:noFill/>
          <a:ln/>
        </p:spPr>
        <p:txBody>
          <a:bodyPr wrap="square" lIns="0" tIns="0" rIns="0" bIns="0" rtlCol="0" anchor="ctr"/>
          <a:lstStyle/>
          <a:p>
            <a:pPr marL="0" indent="0" algn="ctr">
              <a:lnSpc>
                <a:spcPct val="115000"/>
              </a:lnSpc>
              <a:buNone/>
            </a:pPr>
            <a:r>
              <a:rPr lang="en-US" sz="60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3390349"/>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88488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97632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976327"/>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4003759"/>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4003759"/>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976327"/>
            <a:ext cx="2907792"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430551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652983"/>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652983"/>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5147521"/>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5238961"/>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5238961"/>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5266393"/>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343" name="Text 57">
            <a:extLst>
              <a:ext uri="{FF2B5EF4-FFF2-40B4-BE49-F238E27FC236}">
                <a16:creationId xmlns:a16="http://schemas.microsoft.com/office/drawing/2014/main" id="{3D038977-48FB-088C-1A4C-879420FF6CE5}"/>
              </a:ext>
            </a:extLst>
          </p:cNvPr>
          <p:cNvSpPr/>
          <p:nvPr/>
        </p:nvSpPr>
        <p:spPr>
          <a:xfrm>
            <a:off x="1975347" y="5238961"/>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568145"/>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262225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271369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271369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2741125"/>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2741125"/>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2713693"/>
            <a:ext cx="3017520"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0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304287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339034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3390349"/>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339034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88488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97632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976327"/>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4003759"/>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976327"/>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430551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5147521"/>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5238961"/>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5238961"/>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5266393"/>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5266393"/>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5238961"/>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568145"/>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915617"/>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4012903"/>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Text 110">
            <a:extLst>
              <a:ext uri="{FF2B5EF4-FFF2-40B4-BE49-F238E27FC236}">
                <a16:creationId xmlns:a16="http://schemas.microsoft.com/office/drawing/2014/main" id="{842F8CC1-6BB0-E2D8-D691-F619A1535EB4}"/>
              </a:ext>
            </a:extLst>
          </p:cNvPr>
          <p:cNvSpPr/>
          <p:nvPr/>
        </p:nvSpPr>
        <p:spPr>
          <a:xfrm>
            <a:off x="1060947" y="5264318"/>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再スクリーニング</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2739050"/>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21956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21786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2189103"/>
            <a:ext cx="2177234"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21956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21786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2189103"/>
            <a:ext cx="2177234"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26131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27045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2704549"/>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79235" y="27319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265" name="Text 20">
            <a:extLst>
              <a:ext uri="{FF2B5EF4-FFF2-40B4-BE49-F238E27FC236}">
                <a16:creationId xmlns:a16="http://schemas.microsoft.com/office/drawing/2014/main" id="{B823E9DA-260C-1603-CA04-ED130644314C}"/>
              </a:ext>
            </a:extLst>
          </p:cNvPr>
          <p:cNvSpPr/>
          <p:nvPr/>
        </p:nvSpPr>
        <p:spPr>
          <a:xfrm>
            <a:off x="1079235" y="2731981"/>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アフターフォロー</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7" name="Text 21">
            <a:extLst>
              <a:ext uri="{FF2B5EF4-FFF2-40B4-BE49-F238E27FC236}">
                <a16:creationId xmlns:a16="http://schemas.microsoft.com/office/drawing/2014/main" id="{FCE3B029-FE9D-7576-7B05-2585AB5A66B1}"/>
              </a:ext>
            </a:extLst>
          </p:cNvPr>
          <p:cNvSpPr/>
          <p:nvPr/>
        </p:nvSpPr>
        <p:spPr>
          <a:xfrm>
            <a:off x="1993635" y="2704549"/>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3033733"/>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338120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3381205"/>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3381205"/>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338120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3381205"/>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87574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96718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96718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299" name="Shape 37">
            <a:extLst>
              <a:ext uri="{FF2B5EF4-FFF2-40B4-BE49-F238E27FC236}">
                <a16:creationId xmlns:a16="http://schemas.microsoft.com/office/drawing/2014/main" id="{8370F2F6-B57B-6CE2-C1D8-99B62C8BD5CA}"/>
              </a:ext>
            </a:extLst>
          </p:cNvPr>
          <p:cNvSpPr/>
          <p:nvPr/>
        </p:nvSpPr>
        <p:spPr>
          <a:xfrm>
            <a:off x="1079235" y="399461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79235" y="3994615"/>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96718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429636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513837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522981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5229817"/>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79235" y="5257249"/>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37" name="Text 56">
            <a:extLst>
              <a:ext uri="{FF2B5EF4-FFF2-40B4-BE49-F238E27FC236}">
                <a16:creationId xmlns:a16="http://schemas.microsoft.com/office/drawing/2014/main" id="{8DC1BB15-70BD-88F4-1430-70391985EBFC}"/>
              </a:ext>
            </a:extLst>
          </p:cNvPr>
          <p:cNvSpPr/>
          <p:nvPr/>
        </p:nvSpPr>
        <p:spPr>
          <a:xfrm>
            <a:off x="1079235" y="5257249"/>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紹介キャンペーン</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39" name="Text 57">
            <a:extLst>
              <a:ext uri="{FF2B5EF4-FFF2-40B4-BE49-F238E27FC236}">
                <a16:creationId xmlns:a16="http://schemas.microsoft.com/office/drawing/2014/main" id="{863EF515-E441-C008-46FD-E8772A47BE9A}"/>
              </a:ext>
            </a:extLst>
          </p:cNvPr>
          <p:cNvSpPr/>
          <p:nvPr/>
        </p:nvSpPr>
        <p:spPr>
          <a:xfrm>
            <a:off x="1993635" y="5229817"/>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55900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「友人を紹介してくれたら〇〇をプレゼント」をLINEで告知・管理。満足度が高い時期（利用直後・成果確認後）に訴求することで紹介件数が最大化する。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906473"/>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90647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906473"/>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26131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27045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2704549"/>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27319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2731981"/>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2704549"/>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3033733"/>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338120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3381205"/>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338120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338120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87574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96718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96718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99461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994615"/>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96718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429636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643839"/>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513837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522981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5229817"/>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5257249"/>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5257249"/>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5229817"/>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55900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ユーザーが次のニーズを感じる前に関連サービスを先出しする。「春の〇〇に向けて、ご準備はお済みですか？」という形でシーズン2〜3週前に配信するとCVRが高い。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90647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906473"/>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906473"/>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220949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2192516"/>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0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2202968"/>
            <a:ext cx="2361009"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7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220949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2192516"/>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0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874674" y="2202968"/>
            <a:ext cx="2361009"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7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262044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271188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271188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1079235" y="273931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1079235" y="2739314"/>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2711882"/>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0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304106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6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3388538"/>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70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3388538"/>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338853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70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3388538"/>
            <a:ext cx="1274064" cy="329184"/>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70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88307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31763" y="397451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31763" y="397451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1079235" y="4001948"/>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79235" y="4001948"/>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1993635" y="39745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0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430370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6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651172"/>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70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651172"/>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651172"/>
            <a:ext cx="1274064" cy="329184"/>
          </a:xfrm>
          <a:prstGeom prst="rect">
            <a:avLst/>
          </a:prstGeom>
          <a:noFill/>
          <a:ln>
            <a:noFill/>
          </a:ln>
        </p:spPr>
        <p:txBody>
          <a:bodyPr wrap="square" lIns="0" tIns="0" rIns="0" bIns="0" rtlCol="0" anchor="ctr"/>
          <a:lstStyle/>
          <a:p>
            <a:pPr marL="0" indent="0" algn="ctr">
              <a:lnSpc>
                <a:spcPct val="115000"/>
              </a:lnSpc>
              <a:buNone/>
            </a:pPr>
            <a:r>
              <a:rPr lang="en-US" sz="8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8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651172"/>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65117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70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514571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31763" y="523715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31763" y="523715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1079235" y="526458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5264582"/>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1993635" y="5237150"/>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0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566334"/>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6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913806"/>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913806"/>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7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913806"/>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913806"/>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7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913806"/>
            <a:ext cx="1274064" cy="329184"/>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7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262044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271188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271188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273931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523219" y="2739314"/>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2711882"/>
            <a:ext cx="298094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高スコアユーザーを自動でスタッフにアラート通知</a:t>
            </a:r>
            <a:endParaRPr lang="en-US" sz="10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304106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6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3388538"/>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3388538"/>
            <a:ext cx="1274064" cy="329184"/>
          </a:xfrm>
          <a:prstGeom prst="rect">
            <a:avLst/>
          </a:prstGeom>
          <a:noFill/>
          <a:ln/>
        </p:spPr>
        <p:txBody>
          <a:bodyPr wrap="square" lIns="0" tIns="0" rIns="0" bIns="0" rtlCol="0" anchor="ctr"/>
          <a:lstStyle/>
          <a:p>
            <a:pPr marL="0" indent="0" algn="ctr">
              <a:lnSpc>
                <a:spcPct val="115000"/>
              </a:lnSpc>
              <a:buNone/>
            </a:pPr>
            <a:r>
              <a:rPr lang="en-US" sz="70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70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3388538"/>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70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3388538"/>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スタッフにアラート</a:t>
            </a:r>
            <a:endParaRPr lang="en-US" altLang="ja-JP" sz="70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88307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75747" y="397451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75747" y="3974516"/>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23219" y="4001948"/>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523219" y="4001948"/>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37619" y="39745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BOT初期対応→温度感に応じて人に切り替える</a:t>
            </a:r>
            <a:endParaRPr lang="en-US" sz="10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430370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6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651172"/>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65117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70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651172"/>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651172"/>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70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651172"/>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651172"/>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70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514571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75747" y="523715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75747" y="523715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23219" y="5264582"/>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523219" y="5264582"/>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7619" y="5237150"/>
            <a:ext cx="305472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0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0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566334"/>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6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913806"/>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913806"/>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7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913806"/>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913806"/>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7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913806"/>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913806"/>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7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60265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602658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60265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602658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600205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6002059"/>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600205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6002059"/>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5E6F5D8-69FF-EC49-F89A-79FBF097914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具体施策（友だち追加～短期施策）</a:t>
            </a:r>
          </a:p>
        </p:txBody>
      </p:sp>
      <p:sp>
        <p:nvSpPr>
          <p:cNvPr id="2" name="Google Shape;752;p28">
            <a:extLst>
              <a:ext uri="{FF2B5EF4-FFF2-40B4-BE49-F238E27FC236}">
                <a16:creationId xmlns:a16="http://schemas.microsoft.com/office/drawing/2014/main" id="{8DA9D746-57D8-A7F9-7048-09DA5704460D}"/>
              </a:ext>
            </a:extLst>
          </p:cNvPr>
          <p:cNvSpPr txBox="1"/>
          <p:nvPr/>
        </p:nvSpPr>
        <p:spPr>
          <a:xfrm>
            <a:off x="309397" y="655107"/>
            <a:ext cx="9330992" cy="584735"/>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友だち追加直後の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直近利用・契約可能性が高い</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とされるユーザーに対しては</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トリガーとなる不安の払拭、条件面の精査を</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15-30</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日で設定しタッチポイントを増やす</a:t>
            </a:r>
          </a:p>
        </p:txBody>
      </p:sp>
      <p:sp>
        <p:nvSpPr>
          <p:cNvPr id="41" name="Shape 2">
            <a:extLst>
              <a:ext uri="{FF2B5EF4-FFF2-40B4-BE49-F238E27FC236}">
                <a16:creationId xmlns:a16="http://schemas.microsoft.com/office/drawing/2014/main" id="{72992F6A-FF2A-7ECF-0D33-F6529A528B57}"/>
              </a:ext>
            </a:extLst>
          </p:cNvPr>
          <p:cNvSpPr/>
          <p:nvPr/>
        </p:nvSpPr>
        <p:spPr>
          <a:xfrm>
            <a:off x="775063" y="2010373"/>
            <a:ext cx="8412480" cy="457200"/>
          </a:xfrm>
          <a:prstGeom prst="roundRect">
            <a:avLst>
              <a:gd name="adj" fmla="val 16000"/>
            </a:avLst>
          </a:prstGeom>
          <a:solidFill>
            <a:srgbClr val="F4F7FF"/>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Text 3">
            <a:extLst>
              <a:ext uri="{FF2B5EF4-FFF2-40B4-BE49-F238E27FC236}">
                <a16:creationId xmlns:a16="http://schemas.microsoft.com/office/drawing/2014/main" id="{190E6A1A-C1DD-4C8E-3197-5AD6F8426871}"/>
              </a:ext>
            </a:extLst>
          </p:cNvPr>
          <p:cNvSpPr/>
          <p:nvPr/>
        </p:nvSpPr>
        <p:spPr>
          <a:xfrm>
            <a:off x="957943" y="2010373"/>
            <a:ext cx="8229600" cy="457200"/>
          </a:xfrm>
          <a:prstGeom prst="rect">
            <a:avLst/>
          </a:prstGeom>
          <a:noFill/>
          <a:ln/>
        </p:spPr>
        <p:txBody>
          <a:bodyPr wrap="square"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目的：登録直後の本気度スクリーニング → 即アプローチ対象（⑤リード有効化）の特定</a:t>
            </a:r>
            <a:endParaRPr lang="en-US" sz="1100" dirty="0">
              <a:latin typeface="メイリオ" panose="020B0604030504040204" pitchFamily="50" charset="-128"/>
              <a:ea typeface="メイリオ" panose="020B0604030504040204" pitchFamily="50" charset="-128"/>
            </a:endParaRPr>
          </a:p>
        </p:txBody>
      </p:sp>
      <p:sp>
        <p:nvSpPr>
          <p:cNvPr id="43" name="Shape 4">
            <a:extLst>
              <a:ext uri="{FF2B5EF4-FFF2-40B4-BE49-F238E27FC236}">
                <a16:creationId xmlns:a16="http://schemas.microsoft.com/office/drawing/2014/main" id="{D015C19B-5468-998D-251F-6B1B6959CE07}"/>
              </a:ext>
            </a:extLst>
          </p:cNvPr>
          <p:cNvSpPr/>
          <p:nvPr/>
        </p:nvSpPr>
        <p:spPr>
          <a:xfrm>
            <a:off x="775063" y="2604733"/>
            <a:ext cx="8412480" cy="621792"/>
          </a:xfrm>
          <a:prstGeom prst="roundRect">
            <a:avLst>
              <a:gd name="adj" fmla="val 10294"/>
            </a:avLst>
          </a:prstGeom>
          <a:solidFill>
            <a:srgbClr val="F4F7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5">
            <a:extLst>
              <a:ext uri="{FF2B5EF4-FFF2-40B4-BE49-F238E27FC236}">
                <a16:creationId xmlns:a16="http://schemas.microsoft.com/office/drawing/2014/main" id="{414FEA14-8392-6B62-876D-80318C415543}"/>
              </a:ext>
            </a:extLst>
          </p:cNvPr>
          <p:cNvSpPr/>
          <p:nvPr/>
        </p:nvSpPr>
        <p:spPr>
          <a:xfrm>
            <a:off x="848215" y="27144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6">
            <a:extLst>
              <a:ext uri="{FF2B5EF4-FFF2-40B4-BE49-F238E27FC236}">
                <a16:creationId xmlns:a16="http://schemas.microsoft.com/office/drawing/2014/main" id="{F75BBB7C-7CE8-CD05-76B4-8EAB532092DA}"/>
              </a:ext>
            </a:extLst>
          </p:cNvPr>
          <p:cNvSpPr/>
          <p:nvPr/>
        </p:nvSpPr>
        <p:spPr>
          <a:xfrm>
            <a:off x="848215" y="27144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6" name="Text 7">
            <a:extLst>
              <a:ext uri="{FF2B5EF4-FFF2-40B4-BE49-F238E27FC236}">
                <a16:creationId xmlns:a16="http://schemas.microsoft.com/office/drawing/2014/main" id="{1A4AA2AA-6FF8-3D30-B16C-44EC5F2961CD}"/>
              </a:ext>
            </a:extLst>
          </p:cNvPr>
          <p:cNvSpPr/>
          <p:nvPr/>
        </p:nvSpPr>
        <p:spPr>
          <a:xfrm>
            <a:off x="1250551" y="26504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Q1. 今回、ご検討を始めたきっかけは？</a:t>
            </a:r>
            <a:endParaRPr lang="en-US" sz="1100" dirty="0">
              <a:latin typeface="メイリオ" panose="020B0604030504040204" pitchFamily="50" charset="-128"/>
              <a:ea typeface="メイリオ" panose="020B0604030504040204" pitchFamily="50" charset="-128"/>
            </a:endParaRPr>
          </a:p>
        </p:txBody>
      </p:sp>
      <p:sp>
        <p:nvSpPr>
          <p:cNvPr id="47" name="Text 8">
            <a:extLst>
              <a:ext uri="{FF2B5EF4-FFF2-40B4-BE49-F238E27FC236}">
                <a16:creationId xmlns:a16="http://schemas.microsoft.com/office/drawing/2014/main" id="{7A1F59F1-0B49-73D0-38BD-9948F9A63985}"/>
              </a:ext>
            </a:extLst>
          </p:cNvPr>
          <p:cNvSpPr/>
          <p:nvPr/>
        </p:nvSpPr>
        <p:spPr>
          <a:xfrm>
            <a:off x="1250551" y="29156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費用を抑えたい　B) 品質で選びたい　C) 悩みを解決したい　D) 情報収集のみ　E) その他</a:t>
            </a:r>
            <a:endParaRPr lang="en-US" sz="850" dirty="0">
              <a:latin typeface="メイリオ" panose="020B0604030504040204" pitchFamily="50" charset="-128"/>
              <a:ea typeface="メイリオ" panose="020B0604030504040204" pitchFamily="50" charset="-128"/>
            </a:endParaRPr>
          </a:p>
        </p:txBody>
      </p:sp>
      <p:sp>
        <p:nvSpPr>
          <p:cNvPr id="48" name="Shape 9">
            <a:extLst>
              <a:ext uri="{FF2B5EF4-FFF2-40B4-BE49-F238E27FC236}">
                <a16:creationId xmlns:a16="http://schemas.microsoft.com/office/drawing/2014/main" id="{03F3B165-CA3D-3804-AA50-7C78C7C7EB79}"/>
              </a:ext>
            </a:extLst>
          </p:cNvPr>
          <p:cNvSpPr/>
          <p:nvPr/>
        </p:nvSpPr>
        <p:spPr>
          <a:xfrm>
            <a:off x="6444343" y="26778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9" name="Text 10">
            <a:extLst>
              <a:ext uri="{FF2B5EF4-FFF2-40B4-BE49-F238E27FC236}">
                <a16:creationId xmlns:a16="http://schemas.microsoft.com/office/drawing/2014/main" id="{DF68B239-8CBC-8341-BA16-8510179A4777}"/>
              </a:ext>
            </a:extLst>
          </p:cNvPr>
          <p:cNvSpPr/>
          <p:nvPr/>
        </p:nvSpPr>
        <p:spPr>
          <a:xfrm>
            <a:off x="6490063" y="2677885"/>
            <a:ext cx="2651760" cy="457200"/>
          </a:xfrm>
          <a:prstGeom prst="rect">
            <a:avLst/>
          </a:prstGeom>
          <a:noFill/>
          <a:ln/>
        </p:spPr>
        <p:txBody>
          <a:bodyPr wrap="square" rtlCol="0" anchor="ctr"/>
          <a:lstStyle/>
          <a:p>
            <a:pPr marL="0" indent="0">
              <a:lnSpc>
                <a:spcPct val="120000"/>
              </a:lnSpc>
              <a:buNone/>
            </a:pPr>
            <a:r>
              <a:rPr lang="en-US" sz="850" dirty="0" err="1">
                <a:solidFill>
                  <a:srgbClr val="7A5200"/>
                </a:solidFill>
                <a:latin typeface="メイリオ" panose="020B0604030504040204" pitchFamily="50" charset="-128"/>
                <a:ea typeface="メイリオ" panose="020B0604030504040204" pitchFamily="50" charset="-128"/>
                <a:cs typeface="Calibri" pitchFamily="34" charset="-120"/>
              </a:rPr>
              <a:t>セグメント分けの最重要設問。回答別に配信内容を変える</a:t>
            </a:r>
            <a:endParaRPr lang="en-US" sz="850" dirty="0">
              <a:latin typeface="メイリオ" panose="020B0604030504040204" pitchFamily="50" charset="-128"/>
              <a:ea typeface="メイリオ" panose="020B0604030504040204" pitchFamily="50" charset="-128"/>
            </a:endParaRPr>
          </a:p>
        </p:txBody>
      </p:sp>
      <p:sp>
        <p:nvSpPr>
          <p:cNvPr id="50" name="Shape 11">
            <a:extLst>
              <a:ext uri="{FF2B5EF4-FFF2-40B4-BE49-F238E27FC236}">
                <a16:creationId xmlns:a16="http://schemas.microsoft.com/office/drawing/2014/main" id="{CEC57A7B-58B4-1F60-CC69-2D9C22413BEF}"/>
              </a:ext>
            </a:extLst>
          </p:cNvPr>
          <p:cNvSpPr/>
          <p:nvPr/>
        </p:nvSpPr>
        <p:spPr>
          <a:xfrm>
            <a:off x="775063" y="3290533"/>
            <a:ext cx="8412480" cy="621792"/>
          </a:xfrm>
          <a:prstGeom prst="roundRect">
            <a:avLst>
              <a:gd name="adj" fmla="val 10294"/>
            </a:avLst>
          </a:prstGeom>
          <a:solidFill>
            <a:srgbClr val="FFFF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1" name="Shape 12">
            <a:extLst>
              <a:ext uri="{FF2B5EF4-FFF2-40B4-BE49-F238E27FC236}">
                <a16:creationId xmlns:a16="http://schemas.microsoft.com/office/drawing/2014/main" id="{0FF9816E-5F43-9459-6349-51431111FD45}"/>
              </a:ext>
            </a:extLst>
          </p:cNvPr>
          <p:cNvSpPr/>
          <p:nvPr/>
        </p:nvSpPr>
        <p:spPr>
          <a:xfrm>
            <a:off x="848215" y="34002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13">
            <a:extLst>
              <a:ext uri="{FF2B5EF4-FFF2-40B4-BE49-F238E27FC236}">
                <a16:creationId xmlns:a16="http://schemas.microsoft.com/office/drawing/2014/main" id="{2BF8E88C-4FC5-B1C2-A8E8-D33029A55D78}"/>
              </a:ext>
            </a:extLst>
          </p:cNvPr>
          <p:cNvSpPr/>
          <p:nvPr/>
        </p:nvSpPr>
        <p:spPr>
          <a:xfrm>
            <a:off x="848215" y="34002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3" name="Text 14">
            <a:extLst>
              <a:ext uri="{FF2B5EF4-FFF2-40B4-BE49-F238E27FC236}">
                <a16:creationId xmlns:a16="http://schemas.microsoft.com/office/drawing/2014/main" id="{4AB095EB-AFFB-C1EB-53C1-4C882C450F66}"/>
              </a:ext>
            </a:extLst>
          </p:cNvPr>
          <p:cNvSpPr/>
          <p:nvPr/>
        </p:nvSpPr>
        <p:spPr>
          <a:xfrm>
            <a:off x="1250551" y="33362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Q2. ご利用・ご導入の希望時期はいつ頃ですか？</a:t>
            </a:r>
            <a:endParaRPr lang="en-US" sz="1100" dirty="0">
              <a:latin typeface="メイリオ" panose="020B0604030504040204" pitchFamily="50" charset="-128"/>
              <a:ea typeface="メイリオ" panose="020B0604030504040204" pitchFamily="50" charset="-128"/>
            </a:endParaRPr>
          </a:p>
        </p:txBody>
      </p:sp>
      <p:sp>
        <p:nvSpPr>
          <p:cNvPr id="54" name="Text 15">
            <a:extLst>
              <a:ext uri="{FF2B5EF4-FFF2-40B4-BE49-F238E27FC236}">
                <a16:creationId xmlns:a16="http://schemas.microsoft.com/office/drawing/2014/main" id="{C6FBF75D-9A2C-AB9C-797C-A65992057C82}"/>
              </a:ext>
            </a:extLst>
          </p:cNvPr>
          <p:cNvSpPr/>
          <p:nvPr/>
        </p:nvSpPr>
        <p:spPr>
          <a:xfrm>
            <a:off x="1250551" y="36014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1ヶ月以内　B) 3ヶ月以内　C) 半年以内　D) まだ決めていない</a:t>
            </a:r>
            <a:endParaRPr lang="en-US" sz="850" dirty="0">
              <a:latin typeface="メイリオ" panose="020B0604030504040204" pitchFamily="50" charset="-128"/>
              <a:ea typeface="メイリオ" panose="020B0604030504040204" pitchFamily="50" charset="-128"/>
            </a:endParaRPr>
          </a:p>
        </p:txBody>
      </p:sp>
      <p:sp>
        <p:nvSpPr>
          <p:cNvPr id="55" name="Shape 16">
            <a:extLst>
              <a:ext uri="{FF2B5EF4-FFF2-40B4-BE49-F238E27FC236}">
                <a16:creationId xmlns:a16="http://schemas.microsoft.com/office/drawing/2014/main" id="{8B4031C1-8F8E-5381-AAC9-77A14A56B7F6}"/>
              </a:ext>
            </a:extLst>
          </p:cNvPr>
          <p:cNvSpPr/>
          <p:nvPr/>
        </p:nvSpPr>
        <p:spPr>
          <a:xfrm>
            <a:off x="6444343" y="33636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6" name="Text 17">
            <a:extLst>
              <a:ext uri="{FF2B5EF4-FFF2-40B4-BE49-F238E27FC236}">
                <a16:creationId xmlns:a16="http://schemas.microsoft.com/office/drawing/2014/main" id="{35FE734F-4C1A-3B7B-8AA4-C2546973E56B}"/>
              </a:ext>
            </a:extLst>
          </p:cNvPr>
          <p:cNvSpPr/>
          <p:nvPr/>
        </p:nvSpPr>
        <p:spPr>
          <a:xfrm>
            <a:off x="6490063" y="3363685"/>
            <a:ext cx="2651760" cy="457200"/>
          </a:xfrm>
          <a:prstGeom prst="rect">
            <a:avLst/>
          </a:prstGeom>
          <a:noFill/>
          <a:ln/>
        </p:spPr>
        <p:txBody>
          <a:bodyPr wrap="square" rtlCol="0" anchor="ctr"/>
          <a:lstStyle/>
          <a:p>
            <a:pPr marL="0" indent="0">
              <a:lnSpc>
                <a:spcPct val="120000"/>
              </a:lnSpc>
              <a:buNone/>
            </a:pPr>
            <a:r>
              <a:rPr lang="en-US" sz="850" dirty="0">
                <a:solidFill>
                  <a:srgbClr val="7A5200"/>
                </a:solidFill>
                <a:latin typeface="メイリオ" panose="020B0604030504040204" pitchFamily="50" charset="-128"/>
                <a:ea typeface="メイリオ" panose="020B0604030504040204" pitchFamily="50" charset="-128"/>
                <a:cs typeface="Calibri" pitchFamily="34" charset="-120"/>
              </a:rPr>
              <a:t>「1〜3ヶ月以内」をホットリードとして即オファー対象に</a:t>
            </a:r>
            <a:endParaRPr lang="en-US" sz="850" dirty="0">
              <a:latin typeface="メイリオ" panose="020B0604030504040204" pitchFamily="50" charset="-128"/>
              <a:ea typeface="メイリオ" panose="020B0604030504040204" pitchFamily="50" charset="-128"/>
            </a:endParaRPr>
          </a:p>
        </p:txBody>
      </p:sp>
      <p:sp>
        <p:nvSpPr>
          <p:cNvPr id="57" name="Shape 18">
            <a:extLst>
              <a:ext uri="{FF2B5EF4-FFF2-40B4-BE49-F238E27FC236}">
                <a16:creationId xmlns:a16="http://schemas.microsoft.com/office/drawing/2014/main" id="{77F0529F-1B78-5C45-07C3-2B6DD4A77258}"/>
              </a:ext>
            </a:extLst>
          </p:cNvPr>
          <p:cNvSpPr/>
          <p:nvPr/>
        </p:nvSpPr>
        <p:spPr>
          <a:xfrm>
            <a:off x="775063" y="3976333"/>
            <a:ext cx="8412480" cy="621792"/>
          </a:xfrm>
          <a:prstGeom prst="roundRect">
            <a:avLst>
              <a:gd name="adj" fmla="val 10294"/>
            </a:avLst>
          </a:prstGeom>
          <a:solidFill>
            <a:srgbClr val="F4F7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8" name="Shape 19">
            <a:extLst>
              <a:ext uri="{FF2B5EF4-FFF2-40B4-BE49-F238E27FC236}">
                <a16:creationId xmlns:a16="http://schemas.microsoft.com/office/drawing/2014/main" id="{5CB9124D-3C60-302E-AD9D-68ADA9CED3C8}"/>
              </a:ext>
            </a:extLst>
          </p:cNvPr>
          <p:cNvSpPr/>
          <p:nvPr/>
        </p:nvSpPr>
        <p:spPr>
          <a:xfrm>
            <a:off x="848215" y="40860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9" name="Text 20">
            <a:extLst>
              <a:ext uri="{FF2B5EF4-FFF2-40B4-BE49-F238E27FC236}">
                <a16:creationId xmlns:a16="http://schemas.microsoft.com/office/drawing/2014/main" id="{DD06F576-0404-24E3-3484-9A5F77A77D7A}"/>
              </a:ext>
            </a:extLst>
          </p:cNvPr>
          <p:cNvSpPr/>
          <p:nvPr/>
        </p:nvSpPr>
        <p:spPr>
          <a:xfrm>
            <a:off x="848215" y="40860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0" name="Text 21">
            <a:extLst>
              <a:ext uri="{FF2B5EF4-FFF2-40B4-BE49-F238E27FC236}">
                <a16:creationId xmlns:a16="http://schemas.microsoft.com/office/drawing/2014/main" id="{362B56FE-0308-5ACA-794F-33A473A74E16}"/>
              </a:ext>
            </a:extLst>
          </p:cNvPr>
          <p:cNvSpPr/>
          <p:nvPr/>
        </p:nvSpPr>
        <p:spPr>
          <a:xfrm>
            <a:off x="1250551" y="40220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Q3. ご予算・ご希望の価格帯を教えてください</a:t>
            </a:r>
            <a:endParaRPr lang="en-US" sz="1100" dirty="0">
              <a:latin typeface="メイリオ" panose="020B0604030504040204" pitchFamily="50" charset="-128"/>
              <a:ea typeface="メイリオ" panose="020B0604030504040204" pitchFamily="50" charset="-128"/>
            </a:endParaRPr>
          </a:p>
        </p:txBody>
      </p:sp>
      <p:sp>
        <p:nvSpPr>
          <p:cNvPr id="61" name="Text 22">
            <a:extLst>
              <a:ext uri="{FF2B5EF4-FFF2-40B4-BE49-F238E27FC236}">
                <a16:creationId xmlns:a16="http://schemas.microsoft.com/office/drawing/2014/main" id="{CECF4E63-76E9-FEA5-7805-491752940936}"/>
              </a:ext>
            </a:extLst>
          </p:cNvPr>
          <p:cNvSpPr/>
          <p:nvPr/>
        </p:nvSpPr>
        <p:spPr>
          <a:xfrm>
            <a:off x="1250551" y="42872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〜〇万円　B) 〇〜〇万円　C) 〇〜〇万円　D) まだ未定</a:t>
            </a:r>
            <a:endParaRPr lang="en-US" sz="850" dirty="0">
              <a:latin typeface="メイリオ" panose="020B0604030504040204" pitchFamily="50" charset="-128"/>
              <a:ea typeface="メイリオ" panose="020B0604030504040204" pitchFamily="50" charset="-128"/>
            </a:endParaRPr>
          </a:p>
        </p:txBody>
      </p:sp>
      <p:sp>
        <p:nvSpPr>
          <p:cNvPr id="62" name="Shape 23">
            <a:extLst>
              <a:ext uri="{FF2B5EF4-FFF2-40B4-BE49-F238E27FC236}">
                <a16:creationId xmlns:a16="http://schemas.microsoft.com/office/drawing/2014/main" id="{DBA9622A-FDA2-1DDD-FBA3-73C50D3AB695}"/>
              </a:ext>
            </a:extLst>
          </p:cNvPr>
          <p:cNvSpPr/>
          <p:nvPr/>
        </p:nvSpPr>
        <p:spPr>
          <a:xfrm>
            <a:off x="6444343" y="40494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3" name="Text 24">
            <a:extLst>
              <a:ext uri="{FF2B5EF4-FFF2-40B4-BE49-F238E27FC236}">
                <a16:creationId xmlns:a16="http://schemas.microsoft.com/office/drawing/2014/main" id="{C60B9780-970F-8551-EE91-8044786C7B7C}"/>
              </a:ext>
            </a:extLst>
          </p:cNvPr>
          <p:cNvSpPr/>
          <p:nvPr/>
        </p:nvSpPr>
        <p:spPr>
          <a:xfrm>
            <a:off x="6490063" y="4049485"/>
            <a:ext cx="2651760" cy="457200"/>
          </a:xfrm>
          <a:prstGeom prst="rect">
            <a:avLst/>
          </a:prstGeom>
          <a:noFill/>
          <a:ln/>
        </p:spPr>
        <p:txBody>
          <a:bodyPr wrap="square" rtlCol="0" anchor="ctr"/>
          <a:lstStyle/>
          <a:p>
            <a:pPr marL="0" indent="0">
              <a:lnSpc>
                <a:spcPct val="120000"/>
              </a:lnSpc>
              <a:buNone/>
            </a:pPr>
            <a:r>
              <a:rPr lang="en-US" sz="850" dirty="0" err="1">
                <a:solidFill>
                  <a:srgbClr val="7A5200"/>
                </a:solidFill>
                <a:latin typeface="メイリオ" panose="020B0604030504040204" pitchFamily="50" charset="-128"/>
                <a:ea typeface="メイリオ" panose="020B0604030504040204" pitchFamily="50" charset="-128"/>
                <a:cs typeface="Calibri" pitchFamily="34" charset="-120"/>
              </a:rPr>
              <a:t>提案プランの絞り込みと、訴求する価格帯の設定に活用</a:t>
            </a:r>
            <a:endParaRPr lang="en-US" sz="850" dirty="0">
              <a:latin typeface="メイリオ" panose="020B0604030504040204" pitchFamily="50" charset="-128"/>
              <a:ea typeface="メイリオ" panose="020B0604030504040204" pitchFamily="50" charset="-128"/>
            </a:endParaRPr>
          </a:p>
        </p:txBody>
      </p:sp>
      <p:sp>
        <p:nvSpPr>
          <p:cNvPr id="64" name="Shape 25">
            <a:extLst>
              <a:ext uri="{FF2B5EF4-FFF2-40B4-BE49-F238E27FC236}">
                <a16:creationId xmlns:a16="http://schemas.microsoft.com/office/drawing/2014/main" id="{E6646D0D-AC17-9974-8BF6-E0C26901E16D}"/>
              </a:ext>
            </a:extLst>
          </p:cNvPr>
          <p:cNvSpPr/>
          <p:nvPr/>
        </p:nvSpPr>
        <p:spPr>
          <a:xfrm>
            <a:off x="775063" y="4662133"/>
            <a:ext cx="8412480" cy="621792"/>
          </a:xfrm>
          <a:prstGeom prst="roundRect">
            <a:avLst>
              <a:gd name="adj" fmla="val 10294"/>
            </a:avLst>
          </a:prstGeom>
          <a:solidFill>
            <a:srgbClr val="FFFF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5" name="Shape 26">
            <a:extLst>
              <a:ext uri="{FF2B5EF4-FFF2-40B4-BE49-F238E27FC236}">
                <a16:creationId xmlns:a16="http://schemas.microsoft.com/office/drawing/2014/main" id="{86330F7C-C512-505C-521A-A5D1453510E6}"/>
              </a:ext>
            </a:extLst>
          </p:cNvPr>
          <p:cNvSpPr/>
          <p:nvPr/>
        </p:nvSpPr>
        <p:spPr>
          <a:xfrm>
            <a:off x="848215" y="47718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6" name="Text 27">
            <a:extLst>
              <a:ext uri="{FF2B5EF4-FFF2-40B4-BE49-F238E27FC236}">
                <a16:creationId xmlns:a16="http://schemas.microsoft.com/office/drawing/2014/main" id="{8A40057C-798D-FCB7-8B6B-C2507589C664}"/>
              </a:ext>
            </a:extLst>
          </p:cNvPr>
          <p:cNvSpPr/>
          <p:nvPr/>
        </p:nvSpPr>
        <p:spPr>
          <a:xfrm>
            <a:off x="848215" y="47718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67" name="Text 28">
            <a:extLst>
              <a:ext uri="{FF2B5EF4-FFF2-40B4-BE49-F238E27FC236}">
                <a16:creationId xmlns:a16="http://schemas.microsoft.com/office/drawing/2014/main" id="{FB185C3E-B3C3-8368-764A-0E889BE9E1DC}"/>
              </a:ext>
            </a:extLst>
          </p:cNvPr>
          <p:cNvSpPr/>
          <p:nvPr/>
        </p:nvSpPr>
        <p:spPr>
          <a:xfrm>
            <a:off x="1250551" y="47078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Q4. 今、検討にあたって一番不安なことは？</a:t>
            </a:r>
            <a:endParaRPr lang="en-US" sz="1100" dirty="0">
              <a:latin typeface="メイリオ" panose="020B0604030504040204" pitchFamily="50" charset="-128"/>
              <a:ea typeface="メイリオ" panose="020B0604030504040204" pitchFamily="50" charset="-128"/>
            </a:endParaRPr>
          </a:p>
        </p:txBody>
      </p:sp>
      <p:sp>
        <p:nvSpPr>
          <p:cNvPr id="68" name="Text 29">
            <a:extLst>
              <a:ext uri="{FF2B5EF4-FFF2-40B4-BE49-F238E27FC236}">
                <a16:creationId xmlns:a16="http://schemas.microsoft.com/office/drawing/2014/main" id="{83A0111B-6C16-924D-2F24-F3322312058F}"/>
              </a:ext>
            </a:extLst>
          </p:cNvPr>
          <p:cNvSpPr/>
          <p:nvPr/>
        </p:nvSpPr>
        <p:spPr>
          <a:xfrm>
            <a:off x="1250551" y="49730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費用対効果が不安　B) 手間や時間がかかる　C) 品質・実績が不明　D) 社内の合意が必要</a:t>
            </a:r>
            <a:endParaRPr lang="en-US" sz="850" dirty="0">
              <a:latin typeface="メイリオ" panose="020B0604030504040204" pitchFamily="50" charset="-128"/>
              <a:ea typeface="メイリオ" panose="020B0604030504040204" pitchFamily="50" charset="-128"/>
            </a:endParaRPr>
          </a:p>
        </p:txBody>
      </p:sp>
      <p:sp>
        <p:nvSpPr>
          <p:cNvPr id="69" name="Shape 30">
            <a:extLst>
              <a:ext uri="{FF2B5EF4-FFF2-40B4-BE49-F238E27FC236}">
                <a16:creationId xmlns:a16="http://schemas.microsoft.com/office/drawing/2014/main" id="{B12A9147-2862-DE3E-8AA5-154403D7E2E5}"/>
              </a:ext>
            </a:extLst>
          </p:cNvPr>
          <p:cNvSpPr/>
          <p:nvPr/>
        </p:nvSpPr>
        <p:spPr>
          <a:xfrm>
            <a:off x="6444343" y="47352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Text 31">
            <a:extLst>
              <a:ext uri="{FF2B5EF4-FFF2-40B4-BE49-F238E27FC236}">
                <a16:creationId xmlns:a16="http://schemas.microsoft.com/office/drawing/2014/main" id="{B1610132-9C94-4121-0174-5C4B56C1E9C4}"/>
              </a:ext>
            </a:extLst>
          </p:cNvPr>
          <p:cNvSpPr/>
          <p:nvPr/>
        </p:nvSpPr>
        <p:spPr>
          <a:xfrm>
            <a:off x="6490063" y="4735285"/>
            <a:ext cx="2651760" cy="457200"/>
          </a:xfrm>
          <a:prstGeom prst="rect">
            <a:avLst/>
          </a:prstGeom>
          <a:noFill/>
          <a:ln/>
        </p:spPr>
        <p:txBody>
          <a:bodyPr wrap="square" rtlCol="0" anchor="ctr"/>
          <a:lstStyle/>
          <a:p>
            <a:pPr marL="0" indent="0">
              <a:lnSpc>
                <a:spcPct val="120000"/>
              </a:lnSpc>
              <a:buNone/>
            </a:pPr>
            <a:r>
              <a:rPr lang="en-US" sz="850" dirty="0" err="1">
                <a:solidFill>
                  <a:srgbClr val="7A5200"/>
                </a:solidFill>
                <a:latin typeface="メイリオ" panose="020B0604030504040204" pitchFamily="50" charset="-128"/>
                <a:ea typeface="メイリオ" panose="020B0604030504040204" pitchFamily="50" charset="-128"/>
                <a:cs typeface="Calibri" pitchFamily="34" charset="-120"/>
              </a:rPr>
              <a:t>ナーチャリングコンテンツの優先順位を決める設問</a:t>
            </a:r>
            <a:endParaRPr lang="en-US" sz="850" dirty="0">
              <a:latin typeface="メイリオ" panose="020B0604030504040204" pitchFamily="50" charset="-128"/>
              <a:ea typeface="メイリオ" panose="020B0604030504040204" pitchFamily="50" charset="-128"/>
            </a:endParaRPr>
          </a:p>
        </p:txBody>
      </p:sp>
      <p:sp>
        <p:nvSpPr>
          <p:cNvPr id="71" name="Shape 32">
            <a:extLst>
              <a:ext uri="{FF2B5EF4-FFF2-40B4-BE49-F238E27FC236}">
                <a16:creationId xmlns:a16="http://schemas.microsoft.com/office/drawing/2014/main" id="{5E0CF565-2E70-3594-94E3-B92DBA09CE1D}"/>
              </a:ext>
            </a:extLst>
          </p:cNvPr>
          <p:cNvSpPr/>
          <p:nvPr/>
        </p:nvSpPr>
        <p:spPr>
          <a:xfrm>
            <a:off x="775063" y="5347933"/>
            <a:ext cx="8412480" cy="621792"/>
          </a:xfrm>
          <a:prstGeom prst="roundRect">
            <a:avLst>
              <a:gd name="adj" fmla="val 10294"/>
            </a:avLst>
          </a:prstGeom>
          <a:solidFill>
            <a:srgbClr val="F4F7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Shape 33">
            <a:extLst>
              <a:ext uri="{FF2B5EF4-FFF2-40B4-BE49-F238E27FC236}">
                <a16:creationId xmlns:a16="http://schemas.microsoft.com/office/drawing/2014/main" id="{C3888C1F-7E31-5CB5-DB8C-6376B4A23075}"/>
              </a:ext>
            </a:extLst>
          </p:cNvPr>
          <p:cNvSpPr/>
          <p:nvPr/>
        </p:nvSpPr>
        <p:spPr>
          <a:xfrm>
            <a:off x="848215" y="54576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3" name="Text 34">
            <a:extLst>
              <a:ext uri="{FF2B5EF4-FFF2-40B4-BE49-F238E27FC236}">
                <a16:creationId xmlns:a16="http://schemas.microsoft.com/office/drawing/2014/main" id="{59588FF7-10F6-8141-4359-836B851E5424}"/>
              </a:ext>
            </a:extLst>
          </p:cNvPr>
          <p:cNvSpPr/>
          <p:nvPr/>
        </p:nvSpPr>
        <p:spPr>
          <a:xfrm>
            <a:off x="848215" y="54576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5</a:t>
            </a:r>
            <a:endParaRPr lang="en-US" sz="1100" dirty="0">
              <a:latin typeface="メイリオ" panose="020B0604030504040204" pitchFamily="50" charset="-128"/>
              <a:ea typeface="メイリオ" panose="020B0604030504040204" pitchFamily="50" charset="-128"/>
            </a:endParaRPr>
          </a:p>
        </p:txBody>
      </p:sp>
      <p:sp>
        <p:nvSpPr>
          <p:cNvPr id="74" name="Text 35">
            <a:extLst>
              <a:ext uri="{FF2B5EF4-FFF2-40B4-BE49-F238E27FC236}">
                <a16:creationId xmlns:a16="http://schemas.microsoft.com/office/drawing/2014/main" id="{C5CFC561-6A8F-BACD-E02C-A277E8A3063E}"/>
              </a:ext>
            </a:extLst>
          </p:cNvPr>
          <p:cNvSpPr/>
          <p:nvPr/>
        </p:nvSpPr>
        <p:spPr>
          <a:xfrm>
            <a:off x="1250551" y="53936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Q5. 他社サービスの利用・検討の経験はありますか？</a:t>
            </a:r>
            <a:endParaRPr lang="en-US" sz="1100" dirty="0">
              <a:latin typeface="メイリオ" panose="020B0604030504040204" pitchFamily="50" charset="-128"/>
              <a:ea typeface="メイリオ" panose="020B0604030504040204" pitchFamily="50" charset="-128"/>
            </a:endParaRPr>
          </a:p>
        </p:txBody>
      </p:sp>
      <p:sp>
        <p:nvSpPr>
          <p:cNvPr id="75" name="Text 36">
            <a:extLst>
              <a:ext uri="{FF2B5EF4-FFF2-40B4-BE49-F238E27FC236}">
                <a16:creationId xmlns:a16="http://schemas.microsoft.com/office/drawing/2014/main" id="{BE1F2F6E-238F-21D4-40A5-BD1CB63C8953}"/>
              </a:ext>
            </a:extLst>
          </p:cNvPr>
          <p:cNvSpPr/>
          <p:nvPr/>
        </p:nvSpPr>
        <p:spPr>
          <a:xfrm>
            <a:off x="1250551" y="56588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はじめて　B) 使ったことがある（満足）　C) 使ったことがある（不満）</a:t>
            </a:r>
            <a:endParaRPr lang="en-US" sz="850" dirty="0">
              <a:latin typeface="メイリオ" panose="020B0604030504040204" pitchFamily="50" charset="-128"/>
              <a:ea typeface="メイリオ" panose="020B0604030504040204" pitchFamily="50" charset="-128"/>
            </a:endParaRPr>
          </a:p>
        </p:txBody>
      </p:sp>
      <p:sp>
        <p:nvSpPr>
          <p:cNvPr id="76" name="Shape 37">
            <a:extLst>
              <a:ext uri="{FF2B5EF4-FFF2-40B4-BE49-F238E27FC236}">
                <a16:creationId xmlns:a16="http://schemas.microsoft.com/office/drawing/2014/main" id="{E835EF93-AE65-C080-A583-076B9485CC6B}"/>
              </a:ext>
            </a:extLst>
          </p:cNvPr>
          <p:cNvSpPr/>
          <p:nvPr/>
        </p:nvSpPr>
        <p:spPr>
          <a:xfrm>
            <a:off x="6444343" y="54210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7" name="Text 38">
            <a:extLst>
              <a:ext uri="{FF2B5EF4-FFF2-40B4-BE49-F238E27FC236}">
                <a16:creationId xmlns:a16="http://schemas.microsoft.com/office/drawing/2014/main" id="{4E76941A-97E1-A80A-F7B6-9B05D68E1AA2}"/>
              </a:ext>
            </a:extLst>
          </p:cNvPr>
          <p:cNvSpPr/>
          <p:nvPr/>
        </p:nvSpPr>
        <p:spPr>
          <a:xfrm>
            <a:off x="6490063" y="5421085"/>
            <a:ext cx="2651760" cy="457200"/>
          </a:xfrm>
          <a:prstGeom prst="rect">
            <a:avLst/>
          </a:prstGeom>
          <a:noFill/>
          <a:ln/>
        </p:spPr>
        <p:txBody>
          <a:bodyPr wrap="square" rtlCol="0" anchor="ctr"/>
          <a:lstStyle/>
          <a:p>
            <a:pPr marL="0" indent="0">
              <a:lnSpc>
                <a:spcPct val="120000"/>
              </a:lnSpc>
              <a:buNone/>
            </a:pPr>
            <a:r>
              <a:rPr lang="en-US" sz="850" dirty="0">
                <a:solidFill>
                  <a:srgbClr val="7A5200"/>
                </a:solidFill>
                <a:latin typeface="メイリオ" panose="020B0604030504040204" pitchFamily="50" charset="-128"/>
                <a:ea typeface="メイリオ" panose="020B0604030504040204" pitchFamily="50" charset="-128"/>
                <a:cs typeface="Calibri" pitchFamily="34" charset="-120"/>
              </a:rPr>
              <a:t>「不満あり」層には競合差別化コンテンツを優先配信</a:t>
            </a:r>
            <a:endParaRPr lang="en-US" sz="850"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B080DFA3-5E6A-7CB9-A83C-9D87074C7C62}"/>
              </a:ext>
            </a:extLst>
          </p:cNvPr>
          <p:cNvSpPr/>
          <p:nvPr/>
        </p:nvSpPr>
        <p:spPr>
          <a:xfrm>
            <a:off x="167640" y="1572768"/>
            <a:ext cx="9570720" cy="4772299"/>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DC81EE9-FE25-DEA2-3BE6-5D4BC6729956}"/>
              </a:ext>
            </a:extLst>
          </p:cNvPr>
          <p:cNvSpPr/>
          <p:nvPr/>
        </p:nvSpPr>
        <p:spPr>
          <a:xfrm>
            <a:off x="4940121" y="59287"/>
            <a:ext cx="2597727" cy="41563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業種別にカスタマイズ</a:t>
            </a:r>
          </a:p>
        </p:txBody>
      </p:sp>
    </p:spTree>
    <p:extLst>
      <p:ext uri="{BB962C8B-B14F-4D97-AF65-F5344CB8AC3E}">
        <p14:creationId xmlns:p14="http://schemas.microsoft.com/office/powerpoint/2010/main" val="901063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CD327D4-877A-97BF-5A3D-BA2BFF89C5D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具体施策（友だち追加～休眠等の長期施策）</a:t>
            </a:r>
          </a:p>
        </p:txBody>
      </p:sp>
      <p:sp>
        <p:nvSpPr>
          <p:cNvPr id="2" name="Google Shape;752;p28">
            <a:extLst>
              <a:ext uri="{FF2B5EF4-FFF2-40B4-BE49-F238E27FC236}">
                <a16:creationId xmlns:a16="http://schemas.microsoft.com/office/drawing/2014/main" id="{344F9C81-17B8-CD75-7943-C74785EA9326}"/>
              </a:ext>
            </a:extLst>
          </p:cNvPr>
          <p:cNvSpPr txBox="1"/>
          <p:nvPr/>
        </p:nvSpPr>
        <p:spPr>
          <a:xfrm>
            <a:off x="309397" y="655107"/>
            <a:ext cx="9330992" cy="584735"/>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想定：検索ボリューム推移などの情報からスケジューリング。運用実績案件ベースで</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　　 「〇〇の日」「検討アクションが活発化する期間」「</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CVR</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が高い期間」を抽出し企画作成。</a:t>
            </a:r>
          </a:p>
        </p:txBody>
      </p:sp>
      <p:sp>
        <p:nvSpPr>
          <p:cNvPr id="3" name="Shape 2">
            <a:extLst>
              <a:ext uri="{FF2B5EF4-FFF2-40B4-BE49-F238E27FC236}">
                <a16:creationId xmlns:a16="http://schemas.microsoft.com/office/drawing/2014/main" id="{C60A8489-6BE4-3B93-2131-E11F42129098}"/>
              </a:ext>
            </a:extLst>
          </p:cNvPr>
          <p:cNvSpPr/>
          <p:nvPr/>
        </p:nvSpPr>
        <p:spPr>
          <a:xfrm>
            <a:off x="683623" y="2438404"/>
            <a:ext cx="4206240" cy="1920240"/>
          </a:xfrm>
          <a:prstGeom prst="roundRect">
            <a:avLst>
              <a:gd name="adj" fmla="val 5714"/>
            </a:avLst>
          </a:prstGeom>
          <a:solidFill>
            <a:srgbClr val="FFFFFF"/>
          </a:solidFill>
          <a:ln w="12700">
            <a:solidFill>
              <a:srgbClr val="4A90D9"/>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 name="Shape 3">
            <a:extLst>
              <a:ext uri="{FF2B5EF4-FFF2-40B4-BE49-F238E27FC236}">
                <a16:creationId xmlns:a16="http://schemas.microsoft.com/office/drawing/2014/main" id="{D946CD2D-A79C-A7B7-15A1-A1837415507A}"/>
              </a:ext>
            </a:extLst>
          </p:cNvPr>
          <p:cNvSpPr/>
          <p:nvPr/>
        </p:nvSpPr>
        <p:spPr>
          <a:xfrm>
            <a:off x="793351" y="2529844"/>
            <a:ext cx="658368" cy="292608"/>
          </a:xfrm>
          <a:prstGeom prst="roundRect">
            <a:avLst>
              <a:gd name="adj" fmla="val 18750"/>
            </a:avLst>
          </a:prstGeom>
          <a:solidFill>
            <a:srgbClr val="4A90D9"/>
          </a:solidFill>
          <a:ln w="12700">
            <a:solidFill>
              <a:srgbClr val="4A90D9"/>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 name="Text 4">
            <a:extLst>
              <a:ext uri="{FF2B5EF4-FFF2-40B4-BE49-F238E27FC236}">
                <a16:creationId xmlns:a16="http://schemas.microsoft.com/office/drawing/2014/main" id="{AB03F4F1-34EC-318B-44DB-813F9A260ADC}"/>
              </a:ext>
            </a:extLst>
          </p:cNvPr>
          <p:cNvSpPr/>
          <p:nvPr/>
        </p:nvSpPr>
        <p:spPr>
          <a:xfrm>
            <a:off x="793351" y="25298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1-3月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 name="Shape 5">
            <a:extLst>
              <a:ext uri="{FF2B5EF4-FFF2-40B4-BE49-F238E27FC236}">
                <a16:creationId xmlns:a16="http://schemas.microsoft.com/office/drawing/2014/main" id="{C1B56B7E-2C3F-30E8-B262-184104348BC9}"/>
              </a:ext>
            </a:extLst>
          </p:cNvPr>
          <p:cNvSpPr/>
          <p:nvPr/>
        </p:nvSpPr>
        <p:spPr>
          <a:xfrm>
            <a:off x="1506583" y="25481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 name="Text 6">
            <a:extLst>
              <a:ext uri="{FF2B5EF4-FFF2-40B4-BE49-F238E27FC236}">
                <a16:creationId xmlns:a16="http://schemas.microsoft.com/office/drawing/2014/main" id="{A84711DF-BA77-8F0A-2104-C18090ED3CC4}"/>
              </a:ext>
            </a:extLst>
          </p:cNvPr>
          <p:cNvSpPr/>
          <p:nvPr/>
        </p:nvSpPr>
        <p:spPr>
          <a:xfrm>
            <a:off x="1506583" y="25481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年度末・新年度</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 name="Text 7">
            <a:extLst>
              <a:ext uri="{FF2B5EF4-FFF2-40B4-BE49-F238E27FC236}">
                <a16:creationId xmlns:a16="http://schemas.microsoft.com/office/drawing/2014/main" id="{F76CECB1-59BF-1E7A-094C-226743CD5D1F}"/>
              </a:ext>
            </a:extLst>
          </p:cNvPr>
          <p:cNvSpPr/>
          <p:nvPr/>
        </p:nvSpPr>
        <p:spPr>
          <a:xfrm>
            <a:off x="793351" y="28956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「新年度スタート応援キャンペーン」</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 name="Text 8">
            <a:extLst>
              <a:ext uri="{FF2B5EF4-FFF2-40B4-BE49-F238E27FC236}">
                <a16:creationId xmlns:a16="http://schemas.microsoft.com/office/drawing/2014/main" id="{E9330544-7DE3-4156-FDB0-0068C25C7D92}"/>
              </a:ext>
            </a:extLst>
          </p:cNvPr>
          <p:cNvSpPr/>
          <p:nvPr/>
        </p:nvSpPr>
        <p:spPr>
          <a:xfrm>
            <a:off x="793351" y="32156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1〜3月は「新しく始めたい」需要が高まる時期。</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年度替わり・新生活の準備で検討が加速する。</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施策：期間限定オファーをLINEで先行案内。「残り〇枠」を配信。</a:t>
            </a:r>
          </a:p>
        </p:txBody>
      </p:sp>
      <p:sp>
        <p:nvSpPr>
          <p:cNvPr id="11" name="Shape 9">
            <a:extLst>
              <a:ext uri="{FF2B5EF4-FFF2-40B4-BE49-F238E27FC236}">
                <a16:creationId xmlns:a16="http://schemas.microsoft.com/office/drawing/2014/main" id="{6C89C044-CC81-F526-4C28-8C8818A84AC8}"/>
              </a:ext>
            </a:extLst>
          </p:cNvPr>
          <p:cNvSpPr/>
          <p:nvPr/>
        </p:nvSpPr>
        <p:spPr>
          <a:xfrm>
            <a:off x="793351" y="40111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 name="Text 10">
            <a:extLst>
              <a:ext uri="{FF2B5EF4-FFF2-40B4-BE49-F238E27FC236}">
                <a16:creationId xmlns:a16="http://schemas.microsoft.com/office/drawing/2014/main" id="{EBB9FD63-B2E1-8ED6-289B-17E75D53D0CF}"/>
              </a:ext>
            </a:extLst>
          </p:cNvPr>
          <p:cNvSpPr/>
          <p:nvPr/>
        </p:nvSpPr>
        <p:spPr>
          <a:xfrm>
            <a:off x="793351" y="40111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KPI目標：LINE経由の申込率 +30% 目標</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13" name="Shape 11">
            <a:extLst>
              <a:ext uri="{FF2B5EF4-FFF2-40B4-BE49-F238E27FC236}">
                <a16:creationId xmlns:a16="http://schemas.microsoft.com/office/drawing/2014/main" id="{718FE43C-F46C-BAA4-F102-48BC91B9077E}"/>
              </a:ext>
            </a:extLst>
          </p:cNvPr>
          <p:cNvSpPr/>
          <p:nvPr/>
        </p:nvSpPr>
        <p:spPr>
          <a:xfrm>
            <a:off x="5118463" y="2438404"/>
            <a:ext cx="4206240" cy="1920240"/>
          </a:xfrm>
          <a:prstGeom prst="roundRect">
            <a:avLst>
              <a:gd name="adj" fmla="val 5714"/>
            </a:avLst>
          </a:prstGeom>
          <a:solidFill>
            <a:srgbClr val="FFFFFF"/>
          </a:solidFill>
          <a:ln w="12700">
            <a:solidFill>
              <a:schemeClr val="accent1">
                <a:lumMod val="60000"/>
                <a:lumOff val="40000"/>
              </a:schemeClr>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 name="Shape 12">
            <a:extLst>
              <a:ext uri="{FF2B5EF4-FFF2-40B4-BE49-F238E27FC236}">
                <a16:creationId xmlns:a16="http://schemas.microsoft.com/office/drawing/2014/main" id="{BCFAF28F-3A41-62B7-ED14-2C88314DE693}"/>
              </a:ext>
            </a:extLst>
          </p:cNvPr>
          <p:cNvSpPr/>
          <p:nvPr/>
        </p:nvSpPr>
        <p:spPr>
          <a:xfrm>
            <a:off x="5228191" y="2529844"/>
            <a:ext cx="658368" cy="292608"/>
          </a:xfrm>
          <a:prstGeom prst="roundRect">
            <a:avLst>
              <a:gd name="adj" fmla="val 18750"/>
            </a:avLst>
          </a:prstGeom>
          <a:solidFill>
            <a:schemeClr val="accent1">
              <a:lumMod val="40000"/>
              <a:lumOff val="6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 name="Text 13">
            <a:extLst>
              <a:ext uri="{FF2B5EF4-FFF2-40B4-BE49-F238E27FC236}">
                <a16:creationId xmlns:a16="http://schemas.microsoft.com/office/drawing/2014/main" id="{5636307B-10AB-ADC3-1727-AB8FC5831143}"/>
              </a:ext>
            </a:extLst>
          </p:cNvPr>
          <p:cNvSpPr/>
          <p:nvPr/>
        </p:nvSpPr>
        <p:spPr>
          <a:xfrm>
            <a:off x="5228191" y="25298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4-5月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 name="Shape 14">
            <a:extLst>
              <a:ext uri="{FF2B5EF4-FFF2-40B4-BE49-F238E27FC236}">
                <a16:creationId xmlns:a16="http://schemas.microsoft.com/office/drawing/2014/main" id="{4D4B9A45-FCB5-6DB2-B02F-57FFE5D56691}"/>
              </a:ext>
            </a:extLst>
          </p:cNvPr>
          <p:cNvSpPr/>
          <p:nvPr/>
        </p:nvSpPr>
        <p:spPr>
          <a:xfrm>
            <a:off x="5941423" y="25481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 name="Text 15">
            <a:extLst>
              <a:ext uri="{FF2B5EF4-FFF2-40B4-BE49-F238E27FC236}">
                <a16:creationId xmlns:a16="http://schemas.microsoft.com/office/drawing/2014/main" id="{5AB9A477-5190-5925-BA00-7C28E41E2AE9}"/>
              </a:ext>
            </a:extLst>
          </p:cNvPr>
          <p:cNvSpPr/>
          <p:nvPr/>
        </p:nvSpPr>
        <p:spPr>
          <a:xfrm>
            <a:off x="5941423" y="25481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GW前後</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 name="Text 16">
            <a:extLst>
              <a:ext uri="{FF2B5EF4-FFF2-40B4-BE49-F238E27FC236}">
                <a16:creationId xmlns:a16="http://schemas.microsoft.com/office/drawing/2014/main" id="{F0DF4241-0F34-404F-9C8A-0C5C0B3F7B0B}"/>
              </a:ext>
            </a:extLst>
          </p:cNvPr>
          <p:cNvSpPr/>
          <p:nvPr/>
        </p:nvSpPr>
        <p:spPr>
          <a:xfrm>
            <a:off x="5228191" y="28956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「連休中にじっくり比較・検討」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 name="Text 17">
            <a:extLst>
              <a:ext uri="{FF2B5EF4-FFF2-40B4-BE49-F238E27FC236}">
                <a16:creationId xmlns:a16="http://schemas.microsoft.com/office/drawing/2014/main" id="{2F5CBA0E-C68D-2D85-8F64-5D9ED46DE52D}"/>
              </a:ext>
            </a:extLst>
          </p:cNvPr>
          <p:cNvSpPr/>
          <p:nvPr/>
        </p:nvSpPr>
        <p:spPr>
          <a:xfrm>
            <a:off x="5228191" y="32156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大型連休は情報収集と比較に時間を割ける期間。</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検討ハードルが下がり、意思決定が進みやすい。</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施策：連休前に「失敗しない選び方ガイド」PDF特典を配信。</a:t>
            </a:r>
          </a:p>
        </p:txBody>
      </p:sp>
      <p:sp>
        <p:nvSpPr>
          <p:cNvPr id="20" name="Shape 18">
            <a:extLst>
              <a:ext uri="{FF2B5EF4-FFF2-40B4-BE49-F238E27FC236}">
                <a16:creationId xmlns:a16="http://schemas.microsoft.com/office/drawing/2014/main" id="{7EF6A367-39C2-356A-9B47-3D3671D8D918}"/>
              </a:ext>
            </a:extLst>
          </p:cNvPr>
          <p:cNvSpPr/>
          <p:nvPr/>
        </p:nvSpPr>
        <p:spPr>
          <a:xfrm>
            <a:off x="5228191" y="40111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Text 19">
            <a:extLst>
              <a:ext uri="{FF2B5EF4-FFF2-40B4-BE49-F238E27FC236}">
                <a16:creationId xmlns:a16="http://schemas.microsoft.com/office/drawing/2014/main" id="{5E166AEE-8473-61AD-BC51-7204C60ECFE2}"/>
              </a:ext>
            </a:extLst>
          </p:cNvPr>
          <p:cNvSpPr/>
          <p:nvPr/>
        </p:nvSpPr>
        <p:spPr>
          <a:xfrm>
            <a:off x="5228191" y="40111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KPI目標：LINE登録数 ピーク月比 +20%</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22" name="Shape 20">
            <a:extLst>
              <a:ext uri="{FF2B5EF4-FFF2-40B4-BE49-F238E27FC236}">
                <a16:creationId xmlns:a16="http://schemas.microsoft.com/office/drawing/2014/main" id="{487B2061-6B88-0A18-0E57-12185B834CCF}"/>
              </a:ext>
            </a:extLst>
          </p:cNvPr>
          <p:cNvSpPr/>
          <p:nvPr/>
        </p:nvSpPr>
        <p:spPr>
          <a:xfrm>
            <a:off x="683623" y="4495804"/>
            <a:ext cx="4206240" cy="1920240"/>
          </a:xfrm>
          <a:prstGeom prst="roundRect">
            <a:avLst>
              <a:gd name="adj" fmla="val 5714"/>
            </a:avLst>
          </a:prstGeom>
          <a:solidFill>
            <a:srgbClr val="FFFFFF"/>
          </a:solidFill>
          <a:ln w="12700">
            <a:solidFill>
              <a:schemeClr val="accent1"/>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 name="Shape 21">
            <a:extLst>
              <a:ext uri="{FF2B5EF4-FFF2-40B4-BE49-F238E27FC236}">
                <a16:creationId xmlns:a16="http://schemas.microsoft.com/office/drawing/2014/main" id="{D80051DD-55DD-DDC4-1C20-FA43FB837AEB}"/>
              </a:ext>
            </a:extLst>
          </p:cNvPr>
          <p:cNvSpPr/>
          <p:nvPr/>
        </p:nvSpPr>
        <p:spPr>
          <a:xfrm>
            <a:off x="793351" y="4587244"/>
            <a:ext cx="658368" cy="292608"/>
          </a:xfrm>
          <a:prstGeom prst="roundRect">
            <a:avLst>
              <a:gd name="adj" fmla="val 18750"/>
            </a:avLst>
          </a:prstGeom>
          <a:solidFill>
            <a:schemeClr val="accent1"/>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 name="Text 22">
            <a:extLst>
              <a:ext uri="{FF2B5EF4-FFF2-40B4-BE49-F238E27FC236}">
                <a16:creationId xmlns:a16="http://schemas.microsoft.com/office/drawing/2014/main" id="{166D040C-5E3C-D384-1752-F340D729E508}"/>
              </a:ext>
            </a:extLst>
          </p:cNvPr>
          <p:cNvSpPr/>
          <p:nvPr/>
        </p:nvSpPr>
        <p:spPr>
          <a:xfrm>
            <a:off x="793351" y="45872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9-10月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 name="Shape 23">
            <a:extLst>
              <a:ext uri="{FF2B5EF4-FFF2-40B4-BE49-F238E27FC236}">
                <a16:creationId xmlns:a16="http://schemas.microsoft.com/office/drawing/2014/main" id="{E1D75AA6-DC2D-C974-1F8F-EA3764B5E2B1}"/>
              </a:ext>
            </a:extLst>
          </p:cNvPr>
          <p:cNvSpPr/>
          <p:nvPr/>
        </p:nvSpPr>
        <p:spPr>
          <a:xfrm>
            <a:off x="1506583" y="46055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 name="Text 24">
            <a:extLst>
              <a:ext uri="{FF2B5EF4-FFF2-40B4-BE49-F238E27FC236}">
                <a16:creationId xmlns:a16="http://schemas.microsoft.com/office/drawing/2014/main" id="{2C81E4D3-7404-C45A-3360-2888B2C16CEC}"/>
              </a:ext>
            </a:extLst>
          </p:cNvPr>
          <p:cNvSpPr/>
          <p:nvPr/>
        </p:nvSpPr>
        <p:spPr>
          <a:xfrm>
            <a:off x="1506583" y="46055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下半期スタート</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 name="Text 25">
            <a:extLst>
              <a:ext uri="{FF2B5EF4-FFF2-40B4-BE49-F238E27FC236}">
                <a16:creationId xmlns:a16="http://schemas.microsoft.com/office/drawing/2014/main" id="{D74753E2-5389-A4C0-99DF-F1EBD9F21486}"/>
              </a:ext>
            </a:extLst>
          </p:cNvPr>
          <p:cNvSpPr/>
          <p:nvPr/>
        </p:nvSpPr>
        <p:spPr>
          <a:xfrm>
            <a:off x="793351" y="49530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「下半期スタートダッシュ企画」</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 name="Text 26">
            <a:extLst>
              <a:ext uri="{FF2B5EF4-FFF2-40B4-BE49-F238E27FC236}">
                <a16:creationId xmlns:a16="http://schemas.microsoft.com/office/drawing/2014/main" id="{15421AF9-EA34-4D6D-A17B-353040384108}"/>
              </a:ext>
            </a:extLst>
          </p:cNvPr>
          <p:cNvSpPr/>
          <p:nvPr/>
        </p:nvSpPr>
        <p:spPr>
          <a:xfrm>
            <a:off x="793351" y="52730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9月は下期の予算・計画が動き出す時期。</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先送りしていた検討が再始動しやすくなる。</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施策：「秋限定・〇〇の先行案内」をLINEで先出し。希少性で登録を促進。</a:t>
            </a:r>
          </a:p>
        </p:txBody>
      </p:sp>
      <p:sp>
        <p:nvSpPr>
          <p:cNvPr id="29" name="Shape 27">
            <a:extLst>
              <a:ext uri="{FF2B5EF4-FFF2-40B4-BE49-F238E27FC236}">
                <a16:creationId xmlns:a16="http://schemas.microsoft.com/office/drawing/2014/main" id="{5BE67E13-AD4F-4228-9F1A-8B4E0CCBEBBE}"/>
              </a:ext>
            </a:extLst>
          </p:cNvPr>
          <p:cNvSpPr/>
          <p:nvPr/>
        </p:nvSpPr>
        <p:spPr>
          <a:xfrm>
            <a:off x="793351" y="60685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0" name="Text 28">
            <a:extLst>
              <a:ext uri="{FF2B5EF4-FFF2-40B4-BE49-F238E27FC236}">
                <a16:creationId xmlns:a16="http://schemas.microsoft.com/office/drawing/2014/main" id="{9E653D90-A148-4540-DAAB-BDE1AE7D11F9}"/>
              </a:ext>
            </a:extLst>
          </p:cNvPr>
          <p:cNvSpPr/>
          <p:nvPr/>
        </p:nvSpPr>
        <p:spPr>
          <a:xfrm>
            <a:off x="793351" y="60685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KPI目標：先行案内経由の成約率 計測開始</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31" name="Shape 29">
            <a:extLst>
              <a:ext uri="{FF2B5EF4-FFF2-40B4-BE49-F238E27FC236}">
                <a16:creationId xmlns:a16="http://schemas.microsoft.com/office/drawing/2014/main" id="{9A903725-E0FA-B7ED-BE7F-3E870C011999}"/>
              </a:ext>
            </a:extLst>
          </p:cNvPr>
          <p:cNvSpPr/>
          <p:nvPr/>
        </p:nvSpPr>
        <p:spPr>
          <a:xfrm>
            <a:off x="5118463" y="4495804"/>
            <a:ext cx="4206240" cy="1920240"/>
          </a:xfrm>
          <a:prstGeom prst="roundRect">
            <a:avLst>
              <a:gd name="adj" fmla="val 5714"/>
            </a:avLst>
          </a:prstGeom>
          <a:solidFill>
            <a:srgbClr val="FFFFFF"/>
          </a:solidFill>
          <a:ln w="12700">
            <a:solidFill>
              <a:schemeClr val="tx2">
                <a:lumMod val="50000"/>
              </a:schemeClr>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 name="Shape 30">
            <a:extLst>
              <a:ext uri="{FF2B5EF4-FFF2-40B4-BE49-F238E27FC236}">
                <a16:creationId xmlns:a16="http://schemas.microsoft.com/office/drawing/2014/main" id="{E560804C-2AD2-34CF-80F2-47723D89B9EE}"/>
              </a:ext>
            </a:extLst>
          </p:cNvPr>
          <p:cNvSpPr/>
          <p:nvPr/>
        </p:nvSpPr>
        <p:spPr>
          <a:xfrm>
            <a:off x="5228191" y="4587244"/>
            <a:ext cx="658368" cy="292608"/>
          </a:xfrm>
          <a:prstGeom prst="roundRect">
            <a:avLst>
              <a:gd name="adj" fmla="val 18750"/>
            </a:avLst>
          </a:prstGeom>
          <a:solidFill>
            <a:schemeClr val="tx2">
              <a:lumMod val="5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 name="Text 31">
            <a:extLst>
              <a:ext uri="{FF2B5EF4-FFF2-40B4-BE49-F238E27FC236}">
                <a16:creationId xmlns:a16="http://schemas.microsoft.com/office/drawing/2014/main" id="{0D3AA494-1CCC-455B-FD0B-69A03482B0B2}"/>
              </a:ext>
            </a:extLst>
          </p:cNvPr>
          <p:cNvSpPr/>
          <p:nvPr/>
        </p:nvSpPr>
        <p:spPr>
          <a:xfrm>
            <a:off x="5228191" y="45872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12月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 name="Shape 32">
            <a:extLst>
              <a:ext uri="{FF2B5EF4-FFF2-40B4-BE49-F238E27FC236}">
                <a16:creationId xmlns:a16="http://schemas.microsoft.com/office/drawing/2014/main" id="{7CE7A172-10BE-1E65-8E12-21F725E375E4}"/>
              </a:ext>
            </a:extLst>
          </p:cNvPr>
          <p:cNvSpPr/>
          <p:nvPr/>
        </p:nvSpPr>
        <p:spPr>
          <a:xfrm>
            <a:off x="5941423" y="46055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 name="Text 33">
            <a:extLst>
              <a:ext uri="{FF2B5EF4-FFF2-40B4-BE49-F238E27FC236}">
                <a16:creationId xmlns:a16="http://schemas.microsoft.com/office/drawing/2014/main" id="{6FF1A96D-D52E-0E30-532A-ECE831BE9605}"/>
              </a:ext>
            </a:extLst>
          </p:cNvPr>
          <p:cNvSpPr/>
          <p:nvPr/>
        </p:nvSpPr>
        <p:spPr>
          <a:xfrm>
            <a:off x="5941423" y="46055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年末</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 name="Text 34">
            <a:extLst>
              <a:ext uri="{FF2B5EF4-FFF2-40B4-BE49-F238E27FC236}">
                <a16:creationId xmlns:a16="http://schemas.microsoft.com/office/drawing/2014/main" id="{6B191EBD-ED99-BB14-8C62-5B0BA0590745}"/>
              </a:ext>
            </a:extLst>
          </p:cNvPr>
          <p:cNvSpPr/>
          <p:nvPr/>
        </p:nvSpPr>
        <p:spPr>
          <a:xfrm>
            <a:off x="5228191" y="49530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「来年こそ、と考えている方へ」</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 name="Text 35">
            <a:extLst>
              <a:ext uri="{FF2B5EF4-FFF2-40B4-BE49-F238E27FC236}">
                <a16:creationId xmlns:a16="http://schemas.microsoft.com/office/drawing/2014/main" id="{13B90534-5D2F-7E51-02AE-C33CF568ED2E}"/>
              </a:ext>
            </a:extLst>
          </p:cNvPr>
          <p:cNvSpPr/>
          <p:nvPr/>
        </p:nvSpPr>
        <p:spPr>
          <a:xfrm>
            <a:off x="5228191" y="52730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年末は「来年こそ」という決意が高まるタイミング。</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競合の出稿が減り広告効率が良い穴場期間。</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施策：「来年の〇〇トレンド予測」を先行配布。年明けの商談を先に確保。</a:t>
            </a:r>
          </a:p>
        </p:txBody>
      </p:sp>
      <p:sp>
        <p:nvSpPr>
          <p:cNvPr id="38" name="Shape 36">
            <a:extLst>
              <a:ext uri="{FF2B5EF4-FFF2-40B4-BE49-F238E27FC236}">
                <a16:creationId xmlns:a16="http://schemas.microsoft.com/office/drawing/2014/main" id="{985D5473-A6B2-6E6C-69A6-536638C669C1}"/>
              </a:ext>
            </a:extLst>
          </p:cNvPr>
          <p:cNvSpPr/>
          <p:nvPr/>
        </p:nvSpPr>
        <p:spPr>
          <a:xfrm>
            <a:off x="5228191" y="60685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 name="Text 37">
            <a:extLst>
              <a:ext uri="{FF2B5EF4-FFF2-40B4-BE49-F238E27FC236}">
                <a16:creationId xmlns:a16="http://schemas.microsoft.com/office/drawing/2014/main" id="{665AB6CB-040B-F5AE-5EDC-FD4A6C6C841A}"/>
              </a:ext>
            </a:extLst>
          </p:cNvPr>
          <p:cNvSpPr/>
          <p:nvPr/>
        </p:nvSpPr>
        <p:spPr>
          <a:xfrm>
            <a:off x="5228191" y="60685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KPI目標：1月の商談・来店予約の先行獲得率</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42" name="Shape 2">
            <a:extLst>
              <a:ext uri="{FF2B5EF4-FFF2-40B4-BE49-F238E27FC236}">
                <a16:creationId xmlns:a16="http://schemas.microsoft.com/office/drawing/2014/main" id="{22BE1ADA-BF01-A520-0D77-972E7821FCE2}"/>
              </a:ext>
            </a:extLst>
          </p:cNvPr>
          <p:cNvSpPr/>
          <p:nvPr/>
        </p:nvSpPr>
        <p:spPr>
          <a:xfrm>
            <a:off x="683623" y="1900213"/>
            <a:ext cx="8646160" cy="457200"/>
          </a:xfrm>
          <a:prstGeom prst="roundRect">
            <a:avLst>
              <a:gd name="adj" fmla="val 16000"/>
            </a:avLst>
          </a:prstGeom>
          <a:solidFill>
            <a:srgbClr val="F4F7FF"/>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Text 3">
            <a:extLst>
              <a:ext uri="{FF2B5EF4-FFF2-40B4-BE49-F238E27FC236}">
                <a16:creationId xmlns:a16="http://schemas.microsoft.com/office/drawing/2014/main" id="{F90B8BB4-8425-50C4-639B-16BEF90627DF}"/>
              </a:ext>
            </a:extLst>
          </p:cNvPr>
          <p:cNvSpPr/>
          <p:nvPr/>
        </p:nvSpPr>
        <p:spPr>
          <a:xfrm>
            <a:off x="866503" y="1900213"/>
            <a:ext cx="8458200" cy="457200"/>
          </a:xfrm>
          <a:prstGeom prst="rect">
            <a:avLst/>
          </a:prstGeom>
          <a:noFill/>
          <a:ln/>
        </p:spPr>
        <p:txBody>
          <a:bodyPr wrap="square" rtlCol="0" anchor="ctr"/>
          <a:lstStyle/>
          <a:p>
            <a:pPr marL="0" indent="0">
              <a:buNone/>
            </a:pPr>
            <a:r>
              <a:rPr lang="ja-JP" altLang="en-US" sz="1100" b="1" dirty="0">
                <a:solidFill>
                  <a:srgbClr val="1E2761"/>
                </a:solidFill>
                <a:latin typeface="メイリオ" panose="020B0604030504040204" pitchFamily="50" charset="-128"/>
                <a:ea typeface="メイリオ" panose="020B0604030504040204" pitchFamily="50" charset="-128"/>
                <a:cs typeface="Calibri" pitchFamily="34" charset="-120"/>
              </a:rPr>
              <a:t>よくある</a:t>
            </a:r>
            <a:r>
              <a:rPr lang="en-US" sz="1100" b="1" dirty="0" err="1">
                <a:solidFill>
                  <a:srgbClr val="1E2761"/>
                </a:solidFill>
                <a:latin typeface="メイリオ" panose="020B0604030504040204" pitchFamily="50" charset="-128"/>
                <a:ea typeface="メイリオ" panose="020B0604030504040204" pitchFamily="50" charset="-128"/>
                <a:cs typeface="Calibri" pitchFamily="34" charset="-120"/>
              </a:rPr>
              <a:t>目的</a:t>
            </a:r>
            <a:r>
              <a:rPr lang="ja-JP" altLang="en-US" sz="1100" b="1" dirty="0">
                <a:solidFill>
                  <a:srgbClr val="1E2761"/>
                </a:solidFill>
                <a:latin typeface="メイリオ" panose="020B0604030504040204" pitchFamily="50" charset="-128"/>
                <a:ea typeface="メイリオ" panose="020B0604030504040204" pitchFamily="50" charset="-128"/>
                <a:cs typeface="Calibri" pitchFamily="34" charset="-120"/>
              </a:rPr>
              <a:t>・季節・年齢などのデータから、各ユーザー層に反応率の高い投稿クリエイティブを、企画～設計～運用。</a:t>
            </a:r>
            <a:endParaRPr lang="en-US" sz="1100" dirty="0">
              <a:latin typeface="メイリオ" panose="020B0604030504040204" pitchFamily="50" charset="-128"/>
              <a:ea typeface="メイリオ" panose="020B0604030504040204" pitchFamily="50" charset="-128"/>
            </a:endParaRPr>
          </a:p>
        </p:txBody>
      </p:sp>
      <p:sp>
        <p:nvSpPr>
          <p:cNvPr id="47" name="正方形/長方形 46">
            <a:extLst>
              <a:ext uri="{FF2B5EF4-FFF2-40B4-BE49-F238E27FC236}">
                <a16:creationId xmlns:a16="http://schemas.microsoft.com/office/drawing/2014/main" id="{8517C2D8-2B96-60F6-B4C8-41F2D3663705}"/>
              </a:ext>
            </a:extLst>
          </p:cNvPr>
          <p:cNvSpPr/>
          <p:nvPr/>
        </p:nvSpPr>
        <p:spPr>
          <a:xfrm>
            <a:off x="139337" y="1733006"/>
            <a:ext cx="9570720" cy="4772299"/>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正方形/長方形 43">
            <a:extLst>
              <a:ext uri="{FF2B5EF4-FFF2-40B4-BE49-F238E27FC236}">
                <a16:creationId xmlns:a16="http://schemas.microsoft.com/office/drawing/2014/main" id="{F12EE9E2-9122-74C3-0A3B-F81EEC972BBE}"/>
              </a:ext>
            </a:extLst>
          </p:cNvPr>
          <p:cNvSpPr/>
          <p:nvPr/>
        </p:nvSpPr>
        <p:spPr>
          <a:xfrm>
            <a:off x="4940121" y="59287"/>
            <a:ext cx="2597727" cy="41563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業種別にカスタマイズ</a:t>
            </a:r>
          </a:p>
        </p:txBody>
      </p:sp>
    </p:spTree>
    <p:extLst>
      <p:ext uri="{BB962C8B-B14F-4D97-AF65-F5344CB8AC3E}">
        <p14:creationId xmlns:p14="http://schemas.microsoft.com/office/powerpoint/2010/main" val="21853059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B77D6B5-FA2F-ED51-FB47-E8DC14B8ADE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具体施策（友だち追加～休眠等の長期施策）</a:t>
            </a:r>
          </a:p>
        </p:txBody>
      </p:sp>
      <p:sp>
        <p:nvSpPr>
          <p:cNvPr id="2" name="Google Shape;752;p28">
            <a:extLst>
              <a:ext uri="{FF2B5EF4-FFF2-40B4-BE49-F238E27FC236}">
                <a16:creationId xmlns:a16="http://schemas.microsoft.com/office/drawing/2014/main" id="{A8DDF192-E20B-6A12-DAA4-2904850388D2}"/>
              </a:ext>
            </a:extLst>
          </p:cNvPr>
          <p:cNvSpPr txBox="1"/>
          <p:nvPr/>
        </p:nvSpPr>
        <p:spPr>
          <a:xfrm>
            <a:off x="309397" y="655107"/>
            <a:ext cx="9330992" cy="584735"/>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友だち追加からすぐ</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しないユーザーに対しては、最適な</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MSG</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配信を実現するため、</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　　　心理ハードルの低い</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性格診断</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“経験談アンケート</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等を通じて追客施策の強弱を決定。</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80" name="Text 3">
            <a:extLst>
              <a:ext uri="{FF2B5EF4-FFF2-40B4-BE49-F238E27FC236}">
                <a16:creationId xmlns:a16="http://schemas.microsoft.com/office/drawing/2014/main" id="{2F1CF158-D3B8-740E-7BB9-7BA2711D5A86}"/>
              </a:ext>
            </a:extLst>
          </p:cNvPr>
          <p:cNvSpPr/>
          <p:nvPr/>
        </p:nvSpPr>
        <p:spPr>
          <a:xfrm>
            <a:off x="430467" y="2806337"/>
            <a:ext cx="3997841" cy="274320"/>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診断設問（4問・各5択）</a:t>
            </a:r>
            <a:endParaRPr kumimoji="0" lang="en-US" sz="12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1" name="Shape 4">
            <a:extLst>
              <a:ext uri="{FF2B5EF4-FFF2-40B4-BE49-F238E27FC236}">
                <a16:creationId xmlns:a16="http://schemas.microsoft.com/office/drawing/2014/main" id="{D0D52073-224A-0961-D46B-A0D0A35577C1}"/>
              </a:ext>
            </a:extLst>
          </p:cNvPr>
          <p:cNvSpPr/>
          <p:nvPr/>
        </p:nvSpPr>
        <p:spPr>
          <a:xfrm>
            <a:off x="404949" y="314466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5">
            <a:extLst>
              <a:ext uri="{FF2B5EF4-FFF2-40B4-BE49-F238E27FC236}">
                <a16:creationId xmlns:a16="http://schemas.microsoft.com/office/drawing/2014/main" id="{45D645B7-F48E-7853-EBC0-8E0C5EF81708}"/>
              </a:ext>
            </a:extLst>
          </p:cNvPr>
          <p:cNvSpPr/>
          <p:nvPr/>
        </p:nvSpPr>
        <p:spPr>
          <a:xfrm>
            <a:off x="559121" y="314466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Q1  「今のやり方で本当に良いか、迷うことはありますか？」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3" name="Shape 6">
            <a:extLst>
              <a:ext uri="{FF2B5EF4-FFF2-40B4-BE49-F238E27FC236}">
                <a16:creationId xmlns:a16="http://schemas.microsoft.com/office/drawing/2014/main" id="{6791C392-1A7B-7AE0-A33F-16F51A18C75D}"/>
              </a:ext>
            </a:extLst>
          </p:cNvPr>
          <p:cNvSpPr/>
          <p:nvPr/>
        </p:nvSpPr>
        <p:spPr>
          <a:xfrm>
            <a:off x="404949" y="351042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4" name="Text 7">
            <a:extLst>
              <a:ext uri="{FF2B5EF4-FFF2-40B4-BE49-F238E27FC236}">
                <a16:creationId xmlns:a16="http://schemas.microsoft.com/office/drawing/2014/main" id="{E67E7D97-92DF-6373-F0A3-CF953F46FBAE}"/>
              </a:ext>
            </a:extLst>
          </p:cNvPr>
          <p:cNvSpPr/>
          <p:nvPr/>
        </p:nvSpPr>
        <p:spPr>
          <a:xfrm>
            <a:off x="559121" y="351042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Q2  「調べてはみたものの、比較しきれず止まっていませんか？」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5" name="Shape 8">
            <a:extLst>
              <a:ext uri="{FF2B5EF4-FFF2-40B4-BE49-F238E27FC236}">
                <a16:creationId xmlns:a16="http://schemas.microsoft.com/office/drawing/2014/main" id="{1EEAB261-7048-6C4C-10D7-6CA60C396F31}"/>
              </a:ext>
            </a:extLst>
          </p:cNvPr>
          <p:cNvSpPr/>
          <p:nvPr/>
        </p:nvSpPr>
        <p:spPr>
          <a:xfrm>
            <a:off x="404949" y="387618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6" name="Text 9">
            <a:extLst>
              <a:ext uri="{FF2B5EF4-FFF2-40B4-BE49-F238E27FC236}">
                <a16:creationId xmlns:a16="http://schemas.microsoft.com/office/drawing/2014/main" id="{D0B754F8-CEA6-0F61-4B75-EC0D7AB0BBDC}"/>
              </a:ext>
            </a:extLst>
          </p:cNvPr>
          <p:cNvSpPr/>
          <p:nvPr/>
        </p:nvSpPr>
        <p:spPr>
          <a:xfrm>
            <a:off x="559121" y="387618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Q3  「1年後も今と同じ状態で良い、と言い切れますか？」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7" name="Shape 10">
            <a:extLst>
              <a:ext uri="{FF2B5EF4-FFF2-40B4-BE49-F238E27FC236}">
                <a16:creationId xmlns:a16="http://schemas.microsoft.com/office/drawing/2014/main" id="{FF427501-423E-6CDF-014B-ED232F961BFB}"/>
              </a:ext>
            </a:extLst>
          </p:cNvPr>
          <p:cNvSpPr/>
          <p:nvPr/>
        </p:nvSpPr>
        <p:spPr>
          <a:xfrm>
            <a:off x="404949" y="424194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Text 11">
            <a:extLst>
              <a:ext uri="{FF2B5EF4-FFF2-40B4-BE49-F238E27FC236}">
                <a16:creationId xmlns:a16="http://schemas.microsoft.com/office/drawing/2014/main" id="{DB910A08-DF58-32FA-2432-5C0AF3C83C53}"/>
              </a:ext>
            </a:extLst>
          </p:cNvPr>
          <p:cNvSpPr/>
          <p:nvPr/>
        </p:nvSpPr>
        <p:spPr>
          <a:xfrm>
            <a:off x="559121" y="424194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Q4  「費用や手間がネックで、踏み出せずにいますか？」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9" name="Text 12">
            <a:extLst>
              <a:ext uri="{FF2B5EF4-FFF2-40B4-BE49-F238E27FC236}">
                <a16:creationId xmlns:a16="http://schemas.microsoft.com/office/drawing/2014/main" id="{49C9DDEC-B91F-B9F3-D8EE-6DA3BF2758CE}"/>
              </a:ext>
            </a:extLst>
          </p:cNvPr>
          <p:cNvSpPr/>
          <p:nvPr/>
        </p:nvSpPr>
        <p:spPr>
          <a:xfrm>
            <a:off x="5177853" y="2810806"/>
            <a:ext cx="4297680" cy="274320"/>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診断結果 4パターン＋追客方針</a:t>
            </a:r>
            <a:endParaRPr kumimoji="0" lang="en-US" sz="12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0" name="Shape 13">
            <a:extLst>
              <a:ext uri="{FF2B5EF4-FFF2-40B4-BE49-F238E27FC236}">
                <a16:creationId xmlns:a16="http://schemas.microsoft.com/office/drawing/2014/main" id="{7D9279AB-DA4C-865E-1BFC-B99D3C6C3C3F}"/>
              </a:ext>
            </a:extLst>
          </p:cNvPr>
          <p:cNvSpPr/>
          <p:nvPr/>
        </p:nvSpPr>
        <p:spPr>
          <a:xfrm>
            <a:off x="5177853" y="31491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1" name="Shape 14">
            <a:extLst>
              <a:ext uri="{FF2B5EF4-FFF2-40B4-BE49-F238E27FC236}">
                <a16:creationId xmlns:a16="http://schemas.microsoft.com/office/drawing/2014/main" id="{FE25EE99-D7D8-85CF-09FC-6465111BFB2C}"/>
              </a:ext>
            </a:extLst>
          </p:cNvPr>
          <p:cNvSpPr/>
          <p:nvPr/>
        </p:nvSpPr>
        <p:spPr>
          <a:xfrm>
            <a:off x="5251005" y="3222286"/>
            <a:ext cx="1005840" cy="256032"/>
          </a:xfrm>
          <a:prstGeom prst="roundRect">
            <a:avLst>
              <a:gd name="adj" fmla="val 14286"/>
            </a:avLst>
          </a:prstGeom>
          <a:solidFill>
            <a:schemeClr val="tx2">
              <a:lumMod val="75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2" name="Text 15">
            <a:extLst>
              <a:ext uri="{FF2B5EF4-FFF2-40B4-BE49-F238E27FC236}">
                <a16:creationId xmlns:a16="http://schemas.microsoft.com/office/drawing/2014/main" id="{F2BB4149-C773-D448-ED22-0664FCDF9177}"/>
              </a:ext>
            </a:extLst>
          </p:cNvPr>
          <p:cNvSpPr/>
          <p:nvPr/>
        </p:nvSpPr>
        <p:spPr>
          <a:xfrm>
            <a:off x="5251005" y="32222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今すぐ検討型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3" name="Shape 16">
            <a:extLst>
              <a:ext uri="{FF2B5EF4-FFF2-40B4-BE49-F238E27FC236}">
                <a16:creationId xmlns:a16="http://schemas.microsoft.com/office/drawing/2014/main" id="{95E60EE8-0A0B-1609-55AE-E84B1C214243}"/>
              </a:ext>
            </a:extLst>
          </p:cNvPr>
          <p:cNvSpPr/>
          <p:nvPr/>
        </p:nvSpPr>
        <p:spPr>
          <a:xfrm>
            <a:off x="6320853" y="32405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4" name="Text 17">
            <a:extLst>
              <a:ext uri="{FF2B5EF4-FFF2-40B4-BE49-F238E27FC236}">
                <a16:creationId xmlns:a16="http://schemas.microsoft.com/office/drawing/2014/main" id="{72D5F163-FCBF-2136-41BC-77594BF1877E}"/>
              </a:ext>
            </a:extLst>
          </p:cNvPr>
          <p:cNvSpPr/>
          <p:nvPr/>
        </p:nvSpPr>
        <p:spPr>
          <a:xfrm>
            <a:off x="6320853" y="32405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高スコア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5" name="Text 18">
            <a:extLst>
              <a:ext uri="{FF2B5EF4-FFF2-40B4-BE49-F238E27FC236}">
                <a16:creationId xmlns:a16="http://schemas.microsoft.com/office/drawing/2014/main" id="{10AA3820-1E64-09EE-B24B-B91B9B0E3954}"/>
              </a:ext>
            </a:extLst>
          </p:cNvPr>
          <p:cNvSpPr/>
          <p:nvPr/>
        </p:nvSpPr>
        <p:spPr>
          <a:xfrm>
            <a:off x="7207821" y="32405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E05A5A"/>
                </a:solidFill>
                <a:effectLst/>
                <a:uLnTx/>
                <a:uFillTx/>
                <a:latin typeface="メイリオ" panose="020B0604030504040204" pitchFamily="50" charset="-128"/>
                <a:ea typeface="メイリオ" panose="020B0604030504040204" pitchFamily="50" charset="-128"/>
                <a:cs typeface="Calibri" pitchFamily="34" charset="-120"/>
              </a:rPr>
              <a:t>→ ホットリスト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6" name="Text 19">
            <a:extLst>
              <a:ext uri="{FF2B5EF4-FFF2-40B4-BE49-F238E27FC236}">
                <a16:creationId xmlns:a16="http://schemas.microsoft.com/office/drawing/2014/main" id="{3DDA72DF-D996-0751-2316-45B75A6606C6}"/>
              </a:ext>
            </a:extLst>
          </p:cNvPr>
          <p:cNvSpPr/>
          <p:nvPr/>
        </p:nvSpPr>
        <p:spPr>
          <a:xfrm>
            <a:off x="5251005" y="34966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個別相談を即座にオファー。限定枠・期限を明示したクロージングメッセージ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7" name="Shape 20">
            <a:extLst>
              <a:ext uri="{FF2B5EF4-FFF2-40B4-BE49-F238E27FC236}">
                <a16:creationId xmlns:a16="http://schemas.microsoft.com/office/drawing/2014/main" id="{011CB3D1-C7A5-7956-3BAA-69C2CB905B6A}"/>
              </a:ext>
            </a:extLst>
          </p:cNvPr>
          <p:cNvSpPr/>
          <p:nvPr/>
        </p:nvSpPr>
        <p:spPr>
          <a:xfrm>
            <a:off x="5177853" y="38349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8" name="Shape 21">
            <a:extLst>
              <a:ext uri="{FF2B5EF4-FFF2-40B4-BE49-F238E27FC236}">
                <a16:creationId xmlns:a16="http://schemas.microsoft.com/office/drawing/2014/main" id="{4C69AF05-15A8-3F8C-8F51-AD3439C14622}"/>
              </a:ext>
            </a:extLst>
          </p:cNvPr>
          <p:cNvSpPr/>
          <p:nvPr/>
        </p:nvSpPr>
        <p:spPr>
          <a:xfrm>
            <a:off x="5251005" y="3908086"/>
            <a:ext cx="1005840" cy="256032"/>
          </a:xfrm>
          <a:prstGeom prst="roundRect">
            <a:avLst>
              <a:gd name="adj" fmla="val 14286"/>
            </a:avLst>
          </a:prstGeom>
          <a:solidFill>
            <a:schemeClr val="tx2"/>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9" name="Text 22">
            <a:extLst>
              <a:ext uri="{FF2B5EF4-FFF2-40B4-BE49-F238E27FC236}">
                <a16:creationId xmlns:a16="http://schemas.microsoft.com/office/drawing/2014/main" id="{FF31A922-59CE-9653-E310-5F8646A1A6DD}"/>
              </a:ext>
            </a:extLst>
          </p:cNvPr>
          <p:cNvSpPr/>
          <p:nvPr/>
        </p:nvSpPr>
        <p:spPr>
          <a:xfrm>
            <a:off x="5251005" y="39080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慎重比較型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0" name="Shape 23">
            <a:extLst>
              <a:ext uri="{FF2B5EF4-FFF2-40B4-BE49-F238E27FC236}">
                <a16:creationId xmlns:a16="http://schemas.microsoft.com/office/drawing/2014/main" id="{BF532CBE-24FC-8551-A3EA-4F3D1688FA51}"/>
              </a:ext>
            </a:extLst>
          </p:cNvPr>
          <p:cNvSpPr/>
          <p:nvPr/>
        </p:nvSpPr>
        <p:spPr>
          <a:xfrm>
            <a:off x="6320853" y="39263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1" name="Text 24">
            <a:extLst>
              <a:ext uri="{FF2B5EF4-FFF2-40B4-BE49-F238E27FC236}">
                <a16:creationId xmlns:a16="http://schemas.microsoft.com/office/drawing/2014/main" id="{6B81A3BF-2D14-0A6E-58E2-41F6C95FFF9D}"/>
              </a:ext>
            </a:extLst>
          </p:cNvPr>
          <p:cNvSpPr/>
          <p:nvPr/>
        </p:nvSpPr>
        <p:spPr>
          <a:xfrm>
            <a:off x="6320853" y="39263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中高スコア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2" name="Text 25">
            <a:extLst>
              <a:ext uri="{FF2B5EF4-FFF2-40B4-BE49-F238E27FC236}">
                <a16:creationId xmlns:a16="http://schemas.microsoft.com/office/drawing/2014/main" id="{A7F23C91-1AC9-92C8-0444-0C2A7B7900FB}"/>
              </a:ext>
            </a:extLst>
          </p:cNvPr>
          <p:cNvSpPr/>
          <p:nvPr/>
        </p:nvSpPr>
        <p:spPr>
          <a:xfrm>
            <a:off x="7207821" y="39263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E8A838"/>
                </a:solidFill>
                <a:effectLst/>
                <a:uLnTx/>
                <a:uFillTx/>
                <a:latin typeface="メイリオ" panose="020B0604030504040204" pitchFamily="50" charset="-128"/>
                <a:ea typeface="メイリオ" panose="020B0604030504040204" pitchFamily="50" charset="-128"/>
                <a:cs typeface="Calibri" pitchFamily="34" charset="-120"/>
              </a:rPr>
              <a:t>→ ウォームリスト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3" name="Text 26">
            <a:extLst>
              <a:ext uri="{FF2B5EF4-FFF2-40B4-BE49-F238E27FC236}">
                <a16:creationId xmlns:a16="http://schemas.microsoft.com/office/drawing/2014/main" id="{4901DF11-6A92-B335-2D97-90FF2A2F3B7E}"/>
              </a:ext>
            </a:extLst>
          </p:cNvPr>
          <p:cNvSpPr/>
          <p:nvPr/>
        </p:nvSpPr>
        <p:spPr>
          <a:xfrm>
            <a:off x="5251005" y="41824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導入事例・他社比較データを週1配信。3〜4週間かけて温める</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Shape 27">
            <a:extLst>
              <a:ext uri="{FF2B5EF4-FFF2-40B4-BE49-F238E27FC236}">
                <a16:creationId xmlns:a16="http://schemas.microsoft.com/office/drawing/2014/main" id="{20D444BB-26DB-74C1-2095-C4CECE5DD870}"/>
              </a:ext>
            </a:extLst>
          </p:cNvPr>
          <p:cNvSpPr/>
          <p:nvPr/>
        </p:nvSpPr>
        <p:spPr>
          <a:xfrm>
            <a:off x="5177853" y="45207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5" name="Shape 28">
            <a:extLst>
              <a:ext uri="{FF2B5EF4-FFF2-40B4-BE49-F238E27FC236}">
                <a16:creationId xmlns:a16="http://schemas.microsoft.com/office/drawing/2014/main" id="{B7739C89-3CB4-FFD4-5878-8E37F4F17031}"/>
              </a:ext>
            </a:extLst>
          </p:cNvPr>
          <p:cNvSpPr/>
          <p:nvPr/>
        </p:nvSpPr>
        <p:spPr>
          <a:xfrm>
            <a:off x="5251005" y="4593886"/>
            <a:ext cx="1005840" cy="256032"/>
          </a:xfrm>
          <a:prstGeom prst="roundRect">
            <a:avLst>
              <a:gd name="adj" fmla="val 14286"/>
            </a:avLst>
          </a:prstGeom>
          <a:solidFill>
            <a:schemeClr val="tx2">
              <a:lumMod val="60000"/>
              <a:lumOff val="4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6" name="Text 29">
            <a:extLst>
              <a:ext uri="{FF2B5EF4-FFF2-40B4-BE49-F238E27FC236}">
                <a16:creationId xmlns:a16="http://schemas.microsoft.com/office/drawing/2014/main" id="{86C5CCD4-DADF-8B0D-5331-4D81B5C903BC}"/>
              </a:ext>
            </a:extLst>
          </p:cNvPr>
          <p:cNvSpPr/>
          <p:nvPr/>
        </p:nvSpPr>
        <p:spPr>
          <a:xfrm>
            <a:off x="5251005" y="45938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情報収集型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7" name="Shape 30">
            <a:extLst>
              <a:ext uri="{FF2B5EF4-FFF2-40B4-BE49-F238E27FC236}">
                <a16:creationId xmlns:a16="http://schemas.microsoft.com/office/drawing/2014/main" id="{4F2323BE-47BE-D53C-98B3-4B403E562891}"/>
              </a:ext>
            </a:extLst>
          </p:cNvPr>
          <p:cNvSpPr/>
          <p:nvPr/>
        </p:nvSpPr>
        <p:spPr>
          <a:xfrm>
            <a:off x="6320853" y="46121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8" name="Text 31">
            <a:extLst>
              <a:ext uri="{FF2B5EF4-FFF2-40B4-BE49-F238E27FC236}">
                <a16:creationId xmlns:a16="http://schemas.microsoft.com/office/drawing/2014/main" id="{5812A64F-2CCF-7FF6-0B3F-E39A36A21562}"/>
              </a:ext>
            </a:extLst>
          </p:cNvPr>
          <p:cNvSpPr/>
          <p:nvPr/>
        </p:nvSpPr>
        <p:spPr>
          <a:xfrm>
            <a:off x="6320853" y="46121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中スコア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9" name="Text 32">
            <a:extLst>
              <a:ext uri="{FF2B5EF4-FFF2-40B4-BE49-F238E27FC236}">
                <a16:creationId xmlns:a16="http://schemas.microsoft.com/office/drawing/2014/main" id="{E0F8F83C-84BB-D4BE-225A-E9D41ECDEA76}"/>
              </a:ext>
            </a:extLst>
          </p:cNvPr>
          <p:cNvSpPr/>
          <p:nvPr/>
        </p:nvSpPr>
        <p:spPr>
          <a:xfrm>
            <a:off x="7207821" y="46121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0D9488"/>
                </a:solidFill>
                <a:effectLst/>
                <a:uLnTx/>
                <a:uFillTx/>
                <a:latin typeface="メイリオ" panose="020B0604030504040204" pitchFamily="50" charset="-128"/>
                <a:ea typeface="メイリオ" panose="020B0604030504040204" pitchFamily="50" charset="-128"/>
                <a:cs typeface="Calibri" pitchFamily="34" charset="-120"/>
              </a:rPr>
              <a:t>→ ミドルリスト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Text 33">
            <a:extLst>
              <a:ext uri="{FF2B5EF4-FFF2-40B4-BE49-F238E27FC236}">
                <a16:creationId xmlns:a16="http://schemas.microsoft.com/office/drawing/2014/main" id="{88DC7D4E-3340-9B35-991E-96ED00531893}"/>
              </a:ext>
            </a:extLst>
          </p:cNvPr>
          <p:cNvSpPr/>
          <p:nvPr/>
        </p:nvSpPr>
        <p:spPr>
          <a:xfrm>
            <a:off x="5251005" y="48682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業界動向・お役立ち情報を提供。半年スパンで関係構築</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1" name="Shape 34">
            <a:extLst>
              <a:ext uri="{FF2B5EF4-FFF2-40B4-BE49-F238E27FC236}">
                <a16:creationId xmlns:a16="http://schemas.microsoft.com/office/drawing/2014/main" id="{966CBC37-CF13-58B0-5CD8-1E77836F7F29}"/>
              </a:ext>
            </a:extLst>
          </p:cNvPr>
          <p:cNvSpPr/>
          <p:nvPr/>
        </p:nvSpPr>
        <p:spPr>
          <a:xfrm>
            <a:off x="5177853" y="52065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35">
            <a:extLst>
              <a:ext uri="{FF2B5EF4-FFF2-40B4-BE49-F238E27FC236}">
                <a16:creationId xmlns:a16="http://schemas.microsoft.com/office/drawing/2014/main" id="{100CDE3F-E390-202C-287F-515D436D1ADB}"/>
              </a:ext>
            </a:extLst>
          </p:cNvPr>
          <p:cNvSpPr/>
          <p:nvPr/>
        </p:nvSpPr>
        <p:spPr>
          <a:xfrm>
            <a:off x="5251005" y="5279686"/>
            <a:ext cx="1005840" cy="256032"/>
          </a:xfrm>
          <a:prstGeom prst="roundRect">
            <a:avLst>
              <a:gd name="adj" fmla="val 14286"/>
            </a:avLst>
          </a:prstGeom>
          <a:solidFill>
            <a:schemeClr val="tx2">
              <a:lumMod val="20000"/>
              <a:lumOff val="8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3" name="Text 36">
            <a:extLst>
              <a:ext uri="{FF2B5EF4-FFF2-40B4-BE49-F238E27FC236}">
                <a16:creationId xmlns:a16="http://schemas.microsoft.com/office/drawing/2014/main" id="{0D886FBA-D1FA-1F1D-4774-F731872AEE33}"/>
              </a:ext>
            </a:extLst>
          </p:cNvPr>
          <p:cNvSpPr/>
          <p:nvPr/>
        </p:nvSpPr>
        <p:spPr>
          <a:xfrm>
            <a:off x="5251005" y="52796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現状維持型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4" name="Shape 37">
            <a:extLst>
              <a:ext uri="{FF2B5EF4-FFF2-40B4-BE49-F238E27FC236}">
                <a16:creationId xmlns:a16="http://schemas.microsoft.com/office/drawing/2014/main" id="{0A8BE876-C3E9-5C00-CA0A-659FF0188ECF}"/>
              </a:ext>
            </a:extLst>
          </p:cNvPr>
          <p:cNvSpPr/>
          <p:nvPr/>
        </p:nvSpPr>
        <p:spPr>
          <a:xfrm>
            <a:off x="6320853" y="52979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5" name="Text 38">
            <a:extLst>
              <a:ext uri="{FF2B5EF4-FFF2-40B4-BE49-F238E27FC236}">
                <a16:creationId xmlns:a16="http://schemas.microsoft.com/office/drawing/2014/main" id="{BB5CADDA-DE23-AF11-67EE-438A0E4F573B}"/>
              </a:ext>
            </a:extLst>
          </p:cNvPr>
          <p:cNvSpPr/>
          <p:nvPr/>
        </p:nvSpPr>
        <p:spPr>
          <a:xfrm>
            <a:off x="6320853" y="52979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低スコア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39">
            <a:extLst>
              <a:ext uri="{FF2B5EF4-FFF2-40B4-BE49-F238E27FC236}">
                <a16:creationId xmlns:a16="http://schemas.microsoft.com/office/drawing/2014/main" id="{CDEDD963-E8C1-C16E-2022-546114A75A76}"/>
              </a:ext>
            </a:extLst>
          </p:cNvPr>
          <p:cNvSpPr/>
          <p:nvPr/>
        </p:nvSpPr>
        <p:spPr>
          <a:xfrm>
            <a:off x="7207821" y="52979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 コールドリスト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7" name="Text 40">
            <a:extLst>
              <a:ext uri="{FF2B5EF4-FFF2-40B4-BE49-F238E27FC236}">
                <a16:creationId xmlns:a16="http://schemas.microsoft.com/office/drawing/2014/main" id="{00198631-8657-65B3-0A0A-7C5220C5C5A7}"/>
              </a:ext>
            </a:extLst>
          </p:cNvPr>
          <p:cNvSpPr/>
          <p:nvPr/>
        </p:nvSpPr>
        <p:spPr>
          <a:xfrm>
            <a:off x="5251005" y="55540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無理にアプローチせず月1配信。「環境変化」で再燃を待つ長期戦略</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8" name="Shape 2">
            <a:extLst>
              <a:ext uri="{FF2B5EF4-FFF2-40B4-BE49-F238E27FC236}">
                <a16:creationId xmlns:a16="http://schemas.microsoft.com/office/drawing/2014/main" id="{EED969DB-6090-3801-B39E-93C24360A11A}"/>
              </a:ext>
            </a:extLst>
          </p:cNvPr>
          <p:cNvSpPr/>
          <p:nvPr/>
        </p:nvSpPr>
        <p:spPr>
          <a:xfrm>
            <a:off x="775063" y="2010373"/>
            <a:ext cx="8412480" cy="457200"/>
          </a:xfrm>
          <a:prstGeom prst="roundRect">
            <a:avLst>
              <a:gd name="adj" fmla="val 16000"/>
            </a:avLst>
          </a:prstGeom>
          <a:solidFill>
            <a:srgbClr val="F4F7FF"/>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9" name="Text 3">
            <a:extLst>
              <a:ext uri="{FF2B5EF4-FFF2-40B4-BE49-F238E27FC236}">
                <a16:creationId xmlns:a16="http://schemas.microsoft.com/office/drawing/2014/main" id="{4BD93F70-A1A4-6B20-298D-BE3F4D258BE9}"/>
              </a:ext>
            </a:extLst>
          </p:cNvPr>
          <p:cNvSpPr/>
          <p:nvPr/>
        </p:nvSpPr>
        <p:spPr>
          <a:xfrm>
            <a:off x="957943" y="2010373"/>
            <a:ext cx="8229600" cy="457200"/>
          </a:xfrm>
          <a:prstGeom prst="rect">
            <a:avLst/>
          </a:prstGeom>
          <a:noFill/>
          <a:ln/>
        </p:spPr>
        <p:txBody>
          <a:bodyPr wrap="square" rtlCol="0" anchor="ctr"/>
          <a:lstStyle/>
          <a:p>
            <a:pPr marL="0" indent="0">
              <a:buNone/>
            </a:pPr>
            <a:r>
              <a:rPr lang="en-US" sz="1100" b="1" dirty="0" err="1">
                <a:solidFill>
                  <a:srgbClr val="1E2761"/>
                </a:solidFill>
                <a:latin typeface="メイリオ" panose="020B0604030504040204" pitchFamily="50" charset="-128"/>
                <a:ea typeface="メイリオ" panose="020B0604030504040204" pitchFamily="50" charset="-128"/>
                <a:cs typeface="Calibri" pitchFamily="34" charset="-120"/>
              </a:rPr>
              <a:t>目的：登録後すぐCVしないユーザーに“あなたの〇〇度”診断（ハードル：低）→現状可視化→セグメント追客</a:t>
            </a:r>
            <a:endParaRPr lang="en-US" sz="1100"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BDC8374B-5F7F-A61F-169C-C54DCD7D51C0}"/>
              </a:ext>
            </a:extLst>
          </p:cNvPr>
          <p:cNvSpPr/>
          <p:nvPr/>
        </p:nvSpPr>
        <p:spPr>
          <a:xfrm>
            <a:off x="195943" y="1649952"/>
            <a:ext cx="9570720" cy="4772299"/>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EEE7D10-E257-A9D8-F6D6-AF0A9A41DDC4}"/>
              </a:ext>
            </a:extLst>
          </p:cNvPr>
          <p:cNvSpPr txBox="1"/>
          <p:nvPr/>
        </p:nvSpPr>
        <p:spPr>
          <a:xfrm>
            <a:off x="3872439" y="1317985"/>
            <a:ext cx="5767950" cy="230832"/>
          </a:xfrm>
          <a:prstGeom prst="rect">
            <a:avLst/>
          </a:prstGeom>
          <a:noFill/>
        </p:spPr>
        <p:txBody>
          <a:bodyPr wrap="square">
            <a:spAutoFit/>
          </a:bodyPr>
          <a:lstStyle/>
          <a:p>
            <a:r>
              <a:rPr lang="en-US" altLang="ja-JP"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サービス説明に繋げられるけど、サービスの直接的な宣伝は忌避される</a:t>
            </a:r>
            <a:r>
              <a:rPr lang="en-US" altLang="ja-JP"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 </a:t>
            </a:r>
            <a:r>
              <a:rPr lang="ja-JP" altLang="en-US"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ユーザー層のセグメント化に活用</a:t>
            </a:r>
            <a:endParaRPr lang="ja-JP" altLang="en-US" sz="900" dirty="0">
              <a:solidFill>
                <a:schemeClr val="bg1">
                  <a:lumMod val="50000"/>
                </a:schemeClr>
              </a:solidFill>
            </a:endParaRPr>
          </a:p>
        </p:txBody>
      </p:sp>
      <p:sp>
        <p:nvSpPr>
          <p:cNvPr id="5" name="矢印: 右 4">
            <a:extLst>
              <a:ext uri="{FF2B5EF4-FFF2-40B4-BE49-F238E27FC236}">
                <a16:creationId xmlns:a16="http://schemas.microsoft.com/office/drawing/2014/main" id="{31E96465-A2D8-BAD2-908E-13EA6B2BA2F0}"/>
              </a:ext>
            </a:extLst>
          </p:cNvPr>
          <p:cNvSpPr/>
          <p:nvPr/>
        </p:nvSpPr>
        <p:spPr>
          <a:xfrm>
            <a:off x="4769313" y="3151795"/>
            <a:ext cx="375557" cy="5302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2173E9D-47C1-7D4E-1D0D-EC3756179319}"/>
              </a:ext>
            </a:extLst>
          </p:cNvPr>
          <p:cNvSpPr/>
          <p:nvPr/>
        </p:nvSpPr>
        <p:spPr>
          <a:xfrm>
            <a:off x="4940121" y="59287"/>
            <a:ext cx="2597727" cy="41563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業種別にカスタマイズ</a:t>
            </a:r>
          </a:p>
        </p:txBody>
      </p:sp>
    </p:spTree>
    <p:extLst>
      <p:ext uri="{BB962C8B-B14F-4D97-AF65-F5344CB8AC3E}">
        <p14:creationId xmlns:p14="http://schemas.microsoft.com/office/powerpoint/2010/main" val="19326644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141472</TotalTime>
  <Words>5264</Words>
  <Application>Microsoft Office PowerPoint</Application>
  <PresentationFormat>A4 210 x 297 mm</PresentationFormat>
  <Paragraphs>1342</Paragraphs>
  <Slides>36</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36</vt:i4>
      </vt:variant>
    </vt:vector>
  </HeadingPairs>
  <TitlesOfParts>
    <vt:vector size="43"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1919</cp:revision>
  <cp:lastPrinted>2022-11-01T11:38:14Z</cp:lastPrinted>
  <dcterms:created xsi:type="dcterms:W3CDTF">2015-09-04T09:21:15Z</dcterms:created>
  <dcterms:modified xsi:type="dcterms:W3CDTF">2026-07-21T09:21:02Z</dcterms:modified>
</cp:coreProperties>
</file>