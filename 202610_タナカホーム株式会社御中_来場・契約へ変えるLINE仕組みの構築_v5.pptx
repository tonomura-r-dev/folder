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3.svg" ContentType="image/svg+xml"/>
  <Override PartName="/ppt/media/image14.svg" ContentType="image/svg+xml"/>
  <Override PartName="/ppt/media/image15.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311" r:id="rId6"/>
    <p:sldId id="305" r:id="rId3"/>
    <p:sldId id="312" r:id="rId15"/>
    <p:sldId id="306" r:id="rId4"/>
    <p:sldId id="313" r:id="rId16"/>
    <p:sldId id="310" r:id="rId14"/>
    <p:sldId id="314" r:id="rId17"/>
    <p:sldId id="307" r:id="rId5"/>
    <p:sldId id="315" r:id="rId18"/>
    <p:sldId id="316" r:id="rId19"/>
    <p:sldId id="317" r:id="rId20"/>
    <p:sldId id="309" r:id="rId7"/>
    <p:sldId id="318" r:id="rId21"/>
    <p:sldId id="301" r:id="rId8"/>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0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平屋</c:v>
                </c:pt>
              </c:strCache>
            </c:strRef>
          </c:tx>
          <c:dPt>
            <c:idx val="0"/>
            <c:spPr>
              <a:solidFill>
                <a:srgbClr val="1F285A"/>
              </a:solidFill>
            </c:spPr>
          </c:dPt>
          <c:dPt>
            <c:idx val="1"/>
            <c:spPr>
              <a:solidFill>
                <a:srgbClr val="1F285A"/>
              </a:solidFill>
            </c:spPr>
          </c:dPt>
          <c:dPt>
            <c:idx val="2"/>
            <c:spPr>
              <a:solidFill>
                <a:srgbClr val="C9CEDF"/>
              </a:solidFill>
            </c:spPr>
          </c:dPt>
          <c:dPt>
            <c:idx val="3"/>
            <c:spPr>
              <a:solidFill>
                <a:srgbClr val="C9CEDF"/>
              </a:solidFill>
            </c:spPr>
          </c:dPt>
          <c:dPt>
            <c:idx val="4"/>
            <c:spPr>
              <a:solidFill>
                <a:srgbClr val="C9CEDF"/>
              </a:solidFill>
            </c:spPr>
          </c:dPt>
          <c:dPt>
            <c:idx val="5"/>
            <c:spPr>
              <a:solidFill>
                <a:srgbClr val="C9CEDF"/>
              </a:solidFill>
            </c:spPr>
          </c:dPt>
          <c:dPt>
            <c:idx val="6"/>
            <c:spPr>
              <a:solidFill>
                <a:srgbClr val="C9CEDF"/>
              </a:solidFill>
            </c:spPr>
          </c:dPt>
          <c:dPt>
            <c:idx val="7"/>
            <c:spPr>
              <a:solidFill>
                <a:srgbClr val="C9CEDF"/>
              </a:solidFill>
            </c:spPr>
          </c:dPt>
          <c:dPt>
            <c:idx val="8"/>
            <c:spPr>
              <a:solidFill>
                <a:srgbClr val="C9CEDF"/>
              </a:solidFill>
            </c:spPr>
          </c:dPt>
          <c:dPt>
            <c:idx val="9"/>
            <c:spPr>
              <a:solidFill>
                <a:srgbClr val="C9CEDF"/>
              </a:solidFill>
            </c:spPr>
          </c:dPt>
          <c:dPt>
            <c:idx val="10"/>
            <c:spPr>
              <a:solidFill>
                <a:srgbClr val="C9CEDF"/>
              </a:solidFill>
            </c:spPr>
          </c:dPt>
          <c:dPt>
            <c:idx val="11"/>
            <c:spPr>
              <a:solidFill>
                <a:srgbClr val="C9CEDF"/>
              </a:solidFill>
            </c:spPr>
          </c:dPt>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ser>
        <c:dLbls>
          <c:numFmt formatCode="0" sourceLinked="0"/>
          <c:txPr>
            <a:bodyPr/>
            <a:lstStyle/>
            <a:p>
              <a:pPr>
                <a:defRPr sz="900">
                  <a:latin typeface="メイリオ"/>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emf"/><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svg"/><Relationship Id="rId3" Type="http://schemas.openxmlformats.org/officeDocument/2006/relationships/image" Target="../media/image14.svg"/><Relationship Id="rId4" Type="http://schemas.openxmlformats.org/officeDocument/2006/relationships/image" Target="../media/image15.svg"/><Relationship Id="rId5" Type="http://schemas.openxmlformats.org/officeDocument/2006/relationships/image" Target="../media/image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548640" y="2286000"/>
            <a:ext cx="8805672" cy="118872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b">
            <a:noAutofit/>
          </a:bodyPr>
          <a:lstStyle/>
          <a:p>
            <a:pPr algn="ctr" defTabSz="914400">
              <a:lnSpc>
                <a:spcPct val="100000"/>
              </a:lnSpc>
            </a:pPr>
            <a:r>
              <a:rPr lang="en-US" sz="2600" b="1" u="none" strike="noStrike" dirty="0">
                <a:solidFill>
                  <a:schemeClr val="dk1">
                    <a:lumMod val="75000"/>
                    <a:lumOff val="25000"/>
                  </a:schemeClr>
                </a:solidFill>
                <a:effectLst/>
                <a:uFillTx/>
                <a:latin typeface="メイリオ"/>
                <a:ea typeface="メイリオ"/>
              </a:rPr>
              <a:t>集めた見込み客を逃さずナーチャリングをし、</a:t>
            </a:r>
            <a:endParaRPr lang="en-US" sz="2600" b="0" u="none" strike="noStrike" dirty="0">
              <a:solidFill>
                <a:srgbClr val="000000"/>
              </a:solidFill>
              <a:effectLst/>
              <a:uFillTx/>
              <a:latin typeface="メイリオ"/>
            </a:endParaRPr>
          </a:p>
          <a:p>
            <a:pPr algn="ctr" defTabSz="914400">
              <a:lnSpc>
                <a:spcPct val="100000"/>
              </a:lnSpc>
            </a:pPr>
            <a:r>
              <a:rPr lang="en-US" sz="2600" b="1" u="none" strike="noStrike" dirty="0">
                <a:solidFill>
                  <a:schemeClr val="dk1">
                    <a:lumMod val="75000"/>
                    <a:lumOff val="25000"/>
                  </a:schemeClr>
                </a:solidFill>
                <a:effectLst/>
                <a:uFillTx/>
                <a:latin typeface="メイリオ"/>
                <a:ea typeface="メイリオ"/>
              </a:rPr>
              <a:t>来場・契約へ変えるLINE仕組みの構築</a:t>
            </a:r>
            <a:endParaRPr lang="en-US" sz="2600" b="0" u="none" strike="noStrike" dirty="0">
              <a:solidFill>
                <a:srgbClr val="000000"/>
              </a:solidFill>
              <a:effectLst/>
              <a:uFillTx/>
              <a:latin typeface="メイリオ"/>
            </a:endParaRP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青森店の来場は目標に届いていない。集客フェーズは、広告の改善と地域特化のSEOで立て直す</a:t>
            </a:r>
            <a:endParaRPr lang="en-US" sz="1400" b="1" u="none" strike="noStrike" dirty="0">
              <a:effectLst/>
              <a:uFillTx/>
              <a:latin typeface="メイリオ"/>
            </a:endParaRPr>
          </a:p>
        </p:txBody>
      </p:sp>
      <p:sp>
        <p:nvSpPr>
          <p:cNvPr id="7" name="見出し 青森店の現在地"/>
          <p:cNvSpPr/>
          <p:nvPr/>
        </p:nvSpPr>
        <p:spPr>
          <a:xfrm>
            <a:off x="502920" y="1691640"/>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200" dirty="0"/>
          </a:p>
        </p:txBody>
      </p:sp>
      <p:sp>
        <p:nvSpPr>
          <p:cNvPr id="9" name="見出し 集客フェーズの打ち手"/>
          <p:cNvSpPr/>
          <p:nvPr/>
        </p:nvSpPr>
        <p:spPr>
          <a:xfrm>
            <a:off x="5074920" y="1691640"/>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200" dirty="0"/>
          </a:p>
        </p:txBody>
      </p:sp>
      <p:sp>
        <p:nvSpPr>
          <p:cNvPr id="10" name="打ち手1"/>
          <p:cNvSpPr/>
          <p:nvPr/>
        </p:nvSpPr>
        <p:spPr>
          <a:xfrm>
            <a:off x="5074920" y="2103120"/>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広告の改善</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青森店の媒体配分とクリエイティブを見直し、来場予約のCPAを下げる（別紙：集客改善シミュレーション）</a:t>
            </a:r>
            <a:endParaRPr lang="ja-JP" altLang="en-US" sz="1200" dirty="0"/>
          </a:p>
        </p:txBody>
      </p:sp>
      <p:sp>
        <p:nvSpPr>
          <p:cNvPr id="11" name="打ち手2"/>
          <p:cNvSpPr/>
          <p:nvPr/>
        </p:nvSpPr>
        <p:spPr>
          <a:xfrm>
            <a:off x="5074920" y="3154680"/>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地域特化のSEO</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200" dirty="0"/>
          </a:p>
        </p:txBody>
      </p:sp>
      <p:sp>
        <p:nvSpPr>
          <p:cNvPr id="12" name="矢印下"/>
          <p:cNvSpPr/>
          <p:nvPr/>
        </p:nvSpPr>
        <p:spPr>
          <a:xfrm>
            <a:off x="7054596" y="4133087"/>
            <a:ext cx="365760" cy="256032"/>
          </a:xfrm>
          <a:prstGeom prst="rect">
            <a:avLst/>
          </a:prstGeom>
          <a:noFill/>
          <a:ln>
            <a:noFill/>
          </a:ln>
        </p:spPr>
        <p:txBody>
          <a:bodyPr wrap="square" lIns="0" tIns="0" rIns="0" bIns="0" rtlCol="0" anchor="ctr">
            <a:noAutofit/>
          </a:bodyPr>
          <a:lstStyle/>
          <a:p>
            <a:pPr algn="ctr">
              <a:buNone/>
            </a:pPr>
            <a:r>
              <a:rPr lang="ja-JP" altLang="en-US" sz="12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結果"/>
          <p:cNvSpPr/>
          <p:nvPr/>
        </p:nvSpPr>
        <p:spPr>
          <a:xfrm>
            <a:off x="5074920" y="4407408"/>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200" dirty="0"/>
          </a:p>
        </p:txBody>
      </p:sp>
      <p:sp>
        <p:nvSpPr>
          <p:cNvPr id="14"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※数字は2026年10月15日の打ち合わせで共有いただいた内容。広告・SEOの詳細は別紙</a:t>
            </a:r>
            <a:endParaRPr lang="ja-JP" altLang="en-US" sz="1200" dirty="0"/>
          </a:p>
        </p:txBody>
      </p:sp>
      <p:graphicFrame>
        <p:nvGraphicFramePr>
          <p:cNvPr id="15" name="現在地 14"/>
          <p:cNvGraphicFramePr>
            <a:graphicFrameLocks noGrp="1"/>
          </p:cNvGraphicFramePr>
          <p:nvPr/>
        </p:nvGraphicFramePr>
        <p:xfrm>
          <a:off x="502920" y="2103120"/>
          <a:ext cx="4343400" cy="2852928"/>
        </p:xfrm>
        <a:graphic>
          <a:graphicData uri="http://schemas.openxmlformats.org/drawingml/2006/table">
            <a:tbl>
              <a:tblPr/>
              <a:tblGrid>
                <a:gridCol w="1417320"/>
                <a:gridCol w="2926080"/>
              </a:tblGrid>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（4展示場）</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来場予約のCPA</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Web広告で約30,000円</a:t>
                      </a:r>
                      <a:br>
                        <a:rPr lang="ja-JP" altLang="en-US" sz="1050" b="0" dirty="0">
                          <a:solidFill>
                            <a:srgbClr val="333333"/>
                          </a:solidFill>
                          <a:latin typeface="メイリオ" panose="020B0604030504040204" pitchFamily="50" charset="-128"/>
                          <a:ea typeface="メイリオ" panose="020B0604030504040204" pitchFamily="50" charset="-128"/>
                        </a:rPr>
                      </a:br>
                      <a:r>
                        <a:rPr lang="ja-JP" altLang="en-US" sz="1050" b="0" dirty="0">
                          <a:solidFill>
                            <a:srgbClr val="333333"/>
                          </a:solidFill>
                          <a:latin typeface="メイリオ" panose="020B0604030504040204" pitchFamily="50" charset="-128"/>
                          <a:ea typeface="メイリオ" panose="020B0604030504040204" pitchFamily="50" charset="-128"/>
                        </a:rPr>
                        <a:t>（ポータル・特典費を含めると注文住宅 約50,000円）</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青森店</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100" b="0" dirty="0">
                          <a:solidFill>
                            <a:srgbClr val="333333"/>
                          </a:solidFill>
                          <a:latin typeface="メイリオ" panose="020B0604030504040204" pitchFamily="50" charset="-128"/>
                          <a:ea typeface="メイリオ" panose="020B0604030504040204" pitchFamily="50" charset="-128"/>
                        </a:rPr>
                      </a:br>
                      <a:r>
                        <a:rPr lang="ja-JP" altLang="en-US" sz="110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自社サイトの</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資料請求</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月一桁</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検索広告のCPA</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（9月）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流入</a:t>
            </a:r>
            <a:endParaRPr lang="ja-JP" altLang="en-US" sz="1200" dirty="0"/>
          </a:p>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2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資料請求</a:t>
            </a:r>
            <a:endParaRPr lang="ja-JP" altLang="en-US" sz="12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来場予約・来場</a:t>
            </a:r>
            <a:endParaRPr lang="ja-JP" altLang="en-US" sz="12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検討の動き</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2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資料請求の後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2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来場予約の後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2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来場の後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2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2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2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3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2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解決策：資料請求の時点から、来場・契約までを追う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ここまで追い続けられることが、LINEの強み。今の来場のご案内は、そのまま活かす</a:t>
            </a:r>
            <a:endParaRPr lang="en-US" sz="1400" b="1" u="none" strike="noStrike" dirty="0">
              <a:effectLst/>
              <a:uFillTx/>
              <a:latin typeface="メイリオ"/>
            </a:endParaRPr>
          </a:p>
        </p:txBody>
      </p:sp>
      <p:graphicFrame>
        <p:nvGraphicFramePr>
          <p:cNvPr id="7" name="比較 6"/>
          <p:cNvGraphicFramePr>
            <a:graphicFrameLocks noGrp="1"/>
          </p:cNvGraphicFramePr>
          <p:nvPr/>
        </p:nvGraphicFramePr>
        <p:xfrm>
          <a:off x="502920" y="1691640"/>
          <a:ext cx="8897112" cy="2651760"/>
        </p:xfrm>
        <a:graphic>
          <a:graphicData uri="http://schemas.openxmlformats.org/drawingml/2006/table">
            <a:tbl>
              <a:tblPr/>
              <a:tblGrid>
                <a:gridCol w="1554480"/>
                <a:gridCol w="2926080"/>
                <a:gridCol w="4416552"/>
              </a:tblGrid>
              <a:tr h="384048">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今のLINE</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弊社のご提案</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追う相手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来場を決めたお客様</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資料請求の時点の、検討中のお客様から</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ゴール</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来場予約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来場の先の、契約</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友だちの入口</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＋資料請求の完了ページ、サイト上での情報のご案内</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見学会・来場予約のご案内</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＋前後検索で見える、検討の順番に沿った配信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来場・契約の結果は、貴社の記録と合わせて確認し、</a:t>
            </a:r>
            <a:r>
              <a:rPr lang="ja-JP" altLang="en-US" sz="1300" b="1" dirty="0">
                <a:solidFill>
                  <a:srgbClr val="C00000"/>
                </a:solidFill>
                <a:latin typeface="メイリオ" panose="020B0604030504040204" pitchFamily="50" charset="-128"/>
                <a:ea typeface="メイリオ" panose="020B0604030504040204" pitchFamily="50" charset="-128"/>
              </a:rPr>
              <a:t>広告の改善に生かす</a:t>
            </a:r>
            <a:endParaRPr lang="ja-JP" altLang="en-US" sz="1200" dirty="0"/>
          </a:p>
        </p:txBody>
      </p:sp>
      <p:sp>
        <p:nvSpPr>
          <p:cNvPr id="9"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※広告の改善は、別紙の集客改善シミュレーションとあわせてご提案</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解決策：LINEの配信で</a:t>
            </a:r>
            <a:r>
              <a:rPr lang="ja-JP" altLang="en-US" sz="1600" b="1" u="none" strike="noStrike" dirty="0">
                <a:solidFill>
                  <a:srgbClr val="323366"/>
                </a:solidFill>
                <a:effectLst/>
                <a:uFillTx/>
                <a:latin typeface="メイリオ"/>
                <a:ea typeface="メイリオ"/>
              </a:rPr>
              <a:t>ナーチャリングを</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検討の順番に合わせて配信し、「住みたいイメージ」を育てる</a:t>
            </a:r>
            <a:endParaRPr lang="en-US" sz="1400" b="1" u="none" strike="noStrike" dirty="0">
              <a:effectLst/>
              <a:uFillTx/>
              <a:latin typeface="メイリオ"/>
            </a:endParaRPr>
          </a:p>
        </p:txBody>
      </p:sp>
      <p:graphicFrame>
        <p:nvGraphicFramePr>
          <p:cNvPr id="7" name="配信 6"/>
          <p:cNvGraphicFramePr>
            <a:graphicFrameLocks noGrp="1"/>
          </p:cNvGraphicFramePr>
          <p:nvPr/>
        </p:nvGraphicFramePr>
        <p:xfrm>
          <a:off x="502920" y="1691640"/>
          <a:ext cx="8897112" cy="2633472"/>
        </p:xfrm>
        <a:graphic>
          <a:graphicData uri="http://schemas.openxmlformats.org/drawingml/2006/table">
            <a:tbl>
              <a:tblPr/>
              <a:tblGrid>
                <a:gridCol w="1234440"/>
                <a:gridCol w="2606040"/>
                <a:gridCol w="3154680"/>
                <a:gridCol w="1901952"/>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時期</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検討者が調べていること</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配信するコンテンツ</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感じてもらうこと</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当日〜1日</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大手ハウスメーカーの比較、土地探し</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会社の特長・施工事例、街並みと土地の情報</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この会社・この街がいい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1〜7日後</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住宅ローンのシミュレーション・審査、坪単価</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費用・住宅ローンの考え方、補助金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これなら建てられる</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7〜15日後</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断熱等級、間取り、吹き抜け、ルームツアー</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青森の冬を乗り切る性能、間取り、ルームツアー動画、入居後の暮らし</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この家に住みたい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来場前</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050" b="0" dirty="0">
                          <a:solidFill>
                            <a:srgbClr val="333333"/>
                          </a:solidFill>
                          <a:latin typeface="メイリオ" panose="020B0604030504040204" pitchFamily="50" charset="-128"/>
                          <a:ea typeface="メイリオ" panose="020B0604030504040204" pitchFamily="50" charset="-128"/>
                        </a:rPr>
                        <a:t>―</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見学会・来場予約のご案内、来場前日のお知らせ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見に行きたい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流れ1"/>
          <p:cNvSpPr/>
          <p:nvPr/>
        </p:nvSpPr>
        <p:spPr>
          <a:xfrm>
            <a:off x="502920" y="4526280"/>
            <a:ext cx="2004822" cy="658368"/>
          </a:xfrm>
          <a:prstGeom prst="rect">
            <a:avLst/>
          </a:prstGeom>
          <a:noFill/>
          <a:ln w="9525">
            <a:solidFill>
              <a:srgbClr val="1F285A"/>
            </a:solidFill>
          </a:ln>
        </p:spPr>
        <p:txBody>
          <a:bodyPr wrap="square" lIns="54864" tIns="36576" rIns="54864" bIns="36576" rtlCol="0" anchor="ctr">
            <a:noAutofit/>
          </a:bodyPr>
          <a:lstStyle/>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友だち追加</a:t>
            </a:r>
            <a:endParaRPr lang="ja-JP" altLang="en-US" sz="1200" dirty="0"/>
          </a:p>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資料請求・来場予約・サイト</a:t>
            </a:r>
            <a:endParaRPr lang="ja-JP" altLang="en-US" sz="1200" dirty="0"/>
          </a:p>
        </p:txBody>
      </p:sp>
      <p:sp>
        <p:nvSpPr>
          <p:cNvPr id="9" name="矢印"/>
          <p:cNvSpPr/>
          <p:nvPr/>
        </p:nvSpPr>
        <p:spPr>
          <a:xfrm>
            <a:off x="250774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0" name="流れ2"/>
          <p:cNvSpPr/>
          <p:nvPr/>
        </p:nvSpPr>
        <p:spPr>
          <a:xfrm>
            <a:off x="2800350"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配信でファン化</a:t>
            </a:r>
            <a:endParaRPr lang="ja-JP" altLang="en-US" sz="1200" dirty="0"/>
          </a:p>
        </p:txBody>
      </p:sp>
      <p:sp>
        <p:nvSpPr>
          <p:cNvPr id="11" name="矢印"/>
          <p:cNvSpPr/>
          <p:nvPr/>
        </p:nvSpPr>
        <p:spPr>
          <a:xfrm>
            <a:off x="4805172"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流れ3"/>
          <p:cNvSpPr/>
          <p:nvPr/>
        </p:nvSpPr>
        <p:spPr>
          <a:xfrm>
            <a:off x="5097779"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タイミングが良い時に来場</a:t>
            </a:r>
            <a:endParaRPr lang="ja-JP" altLang="en-US" sz="1200" dirty="0"/>
          </a:p>
        </p:txBody>
      </p:sp>
      <p:sp>
        <p:nvSpPr>
          <p:cNvPr id="13" name="矢印"/>
          <p:cNvSpPr/>
          <p:nvPr/>
        </p:nvSpPr>
        <p:spPr>
          <a:xfrm>
            <a:off x="710260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4" name="流れ4"/>
          <p:cNvSpPr/>
          <p:nvPr/>
        </p:nvSpPr>
        <p:spPr>
          <a:xfrm>
            <a:off x="7395210" y="4526280"/>
            <a:ext cx="2004822" cy="658368"/>
          </a:xfrm>
          <a:prstGeom prst="rect">
            <a:avLst/>
          </a:prstGeom>
          <a:solidFill>
            <a:srgbClr val="C00000"/>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※時期と調べていることは、LINEヤフー社の前後検索データより／動画・写真は今の配信やInstagramの素材を活かす</a:t>
            </a:r>
            <a:endParaRPr lang="ja-JP"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200" dirty="0"/>
          </a:p>
        </p:txBody>
      </p:sp>
      <p:sp>
        <p:nvSpPr>
          <p:cNvPr id="8" name="型1"/>
          <p:cNvSpPr/>
          <p:nvPr/>
        </p:nvSpPr>
        <p:spPr>
          <a:xfrm>
            <a:off x="502920" y="2103120"/>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① 入口</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200" dirty="0"/>
          </a:p>
        </p:txBody>
      </p:sp>
      <p:sp>
        <p:nvSpPr>
          <p:cNvPr id="9" name="型2"/>
          <p:cNvSpPr/>
          <p:nvPr/>
        </p:nvSpPr>
        <p:spPr>
          <a:xfrm>
            <a:off x="502920" y="2889503"/>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② 配信</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200" dirty="0"/>
          </a:p>
        </p:txBody>
      </p:sp>
      <p:sp>
        <p:nvSpPr>
          <p:cNvPr id="10" name="型3"/>
          <p:cNvSpPr/>
          <p:nvPr/>
        </p:nvSpPr>
        <p:spPr>
          <a:xfrm>
            <a:off x="502920" y="3675887"/>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③ 改善</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2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横展開</a:t>
            </a:r>
            <a:endParaRPr lang="ja-JP" altLang="en-US" sz="12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店舗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商品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層</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資料請求の時点からLINEでつながり、来場・契約まで案内する。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nvGraphicFramePr>
        <p:xfrm>
          <a:off x="502920" y="1691640"/>
          <a:ext cx="8897112" cy="2852928"/>
        </p:xfrm>
        <a:graphic>
          <a:graphicData uri="http://schemas.openxmlformats.org/drawingml/2006/table">
            <a:tbl>
              <a:tblPr/>
              <a:tblGrid>
                <a:gridCol w="1920240"/>
                <a:gridCol w="6976872"/>
              </a:tblGrid>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来場予約は目標50〜60件に対し35〜40件。広告と地域SEOで質の高い見込み客を集める。LINEは来場予約のご案内が中心</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 課題</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来場を決める前の検討中の方と、LINEでつながれていない。検討期間の約2週間の接点が、来場を左右する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 解決策</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資料請求の時点から来場・契約までを追う。前後検索に沿って配信し、来場前日のお知らせでキャンセルも減らす</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 今後の展開</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gridCol w="6976872"/>
              </a:tblGrid>
              <a:tr h="457200">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Appendix</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nvGraphicFramePr>
        <p:xfrm>
          <a:off x="502920" y="1691640"/>
          <a:ext cx="5532120" cy="2907792"/>
        </p:xfrm>
        <a:graphic>
          <a:graphicData uri="http://schemas.openxmlformats.org/drawingml/2006/table">
            <a:tbl>
              <a:tblPr/>
              <a:tblGrid>
                <a:gridCol w="1371600"/>
                <a:gridCol w="4160520"/>
              </a:tblGrid>
              <a:tr h="457200">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友だち数</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417人</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友だちの入口</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1:1チャット</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 descr="tanaka_zengo_chumon.png"/>
          <p:cNvPicPr>
            <a:picLocks noChangeAspect="1"/>
          </p:cNvPicPr>
          <p:nvPr/>
        </p:nvPicPr>
        <p:blipFill>
          <a:blip r:embed="rId2"/>
          <a:stretch>
            <a:fillRect/>
          </a:stretch>
        </p:blipFill>
        <p:spPr>
          <a:xfrm>
            <a:off x="1659636" y="1536192"/>
            <a:ext cx="6583680" cy="3841577"/>
          </a:xfrm>
          <a:prstGeom prst="rect">
            <a:avLst/>
          </a:prstGeom>
        </p:spPr>
      </p:pic>
      <p:sp>
        <p:nvSpPr>
          <p:cNvPr id="8" name="時期 検索前"/>
          <p:cNvSpPr/>
          <p:nvPr/>
        </p:nvSpPr>
        <p:spPr>
          <a:xfrm>
            <a:off x="1997232" y="5414345"/>
            <a:ext cx="3024835" cy="566928"/>
          </a:xfrm>
          <a:prstGeom prst="rect">
            <a:avLst/>
          </a:prstGeom>
          <a:solidFill>
            <a:srgbClr val="F2F2F2"/>
          </a:solidFill>
          <a:ln>
            <a:noFill/>
          </a:ln>
        </p:spPr>
        <p:txBody>
          <a:bodyPr wrap="square" lIns="27432" tIns="18288" rIns="27432" bIns="18288" rtlCol="0" anchor="ctr">
            <a:noAutofit/>
          </a:bodyPr>
          <a:lstStyle/>
          <a:p>
            <a:pPr algn="ctr">
              <a:lnSpc>
                <a:spcPct val="105000"/>
              </a:lnSpc>
              <a:buNone/>
            </a:pPr>
            <a:r>
              <a:rPr lang="ja-JP" altLang="en-US" sz="850" b="1" dirty="0">
                <a:solidFill>
                  <a:srgbClr val="7F7F7F"/>
                </a:solidFill>
                <a:latin typeface="メイリオ" panose="020B0604030504040204" pitchFamily="50" charset="-128"/>
                <a:ea typeface="メイリオ" panose="020B0604030504040204" pitchFamily="50" charset="-128"/>
              </a:rPr>
              <a:t>検索前</a:t>
            </a:r>
            <a:endParaRPr lang="ja-JP" altLang="en-US" sz="1200" dirty="0"/>
          </a:p>
          <a:p>
            <a:pPr algn="ctr">
              <a:lnSpc>
                <a:spcPct val="105000"/>
              </a:lnSpc>
              <a:buNone/>
            </a:pPr>
            <a:r>
              <a:rPr lang="ja-JP" altLang="en-US" sz="800" b="0" dirty="0">
                <a:solidFill>
                  <a:srgbClr val="7F7F7F"/>
                </a:solidFill>
                <a:latin typeface="メイリオ" panose="020B0604030504040204" pitchFamily="50" charset="-128"/>
                <a:ea typeface="メイリオ" panose="020B0604030504040204" pitchFamily="50" charset="-128"/>
              </a:rPr>
              <a:t>中古一戸建て・平屋の間取り・家を建てる費用</a:t>
            </a:r>
            <a:endParaRPr lang="ja-JP" altLang="en-US" sz="1200" dirty="0"/>
          </a:p>
        </p:txBody>
      </p:sp>
      <p:sp>
        <p:nvSpPr>
          <p:cNvPr id="9" name="時期 当日"/>
          <p:cNvSpPr/>
          <p:nvPr/>
        </p:nvSpPr>
        <p:spPr>
          <a:xfrm>
            <a:off x="5058643" y="5414345"/>
            <a:ext cx="730422"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大手ハウスメーカー・相場・展示場</a:t>
            </a:r>
            <a:endParaRPr lang="ja-JP" altLang="en-US" sz="1200" dirty="0"/>
          </a:p>
        </p:txBody>
      </p:sp>
      <p:sp>
        <p:nvSpPr>
          <p:cNvPr id="10" name="時期 1〜7日後"/>
          <p:cNvSpPr/>
          <p:nvPr/>
        </p:nvSpPr>
        <p:spPr>
          <a:xfrm>
            <a:off x="5825642" y="5414345"/>
            <a:ext cx="1487545"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住宅ローン・ほかの住宅会社・間取り</a:t>
            </a:r>
            <a:endParaRPr lang="ja-JP" altLang="en-US" sz="1200" dirty="0"/>
          </a:p>
        </p:txBody>
      </p:sp>
      <p:sp>
        <p:nvSpPr>
          <p:cNvPr id="11" name="時期 7〜15日後"/>
          <p:cNvSpPr/>
          <p:nvPr/>
        </p:nvSpPr>
        <p:spPr>
          <a:xfrm>
            <a:off x="7349764" y="5414345"/>
            <a:ext cx="727130"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金利・断熱等級・ルームツアー</a:t>
            </a:r>
            <a:endParaRPr lang="ja-JP" altLang="en-US" sz="1200" dirty="0"/>
          </a:p>
        </p:txBody>
      </p:sp>
      <p:sp>
        <p:nvSpPr>
          <p:cNvPr id="12" name="注記"/>
          <p:cNvSpPr/>
          <p:nvPr/>
        </p:nvSpPr>
        <p:spPr>
          <a:xfrm>
            <a:off x="502920" y="6036137"/>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nvGraphicFramePr>
        <p:xfrm>
          <a:off x="502920" y="1691640"/>
          <a:ext cx="8897111" cy="3529584"/>
        </p:xfrm>
        <a:graphic>
          <a:graphicData uri="http://schemas.openxmlformats.org/drawingml/2006/table">
            <a:tbl>
              <a:tblPr/>
              <a:tblGrid>
                <a:gridCol w="731520"/>
                <a:gridCol w="2011680"/>
                <a:gridCol w="2331720"/>
                <a:gridCol w="3822191"/>
              </a:tblGrid>
              <a:tr h="384048">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入口</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タイミング</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786384">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今</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離脱防止</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資料請求・来場予約が完了した直後</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資料の続き（ルームツアー・費用・土地）、来場前のお知らせ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注記"/>
          <p:cNvSpPr/>
          <p:nvPr/>
        </p:nvSpPr>
        <p:spPr>
          <a:xfrm>
            <a:off x="502920" y="544068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※来場予約の完了ページでは、ウェブ予約特典の事前アンケートに回答いただいた後に、LINEをご案内する（特典の条件を損なわないため）</a:t>
            </a:r>
            <a:endParaRPr lang="ja-JP" alt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予約の完了</a:t>
            </a:r>
            <a:endParaRPr lang="ja-JP" altLang="en-US" sz="12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予約の確認</a:t>
            </a:r>
            <a:endParaRPr lang="ja-JP" altLang="en-US" sz="12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3日前</a:t>
            </a:r>
            <a:endParaRPr lang="ja-JP" altLang="en-US" sz="12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前日</a:t>
            </a:r>
            <a:endParaRPr lang="ja-JP" altLang="en-US" sz="12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来場の後</a:t>
            </a:r>
            <a:endParaRPr lang="ja-JP" altLang="en-US" sz="12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2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2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2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2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2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2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2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2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200" dirty="0"/>
          </a:p>
        </p:txBody>
      </p:sp>
      <p:sp>
        <p:nvSpPr>
          <p:cNvPr id="24" name="注記"/>
          <p:cNvSpPr/>
          <p:nvPr/>
        </p:nvSpPr>
        <p:spPr>
          <a:xfrm>
            <a:off x="502920" y="51663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※業種・予約の条件が異なるため、数字は参考値</a:t>
            </a:r>
            <a:endParaRPr lang="ja-JP" altLang="en-US" sz="12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試算：6か月目に、LINE経由の資料請求 月11件・来場予約 月8件</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サイトから友だちを増やし、検討の順番に沿った配信で、資料請求・来場予約につなげる</a:t>
            </a:r>
            <a:endParaRPr lang="en-US" sz="1400" b="1" u="none" strike="noStrike" dirty="0">
              <a:effectLst/>
              <a:uFillTx/>
              <a:latin typeface="メイリオ"/>
            </a:endParaRPr>
          </a:p>
        </p:txBody>
      </p:sp>
      <p:graphicFrame>
        <p:nvGraphicFramePr>
          <p:cNvPr id="7" name="試算 6"/>
          <p:cNvGraphicFramePr>
            <a:graphicFrameLocks noGrp="1"/>
          </p:cNvGraphicFramePr>
          <p:nvPr/>
        </p:nvGraphicFramePr>
        <p:xfrm>
          <a:off x="502920" y="1691640"/>
          <a:ext cx="8897112" cy="3108960"/>
        </p:xfrm>
        <a:graphic>
          <a:graphicData uri="http://schemas.openxmlformats.org/drawingml/2006/table">
            <a:tbl>
              <a:tblPr/>
              <a:tblGrid>
                <a:gridCol w="2423160"/>
                <a:gridCol w="1078992"/>
                <a:gridCol w="1078992"/>
                <a:gridCol w="1078992"/>
                <a:gridCol w="1078992"/>
                <a:gridCol w="1078992"/>
                <a:gridCol w="1078992"/>
              </a:tblGrid>
              <a:tr h="365760">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5か月目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6か月目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新しく友だちになる方（人）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179</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友だち数（累計・人）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594</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772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950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1,130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1,311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1,493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配信が届く友だち（人）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428</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793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912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1,030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配信からのクリック</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637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613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676</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738</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資料請求（LINE経由・件）</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9</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11</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来場予約（LINE経由・件）</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7</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bl>
          </a:graphicData>
        </a:graphic>
      </p:graphicFrame>
      <p:sp>
        <p:nvSpPr>
          <p:cNvPr id="8" name="注記"/>
          <p:cNvSpPr/>
          <p:nvPr/>
        </p:nvSpPr>
        <p:spPr>
          <a:xfrm>
            <a:off x="502920" y="493776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※前提：サイトのUU 月13,228／今の友だち417人／友だちの入口＝離脱防止・サイトのLINEボタン・サンクスLINE誘導／配信＝企画配信 月4本＋ステップ配信5通／ブロック率は28%から月ごとに上昇</a:t>
            </a:r>
            <a:endParaRPr lang="ja-JP" altLang="en-US" sz="1200" dirty="0"/>
          </a:p>
        </p:txBody>
      </p:sp>
      <p:sp>
        <p:nvSpPr>
          <p:cNvPr id="9" name="注記"/>
          <p:cNvSpPr/>
          <p:nvPr/>
        </p:nvSpPr>
        <p:spPr>
          <a:xfrm>
            <a:off x="502920" y="5376672"/>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※配信が届く友だち＝ブロックしていない友だち。資料請求・来場予約は、LINEの配信からのクリックを通ったものだけを数える</a:t>
            </a:r>
            <a:endParaRPr lang="ja-JP" alt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費用：初期26.5万円〜・月額26万円〜（6か月〜）</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LINE運用コンサルに、友だちの入口をつくる2つのツールを組み合わせる</a:t>
            </a:r>
            <a:endParaRPr lang="en-US" sz="1400" b="1" u="none" strike="noStrike" dirty="0">
              <a:effectLst/>
              <a:uFillTx/>
              <a:latin typeface="メイリオ"/>
            </a:endParaRPr>
          </a:p>
        </p:txBody>
      </p:sp>
      <p:graphicFrame>
        <p:nvGraphicFramePr>
          <p:cNvPr id="7" name="費用 6"/>
          <p:cNvGraphicFramePr>
            <a:graphicFrameLocks noGrp="1"/>
          </p:cNvGraphicFramePr>
          <p:nvPr/>
        </p:nvGraphicFramePr>
        <p:xfrm>
          <a:off x="502920" y="1691640"/>
          <a:ext cx="8897112" cy="3099816"/>
        </p:xfrm>
        <a:graphic>
          <a:graphicData uri="http://schemas.openxmlformats.org/drawingml/2006/table">
            <a:tbl>
              <a:tblPr/>
              <a:tblGrid>
                <a:gridCol w="1828800"/>
                <a:gridCol w="1325880"/>
                <a:gridCol w="1325880"/>
                <a:gridCol w="4416552"/>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項目</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初期</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月額</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内容</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658368">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LINE運用コンサル</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10万円〜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20万円〜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入口と配信の設計、配信の制作（企画配信・ステップ配信・来場前のお知らせ）、結果の分析と改善</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離脱防止</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サイトを閉じようとした方へのLINEのご案内</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資料請求・来場予約の完了ページからLINEへのご案内</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合計</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26.5万円〜</a:t>
                      </a:r>
                      <a:endParaRPr lang="ja-JP" altLang="en-US" sz="13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26万円〜</a:t>
                      </a:r>
                      <a:endParaRPr lang="ja-JP" altLang="en-US" sz="13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l">
                        <a:buNone/>
                      </a:pP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LINE公式アカウント</a:t>
                      </a:r>
                      <a:br>
                        <a:rPr lang="ja-JP" altLang="en-US" sz="1000" b="1" dirty="0">
                          <a:solidFill>
                            <a:srgbClr val="1F285A"/>
                          </a:solidFill>
                          <a:latin typeface="メイリオ" panose="020B0604030504040204" pitchFamily="50" charset="-128"/>
                          <a:ea typeface="メイリオ" panose="020B0604030504040204" pitchFamily="50" charset="-128"/>
                        </a:rPr>
                      </a:br>
                      <a:r>
                        <a:rPr lang="ja-JP" altLang="en-US" sz="1000" b="1" dirty="0">
                          <a:solidFill>
                            <a:srgbClr val="1F285A"/>
                          </a:solidFill>
                          <a:latin typeface="メイリオ" panose="020B0604030504040204" pitchFamily="50" charset="-128"/>
                          <a:ea typeface="メイリオ" panose="020B0604030504040204" pitchFamily="50" charset="-128"/>
                        </a:rPr>
                        <a:t>利用料</a:t>
                      </a:r>
                      <a:endParaRPr lang="ja-JP" altLang="en-US" sz="10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7F7F7F"/>
                          </a:solidFill>
                          <a:latin typeface="メイリオ" panose="020B0604030504040204" pitchFamily="50" charset="-128"/>
                          <a:ea typeface="メイリオ" panose="020B0604030504040204" pitchFamily="50" charset="-128"/>
                        </a:rPr>
                        <a:t>―</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950" b="0" dirty="0">
                          <a:solidFill>
                            <a:srgbClr val="7F7F7F"/>
                          </a:solidFill>
                          <a:latin typeface="メイリオ" panose="020B0604030504040204" pitchFamily="50" charset="-128"/>
                          <a:ea typeface="メイリオ" panose="020B0604030504040204" pitchFamily="50" charset="-128"/>
                        </a:rPr>
                        <a:t>LINEヤフー社の料金</a:t>
                      </a:r>
                      <a:endParaRPr lang="ja-JP" altLang="en-US" sz="9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貴社のご契約のまま（配信数に応じた料金）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注記"/>
          <p:cNvSpPr/>
          <p:nvPr/>
        </p:nvSpPr>
        <p:spPr>
          <a:xfrm>
            <a:off x="502920" y="498348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a:t>
            </a:r>
            <a:endParaRPr lang="ja-JP" altLang="en-US" sz="1200" dirty="0"/>
          </a:p>
        </p:txBody>
      </p:sp>
      <p:sp>
        <p:nvSpPr>
          <p:cNvPr id="9" name="注記"/>
          <p:cNvSpPr/>
          <p:nvPr/>
        </p:nvSpPr>
        <p:spPr>
          <a:xfrm>
            <a:off x="502920" y="525780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2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進め方</a:t>
            </a:r>
            <a:endParaRPr lang="ja-JP" altLang="en-US" sz="12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gridCol w="3730752"/>
              </a:tblGrid>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11月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12月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3月〜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4"/>
          <a:stretch/>
        </p:blipFill>
        <p:spPr>
          <a:xfrm>
            <a:off x="767880" y="2097720"/>
            <a:ext cx="1748520" cy="1226520"/>
          </a:xfrm>
          <a:prstGeom prst="rect">
            <a:avLst/>
          </a:prstGeom>
          <a:noFill/>
          <a:ln w="0">
            <a:noFill/>
          </a:ln>
        </p:spPr>
      </p:pic>
      <p:pic>
        <p:nvPicPr>
          <p:cNvPr id="987" name="図 6"/>
          <p:cNvPicPr/>
          <p:nvPr/>
        </p:nvPicPr>
        <p:blipFill>
          <a:blip r:embed="rId2"/>
          <a:stretch/>
        </p:blipFill>
        <p:spPr>
          <a:xfrm>
            <a:off x="2629440" y="2290320"/>
            <a:ext cx="2165760" cy="762120"/>
          </a:xfrm>
          <a:prstGeom prst="rect">
            <a:avLst/>
          </a:prstGeom>
          <a:noFill/>
          <a:ln w="0">
            <a:noFill/>
          </a:ln>
        </p:spPr>
      </p:pic>
      <p:pic>
        <p:nvPicPr>
          <p:cNvPr id="988" name="図 7"/>
          <p:cNvPicPr/>
          <p:nvPr/>
        </p:nvPicPr>
        <p:blipFill>
          <a:blip r:embed="rId7"/>
          <a:stretch/>
        </p:blipFill>
        <p:spPr>
          <a:xfrm>
            <a:off x="732600" y="3382560"/>
            <a:ext cx="1896480" cy="592560"/>
          </a:xfrm>
          <a:prstGeom prst="rect">
            <a:avLst/>
          </a:prstGeom>
          <a:noFill/>
          <a:ln w="0">
            <a:noFill/>
          </a:ln>
        </p:spPr>
      </p:pic>
      <p:pic>
        <p:nvPicPr>
          <p:cNvPr id="989" name="図 9"/>
          <p:cNvPicPr/>
          <p:nvPr/>
        </p:nvPicPr>
        <p:blipFill>
          <a:blip r:embed="rId6"/>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5"/>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3"/>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3"/>
          <a:stretch/>
        </p:blipFill>
        <p:spPr>
          <a:xfrm>
            <a:off x="394920" y="4223520"/>
            <a:ext cx="4883400" cy="2255040"/>
          </a:xfrm>
          <a:prstGeom prst="rect">
            <a:avLst/>
          </a:prstGeom>
          <a:noFill/>
          <a:ln w="0">
            <a:noFill/>
          </a:ln>
        </p:spPr>
      </p:pic>
      <p:pic>
        <p:nvPicPr>
          <p:cNvPr id="1000" name="図 15"/>
          <p:cNvPicPr/>
          <p:nvPr/>
        </p:nvPicPr>
        <p:blipFill>
          <a:blip r:embed="rId2"/>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3"/>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2"/>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143259</TotalTime>
  <Words>1037</Words>
  <Application>Microsoft Office PowerPoint</Application>
  <PresentationFormat>A4 210 x 297 mm</PresentationFormat>
  <Paragraphs>116</Paragraphs>
  <Slides>7</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1973</cp:revision>
  <cp:lastPrinted>2022-11-01T11:38:14Z</cp:lastPrinted>
  <dcterms:created xsi:type="dcterms:W3CDTF">2015-09-04T09:21:15Z</dcterms:created>
  <dcterms:modified xsi:type="dcterms:W3CDTF">2026-10-15T16:41:08Z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